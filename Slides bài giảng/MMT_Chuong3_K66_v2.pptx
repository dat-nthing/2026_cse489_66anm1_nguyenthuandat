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256" r:id="rId2"/>
    <p:sldId id="257" r:id="rId3"/>
    <p:sldId id="367" r:id="rId4"/>
    <p:sldId id="411" r:id="rId5"/>
    <p:sldId id="412" r:id="rId6"/>
    <p:sldId id="259" r:id="rId7"/>
    <p:sldId id="260" r:id="rId8"/>
    <p:sldId id="370" r:id="rId9"/>
    <p:sldId id="369" r:id="rId10"/>
    <p:sldId id="262" r:id="rId11"/>
    <p:sldId id="414" r:id="rId12"/>
    <p:sldId id="263" r:id="rId13"/>
    <p:sldId id="371" r:id="rId14"/>
    <p:sldId id="375" r:id="rId15"/>
    <p:sldId id="376" r:id="rId16"/>
    <p:sldId id="379" r:id="rId17"/>
    <p:sldId id="401" r:id="rId18"/>
    <p:sldId id="402" r:id="rId19"/>
    <p:sldId id="403" r:id="rId20"/>
    <p:sldId id="434" r:id="rId21"/>
    <p:sldId id="378" r:id="rId22"/>
    <p:sldId id="382" r:id="rId23"/>
    <p:sldId id="381" r:id="rId24"/>
    <p:sldId id="372" r:id="rId25"/>
    <p:sldId id="383" r:id="rId26"/>
    <p:sldId id="278" r:id="rId27"/>
    <p:sldId id="384" r:id="rId28"/>
    <p:sldId id="385" r:id="rId29"/>
    <p:sldId id="286" r:id="rId30"/>
    <p:sldId id="386" r:id="rId31"/>
    <p:sldId id="290" r:id="rId32"/>
    <p:sldId id="291" r:id="rId33"/>
    <p:sldId id="387" r:id="rId34"/>
    <p:sldId id="293" r:id="rId35"/>
    <p:sldId id="405" r:id="rId36"/>
    <p:sldId id="295" r:id="rId37"/>
    <p:sldId id="297" r:id="rId38"/>
    <p:sldId id="400" r:id="rId39"/>
    <p:sldId id="300" r:id="rId40"/>
    <p:sldId id="301" r:id="rId41"/>
    <p:sldId id="302" r:id="rId42"/>
    <p:sldId id="304" r:id="rId43"/>
    <p:sldId id="433" r:id="rId44"/>
    <p:sldId id="389" r:id="rId45"/>
    <p:sldId id="305" r:id="rId46"/>
    <p:sldId id="307" r:id="rId47"/>
    <p:sldId id="410" r:id="rId48"/>
    <p:sldId id="309" r:id="rId49"/>
    <p:sldId id="360" r:id="rId50"/>
    <p:sldId id="407" r:id="rId51"/>
    <p:sldId id="330" r:id="rId52"/>
    <p:sldId id="392" r:id="rId53"/>
    <p:sldId id="432" r:id="rId54"/>
    <p:sldId id="315" r:id="rId55"/>
    <p:sldId id="408" r:id="rId56"/>
    <p:sldId id="390" r:id="rId57"/>
    <p:sldId id="391" r:id="rId58"/>
    <p:sldId id="409" r:id="rId59"/>
    <p:sldId id="393" r:id="rId60"/>
    <p:sldId id="335" r:id="rId61"/>
    <p:sldId id="395" r:id="rId62"/>
    <p:sldId id="394" r:id="rId63"/>
    <p:sldId id="396" r:id="rId64"/>
    <p:sldId id="397" r:id="rId65"/>
    <p:sldId id="398" r:id="rId66"/>
    <p:sldId id="345" r:id="rId67"/>
    <p:sldId id="359" r:id="rId68"/>
    <p:sldId id="399" r:id="rId69"/>
  </p:sldIdLst>
  <p:sldSz cx="10058400" cy="7772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59" autoAdjust="0"/>
    <p:restoredTop sz="84948" autoAdjust="0"/>
  </p:normalViewPr>
  <p:slideViewPr>
    <p:cSldViewPr>
      <p:cViewPr varScale="1">
        <p:scale>
          <a:sx n="39" d="100"/>
          <a:sy n="39" d="100"/>
        </p:scale>
        <p:origin x="1608" y="27"/>
      </p:cViewPr>
      <p:guideLst>
        <p:guide orient="horz" pos="2880"/>
        <p:guide pos="216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531" cy="503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402643" y="0"/>
            <a:ext cx="3368531" cy="503332"/>
          </a:xfrm>
          <a:prstGeom prst="rect">
            <a:avLst/>
          </a:prstGeom>
        </p:spPr>
        <p:txBody>
          <a:bodyPr vert="horz" lIns="91440" tIns="45720" rIns="91440" bIns="45720" rtlCol="0"/>
          <a:lstStyle>
            <a:lvl1pPr algn="r">
              <a:defRPr sz="1200"/>
            </a:lvl1pPr>
          </a:lstStyle>
          <a:p>
            <a:fld id="{D82847AF-6B49-4C3A-AA57-F491E3A74C2D}" type="datetimeFigureOut">
              <a:rPr lang="en-US" smtClean="0"/>
              <a:t>3/2/2026</a:t>
            </a:fld>
            <a:endParaRPr lang="en-US"/>
          </a:p>
        </p:txBody>
      </p:sp>
      <p:sp>
        <p:nvSpPr>
          <p:cNvPr id="4" name="Footer Placeholder 3"/>
          <p:cNvSpPr>
            <a:spLocks noGrp="1"/>
          </p:cNvSpPr>
          <p:nvPr>
            <p:ph type="ftr" sz="quarter" idx="2"/>
          </p:nvPr>
        </p:nvSpPr>
        <p:spPr>
          <a:xfrm>
            <a:off x="0" y="9555071"/>
            <a:ext cx="3368531" cy="50333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402643" y="9555071"/>
            <a:ext cx="3368531" cy="503330"/>
          </a:xfrm>
          <a:prstGeom prst="rect">
            <a:avLst/>
          </a:prstGeom>
        </p:spPr>
        <p:txBody>
          <a:bodyPr vert="horz" lIns="91440" tIns="45720" rIns="91440" bIns="45720" rtlCol="0" anchor="b"/>
          <a:lstStyle>
            <a:lvl1pPr algn="r">
              <a:defRPr sz="1200"/>
            </a:lvl1pPr>
          </a:lstStyle>
          <a:p>
            <a:fld id="{B6873F6D-0CF9-4A78-8441-FE8F95FA24E3}" type="slidenum">
              <a:rPr lang="en-US" smtClean="0"/>
              <a:t>‹#›</a:t>
            </a:fld>
            <a:endParaRPr lang="en-US"/>
          </a:p>
        </p:txBody>
      </p:sp>
    </p:spTree>
    <p:extLst>
      <p:ext uri="{BB962C8B-B14F-4D97-AF65-F5344CB8AC3E}">
        <p14:creationId xmlns:p14="http://schemas.microsoft.com/office/powerpoint/2010/main" val="814113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42775" units="1/cm"/>
          <inkml:channelProperty channel="T" name="resolution" value="1" units="1/dev"/>
        </inkml:channelProperties>
      </inkml:inkSource>
      <inkml:timestamp xml:id="ts0" timeString="2024-03-18T09:54:45.873"/>
    </inkml:context>
    <inkml:brush xml:id="br0">
      <inkml:brushProperty name="width" value="0.05292" units="cm"/>
      <inkml:brushProperty name="height" value="0.05292" units="cm"/>
      <inkml:brushProperty name="color" value="#FF0000"/>
    </inkml:brush>
  </inkml:definitions>
  <inkml:traceGroup>
    <inkml:annotationXML>
      <emma:emma xmlns:emma="http://www.w3.org/2003/04/emma" version="1.0">
        <emma:interpretation id="{2C88CB18-2FB6-4A61-A86B-1F1B0AE328FF}" emma:medium="tactile" emma:mode="ink">
          <msink:context xmlns:msink="http://schemas.microsoft.com/ink/2010/main" type="writingRegion" rotatedBoundingBox="22440,8725 22822,8725 22822,8798 22440,8798"/>
        </emma:interpretation>
      </emma:emma>
    </inkml:annotationXML>
    <inkml:traceGroup>
      <inkml:annotationXML>
        <emma:emma xmlns:emma="http://www.w3.org/2003/04/emma" version="1.0">
          <emma:interpretation id="{36AFF8F4-EC0F-43A4-8570-CA57AFB407B8}" emma:medium="tactile" emma:mode="ink">
            <msink:context xmlns:msink="http://schemas.microsoft.com/ink/2010/main" type="paragraph" rotatedBoundingBox="22440,8725 22822,8725 22822,8798 22440,8798" alignmentLevel="1"/>
          </emma:interpretation>
        </emma:emma>
      </inkml:annotationXML>
      <inkml:traceGroup>
        <inkml:annotationXML>
          <emma:emma xmlns:emma="http://www.w3.org/2003/04/emma" version="1.0">
            <emma:interpretation id="{45065390-9DB3-42BF-84A4-86D91660D889}" emma:medium="tactile" emma:mode="ink">
              <msink:context xmlns:msink="http://schemas.microsoft.com/ink/2010/main" type="line" rotatedBoundingBox="22440,8725 22822,8725 22822,8798 22440,8798"/>
            </emma:interpretation>
          </emma:emma>
        </inkml:annotationXML>
        <inkml:traceGroup>
          <inkml:annotationXML>
            <emma:emma xmlns:emma="http://www.w3.org/2003/04/emma" version="1.0">
              <emma:interpretation id="{A15193E4-F37D-46E7-85F0-CD8005235123}" emma:medium="tactile" emma:mode="ink">
                <msink:context xmlns:msink="http://schemas.microsoft.com/ink/2010/main" type="inkWord" rotatedBoundingBox="22807,8725 22822,8725 22822,8740 22807,8740"/>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22807 8725 0</inkml:trace>
        </inkml:traceGroup>
        <inkml:traceGroup>
          <inkml:annotationXML>
            <emma:emma xmlns:emma="http://www.w3.org/2003/04/emma" version="1.0">
              <emma:interpretation id="{4E0F28DC-876D-445C-9486-4B635CCDE14E}" emma:medium="tactile" emma:mode="ink">
                <msink:context xmlns:msink="http://schemas.microsoft.com/ink/2010/main" type="inkWord" rotatedBoundingBox="22440,8725 22697,8725 22697,8798 22440,8798"/>
              </emma:interpretation>
              <emma:one-of disjunction-type="recognition" id="oneOf1">
                <emma:interpretation id="interp5" emma:lang="" emma:confidence="1">
                  <emma:literal/>
                </emma:interpretation>
              </emma:one-of>
            </emma:emma>
          </inkml:annotationXML>
          <inkml:trace contextRef="#ctx0" brushRef="#br0" timeOffset="57.57">22697 8725 0,'-257'73'31</inkml:trace>
        </inkml:traceGroup>
      </inkml:traceGroup>
    </inkml:traceGroup>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531" cy="503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643" y="0"/>
            <a:ext cx="3368531" cy="503332"/>
          </a:xfrm>
          <a:prstGeom prst="rect">
            <a:avLst/>
          </a:prstGeom>
        </p:spPr>
        <p:txBody>
          <a:bodyPr vert="horz" lIns="91440" tIns="45720" rIns="91440" bIns="45720" rtlCol="0"/>
          <a:lstStyle>
            <a:lvl1pPr algn="r">
              <a:defRPr sz="1200"/>
            </a:lvl1pPr>
          </a:lstStyle>
          <a:p>
            <a:fld id="{CD37A218-1CF1-4EC8-89BF-E70DF94B9811}" type="datetimeFigureOut">
              <a:rPr lang="en-US" smtClean="0"/>
              <a:t>3/2/2026</a:t>
            </a:fld>
            <a:endParaRPr lang="en-US"/>
          </a:p>
        </p:txBody>
      </p:sp>
      <p:sp>
        <p:nvSpPr>
          <p:cNvPr id="4" name="Slide Image Placeholder 3"/>
          <p:cNvSpPr>
            <a:spLocks noGrp="1" noRot="1" noChangeAspect="1"/>
          </p:cNvSpPr>
          <p:nvPr>
            <p:ph type="sldImg" idx="2"/>
          </p:nvPr>
        </p:nvSpPr>
        <p:spPr>
          <a:xfrm>
            <a:off x="1690688" y="1257300"/>
            <a:ext cx="4391025"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731" y="4840194"/>
            <a:ext cx="6216939" cy="396090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5071"/>
            <a:ext cx="3368531" cy="50333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643" y="9555071"/>
            <a:ext cx="3368531" cy="503330"/>
          </a:xfrm>
          <a:prstGeom prst="rect">
            <a:avLst/>
          </a:prstGeom>
        </p:spPr>
        <p:txBody>
          <a:bodyPr vert="horz" lIns="91440" tIns="45720" rIns="91440" bIns="45720" rtlCol="0" anchor="b"/>
          <a:lstStyle>
            <a:lvl1pPr algn="r">
              <a:defRPr sz="1200"/>
            </a:lvl1pPr>
          </a:lstStyle>
          <a:p>
            <a:fld id="{B33358BC-3400-4DC5-BF4D-839B26A3A8D8}" type="slidenum">
              <a:rPr lang="en-US" smtClean="0"/>
              <a:t>‹#›</a:t>
            </a:fld>
            <a:endParaRPr lang="en-US"/>
          </a:p>
        </p:txBody>
      </p:sp>
    </p:spTree>
    <p:extLst>
      <p:ext uri="{BB962C8B-B14F-4D97-AF65-F5344CB8AC3E}">
        <p14:creationId xmlns:p14="http://schemas.microsoft.com/office/powerpoint/2010/main" val="297795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trên</a:t>
            </a:r>
            <a:r>
              <a:rPr lang="en-US" baseline="0" dirty="0"/>
              <a:t> </a:t>
            </a:r>
            <a:r>
              <a:rPr lang="en-US" baseline="0" dirty="0" err="1"/>
              <a:t>máy</a:t>
            </a:r>
            <a:r>
              <a:rPr lang="en-US" baseline="0" dirty="0"/>
              <a:t> </a:t>
            </a:r>
            <a:r>
              <a:rPr lang="en-US" baseline="0" dirty="0" err="1"/>
              <a:t>chủ</a:t>
            </a:r>
            <a:r>
              <a:rPr lang="en-US" baseline="0" dirty="0"/>
              <a:t> </a:t>
            </a:r>
            <a:r>
              <a:rPr lang="en-US" baseline="0" dirty="0" err="1"/>
              <a:t>phải</a:t>
            </a:r>
            <a:r>
              <a:rPr lang="en-US" baseline="0" dirty="0"/>
              <a:t> </a:t>
            </a:r>
            <a:r>
              <a:rPr lang="en-US" baseline="0" dirty="0" err="1"/>
              <a:t>tuân</a:t>
            </a:r>
            <a:r>
              <a:rPr lang="en-US" baseline="0" dirty="0"/>
              <a:t> </a:t>
            </a:r>
            <a:r>
              <a:rPr lang="en-US" baseline="0" dirty="0" err="1"/>
              <a:t>thủ</a:t>
            </a:r>
            <a:r>
              <a:rPr lang="en-US" baseline="0" dirty="0"/>
              <a:t> </a:t>
            </a:r>
            <a:r>
              <a:rPr lang="en-US" baseline="0" dirty="0" err="1"/>
              <a:t>các</a:t>
            </a:r>
            <a:r>
              <a:rPr lang="en-US" baseline="0" dirty="0"/>
              <a:t> qui </a:t>
            </a:r>
            <a:r>
              <a:rPr lang="en-US" baseline="0" dirty="0" err="1"/>
              <a:t>định</a:t>
            </a:r>
            <a:r>
              <a:rPr lang="en-US" baseline="0" dirty="0"/>
              <a:t> </a:t>
            </a:r>
            <a:r>
              <a:rPr lang="en-US" baseline="0" dirty="0" err="1"/>
              <a:t>của</a:t>
            </a:r>
            <a:r>
              <a:rPr lang="en-US" baseline="0" dirty="0"/>
              <a:t> </a:t>
            </a:r>
            <a:r>
              <a:rPr lang="en-US" dirty="0"/>
              <a:t>IANA</a:t>
            </a:r>
            <a:r>
              <a:rPr lang="en-US" baseline="0" dirty="0"/>
              <a:t> (Internet Assigned Numbers Authority). </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a:t>
            </a:fld>
            <a:endParaRPr lang="en-US"/>
          </a:p>
        </p:txBody>
      </p:sp>
    </p:spTree>
    <p:extLst>
      <p:ext uri="{BB962C8B-B14F-4D97-AF65-F5344CB8AC3E}">
        <p14:creationId xmlns:p14="http://schemas.microsoft.com/office/powerpoint/2010/main" val="1235478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err="1"/>
              <a:t>Nhiệm</a:t>
            </a:r>
            <a:r>
              <a:rPr lang="en-US" baseline="0" dirty="0"/>
              <a:t> </a:t>
            </a:r>
            <a:r>
              <a:rPr lang="en-US" baseline="0" dirty="0" err="1"/>
              <a:t>vụ</a:t>
            </a:r>
            <a:r>
              <a:rPr lang="en-US" baseline="0" dirty="0"/>
              <a:t> </a:t>
            </a:r>
            <a:r>
              <a:rPr lang="en-US" baseline="0" dirty="0" err="1"/>
              <a:t>của</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cung</a:t>
            </a:r>
            <a:r>
              <a:rPr lang="en-US" baseline="0" dirty="0"/>
              <a:t> </a:t>
            </a:r>
            <a:r>
              <a:rPr lang="en-US" baseline="0" dirty="0" err="1"/>
              <a:t>cấp</a:t>
            </a:r>
            <a:r>
              <a:rPr lang="en-US" baseline="0" dirty="0"/>
              <a:t> </a:t>
            </a:r>
            <a:r>
              <a:rPr lang="en-US" baseline="0" dirty="0" err="1"/>
              <a:t>một</a:t>
            </a:r>
            <a:r>
              <a:rPr lang="en-US" baseline="0" dirty="0"/>
              <a:t> </a:t>
            </a:r>
            <a:r>
              <a:rPr lang="en-US" baseline="0" dirty="0" err="1"/>
              <a:t>kênh</a:t>
            </a:r>
            <a:r>
              <a:rPr lang="en-US" baseline="0" dirty="0"/>
              <a:t> </a:t>
            </a:r>
            <a:r>
              <a:rPr lang="en-US" baseline="0" dirty="0" err="1"/>
              <a:t>truyền</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chạy</a:t>
            </a:r>
            <a:r>
              <a:rPr lang="en-US" baseline="0" dirty="0"/>
              <a:t> </a:t>
            </a:r>
            <a:r>
              <a:rPr lang="en-US" baseline="0" dirty="0" err="1"/>
              <a:t>trên</a:t>
            </a:r>
            <a:r>
              <a:rPr lang="en-US" baseline="0" dirty="0"/>
              <a:t> </a:t>
            </a:r>
            <a:r>
              <a:rPr lang="en-US" baseline="0" dirty="0" err="1"/>
              <a:t>các</a:t>
            </a:r>
            <a:r>
              <a:rPr lang="en-US" baseline="0" dirty="0"/>
              <a:t> host </a:t>
            </a:r>
            <a:r>
              <a:rPr lang="en-US" baseline="0" dirty="0" err="1"/>
              <a:t>khác</a:t>
            </a:r>
            <a:r>
              <a:rPr lang="en-US" baseline="0" dirty="0"/>
              <a:t> </a:t>
            </a:r>
            <a:r>
              <a:rPr lang="en-US" baseline="0" dirty="0" err="1"/>
              <a:t>nhau</a:t>
            </a:r>
            <a:endParaRPr lang="en-US" baseline="0" dirty="0"/>
          </a:p>
          <a:p>
            <a:pPr marL="228600" indent="-228600">
              <a:buAutoNum type="arabicParenR"/>
            </a:pPr>
            <a:r>
              <a:rPr lang="en-US" baseline="0" dirty="0" err="1"/>
              <a:t>Giao</a:t>
            </a:r>
            <a:r>
              <a:rPr lang="en-US" baseline="0" dirty="0"/>
              <a:t> </a:t>
            </a:r>
            <a:r>
              <a:rPr lang="en-US" baseline="0" dirty="0" err="1"/>
              <a:t>thức</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cung</a:t>
            </a:r>
            <a:r>
              <a:rPr lang="en-US" baseline="0" dirty="0"/>
              <a:t> </a:t>
            </a:r>
            <a:r>
              <a:rPr lang="en-US" baseline="0" dirty="0" err="1"/>
              <a:t>cấp</a:t>
            </a:r>
            <a:r>
              <a:rPr lang="en-US" baseline="0" dirty="0"/>
              <a:t> </a:t>
            </a:r>
            <a:r>
              <a:rPr lang="en-US" baseline="0" dirty="0" err="1"/>
              <a:t>một</a:t>
            </a:r>
            <a:r>
              <a:rPr lang="en-US" baseline="0" dirty="0"/>
              <a:t> </a:t>
            </a:r>
            <a:r>
              <a:rPr lang="en-US" baseline="0" dirty="0" err="1"/>
              <a:t>kênh</a:t>
            </a:r>
            <a:r>
              <a:rPr lang="en-US" baseline="0" dirty="0"/>
              <a:t> </a:t>
            </a:r>
            <a:r>
              <a:rPr lang="en-US" baseline="0" dirty="0" err="1"/>
              <a:t>truyền</a:t>
            </a:r>
            <a:r>
              <a:rPr lang="en-US" baseline="0" dirty="0"/>
              <a:t> logic (</a:t>
            </a:r>
            <a:r>
              <a:rPr lang="en-US" baseline="0" dirty="0" err="1"/>
              <a:t>ảo</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chạy</a:t>
            </a:r>
            <a:r>
              <a:rPr lang="en-US" baseline="0" dirty="0"/>
              <a:t> </a:t>
            </a:r>
            <a:r>
              <a:rPr lang="en-US" baseline="0" dirty="0" err="1"/>
              <a:t>trên</a:t>
            </a:r>
            <a:r>
              <a:rPr lang="en-US" baseline="0" dirty="0"/>
              <a:t> </a:t>
            </a:r>
            <a:r>
              <a:rPr lang="en-US" baseline="0" dirty="0" err="1"/>
              <a:t>các</a:t>
            </a:r>
            <a:r>
              <a:rPr lang="en-US" baseline="0" dirty="0"/>
              <a:t> host </a:t>
            </a:r>
            <a:r>
              <a:rPr lang="en-US" baseline="0" dirty="0" err="1"/>
              <a:t>khác</a:t>
            </a:r>
            <a:r>
              <a:rPr lang="en-US" baseline="0" dirty="0"/>
              <a:t> </a:t>
            </a:r>
            <a:r>
              <a:rPr lang="en-US" baseline="0" dirty="0" err="1"/>
              <a:t>nhau</a:t>
            </a:r>
            <a:endParaRPr lang="en-US" baseline="0" dirty="0"/>
          </a:p>
          <a:p>
            <a:pPr marL="228600" indent="-228600">
              <a:buAutoNum type="arabicParenR"/>
            </a:pP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a:t>
            </a:fld>
            <a:endParaRPr lang="en-US"/>
          </a:p>
        </p:txBody>
      </p:sp>
    </p:spTree>
    <p:extLst>
      <p:ext uri="{BB962C8B-B14F-4D97-AF65-F5344CB8AC3E}">
        <p14:creationId xmlns:p14="http://schemas.microsoft.com/office/powerpoint/2010/main" val="2901041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Giao</a:t>
            </a:r>
            <a:r>
              <a:rPr lang="en-US" baseline="0" dirty="0"/>
              <a:t> </a:t>
            </a:r>
            <a:r>
              <a:rPr lang="en-US" baseline="0" dirty="0" err="1"/>
              <a:t>thức</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cung</a:t>
            </a:r>
            <a:r>
              <a:rPr lang="en-US" baseline="0" dirty="0"/>
              <a:t> </a:t>
            </a:r>
            <a:r>
              <a:rPr lang="en-US" baseline="0" dirty="0" err="1"/>
              <a:t>cấp</a:t>
            </a:r>
            <a:r>
              <a:rPr lang="en-US" baseline="0" dirty="0"/>
              <a:t> </a:t>
            </a:r>
            <a:r>
              <a:rPr lang="en-US" baseline="0" dirty="0" err="1"/>
              <a:t>một</a:t>
            </a:r>
            <a:r>
              <a:rPr lang="en-US" baseline="0" dirty="0"/>
              <a:t> </a:t>
            </a:r>
            <a:r>
              <a:rPr lang="en-US" baseline="0" dirty="0" err="1"/>
              <a:t>kênh</a:t>
            </a:r>
            <a:r>
              <a:rPr lang="en-US" baseline="0" dirty="0"/>
              <a:t> </a:t>
            </a:r>
            <a:r>
              <a:rPr lang="en-US" baseline="0" dirty="0" err="1"/>
              <a:t>truyền</a:t>
            </a:r>
            <a:r>
              <a:rPr lang="en-US" baseline="0" dirty="0"/>
              <a:t> logic</a:t>
            </a:r>
          </a:p>
          <a:p>
            <a:pPr marL="171450" indent="-171450">
              <a:buFontTx/>
              <a:buChar char="-"/>
            </a:pPr>
            <a:r>
              <a:rPr lang="en-US" baseline="0" dirty="0" err="1"/>
              <a:t>Giao</a:t>
            </a:r>
            <a:r>
              <a:rPr lang="en-US" baseline="0" dirty="0"/>
              <a:t> </a:t>
            </a:r>
            <a:r>
              <a:rPr lang="en-US" baseline="0" dirty="0" err="1"/>
              <a:t>thức</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p>
          <a:p>
            <a:pPr marL="628650" lvl="1" indent="-171450">
              <a:buFontTx/>
              <a:buChar char="-"/>
            </a:pPr>
            <a:r>
              <a:rPr lang="en-US" baseline="0" dirty="0" err="1"/>
              <a:t>Bên</a:t>
            </a:r>
            <a:r>
              <a:rPr lang="en-US" baseline="0" dirty="0"/>
              <a:t> </a:t>
            </a:r>
            <a:r>
              <a:rPr lang="en-US" baseline="0" dirty="0" err="1"/>
              <a:t>gửi</a:t>
            </a:r>
            <a:r>
              <a:rPr lang="en-US" baseline="0" dirty="0"/>
              <a:t>: chia </a:t>
            </a:r>
            <a:r>
              <a:rPr lang="en-US" baseline="0" dirty="0" err="1"/>
              <a:t>thông</a:t>
            </a:r>
            <a:r>
              <a:rPr lang="en-US" baseline="0" dirty="0"/>
              <a:t> </a:t>
            </a:r>
            <a:r>
              <a:rPr lang="en-US" baseline="0" dirty="0" err="1"/>
              <a:t>điệp</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từ</a:t>
            </a:r>
            <a:r>
              <a:rPr lang="en-US" baseline="0" dirty="0"/>
              <a:t> </a:t>
            </a:r>
            <a:r>
              <a:rPr lang="en-US" baseline="0" dirty="0" err="1"/>
              <a:t>tầng</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thành</a:t>
            </a:r>
            <a:r>
              <a:rPr lang="en-US" baseline="0" dirty="0"/>
              <a:t> </a:t>
            </a:r>
            <a:r>
              <a:rPr lang="en-US" baseline="0" dirty="0" err="1"/>
              <a:t>các</a:t>
            </a:r>
            <a:r>
              <a:rPr lang="en-US" baseline="0" dirty="0"/>
              <a:t> </a:t>
            </a:r>
            <a:r>
              <a:rPr lang="en-US" baseline="0" dirty="0" err="1"/>
              <a:t>phân</a:t>
            </a:r>
            <a:r>
              <a:rPr lang="en-US" baseline="0" dirty="0"/>
              <a:t> </a:t>
            </a:r>
            <a:r>
              <a:rPr lang="en-US" baseline="0" dirty="0" err="1"/>
              <a:t>đoạn</a:t>
            </a:r>
            <a:r>
              <a:rPr lang="en-US" baseline="0" dirty="0"/>
              <a:t> (segment) </a:t>
            </a:r>
            <a:r>
              <a:rPr lang="en-US" baseline="0" dirty="0" err="1"/>
              <a:t>và</a:t>
            </a:r>
            <a:r>
              <a:rPr lang="en-US" baseline="0" dirty="0"/>
              <a:t> </a:t>
            </a:r>
            <a:r>
              <a:rPr lang="en-US" baseline="0" dirty="0" err="1"/>
              <a:t>chuyển</a:t>
            </a:r>
            <a:r>
              <a:rPr lang="en-US" baseline="0" dirty="0"/>
              <a:t> </a:t>
            </a:r>
            <a:r>
              <a:rPr lang="en-US" baseline="0" dirty="0" err="1"/>
              <a:t>chúng</a:t>
            </a:r>
            <a:r>
              <a:rPr lang="en-US" baseline="0" dirty="0"/>
              <a:t> </a:t>
            </a:r>
            <a:r>
              <a:rPr lang="en-US" baseline="0" dirty="0" err="1"/>
              <a:t>xuống</a:t>
            </a:r>
            <a:r>
              <a:rPr lang="en-US" baseline="0" dirty="0"/>
              <a:t> </a:t>
            </a:r>
            <a:r>
              <a:rPr lang="en-US" baseline="0" dirty="0" err="1"/>
              <a:t>tầng</a:t>
            </a:r>
            <a:r>
              <a:rPr lang="en-US" baseline="0" dirty="0"/>
              <a:t> </a:t>
            </a:r>
            <a:r>
              <a:rPr lang="en-US" baseline="0" dirty="0" err="1"/>
              <a:t>mạng</a:t>
            </a:r>
            <a:endParaRPr lang="en-US" baseline="0" dirty="0"/>
          </a:p>
          <a:p>
            <a:pPr marL="628650" lvl="1" indent="-171450">
              <a:buFontTx/>
              <a:buChar char="-"/>
            </a:pPr>
            <a:r>
              <a:rPr lang="en-US" baseline="0" dirty="0" err="1"/>
              <a:t>Bên</a:t>
            </a:r>
            <a:r>
              <a:rPr lang="en-US" baseline="0" dirty="0"/>
              <a:t> </a:t>
            </a:r>
            <a:r>
              <a:rPr lang="en-US" baseline="0" dirty="0" err="1"/>
              <a:t>nhận</a:t>
            </a:r>
            <a:r>
              <a:rPr lang="en-US" baseline="0" dirty="0"/>
              <a:t>: </a:t>
            </a:r>
            <a:r>
              <a:rPr lang="en-US" baseline="0" dirty="0" err="1"/>
              <a:t>lắp</a:t>
            </a:r>
            <a:r>
              <a:rPr lang="en-US" baseline="0" dirty="0"/>
              <a:t> </a:t>
            </a:r>
            <a:r>
              <a:rPr lang="en-US" baseline="0" dirty="0" err="1"/>
              <a:t>ghép</a:t>
            </a:r>
            <a:r>
              <a:rPr lang="en-US" baseline="0" dirty="0"/>
              <a:t> </a:t>
            </a:r>
            <a:r>
              <a:rPr lang="en-US" baseline="0" dirty="0" err="1"/>
              <a:t>các</a:t>
            </a:r>
            <a:r>
              <a:rPr lang="en-US" baseline="0" dirty="0"/>
              <a:t> </a:t>
            </a:r>
            <a:r>
              <a:rPr lang="en-US" baseline="0" dirty="0" err="1"/>
              <a:t>phân</a:t>
            </a:r>
            <a:r>
              <a:rPr lang="en-US" baseline="0" dirty="0"/>
              <a:t> </a:t>
            </a:r>
            <a:r>
              <a:rPr lang="en-US" baseline="0" dirty="0" err="1"/>
              <a:t>đoạn</a:t>
            </a:r>
            <a:r>
              <a:rPr lang="en-US" baseline="0" dirty="0"/>
              <a:t> </a:t>
            </a:r>
            <a:r>
              <a:rPr lang="en-US" baseline="0" dirty="0" err="1"/>
              <a:t>thành</a:t>
            </a:r>
            <a:r>
              <a:rPr lang="en-US" baseline="0" dirty="0"/>
              <a:t> </a:t>
            </a:r>
            <a:r>
              <a:rPr lang="en-US" baseline="0" dirty="0" err="1"/>
              <a:t>một</a:t>
            </a:r>
            <a:r>
              <a:rPr lang="en-US" baseline="0" dirty="0"/>
              <a:t> </a:t>
            </a:r>
            <a:r>
              <a:rPr lang="en-US" baseline="0" dirty="0" err="1"/>
              <a:t>thông</a:t>
            </a:r>
            <a:r>
              <a:rPr lang="en-US" baseline="0" dirty="0"/>
              <a:t> </a:t>
            </a:r>
            <a:r>
              <a:rPr lang="en-US" baseline="0" dirty="0" err="1"/>
              <a:t>điệp</a:t>
            </a:r>
            <a:r>
              <a:rPr lang="en-US" baseline="0" dirty="0"/>
              <a:t> </a:t>
            </a:r>
            <a:r>
              <a:rPr lang="en-US" baseline="0" dirty="0" err="1"/>
              <a:t>hoàn</a:t>
            </a:r>
            <a:r>
              <a:rPr lang="en-US" baseline="0" dirty="0"/>
              <a:t> </a:t>
            </a:r>
            <a:r>
              <a:rPr lang="en-US" baseline="0" dirty="0" err="1"/>
              <a:t>chỉnh</a:t>
            </a:r>
            <a:r>
              <a:rPr lang="en-US" baseline="0" dirty="0"/>
              <a:t> </a:t>
            </a:r>
            <a:r>
              <a:rPr lang="en-US" baseline="0" dirty="0" err="1"/>
              <a:t>và</a:t>
            </a:r>
            <a:r>
              <a:rPr lang="en-US" baseline="0" dirty="0"/>
              <a:t> </a:t>
            </a:r>
            <a:r>
              <a:rPr lang="en-US" baseline="0" dirty="0" err="1"/>
              <a:t>chuyển</a:t>
            </a:r>
            <a:r>
              <a:rPr lang="en-US" baseline="0" dirty="0"/>
              <a:t> </a:t>
            </a:r>
            <a:r>
              <a:rPr lang="en-US" baseline="0" dirty="0" err="1"/>
              <a:t>cho</a:t>
            </a:r>
            <a:r>
              <a:rPr lang="en-US" baseline="0" dirty="0"/>
              <a:t> </a:t>
            </a:r>
            <a:r>
              <a:rPr lang="en-US" baseline="0" dirty="0" err="1"/>
              <a:t>tầng</a:t>
            </a:r>
            <a:r>
              <a:rPr lang="en-US" baseline="0" dirty="0"/>
              <a:t> </a:t>
            </a:r>
            <a:r>
              <a:rPr lang="en-US" baseline="0" dirty="0" err="1"/>
              <a:t>ứng</a:t>
            </a:r>
            <a:r>
              <a:rPr lang="en-US" baseline="0" dirty="0"/>
              <a:t> </a:t>
            </a:r>
            <a:r>
              <a:rPr lang="en-US" baseline="0" dirty="0" err="1"/>
              <a:t>dụng</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a:t>
            </a:fld>
            <a:endParaRPr lang="en-US"/>
          </a:p>
        </p:txBody>
      </p:sp>
    </p:spTree>
    <p:extLst>
      <p:ext uri="{BB962C8B-B14F-4D97-AF65-F5344CB8AC3E}">
        <p14:creationId xmlns:p14="http://schemas.microsoft.com/office/powerpoint/2010/main" val="1184414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Tại</a:t>
            </a:r>
            <a:r>
              <a:rPr lang="en-US" baseline="0" dirty="0"/>
              <a:t> </a:t>
            </a:r>
            <a:r>
              <a:rPr lang="en-US" baseline="0" dirty="0" err="1"/>
              <a:t>sao</a:t>
            </a:r>
            <a:r>
              <a:rPr lang="en-US" baseline="0" dirty="0"/>
              <a:t> </a:t>
            </a:r>
            <a:r>
              <a:rPr lang="en-US" baseline="0" dirty="0" err="1"/>
              <a:t>cần</a:t>
            </a:r>
            <a:r>
              <a:rPr lang="en-US" baseline="0" dirty="0"/>
              <a:t> </a:t>
            </a:r>
            <a:r>
              <a:rPr lang="en-US" baseline="0" dirty="0" err="1"/>
              <a:t>hai</a:t>
            </a:r>
            <a:r>
              <a:rPr lang="en-US" baseline="0" dirty="0"/>
              <a:t> </a:t>
            </a:r>
            <a:r>
              <a:rPr lang="en-US" baseline="0" dirty="0" err="1"/>
              <a:t>dạng</a:t>
            </a:r>
            <a:r>
              <a:rPr lang="en-US" baseline="0" dirty="0"/>
              <a:t> </a:t>
            </a:r>
            <a:r>
              <a:rPr lang="en-US" baseline="0" dirty="0" err="1"/>
              <a:t>dịch</a:t>
            </a:r>
            <a:r>
              <a:rPr lang="en-US" baseline="0" dirty="0"/>
              <a:t> </a:t>
            </a:r>
            <a:r>
              <a:rPr lang="en-US" baseline="0" dirty="0" err="1"/>
              <a:t>vụ</a:t>
            </a:r>
            <a:r>
              <a:rPr lang="en-US" baseline="0" dirty="0"/>
              <a:t>?</a:t>
            </a:r>
          </a:p>
          <a:p>
            <a:r>
              <a:rPr lang="vi-VN" dirty="0"/>
              <a:t>Các yêu cầu </a:t>
            </a:r>
            <a:r>
              <a:rPr lang="en-US" dirty="0"/>
              <a:t>đ</a:t>
            </a:r>
            <a:r>
              <a:rPr lang="vi-VN" dirty="0"/>
              <a:t>ến từ tầng ứng dụng là </a:t>
            </a:r>
            <a:r>
              <a:rPr lang="en-US" dirty="0" err="1"/>
              <a:t>đa</a:t>
            </a:r>
            <a:r>
              <a:rPr lang="en-US" baseline="0" dirty="0"/>
              <a:t> </a:t>
            </a:r>
            <a:r>
              <a:rPr lang="vi-VN" dirty="0"/>
              <a:t>dạng</a:t>
            </a:r>
          </a:p>
          <a:p>
            <a:r>
              <a:rPr lang="vi-VN" dirty="0"/>
              <a:t> Các ứng dụng cần dịch vụ với 100% ñộ tin cậy như</a:t>
            </a:r>
          </a:p>
          <a:p>
            <a:r>
              <a:rPr lang="vi-VN" dirty="0"/>
              <a:t>mail, web…</a:t>
            </a:r>
          </a:p>
          <a:p>
            <a:r>
              <a:rPr lang="vi-VN" dirty="0"/>
              <a:t> Sử dụng dịch vụ của TCP</a:t>
            </a:r>
          </a:p>
          <a:p>
            <a:r>
              <a:rPr lang="vi-VN" dirty="0"/>
              <a:t> Các ứng dụng cần chuyển dữ liệu nhanh, có khả</a:t>
            </a:r>
          </a:p>
          <a:p>
            <a:r>
              <a:rPr lang="vi-VN" dirty="0"/>
              <a:t>năng chịu lỗi, e.g. VoIP, Video Streaming</a:t>
            </a:r>
          </a:p>
          <a:p>
            <a:r>
              <a:rPr lang="vi-VN" dirty="0"/>
              <a:t> Sử dụng dịch vụ của UDP</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5</a:t>
            </a:fld>
            <a:endParaRPr lang="en-US"/>
          </a:p>
        </p:txBody>
      </p:sp>
    </p:spTree>
    <p:extLst>
      <p:ext uri="{BB962C8B-B14F-4D97-AF65-F5344CB8AC3E}">
        <p14:creationId xmlns:p14="http://schemas.microsoft.com/office/powerpoint/2010/main" val="693144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Mục</a:t>
            </a:r>
            <a:r>
              <a:rPr lang="en-US" baseline="0" dirty="0"/>
              <a:t> 3.1.1 </a:t>
            </a:r>
            <a:r>
              <a:rPr lang="en-US" baseline="0" dirty="0" err="1"/>
              <a:t>trang</a:t>
            </a:r>
            <a:r>
              <a:rPr lang="en-US" baseline="0" dirty="0"/>
              <a:t> 88 </a:t>
            </a:r>
            <a:r>
              <a:rPr lang="en-US" baseline="0" dirty="0" err="1"/>
              <a:t>Nhập</a:t>
            </a:r>
            <a:r>
              <a:rPr lang="en-US" baseline="0" dirty="0"/>
              <a:t> </a:t>
            </a:r>
            <a:r>
              <a:rPr lang="en-US" baseline="0" dirty="0" err="1"/>
              <a:t>môn</a:t>
            </a:r>
            <a:r>
              <a:rPr lang="en-US" baseline="0" dirty="0"/>
              <a:t> </a:t>
            </a:r>
            <a:r>
              <a:rPr lang="en-US" baseline="0" dirty="0" err="1"/>
              <a:t>mạng</a:t>
            </a:r>
            <a:r>
              <a:rPr lang="en-US" baseline="0" dirty="0"/>
              <a:t> </a:t>
            </a:r>
            <a:r>
              <a:rPr lang="en-US" baseline="0" dirty="0" err="1"/>
              <a:t>máy</a:t>
            </a:r>
            <a:r>
              <a:rPr lang="en-US" baseline="0" dirty="0"/>
              <a:t> </a:t>
            </a:r>
            <a:r>
              <a:rPr lang="en-US" baseline="0" dirty="0" err="1"/>
              <a:t>tính</a:t>
            </a:r>
            <a:r>
              <a:rPr lang="en-US" baseline="0" dirty="0"/>
              <a:t> </a:t>
            </a:r>
            <a:r>
              <a:rPr lang="en-US" baseline="0" dirty="0" err="1"/>
              <a:t>của</a:t>
            </a:r>
            <a:r>
              <a:rPr lang="en-US" baseline="0" dirty="0"/>
              <a:t> </a:t>
            </a:r>
            <a:r>
              <a:rPr lang="en-US" baseline="0" dirty="0" err="1"/>
              <a:t>Hồ</a:t>
            </a:r>
            <a:r>
              <a:rPr lang="en-US" baseline="0" dirty="0"/>
              <a:t> </a:t>
            </a:r>
            <a:r>
              <a:rPr lang="en-US" baseline="0" dirty="0" err="1"/>
              <a:t>Đắc</a:t>
            </a:r>
            <a:r>
              <a:rPr lang="en-US" baseline="0" dirty="0"/>
              <a:t> </a:t>
            </a:r>
            <a:r>
              <a:rPr lang="en-US" baseline="0" dirty="0" err="1"/>
              <a:t>Phương</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a:t>
            </a:fld>
            <a:endParaRPr lang="en-US"/>
          </a:p>
        </p:txBody>
      </p:sp>
    </p:spTree>
    <p:extLst>
      <p:ext uri="{BB962C8B-B14F-4D97-AF65-F5344CB8AC3E}">
        <p14:creationId xmlns:p14="http://schemas.microsoft.com/office/powerpoint/2010/main" val="1042195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Tại</a:t>
            </a:r>
            <a:r>
              <a:rPr lang="en-US" baseline="0" dirty="0"/>
              <a:t> </a:t>
            </a:r>
            <a:r>
              <a:rPr lang="en-US" baseline="0" dirty="0" err="1"/>
              <a:t>sao</a:t>
            </a:r>
            <a:r>
              <a:rPr lang="en-US" baseline="0" dirty="0"/>
              <a:t> </a:t>
            </a:r>
            <a:r>
              <a:rPr lang="en-US" baseline="0" dirty="0" err="1"/>
              <a:t>cần</a:t>
            </a:r>
            <a:r>
              <a:rPr lang="en-US" baseline="0" dirty="0"/>
              <a:t> </a:t>
            </a:r>
            <a:r>
              <a:rPr lang="en-US" baseline="0" dirty="0" err="1"/>
              <a:t>hai</a:t>
            </a:r>
            <a:r>
              <a:rPr lang="en-US" baseline="0" dirty="0"/>
              <a:t> </a:t>
            </a:r>
            <a:r>
              <a:rPr lang="en-US" baseline="0" dirty="0" err="1"/>
              <a:t>dạng</a:t>
            </a:r>
            <a:r>
              <a:rPr lang="en-US" baseline="0" dirty="0"/>
              <a:t> </a:t>
            </a:r>
            <a:r>
              <a:rPr lang="en-US" baseline="0" dirty="0" err="1"/>
              <a:t>dịch</a:t>
            </a:r>
            <a:r>
              <a:rPr lang="en-US" baseline="0" dirty="0"/>
              <a:t> </a:t>
            </a:r>
            <a:r>
              <a:rPr lang="en-US" baseline="0" dirty="0" err="1"/>
              <a:t>vụ</a:t>
            </a:r>
            <a:r>
              <a:rPr lang="en-US" baseline="0" dirty="0"/>
              <a:t>?</a:t>
            </a:r>
          </a:p>
          <a:p>
            <a:r>
              <a:rPr lang="vi-VN" dirty="0"/>
              <a:t>Các yêu cầu </a:t>
            </a:r>
            <a:r>
              <a:rPr lang="en-US" dirty="0"/>
              <a:t>đ</a:t>
            </a:r>
            <a:r>
              <a:rPr lang="vi-VN" dirty="0"/>
              <a:t>ến từ tầng ứng dụng là </a:t>
            </a:r>
            <a:r>
              <a:rPr lang="en-US" dirty="0" err="1"/>
              <a:t>đa</a:t>
            </a:r>
            <a:r>
              <a:rPr lang="en-US" baseline="0" dirty="0"/>
              <a:t> </a:t>
            </a:r>
            <a:r>
              <a:rPr lang="vi-VN" dirty="0"/>
              <a:t>dạng</a:t>
            </a:r>
          </a:p>
          <a:p>
            <a:r>
              <a:rPr lang="vi-VN" dirty="0"/>
              <a:t> Các ứng dụng cần dịch vụ với 100% ñộ tin cậy như</a:t>
            </a:r>
          </a:p>
          <a:p>
            <a:r>
              <a:rPr lang="vi-VN" dirty="0"/>
              <a:t>mail, web…</a:t>
            </a:r>
          </a:p>
          <a:p>
            <a:r>
              <a:rPr lang="vi-VN" dirty="0"/>
              <a:t> Sử dụng dịch vụ của TCP</a:t>
            </a:r>
          </a:p>
          <a:p>
            <a:r>
              <a:rPr lang="vi-VN" dirty="0"/>
              <a:t> Các ứng dụng cần chuyển dữ liệu nhanh, có khả</a:t>
            </a:r>
          </a:p>
          <a:p>
            <a:r>
              <a:rPr lang="vi-VN" dirty="0"/>
              <a:t>năng chịu lỗi, e.g. VoIP, Video Streaming</a:t>
            </a:r>
          </a:p>
          <a:p>
            <a:r>
              <a:rPr lang="vi-VN" dirty="0"/>
              <a:t> Sử dụng dịch vụ của UDP</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7</a:t>
            </a:fld>
            <a:endParaRPr lang="en-US"/>
          </a:p>
        </p:txBody>
      </p:sp>
    </p:spTree>
    <p:extLst>
      <p:ext uri="{BB962C8B-B14F-4D97-AF65-F5344CB8AC3E}">
        <p14:creationId xmlns:p14="http://schemas.microsoft.com/office/powerpoint/2010/main" val="490603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Tầng</a:t>
            </a:r>
            <a:r>
              <a:rPr lang="en-US" baseline="0" dirty="0"/>
              <a:t> </a:t>
            </a:r>
            <a:r>
              <a:rPr lang="en-US" baseline="0" dirty="0" err="1"/>
              <a:t>mạng</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giữa</a:t>
            </a:r>
            <a:r>
              <a:rPr lang="en-US" baseline="0" dirty="0"/>
              <a:t> </a:t>
            </a:r>
            <a:r>
              <a:rPr lang="en-US" baseline="0" dirty="0" err="1"/>
              <a:t>hai</a:t>
            </a:r>
            <a:r>
              <a:rPr lang="en-US" baseline="0" dirty="0"/>
              <a:t> </a:t>
            </a:r>
            <a:r>
              <a:rPr lang="en-US" baseline="0" dirty="0" err="1"/>
              <a:t>thiết</a:t>
            </a:r>
            <a:r>
              <a:rPr lang="en-US" baseline="0" dirty="0"/>
              <a:t> </a:t>
            </a:r>
            <a:r>
              <a:rPr lang="en-US" baseline="0" dirty="0" err="1"/>
              <a:t>bị</a:t>
            </a:r>
            <a:r>
              <a:rPr lang="en-US" baseline="0" dirty="0"/>
              <a:t> </a:t>
            </a:r>
            <a:r>
              <a:rPr lang="en-US" baseline="0" dirty="0" err="1"/>
              <a:t>đầu</a:t>
            </a:r>
            <a:r>
              <a:rPr lang="en-US" baseline="0" dirty="0"/>
              <a:t>/</a:t>
            </a:r>
            <a:r>
              <a:rPr lang="en-US" baseline="0" dirty="0" err="1"/>
              <a:t>cuối</a:t>
            </a:r>
            <a:r>
              <a:rPr lang="en-US" baseline="0" dirty="0"/>
              <a:t>, </a:t>
            </a:r>
            <a:r>
              <a:rPr lang="en-US" baseline="0" dirty="0" err="1"/>
              <a:t>mỗi</a:t>
            </a:r>
            <a:r>
              <a:rPr lang="en-US" baseline="0" dirty="0"/>
              <a:t> </a:t>
            </a:r>
            <a:r>
              <a:rPr lang="en-US" baseline="0" dirty="0" err="1"/>
              <a:t>thiết</a:t>
            </a:r>
            <a:r>
              <a:rPr lang="en-US" baseline="0" dirty="0"/>
              <a:t> </a:t>
            </a:r>
            <a:r>
              <a:rPr lang="en-US" baseline="0" dirty="0" err="1"/>
              <a:t>bị</a:t>
            </a:r>
            <a:r>
              <a:rPr lang="en-US" baseline="0" dirty="0"/>
              <a:t> </a:t>
            </a:r>
            <a:r>
              <a:rPr lang="en-US" baseline="0" dirty="0" err="1"/>
              <a:t>có</a:t>
            </a:r>
            <a:r>
              <a:rPr lang="en-US" baseline="0" dirty="0"/>
              <a:t> </a:t>
            </a:r>
            <a:r>
              <a:rPr lang="en-US" baseline="0" dirty="0" err="1"/>
              <a:t>một</a:t>
            </a:r>
            <a:r>
              <a:rPr lang="en-US" baseline="0" dirty="0"/>
              <a:t> </a:t>
            </a:r>
            <a:r>
              <a:rPr lang="en-US" baseline="0" dirty="0" err="1"/>
              <a:t>địa</a:t>
            </a:r>
            <a:r>
              <a:rPr lang="en-US" baseline="0" dirty="0"/>
              <a:t> </a:t>
            </a:r>
            <a:r>
              <a:rPr lang="en-US" baseline="0" dirty="0" err="1"/>
              <a:t>chỉ</a:t>
            </a:r>
            <a:r>
              <a:rPr lang="en-US" baseline="0" dirty="0"/>
              <a:t> </a:t>
            </a:r>
            <a:r>
              <a:rPr lang="en-US" baseline="0" dirty="0" err="1"/>
              <a:t>tầng</a:t>
            </a:r>
            <a:r>
              <a:rPr lang="en-US" baseline="0" dirty="0"/>
              <a:t> </a:t>
            </a:r>
            <a:r>
              <a:rPr lang="en-US" baseline="0" dirty="0" err="1"/>
              <a:t>mạng</a:t>
            </a:r>
            <a:r>
              <a:rPr lang="en-US" baseline="0" dirty="0"/>
              <a:t> </a:t>
            </a:r>
            <a:r>
              <a:rPr lang="en-US" baseline="0" dirty="0" err="1"/>
              <a:t>nhất</a:t>
            </a:r>
            <a:r>
              <a:rPr lang="en-US" baseline="0" dirty="0"/>
              <a:t> </a:t>
            </a:r>
            <a:r>
              <a:rPr lang="en-US" baseline="0" dirty="0" err="1"/>
              <a:t>định</a:t>
            </a:r>
            <a:r>
              <a:rPr lang="en-US" baseline="0" dirty="0"/>
              <a:t>. </a:t>
            </a:r>
            <a:r>
              <a:rPr lang="en-US" baseline="0" dirty="0" err="1"/>
              <a:t>Tầng</a:t>
            </a:r>
            <a:r>
              <a:rPr lang="en-US" baseline="0" dirty="0"/>
              <a:t> </a:t>
            </a:r>
            <a:r>
              <a:rPr lang="en-US" baseline="0" dirty="0" err="1"/>
              <a:t>mạng</a:t>
            </a:r>
            <a:r>
              <a:rPr lang="en-US" baseline="0" dirty="0"/>
              <a:t> </a:t>
            </a:r>
            <a:r>
              <a:rPr lang="en-US" baseline="0" dirty="0" err="1"/>
              <a:t>không</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chạy</a:t>
            </a:r>
            <a:r>
              <a:rPr lang="en-US" baseline="0" dirty="0"/>
              <a:t> </a:t>
            </a:r>
            <a:r>
              <a:rPr lang="en-US" baseline="0" dirty="0" err="1"/>
              <a:t>trên</a:t>
            </a:r>
            <a:r>
              <a:rPr lang="en-US" baseline="0" dirty="0"/>
              <a:t> </a:t>
            </a:r>
            <a:r>
              <a:rPr lang="en-US" baseline="0" dirty="0" err="1"/>
              <a:t>các</a:t>
            </a:r>
            <a:r>
              <a:rPr lang="en-US" baseline="0" dirty="0"/>
              <a:t> host</a:t>
            </a:r>
          </a:p>
          <a:p>
            <a:pPr marL="171450" indent="-171450">
              <a:buFontTx/>
              <a:buChar char="-"/>
            </a:pPr>
            <a:r>
              <a:rPr lang="en-US" baseline="0" dirty="0" err="1"/>
              <a:t>Mở</a:t>
            </a:r>
            <a:r>
              <a:rPr lang="en-US" baseline="0" dirty="0"/>
              <a:t> </a:t>
            </a:r>
            <a:r>
              <a:rPr lang="en-US" baseline="0" dirty="0" err="1"/>
              <a:t>rộng</a:t>
            </a:r>
            <a:r>
              <a:rPr lang="en-US" baseline="0" dirty="0"/>
              <a:t> </a:t>
            </a:r>
            <a:r>
              <a:rPr lang="en-US" baseline="0" dirty="0" err="1"/>
              <a:t>việc</a:t>
            </a:r>
            <a:r>
              <a:rPr lang="en-US" baseline="0" dirty="0"/>
              <a:t> </a:t>
            </a:r>
            <a:r>
              <a:rPr lang="en-US" baseline="0" dirty="0" err="1"/>
              <a:t>gửi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từ</a:t>
            </a:r>
            <a:r>
              <a:rPr lang="en-US" baseline="0" dirty="0"/>
              <a:t> host </a:t>
            </a:r>
            <a:r>
              <a:rPr lang="en-US" baseline="0" dirty="0" err="1"/>
              <a:t>đến</a:t>
            </a:r>
            <a:r>
              <a:rPr lang="en-US" baseline="0" dirty="0"/>
              <a:t> host </a:t>
            </a:r>
            <a:r>
              <a:rPr lang="en-US" baseline="0" dirty="0" err="1"/>
              <a:t>tới</a:t>
            </a:r>
            <a:r>
              <a:rPr lang="en-US" baseline="0" dirty="0"/>
              <a:t> </a:t>
            </a:r>
            <a:r>
              <a:rPr lang="en-US" baseline="0" dirty="0" err="1"/>
              <a:t>việc</a:t>
            </a:r>
            <a:r>
              <a:rPr lang="en-US" baseline="0" dirty="0"/>
              <a:t> </a:t>
            </a:r>
            <a:r>
              <a:rPr lang="en-US" baseline="0" dirty="0" err="1"/>
              <a:t>từ</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đến</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là</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của</a:t>
            </a:r>
            <a:r>
              <a:rPr lang="en-US" baseline="0" dirty="0"/>
              <a:t> </a:t>
            </a:r>
            <a:r>
              <a:rPr lang="en-US" baseline="0" dirty="0" err="1"/>
              <a:t>dồn</a:t>
            </a:r>
            <a:r>
              <a:rPr lang="en-US" baseline="0" dirty="0"/>
              <a:t> </a:t>
            </a:r>
            <a:r>
              <a:rPr lang="en-US" baseline="0" dirty="0" err="1"/>
              <a:t>kênh</a:t>
            </a:r>
            <a:r>
              <a:rPr lang="en-US" baseline="0" dirty="0"/>
              <a:t> </a:t>
            </a:r>
            <a:r>
              <a:rPr lang="en-US" baseline="0" dirty="0" err="1"/>
              <a:t>và</a:t>
            </a:r>
            <a:r>
              <a:rPr lang="en-US" baseline="0" dirty="0"/>
              <a:t> </a:t>
            </a:r>
            <a:r>
              <a:rPr lang="en-US" baseline="0" dirty="0" err="1"/>
              <a:t>phân</a:t>
            </a:r>
            <a:r>
              <a:rPr lang="en-US" baseline="0" dirty="0"/>
              <a:t> </a:t>
            </a:r>
            <a:r>
              <a:rPr lang="en-US" baseline="0" dirty="0" err="1"/>
              <a:t>kênh</a:t>
            </a:r>
            <a:endParaRPr lang="en-US" baseline="0"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dirty="0" err="1"/>
              <a:t>Bên</a:t>
            </a:r>
            <a:r>
              <a:rPr lang="en-US" baseline="0" dirty="0"/>
              <a:t> </a:t>
            </a:r>
            <a:r>
              <a:rPr lang="en-US" baseline="0" dirty="0" err="1"/>
              <a:t>gửi</a:t>
            </a:r>
            <a:r>
              <a:rPr lang="en-US" baseline="0" dirty="0"/>
              <a:t> </a:t>
            </a:r>
            <a:r>
              <a:rPr lang="en-US" baseline="0" dirty="0" err="1"/>
              <a:t>Dồn</a:t>
            </a:r>
            <a:r>
              <a:rPr lang="en-US" baseline="0" dirty="0"/>
              <a:t> </a:t>
            </a:r>
            <a:r>
              <a:rPr lang="en-US" baseline="0" dirty="0" err="1"/>
              <a:t>kênh</a:t>
            </a:r>
            <a:r>
              <a:rPr lang="en-US" baseline="0" dirty="0"/>
              <a:t>: </a:t>
            </a:r>
            <a:r>
              <a:rPr lang="en-US" baseline="0" dirty="0" err="1"/>
              <a:t>chuyển</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từ</a:t>
            </a:r>
            <a:r>
              <a:rPr lang="en-US" baseline="0" dirty="0"/>
              <a:t> </a:t>
            </a:r>
            <a:r>
              <a:rPr lang="en-US" baseline="0" dirty="0" err="1"/>
              <a:t>nhiều</a:t>
            </a:r>
            <a:r>
              <a:rPr lang="en-US" baseline="0" dirty="0"/>
              <a:t> socket </a:t>
            </a:r>
            <a:r>
              <a:rPr lang="en-US" baseline="0" dirty="0" err="1"/>
              <a:t>khác</a:t>
            </a:r>
            <a:r>
              <a:rPr lang="en-US" baseline="0" dirty="0"/>
              <a:t> </a:t>
            </a:r>
            <a:r>
              <a:rPr lang="en-US" baseline="0" dirty="0" err="1"/>
              <a:t>nhau</a:t>
            </a:r>
            <a:r>
              <a:rPr lang="en-US" baseline="0" dirty="0"/>
              <a:t> </a:t>
            </a:r>
            <a:r>
              <a:rPr lang="en-US" baseline="0" dirty="0" err="1"/>
              <a:t>trên</a:t>
            </a:r>
            <a:r>
              <a:rPr lang="en-US" baseline="0" dirty="0"/>
              <a:t> host </a:t>
            </a:r>
            <a:r>
              <a:rPr lang="en-US" baseline="0" dirty="0" err="1"/>
              <a:t>đến</a:t>
            </a:r>
            <a:r>
              <a:rPr lang="en-US" baseline="0" dirty="0"/>
              <a:t> </a:t>
            </a:r>
            <a:r>
              <a:rPr lang="en-US" baseline="0" dirty="0" err="1"/>
              <a:t>tầng</a:t>
            </a:r>
            <a:r>
              <a:rPr lang="en-US" baseline="0" dirty="0"/>
              <a:t> </a:t>
            </a:r>
            <a:r>
              <a:rPr lang="en-US" baseline="0" dirty="0" err="1"/>
              <a:t>mạng</a:t>
            </a:r>
            <a:r>
              <a:rPr lang="en-US" baseline="0" dirty="0"/>
              <a:t> </a:t>
            </a:r>
            <a:r>
              <a:rPr lang="en-US" baseline="0" dirty="0" err="1"/>
              <a:t>bằng</a:t>
            </a:r>
            <a:r>
              <a:rPr lang="en-US" baseline="0" dirty="0"/>
              <a:t> </a:t>
            </a:r>
            <a:r>
              <a:rPr lang="en-US" baseline="0" dirty="0" err="1"/>
              <a:t>cách</a:t>
            </a:r>
            <a:r>
              <a:rPr lang="en-US" baseline="0" dirty="0"/>
              <a:t> </a:t>
            </a:r>
            <a:r>
              <a:rPr lang="en-US" baseline="0" dirty="0" err="1"/>
              <a:t>bổ</a:t>
            </a:r>
            <a:r>
              <a:rPr lang="en-US" baseline="0" dirty="0"/>
              <a:t> sung </a:t>
            </a:r>
            <a:r>
              <a:rPr lang="en-US" baseline="0" dirty="0" err="1"/>
              <a:t>vào</a:t>
            </a:r>
            <a:r>
              <a:rPr lang="en-US" baseline="0" dirty="0"/>
              <a:t> </a:t>
            </a:r>
            <a:r>
              <a:rPr lang="en-US" baseline="0" dirty="0" err="1"/>
              <a:t>đầu</a:t>
            </a:r>
            <a:r>
              <a:rPr lang="en-US" baseline="0" dirty="0"/>
              <a:t> </a:t>
            </a:r>
            <a:r>
              <a:rPr lang="en-US" baseline="0" dirty="0" err="1"/>
              <a:t>mỗi</a:t>
            </a:r>
            <a:r>
              <a:rPr lang="en-US" baseline="0" dirty="0"/>
              <a:t> </a:t>
            </a:r>
            <a:r>
              <a:rPr lang="en-US" baseline="0" dirty="0" err="1"/>
              <a:t>đoạn</a:t>
            </a:r>
            <a:r>
              <a:rPr lang="en-US" baseline="0" dirty="0"/>
              <a:t> </a:t>
            </a:r>
            <a:r>
              <a:rPr lang="en-US" baseline="0" dirty="0" err="1"/>
              <a:t>tiêu</a:t>
            </a:r>
            <a:r>
              <a:rPr lang="en-US" baseline="0" dirty="0"/>
              <a:t> </a:t>
            </a:r>
            <a:r>
              <a:rPr lang="en-US" baseline="0" dirty="0" err="1"/>
              <a:t>đề</a:t>
            </a:r>
            <a:r>
              <a:rPr lang="en-US" baseline="0" dirty="0"/>
              <a:t> </a:t>
            </a:r>
            <a:r>
              <a:rPr lang="en-US" baseline="0" dirty="0" err="1"/>
              <a:t>của</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tạo</a:t>
            </a:r>
            <a:r>
              <a:rPr lang="en-US" baseline="0" dirty="0"/>
              <a:t> </a:t>
            </a:r>
            <a:r>
              <a:rPr lang="en-US" baseline="0" dirty="0" err="1"/>
              <a:t>ra</a:t>
            </a:r>
            <a:r>
              <a:rPr lang="en-US" baseline="0" dirty="0"/>
              <a:t>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của</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aseline="0" dirty="0" err="1"/>
              <a:t>Bên</a:t>
            </a:r>
            <a:r>
              <a:rPr lang="en-US" baseline="0" dirty="0"/>
              <a:t> </a:t>
            </a:r>
            <a:r>
              <a:rPr lang="en-US" baseline="0" dirty="0" err="1"/>
              <a:t>nhận</a:t>
            </a:r>
            <a:r>
              <a:rPr lang="en-US" baseline="0" dirty="0"/>
              <a:t> </a:t>
            </a:r>
            <a:r>
              <a:rPr lang="en-US" baseline="0" dirty="0" err="1"/>
              <a:t>Phân</a:t>
            </a:r>
            <a:r>
              <a:rPr lang="en-US" baseline="0" dirty="0"/>
              <a:t> </a:t>
            </a:r>
            <a:r>
              <a:rPr lang="en-US" baseline="0" dirty="0" err="1"/>
              <a:t>kênh</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các</a:t>
            </a:r>
            <a:r>
              <a:rPr lang="en-US" baseline="0" dirty="0"/>
              <a:t> segment, </a:t>
            </a:r>
            <a:r>
              <a:rPr lang="en-US" baseline="0" dirty="0" err="1"/>
              <a:t>nó</a:t>
            </a:r>
            <a:r>
              <a:rPr lang="en-US" baseline="0" dirty="0"/>
              <a:t> </a:t>
            </a:r>
            <a:r>
              <a:rPr lang="en-US" baseline="0" dirty="0" err="1"/>
              <a:t>sẽ</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tiêu</a:t>
            </a:r>
            <a:r>
              <a:rPr lang="en-US" baseline="0" dirty="0"/>
              <a:t> </a:t>
            </a:r>
            <a:r>
              <a:rPr lang="en-US" baseline="0" dirty="0" err="1"/>
              <a:t>đề</a:t>
            </a:r>
            <a:r>
              <a:rPr lang="en-US" baseline="0" dirty="0"/>
              <a:t> </a:t>
            </a:r>
            <a:r>
              <a:rPr lang="en-US" baseline="0" dirty="0" err="1"/>
              <a:t>của</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để</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rõ</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nhận</a:t>
            </a:r>
            <a:r>
              <a:rPr lang="en-US" baseline="0" dirty="0"/>
              <a:t> (</a:t>
            </a: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và</a:t>
            </a:r>
            <a:r>
              <a:rPr lang="en-US" baseline="0" dirty="0"/>
              <a:t> </a:t>
            </a:r>
            <a:r>
              <a:rPr lang="en-US" baseline="0" dirty="0" err="1"/>
              <a:t>gửi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tới</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đó</a:t>
            </a:r>
            <a:endParaRPr lang="en-US" baseline="0" dirty="0"/>
          </a:p>
          <a:p>
            <a:pPr marL="628650" lvl="1" indent="-171450">
              <a:buFontTx/>
              <a:buChar char="-"/>
            </a:pP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10</a:t>
            </a:fld>
            <a:endParaRPr lang="en-US"/>
          </a:p>
        </p:txBody>
      </p:sp>
    </p:spTree>
    <p:extLst>
      <p:ext uri="{BB962C8B-B14F-4D97-AF65-F5344CB8AC3E}">
        <p14:creationId xmlns:p14="http://schemas.microsoft.com/office/powerpoint/2010/main" val="66984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UDP </a:t>
            </a:r>
            <a:r>
              <a:rPr lang="en-US" dirty="0" err="1"/>
              <a:t>và</a:t>
            </a:r>
            <a:r>
              <a:rPr lang="en-US" baseline="0" dirty="0"/>
              <a:t> TCP </a:t>
            </a:r>
            <a:r>
              <a:rPr lang="en-US" baseline="0" dirty="0" err="1"/>
              <a:t>thực</a:t>
            </a:r>
            <a:r>
              <a:rPr lang="en-US" baseline="0" dirty="0"/>
              <a:t> </a:t>
            </a:r>
            <a:r>
              <a:rPr lang="en-US" baseline="0" dirty="0" err="1"/>
              <a:t>hiện</a:t>
            </a:r>
            <a:r>
              <a:rPr lang="en-US" baseline="0" dirty="0"/>
              <a:t> </a:t>
            </a:r>
            <a:r>
              <a:rPr lang="en-US" baseline="0" dirty="0" err="1"/>
              <a:t>việc</a:t>
            </a:r>
            <a:r>
              <a:rPr lang="en-US" baseline="0" dirty="0"/>
              <a:t> </a:t>
            </a:r>
            <a:r>
              <a:rPr lang="en-US" baseline="0" dirty="0" err="1"/>
              <a:t>dồn</a:t>
            </a:r>
            <a:r>
              <a:rPr lang="en-US" baseline="0" dirty="0"/>
              <a:t> </a:t>
            </a:r>
            <a:r>
              <a:rPr lang="en-US" baseline="0" dirty="0" err="1"/>
              <a:t>kênh</a:t>
            </a:r>
            <a:r>
              <a:rPr lang="en-US" baseline="0" dirty="0"/>
              <a:t> </a:t>
            </a:r>
            <a:r>
              <a:rPr lang="en-US" baseline="0" dirty="0" err="1"/>
              <a:t>và</a:t>
            </a:r>
            <a:r>
              <a:rPr lang="en-US" baseline="0" dirty="0"/>
              <a:t> </a:t>
            </a:r>
            <a:r>
              <a:rPr lang="en-US" baseline="0" dirty="0" err="1"/>
              <a:t>phân</a:t>
            </a:r>
            <a:r>
              <a:rPr lang="en-US" baseline="0" dirty="0"/>
              <a:t> </a:t>
            </a:r>
            <a:r>
              <a:rPr lang="en-US" baseline="0" dirty="0" err="1"/>
              <a:t>kênh</a:t>
            </a:r>
            <a:r>
              <a:rPr lang="en-US" baseline="0" dirty="0"/>
              <a:t> </a:t>
            </a:r>
            <a:r>
              <a:rPr lang="en-US" baseline="0" dirty="0" err="1"/>
              <a:t>nhờ</a:t>
            </a:r>
            <a:r>
              <a:rPr lang="en-US" baseline="0" dirty="0"/>
              <a:t> </a:t>
            </a:r>
            <a:r>
              <a:rPr lang="en-US" baseline="0" dirty="0" err="1"/>
              <a:t>hai</a:t>
            </a:r>
            <a:r>
              <a:rPr lang="en-US" baseline="0" dirty="0"/>
              <a:t> </a:t>
            </a:r>
            <a:r>
              <a:rPr lang="en-US" baseline="0" dirty="0" err="1"/>
              <a:t>trường</a:t>
            </a:r>
            <a:r>
              <a:rPr lang="en-US" baseline="0" dirty="0"/>
              <a:t> </a:t>
            </a:r>
            <a:r>
              <a:rPr lang="en-US" baseline="0" dirty="0" err="1"/>
              <a:t>đặc</a:t>
            </a:r>
            <a:r>
              <a:rPr lang="en-US" baseline="0" dirty="0"/>
              <a:t> </a:t>
            </a:r>
            <a:r>
              <a:rPr lang="en-US" baseline="0" dirty="0" err="1"/>
              <a:t>biệt</a:t>
            </a:r>
            <a:r>
              <a:rPr lang="en-US" baseline="0" dirty="0"/>
              <a:t> ở </a:t>
            </a:r>
            <a:r>
              <a:rPr lang="en-US" baseline="0" dirty="0" err="1"/>
              <a:t>đầu</a:t>
            </a:r>
            <a:r>
              <a:rPr lang="en-US" baseline="0" dirty="0"/>
              <a:t> segment </a:t>
            </a:r>
            <a:r>
              <a:rPr lang="en-US" baseline="0" dirty="0" err="1"/>
              <a:t>là</a:t>
            </a:r>
            <a:r>
              <a:rPr lang="en-US" baseline="0" dirty="0"/>
              <a:t> </a:t>
            </a:r>
            <a:r>
              <a:rPr lang="en-US" baseline="0" dirty="0" err="1"/>
              <a:t>trường</a:t>
            </a:r>
            <a:r>
              <a:rPr lang="en-US" baseline="0" dirty="0"/>
              <a:t> </a:t>
            </a:r>
            <a:r>
              <a:rPr lang="en-US" baseline="0" dirty="0" err="1"/>
              <a:t>định</a:t>
            </a:r>
            <a:r>
              <a:rPr lang="en-US" baseline="0" dirty="0"/>
              <a:t> </a:t>
            </a:r>
            <a:r>
              <a:rPr lang="en-US" baseline="0" dirty="0" err="1"/>
              <a:t>danh</a:t>
            </a:r>
            <a:r>
              <a:rPr lang="en-US" baseline="0" dirty="0"/>
              <a:t> </a:t>
            </a:r>
            <a:r>
              <a:rPr lang="en-US" baseline="0" dirty="0" err="1"/>
              <a:t>cổng</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gửi</a:t>
            </a:r>
            <a:r>
              <a:rPr lang="en-US" baseline="0" dirty="0"/>
              <a:t> (source port number, </a:t>
            </a:r>
            <a:r>
              <a:rPr lang="en-US" baseline="0" dirty="0" err="1"/>
              <a:t>số</a:t>
            </a:r>
            <a:r>
              <a:rPr lang="en-US" baseline="0" dirty="0"/>
              <a:t> </a:t>
            </a:r>
            <a:r>
              <a:rPr lang="en-US" baseline="0" dirty="0" err="1"/>
              <a:t>hiệu</a:t>
            </a:r>
            <a:r>
              <a:rPr lang="en-US" baseline="0" dirty="0"/>
              <a:t> </a:t>
            </a:r>
            <a:r>
              <a:rPr lang="en-US" baseline="0" dirty="0" err="1"/>
              <a:t>này</a:t>
            </a:r>
            <a:r>
              <a:rPr lang="en-US" baseline="0" dirty="0"/>
              <a:t> </a:t>
            </a:r>
            <a:r>
              <a:rPr lang="en-US" baseline="0" dirty="0" err="1"/>
              <a:t>sẽ</a:t>
            </a:r>
            <a:r>
              <a:rPr lang="en-US" baseline="0" dirty="0"/>
              <a:t> </a:t>
            </a:r>
            <a:r>
              <a:rPr lang="en-US" baseline="0" dirty="0" err="1"/>
              <a:t>được</a:t>
            </a:r>
            <a:r>
              <a:rPr lang="en-US" baseline="0" dirty="0"/>
              <a:t> ) </a:t>
            </a:r>
            <a:r>
              <a:rPr lang="en-US" baseline="0" dirty="0" err="1"/>
              <a:t>và</a:t>
            </a:r>
            <a:r>
              <a:rPr lang="en-US" baseline="0" dirty="0"/>
              <a:t> </a:t>
            </a:r>
            <a:r>
              <a:rPr lang="en-US" baseline="0" dirty="0" err="1"/>
              <a:t>trường</a:t>
            </a:r>
            <a:r>
              <a:rPr lang="en-US" baseline="0" dirty="0"/>
              <a:t> </a:t>
            </a:r>
            <a:r>
              <a:rPr lang="en-US" baseline="0" dirty="0" err="1"/>
              <a:t>định</a:t>
            </a:r>
            <a:r>
              <a:rPr lang="en-US" baseline="0" dirty="0"/>
              <a:t> </a:t>
            </a:r>
            <a:r>
              <a:rPr lang="en-US" baseline="0" dirty="0" err="1"/>
              <a:t>danh</a:t>
            </a:r>
            <a:r>
              <a:rPr lang="en-US" baseline="0" dirty="0"/>
              <a:t> </a:t>
            </a:r>
            <a:r>
              <a:rPr lang="en-US" baseline="0" dirty="0" err="1"/>
              <a:t>cổng</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đích</a:t>
            </a:r>
            <a:r>
              <a:rPr lang="en-US" baseline="0" dirty="0"/>
              <a:t> (</a:t>
            </a:r>
            <a:r>
              <a:rPr lang="en-US" baseline="0" dirty="0" err="1"/>
              <a:t>gồm</a:t>
            </a:r>
            <a:r>
              <a:rPr lang="en-US" baseline="0" dirty="0"/>
              <a:t> </a:t>
            </a:r>
            <a:r>
              <a:rPr lang="en-US" baseline="0" dirty="0" err="1"/>
              <a:t>địa</a:t>
            </a:r>
            <a:r>
              <a:rPr lang="en-US" baseline="0" dirty="0"/>
              <a:t> </a:t>
            </a:r>
            <a:r>
              <a:rPr lang="en-US" baseline="0" dirty="0" err="1"/>
              <a:t>chỉ</a:t>
            </a:r>
            <a:r>
              <a:rPr lang="en-US" baseline="0" dirty="0"/>
              <a:t> IP </a:t>
            </a:r>
            <a:r>
              <a:rPr lang="en-US" baseline="0" dirty="0" err="1"/>
              <a:t>đích</a:t>
            </a:r>
            <a:r>
              <a:rPr lang="en-US" baseline="0" dirty="0"/>
              <a:t> </a:t>
            </a:r>
            <a:r>
              <a:rPr lang="en-US" baseline="0" dirty="0" err="1"/>
              <a:t>và</a:t>
            </a:r>
            <a:r>
              <a:rPr lang="en-US" baseline="0" dirty="0"/>
              <a:t> </a:t>
            </a: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tiến</a:t>
            </a:r>
            <a:r>
              <a:rPr lang="en-US" baseline="0" dirty="0"/>
              <a:t> </a:t>
            </a:r>
            <a:r>
              <a:rPr lang="en-US" baseline="0" dirty="0" err="1"/>
              <a:t>trình</a:t>
            </a:r>
            <a:r>
              <a:rPr lang="en-US" baseline="0" dirty="0"/>
              <a:t> </a:t>
            </a:r>
            <a:r>
              <a:rPr lang="en-US" baseline="0" dirty="0" err="1"/>
              <a:t>đích</a:t>
            </a:r>
            <a:r>
              <a:rPr lang="en-US" baseline="0" dirty="0"/>
              <a:t>)</a:t>
            </a:r>
          </a:p>
          <a:p>
            <a:pPr marL="171450" indent="-171450">
              <a:buFontTx/>
              <a:buChar char="-"/>
            </a:pP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là</a:t>
            </a:r>
            <a:r>
              <a:rPr lang="en-US" baseline="0" dirty="0"/>
              <a:t> con </a:t>
            </a:r>
            <a:r>
              <a:rPr lang="en-US" baseline="0" dirty="0" err="1"/>
              <a:t>số</a:t>
            </a:r>
            <a:r>
              <a:rPr lang="en-US" baseline="0" dirty="0"/>
              <a:t> 16 bit </a:t>
            </a:r>
            <a:r>
              <a:rPr lang="en-US" baseline="0" dirty="0" err="1"/>
              <a:t>có</a:t>
            </a:r>
            <a:r>
              <a:rPr lang="en-US" baseline="0" dirty="0"/>
              <a:t> </a:t>
            </a:r>
            <a:r>
              <a:rPr lang="en-US" baseline="0" dirty="0" err="1"/>
              <a:t>giá</a:t>
            </a:r>
            <a:r>
              <a:rPr lang="en-US" baseline="0" dirty="0"/>
              <a:t> </a:t>
            </a:r>
            <a:r>
              <a:rPr lang="en-US" baseline="0" dirty="0" err="1"/>
              <a:t>trị</a:t>
            </a:r>
            <a:r>
              <a:rPr lang="en-US" baseline="0" dirty="0"/>
              <a:t> </a:t>
            </a:r>
            <a:r>
              <a:rPr lang="en-US" baseline="0" dirty="0" err="1"/>
              <a:t>từ</a:t>
            </a:r>
            <a:r>
              <a:rPr lang="en-US" baseline="0" dirty="0"/>
              <a:t> 0 </a:t>
            </a:r>
            <a:r>
              <a:rPr lang="en-US" baseline="0" dirty="0" err="1"/>
              <a:t>đến</a:t>
            </a:r>
            <a:r>
              <a:rPr lang="en-US" baseline="0" dirty="0"/>
              <a:t> 65535. </a:t>
            </a:r>
            <a:r>
              <a:rPr lang="en-US" baseline="0" dirty="0" err="1"/>
              <a:t>Danh</a:t>
            </a:r>
            <a:r>
              <a:rPr lang="en-US" baseline="0" dirty="0"/>
              <a:t> </a:t>
            </a:r>
            <a:r>
              <a:rPr lang="en-US" baseline="0" dirty="0" err="1"/>
              <a:t>sách</a:t>
            </a:r>
            <a:r>
              <a:rPr lang="en-US" baseline="0" dirty="0"/>
              <a:t> </a:t>
            </a:r>
            <a:r>
              <a:rPr lang="en-US" baseline="0" dirty="0" err="1"/>
              <a:t>các</a:t>
            </a:r>
            <a:r>
              <a:rPr lang="en-US" baseline="0" dirty="0"/>
              <a:t> </a:t>
            </a:r>
            <a:r>
              <a:rPr lang="en-US" baseline="0" dirty="0" err="1"/>
              <a:t>cổng</a:t>
            </a:r>
            <a:r>
              <a:rPr lang="en-US" baseline="0" dirty="0"/>
              <a:t> </a:t>
            </a:r>
            <a:r>
              <a:rPr lang="en-US" baseline="0" dirty="0" err="1"/>
              <a:t>thông</a:t>
            </a:r>
            <a:r>
              <a:rPr lang="en-US" baseline="0" dirty="0"/>
              <a:t> </a:t>
            </a:r>
            <a:r>
              <a:rPr lang="en-US" baseline="0" dirty="0" err="1"/>
              <a:t>dụng</a:t>
            </a:r>
            <a:r>
              <a:rPr lang="en-US" baseline="0" dirty="0"/>
              <a:t> </a:t>
            </a:r>
            <a:r>
              <a:rPr lang="en-US" baseline="0" dirty="0" err="1"/>
              <a:t>có</a:t>
            </a:r>
            <a:r>
              <a:rPr lang="en-US" baseline="0" dirty="0"/>
              <a:t> </a:t>
            </a:r>
            <a:r>
              <a:rPr lang="en-US" baseline="0" dirty="0" err="1"/>
              <a:t>thể</a:t>
            </a:r>
            <a:r>
              <a:rPr lang="en-US" baseline="0" dirty="0"/>
              <a:t> </a:t>
            </a:r>
            <a:r>
              <a:rPr lang="en-US" baseline="0" dirty="0" err="1"/>
              <a:t>tham</a:t>
            </a:r>
            <a:r>
              <a:rPr lang="en-US" baseline="0" dirty="0"/>
              <a:t> </a:t>
            </a:r>
            <a:r>
              <a:rPr lang="en-US" baseline="0" dirty="0" err="1"/>
              <a:t>khảo</a:t>
            </a:r>
            <a:r>
              <a:rPr lang="en-US" baseline="0" dirty="0"/>
              <a:t> </a:t>
            </a:r>
            <a:r>
              <a:rPr lang="en-US" baseline="0" dirty="0" err="1"/>
              <a:t>trong</a:t>
            </a:r>
            <a:r>
              <a:rPr lang="en-US" baseline="0" dirty="0"/>
              <a:t> RFC 1700. </a:t>
            </a:r>
            <a:r>
              <a:rPr lang="en-US" sz="1200" b="0" i="0" kern="1200" dirty="0">
                <a:solidFill>
                  <a:schemeClr val="tx1"/>
                </a:solidFill>
                <a:effectLst/>
                <a:latin typeface="+mn-lt"/>
                <a:ea typeface="+mn-ea"/>
                <a:cs typeface="+mn-cs"/>
              </a:rPr>
              <a:t>The list of well-known port numbers is given in RFC 1700 and is updated at http://www.iana.org [RFC 3232].</a:t>
            </a:r>
            <a:r>
              <a:rPr lang="en-US" dirty="0"/>
              <a:t> </a:t>
            </a:r>
          </a:p>
          <a:p>
            <a:pPr marL="171450" indent="-171450">
              <a:buFontTx/>
              <a:buChar char="-"/>
            </a:pPr>
            <a:r>
              <a:rPr lang="en-US" sz="1200" b="0" i="0" kern="1200" dirty="0">
                <a:solidFill>
                  <a:schemeClr val="tx1"/>
                </a:solidFill>
                <a:effectLst/>
                <a:latin typeface="+mn-lt"/>
                <a:ea typeface="+mn-ea"/>
                <a:cs typeface="+mn-cs"/>
              </a:rPr>
              <a:t>When a UDP socket is created in this manner, the transport layer automatically assigns a port number to the socket. In particular, the transport layer assigns a port number </a:t>
            </a:r>
            <a:r>
              <a:rPr lang="en-US" sz="1200" b="1" i="0" kern="1200" dirty="0">
                <a:solidFill>
                  <a:schemeClr val="tx1"/>
                </a:solidFill>
                <a:effectLst/>
                <a:latin typeface="+mn-lt"/>
                <a:ea typeface="+mn-ea"/>
                <a:cs typeface="+mn-cs"/>
              </a:rPr>
              <a:t>in the range 1024 to 65535</a:t>
            </a:r>
            <a:r>
              <a:rPr lang="en-US" sz="1200" b="0" i="0" kern="1200" dirty="0">
                <a:solidFill>
                  <a:schemeClr val="tx1"/>
                </a:solidFill>
                <a:effectLst/>
                <a:latin typeface="+mn-lt"/>
                <a:ea typeface="+mn-ea"/>
                <a:cs typeface="+mn-cs"/>
              </a:rPr>
              <a:t> that is currently </a:t>
            </a:r>
            <a:r>
              <a:rPr lang="en-US" sz="1200" b="1" i="0" kern="1200" dirty="0">
                <a:solidFill>
                  <a:schemeClr val="tx1"/>
                </a:solidFill>
                <a:effectLst/>
                <a:latin typeface="+mn-lt"/>
                <a:ea typeface="+mn-ea"/>
                <a:cs typeface="+mn-cs"/>
              </a:rPr>
              <a:t>not being used by any other UDP port in the host</a:t>
            </a:r>
            <a:r>
              <a:rPr lang="en-US" sz="1200" b="0" i="0" kern="1200" dirty="0">
                <a:solidFill>
                  <a:schemeClr val="tx1"/>
                </a:solidFill>
                <a:effectLst/>
                <a:latin typeface="+mn-lt"/>
                <a:ea typeface="+mn-ea"/>
                <a:cs typeface="+mn-cs"/>
              </a:rPr>
              <a:t>. </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12</a:t>
            </a:fld>
            <a:endParaRPr lang="en-US"/>
          </a:p>
        </p:txBody>
      </p:sp>
    </p:spTree>
    <p:extLst>
      <p:ext uri="{BB962C8B-B14F-4D97-AF65-F5344CB8AC3E}">
        <p14:creationId xmlns:p14="http://schemas.microsoft.com/office/powerpoint/2010/main" val="3224522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Trang</a:t>
            </a:r>
            <a:r>
              <a:rPr lang="en-US" dirty="0"/>
              <a:t> 94: </a:t>
            </a:r>
            <a:r>
              <a:rPr lang="en-US" dirty="0" err="1"/>
              <a:t>nhâp</a:t>
            </a:r>
            <a:r>
              <a:rPr lang="en-US" baseline="0" dirty="0"/>
              <a:t> </a:t>
            </a:r>
            <a:r>
              <a:rPr lang="en-US" baseline="0" dirty="0" err="1"/>
              <a:t>môn</a:t>
            </a:r>
            <a:r>
              <a:rPr lang="en-US" baseline="0" dirty="0"/>
              <a:t> </a:t>
            </a:r>
            <a:r>
              <a:rPr lang="en-US" baseline="0" dirty="0" err="1"/>
              <a:t>mạng</a:t>
            </a:r>
            <a:r>
              <a:rPr lang="en-US" baseline="0" dirty="0"/>
              <a:t> </a:t>
            </a:r>
            <a:r>
              <a:rPr lang="en-US" baseline="0" dirty="0" err="1"/>
              <a:t>máy</a:t>
            </a:r>
            <a:r>
              <a:rPr lang="en-US" baseline="0" dirty="0"/>
              <a:t> </a:t>
            </a:r>
            <a:r>
              <a:rPr lang="en-US" baseline="0" dirty="0" err="1"/>
              <a:t>tính</a:t>
            </a:r>
            <a:r>
              <a:rPr lang="en-US" baseline="0" dirty="0"/>
              <a:t>, </a:t>
            </a:r>
            <a:r>
              <a:rPr lang="en-US" baseline="0" dirty="0" err="1"/>
              <a:t>Hồ</a:t>
            </a:r>
            <a:r>
              <a:rPr lang="en-US" baseline="0" dirty="0"/>
              <a:t> </a:t>
            </a:r>
            <a:r>
              <a:rPr lang="en-US" baseline="0" dirty="0" err="1"/>
              <a:t>Đắc</a:t>
            </a:r>
            <a:r>
              <a:rPr lang="en-US" baseline="0" dirty="0"/>
              <a:t> </a:t>
            </a:r>
            <a:r>
              <a:rPr lang="en-US" baseline="0" dirty="0" err="1"/>
              <a:t>Phương</a:t>
            </a:r>
            <a:endParaRPr lang="en-US" baseline="0" dirty="0"/>
          </a:p>
          <a:p>
            <a:r>
              <a:rPr lang="en-US" baseline="0" dirty="0" err="1"/>
              <a:t>Hai</a:t>
            </a:r>
            <a:r>
              <a:rPr lang="en-US" baseline="0" dirty="0"/>
              <a:t> client (A </a:t>
            </a:r>
            <a:r>
              <a:rPr lang="en-US" baseline="0" dirty="0" err="1"/>
              <a:t>và</a:t>
            </a:r>
            <a:r>
              <a:rPr lang="en-US" baseline="0" dirty="0"/>
              <a:t> C) </a:t>
            </a:r>
            <a:r>
              <a:rPr lang="en-US" baseline="0" dirty="0" err="1"/>
              <a:t>cùng</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phiên</a:t>
            </a:r>
            <a:r>
              <a:rPr lang="en-US" baseline="0" dirty="0"/>
              <a:t> </a:t>
            </a:r>
            <a:r>
              <a:rPr lang="en-US" baseline="0" dirty="0" err="1"/>
              <a:t>làm</a:t>
            </a:r>
            <a:r>
              <a:rPr lang="en-US" baseline="0" dirty="0"/>
              <a:t> </a:t>
            </a:r>
            <a:r>
              <a:rPr lang="en-US" baseline="0" dirty="0" err="1"/>
              <a:t>việc</a:t>
            </a:r>
            <a:r>
              <a:rPr lang="en-US" baseline="0" dirty="0"/>
              <a:t> </a:t>
            </a:r>
            <a:r>
              <a:rPr lang="en-US" baseline="0" dirty="0" err="1"/>
              <a:t>tới</a:t>
            </a:r>
            <a:r>
              <a:rPr lang="en-US" baseline="0" dirty="0"/>
              <a:t> server B </a:t>
            </a:r>
            <a:r>
              <a:rPr lang="en-US" baseline="0" dirty="0" err="1"/>
              <a:t>và</a:t>
            </a:r>
            <a:r>
              <a:rPr lang="en-US" baseline="0" dirty="0"/>
              <a:t> </a:t>
            </a:r>
            <a:r>
              <a:rPr lang="en-US" baseline="0" dirty="0" err="1"/>
              <a:t>mỗi</a:t>
            </a:r>
            <a:r>
              <a:rPr lang="en-US" baseline="0" dirty="0"/>
              <a:t> client </a:t>
            </a:r>
            <a:r>
              <a:rPr lang="en-US" baseline="0" dirty="0" err="1"/>
              <a:t>đều</a:t>
            </a:r>
            <a:r>
              <a:rPr lang="en-US" baseline="0" dirty="0"/>
              <a:t> </a:t>
            </a:r>
            <a:r>
              <a:rPr lang="en-US" baseline="0" dirty="0" err="1"/>
              <a:t>chọn</a:t>
            </a:r>
            <a:r>
              <a:rPr lang="en-US" baseline="0" dirty="0"/>
              <a:t> </a:t>
            </a:r>
            <a:r>
              <a:rPr lang="en-US" baseline="0" dirty="0" err="1"/>
              <a:t>cổng</a:t>
            </a:r>
            <a:r>
              <a:rPr lang="en-US" baseline="0" dirty="0"/>
              <a:t> </a:t>
            </a:r>
            <a:r>
              <a:rPr lang="en-US" baseline="0" dirty="0" err="1"/>
              <a:t>nguồn</a:t>
            </a:r>
            <a:r>
              <a:rPr lang="en-US" baseline="0" dirty="0"/>
              <a:t> </a:t>
            </a:r>
            <a:r>
              <a:rPr lang="en-US" baseline="0" dirty="0" err="1"/>
              <a:t>là</a:t>
            </a:r>
            <a:r>
              <a:rPr lang="en-US" baseline="0" dirty="0"/>
              <a:t> x</a:t>
            </a:r>
          </a:p>
          <a:p>
            <a:r>
              <a:rPr lang="en-US" baseline="0" dirty="0" err="1"/>
              <a:t>Làm</a:t>
            </a:r>
            <a:r>
              <a:rPr lang="en-US" baseline="0" dirty="0"/>
              <a:t> </a:t>
            </a:r>
            <a:r>
              <a:rPr lang="en-US" baseline="0" dirty="0" err="1"/>
              <a:t>thế</a:t>
            </a:r>
            <a:r>
              <a:rPr lang="en-US" baseline="0" dirty="0"/>
              <a:t> </a:t>
            </a:r>
            <a:r>
              <a:rPr lang="en-US" baseline="0" dirty="0" err="1"/>
              <a:t>nào</a:t>
            </a:r>
            <a:r>
              <a:rPr lang="en-US" baseline="0" dirty="0"/>
              <a:t> </a:t>
            </a:r>
            <a:r>
              <a:rPr lang="en-US" baseline="0" dirty="0" err="1"/>
              <a:t>để</a:t>
            </a:r>
            <a:r>
              <a:rPr lang="en-US" baseline="0" dirty="0"/>
              <a:t> sever B </a:t>
            </a:r>
            <a:r>
              <a:rPr lang="en-US" baseline="0" dirty="0" err="1"/>
              <a:t>phân</a:t>
            </a:r>
            <a:r>
              <a:rPr lang="en-US" baseline="0" dirty="0"/>
              <a:t> </a:t>
            </a:r>
            <a:r>
              <a:rPr lang="en-US" baseline="0" dirty="0" err="1"/>
              <a:t>kênh</a:t>
            </a:r>
            <a:r>
              <a:rPr lang="en-US" baseline="0" dirty="0"/>
              <a:t> </a:t>
            </a:r>
            <a:r>
              <a:rPr lang="en-US" baseline="0" dirty="0" err="1"/>
              <a:t>đến</a:t>
            </a:r>
            <a:r>
              <a:rPr lang="en-US" baseline="0" dirty="0"/>
              <a:t> </a:t>
            </a:r>
            <a:r>
              <a:rPr lang="en-US" baseline="0" dirty="0" err="1"/>
              <a:t>đúng</a:t>
            </a:r>
            <a:r>
              <a:rPr lang="en-US" baseline="0" dirty="0"/>
              <a:t> socket? </a:t>
            </a:r>
            <a:r>
              <a:rPr lang="en-US" baseline="0" dirty="0" err="1"/>
              <a:t>Bên</a:t>
            </a:r>
            <a:r>
              <a:rPr lang="en-US" baseline="0" dirty="0"/>
              <a:t> </a:t>
            </a:r>
            <a:r>
              <a:rPr lang="en-US" baseline="0" dirty="0" err="1"/>
              <a:t>nhận</a:t>
            </a:r>
            <a:r>
              <a:rPr lang="en-US" baseline="0" dirty="0"/>
              <a:t> </a:t>
            </a:r>
            <a:r>
              <a:rPr lang="en-US" baseline="0" dirty="0" err="1"/>
              <a:t>phải</a:t>
            </a:r>
            <a:r>
              <a:rPr lang="en-US" baseline="0" dirty="0"/>
              <a:t> </a:t>
            </a:r>
            <a:r>
              <a:rPr lang="en-US" baseline="0" dirty="0" err="1"/>
              <a:t>dựa</a:t>
            </a:r>
            <a:r>
              <a:rPr lang="en-US" baseline="0" dirty="0"/>
              <a:t> </a:t>
            </a:r>
            <a:r>
              <a:rPr lang="en-US" baseline="0" dirty="0" err="1"/>
              <a:t>vào</a:t>
            </a:r>
            <a:r>
              <a:rPr lang="en-US" baseline="0" dirty="0"/>
              <a:t> 3 </a:t>
            </a:r>
            <a:r>
              <a:rPr lang="en-US" baseline="0" dirty="0" err="1"/>
              <a:t>thông</a:t>
            </a:r>
            <a:r>
              <a:rPr lang="en-US" baseline="0" dirty="0"/>
              <a:t> tin: </a:t>
            </a: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đích</a:t>
            </a:r>
            <a:r>
              <a:rPr lang="en-US" baseline="0" dirty="0"/>
              <a:t>, </a:t>
            </a:r>
            <a:r>
              <a:rPr lang="en-US" baseline="0" dirty="0" err="1"/>
              <a:t>địa</a:t>
            </a:r>
            <a:r>
              <a:rPr lang="en-US" baseline="0" dirty="0"/>
              <a:t> </a:t>
            </a:r>
            <a:r>
              <a:rPr lang="en-US" baseline="0" dirty="0" err="1"/>
              <a:t>chỉ</a:t>
            </a:r>
            <a:r>
              <a:rPr lang="en-US" baseline="0" dirty="0"/>
              <a:t> IP </a:t>
            </a:r>
            <a:r>
              <a:rPr lang="en-US" baseline="0" dirty="0" err="1"/>
              <a:t>nguồn</a:t>
            </a:r>
            <a:r>
              <a:rPr lang="en-US" baseline="0" dirty="0"/>
              <a:t> </a:t>
            </a:r>
            <a:r>
              <a:rPr lang="en-US" baseline="0" dirty="0" err="1"/>
              <a:t>và</a:t>
            </a:r>
            <a:r>
              <a:rPr lang="en-US" baseline="0" dirty="0"/>
              <a:t> </a:t>
            </a: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nguồn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13</a:t>
            </a:fld>
            <a:endParaRPr lang="en-US"/>
          </a:p>
        </p:txBody>
      </p:sp>
    </p:spTree>
    <p:extLst>
      <p:ext uri="{BB962C8B-B14F-4D97-AF65-F5344CB8AC3E}">
        <p14:creationId xmlns:p14="http://schemas.microsoft.com/office/powerpoint/2010/main" val="2173321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14</a:t>
            </a:fld>
            <a:endParaRPr lang="en-US"/>
          </a:p>
        </p:txBody>
      </p:sp>
    </p:spTree>
    <p:extLst>
      <p:ext uri="{BB962C8B-B14F-4D97-AF65-F5344CB8AC3E}">
        <p14:creationId xmlns:p14="http://schemas.microsoft.com/office/powerpoint/2010/main" val="3144208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Bên</a:t>
            </a:r>
            <a:r>
              <a:rPr lang="en-US" baseline="0" dirty="0"/>
              <a:t> </a:t>
            </a:r>
            <a:r>
              <a:rPr lang="en-US" baseline="0" dirty="0" err="1"/>
              <a:t>gửi</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16</a:t>
            </a:fld>
            <a:endParaRPr lang="en-US"/>
          </a:p>
        </p:txBody>
      </p:sp>
    </p:spTree>
    <p:extLst>
      <p:ext uri="{BB962C8B-B14F-4D97-AF65-F5344CB8AC3E}">
        <p14:creationId xmlns:p14="http://schemas.microsoft.com/office/powerpoint/2010/main" val="166986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Chú</a:t>
            </a:r>
            <a:r>
              <a:rPr lang="en-US" baseline="0" dirty="0"/>
              <a:t> ý: </a:t>
            </a:r>
          </a:p>
          <a:p>
            <a:pPr marL="171450" indent="-171450">
              <a:buFontTx/>
              <a:buChar char="-"/>
            </a:pPr>
            <a:r>
              <a:rPr lang="en-US" baseline="0" dirty="0" err="1"/>
              <a:t>Nếu</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không</a:t>
            </a:r>
            <a:r>
              <a:rPr lang="en-US" baseline="0" dirty="0"/>
              <a:t> </a:t>
            </a:r>
            <a:r>
              <a:rPr lang="en-US" baseline="0" dirty="0" err="1"/>
              <a:t>có</a:t>
            </a:r>
            <a:r>
              <a:rPr lang="en-US" baseline="0" dirty="0"/>
              <a:t> </a:t>
            </a:r>
            <a:r>
              <a:rPr lang="en-US" baseline="0" dirty="0" err="1"/>
              <a:t>lỗi</a:t>
            </a:r>
            <a:r>
              <a:rPr lang="en-US" baseline="0" dirty="0"/>
              <a:t>, </a:t>
            </a:r>
            <a:r>
              <a:rPr lang="en-US" baseline="0" dirty="0" err="1"/>
              <a:t>tất</a:t>
            </a:r>
            <a:r>
              <a:rPr lang="en-US" baseline="0" dirty="0"/>
              <a:t> </a:t>
            </a:r>
            <a:r>
              <a:rPr lang="en-US" baseline="0" dirty="0" err="1"/>
              <a:t>cả</a:t>
            </a:r>
            <a:r>
              <a:rPr lang="en-US" baseline="0" dirty="0"/>
              <a:t> </a:t>
            </a:r>
            <a:r>
              <a:rPr lang="en-US" baseline="0" dirty="0" err="1"/>
              <a:t>hai</a:t>
            </a:r>
            <a:r>
              <a:rPr lang="en-US" baseline="0" dirty="0"/>
              <a:t> </a:t>
            </a:r>
            <a:r>
              <a:rPr lang="en-US" baseline="0" dirty="0" err="1"/>
              <a:t>từ</a:t>
            </a:r>
            <a:r>
              <a:rPr lang="en-US" baseline="0" dirty="0"/>
              <a:t> 16 bit </a:t>
            </a:r>
            <a:r>
              <a:rPr lang="en-US" baseline="0" dirty="0" err="1"/>
              <a:t>cộng</a:t>
            </a:r>
            <a:r>
              <a:rPr lang="en-US" baseline="0" dirty="0"/>
              <a:t> </a:t>
            </a:r>
            <a:r>
              <a:rPr lang="en-US" baseline="0" dirty="0" err="1"/>
              <a:t>lại</a:t>
            </a:r>
            <a:r>
              <a:rPr lang="en-US" baseline="0" dirty="0"/>
              <a:t> </a:t>
            </a:r>
            <a:r>
              <a:rPr lang="en-US" baseline="0" dirty="0" err="1"/>
              <a:t>rồi</a:t>
            </a:r>
            <a:r>
              <a:rPr lang="en-US" baseline="0" dirty="0"/>
              <a:t> </a:t>
            </a:r>
            <a:r>
              <a:rPr lang="en-US" baseline="0" dirty="0" err="1"/>
              <a:t>cộng</a:t>
            </a:r>
            <a:r>
              <a:rPr lang="en-US" baseline="0" dirty="0"/>
              <a:t> </a:t>
            </a:r>
            <a:r>
              <a:rPr lang="en-US" baseline="0" dirty="0" err="1"/>
              <a:t>với</a:t>
            </a:r>
            <a:r>
              <a:rPr lang="en-US" baseline="0" dirty="0"/>
              <a:t> checksum ta </a:t>
            </a:r>
            <a:r>
              <a:rPr lang="en-US" baseline="0" dirty="0" err="1"/>
              <a:t>thu</a:t>
            </a:r>
            <a:r>
              <a:rPr lang="en-US" baseline="0" dirty="0"/>
              <a:t> </a:t>
            </a:r>
            <a:r>
              <a:rPr lang="en-US" baseline="0" dirty="0" err="1"/>
              <a:t>được</a:t>
            </a:r>
            <a:r>
              <a:rPr lang="en-US" baseline="0" dirty="0"/>
              <a:t> </a:t>
            </a:r>
            <a:r>
              <a:rPr lang="en-US" baseline="0" dirty="0" err="1"/>
              <a:t>một</a:t>
            </a:r>
            <a:r>
              <a:rPr lang="en-US" baseline="0" dirty="0"/>
              <a:t> </a:t>
            </a:r>
            <a:r>
              <a:rPr lang="en-US" baseline="0" dirty="0" err="1"/>
              <a:t>từ</a:t>
            </a:r>
            <a:r>
              <a:rPr lang="en-US" baseline="0" dirty="0"/>
              <a:t> 16 bit </a:t>
            </a:r>
            <a:r>
              <a:rPr lang="en-US" baseline="0" dirty="0" err="1"/>
              <a:t>gồm</a:t>
            </a:r>
            <a:r>
              <a:rPr lang="en-US" baseline="0" dirty="0"/>
              <a:t> </a:t>
            </a:r>
            <a:r>
              <a:rPr lang="en-US" baseline="0" dirty="0" err="1"/>
              <a:t>toàn</a:t>
            </a:r>
            <a:r>
              <a:rPr lang="en-US" baseline="0" dirty="0"/>
              <a:t> </a:t>
            </a:r>
            <a:r>
              <a:rPr lang="en-US" baseline="0" dirty="0" err="1"/>
              <a:t>các</a:t>
            </a:r>
            <a:r>
              <a:rPr lang="en-US" baseline="0" dirty="0"/>
              <a:t> bit 1</a:t>
            </a:r>
          </a:p>
          <a:p>
            <a:pPr marL="171450" indent="-171450">
              <a:buFontTx/>
              <a:buChar char="-"/>
            </a:pPr>
            <a:r>
              <a:rPr lang="en-US" baseline="0" dirty="0" err="1"/>
              <a:t>Nếu</a:t>
            </a:r>
            <a:r>
              <a:rPr lang="en-US" baseline="0" dirty="0"/>
              <a:t> </a:t>
            </a:r>
            <a:r>
              <a:rPr lang="en-US" baseline="0" dirty="0" err="1"/>
              <a:t>tổng</a:t>
            </a:r>
            <a:r>
              <a:rPr lang="en-US" baseline="0" dirty="0"/>
              <a:t> </a:t>
            </a:r>
            <a:r>
              <a:rPr lang="en-US" baseline="0" dirty="0" err="1"/>
              <a:t>thu</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một</a:t>
            </a:r>
            <a:r>
              <a:rPr lang="en-US" baseline="0" dirty="0"/>
              <a:t> bit </a:t>
            </a:r>
            <a:r>
              <a:rPr lang="en-US" baseline="0" dirty="0" err="1"/>
              <a:t>nào</a:t>
            </a:r>
            <a:r>
              <a:rPr lang="en-US" baseline="0" dirty="0"/>
              <a:t> </a:t>
            </a:r>
            <a:r>
              <a:rPr lang="en-US" baseline="0" dirty="0" err="1"/>
              <a:t>đó</a:t>
            </a:r>
            <a:r>
              <a:rPr lang="en-US" baseline="0" dirty="0"/>
              <a:t> </a:t>
            </a:r>
            <a:r>
              <a:rPr lang="en-US" baseline="0" dirty="0" err="1"/>
              <a:t>bằng</a:t>
            </a:r>
            <a:r>
              <a:rPr lang="en-US" baseline="0" dirty="0"/>
              <a:t> 0 </a:t>
            </a:r>
            <a:r>
              <a:rPr lang="en-US" baseline="0" dirty="0" err="1"/>
              <a:t>thì</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lỗi</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17</a:t>
            </a:fld>
            <a:endParaRPr lang="en-US"/>
          </a:p>
        </p:txBody>
      </p:sp>
    </p:spTree>
    <p:extLst>
      <p:ext uri="{BB962C8B-B14F-4D97-AF65-F5344CB8AC3E}">
        <p14:creationId xmlns:p14="http://schemas.microsoft.com/office/powerpoint/2010/main" val="3910793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Chú</a:t>
            </a:r>
            <a:r>
              <a:rPr lang="en-US" baseline="0" dirty="0"/>
              <a:t> ý: </a:t>
            </a:r>
          </a:p>
          <a:p>
            <a:pPr marL="171450" indent="-171450">
              <a:buFontTx/>
              <a:buChar char="-"/>
            </a:pPr>
            <a:r>
              <a:rPr lang="en-US" baseline="0" dirty="0" err="1"/>
              <a:t>Nếu</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không</a:t>
            </a:r>
            <a:r>
              <a:rPr lang="en-US" baseline="0" dirty="0"/>
              <a:t> </a:t>
            </a:r>
            <a:r>
              <a:rPr lang="en-US" baseline="0" dirty="0" err="1"/>
              <a:t>có</a:t>
            </a:r>
            <a:r>
              <a:rPr lang="en-US" baseline="0" dirty="0"/>
              <a:t> </a:t>
            </a:r>
            <a:r>
              <a:rPr lang="en-US" baseline="0" dirty="0" err="1"/>
              <a:t>lỗi</a:t>
            </a:r>
            <a:r>
              <a:rPr lang="en-US" baseline="0" dirty="0"/>
              <a:t>, </a:t>
            </a:r>
            <a:r>
              <a:rPr lang="en-US" baseline="0" dirty="0" err="1"/>
              <a:t>tất</a:t>
            </a:r>
            <a:r>
              <a:rPr lang="en-US" baseline="0" dirty="0"/>
              <a:t> </a:t>
            </a:r>
            <a:r>
              <a:rPr lang="en-US" baseline="0" dirty="0" err="1"/>
              <a:t>cả</a:t>
            </a:r>
            <a:r>
              <a:rPr lang="en-US" baseline="0" dirty="0"/>
              <a:t> </a:t>
            </a:r>
            <a:r>
              <a:rPr lang="en-US" baseline="0" dirty="0" err="1"/>
              <a:t>hai</a:t>
            </a:r>
            <a:r>
              <a:rPr lang="en-US" baseline="0" dirty="0"/>
              <a:t> </a:t>
            </a:r>
            <a:r>
              <a:rPr lang="en-US" baseline="0" dirty="0" err="1"/>
              <a:t>từ</a:t>
            </a:r>
            <a:r>
              <a:rPr lang="en-US" baseline="0" dirty="0"/>
              <a:t> 16 bit </a:t>
            </a:r>
            <a:r>
              <a:rPr lang="en-US" baseline="0" dirty="0" err="1"/>
              <a:t>cộng</a:t>
            </a:r>
            <a:r>
              <a:rPr lang="en-US" baseline="0" dirty="0"/>
              <a:t> </a:t>
            </a:r>
            <a:r>
              <a:rPr lang="en-US" baseline="0" dirty="0" err="1"/>
              <a:t>lại</a:t>
            </a:r>
            <a:r>
              <a:rPr lang="en-US" baseline="0" dirty="0"/>
              <a:t> </a:t>
            </a:r>
            <a:r>
              <a:rPr lang="en-US" baseline="0" dirty="0" err="1"/>
              <a:t>rồi</a:t>
            </a:r>
            <a:r>
              <a:rPr lang="en-US" baseline="0" dirty="0"/>
              <a:t> </a:t>
            </a:r>
            <a:r>
              <a:rPr lang="en-US" baseline="0" dirty="0" err="1"/>
              <a:t>cộng</a:t>
            </a:r>
            <a:r>
              <a:rPr lang="en-US" baseline="0" dirty="0"/>
              <a:t> </a:t>
            </a:r>
            <a:r>
              <a:rPr lang="en-US" baseline="0" dirty="0" err="1"/>
              <a:t>với</a:t>
            </a:r>
            <a:r>
              <a:rPr lang="en-US" baseline="0" dirty="0"/>
              <a:t> checksum ta </a:t>
            </a:r>
            <a:r>
              <a:rPr lang="en-US" baseline="0" dirty="0" err="1"/>
              <a:t>thu</a:t>
            </a:r>
            <a:r>
              <a:rPr lang="en-US" baseline="0" dirty="0"/>
              <a:t> </a:t>
            </a:r>
            <a:r>
              <a:rPr lang="en-US" baseline="0" dirty="0" err="1"/>
              <a:t>được</a:t>
            </a:r>
            <a:r>
              <a:rPr lang="en-US" baseline="0" dirty="0"/>
              <a:t> </a:t>
            </a:r>
            <a:r>
              <a:rPr lang="en-US" baseline="0" dirty="0" err="1"/>
              <a:t>một</a:t>
            </a:r>
            <a:r>
              <a:rPr lang="en-US" baseline="0" dirty="0"/>
              <a:t> </a:t>
            </a:r>
            <a:r>
              <a:rPr lang="en-US" baseline="0" dirty="0" err="1"/>
              <a:t>từ</a:t>
            </a:r>
            <a:r>
              <a:rPr lang="en-US" baseline="0" dirty="0"/>
              <a:t> 16 bit </a:t>
            </a:r>
            <a:r>
              <a:rPr lang="en-US" baseline="0" dirty="0" err="1"/>
              <a:t>gồm</a:t>
            </a:r>
            <a:r>
              <a:rPr lang="en-US" baseline="0" dirty="0"/>
              <a:t> </a:t>
            </a:r>
            <a:r>
              <a:rPr lang="en-US" baseline="0" dirty="0" err="1"/>
              <a:t>toàn</a:t>
            </a:r>
            <a:r>
              <a:rPr lang="en-US" baseline="0" dirty="0"/>
              <a:t> </a:t>
            </a:r>
            <a:r>
              <a:rPr lang="en-US" baseline="0" dirty="0" err="1"/>
              <a:t>các</a:t>
            </a:r>
            <a:r>
              <a:rPr lang="en-US" baseline="0" dirty="0"/>
              <a:t> bit 1</a:t>
            </a:r>
          </a:p>
          <a:p>
            <a:pPr marL="171450" indent="-171450">
              <a:buFontTx/>
              <a:buChar char="-"/>
            </a:pPr>
            <a:r>
              <a:rPr lang="en-US" baseline="0" dirty="0" err="1"/>
              <a:t>Nếu</a:t>
            </a:r>
            <a:r>
              <a:rPr lang="en-US" baseline="0" dirty="0"/>
              <a:t> </a:t>
            </a:r>
            <a:r>
              <a:rPr lang="en-US" baseline="0" dirty="0" err="1"/>
              <a:t>tổng</a:t>
            </a:r>
            <a:r>
              <a:rPr lang="en-US" baseline="0" dirty="0"/>
              <a:t> </a:t>
            </a:r>
            <a:r>
              <a:rPr lang="en-US" baseline="0" dirty="0" err="1"/>
              <a:t>thu</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một</a:t>
            </a:r>
            <a:r>
              <a:rPr lang="en-US" baseline="0" dirty="0"/>
              <a:t> bit </a:t>
            </a:r>
            <a:r>
              <a:rPr lang="en-US" baseline="0" dirty="0" err="1"/>
              <a:t>nào</a:t>
            </a:r>
            <a:r>
              <a:rPr lang="en-US" baseline="0" dirty="0"/>
              <a:t> </a:t>
            </a:r>
            <a:r>
              <a:rPr lang="en-US" baseline="0" dirty="0" err="1"/>
              <a:t>đó</a:t>
            </a:r>
            <a:r>
              <a:rPr lang="en-US" baseline="0" dirty="0"/>
              <a:t> </a:t>
            </a:r>
            <a:r>
              <a:rPr lang="en-US" baseline="0" dirty="0" err="1"/>
              <a:t>bằng</a:t>
            </a:r>
            <a:r>
              <a:rPr lang="en-US" baseline="0" dirty="0"/>
              <a:t> 0 </a:t>
            </a:r>
            <a:r>
              <a:rPr lang="en-US" baseline="0" dirty="0" err="1"/>
              <a:t>thì</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lỗi</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18</a:t>
            </a:fld>
            <a:endParaRPr lang="en-US"/>
          </a:p>
        </p:txBody>
      </p:sp>
    </p:spTree>
    <p:extLst>
      <p:ext uri="{BB962C8B-B14F-4D97-AF65-F5344CB8AC3E}">
        <p14:creationId xmlns:p14="http://schemas.microsoft.com/office/powerpoint/2010/main" val="3977479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Chú</a:t>
            </a:r>
            <a:r>
              <a:rPr lang="en-US" baseline="0" dirty="0"/>
              <a:t> ý: </a:t>
            </a:r>
          </a:p>
          <a:p>
            <a:pPr marL="171450" indent="-171450">
              <a:buFontTx/>
              <a:buChar char="-"/>
            </a:pPr>
            <a:r>
              <a:rPr lang="en-US" baseline="0" dirty="0" err="1"/>
              <a:t>Nếu</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không</a:t>
            </a:r>
            <a:r>
              <a:rPr lang="en-US" baseline="0" dirty="0"/>
              <a:t> </a:t>
            </a:r>
            <a:r>
              <a:rPr lang="en-US" baseline="0" dirty="0" err="1"/>
              <a:t>có</a:t>
            </a:r>
            <a:r>
              <a:rPr lang="en-US" baseline="0" dirty="0"/>
              <a:t> </a:t>
            </a:r>
            <a:r>
              <a:rPr lang="en-US" baseline="0" dirty="0" err="1"/>
              <a:t>lỗi</a:t>
            </a:r>
            <a:r>
              <a:rPr lang="en-US" baseline="0" dirty="0"/>
              <a:t>, </a:t>
            </a:r>
            <a:r>
              <a:rPr lang="en-US" baseline="0" dirty="0" err="1"/>
              <a:t>tất</a:t>
            </a:r>
            <a:r>
              <a:rPr lang="en-US" baseline="0" dirty="0"/>
              <a:t> </a:t>
            </a:r>
            <a:r>
              <a:rPr lang="en-US" baseline="0" dirty="0" err="1"/>
              <a:t>cả</a:t>
            </a:r>
            <a:r>
              <a:rPr lang="en-US" baseline="0" dirty="0"/>
              <a:t> </a:t>
            </a:r>
            <a:r>
              <a:rPr lang="en-US" baseline="0" dirty="0" err="1"/>
              <a:t>hai</a:t>
            </a:r>
            <a:r>
              <a:rPr lang="en-US" baseline="0" dirty="0"/>
              <a:t> </a:t>
            </a:r>
            <a:r>
              <a:rPr lang="en-US" baseline="0" dirty="0" err="1"/>
              <a:t>từ</a:t>
            </a:r>
            <a:r>
              <a:rPr lang="en-US" baseline="0" dirty="0"/>
              <a:t> 16 bit </a:t>
            </a:r>
            <a:r>
              <a:rPr lang="en-US" baseline="0" dirty="0" err="1"/>
              <a:t>cộng</a:t>
            </a:r>
            <a:r>
              <a:rPr lang="en-US" baseline="0" dirty="0"/>
              <a:t> </a:t>
            </a:r>
            <a:r>
              <a:rPr lang="en-US" baseline="0" dirty="0" err="1"/>
              <a:t>lại</a:t>
            </a:r>
            <a:r>
              <a:rPr lang="en-US" baseline="0" dirty="0"/>
              <a:t> </a:t>
            </a:r>
            <a:r>
              <a:rPr lang="en-US" baseline="0" dirty="0" err="1"/>
              <a:t>rồi</a:t>
            </a:r>
            <a:r>
              <a:rPr lang="en-US" baseline="0" dirty="0"/>
              <a:t> </a:t>
            </a:r>
            <a:r>
              <a:rPr lang="en-US" baseline="0" dirty="0" err="1"/>
              <a:t>cộng</a:t>
            </a:r>
            <a:r>
              <a:rPr lang="en-US" baseline="0" dirty="0"/>
              <a:t> </a:t>
            </a:r>
            <a:r>
              <a:rPr lang="en-US" baseline="0" dirty="0" err="1"/>
              <a:t>với</a:t>
            </a:r>
            <a:r>
              <a:rPr lang="en-US" baseline="0" dirty="0"/>
              <a:t> checksum ta </a:t>
            </a:r>
            <a:r>
              <a:rPr lang="en-US" baseline="0" dirty="0" err="1"/>
              <a:t>thu</a:t>
            </a:r>
            <a:r>
              <a:rPr lang="en-US" baseline="0" dirty="0"/>
              <a:t> </a:t>
            </a:r>
            <a:r>
              <a:rPr lang="en-US" baseline="0" dirty="0" err="1"/>
              <a:t>được</a:t>
            </a:r>
            <a:r>
              <a:rPr lang="en-US" baseline="0" dirty="0"/>
              <a:t> </a:t>
            </a:r>
            <a:r>
              <a:rPr lang="en-US" baseline="0" dirty="0" err="1"/>
              <a:t>một</a:t>
            </a:r>
            <a:r>
              <a:rPr lang="en-US" baseline="0" dirty="0"/>
              <a:t> </a:t>
            </a:r>
            <a:r>
              <a:rPr lang="en-US" baseline="0" dirty="0" err="1"/>
              <a:t>từ</a:t>
            </a:r>
            <a:r>
              <a:rPr lang="en-US" baseline="0" dirty="0"/>
              <a:t> 16 bit </a:t>
            </a:r>
            <a:r>
              <a:rPr lang="en-US" baseline="0" dirty="0" err="1"/>
              <a:t>gồm</a:t>
            </a:r>
            <a:r>
              <a:rPr lang="en-US" baseline="0" dirty="0"/>
              <a:t> </a:t>
            </a:r>
            <a:r>
              <a:rPr lang="en-US" baseline="0" dirty="0" err="1"/>
              <a:t>toàn</a:t>
            </a:r>
            <a:r>
              <a:rPr lang="en-US" baseline="0" dirty="0"/>
              <a:t> </a:t>
            </a:r>
            <a:r>
              <a:rPr lang="en-US" baseline="0" dirty="0" err="1"/>
              <a:t>các</a:t>
            </a:r>
            <a:r>
              <a:rPr lang="en-US" baseline="0" dirty="0"/>
              <a:t> bit 1</a:t>
            </a:r>
          </a:p>
          <a:p>
            <a:pPr marL="171450" indent="-171450">
              <a:buFontTx/>
              <a:buChar char="-"/>
            </a:pPr>
            <a:r>
              <a:rPr lang="en-US" baseline="0" dirty="0" err="1"/>
              <a:t>Nếu</a:t>
            </a:r>
            <a:r>
              <a:rPr lang="en-US" baseline="0" dirty="0"/>
              <a:t> </a:t>
            </a:r>
            <a:r>
              <a:rPr lang="en-US" baseline="0" dirty="0" err="1"/>
              <a:t>tổng</a:t>
            </a:r>
            <a:r>
              <a:rPr lang="en-US" baseline="0" dirty="0"/>
              <a:t> </a:t>
            </a:r>
            <a:r>
              <a:rPr lang="en-US" baseline="0" dirty="0" err="1"/>
              <a:t>thu</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một</a:t>
            </a:r>
            <a:r>
              <a:rPr lang="en-US" baseline="0" dirty="0"/>
              <a:t> bit </a:t>
            </a:r>
            <a:r>
              <a:rPr lang="en-US" baseline="0" dirty="0" err="1"/>
              <a:t>nào</a:t>
            </a:r>
            <a:r>
              <a:rPr lang="en-US" baseline="0" dirty="0"/>
              <a:t> </a:t>
            </a:r>
            <a:r>
              <a:rPr lang="en-US" baseline="0" dirty="0" err="1"/>
              <a:t>đó</a:t>
            </a:r>
            <a:r>
              <a:rPr lang="en-US" baseline="0" dirty="0"/>
              <a:t> </a:t>
            </a:r>
            <a:r>
              <a:rPr lang="en-US" baseline="0" dirty="0" err="1"/>
              <a:t>bằng</a:t>
            </a:r>
            <a:r>
              <a:rPr lang="en-US" baseline="0" dirty="0"/>
              <a:t> 0 </a:t>
            </a:r>
            <a:r>
              <a:rPr lang="en-US" baseline="0" dirty="0" err="1"/>
              <a:t>thì</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lỗi</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19</a:t>
            </a:fld>
            <a:endParaRPr lang="en-US"/>
          </a:p>
        </p:txBody>
      </p:sp>
    </p:spTree>
    <p:extLst>
      <p:ext uri="{BB962C8B-B14F-4D97-AF65-F5344CB8AC3E}">
        <p14:creationId xmlns:p14="http://schemas.microsoft.com/office/powerpoint/2010/main" val="3695220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8979-246C-3575-2759-386F2A75C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41084-AFAA-180F-C998-E51AC0B6D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9B5D5-87C7-7951-805C-010A7EC82493}"/>
              </a:ext>
            </a:extLst>
          </p:cNvPr>
          <p:cNvSpPr>
            <a:spLocks noGrp="1"/>
          </p:cNvSpPr>
          <p:nvPr>
            <p:ph type="body" idx="1"/>
          </p:nvPr>
        </p:nvSpPr>
        <p:spPr/>
        <p:txBody>
          <a:bodyPr/>
          <a:lstStyle/>
          <a:p>
            <a:r>
              <a:rPr lang="en-US" dirty="0"/>
              <a:t>3. </a:t>
            </a:r>
            <a:r>
              <a:rPr lang="en-US"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bị</a:t>
            </a:r>
            <a:r>
              <a:rPr lang="en-US" baseline="0" dirty="0"/>
              <a:t> </a:t>
            </a:r>
            <a:r>
              <a:rPr lang="en-US" baseline="0" dirty="0" err="1"/>
              <a:t>lỗi</a:t>
            </a:r>
            <a:endParaRPr lang="en-US" baseline="0" dirty="0"/>
          </a:p>
          <a:p>
            <a:r>
              <a:rPr lang="en-US" baseline="0" dirty="0"/>
              <a:t>4. </a:t>
            </a:r>
            <a:r>
              <a:rPr lang="en-US" baseline="0" dirty="0" err="1"/>
              <a:t>Không</a:t>
            </a:r>
            <a:r>
              <a:rPr lang="en-US" baseline="0" dirty="0"/>
              <a:t> </a:t>
            </a:r>
            <a:r>
              <a:rPr lang="en-US" baseline="0" dirty="0" err="1"/>
              <a:t>phát</a:t>
            </a:r>
            <a:r>
              <a:rPr lang="en-US" baseline="0" dirty="0"/>
              <a:t> </a:t>
            </a:r>
            <a:r>
              <a:rPr lang="en-US" baseline="0" dirty="0" err="1"/>
              <a:t>hiện</a:t>
            </a:r>
            <a:r>
              <a:rPr lang="en-US" baseline="0" dirty="0"/>
              <a:t> </a:t>
            </a:r>
            <a:r>
              <a:rPr lang="en-US" baseline="0" dirty="0" err="1"/>
              <a:t>ra</a:t>
            </a:r>
            <a:r>
              <a:rPr lang="en-US" baseline="0" dirty="0"/>
              <a:t> </a:t>
            </a:r>
            <a:r>
              <a:rPr lang="en-US" baseline="0" dirty="0" err="1"/>
              <a:t>lỗi</a:t>
            </a:r>
            <a:r>
              <a:rPr lang="en-US" baseline="0" dirty="0"/>
              <a:t> </a:t>
            </a:r>
            <a:r>
              <a:rPr lang="en-US" baseline="0" dirty="0" err="1"/>
              <a:t>trong</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nhận</a:t>
            </a:r>
            <a:r>
              <a:rPr lang="en-US" baseline="0" dirty="0"/>
              <a:t> </a:t>
            </a:r>
            <a:r>
              <a:rPr lang="en-US" baseline="0" dirty="0" err="1"/>
              <a:t>được</a:t>
            </a:r>
            <a:r>
              <a:rPr lang="en-US" baseline="0" dirty="0"/>
              <a:t>. </a:t>
            </a:r>
            <a:endParaRPr lang="en-US" dirty="0"/>
          </a:p>
        </p:txBody>
      </p:sp>
      <p:sp>
        <p:nvSpPr>
          <p:cNvPr id="4" name="Slide Number Placeholder 3">
            <a:extLst>
              <a:ext uri="{FF2B5EF4-FFF2-40B4-BE49-F238E27FC236}">
                <a16:creationId xmlns:a16="http://schemas.microsoft.com/office/drawing/2014/main" id="{81D54777-D059-5475-E110-887BBC516AA8}"/>
              </a:ext>
            </a:extLst>
          </p:cNvPr>
          <p:cNvSpPr>
            <a:spLocks noGrp="1"/>
          </p:cNvSpPr>
          <p:nvPr>
            <p:ph type="sldNum" sz="quarter" idx="10"/>
          </p:nvPr>
        </p:nvSpPr>
        <p:spPr/>
        <p:txBody>
          <a:bodyPr/>
          <a:lstStyle/>
          <a:p>
            <a:fld id="{42870F33-BE33-471D-94EB-FC5A398F17B7}" type="slidenum">
              <a:rPr lang="en-AU" smtClean="0"/>
              <a:t>20</a:t>
            </a:fld>
            <a:endParaRPr lang="en-AU"/>
          </a:p>
        </p:txBody>
      </p:sp>
    </p:spTree>
    <p:extLst>
      <p:ext uri="{BB962C8B-B14F-4D97-AF65-F5344CB8AC3E}">
        <p14:creationId xmlns:p14="http://schemas.microsoft.com/office/powerpoint/2010/main" val="3165839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33358BC-3400-4DC5-BF4D-839B26A3A8D8}" type="slidenum">
              <a:rPr lang="en-US" smtClean="0"/>
              <a:t>22</a:t>
            </a:fld>
            <a:endParaRPr lang="en-US"/>
          </a:p>
        </p:txBody>
      </p:sp>
    </p:spTree>
    <p:extLst>
      <p:ext uri="{BB962C8B-B14F-4D97-AF65-F5344CB8AC3E}">
        <p14:creationId xmlns:p14="http://schemas.microsoft.com/office/powerpoint/2010/main" val="1056538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Phần</a:t>
            </a:r>
            <a:r>
              <a:rPr lang="en-US" baseline="0" dirty="0"/>
              <a:t> </a:t>
            </a:r>
            <a:r>
              <a:rPr lang="en-US" baseline="0" dirty="0" err="1"/>
              <a:t>này</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về</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p>
          <a:p>
            <a:r>
              <a:rPr lang="en-US" baseline="0" dirty="0" err="1"/>
              <a:t>Dịch</a:t>
            </a:r>
            <a:r>
              <a:rPr lang="en-US" baseline="0" dirty="0"/>
              <a:t> </a:t>
            </a:r>
            <a:r>
              <a:rPr lang="en-US" baseline="0" dirty="0" err="1"/>
              <a:t>vụ</a:t>
            </a:r>
            <a:r>
              <a:rPr lang="en-US" baseline="0" dirty="0"/>
              <a:t> </a:t>
            </a:r>
            <a:r>
              <a:rPr lang="en-US" baseline="0" dirty="0" err="1"/>
              <a:t>này</a:t>
            </a:r>
            <a:r>
              <a:rPr lang="en-US" baseline="0" dirty="0"/>
              <a:t> </a:t>
            </a:r>
            <a:r>
              <a:rPr lang="en-US" baseline="0" dirty="0" err="1"/>
              <a:t>không</a:t>
            </a:r>
            <a:r>
              <a:rPr lang="en-US" baseline="0" dirty="0"/>
              <a:t> </a:t>
            </a:r>
            <a:r>
              <a:rPr lang="en-US" baseline="0" dirty="0" err="1"/>
              <a:t>chỉ</a:t>
            </a:r>
            <a:r>
              <a:rPr lang="en-US" baseline="0" dirty="0"/>
              <a:t> </a:t>
            </a:r>
            <a:r>
              <a:rPr lang="en-US" baseline="0" dirty="0" err="1"/>
              <a:t>nằm</a:t>
            </a:r>
            <a:r>
              <a:rPr lang="en-US" baseline="0" dirty="0"/>
              <a:t> ở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mà</a:t>
            </a:r>
            <a:r>
              <a:rPr lang="en-US" baseline="0" dirty="0"/>
              <a:t> </a:t>
            </a:r>
            <a:r>
              <a:rPr lang="en-US" baseline="0" dirty="0" err="1"/>
              <a:t>còn</a:t>
            </a:r>
            <a:r>
              <a:rPr lang="en-US" baseline="0" dirty="0"/>
              <a:t> </a:t>
            </a:r>
            <a:r>
              <a:rPr lang="en-US" baseline="0" dirty="0" err="1"/>
              <a:t>có</a:t>
            </a:r>
            <a:r>
              <a:rPr lang="en-US" baseline="0" dirty="0"/>
              <a:t> </a:t>
            </a:r>
            <a:r>
              <a:rPr lang="en-US" baseline="0" dirty="0" err="1"/>
              <a:t>thể</a:t>
            </a:r>
            <a:r>
              <a:rPr lang="en-US" baseline="0" dirty="0"/>
              <a:t> </a:t>
            </a:r>
            <a:r>
              <a:rPr lang="en-US" baseline="0" dirty="0" err="1"/>
              <a:t>nằm</a:t>
            </a:r>
            <a:r>
              <a:rPr lang="en-US" baseline="0" dirty="0"/>
              <a:t> ở </a:t>
            </a:r>
            <a:r>
              <a:rPr lang="en-US" baseline="0" dirty="0" err="1"/>
              <a:t>tầng</a:t>
            </a:r>
            <a:r>
              <a:rPr lang="en-US" baseline="0" dirty="0"/>
              <a:t> </a:t>
            </a:r>
            <a:r>
              <a:rPr lang="en-US" baseline="0" dirty="0" err="1"/>
              <a:t>liên</a:t>
            </a:r>
            <a:r>
              <a:rPr lang="en-US" baseline="0" dirty="0"/>
              <a:t> </a:t>
            </a:r>
            <a:r>
              <a:rPr lang="en-US" baseline="0" dirty="0" err="1"/>
              <a:t>kết</a:t>
            </a:r>
            <a:r>
              <a:rPr lang="en-US" baseline="0" dirty="0"/>
              <a:t> </a:t>
            </a:r>
            <a:r>
              <a:rPr lang="en-US" baseline="0" dirty="0" err="1"/>
              <a:t>dữ</a:t>
            </a:r>
            <a:r>
              <a:rPr lang="en-US" baseline="0" dirty="0"/>
              <a:t> </a:t>
            </a:r>
            <a:r>
              <a:rPr lang="en-US" baseline="0" dirty="0" err="1"/>
              <a:t>liệu</a:t>
            </a:r>
            <a:r>
              <a:rPr lang="en-US" baseline="0" dirty="0"/>
              <a:t> hay </a:t>
            </a:r>
            <a:r>
              <a:rPr lang="en-US" baseline="0" dirty="0" err="1"/>
              <a:t>tầng</a:t>
            </a:r>
            <a:r>
              <a:rPr lang="en-US" baseline="0" dirty="0"/>
              <a:t> </a:t>
            </a:r>
            <a:r>
              <a:rPr lang="en-US" baseline="0" dirty="0" err="1"/>
              <a:t>ứng</a:t>
            </a:r>
            <a:r>
              <a:rPr lang="en-US" baseline="0" dirty="0"/>
              <a:t> </a:t>
            </a:r>
            <a:r>
              <a:rPr lang="en-US" baseline="0" dirty="0" err="1"/>
              <a:t>dụng</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23</a:t>
            </a:fld>
            <a:endParaRPr lang="en-US"/>
          </a:p>
        </p:txBody>
      </p:sp>
    </p:spTree>
    <p:extLst>
      <p:ext uri="{BB962C8B-B14F-4D97-AF65-F5344CB8AC3E}">
        <p14:creationId xmlns:p14="http://schemas.microsoft.com/office/powerpoint/2010/main" val="4294799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Hình</a:t>
            </a:r>
            <a:r>
              <a:rPr lang="en-US" baseline="0" dirty="0"/>
              <a:t> </a:t>
            </a:r>
            <a:r>
              <a:rPr lang="en-US" baseline="0" dirty="0" err="1"/>
              <a:t>bên</a:t>
            </a:r>
            <a:r>
              <a:rPr lang="en-US" baseline="0" dirty="0"/>
              <a:t> </a:t>
            </a:r>
            <a:r>
              <a:rPr lang="en-US" baseline="0" dirty="0" err="1"/>
              <a:t>trái</a:t>
            </a:r>
            <a:r>
              <a:rPr lang="en-US" baseline="0" dirty="0"/>
              <a:t> </a:t>
            </a:r>
            <a:r>
              <a:rPr lang="en-US" baseline="0" dirty="0" err="1"/>
              <a:t>là</a:t>
            </a:r>
            <a:r>
              <a:rPr lang="en-US" baseline="0" dirty="0"/>
              <a:t> </a:t>
            </a:r>
            <a:r>
              <a:rPr lang="en-US" baseline="0" dirty="0" err="1"/>
              <a:t>mô</a:t>
            </a:r>
            <a:r>
              <a:rPr lang="en-US" baseline="0" dirty="0"/>
              <a:t> </a:t>
            </a:r>
            <a:r>
              <a:rPr lang="en-US" baseline="0" dirty="0" err="1"/>
              <a:t>hình</a:t>
            </a:r>
            <a:r>
              <a:rPr lang="en-US" baseline="0" dirty="0"/>
              <a:t> </a:t>
            </a:r>
            <a:r>
              <a:rPr lang="en-US" baseline="0" dirty="0" err="1"/>
              <a:t>của</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cung</a:t>
            </a:r>
            <a:r>
              <a:rPr lang="en-US" baseline="0" dirty="0"/>
              <a:t> </a:t>
            </a:r>
            <a:r>
              <a:rPr lang="en-US" baseline="0" dirty="0" err="1"/>
              <a:t>cấp</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r>
              <a:rPr lang="en-US" baseline="0" dirty="0" err="1"/>
              <a:t>Tầng</a:t>
            </a:r>
            <a:r>
              <a:rPr lang="en-US" baseline="0" dirty="0"/>
              <a:t> </a:t>
            </a:r>
            <a:r>
              <a:rPr lang="en-US" baseline="0" dirty="0" err="1"/>
              <a:t>dưới</a:t>
            </a:r>
            <a:r>
              <a:rPr lang="en-US" baseline="0" dirty="0"/>
              <a:t>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cung</a:t>
            </a:r>
            <a:r>
              <a:rPr lang="en-US" baseline="0" dirty="0"/>
              <a:t> </a:t>
            </a:r>
            <a:r>
              <a:rPr lang="en-US" baseline="0" dirty="0" err="1"/>
              <a:t>cấp</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r>
              <a:rPr lang="en-US" baseline="0" dirty="0" err="1"/>
              <a:t>cho</a:t>
            </a:r>
            <a:r>
              <a:rPr lang="en-US" baseline="0" dirty="0"/>
              <a:t> </a:t>
            </a:r>
            <a:r>
              <a:rPr lang="en-US" baseline="0" dirty="0" err="1"/>
              <a:t>các</a:t>
            </a:r>
            <a:r>
              <a:rPr lang="en-US" baseline="0" dirty="0"/>
              <a:t> </a:t>
            </a:r>
            <a:r>
              <a:rPr lang="en-US" baseline="0" dirty="0" err="1"/>
              <a:t>thực</a:t>
            </a:r>
            <a:r>
              <a:rPr lang="en-US" baseline="0" dirty="0"/>
              <a:t> </a:t>
            </a:r>
            <a:r>
              <a:rPr lang="en-US" baseline="0" dirty="0" err="1"/>
              <a:t>thể</a:t>
            </a:r>
            <a:r>
              <a:rPr lang="en-US" baseline="0" dirty="0"/>
              <a:t> ở </a:t>
            </a:r>
            <a:r>
              <a:rPr lang="en-US" baseline="0" dirty="0" err="1"/>
              <a:t>tầng</a:t>
            </a:r>
            <a:r>
              <a:rPr lang="en-US" baseline="0" dirty="0"/>
              <a:t> </a:t>
            </a:r>
            <a:r>
              <a:rPr lang="en-US" baseline="0" dirty="0" err="1"/>
              <a:t>trên</a:t>
            </a:r>
            <a:r>
              <a:rPr lang="en-US" baseline="0" dirty="0"/>
              <a:t> (</a:t>
            </a:r>
            <a:r>
              <a:rPr lang="en-US" baseline="0" dirty="0" err="1"/>
              <a:t>tầng</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Trên</a:t>
            </a:r>
            <a:r>
              <a:rPr lang="en-US" baseline="0" dirty="0"/>
              <a:t> </a:t>
            </a:r>
            <a:r>
              <a:rPr lang="en-US" baseline="0" dirty="0" err="1"/>
              <a:t>đường</a:t>
            </a:r>
            <a:r>
              <a:rPr lang="en-US" baseline="0" dirty="0"/>
              <a:t> </a:t>
            </a:r>
            <a:r>
              <a:rPr lang="en-US" baseline="0" dirty="0" err="1"/>
              <a:t>truyền</a:t>
            </a:r>
            <a:r>
              <a:rPr lang="en-US" baseline="0" dirty="0"/>
              <a:t> tin </a:t>
            </a:r>
            <a:r>
              <a:rPr lang="en-US" baseline="0" dirty="0" err="1"/>
              <a:t>cậy</a:t>
            </a:r>
            <a:r>
              <a:rPr lang="en-US" baseline="0" dirty="0"/>
              <a:t>:  </a:t>
            </a:r>
            <a:r>
              <a:rPr lang="en-US" b="1" baseline="0" dirty="0" err="1">
                <a:solidFill>
                  <a:srgbClr val="FF0000"/>
                </a:solidFill>
              </a:rPr>
              <a:t>dữ</a:t>
            </a:r>
            <a:r>
              <a:rPr lang="en-US" b="1" baseline="0" dirty="0">
                <a:solidFill>
                  <a:srgbClr val="FF0000"/>
                </a:solidFill>
              </a:rPr>
              <a:t> </a:t>
            </a:r>
            <a:r>
              <a:rPr lang="en-US" b="1" baseline="0" dirty="0" err="1">
                <a:solidFill>
                  <a:srgbClr val="FF0000"/>
                </a:solidFill>
              </a:rPr>
              <a:t>liệu</a:t>
            </a:r>
            <a:r>
              <a:rPr lang="en-US" b="1" baseline="0" dirty="0">
                <a:solidFill>
                  <a:srgbClr val="FF0000"/>
                </a:solidFill>
              </a:rPr>
              <a:t> </a:t>
            </a:r>
            <a:r>
              <a:rPr lang="en-US" b="1" baseline="0" dirty="0" err="1">
                <a:solidFill>
                  <a:srgbClr val="FF0000"/>
                </a:solidFill>
              </a:rPr>
              <a:t>không</a:t>
            </a:r>
            <a:r>
              <a:rPr lang="en-US" b="1" baseline="0" dirty="0">
                <a:solidFill>
                  <a:srgbClr val="FF0000"/>
                </a:solidFill>
              </a:rPr>
              <a:t> </a:t>
            </a:r>
            <a:r>
              <a:rPr lang="en-US" b="1" baseline="0" dirty="0" err="1">
                <a:solidFill>
                  <a:srgbClr val="FF0000"/>
                </a:solidFill>
              </a:rPr>
              <a:t>bị</a:t>
            </a:r>
            <a:r>
              <a:rPr lang="en-US" b="1" baseline="0" dirty="0">
                <a:solidFill>
                  <a:srgbClr val="FF0000"/>
                </a:solidFill>
              </a:rPr>
              <a:t> </a:t>
            </a:r>
            <a:r>
              <a:rPr lang="en-US" b="1" baseline="0" dirty="0" err="1">
                <a:solidFill>
                  <a:srgbClr val="FF0000"/>
                </a:solidFill>
              </a:rPr>
              <a:t>lỗi</a:t>
            </a:r>
            <a:r>
              <a:rPr lang="en-US" b="1" baseline="0" dirty="0">
                <a:solidFill>
                  <a:srgbClr val="FF0000"/>
                </a:solidFill>
              </a:rPr>
              <a:t>, </a:t>
            </a:r>
            <a:r>
              <a:rPr lang="en-US" b="1" baseline="0" dirty="0" err="1">
                <a:solidFill>
                  <a:srgbClr val="FF0000"/>
                </a:solidFill>
              </a:rPr>
              <a:t>không</a:t>
            </a:r>
            <a:r>
              <a:rPr lang="en-US" b="1" baseline="0" dirty="0">
                <a:solidFill>
                  <a:srgbClr val="FF0000"/>
                </a:solidFill>
              </a:rPr>
              <a:t> </a:t>
            </a:r>
            <a:r>
              <a:rPr lang="en-US" b="1" baseline="0" dirty="0" err="1">
                <a:solidFill>
                  <a:srgbClr val="FF0000"/>
                </a:solidFill>
              </a:rPr>
              <a:t>bị</a:t>
            </a:r>
            <a:r>
              <a:rPr lang="en-US" b="1" baseline="0" dirty="0">
                <a:solidFill>
                  <a:srgbClr val="FF0000"/>
                </a:solidFill>
              </a:rPr>
              <a:t> </a:t>
            </a:r>
            <a:r>
              <a:rPr lang="en-US" b="1" baseline="0" dirty="0" err="1">
                <a:solidFill>
                  <a:srgbClr val="FF0000"/>
                </a:solidFill>
              </a:rPr>
              <a:t>mất</a:t>
            </a:r>
            <a:r>
              <a:rPr lang="en-US" b="1" baseline="0" dirty="0">
                <a:solidFill>
                  <a:srgbClr val="FF0000"/>
                </a:solidFill>
              </a:rPr>
              <a:t> </a:t>
            </a:r>
            <a:r>
              <a:rPr lang="en-US" b="1" baseline="0" dirty="0" err="1">
                <a:solidFill>
                  <a:srgbClr val="FF0000"/>
                </a:solidFill>
              </a:rPr>
              <a:t>và</a:t>
            </a:r>
            <a:r>
              <a:rPr lang="en-US" b="1" baseline="0" dirty="0">
                <a:solidFill>
                  <a:srgbClr val="FF0000"/>
                </a:solidFill>
              </a:rPr>
              <a:t> </a:t>
            </a:r>
            <a:r>
              <a:rPr lang="en-US" b="1" baseline="0" dirty="0" err="1">
                <a:solidFill>
                  <a:srgbClr val="FF0000"/>
                </a:solidFill>
              </a:rPr>
              <a:t>được</a:t>
            </a:r>
            <a:r>
              <a:rPr lang="en-US" b="1" baseline="0" dirty="0">
                <a:solidFill>
                  <a:srgbClr val="FF0000"/>
                </a:solidFill>
              </a:rPr>
              <a:t> </a:t>
            </a:r>
            <a:r>
              <a:rPr lang="en-US" b="1" baseline="0" dirty="0" err="1">
                <a:solidFill>
                  <a:srgbClr val="FF0000"/>
                </a:solidFill>
              </a:rPr>
              <a:t>nhận</a:t>
            </a:r>
            <a:r>
              <a:rPr lang="en-US" b="1" baseline="0" dirty="0">
                <a:solidFill>
                  <a:srgbClr val="FF0000"/>
                </a:solidFill>
              </a:rPr>
              <a:t> </a:t>
            </a:r>
            <a:r>
              <a:rPr lang="en-US" b="1" baseline="0" dirty="0" err="1">
                <a:solidFill>
                  <a:srgbClr val="FF0000"/>
                </a:solidFill>
              </a:rPr>
              <a:t>theo</a:t>
            </a:r>
            <a:r>
              <a:rPr lang="en-US" b="1" baseline="0" dirty="0">
                <a:solidFill>
                  <a:srgbClr val="FF0000"/>
                </a:solidFill>
              </a:rPr>
              <a:t> </a:t>
            </a:r>
            <a:r>
              <a:rPr lang="en-US" b="1" baseline="0" dirty="0" err="1">
                <a:solidFill>
                  <a:srgbClr val="FF0000"/>
                </a:solidFill>
              </a:rPr>
              <a:t>đúng</a:t>
            </a:r>
            <a:r>
              <a:rPr lang="en-US" b="1" baseline="0" dirty="0">
                <a:solidFill>
                  <a:srgbClr val="FF0000"/>
                </a:solidFill>
              </a:rPr>
              <a:t> </a:t>
            </a:r>
            <a:r>
              <a:rPr lang="en-US" b="1" baseline="0" dirty="0" err="1">
                <a:solidFill>
                  <a:srgbClr val="FF0000"/>
                </a:solidFill>
              </a:rPr>
              <a:t>thứ</a:t>
            </a:r>
            <a:r>
              <a:rPr lang="en-US" b="1" baseline="0" dirty="0">
                <a:solidFill>
                  <a:srgbClr val="FF0000"/>
                </a:solidFill>
              </a:rPr>
              <a:t> </a:t>
            </a:r>
            <a:r>
              <a:rPr lang="en-US" b="1" baseline="0" dirty="0" err="1">
                <a:solidFill>
                  <a:srgbClr val="FF0000"/>
                </a:solidFill>
              </a:rPr>
              <a:t>tự</a:t>
            </a:r>
            <a:r>
              <a:rPr lang="en-US" b="1" baseline="0" dirty="0">
                <a:solidFill>
                  <a:srgbClr val="FF0000"/>
                </a:solidFill>
              </a:rPr>
              <a:t> </a:t>
            </a:r>
            <a:r>
              <a:rPr lang="en-US" b="1" baseline="0" dirty="0" err="1">
                <a:solidFill>
                  <a:srgbClr val="FF0000"/>
                </a:solidFill>
              </a:rPr>
              <a:t>gửi</a:t>
            </a:r>
            <a:endParaRPr lang="en-US" b="1" baseline="0" dirty="0">
              <a:solidFill>
                <a:srgbClr val="FF0000"/>
              </a:solidFill>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err="1"/>
              <a:t>Hình</a:t>
            </a:r>
            <a:r>
              <a:rPr lang="en-US" baseline="0" dirty="0"/>
              <a:t> </a:t>
            </a:r>
            <a:r>
              <a:rPr lang="en-US" baseline="0" dirty="0" err="1"/>
              <a:t>bên</a:t>
            </a:r>
            <a:r>
              <a:rPr lang="en-US" baseline="0" dirty="0"/>
              <a:t> </a:t>
            </a:r>
            <a:r>
              <a:rPr lang="en-US" baseline="0" dirty="0" err="1"/>
              <a:t>phải</a:t>
            </a:r>
            <a:r>
              <a:rPr lang="en-US" baseline="0" dirty="0"/>
              <a:t> </a:t>
            </a:r>
            <a:r>
              <a:rPr lang="en-US" baseline="0" dirty="0" err="1"/>
              <a:t>và</a:t>
            </a:r>
            <a:r>
              <a:rPr lang="en-US" baseline="0" dirty="0"/>
              <a:t> </a:t>
            </a:r>
            <a:r>
              <a:rPr lang="en-US" baseline="0" dirty="0" err="1"/>
              <a:t>sơ</a:t>
            </a:r>
            <a:r>
              <a:rPr lang="en-US" baseline="0" dirty="0"/>
              <a:t> </a:t>
            </a:r>
            <a:r>
              <a:rPr lang="en-US" baseline="0" dirty="0" err="1"/>
              <a:t>đồ</a:t>
            </a:r>
            <a:r>
              <a:rPr lang="en-US" baseline="0" dirty="0"/>
              <a:t> </a:t>
            </a:r>
            <a:r>
              <a:rPr lang="en-US" baseline="0" dirty="0" err="1"/>
              <a:t>triển</a:t>
            </a:r>
            <a:r>
              <a:rPr lang="en-US" baseline="0" dirty="0"/>
              <a:t> </a:t>
            </a:r>
            <a:r>
              <a:rPr lang="en-US" baseline="0" dirty="0" err="1"/>
              <a:t>khai</a:t>
            </a:r>
            <a:r>
              <a:rPr lang="en-US" baseline="0" dirty="0"/>
              <a:t> </a:t>
            </a:r>
            <a:r>
              <a:rPr lang="en-US" baseline="0" dirty="0" err="1"/>
              <a:t>dịch</a:t>
            </a:r>
            <a:r>
              <a:rPr lang="en-US" baseline="0" dirty="0"/>
              <a:t> </a:t>
            </a:r>
            <a:r>
              <a:rPr lang="en-US" baseline="0" dirty="0" err="1"/>
              <a:t>vụ</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r>
              <a:rPr lang="en-US" baseline="0" dirty="0" err="1"/>
              <a:t>để</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này</a:t>
            </a:r>
            <a:r>
              <a:rPr lang="en-US" baseline="0" dirty="0"/>
              <a:t> </a:t>
            </a:r>
            <a:r>
              <a:rPr lang="en-US" baseline="0" dirty="0" err="1"/>
              <a:t>người</a:t>
            </a:r>
            <a:r>
              <a:rPr lang="en-US" baseline="0" dirty="0"/>
              <a:t> ta </a:t>
            </a:r>
            <a:r>
              <a:rPr lang="en-US" baseline="0" dirty="0" err="1"/>
              <a:t>cần</a:t>
            </a:r>
            <a:r>
              <a:rPr lang="en-US" baseline="0" dirty="0"/>
              <a:t> </a:t>
            </a:r>
            <a:r>
              <a:rPr lang="en-US" baseline="0" dirty="0" err="1"/>
              <a:t>đến</a:t>
            </a:r>
            <a:r>
              <a:rPr lang="en-US" baseline="0" dirty="0"/>
              <a:t> </a:t>
            </a:r>
            <a:r>
              <a:rPr lang="en-US" baseline="0" dirty="0" err="1"/>
              <a:t>giao</a:t>
            </a:r>
            <a:r>
              <a:rPr lang="en-US" baseline="0" dirty="0"/>
              <a:t> </a:t>
            </a:r>
            <a:r>
              <a:rPr lang="en-US" baseline="0" dirty="0" err="1"/>
              <a:t>thức</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r>
              <a:rPr lang="en-US" baseline="0" dirty="0" err="1"/>
              <a:t>rtd</a:t>
            </a:r>
            <a:r>
              <a:rPr lang="en-US" baseline="0" dirty="0"/>
              <a:t> </a:t>
            </a:r>
            <a:r>
              <a:rPr lang="pt-BR" sz="1200" dirty="0">
                <a:latin typeface="Arial"/>
                <a:cs typeface="Arial"/>
              </a:rPr>
              <a:t>-</a:t>
            </a:r>
            <a:r>
              <a:rPr lang="pt-BR" sz="1200" dirty="0">
                <a:solidFill>
                  <a:srgbClr val="CC0000"/>
                </a:solidFill>
                <a:latin typeface="Arial"/>
                <a:cs typeface="Arial"/>
              </a:rPr>
              <a:t> </a:t>
            </a:r>
            <a:r>
              <a:rPr lang="pt-BR" sz="1200" u="heavy" dirty="0">
                <a:solidFill>
                  <a:srgbClr val="CC0000"/>
                </a:solidFill>
                <a:uFill>
                  <a:solidFill>
                    <a:srgbClr val="CC0000"/>
                  </a:solidFill>
                </a:uFill>
                <a:latin typeface="Arial"/>
                <a:cs typeface="Arial"/>
              </a:rPr>
              <a:t>r</a:t>
            </a:r>
            <a:r>
              <a:rPr lang="pt-BR" sz="1200" dirty="0">
                <a:latin typeface="Arial"/>
                <a:cs typeface="Arial"/>
              </a:rPr>
              <a:t>eliable</a:t>
            </a:r>
            <a:r>
              <a:rPr lang="pt-BR" sz="1200" dirty="0">
                <a:solidFill>
                  <a:srgbClr val="CC0000"/>
                </a:solidFill>
                <a:latin typeface="Arial"/>
                <a:cs typeface="Arial"/>
              </a:rPr>
              <a:t> </a:t>
            </a:r>
            <a:r>
              <a:rPr lang="pt-BR" sz="1200" u="heavy" dirty="0">
                <a:solidFill>
                  <a:srgbClr val="CC0000"/>
                </a:solidFill>
                <a:uFill>
                  <a:solidFill>
                    <a:srgbClr val="CC0000"/>
                  </a:solidFill>
                </a:uFill>
                <a:latin typeface="Arial"/>
                <a:cs typeface="Arial"/>
              </a:rPr>
              <a:t>d</a:t>
            </a:r>
            <a:r>
              <a:rPr lang="pt-BR" sz="1200" dirty="0">
                <a:latin typeface="Arial"/>
                <a:cs typeface="Arial"/>
              </a:rPr>
              <a:t>ata</a:t>
            </a:r>
            <a:r>
              <a:rPr lang="pt-BR" sz="1200" dirty="0">
                <a:solidFill>
                  <a:srgbClr val="CC0000"/>
                </a:solidFill>
                <a:latin typeface="Arial"/>
                <a:cs typeface="Arial"/>
              </a:rPr>
              <a:t> </a:t>
            </a:r>
            <a:r>
              <a:rPr lang="pt-BR" sz="1200" u="heavy" dirty="0">
                <a:solidFill>
                  <a:srgbClr val="CC0000"/>
                </a:solidFill>
                <a:uFill>
                  <a:solidFill>
                    <a:srgbClr val="CC0000"/>
                  </a:solidFill>
                </a:uFill>
                <a:latin typeface="Arial"/>
                <a:cs typeface="Arial"/>
              </a:rPr>
              <a:t>t</a:t>
            </a:r>
            <a:r>
              <a:rPr lang="pt-BR" sz="1200" dirty="0">
                <a:latin typeface="Arial"/>
                <a:cs typeface="Arial"/>
              </a:rPr>
              <a:t>ransfer  protocol). Giao thức</a:t>
            </a:r>
            <a:r>
              <a:rPr lang="pt-BR" sz="1200" baseline="0" dirty="0">
                <a:latin typeface="Arial"/>
                <a:cs typeface="Arial"/>
              </a:rPr>
              <a:t> truyền dữ liệu tin cậy được sử dụng khi t</a:t>
            </a:r>
            <a:r>
              <a:rPr lang="pt-BR" sz="1200" dirty="0">
                <a:latin typeface="Arial"/>
                <a:cs typeface="Arial"/>
              </a:rPr>
              <a:t>ầng</a:t>
            </a:r>
            <a:r>
              <a:rPr lang="pt-BR" sz="1200" baseline="0" dirty="0">
                <a:latin typeface="Arial"/>
                <a:cs typeface="Arial"/>
              </a:rPr>
              <a:t> phía dưới của tầng giao vận là truyền dữ liệu không tin cậy, để đơn giản trong trường hợp này, coi tầng phía dưới là một đường truyền điểm mối điểm không tin cậy</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pt-BR" sz="1200" baseline="0" dirty="0">
                <a:latin typeface="Arial"/>
                <a:cs typeface="Arial"/>
              </a:rPr>
              <a:t>Nguyên tắc của giao thức truyền dữ liệu tin cậy: Thực thể gửi sẽ nhận dữ liệu từ phía trên chuyển xuống qua hàm rdt_send(). Phía bên nhận sẽ sử dụng hàm rdt_rcv (received) để lấy gói dữ liệu từ đường truyền. Nếu truyền dữ liệu theo chiều ngược lại thì tương tự, cả bên gửi và bên nhận đều sử dụng hàm udt_send() để truyền dữ liệu đến phía bên kia</a:t>
            </a:r>
            <a:endParaRPr lang="pt-BR" sz="1200" dirty="0">
              <a:latin typeface="Arial"/>
              <a:cs typeface="Arial"/>
            </a:endParaRP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24</a:t>
            </a:fld>
            <a:endParaRPr lang="en-US"/>
          </a:p>
        </p:txBody>
      </p:sp>
    </p:spTree>
    <p:extLst>
      <p:ext uri="{BB962C8B-B14F-4D97-AF65-F5344CB8AC3E}">
        <p14:creationId xmlns:p14="http://schemas.microsoft.com/office/powerpoint/2010/main" val="389119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Mục</a:t>
            </a:r>
            <a:r>
              <a:rPr lang="en-US" baseline="0" dirty="0"/>
              <a:t> 3.4.1. </a:t>
            </a:r>
            <a:r>
              <a:rPr lang="en-US" baseline="0" dirty="0" err="1"/>
              <a:t>trang</a:t>
            </a:r>
            <a:r>
              <a:rPr lang="en-US" baseline="0" dirty="0"/>
              <a:t> 102, </a:t>
            </a:r>
            <a:r>
              <a:rPr lang="en-US" baseline="0" dirty="0" err="1"/>
              <a:t>nhập</a:t>
            </a:r>
            <a:r>
              <a:rPr lang="en-US" baseline="0" dirty="0"/>
              <a:t> </a:t>
            </a:r>
            <a:r>
              <a:rPr lang="en-US" baseline="0" dirty="0" err="1"/>
              <a:t>môn</a:t>
            </a:r>
            <a:r>
              <a:rPr lang="en-US" baseline="0" dirty="0"/>
              <a:t> </a:t>
            </a:r>
            <a:r>
              <a:rPr lang="en-US" baseline="0" dirty="0" err="1"/>
              <a:t>mạng</a:t>
            </a:r>
            <a:r>
              <a:rPr lang="en-US" baseline="0" dirty="0"/>
              <a:t> </a:t>
            </a:r>
            <a:r>
              <a:rPr lang="en-US" baseline="0" dirty="0" err="1"/>
              <a:t>máy</a:t>
            </a:r>
            <a:r>
              <a:rPr lang="en-US" baseline="0" dirty="0"/>
              <a:t> </a:t>
            </a:r>
            <a:r>
              <a:rPr lang="en-US" baseline="0" dirty="0" err="1"/>
              <a:t>tính</a:t>
            </a:r>
            <a:r>
              <a:rPr lang="en-US" baseline="0" dirty="0"/>
              <a:t> </a:t>
            </a:r>
            <a:r>
              <a:rPr lang="en-US" baseline="0" dirty="0" err="1"/>
              <a:t>của</a:t>
            </a:r>
            <a:r>
              <a:rPr lang="en-US" baseline="0" dirty="0"/>
              <a:t> </a:t>
            </a:r>
            <a:r>
              <a:rPr lang="en-US" baseline="0" dirty="0" err="1"/>
              <a:t>hồ</a:t>
            </a:r>
            <a:r>
              <a:rPr lang="en-US" baseline="0" dirty="0"/>
              <a:t> </a:t>
            </a:r>
            <a:r>
              <a:rPr lang="en-US" baseline="0" dirty="0" err="1"/>
              <a:t>đắc</a:t>
            </a:r>
            <a:r>
              <a:rPr lang="en-US" baseline="0" dirty="0"/>
              <a:t> </a:t>
            </a:r>
            <a:r>
              <a:rPr lang="en-US" baseline="0" dirty="0" err="1"/>
              <a:t>phương</a:t>
            </a:r>
            <a:endParaRPr lang="en-US"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baseline="0" dirty="0" err="1"/>
              <a:t>Cách</a:t>
            </a:r>
            <a:r>
              <a:rPr lang="en-US" baseline="0" dirty="0"/>
              <a:t> </a:t>
            </a:r>
            <a:r>
              <a:rPr lang="en-US" baseline="0" dirty="0" err="1"/>
              <a:t>tiếp</a:t>
            </a:r>
            <a:r>
              <a:rPr lang="en-US" baseline="0" dirty="0"/>
              <a:t> </a:t>
            </a:r>
            <a:r>
              <a:rPr lang="en-US" baseline="0" dirty="0" err="1"/>
              <a:t>cận</a:t>
            </a:r>
            <a:r>
              <a:rPr lang="en-US" baseline="0" dirty="0"/>
              <a:t> </a:t>
            </a:r>
            <a:r>
              <a:rPr lang="en-US" baseline="0" dirty="0" err="1"/>
              <a:t>để</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rdt</a:t>
            </a:r>
            <a:r>
              <a:rPr lang="en-US" baseline="0" dirty="0"/>
              <a:t>: </a:t>
            </a:r>
            <a:r>
              <a:rPr lang="vi-VN" sz="2400" dirty="0">
                <a:latin typeface="Arial"/>
                <a:cs typeface="Arial"/>
              </a:rPr>
              <a:t>từng bước phát triển giao thức truyền dữ liệu tin cậy  giữa bên gửi và bên nhận</a:t>
            </a:r>
            <a:r>
              <a:rPr lang="en-US" sz="2400" baseline="0" dirty="0">
                <a:latin typeface="Arial"/>
                <a:cs typeface="Arial"/>
              </a:rPr>
              <a:t> </a:t>
            </a:r>
            <a:r>
              <a:rPr lang="en-US" sz="2400" baseline="0" dirty="0" err="1">
                <a:latin typeface="Arial"/>
                <a:cs typeface="Arial"/>
              </a:rPr>
              <a:t>để</a:t>
            </a:r>
            <a:r>
              <a:rPr lang="en-US" sz="2400" baseline="0" dirty="0">
                <a:latin typeface="Arial"/>
                <a:cs typeface="Arial"/>
              </a:rPr>
              <a:t> </a:t>
            </a:r>
            <a:r>
              <a:rPr lang="en-US" sz="2400" baseline="0" dirty="0" err="1">
                <a:latin typeface="Arial"/>
                <a:cs typeface="Arial"/>
              </a:rPr>
              <a:t>đến</a:t>
            </a:r>
            <a:r>
              <a:rPr lang="en-US" sz="2400" baseline="0" dirty="0">
                <a:latin typeface="Arial"/>
                <a:cs typeface="Arial"/>
              </a:rPr>
              <a:t> </a:t>
            </a:r>
            <a:r>
              <a:rPr lang="en-US" sz="2400" baseline="0" dirty="0" err="1">
                <a:latin typeface="Arial"/>
                <a:cs typeface="Arial"/>
              </a:rPr>
              <a:t>cuối</a:t>
            </a:r>
            <a:r>
              <a:rPr lang="en-US" sz="2400" baseline="0" dirty="0">
                <a:latin typeface="Arial"/>
                <a:cs typeface="Arial"/>
              </a:rPr>
              <a:t> </a:t>
            </a:r>
            <a:r>
              <a:rPr lang="en-US" sz="2400" baseline="0" dirty="0" err="1">
                <a:latin typeface="Arial"/>
                <a:cs typeface="Arial"/>
              </a:rPr>
              <a:t>cùng</a:t>
            </a:r>
            <a:r>
              <a:rPr lang="en-US" sz="2400" baseline="0" dirty="0">
                <a:latin typeface="Arial"/>
                <a:cs typeface="Arial"/>
              </a:rPr>
              <a:t> </a:t>
            </a:r>
            <a:r>
              <a:rPr lang="en-US" sz="2400" baseline="0" dirty="0" err="1">
                <a:latin typeface="Arial"/>
                <a:cs typeface="Arial"/>
              </a:rPr>
              <a:t>đi</a:t>
            </a:r>
            <a:r>
              <a:rPr lang="en-US" sz="2400" baseline="0" dirty="0">
                <a:latin typeface="Arial"/>
                <a:cs typeface="Arial"/>
              </a:rPr>
              <a:t> </a:t>
            </a:r>
            <a:r>
              <a:rPr lang="en-US" sz="2400" baseline="0" dirty="0" err="1">
                <a:latin typeface="Arial"/>
                <a:cs typeface="Arial"/>
              </a:rPr>
              <a:t>đến</a:t>
            </a:r>
            <a:r>
              <a:rPr lang="en-US" sz="2400" baseline="0" dirty="0">
                <a:latin typeface="Arial"/>
                <a:cs typeface="Arial"/>
              </a:rPr>
              <a:t> </a:t>
            </a:r>
            <a:r>
              <a:rPr lang="en-US" sz="2400" baseline="0" dirty="0" err="1">
                <a:latin typeface="Arial"/>
                <a:cs typeface="Arial"/>
              </a:rPr>
              <a:t>giao</a:t>
            </a:r>
            <a:r>
              <a:rPr lang="en-US" sz="2400" baseline="0" dirty="0">
                <a:latin typeface="Arial"/>
                <a:cs typeface="Arial"/>
              </a:rPr>
              <a:t> </a:t>
            </a:r>
            <a:r>
              <a:rPr lang="en-US" sz="2400" baseline="0" dirty="0" err="1">
                <a:latin typeface="Arial"/>
                <a:cs typeface="Arial"/>
              </a:rPr>
              <a:t>thức</a:t>
            </a:r>
            <a:r>
              <a:rPr lang="en-US" sz="2400" baseline="0" dirty="0">
                <a:latin typeface="Arial"/>
                <a:cs typeface="Arial"/>
              </a:rPr>
              <a:t> </a:t>
            </a:r>
            <a:r>
              <a:rPr lang="en-US" sz="2400" baseline="0" dirty="0" err="1">
                <a:latin typeface="Arial"/>
                <a:cs typeface="Arial"/>
              </a:rPr>
              <a:t>truyền</a:t>
            </a:r>
            <a:r>
              <a:rPr lang="en-US" sz="2400" baseline="0" dirty="0">
                <a:latin typeface="Arial"/>
                <a:cs typeface="Arial"/>
              </a:rPr>
              <a:t> </a:t>
            </a:r>
            <a:r>
              <a:rPr lang="en-US" sz="2400" baseline="0" dirty="0" err="1">
                <a:latin typeface="Arial"/>
                <a:cs typeface="Arial"/>
              </a:rPr>
              <a:t>dữ</a:t>
            </a:r>
            <a:r>
              <a:rPr lang="en-US" sz="2400" baseline="0" dirty="0">
                <a:latin typeface="Arial"/>
                <a:cs typeface="Arial"/>
              </a:rPr>
              <a:t> </a:t>
            </a:r>
            <a:r>
              <a:rPr lang="en-US" sz="2400" baseline="0" dirty="0" err="1">
                <a:latin typeface="Arial"/>
                <a:cs typeface="Arial"/>
              </a:rPr>
              <a:t>liệu</a:t>
            </a:r>
            <a:r>
              <a:rPr lang="en-US" sz="2400" baseline="0" dirty="0">
                <a:latin typeface="Arial"/>
                <a:cs typeface="Arial"/>
              </a:rPr>
              <a:t> </a:t>
            </a:r>
            <a:r>
              <a:rPr lang="en-US" sz="2400" baseline="0" dirty="0" err="1">
                <a:latin typeface="Arial"/>
                <a:cs typeface="Arial"/>
              </a:rPr>
              <a:t>không</a:t>
            </a:r>
            <a:r>
              <a:rPr lang="en-US" sz="2400" baseline="0" dirty="0">
                <a:latin typeface="Arial"/>
                <a:cs typeface="Arial"/>
              </a:rPr>
              <a:t> </a:t>
            </a:r>
            <a:r>
              <a:rPr lang="en-US" sz="2400" baseline="0" dirty="0" err="1">
                <a:latin typeface="Arial"/>
                <a:cs typeface="Arial"/>
              </a:rPr>
              <a:t>lỗi</a:t>
            </a:r>
            <a:endParaRPr lang="en-US" sz="2400" baseline="0" dirty="0">
              <a:latin typeface="Arial"/>
              <a:cs typeface="Arial"/>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finite /'</a:t>
            </a:r>
            <a:r>
              <a:rPr lang="en-US" sz="1200" i="1" kern="1200" dirty="0" err="1">
                <a:solidFill>
                  <a:schemeClr val="tx1"/>
                </a:solidFill>
                <a:effectLst/>
                <a:latin typeface="+mn-lt"/>
                <a:ea typeface="+mn-ea"/>
                <a:cs typeface="+mn-cs"/>
              </a:rPr>
              <a:t>fainait</a:t>
            </a:r>
            <a:r>
              <a:rPr lang="en-US" sz="1200" i="1" kern="1200" dirty="0">
                <a:solidFill>
                  <a:schemeClr val="tx1"/>
                </a:solidFill>
                <a:effectLst/>
                <a:latin typeface="+mn-lt"/>
                <a:ea typeface="+mn-ea"/>
                <a:cs typeface="+mn-cs"/>
              </a:rPr>
              <a:t>/</a:t>
            </a:r>
            <a:endParaRPr lang="en-US" sz="2400" baseline="0" dirty="0">
              <a:latin typeface="Arial"/>
              <a:cs typeface="Arial"/>
            </a:endParaRPr>
          </a:p>
          <a:p>
            <a:pPr marL="0" marR="0" lvl="1" indent="0" algn="l" defTabSz="914400" rtl="0" eaLnBrk="1" fontAlgn="auto" latinLnBrk="0" hangingPunct="1">
              <a:lnSpc>
                <a:spcPct val="100000"/>
              </a:lnSpc>
              <a:spcBef>
                <a:spcPts val="0"/>
              </a:spcBef>
              <a:spcAft>
                <a:spcPts val="0"/>
              </a:spcAft>
              <a:buClrTx/>
              <a:buSzTx/>
              <a:buFontTx/>
              <a:buNone/>
              <a:tabLst/>
              <a:defRPr/>
            </a:pPr>
            <a:endParaRPr lang="en-US" baseline="0" dirty="0"/>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25</a:t>
            </a:fld>
            <a:endParaRPr lang="en-US"/>
          </a:p>
        </p:txBody>
      </p:sp>
    </p:spTree>
    <p:extLst>
      <p:ext uri="{BB962C8B-B14F-4D97-AF65-F5344CB8AC3E}">
        <p14:creationId xmlns:p14="http://schemas.microsoft.com/office/powerpoint/2010/main" val="910992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Rdt</a:t>
            </a:r>
            <a:r>
              <a:rPr lang="en-US" dirty="0"/>
              <a:t> 2.0</a:t>
            </a:r>
          </a:p>
          <a:p>
            <a:r>
              <a:rPr lang="en-US" dirty="0" err="1"/>
              <a:t>Giả</a:t>
            </a:r>
            <a:r>
              <a:rPr lang="en-US" baseline="0" dirty="0"/>
              <a:t> </a:t>
            </a:r>
            <a:r>
              <a:rPr lang="en-US" baseline="0" dirty="0" err="1"/>
              <a:t>thiết</a:t>
            </a:r>
            <a:r>
              <a:rPr lang="en-US" baseline="0" dirty="0"/>
              <a:t> </a:t>
            </a:r>
            <a:r>
              <a:rPr lang="en-US" baseline="0" dirty="0" err="1"/>
              <a:t>rằng</a:t>
            </a:r>
            <a:r>
              <a:rPr lang="en-US" baseline="0" dirty="0"/>
              <a:t>: </a:t>
            </a:r>
            <a:r>
              <a:rPr lang="en-US" baseline="0" dirty="0" err="1"/>
              <a:t>tất</a:t>
            </a:r>
            <a:r>
              <a:rPr lang="en-US" baseline="0" dirty="0"/>
              <a:t> </a:t>
            </a:r>
            <a:r>
              <a:rPr lang="en-US" baseline="0" dirty="0" err="1"/>
              <a:t>cả</a:t>
            </a:r>
            <a:r>
              <a:rPr lang="en-US" baseline="0" dirty="0"/>
              <a:t> </a:t>
            </a:r>
            <a:r>
              <a:rPr lang="en-US" baseline="0" dirty="0" err="1"/>
              <a:t>các</a:t>
            </a:r>
            <a:r>
              <a:rPr lang="en-US" baseline="0" dirty="0"/>
              <a:t>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truyền</a:t>
            </a:r>
            <a:r>
              <a:rPr lang="en-US" baseline="0" dirty="0"/>
              <a:t> </a:t>
            </a:r>
            <a:r>
              <a:rPr lang="en-US" baseline="0" dirty="0" err="1"/>
              <a:t>đi</a:t>
            </a:r>
            <a:r>
              <a:rPr lang="en-US" baseline="0" dirty="0"/>
              <a:t> </a:t>
            </a:r>
            <a:r>
              <a:rPr lang="en-US" baseline="0" dirty="0" err="1"/>
              <a:t>đề</a:t>
            </a:r>
            <a:r>
              <a:rPr lang="en-US" baseline="0" dirty="0"/>
              <a:t> </a:t>
            </a:r>
            <a:r>
              <a:rPr lang="en-US" baseline="0" dirty="0" err="1"/>
              <a:t>đến</a:t>
            </a:r>
            <a:r>
              <a:rPr lang="en-US" baseline="0" dirty="0"/>
              <a:t> </a:t>
            </a:r>
            <a:r>
              <a:rPr lang="en-US" baseline="0" dirty="0" err="1"/>
              <a:t>được</a:t>
            </a:r>
            <a:r>
              <a:rPr lang="en-US" baseline="0" dirty="0"/>
              <a:t> </a:t>
            </a:r>
            <a:r>
              <a:rPr lang="en-US" baseline="0" dirty="0" err="1"/>
              <a:t>đích</a:t>
            </a:r>
            <a:r>
              <a:rPr lang="en-US" baseline="0" dirty="0"/>
              <a:t> </a:t>
            </a:r>
            <a:r>
              <a:rPr lang="en-US" baseline="0" dirty="0" err="1"/>
              <a:t>và</a:t>
            </a:r>
            <a:r>
              <a:rPr lang="en-US" baseline="0" dirty="0"/>
              <a:t> </a:t>
            </a:r>
            <a:r>
              <a:rPr lang="en-US" baseline="0" dirty="0" err="1"/>
              <a:t>theo</a:t>
            </a:r>
            <a:r>
              <a:rPr lang="en-US" baseline="0" dirty="0"/>
              <a:t> </a:t>
            </a:r>
            <a:r>
              <a:rPr lang="en-US" baseline="0" dirty="0" err="1"/>
              <a:t>đúng</a:t>
            </a:r>
            <a:r>
              <a:rPr lang="en-US" baseline="0" dirty="0"/>
              <a:t> </a:t>
            </a:r>
            <a:r>
              <a:rPr lang="en-US" baseline="0" dirty="0" err="1"/>
              <a:t>thứ</a:t>
            </a:r>
            <a:r>
              <a:rPr lang="en-US" baseline="0" dirty="0"/>
              <a:t> </a:t>
            </a:r>
            <a:r>
              <a:rPr lang="en-US" baseline="0" dirty="0" err="1"/>
              <a:t>tự</a:t>
            </a:r>
            <a:r>
              <a:rPr lang="en-US" baseline="0" dirty="0"/>
              <a:t> </a:t>
            </a:r>
            <a:r>
              <a:rPr lang="en-US" baseline="0" dirty="0" err="1"/>
              <a:t>gửi</a:t>
            </a:r>
            <a:r>
              <a:rPr lang="en-US" baseline="0" dirty="0"/>
              <a:t>, </a:t>
            </a:r>
            <a:r>
              <a:rPr lang="en-US" baseline="0" dirty="0" err="1"/>
              <a:t>mặc</a:t>
            </a:r>
            <a:r>
              <a:rPr lang="en-US" baseline="0" dirty="0"/>
              <a:t> </a:t>
            </a:r>
            <a:r>
              <a:rPr lang="en-US" baseline="0" dirty="0" err="1"/>
              <a:t>dù</a:t>
            </a:r>
            <a:r>
              <a:rPr lang="en-US" baseline="0" dirty="0"/>
              <a:t> </a:t>
            </a:r>
            <a:r>
              <a:rPr lang="en-US" baseline="0" dirty="0" err="1"/>
              <a:t>các</a:t>
            </a:r>
            <a:r>
              <a:rPr lang="en-US" baseline="0" dirty="0"/>
              <a:t> bit </a:t>
            </a:r>
            <a:r>
              <a:rPr lang="en-US" baseline="0" dirty="0" err="1"/>
              <a:t>trong</a:t>
            </a:r>
            <a:r>
              <a:rPr lang="en-US" baseline="0" dirty="0"/>
              <a:t> </a:t>
            </a:r>
            <a:r>
              <a:rPr lang="en-US" baseline="0" dirty="0" err="1"/>
              <a:t>gói</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thể</a:t>
            </a:r>
            <a:r>
              <a:rPr lang="en-US" baseline="0" dirty="0"/>
              <a:t> </a:t>
            </a:r>
            <a:r>
              <a:rPr lang="en-US" baseline="0" dirty="0" err="1"/>
              <a:t>bị</a:t>
            </a:r>
            <a:r>
              <a:rPr lang="en-US" baseline="0" dirty="0"/>
              <a:t> </a:t>
            </a:r>
            <a:r>
              <a:rPr lang="en-US" baseline="0" dirty="0" err="1"/>
              <a:t>lỗi</a:t>
            </a:r>
            <a:endParaRPr lang="en-US" baseline="0" dirty="0"/>
          </a:p>
          <a:p>
            <a:r>
              <a:rPr lang="en-US" b="1" baseline="0" dirty="0" err="1"/>
              <a:t>Cách</a:t>
            </a:r>
            <a:r>
              <a:rPr lang="en-US" b="1" baseline="0" dirty="0"/>
              <a:t> </a:t>
            </a:r>
            <a:r>
              <a:rPr lang="en-US" b="1" baseline="0" dirty="0" err="1"/>
              <a:t>thức</a:t>
            </a:r>
            <a:r>
              <a:rPr lang="en-US" b="1" baseline="0" dirty="0"/>
              <a:t> </a:t>
            </a:r>
            <a:r>
              <a:rPr lang="en-US" b="1" baseline="0" dirty="0" err="1"/>
              <a:t>để</a:t>
            </a:r>
            <a:r>
              <a:rPr lang="en-US" b="1" baseline="0" dirty="0"/>
              <a:t> </a:t>
            </a:r>
            <a:r>
              <a:rPr lang="en-US" b="1" baseline="0" dirty="0" err="1"/>
              <a:t>sửa</a:t>
            </a:r>
            <a:r>
              <a:rPr lang="en-US" b="1" baseline="0" dirty="0"/>
              <a:t> </a:t>
            </a:r>
            <a:r>
              <a:rPr lang="en-US" b="1" baseline="0" dirty="0" err="1"/>
              <a:t>lỗi</a:t>
            </a:r>
            <a:r>
              <a:rPr lang="en-US" b="1" baseline="0" dirty="0"/>
              <a:t>:  </a:t>
            </a:r>
            <a:r>
              <a:rPr lang="en-US" baseline="0" dirty="0" err="1"/>
              <a:t>Sau</a:t>
            </a:r>
            <a:r>
              <a:rPr lang="en-US" baseline="0" dirty="0"/>
              <a:t> </a:t>
            </a:r>
            <a:r>
              <a:rPr lang="en-US" baseline="0" dirty="0" err="1"/>
              <a:t>khi</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mỗi</a:t>
            </a:r>
            <a:r>
              <a:rPr lang="en-US" baseline="0" dirty="0"/>
              <a:t> </a:t>
            </a:r>
            <a:r>
              <a:rPr lang="en-US" baseline="0" dirty="0" err="1"/>
              <a:t>gói</a:t>
            </a:r>
            <a:r>
              <a:rPr lang="en-US" baseline="0" dirty="0"/>
              <a:t>, </a:t>
            </a:r>
            <a:r>
              <a:rPr lang="en-US" baseline="0" dirty="0" err="1"/>
              <a:t>bên</a:t>
            </a:r>
            <a:r>
              <a:rPr lang="en-US" baseline="0" dirty="0"/>
              <a:t> </a:t>
            </a:r>
            <a:r>
              <a:rPr lang="en-US" baseline="0" dirty="0" err="1"/>
              <a:t>nhận</a:t>
            </a:r>
            <a:r>
              <a:rPr lang="en-US" baseline="0" dirty="0"/>
              <a:t> </a:t>
            </a:r>
            <a:r>
              <a:rPr lang="en-US" baseline="0" dirty="0" err="1"/>
              <a:t>kiểm</a:t>
            </a:r>
            <a:r>
              <a:rPr lang="en-US" baseline="0" dirty="0"/>
              <a:t> </a:t>
            </a:r>
            <a:r>
              <a:rPr lang="en-US" baseline="0" dirty="0" err="1"/>
              <a:t>tra</a:t>
            </a:r>
            <a:r>
              <a:rPr lang="en-US" baseline="0" dirty="0"/>
              <a:t> </a:t>
            </a:r>
            <a:r>
              <a:rPr lang="en-US" baseline="0" dirty="0" err="1"/>
              <a:t>lỗi</a:t>
            </a:r>
            <a:r>
              <a:rPr lang="en-US" baseline="0" dirty="0"/>
              <a:t> </a:t>
            </a:r>
            <a:r>
              <a:rPr lang="en-US" baseline="0" dirty="0" err="1"/>
              <a:t>và</a:t>
            </a:r>
            <a:r>
              <a:rPr lang="en-US" baseline="0" dirty="0"/>
              <a:t> </a:t>
            </a:r>
            <a:r>
              <a:rPr lang="en-US" baseline="0" dirty="0" err="1"/>
              <a:t>dùng</a:t>
            </a:r>
            <a:r>
              <a:rPr lang="en-US" baseline="0" dirty="0"/>
              <a:t> </a:t>
            </a:r>
            <a:r>
              <a:rPr lang="en-US" baseline="0" dirty="0" err="1"/>
              <a:t>thông</a:t>
            </a:r>
            <a:r>
              <a:rPr lang="en-US" baseline="0" dirty="0"/>
              <a:t> </a:t>
            </a:r>
            <a:r>
              <a:rPr lang="en-US" baseline="0" dirty="0" err="1"/>
              <a:t>điệp</a:t>
            </a:r>
            <a:r>
              <a:rPr lang="en-US" baseline="0" dirty="0"/>
              <a:t> </a:t>
            </a:r>
            <a:r>
              <a:rPr lang="en-US" baseline="0" dirty="0" err="1"/>
              <a:t>điều</a:t>
            </a:r>
            <a:r>
              <a:rPr lang="en-US" baseline="0" dirty="0"/>
              <a:t> </a:t>
            </a:r>
            <a:r>
              <a:rPr lang="en-US" baseline="0" dirty="0" err="1"/>
              <a:t>khiển</a:t>
            </a:r>
            <a:r>
              <a:rPr lang="en-US" baseline="0" dirty="0"/>
              <a:t> </a:t>
            </a:r>
            <a:r>
              <a:rPr lang="en-US" baseline="0" dirty="0" err="1"/>
              <a:t>để</a:t>
            </a:r>
            <a:r>
              <a:rPr lang="en-US" baseline="0" dirty="0"/>
              <a:t> </a:t>
            </a:r>
            <a:r>
              <a:rPr lang="en-US" baseline="0" dirty="0" err="1"/>
              <a:t>báo</a:t>
            </a:r>
            <a:r>
              <a:rPr lang="en-US" baseline="0" dirty="0"/>
              <a:t> </a:t>
            </a:r>
            <a:r>
              <a:rPr lang="en-US" baseline="0" dirty="0" err="1"/>
              <a:t>cho</a:t>
            </a:r>
            <a:r>
              <a:rPr lang="en-US" baseline="0" dirty="0"/>
              <a:t> </a:t>
            </a:r>
            <a:r>
              <a:rPr lang="en-US" baseline="0" dirty="0" err="1"/>
              <a:t>bên</a:t>
            </a:r>
            <a:r>
              <a:rPr lang="en-US" baseline="0" dirty="0"/>
              <a:t> </a:t>
            </a:r>
            <a:r>
              <a:rPr lang="en-US" baseline="0" dirty="0" err="1"/>
              <a:t>nhận</a:t>
            </a:r>
            <a:endParaRPr lang="en-US" baseline="0" dirty="0"/>
          </a:p>
          <a:p>
            <a:pPr marL="171450" indent="-171450">
              <a:buFontTx/>
              <a:buChar char="-"/>
            </a:pPr>
            <a:r>
              <a:rPr lang="en-US" baseline="0" dirty="0" err="1"/>
              <a:t>gói</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lỗi</a:t>
            </a:r>
            <a:r>
              <a:rPr lang="en-US" baseline="0" dirty="0"/>
              <a:t> (ACK - </a:t>
            </a:r>
            <a:r>
              <a:rPr lang="en-US" sz="1200" i="1" kern="1200" dirty="0">
                <a:solidFill>
                  <a:schemeClr val="tx1"/>
                </a:solidFill>
                <a:effectLst/>
                <a:latin typeface="+mn-lt"/>
                <a:ea typeface="+mn-ea"/>
                <a:cs typeface="+mn-cs"/>
              </a:rPr>
              <a:t>acknowledgement /</a:t>
            </a:r>
            <a:r>
              <a:rPr lang="en-US" sz="1200" i="1" kern="1200" dirty="0" err="1">
                <a:solidFill>
                  <a:schemeClr val="tx1"/>
                </a:solidFill>
                <a:effectLst/>
                <a:latin typeface="+mn-lt"/>
                <a:ea typeface="+mn-ea"/>
                <a:cs typeface="+mn-cs"/>
              </a:rPr>
              <a:t>ək'nɔlidʤmənt</a:t>
            </a:r>
            <a:r>
              <a:rPr lang="en-US" sz="1200" i="1" kern="1200" dirty="0">
                <a:solidFill>
                  <a:schemeClr val="tx1"/>
                </a:solidFill>
                <a:effectLst/>
                <a:latin typeface="+mn-lt"/>
                <a:ea typeface="+mn-ea"/>
                <a:cs typeface="+mn-cs"/>
              </a:rPr>
              <a:t>/ </a:t>
            </a:r>
            <a:r>
              <a:rPr lang="en-US" baseline="0" dirty="0"/>
              <a:t>) </a:t>
            </a:r>
          </a:p>
          <a:p>
            <a:pPr marL="171450" indent="-171450">
              <a:buFontTx/>
              <a:buChar char="-"/>
            </a:pPr>
            <a:r>
              <a:rPr lang="en-US" baseline="0" dirty="0" err="1"/>
              <a:t>hoặc</a:t>
            </a:r>
            <a:r>
              <a:rPr lang="en-US" baseline="0" dirty="0"/>
              <a:t> </a:t>
            </a:r>
            <a:r>
              <a:rPr lang="en-US" baseline="0" dirty="0" err="1"/>
              <a:t>gói</a:t>
            </a:r>
            <a:r>
              <a:rPr lang="en-US" baseline="0" dirty="0"/>
              <a:t> </a:t>
            </a:r>
            <a:r>
              <a:rPr lang="en-US" baseline="0" dirty="0" err="1"/>
              <a:t>bị</a:t>
            </a:r>
            <a:r>
              <a:rPr lang="en-US" baseline="0" dirty="0"/>
              <a:t> </a:t>
            </a:r>
            <a:r>
              <a:rPr lang="en-US" baseline="0" dirty="0" err="1"/>
              <a:t>lỗi</a:t>
            </a:r>
            <a:r>
              <a:rPr lang="en-US" baseline="0" dirty="0"/>
              <a:t> (NAK)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phản</a:t>
            </a:r>
            <a:r>
              <a:rPr lang="en-US" baseline="0" dirty="0"/>
              <a:t> </a:t>
            </a:r>
            <a:r>
              <a:rPr lang="en-US" baseline="0" dirty="0" err="1"/>
              <a:t>hồi</a:t>
            </a:r>
            <a:r>
              <a:rPr lang="en-US" baseline="0" dirty="0"/>
              <a:t> </a:t>
            </a:r>
            <a:r>
              <a:rPr lang="en-US" baseline="0" dirty="0" err="1"/>
              <a:t>chỉ</a:t>
            </a:r>
            <a:r>
              <a:rPr lang="en-US" baseline="0" dirty="0"/>
              <a:t> </a:t>
            </a:r>
            <a:r>
              <a:rPr lang="en-US" baseline="0" dirty="0" err="1"/>
              <a:t>dùng</a:t>
            </a:r>
            <a:r>
              <a:rPr lang="en-US" baseline="0" dirty="0"/>
              <a:t> 1 bit: </a:t>
            </a:r>
            <a:r>
              <a:rPr lang="en-US" baseline="0" dirty="0" err="1"/>
              <a:t>ví</a:t>
            </a:r>
            <a:r>
              <a:rPr lang="en-US" baseline="0" dirty="0"/>
              <a:t> </a:t>
            </a:r>
            <a:r>
              <a:rPr lang="en-US" baseline="0" dirty="0" err="1"/>
              <a:t>dụ</a:t>
            </a:r>
            <a:r>
              <a:rPr lang="en-US" baseline="0" dirty="0"/>
              <a:t> </a:t>
            </a:r>
            <a:r>
              <a:rPr lang="en-US" baseline="0" dirty="0" err="1"/>
              <a:t>giá</a:t>
            </a:r>
            <a:r>
              <a:rPr lang="en-US" baseline="0" dirty="0"/>
              <a:t> </a:t>
            </a:r>
            <a:r>
              <a:rPr lang="en-US" baseline="0" dirty="0" err="1"/>
              <a:t>trị</a:t>
            </a:r>
            <a:r>
              <a:rPr lang="en-US" baseline="0" dirty="0"/>
              <a:t> 0 </a:t>
            </a:r>
            <a:r>
              <a:rPr lang="en-US" baseline="0" dirty="0" err="1"/>
              <a:t>ứng</a:t>
            </a:r>
            <a:r>
              <a:rPr lang="en-US" baseline="0" dirty="0"/>
              <a:t> </a:t>
            </a:r>
            <a:r>
              <a:rPr lang="en-US" baseline="0" dirty="0" err="1"/>
              <a:t>với</a:t>
            </a:r>
            <a:r>
              <a:rPr lang="en-US" baseline="0" dirty="0"/>
              <a:t> NAK, </a:t>
            </a:r>
            <a:r>
              <a:rPr lang="en-US" baseline="0" dirty="0" err="1"/>
              <a:t>giá</a:t>
            </a:r>
            <a:r>
              <a:rPr lang="en-US" baseline="0" dirty="0"/>
              <a:t> </a:t>
            </a:r>
            <a:r>
              <a:rPr lang="en-US" baseline="0" dirty="0" err="1"/>
              <a:t>trị</a:t>
            </a:r>
            <a:r>
              <a:rPr lang="en-US" baseline="0" dirty="0"/>
              <a:t> 1 </a:t>
            </a:r>
            <a:r>
              <a:rPr lang="en-US" baseline="0" dirty="0" err="1"/>
              <a:t>ứng</a:t>
            </a:r>
            <a:r>
              <a:rPr lang="en-US" baseline="0" dirty="0"/>
              <a:t> </a:t>
            </a:r>
            <a:r>
              <a:rPr lang="en-US" baseline="0" dirty="0" err="1"/>
              <a:t>với</a:t>
            </a:r>
            <a:r>
              <a:rPr lang="en-US" baseline="0" dirty="0"/>
              <a:t> ACK), </a:t>
            </a:r>
          </a:p>
          <a:p>
            <a:pPr marL="171450" indent="-171450">
              <a:buFontTx/>
              <a:buChar char="-"/>
            </a:pPr>
            <a:r>
              <a:rPr lang="en-US" baseline="0" dirty="0" err="1"/>
              <a:t>khi</a:t>
            </a:r>
            <a:r>
              <a:rPr lang="en-US" baseline="0" dirty="0"/>
              <a:t> </a:t>
            </a:r>
            <a:r>
              <a:rPr lang="en-US" baseline="0" dirty="0" err="1"/>
              <a:t>bên</a:t>
            </a:r>
            <a:r>
              <a:rPr lang="en-US" baseline="0" dirty="0"/>
              <a:t> </a:t>
            </a:r>
            <a:r>
              <a:rPr lang="en-US" baseline="0" dirty="0" err="1"/>
              <a:t>gửi</a:t>
            </a:r>
            <a:r>
              <a:rPr lang="en-US" baseline="0" dirty="0"/>
              <a:t> </a:t>
            </a:r>
            <a:r>
              <a:rPr lang="en-US" baseline="0" dirty="0" err="1"/>
              <a:t>nhận</a:t>
            </a:r>
            <a:r>
              <a:rPr lang="en-US" baseline="0" dirty="0"/>
              <a:t> </a:t>
            </a:r>
            <a:r>
              <a:rPr lang="en-US" baseline="0" dirty="0" err="1"/>
              <a:t>được</a:t>
            </a:r>
            <a:r>
              <a:rPr lang="en-US" baseline="0" dirty="0"/>
              <a:t> NAK </a:t>
            </a:r>
            <a:r>
              <a:rPr lang="en-US" baseline="0" dirty="0" err="1"/>
              <a:t>thì</a:t>
            </a:r>
            <a:r>
              <a:rPr lang="en-US" baseline="0" dirty="0"/>
              <a:t> </a:t>
            </a:r>
            <a:r>
              <a:rPr lang="en-US" baseline="0" dirty="0" err="1"/>
              <a:t>bên</a:t>
            </a:r>
            <a:r>
              <a:rPr lang="en-US" baseline="0" dirty="0"/>
              <a:t> </a:t>
            </a:r>
            <a:r>
              <a:rPr lang="en-US" baseline="0" dirty="0" err="1"/>
              <a:t>gửi</a:t>
            </a:r>
            <a:r>
              <a:rPr lang="en-US" baseline="0" dirty="0"/>
              <a:t> </a:t>
            </a:r>
            <a:r>
              <a:rPr lang="en-US" baseline="0" dirty="0" err="1"/>
              <a:t>truyền</a:t>
            </a:r>
            <a:r>
              <a:rPr lang="en-US" baseline="0" dirty="0"/>
              <a:t> </a:t>
            </a:r>
            <a:r>
              <a:rPr lang="en-US" baseline="0" dirty="0" err="1"/>
              <a:t>lại</a:t>
            </a:r>
            <a:r>
              <a:rPr lang="en-US" baseline="0" dirty="0"/>
              <a:t> </a:t>
            </a:r>
            <a:r>
              <a:rPr lang="en-US" baseline="0" dirty="0" err="1"/>
              <a:t>gói</a:t>
            </a:r>
            <a:r>
              <a:rPr lang="en-US" baseline="0" dirty="0"/>
              <a:t> tin</a:t>
            </a:r>
          </a:p>
          <a:p>
            <a:pPr marL="0" indent="0">
              <a:buFontTx/>
              <a:buNone/>
            </a:pPr>
            <a:r>
              <a:rPr lang="en-US" baseline="0" dirty="0"/>
              <a:t>     </a:t>
            </a:r>
            <a:r>
              <a:rPr lang="en-US" baseline="0" dirty="0" err="1"/>
              <a:t>Trong</a:t>
            </a:r>
            <a:r>
              <a:rPr lang="en-US" baseline="0" dirty="0"/>
              <a:t> </a:t>
            </a:r>
            <a:r>
              <a:rPr lang="en-US" baseline="0" dirty="0" err="1"/>
              <a:t>mạng</a:t>
            </a:r>
            <a:r>
              <a:rPr lang="en-US" baseline="0" dirty="0"/>
              <a:t> </a:t>
            </a:r>
            <a:r>
              <a:rPr lang="en-US" baseline="0" dirty="0" err="1"/>
              <a:t>máy</a:t>
            </a:r>
            <a:r>
              <a:rPr lang="en-US" baseline="0" dirty="0"/>
              <a:t> </a:t>
            </a:r>
            <a:r>
              <a:rPr lang="en-US" baseline="0" dirty="0" err="1"/>
              <a:t>tính</a:t>
            </a:r>
            <a:r>
              <a:rPr lang="en-US" baseline="0" dirty="0"/>
              <a:t>, </a:t>
            </a:r>
            <a:r>
              <a:rPr lang="en-US" baseline="0" dirty="0" err="1"/>
              <a:t>giao</a:t>
            </a:r>
            <a:r>
              <a:rPr lang="en-US" baseline="0" dirty="0"/>
              <a:t> </a:t>
            </a:r>
            <a:r>
              <a:rPr lang="en-US" baseline="0" dirty="0" err="1"/>
              <a:t>thức</a:t>
            </a:r>
            <a:r>
              <a:rPr lang="en-US" baseline="0" dirty="0"/>
              <a:t> </a:t>
            </a:r>
            <a:r>
              <a:rPr lang="en-US" baseline="0" dirty="0" err="1"/>
              <a:t>truyền</a:t>
            </a:r>
            <a:r>
              <a:rPr lang="en-US" baseline="0" dirty="0"/>
              <a:t> </a:t>
            </a:r>
            <a:r>
              <a:rPr lang="en-US" baseline="0" dirty="0" err="1"/>
              <a:t>theo</a:t>
            </a:r>
            <a:r>
              <a:rPr lang="en-US" baseline="0" dirty="0"/>
              <a:t> </a:t>
            </a:r>
            <a:r>
              <a:rPr lang="en-US" baseline="0" dirty="0" err="1"/>
              <a:t>cơ</a:t>
            </a:r>
            <a:r>
              <a:rPr lang="en-US" baseline="0" dirty="0"/>
              <a:t> </a:t>
            </a:r>
            <a:r>
              <a:rPr lang="en-US" baseline="0" dirty="0" err="1"/>
              <a:t>chế</a:t>
            </a:r>
            <a:r>
              <a:rPr lang="en-US" baseline="0" dirty="0"/>
              <a:t> </a:t>
            </a:r>
            <a:r>
              <a:rPr lang="en-US" baseline="0" dirty="0" err="1"/>
              <a:t>này</a:t>
            </a:r>
            <a:r>
              <a:rPr lang="en-US" baseline="0" dirty="0"/>
              <a:t> </a:t>
            </a:r>
            <a:r>
              <a:rPr lang="en-US" baseline="0" dirty="0" err="1"/>
              <a:t>gọi</a:t>
            </a:r>
            <a:r>
              <a:rPr lang="en-US" baseline="0" dirty="0"/>
              <a:t> </a:t>
            </a:r>
            <a:r>
              <a:rPr lang="en-US" baseline="0" dirty="0" err="1"/>
              <a:t>là</a:t>
            </a:r>
            <a:r>
              <a:rPr lang="en-US" baseline="0" dirty="0"/>
              <a:t> </a:t>
            </a:r>
            <a:r>
              <a:rPr lang="en-US" baseline="0" dirty="0" err="1"/>
              <a:t>giao</a:t>
            </a:r>
            <a:r>
              <a:rPr lang="en-US" baseline="0" dirty="0"/>
              <a:t> </a:t>
            </a:r>
            <a:r>
              <a:rPr lang="en-US" baseline="0" dirty="0" err="1"/>
              <a:t>thức</a:t>
            </a:r>
            <a:r>
              <a:rPr lang="en-US" baseline="0" dirty="0"/>
              <a:t> ARQ (Automatic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ɔ:tə'mætik</a:t>
            </a:r>
            <a:r>
              <a:rPr lang="en-US" sz="1200" i="1" kern="1200" dirty="0">
                <a:solidFill>
                  <a:schemeClr val="tx1"/>
                </a:solidFill>
                <a:effectLst/>
                <a:latin typeface="+mn-lt"/>
                <a:ea typeface="+mn-ea"/>
                <a:cs typeface="+mn-cs"/>
              </a:rPr>
              <a:t>/ )</a:t>
            </a:r>
            <a:r>
              <a:rPr lang="en-US" baseline="0" dirty="0"/>
              <a:t>Repeat request)</a:t>
            </a:r>
          </a:p>
          <a:p>
            <a:pPr marL="171450" indent="-171450">
              <a:buFontTx/>
              <a:buChar char="-"/>
            </a:pPr>
            <a:r>
              <a:rPr lang="en-US" baseline="0" dirty="0"/>
              <a:t>ccc</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26</a:t>
            </a:fld>
            <a:endParaRPr lang="en-US"/>
          </a:p>
        </p:txBody>
      </p:sp>
    </p:spTree>
    <p:extLst>
      <p:ext uri="{BB962C8B-B14F-4D97-AF65-F5344CB8AC3E}">
        <p14:creationId xmlns:p14="http://schemas.microsoft.com/office/powerpoint/2010/main" val="3707328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Rdt</a:t>
            </a:r>
            <a:r>
              <a:rPr lang="en-US" dirty="0"/>
              <a:t> 2.0</a:t>
            </a:r>
          </a:p>
          <a:p>
            <a:r>
              <a:rPr lang="en-US" dirty="0" err="1"/>
              <a:t>Giả</a:t>
            </a:r>
            <a:r>
              <a:rPr lang="en-US" baseline="0" dirty="0"/>
              <a:t> </a:t>
            </a:r>
            <a:r>
              <a:rPr lang="en-US" baseline="0" dirty="0" err="1"/>
              <a:t>thiết</a:t>
            </a:r>
            <a:r>
              <a:rPr lang="en-US" baseline="0" dirty="0"/>
              <a:t> </a:t>
            </a:r>
            <a:r>
              <a:rPr lang="en-US" baseline="0" dirty="0" err="1"/>
              <a:t>rằng</a:t>
            </a:r>
            <a:r>
              <a:rPr lang="en-US" baseline="0" dirty="0"/>
              <a:t>: </a:t>
            </a:r>
            <a:r>
              <a:rPr lang="en-US" baseline="0" dirty="0" err="1"/>
              <a:t>tất</a:t>
            </a:r>
            <a:r>
              <a:rPr lang="en-US" baseline="0" dirty="0"/>
              <a:t> </a:t>
            </a:r>
            <a:r>
              <a:rPr lang="en-US" baseline="0" dirty="0" err="1"/>
              <a:t>cả</a:t>
            </a:r>
            <a:r>
              <a:rPr lang="en-US" baseline="0" dirty="0"/>
              <a:t> </a:t>
            </a:r>
            <a:r>
              <a:rPr lang="en-US" baseline="0" dirty="0" err="1"/>
              <a:t>các</a:t>
            </a:r>
            <a:r>
              <a:rPr lang="en-US" baseline="0" dirty="0"/>
              <a:t>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truyền</a:t>
            </a:r>
            <a:r>
              <a:rPr lang="en-US" baseline="0" dirty="0"/>
              <a:t> </a:t>
            </a:r>
            <a:r>
              <a:rPr lang="en-US" baseline="0" dirty="0" err="1"/>
              <a:t>đi</a:t>
            </a:r>
            <a:r>
              <a:rPr lang="en-US" baseline="0" dirty="0"/>
              <a:t> </a:t>
            </a:r>
            <a:r>
              <a:rPr lang="en-US" baseline="0" dirty="0" err="1"/>
              <a:t>đề</a:t>
            </a:r>
            <a:r>
              <a:rPr lang="en-US" baseline="0" dirty="0"/>
              <a:t> </a:t>
            </a:r>
            <a:r>
              <a:rPr lang="en-US" baseline="0" dirty="0" err="1"/>
              <a:t>đến</a:t>
            </a:r>
            <a:r>
              <a:rPr lang="en-US" baseline="0" dirty="0"/>
              <a:t> </a:t>
            </a:r>
            <a:r>
              <a:rPr lang="en-US" baseline="0" dirty="0" err="1"/>
              <a:t>được</a:t>
            </a:r>
            <a:r>
              <a:rPr lang="en-US" baseline="0" dirty="0"/>
              <a:t> </a:t>
            </a:r>
            <a:r>
              <a:rPr lang="en-US" baseline="0" dirty="0" err="1"/>
              <a:t>đích</a:t>
            </a:r>
            <a:r>
              <a:rPr lang="en-US" baseline="0" dirty="0"/>
              <a:t> </a:t>
            </a:r>
            <a:r>
              <a:rPr lang="en-US" baseline="0" dirty="0" err="1"/>
              <a:t>và</a:t>
            </a:r>
            <a:r>
              <a:rPr lang="en-US" baseline="0" dirty="0"/>
              <a:t> </a:t>
            </a:r>
            <a:r>
              <a:rPr lang="en-US" baseline="0" dirty="0" err="1"/>
              <a:t>theo</a:t>
            </a:r>
            <a:r>
              <a:rPr lang="en-US" baseline="0" dirty="0"/>
              <a:t> </a:t>
            </a:r>
            <a:r>
              <a:rPr lang="en-US" baseline="0" dirty="0" err="1"/>
              <a:t>đúng</a:t>
            </a:r>
            <a:r>
              <a:rPr lang="en-US" baseline="0" dirty="0"/>
              <a:t> </a:t>
            </a:r>
            <a:r>
              <a:rPr lang="en-US" baseline="0" dirty="0" err="1"/>
              <a:t>thứ</a:t>
            </a:r>
            <a:r>
              <a:rPr lang="en-US" baseline="0" dirty="0"/>
              <a:t> </a:t>
            </a:r>
            <a:r>
              <a:rPr lang="en-US" baseline="0" dirty="0" err="1"/>
              <a:t>tự</a:t>
            </a:r>
            <a:r>
              <a:rPr lang="en-US" baseline="0" dirty="0"/>
              <a:t> </a:t>
            </a:r>
            <a:r>
              <a:rPr lang="en-US" baseline="0" dirty="0" err="1"/>
              <a:t>gửi</a:t>
            </a:r>
            <a:r>
              <a:rPr lang="en-US" baseline="0" dirty="0"/>
              <a:t>, </a:t>
            </a:r>
            <a:r>
              <a:rPr lang="en-US" baseline="0" dirty="0" err="1"/>
              <a:t>mặc</a:t>
            </a:r>
            <a:r>
              <a:rPr lang="en-US" baseline="0" dirty="0"/>
              <a:t> </a:t>
            </a:r>
            <a:r>
              <a:rPr lang="en-US" baseline="0" dirty="0" err="1"/>
              <a:t>dù</a:t>
            </a:r>
            <a:r>
              <a:rPr lang="en-US" baseline="0" dirty="0"/>
              <a:t> </a:t>
            </a:r>
            <a:r>
              <a:rPr lang="en-US" baseline="0" dirty="0" err="1"/>
              <a:t>các</a:t>
            </a:r>
            <a:r>
              <a:rPr lang="en-US" baseline="0" dirty="0"/>
              <a:t> bit </a:t>
            </a:r>
            <a:r>
              <a:rPr lang="en-US" baseline="0" dirty="0" err="1"/>
              <a:t>trong</a:t>
            </a:r>
            <a:r>
              <a:rPr lang="en-US" baseline="0" dirty="0"/>
              <a:t> </a:t>
            </a:r>
            <a:r>
              <a:rPr lang="en-US" baseline="0" dirty="0" err="1"/>
              <a:t>gói</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có</a:t>
            </a:r>
            <a:r>
              <a:rPr lang="en-US" baseline="0" dirty="0"/>
              <a:t> </a:t>
            </a:r>
            <a:r>
              <a:rPr lang="en-US" baseline="0" dirty="0" err="1"/>
              <a:t>thể</a:t>
            </a:r>
            <a:r>
              <a:rPr lang="en-US" baseline="0" dirty="0"/>
              <a:t> </a:t>
            </a:r>
            <a:r>
              <a:rPr lang="en-US" baseline="0" dirty="0" err="1"/>
              <a:t>bị</a:t>
            </a:r>
            <a:r>
              <a:rPr lang="en-US" baseline="0" dirty="0"/>
              <a:t> </a:t>
            </a:r>
            <a:r>
              <a:rPr lang="en-US" baseline="0" dirty="0" err="1"/>
              <a:t>lỗi</a:t>
            </a:r>
            <a:endParaRPr lang="en-US" baseline="0" dirty="0"/>
          </a:p>
          <a:p>
            <a:r>
              <a:rPr lang="en-US" b="1" baseline="0" dirty="0" err="1"/>
              <a:t>Cách</a:t>
            </a:r>
            <a:r>
              <a:rPr lang="en-US" b="1" baseline="0" dirty="0"/>
              <a:t> </a:t>
            </a:r>
            <a:r>
              <a:rPr lang="en-US" b="1" baseline="0" dirty="0" err="1"/>
              <a:t>thức</a:t>
            </a:r>
            <a:r>
              <a:rPr lang="en-US" b="1" baseline="0" dirty="0"/>
              <a:t> </a:t>
            </a:r>
            <a:r>
              <a:rPr lang="en-US" b="1" baseline="0" dirty="0" err="1"/>
              <a:t>để</a:t>
            </a:r>
            <a:r>
              <a:rPr lang="en-US" b="1" baseline="0" dirty="0"/>
              <a:t> </a:t>
            </a:r>
            <a:r>
              <a:rPr lang="en-US" b="1" baseline="0" dirty="0" err="1"/>
              <a:t>sửa</a:t>
            </a:r>
            <a:r>
              <a:rPr lang="en-US" b="1" baseline="0" dirty="0"/>
              <a:t> </a:t>
            </a:r>
            <a:r>
              <a:rPr lang="en-US" b="1" baseline="0" dirty="0" err="1"/>
              <a:t>lỗi</a:t>
            </a:r>
            <a:r>
              <a:rPr lang="en-US" b="1" baseline="0" dirty="0"/>
              <a:t>:  </a:t>
            </a:r>
            <a:r>
              <a:rPr lang="en-US" baseline="0" dirty="0" err="1"/>
              <a:t>Sau</a:t>
            </a:r>
            <a:r>
              <a:rPr lang="en-US" baseline="0" dirty="0"/>
              <a:t> </a:t>
            </a:r>
            <a:r>
              <a:rPr lang="en-US" baseline="0" dirty="0" err="1"/>
              <a:t>khi</a:t>
            </a:r>
            <a:r>
              <a:rPr lang="en-US" baseline="0" dirty="0"/>
              <a:t> </a:t>
            </a:r>
            <a:r>
              <a:rPr lang="en-US" baseline="0" dirty="0" err="1"/>
              <a:t>nhận</a:t>
            </a:r>
            <a:r>
              <a:rPr lang="en-US" baseline="0" dirty="0"/>
              <a:t> </a:t>
            </a:r>
            <a:r>
              <a:rPr lang="en-US" baseline="0" dirty="0" err="1"/>
              <a:t>được</a:t>
            </a:r>
            <a:r>
              <a:rPr lang="en-US" baseline="0" dirty="0"/>
              <a:t> </a:t>
            </a:r>
            <a:r>
              <a:rPr lang="en-US" baseline="0" dirty="0" err="1"/>
              <a:t>mỗi</a:t>
            </a:r>
            <a:r>
              <a:rPr lang="en-US" baseline="0" dirty="0"/>
              <a:t> </a:t>
            </a:r>
            <a:r>
              <a:rPr lang="en-US" baseline="0" dirty="0" err="1"/>
              <a:t>gói</a:t>
            </a:r>
            <a:r>
              <a:rPr lang="en-US" baseline="0" dirty="0"/>
              <a:t>, </a:t>
            </a:r>
            <a:r>
              <a:rPr lang="en-US" baseline="0" dirty="0" err="1"/>
              <a:t>bên</a:t>
            </a:r>
            <a:r>
              <a:rPr lang="en-US" baseline="0" dirty="0"/>
              <a:t> </a:t>
            </a:r>
            <a:r>
              <a:rPr lang="en-US" baseline="0" dirty="0" err="1"/>
              <a:t>nhận</a:t>
            </a:r>
            <a:r>
              <a:rPr lang="en-US" baseline="0" dirty="0"/>
              <a:t> </a:t>
            </a:r>
            <a:r>
              <a:rPr lang="en-US" baseline="0" dirty="0" err="1"/>
              <a:t>kiểm</a:t>
            </a:r>
            <a:r>
              <a:rPr lang="en-US" baseline="0" dirty="0"/>
              <a:t> </a:t>
            </a:r>
            <a:r>
              <a:rPr lang="en-US" baseline="0" dirty="0" err="1"/>
              <a:t>tra</a:t>
            </a:r>
            <a:r>
              <a:rPr lang="en-US" baseline="0" dirty="0"/>
              <a:t> </a:t>
            </a:r>
            <a:r>
              <a:rPr lang="en-US" baseline="0" dirty="0" err="1"/>
              <a:t>lỗi</a:t>
            </a:r>
            <a:r>
              <a:rPr lang="en-US" baseline="0" dirty="0"/>
              <a:t> </a:t>
            </a:r>
            <a:r>
              <a:rPr lang="en-US" baseline="0" dirty="0" err="1"/>
              <a:t>và</a:t>
            </a:r>
            <a:r>
              <a:rPr lang="en-US" baseline="0" dirty="0"/>
              <a:t> </a:t>
            </a:r>
            <a:r>
              <a:rPr lang="en-US" baseline="0" dirty="0" err="1"/>
              <a:t>dùng</a:t>
            </a:r>
            <a:r>
              <a:rPr lang="en-US" baseline="0" dirty="0"/>
              <a:t> </a:t>
            </a:r>
            <a:r>
              <a:rPr lang="en-US" baseline="0" dirty="0" err="1"/>
              <a:t>thông</a:t>
            </a:r>
            <a:r>
              <a:rPr lang="en-US" baseline="0" dirty="0"/>
              <a:t> </a:t>
            </a:r>
            <a:r>
              <a:rPr lang="en-US" baseline="0" dirty="0" err="1"/>
              <a:t>điệp</a:t>
            </a:r>
            <a:r>
              <a:rPr lang="en-US" baseline="0" dirty="0"/>
              <a:t> </a:t>
            </a:r>
            <a:r>
              <a:rPr lang="en-US" baseline="0" dirty="0" err="1"/>
              <a:t>điều</a:t>
            </a:r>
            <a:r>
              <a:rPr lang="en-US" baseline="0" dirty="0"/>
              <a:t> </a:t>
            </a:r>
            <a:r>
              <a:rPr lang="en-US" baseline="0" dirty="0" err="1"/>
              <a:t>khiển</a:t>
            </a:r>
            <a:r>
              <a:rPr lang="en-US" baseline="0" dirty="0"/>
              <a:t> </a:t>
            </a:r>
            <a:r>
              <a:rPr lang="en-US" baseline="0" dirty="0" err="1"/>
              <a:t>để</a:t>
            </a:r>
            <a:r>
              <a:rPr lang="en-US" baseline="0" dirty="0"/>
              <a:t> </a:t>
            </a:r>
            <a:r>
              <a:rPr lang="en-US" baseline="0" dirty="0" err="1"/>
              <a:t>báo</a:t>
            </a:r>
            <a:r>
              <a:rPr lang="en-US" baseline="0" dirty="0"/>
              <a:t> </a:t>
            </a:r>
            <a:r>
              <a:rPr lang="en-US" baseline="0" dirty="0" err="1"/>
              <a:t>cho</a:t>
            </a:r>
            <a:r>
              <a:rPr lang="en-US" baseline="0" dirty="0"/>
              <a:t> </a:t>
            </a:r>
            <a:r>
              <a:rPr lang="en-US" baseline="0" dirty="0" err="1"/>
              <a:t>bên</a:t>
            </a:r>
            <a:r>
              <a:rPr lang="en-US" baseline="0" dirty="0"/>
              <a:t> </a:t>
            </a:r>
            <a:r>
              <a:rPr lang="en-US" baseline="0" dirty="0" err="1"/>
              <a:t>nhận</a:t>
            </a:r>
            <a:endParaRPr lang="en-US" baseline="0" dirty="0"/>
          </a:p>
          <a:p>
            <a:pPr marL="171450" indent="-171450">
              <a:buFontTx/>
              <a:buChar char="-"/>
            </a:pPr>
            <a:r>
              <a:rPr lang="en-US" baseline="0" dirty="0" err="1"/>
              <a:t>gói</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lỗi</a:t>
            </a:r>
            <a:r>
              <a:rPr lang="en-US" baseline="0" dirty="0"/>
              <a:t> (ACK - </a:t>
            </a:r>
            <a:r>
              <a:rPr lang="en-US" sz="1200" i="1" kern="1200" dirty="0">
                <a:solidFill>
                  <a:schemeClr val="tx1"/>
                </a:solidFill>
                <a:effectLst/>
                <a:latin typeface="+mn-lt"/>
                <a:ea typeface="+mn-ea"/>
                <a:cs typeface="+mn-cs"/>
              </a:rPr>
              <a:t>acknowledgement /</a:t>
            </a:r>
            <a:r>
              <a:rPr lang="en-US" sz="1200" i="1" kern="1200" dirty="0" err="1">
                <a:solidFill>
                  <a:schemeClr val="tx1"/>
                </a:solidFill>
                <a:effectLst/>
                <a:latin typeface="+mn-lt"/>
                <a:ea typeface="+mn-ea"/>
                <a:cs typeface="+mn-cs"/>
              </a:rPr>
              <a:t>ək'nɔlidʤmənt</a:t>
            </a:r>
            <a:r>
              <a:rPr lang="en-US" sz="1200" i="1" kern="1200" dirty="0">
                <a:solidFill>
                  <a:schemeClr val="tx1"/>
                </a:solidFill>
                <a:effectLst/>
                <a:latin typeface="+mn-lt"/>
                <a:ea typeface="+mn-ea"/>
                <a:cs typeface="+mn-cs"/>
              </a:rPr>
              <a:t>/ </a:t>
            </a:r>
            <a:r>
              <a:rPr lang="en-US" baseline="0" dirty="0"/>
              <a:t>) </a:t>
            </a:r>
          </a:p>
          <a:p>
            <a:pPr marL="171450" indent="-171450">
              <a:buFontTx/>
              <a:buChar char="-"/>
            </a:pPr>
            <a:r>
              <a:rPr lang="en-US" baseline="0" dirty="0" err="1"/>
              <a:t>hoặc</a:t>
            </a:r>
            <a:r>
              <a:rPr lang="en-US" baseline="0" dirty="0"/>
              <a:t> </a:t>
            </a:r>
            <a:r>
              <a:rPr lang="en-US" baseline="0" dirty="0" err="1"/>
              <a:t>gói</a:t>
            </a:r>
            <a:r>
              <a:rPr lang="en-US" baseline="0" dirty="0"/>
              <a:t> </a:t>
            </a:r>
            <a:r>
              <a:rPr lang="en-US" baseline="0" dirty="0" err="1"/>
              <a:t>bị</a:t>
            </a:r>
            <a:r>
              <a:rPr lang="en-US" baseline="0" dirty="0"/>
              <a:t> </a:t>
            </a:r>
            <a:r>
              <a:rPr lang="en-US" baseline="0" dirty="0" err="1"/>
              <a:t>lỗi</a:t>
            </a:r>
            <a:r>
              <a:rPr lang="en-US" baseline="0" dirty="0"/>
              <a:t> (NAK)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phản</a:t>
            </a:r>
            <a:r>
              <a:rPr lang="en-US" baseline="0" dirty="0"/>
              <a:t> </a:t>
            </a:r>
            <a:r>
              <a:rPr lang="en-US" baseline="0" dirty="0" err="1"/>
              <a:t>hồi</a:t>
            </a:r>
            <a:r>
              <a:rPr lang="en-US" baseline="0" dirty="0"/>
              <a:t> </a:t>
            </a:r>
            <a:r>
              <a:rPr lang="en-US" baseline="0" dirty="0" err="1"/>
              <a:t>chỉ</a:t>
            </a:r>
            <a:r>
              <a:rPr lang="en-US" baseline="0" dirty="0"/>
              <a:t> </a:t>
            </a:r>
            <a:r>
              <a:rPr lang="en-US" baseline="0" dirty="0" err="1"/>
              <a:t>dùng</a:t>
            </a:r>
            <a:r>
              <a:rPr lang="en-US" baseline="0" dirty="0"/>
              <a:t> 1 bit: </a:t>
            </a:r>
            <a:r>
              <a:rPr lang="en-US" baseline="0" dirty="0" err="1"/>
              <a:t>ví</a:t>
            </a:r>
            <a:r>
              <a:rPr lang="en-US" baseline="0" dirty="0"/>
              <a:t> </a:t>
            </a:r>
            <a:r>
              <a:rPr lang="en-US" baseline="0" dirty="0" err="1"/>
              <a:t>dụ</a:t>
            </a:r>
            <a:r>
              <a:rPr lang="en-US" baseline="0" dirty="0"/>
              <a:t> </a:t>
            </a:r>
            <a:r>
              <a:rPr lang="en-US" baseline="0" dirty="0" err="1"/>
              <a:t>giá</a:t>
            </a:r>
            <a:r>
              <a:rPr lang="en-US" baseline="0" dirty="0"/>
              <a:t> </a:t>
            </a:r>
            <a:r>
              <a:rPr lang="en-US" baseline="0" dirty="0" err="1"/>
              <a:t>trị</a:t>
            </a:r>
            <a:r>
              <a:rPr lang="en-US" baseline="0" dirty="0"/>
              <a:t> 0 </a:t>
            </a:r>
            <a:r>
              <a:rPr lang="en-US" baseline="0" dirty="0" err="1"/>
              <a:t>ứng</a:t>
            </a:r>
            <a:r>
              <a:rPr lang="en-US" baseline="0" dirty="0"/>
              <a:t> </a:t>
            </a:r>
            <a:r>
              <a:rPr lang="en-US" baseline="0" dirty="0" err="1"/>
              <a:t>với</a:t>
            </a:r>
            <a:r>
              <a:rPr lang="en-US" baseline="0" dirty="0"/>
              <a:t> NAK, </a:t>
            </a:r>
            <a:r>
              <a:rPr lang="en-US" baseline="0" dirty="0" err="1"/>
              <a:t>giá</a:t>
            </a:r>
            <a:r>
              <a:rPr lang="en-US" baseline="0" dirty="0"/>
              <a:t> </a:t>
            </a:r>
            <a:r>
              <a:rPr lang="en-US" baseline="0" dirty="0" err="1"/>
              <a:t>trị</a:t>
            </a:r>
            <a:r>
              <a:rPr lang="en-US" baseline="0" dirty="0"/>
              <a:t> 1 </a:t>
            </a:r>
            <a:r>
              <a:rPr lang="en-US" baseline="0" dirty="0" err="1"/>
              <a:t>ứng</a:t>
            </a:r>
            <a:r>
              <a:rPr lang="en-US" baseline="0" dirty="0"/>
              <a:t> </a:t>
            </a:r>
            <a:r>
              <a:rPr lang="en-US" baseline="0" dirty="0" err="1"/>
              <a:t>với</a:t>
            </a:r>
            <a:r>
              <a:rPr lang="en-US" baseline="0" dirty="0"/>
              <a:t> ACK), </a:t>
            </a:r>
          </a:p>
          <a:p>
            <a:pPr marL="171450" indent="-171450">
              <a:buFontTx/>
              <a:buChar char="-"/>
            </a:pPr>
            <a:r>
              <a:rPr lang="en-US" baseline="0" dirty="0" err="1"/>
              <a:t>khi</a:t>
            </a:r>
            <a:r>
              <a:rPr lang="en-US" baseline="0" dirty="0"/>
              <a:t> </a:t>
            </a:r>
            <a:r>
              <a:rPr lang="en-US" baseline="0" dirty="0" err="1"/>
              <a:t>bên</a:t>
            </a:r>
            <a:r>
              <a:rPr lang="en-US" baseline="0" dirty="0"/>
              <a:t> </a:t>
            </a:r>
            <a:r>
              <a:rPr lang="en-US" baseline="0" dirty="0" err="1"/>
              <a:t>gửi</a:t>
            </a:r>
            <a:r>
              <a:rPr lang="en-US" baseline="0" dirty="0"/>
              <a:t> </a:t>
            </a:r>
            <a:r>
              <a:rPr lang="en-US" baseline="0" dirty="0" err="1"/>
              <a:t>nhận</a:t>
            </a:r>
            <a:r>
              <a:rPr lang="en-US" baseline="0" dirty="0"/>
              <a:t> </a:t>
            </a:r>
            <a:r>
              <a:rPr lang="en-US" baseline="0" dirty="0" err="1"/>
              <a:t>được</a:t>
            </a:r>
            <a:r>
              <a:rPr lang="en-US" baseline="0" dirty="0"/>
              <a:t> NAK </a:t>
            </a:r>
            <a:r>
              <a:rPr lang="en-US" baseline="0" dirty="0" err="1"/>
              <a:t>thì</a:t>
            </a:r>
            <a:r>
              <a:rPr lang="en-US" baseline="0" dirty="0"/>
              <a:t> </a:t>
            </a:r>
            <a:r>
              <a:rPr lang="en-US" baseline="0" dirty="0" err="1"/>
              <a:t>bên</a:t>
            </a:r>
            <a:r>
              <a:rPr lang="en-US" baseline="0" dirty="0"/>
              <a:t> </a:t>
            </a:r>
            <a:r>
              <a:rPr lang="en-US" baseline="0" dirty="0" err="1"/>
              <a:t>gửi</a:t>
            </a:r>
            <a:r>
              <a:rPr lang="en-US" baseline="0" dirty="0"/>
              <a:t> </a:t>
            </a:r>
            <a:r>
              <a:rPr lang="en-US" baseline="0" dirty="0" err="1"/>
              <a:t>truyền</a:t>
            </a:r>
            <a:r>
              <a:rPr lang="en-US" baseline="0" dirty="0"/>
              <a:t> </a:t>
            </a:r>
            <a:r>
              <a:rPr lang="en-US" baseline="0" dirty="0" err="1"/>
              <a:t>lại</a:t>
            </a:r>
            <a:r>
              <a:rPr lang="en-US" baseline="0" dirty="0"/>
              <a:t> </a:t>
            </a:r>
            <a:r>
              <a:rPr lang="en-US" baseline="0" dirty="0" err="1"/>
              <a:t>gói</a:t>
            </a:r>
            <a:r>
              <a:rPr lang="en-US" baseline="0" dirty="0"/>
              <a:t> tin</a:t>
            </a:r>
          </a:p>
          <a:p>
            <a:pPr marL="0" indent="0">
              <a:buFontTx/>
              <a:buNone/>
            </a:pPr>
            <a:r>
              <a:rPr lang="en-US" baseline="0" dirty="0"/>
              <a:t>     </a:t>
            </a:r>
            <a:r>
              <a:rPr lang="en-US" baseline="0" dirty="0" err="1"/>
              <a:t>Trong</a:t>
            </a:r>
            <a:r>
              <a:rPr lang="en-US" baseline="0" dirty="0"/>
              <a:t> </a:t>
            </a:r>
            <a:r>
              <a:rPr lang="en-US" baseline="0" dirty="0" err="1"/>
              <a:t>mạng</a:t>
            </a:r>
            <a:r>
              <a:rPr lang="en-US" baseline="0" dirty="0"/>
              <a:t> </a:t>
            </a:r>
            <a:r>
              <a:rPr lang="en-US" baseline="0" dirty="0" err="1"/>
              <a:t>máy</a:t>
            </a:r>
            <a:r>
              <a:rPr lang="en-US" baseline="0" dirty="0"/>
              <a:t> </a:t>
            </a:r>
            <a:r>
              <a:rPr lang="en-US" baseline="0" dirty="0" err="1"/>
              <a:t>tính</a:t>
            </a:r>
            <a:r>
              <a:rPr lang="en-US" baseline="0" dirty="0"/>
              <a:t>, </a:t>
            </a:r>
            <a:r>
              <a:rPr lang="en-US" baseline="0" dirty="0" err="1"/>
              <a:t>giao</a:t>
            </a:r>
            <a:r>
              <a:rPr lang="en-US" baseline="0" dirty="0"/>
              <a:t> </a:t>
            </a:r>
            <a:r>
              <a:rPr lang="en-US" baseline="0" dirty="0" err="1"/>
              <a:t>thức</a:t>
            </a:r>
            <a:r>
              <a:rPr lang="en-US" baseline="0" dirty="0"/>
              <a:t> </a:t>
            </a:r>
            <a:r>
              <a:rPr lang="en-US" baseline="0" dirty="0" err="1"/>
              <a:t>truyền</a:t>
            </a:r>
            <a:r>
              <a:rPr lang="en-US" baseline="0" dirty="0"/>
              <a:t> </a:t>
            </a:r>
            <a:r>
              <a:rPr lang="en-US" baseline="0" dirty="0" err="1"/>
              <a:t>theo</a:t>
            </a:r>
            <a:r>
              <a:rPr lang="en-US" baseline="0" dirty="0"/>
              <a:t> </a:t>
            </a:r>
            <a:r>
              <a:rPr lang="en-US" baseline="0" dirty="0" err="1"/>
              <a:t>cơ</a:t>
            </a:r>
            <a:r>
              <a:rPr lang="en-US" baseline="0" dirty="0"/>
              <a:t> </a:t>
            </a:r>
            <a:r>
              <a:rPr lang="en-US" baseline="0" dirty="0" err="1"/>
              <a:t>chế</a:t>
            </a:r>
            <a:r>
              <a:rPr lang="en-US" baseline="0" dirty="0"/>
              <a:t> </a:t>
            </a:r>
            <a:r>
              <a:rPr lang="en-US" baseline="0" dirty="0" err="1"/>
              <a:t>này</a:t>
            </a:r>
            <a:r>
              <a:rPr lang="en-US" baseline="0" dirty="0"/>
              <a:t> </a:t>
            </a:r>
            <a:r>
              <a:rPr lang="en-US" baseline="0" dirty="0" err="1"/>
              <a:t>gọi</a:t>
            </a:r>
            <a:r>
              <a:rPr lang="en-US" baseline="0" dirty="0"/>
              <a:t> </a:t>
            </a:r>
            <a:r>
              <a:rPr lang="en-US" baseline="0" dirty="0" err="1"/>
              <a:t>là</a:t>
            </a:r>
            <a:r>
              <a:rPr lang="en-US" baseline="0" dirty="0"/>
              <a:t> </a:t>
            </a:r>
            <a:r>
              <a:rPr lang="en-US" baseline="0" dirty="0" err="1"/>
              <a:t>giao</a:t>
            </a:r>
            <a:r>
              <a:rPr lang="en-US" baseline="0" dirty="0"/>
              <a:t> </a:t>
            </a:r>
            <a:r>
              <a:rPr lang="en-US" baseline="0" dirty="0" err="1"/>
              <a:t>thức</a:t>
            </a:r>
            <a:r>
              <a:rPr lang="en-US" baseline="0" dirty="0"/>
              <a:t> ARQ (Automatic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ɔ:tə'mætik</a:t>
            </a:r>
            <a:r>
              <a:rPr lang="en-US" sz="1200" i="1" kern="1200" dirty="0">
                <a:solidFill>
                  <a:schemeClr val="tx1"/>
                </a:solidFill>
                <a:effectLst/>
                <a:latin typeface="+mn-lt"/>
                <a:ea typeface="+mn-ea"/>
                <a:cs typeface="+mn-cs"/>
              </a:rPr>
              <a:t>/ )</a:t>
            </a:r>
            <a:r>
              <a:rPr lang="en-US" baseline="0" dirty="0"/>
              <a:t>Repeat request)</a:t>
            </a:r>
          </a:p>
          <a:p>
            <a:pPr marL="171450" indent="-171450">
              <a:buFontTx/>
              <a:buChar char="-"/>
            </a:pPr>
            <a:r>
              <a:rPr lang="en-US" baseline="0" dirty="0"/>
              <a:t>ccc</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27</a:t>
            </a:fld>
            <a:endParaRPr lang="en-US"/>
          </a:p>
        </p:txBody>
      </p:sp>
    </p:spTree>
    <p:extLst>
      <p:ext uri="{BB962C8B-B14F-4D97-AF65-F5344CB8AC3E}">
        <p14:creationId xmlns:p14="http://schemas.microsoft.com/office/powerpoint/2010/main" val="4074243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Rdt</a:t>
            </a:r>
            <a:r>
              <a:rPr lang="en-US" dirty="0"/>
              <a:t> 2.1: </a:t>
            </a:r>
            <a:r>
              <a:rPr lang="en-US" dirty="0" err="1"/>
              <a:t>Trường</a:t>
            </a:r>
            <a:r>
              <a:rPr lang="en-US" baseline="0" dirty="0"/>
              <a:t> </a:t>
            </a:r>
            <a:r>
              <a:rPr lang="en-US" baseline="0" dirty="0" err="1"/>
              <a:t>hợp</a:t>
            </a:r>
            <a:r>
              <a:rPr lang="en-US" baseline="0" dirty="0"/>
              <a:t> ACK/NAK </a:t>
            </a:r>
            <a:r>
              <a:rPr lang="en-US" baseline="0" dirty="0" err="1"/>
              <a:t>có</a:t>
            </a:r>
            <a:r>
              <a:rPr lang="en-US" baseline="0" dirty="0"/>
              <a:t> </a:t>
            </a:r>
            <a:r>
              <a:rPr lang="en-US" baseline="0" dirty="0" err="1"/>
              <a:t>lỗi</a:t>
            </a:r>
            <a:endParaRPr lang="en-US" dirty="0"/>
          </a:p>
          <a:p>
            <a:pPr marL="171450" indent="-171450">
              <a:buFontTx/>
              <a:buChar char="-"/>
            </a:pPr>
            <a:r>
              <a:rPr lang="en-US" baseline="0" dirty="0" err="1"/>
              <a:t>Phát</a:t>
            </a:r>
            <a:r>
              <a:rPr lang="en-US" baseline="0" dirty="0"/>
              <a:t> </a:t>
            </a:r>
            <a:r>
              <a:rPr lang="en-US" baseline="0" dirty="0" err="1"/>
              <a:t>hiện</a:t>
            </a:r>
            <a:r>
              <a:rPr lang="en-US" baseline="0" dirty="0"/>
              <a:t> ACK/NAK </a:t>
            </a:r>
            <a:r>
              <a:rPr lang="en-US" baseline="0" dirty="0" err="1"/>
              <a:t>có</a:t>
            </a:r>
            <a:r>
              <a:rPr lang="en-US" baseline="0" dirty="0"/>
              <a:t> </a:t>
            </a:r>
            <a:r>
              <a:rPr lang="en-US" baseline="0" dirty="0" err="1"/>
              <a:t>lỗi</a:t>
            </a:r>
            <a:r>
              <a:rPr lang="en-US" baseline="0" dirty="0"/>
              <a:t> =&gt; </a:t>
            </a:r>
            <a:r>
              <a:rPr lang="en-US" baseline="0" dirty="0" err="1"/>
              <a:t>truyền</a:t>
            </a:r>
            <a:r>
              <a:rPr lang="en-US" baseline="0" dirty="0"/>
              <a:t> </a:t>
            </a:r>
            <a:r>
              <a:rPr lang="en-US" baseline="0" dirty="0" err="1"/>
              <a:t>lại</a:t>
            </a:r>
            <a:r>
              <a:rPr lang="en-US" baseline="0" dirty="0"/>
              <a:t> </a:t>
            </a:r>
            <a:r>
              <a:rPr lang="en-US" baseline="0" dirty="0" err="1"/>
              <a:t>gói</a:t>
            </a:r>
            <a:r>
              <a:rPr lang="en-US" baseline="0" dirty="0"/>
              <a:t> tin, do </a:t>
            </a:r>
            <a:r>
              <a:rPr lang="en-US" baseline="0" dirty="0" err="1"/>
              <a:t>đó</a:t>
            </a:r>
            <a:r>
              <a:rPr lang="en-US" baseline="0" dirty="0"/>
              <a:t> </a:t>
            </a:r>
            <a:r>
              <a:rPr lang="en-US" baseline="0" dirty="0" err="1"/>
              <a:t>có</a:t>
            </a:r>
            <a:r>
              <a:rPr lang="en-US" baseline="0" dirty="0"/>
              <a:t> </a:t>
            </a:r>
            <a:r>
              <a:rPr lang="en-US" baseline="0" dirty="0" err="1"/>
              <a:t>thể</a:t>
            </a:r>
            <a:r>
              <a:rPr lang="en-US" baseline="0" dirty="0"/>
              <a:t> </a:t>
            </a:r>
            <a:r>
              <a:rPr lang="en-US" baseline="0" dirty="0" err="1"/>
              <a:t>xảy</a:t>
            </a:r>
            <a:r>
              <a:rPr lang="en-US" baseline="0" dirty="0"/>
              <a:t> </a:t>
            </a:r>
            <a:r>
              <a:rPr lang="en-US" baseline="0" dirty="0" err="1"/>
              <a:t>ra</a:t>
            </a:r>
            <a:r>
              <a:rPr lang="en-US" baseline="0" dirty="0"/>
              <a:t> </a:t>
            </a:r>
            <a:r>
              <a:rPr lang="en-US" baseline="0" dirty="0" err="1"/>
              <a:t>trùng</a:t>
            </a:r>
            <a:r>
              <a:rPr lang="en-US" baseline="0" dirty="0"/>
              <a:t> </a:t>
            </a:r>
            <a:r>
              <a:rPr lang="en-US" baseline="0" dirty="0" err="1"/>
              <a:t>lặp</a:t>
            </a:r>
            <a:endParaRPr lang="en-US" baseline="0" dirty="0"/>
          </a:p>
          <a:p>
            <a:pPr marL="171450" indent="-171450">
              <a:buFontTx/>
              <a:buChar char="-"/>
            </a:pPr>
            <a:r>
              <a:rPr lang="en-US" baseline="0" dirty="0" err="1"/>
              <a:t>Sử</a:t>
            </a:r>
            <a:r>
              <a:rPr lang="en-US" baseline="0" dirty="0"/>
              <a:t> </a:t>
            </a:r>
            <a:r>
              <a:rPr lang="en-US" baseline="0" dirty="0" err="1"/>
              <a:t>dụng</a:t>
            </a:r>
            <a:r>
              <a:rPr lang="en-US" baseline="0" dirty="0"/>
              <a:t> </a:t>
            </a:r>
            <a:r>
              <a:rPr lang="en-US" baseline="0" dirty="0" err="1"/>
              <a:t>số</a:t>
            </a:r>
            <a:r>
              <a:rPr lang="en-US" baseline="0" dirty="0"/>
              <a:t> </a:t>
            </a:r>
            <a:r>
              <a:rPr lang="en-US" baseline="0" dirty="0" err="1"/>
              <a:t>trình</a:t>
            </a:r>
            <a:r>
              <a:rPr lang="en-US" baseline="0" dirty="0"/>
              <a:t> </a:t>
            </a:r>
            <a:r>
              <a:rPr lang="en-US" baseline="0" dirty="0" err="1"/>
              <a:t>tự</a:t>
            </a:r>
            <a:r>
              <a:rPr lang="en-US" baseline="0" dirty="0"/>
              <a:t> </a:t>
            </a:r>
            <a:r>
              <a:rPr lang="en-US" baseline="0" dirty="0" err="1"/>
              <a:t>gói</a:t>
            </a:r>
            <a:r>
              <a:rPr lang="en-US" baseline="0" dirty="0"/>
              <a:t> </a:t>
            </a:r>
            <a:r>
              <a:rPr lang="en-US" baseline="0" dirty="0" err="1"/>
              <a:t>để</a:t>
            </a:r>
            <a:r>
              <a:rPr lang="en-US" baseline="0" dirty="0"/>
              <a:t> </a:t>
            </a:r>
            <a:r>
              <a:rPr lang="en-US" baseline="0" dirty="0" err="1"/>
              <a:t>phát</a:t>
            </a:r>
            <a:r>
              <a:rPr lang="en-US" baseline="0" dirty="0"/>
              <a:t> </a:t>
            </a:r>
            <a:r>
              <a:rPr lang="en-US" baseline="0" dirty="0" err="1"/>
              <a:t>hiện</a:t>
            </a:r>
            <a:r>
              <a:rPr lang="en-US" baseline="0" dirty="0"/>
              <a:t> </a:t>
            </a:r>
            <a:r>
              <a:rPr lang="en-US" baseline="0" dirty="0" err="1"/>
              <a:t>trùng</a:t>
            </a:r>
            <a:r>
              <a:rPr lang="en-US" baseline="0" dirty="0"/>
              <a:t> </a:t>
            </a:r>
            <a:r>
              <a:rPr lang="en-US" baseline="0" dirty="0" err="1"/>
              <a:t>lặp</a:t>
            </a:r>
            <a:endParaRPr lang="en-US" baseline="0" dirty="0"/>
          </a:p>
          <a:p>
            <a:pPr marL="171450" indent="-171450">
              <a:buFontTx/>
              <a:buChar char="-"/>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28</a:t>
            </a:fld>
            <a:endParaRPr lang="en-US"/>
          </a:p>
        </p:txBody>
      </p:sp>
    </p:spTree>
    <p:extLst>
      <p:ext uri="{BB962C8B-B14F-4D97-AF65-F5344CB8AC3E}">
        <p14:creationId xmlns:p14="http://schemas.microsoft.com/office/powerpoint/2010/main" val="2660786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Rdt</a:t>
            </a:r>
            <a:r>
              <a:rPr lang="en-US" dirty="0"/>
              <a:t> 2.2</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29</a:t>
            </a:fld>
            <a:endParaRPr lang="en-US"/>
          </a:p>
        </p:txBody>
      </p:sp>
    </p:spTree>
    <p:extLst>
      <p:ext uri="{BB962C8B-B14F-4D97-AF65-F5344CB8AC3E}">
        <p14:creationId xmlns:p14="http://schemas.microsoft.com/office/powerpoint/2010/main" val="28134443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err="1"/>
              <a:t>Rdt</a:t>
            </a:r>
            <a:r>
              <a:rPr lang="en-US" baseline="0" dirty="0"/>
              <a:t> 3.0 </a:t>
            </a:r>
          </a:p>
          <a:p>
            <a:r>
              <a:rPr lang="en-US" dirty="0" err="1"/>
              <a:t>Xét</a:t>
            </a:r>
            <a:r>
              <a:rPr lang="en-US" baseline="0" dirty="0"/>
              <a:t> 3 </a:t>
            </a:r>
            <a:r>
              <a:rPr lang="en-US" baseline="0" dirty="0" err="1"/>
              <a:t>trường</a:t>
            </a:r>
            <a:r>
              <a:rPr lang="en-US" baseline="0" dirty="0"/>
              <a:t> </a:t>
            </a:r>
            <a:r>
              <a:rPr lang="en-US" baseline="0" dirty="0" err="1"/>
              <a:t>hợp</a:t>
            </a:r>
            <a:r>
              <a:rPr lang="en-US" baseline="0" dirty="0"/>
              <a:t> </a:t>
            </a:r>
            <a:r>
              <a:rPr lang="en-US" baseline="0" dirty="0" err="1"/>
              <a:t>tiếp</a:t>
            </a:r>
            <a:r>
              <a:rPr lang="en-US" baseline="0" dirty="0"/>
              <a:t>: </a:t>
            </a:r>
          </a:p>
          <a:p>
            <a:pPr marL="171450" indent="-171450">
              <a:buFontTx/>
              <a:buChar char="-"/>
            </a:pPr>
            <a:r>
              <a:rPr lang="en-US" baseline="0" dirty="0"/>
              <a:t>1)</a:t>
            </a:r>
            <a:r>
              <a:rPr lang="en-US" baseline="0" dirty="0" err="1"/>
              <a:t>gói</a:t>
            </a:r>
            <a:r>
              <a:rPr lang="en-US" baseline="0" dirty="0"/>
              <a:t> tin </a:t>
            </a:r>
            <a:r>
              <a:rPr lang="en-US" baseline="0" dirty="0" err="1"/>
              <a:t>gửi</a:t>
            </a:r>
            <a:r>
              <a:rPr lang="en-US" baseline="0" dirty="0"/>
              <a:t> </a:t>
            </a:r>
            <a:r>
              <a:rPr lang="en-US" baseline="0" dirty="0" err="1"/>
              <a:t>mất</a:t>
            </a:r>
            <a:endParaRPr lang="en-US" baseline="0" dirty="0"/>
          </a:p>
          <a:p>
            <a:pPr marL="171450" indent="-171450">
              <a:buFontTx/>
              <a:buChar char="-"/>
            </a:pPr>
            <a:r>
              <a:rPr lang="en-US" baseline="0" dirty="0"/>
              <a:t>2) </a:t>
            </a:r>
            <a:r>
              <a:rPr lang="en-US" baseline="0" dirty="0" err="1"/>
              <a:t>gói</a:t>
            </a:r>
            <a:r>
              <a:rPr lang="en-US" baseline="0" dirty="0"/>
              <a:t> tin </a:t>
            </a:r>
            <a:r>
              <a:rPr lang="en-US" baseline="0" dirty="0" err="1"/>
              <a:t>đến</a:t>
            </a:r>
            <a:r>
              <a:rPr lang="en-US" baseline="0" dirty="0"/>
              <a:t> </a:t>
            </a:r>
            <a:r>
              <a:rPr lang="en-US" baseline="0" dirty="0" err="1"/>
              <a:t>được</a:t>
            </a:r>
            <a:r>
              <a:rPr lang="en-US" baseline="0" dirty="0"/>
              <a:t> </a:t>
            </a:r>
            <a:r>
              <a:rPr lang="en-US" baseline="0" dirty="0" err="1"/>
              <a:t>bên</a:t>
            </a:r>
            <a:r>
              <a:rPr lang="en-US" baseline="0" dirty="0"/>
              <a:t> </a:t>
            </a:r>
            <a:r>
              <a:rPr lang="en-US" baseline="0" dirty="0" err="1"/>
              <a:t>nhận</a:t>
            </a:r>
            <a:r>
              <a:rPr lang="en-US" baseline="0" dirty="0"/>
              <a:t> </a:t>
            </a:r>
            <a:r>
              <a:rPr lang="en-US" baseline="0" dirty="0" err="1"/>
              <a:t>nhưng</a:t>
            </a:r>
            <a:r>
              <a:rPr lang="en-US" baseline="0" dirty="0"/>
              <a:t> </a:t>
            </a:r>
            <a:r>
              <a:rPr lang="en-US" baseline="0" dirty="0" err="1"/>
              <a:t>mất</a:t>
            </a:r>
            <a:r>
              <a:rPr lang="en-US" baseline="0" dirty="0"/>
              <a:t> ACK</a:t>
            </a:r>
          </a:p>
          <a:p>
            <a:pPr marL="171450" indent="-171450">
              <a:buFontTx/>
              <a:buChar char="-"/>
            </a:pPr>
            <a:r>
              <a:rPr lang="en-US" baseline="0" dirty="0"/>
              <a:t>3) </a:t>
            </a:r>
            <a:r>
              <a:rPr lang="en-US" baseline="0" dirty="0" err="1"/>
              <a:t>Gói</a:t>
            </a:r>
            <a:r>
              <a:rPr lang="en-US" baseline="0" dirty="0"/>
              <a:t> tin </a:t>
            </a:r>
            <a:r>
              <a:rPr lang="en-US" baseline="0" dirty="0" err="1"/>
              <a:t>đến</a:t>
            </a:r>
            <a:r>
              <a:rPr lang="en-US" baseline="0" dirty="0"/>
              <a:t> </a:t>
            </a:r>
            <a:r>
              <a:rPr lang="en-US" baseline="0" dirty="0" err="1"/>
              <a:t>bên</a:t>
            </a:r>
            <a:r>
              <a:rPr lang="en-US" baseline="0" dirty="0"/>
              <a:t> </a:t>
            </a:r>
            <a:r>
              <a:rPr lang="en-US" baseline="0" dirty="0" err="1"/>
              <a:t>nhận</a:t>
            </a:r>
            <a:r>
              <a:rPr lang="en-US" baseline="0" dirty="0"/>
              <a:t> </a:t>
            </a:r>
            <a:r>
              <a:rPr lang="en-US" baseline="0" dirty="0" err="1"/>
              <a:t>nhưng</a:t>
            </a:r>
            <a:r>
              <a:rPr lang="en-US" baseline="0" dirty="0"/>
              <a:t> timeout </a:t>
            </a:r>
            <a:r>
              <a:rPr lang="en-US" baseline="0" dirty="0" err="1"/>
              <a:t>quá</a:t>
            </a:r>
            <a:r>
              <a:rPr lang="en-US" baseline="0" dirty="0"/>
              <a:t> </a:t>
            </a:r>
            <a:r>
              <a:rPr lang="en-US" baseline="0" dirty="0" err="1"/>
              <a:t>ngắn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30</a:t>
            </a:fld>
            <a:endParaRPr lang="en-US"/>
          </a:p>
        </p:txBody>
      </p:sp>
    </p:spTree>
    <p:extLst>
      <p:ext uri="{BB962C8B-B14F-4D97-AF65-F5344CB8AC3E}">
        <p14:creationId xmlns:p14="http://schemas.microsoft.com/office/powerpoint/2010/main" val="873180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Mục</a:t>
            </a:r>
            <a:r>
              <a:rPr lang="en-US" baseline="0" dirty="0"/>
              <a:t> 3.4.2 </a:t>
            </a:r>
            <a:r>
              <a:rPr lang="en-US" baseline="0" dirty="0" err="1"/>
              <a:t>trang</a:t>
            </a:r>
            <a:r>
              <a:rPr lang="en-US" baseline="0" dirty="0"/>
              <a:t> 112</a:t>
            </a:r>
          </a:p>
          <a:p>
            <a:pPr marL="171450" indent="-171450">
              <a:buFontTx/>
              <a:buChar char="-"/>
            </a:pPr>
            <a:r>
              <a:rPr lang="en-US" baseline="0" dirty="0" err="1"/>
              <a:t>Các</a:t>
            </a:r>
            <a:r>
              <a:rPr lang="en-US" baseline="0" dirty="0"/>
              <a:t> </a:t>
            </a:r>
            <a:r>
              <a:rPr lang="en-US" baseline="0" dirty="0" err="1"/>
              <a:t>giải</a:t>
            </a:r>
            <a:r>
              <a:rPr lang="en-US" baseline="0" dirty="0"/>
              <a:t> </a:t>
            </a:r>
            <a:r>
              <a:rPr lang="en-US" baseline="0" dirty="0" err="1"/>
              <a:t>pháp</a:t>
            </a:r>
            <a:r>
              <a:rPr lang="en-US" baseline="0" dirty="0"/>
              <a:t> </a:t>
            </a:r>
            <a:r>
              <a:rPr lang="en-US" baseline="0" dirty="0" err="1"/>
              <a:t>đã</a:t>
            </a:r>
            <a:r>
              <a:rPr lang="en-US" baseline="0" dirty="0"/>
              <a:t> </a:t>
            </a:r>
            <a:r>
              <a:rPr lang="en-US" baseline="0" dirty="0" err="1"/>
              <a:t>đề</a:t>
            </a:r>
            <a:r>
              <a:rPr lang="en-US" baseline="0" dirty="0"/>
              <a:t> </a:t>
            </a:r>
            <a:r>
              <a:rPr lang="en-US" baseline="0" dirty="0" err="1"/>
              <a:t>cập</a:t>
            </a:r>
            <a:r>
              <a:rPr lang="en-US" baseline="0" dirty="0"/>
              <a:t> ở </a:t>
            </a:r>
            <a:r>
              <a:rPr lang="en-US" baseline="0" dirty="0" err="1"/>
              <a:t>trên</a:t>
            </a:r>
            <a:r>
              <a:rPr lang="en-US" baseline="0" dirty="0"/>
              <a:t>: </a:t>
            </a:r>
            <a:r>
              <a:rPr lang="en-US" baseline="0" dirty="0" err="1"/>
              <a:t>gửi</a:t>
            </a:r>
            <a:r>
              <a:rPr lang="en-US" baseline="0" dirty="0"/>
              <a:t> </a:t>
            </a:r>
            <a:r>
              <a:rPr lang="en-US" baseline="0" dirty="0" err="1"/>
              <a:t>xong</a:t>
            </a:r>
            <a:r>
              <a:rPr lang="en-US" baseline="0" dirty="0"/>
              <a:t> </a:t>
            </a:r>
            <a:r>
              <a:rPr lang="en-US" baseline="0" dirty="0" err="1"/>
              <a:t>một</a:t>
            </a:r>
            <a:r>
              <a:rPr lang="en-US" baseline="0" dirty="0"/>
              <a:t> </a:t>
            </a:r>
            <a:r>
              <a:rPr lang="en-US" baseline="0" dirty="0" err="1"/>
              <a:t>gói</a:t>
            </a:r>
            <a:r>
              <a:rPr lang="en-US" baseline="0" dirty="0"/>
              <a:t> </a:t>
            </a:r>
            <a:r>
              <a:rPr lang="en-US" baseline="0" dirty="0" err="1"/>
              <a:t>rồi</a:t>
            </a:r>
            <a:r>
              <a:rPr lang="en-US" baseline="0" dirty="0"/>
              <a:t> </a:t>
            </a:r>
            <a:r>
              <a:rPr lang="en-US" baseline="0" dirty="0" err="1"/>
              <a:t>dừng</a:t>
            </a:r>
            <a:r>
              <a:rPr lang="en-US" baseline="0" dirty="0"/>
              <a:t> </a:t>
            </a:r>
            <a:r>
              <a:rPr lang="en-US" baseline="0" dirty="0" err="1"/>
              <a:t>và</a:t>
            </a:r>
            <a:r>
              <a:rPr lang="en-US" baseline="0" dirty="0"/>
              <a:t> </a:t>
            </a:r>
            <a:r>
              <a:rPr lang="en-US" baseline="0" dirty="0" err="1"/>
              <a:t>đợi</a:t>
            </a:r>
            <a:r>
              <a:rPr lang="en-US" baseline="0" dirty="0"/>
              <a:t> </a:t>
            </a:r>
            <a:r>
              <a:rPr lang="en-US" baseline="0" dirty="0" err="1"/>
              <a:t>phản</a:t>
            </a:r>
            <a:r>
              <a:rPr lang="en-US" baseline="0" dirty="0"/>
              <a:t> </a:t>
            </a:r>
            <a:r>
              <a:rPr lang="en-US" baseline="0" dirty="0" err="1"/>
              <a:t>hồi</a:t>
            </a:r>
            <a:r>
              <a:rPr lang="en-US" baseline="0" dirty="0"/>
              <a:t> </a:t>
            </a:r>
            <a:r>
              <a:rPr lang="en-US" baseline="0" dirty="0" err="1"/>
              <a:t>rồi</a:t>
            </a:r>
            <a:r>
              <a:rPr lang="en-US" baseline="0" dirty="0"/>
              <a:t> </a:t>
            </a:r>
            <a:r>
              <a:rPr lang="en-US" baseline="0" dirty="0" err="1"/>
              <a:t>truyền</a:t>
            </a:r>
            <a:r>
              <a:rPr lang="en-US" baseline="0" dirty="0"/>
              <a:t> </a:t>
            </a:r>
            <a:r>
              <a:rPr lang="en-US" baseline="0" dirty="0" err="1"/>
              <a:t>tiếp</a:t>
            </a:r>
            <a:endParaRPr lang="en-US" baseline="0" dirty="0"/>
          </a:p>
          <a:p>
            <a:pPr marL="171450" indent="-171450">
              <a:buFontTx/>
              <a:buChar char="-"/>
            </a:pPr>
            <a:r>
              <a:rPr lang="en-US" baseline="0" dirty="0" err="1"/>
              <a:t>Kiểu</a:t>
            </a:r>
            <a:r>
              <a:rPr lang="en-US" baseline="0" dirty="0"/>
              <a:t> pipeline: </a:t>
            </a:r>
            <a:r>
              <a:rPr lang="en-US" baseline="0" dirty="0" err="1"/>
              <a:t>phía</a:t>
            </a:r>
            <a:r>
              <a:rPr lang="en-US" baseline="0" dirty="0"/>
              <a:t> </a:t>
            </a:r>
            <a:r>
              <a:rPr lang="en-US" baseline="0" dirty="0" err="1"/>
              <a:t>truyền</a:t>
            </a:r>
            <a:r>
              <a:rPr lang="en-US" baseline="0" dirty="0"/>
              <a:t> </a:t>
            </a:r>
            <a:r>
              <a:rPr lang="en-US" baseline="0" dirty="0" err="1"/>
              <a:t>gửi</a:t>
            </a:r>
            <a:r>
              <a:rPr lang="en-US" baseline="0" dirty="0"/>
              <a:t> </a:t>
            </a:r>
            <a:r>
              <a:rPr lang="en-US" baseline="0" dirty="0" err="1"/>
              <a:t>nối</a:t>
            </a:r>
            <a:r>
              <a:rPr lang="en-US" baseline="0" dirty="0"/>
              <a:t> </a:t>
            </a:r>
            <a:r>
              <a:rPr lang="en-US" baseline="0" dirty="0" err="1"/>
              <a:t>tiếp</a:t>
            </a:r>
            <a:r>
              <a:rPr lang="en-US" baseline="0" dirty="0"/>
              <a:t> </a:t>
            </a:r>
            <a:r>
              <a:rPr lang="en-US" baseline="0" dirty="0" err="1"/>
              <a:t>nhau</a:t>
            </a:r>
            <a:r>
              <a:rPr lang="en-US" baseline="0" dirty="0"/>
              <a:t> </a:t>
            </a:r>
            <a:r>
              <a:rPr lang="en-US" baseline="0" dirty="0" err="1"/>
              <a:t>các</a:t>
            </a:r>
            <a:r>
              <a:rPr lang="en-US" baseline="0" dirty="0"/>
              <a:t>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=&gt; </a:t>
            </a:r>
            <a:r>
              <a:rPr lang="en-US" baseline="0" dirty="0" err="1"/>
              <a:t>yêu</a:t>
            </a:r>
            <a:r>
              <a:rPr lang="en-US" baseline="0" dirty="0"/>
              <a:t> </a:t>
            </a:r>
            <a:r>
              <a:rPr lang="en-US" baseline="0" dirty="0" err="1"/>
              <a:t>cầu</a:t>
            </a:r>
            <a:r>
              <a:rPr lang="en-US" baseline="0" dirty="0"/>
              <a:t>: </a:t>
            </a:r>
            <a:r>
              <a:rPr lang="en-US" baseline="0" dirty="0" err="1"/>
              <a:t>khoảng</a:t>
            </a:r>
            <a:r>
              <a:rPr lang="en-US" baseline="0" dirty="0"/>
              <a:t> </a:t>
            </a:r>
            <a:r>
              <a:rPr lang="en-US" baseline="0" dirty="0" err="1"/>
              <a:t>số</a:t>
            </a:r>
            <a:r>
              <a:rPr lang="en-US" baseline="0" dirty="0"/>
              <a:t> </a:t>
            </a:r>
            <a:r>
              <a:rPr lang="en-US" baseline="0" dirty="0" err="1"/>
              <a:t>thứ</a:t>
            </a:r>
            <a:r>
              <a:rPr lang="en-US" baseline="0" dirty="0"/>
              <a:t> </a:t>
            </a:r>
            <a:r>
              <a:rPr lang="en-US" baseline="0" dirty="0" err="1"/>
              <a:t>tự</a:t>
            </a:r>
            <a:r>
              <a:rPr lang="en-US" baseline="0" dirty="0"/>
              <a:t> </a:t>
            </a:r>
            <a:r>
              <a:rPr lang="en-US" baseline="0" dirty="0" err="1"/>
              <a:t>phải</a:t>
            </a:r>
            <a:r>
              <a:rPr lang="en-US" baseline="0" dirty="0"/>
              <a:t> </a:t>
            </a:r>
            <a:r>
              <a:rPr lang="en-US" baseline="0" dirty="0" err="1"/>
              <a:t>tăng</a:t>
            </a:r>
            <a:r>
              <a:rPr lang="en-US" baseline="0" dirty="0"/>
              <a:t> </a:t>
            </a:r>
            <a:r>
              <a:rPr lang="en-US" baseline="0" dirty="0" err="1"/>
              <a:t>vì</a:t>
            </a:r>
            <a:r>
              <a:rPr lang="en-US" baseline="0" dirty="0"/>
              <a:t> </a:t>
            </a:r>
            <a:r>
              <a:rPr lang="en-US" baseline="0" dirty="0" err="1"/>
              <a:t>có</a:t>
            </a:r>
            <a:r>
              <a:rPr lang="en-US" baseline="0" dirty="0"/>
              <a:t> </a:t>
            </a:r>
            <a:r>
              <a:rPr lang="en-US" baseline="0" dirty="0" err="1"/>
              <a:t>nhiều</a:t>
            </a:r>
            <a:r>
              <a:rPr lang="en-US" baseline="0" dirty="0"/>
              <a:t> </a:t>
            </a:r>
            <a:r>
              <a:rPr lang="en-US" baseline="0" dirty="0" err="1"/>
              <a:t>gói</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phía</a:t>
            </a:r>
            <a:r>
              <a:rPr lang="en-US" baseline="0" dirty="0"/>
              <a:t> </a:t>
            </a:r>
            <a:r>
              <a:rPr lang="en-US" baseline="0" dirty="0" err="1"/>
              <a:t>nhận</a:t>
            </a:r>
            <a:r>
              <a:rPr lang="en-US" baseline="0" dirty="0"/>
              <a:t> </a:t>
            </a:r>
            <a:r>
              <a:rPr lang="en-US" baseline="0" dirty="0" err="1"/>
              <a:t>phải</a:t>
            </a:r>
            <a:r>
              <a:rPr lang="en-US" baseline="0" dirty="0"/>
              <a:t> </a:t>
            </a:r>
            <a:r>
              <a:rPr lang="en-US" baseline="0" dirty="0" err="1"/>
              <a:t>có</a:t>
            </a:r>
            <a:r>
              <a:rPr lang="en-US" baseline="0" dirty="0"/>
              <a:t> </a:t>
            </a:r>
            <a:r>
              <a:rPr lang="en-US" baseline="0" dirty="0" err="1"/>
              <a:t>bộ</a:t>
            </a:r>
            <a:r>
              <a:rPr lang="en-US" baseline="0" dirty="0"/>
              <a:t> </a:t>
            </a:r>
            <a:r>
              <a:rPr lang="en-US" baseline="0" dirty="0" err="1"/>
              <a:t>đệm</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33</a:t>
            </a:fld>
            <a:endParaRPr lang="en-US"/>
          </a:p>
        </p:txBody>
      </p:sp>
    </p:spTree>
    <p:extLst>
      <p:ext uri="{BB962C8B-B14F-4D97-AF65-F5344CB8AC3E}">
        <p14:creationId xmlns:p14="http://schemas.microsoft.com/office/powerpoint/2010/main" val="9326139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U </a:t>
            </a:r>
            <a:r>
              <a:rPr lang="en-US" sz="1200" baseline="-20833" dirty="0">
                <a:latin typeface="Arial"/>
                <a:cs typeface="Arial"/>
              </a:rPr>
              <a:t>sender</a:t>
            </a:r>
            <a:r>
              <a:rPr lang="en-US" sz="1200" dirty="0">
                <a:latin typeface="Arial"/>
                <a:cs typeface="Arial"/>
              </a:rPr>
              <a:t>: </a:t>
            </a:r>
            <a:r>
              <a:rPr lang="en-US" sz="1200" i="1" dirty="0">
                <a:solidFill>
                  <a:srgbClr val="CC0000"/>
                </a:solidFill>
                <a:latin typeface="Arial"/>
                <a:cs typeface="Arial"/>
              </a:rPr>
              <a:t>utilization </a:t>
            </a:r>
            <a:r>
              <a:rPr lang="en-US" sz="1200" dirty="0">
                <a:latin typeface="Arial"/>
                <a:cs typeface="Arial"/>
              </a:rPr>
              <a:t>– </a:t>
            </a:r>
            <a:r>
              <a:rPr lang="en-US" sz="1200" dirty="0" err="1">
                <a:latin typeface="Arial"/>
                <a:cs typeface="Arial"/>
              </a:rPr>
              <a:t>phần</a:t>
            </a:r>
            <a:r>
              <a:rPr lang="en-US" sz="1200" dirty="0">
                <a:latin typeface="Arial"/>
                <a:cs typeface="Arial"/>
              </a:rPr>
              <a:t> </a:t>
            </a:r>
            <a:r>
              <a:rPr lang="en-US" sz="1200" dirty="0" err="1">
                <a:latin typeface="Arial"/>
                <a:cs typeface="Arial"/>
              </a:rPr>
              <a:t>thời</a:t>
            </a:r>
            <a:r>
              <a:rPr lang="en-US" sz="1200" dirty="0">
                <a:latin typeface="Arial"/>
                <a:cs typeface="Arial"/>
              </a:rPr>
              <a:t> </a:t>
            </a:r>
            <a:r>
              <a:rPr lang="en-US" sz="1200" dirty="0" err="1">
                <a:latin typeface="Arial"/>
                <a:cs typeface="Arial"/>
              </a:rPr>
              <a:t>gian</a:t>
            </a:r>
            <a:r>
              <a:rPr lang="en-US" sz="1200" dirty="0">
                <a:latin typeface="Arial"/>
                <a:cs typeface="Arial"/>
              </a:rPr>
              <a:t> </a:t>
            </a:r>
            <a:r>
              <a:rPr lang="en-US" sz="1200" dirty="0" err="1">
                <a:latin typeface="Arial"/>
                <a:cs typeface="Arial"/>
              </a:rPr>
              <a:t>bên</a:t>
            </a:r>
            <a:r>
              <a:rPr lang="en-US" sz="1200" dirty="0">
                <a:latin typeface="Arial"/>
                <a:cs typeface="Arial"/>
              </a:rPr>
              <a:t> </a:t>
            </a:r>
            <a:r>
              <a:rPr lang="en-US" sz="1200" dirty="0" err="1">
                <a:latin typeface="Arial"/>
                <a:cs typeface="Arial"/>
              </a:rPr>
              <a:t>gửi</a:t>
            </a:r>
            <a:r>
              <a:rPr lang="en-US" sz="1200" dirty="0">
                <a:latin typeface="Arial"/>
                <a:cs typeface="Arial"/>
              </a:rPr>
              <a:t> </a:t>
            </a:r>
            <a:r>
              <a:rPr lang="en-US" sz="1200" dirty="0" err="1">
                <a:latin typeface="Arial"/>
                <a:cs typeface="Arial"/>
              </a:rPr>
              <a:t>thực</a:t>
            </a:r>
            <a:r>
              <a:rPr lang="en-US" sz="1200" dirty="0">
                <a:latin typeface="Arial"/>
                <a:cs typeface="Arial"/>
              </a:rPr>
              <a:t> </a:t>
            </a:r>
            <a:r>
              <a:rPr lang="en-US" sz="1200" dirty="0" err="1">
                <a:latin typeface="Arial"/>
                <a:cs typeface="Arial"/>
              </a:rPr>
              <a:t>hiện</a:t>
            </a:r>
            <a:r>
              <a:rPr lang="en-US" sz="1200" dirty="0">
                <a:latin typeface="Arial"/>
                <a:cs typeface="Arial"/>
              </a:rPr>
              <a:t> </a:t>
            </a:r>
            <a:r>
              <a:rPr lang="en-US" sz="1200" dirty="0" err="1">
                <a:latin typeface="Arial"/>
                <a:cs typeface="Arial"/>
              </a:rPr>
              <a:t>gửi</a:t>
            </a:r>
            <a:endParaRPr lang="en-US" sz="1200" dirty="0">
              <a:latin typeface="Arial"/>
              <a:cs typeface="Arial"/>
            </a:endParaRP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34</a:t>
            </a:fld>
            <a:endParaRPr lang="en-US"/>
          </a:p>
        </p:txBody>
      </p:sp>
    </p:spTree>
    <p:extLst>
      <p:ext uri="{BB962C8B-B14F-4D97-AF65-F5344CB8AC3E}">
        <p14:creationId xmlns:p14="http://schemas.microsoft.com/office/powerpoint/2010/main" val="3059077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Màu</a:t>
            </a:r>
            <a:r>
              <a:rPr lang="en-US" baseline="0" dirty="0"/>
              <a:t> </a:t>
            </a:r>
            <a:r>
              <a:rPr lang="en-US" baseline="0" dirty="0" err="1"/>
              <a:t>xanh</a:t>
            </a:r>
            <a:r>
              <a:rPr lang="en-US" baseline="0" dirty="0"/>
              <a:t> </a:t>
            </a:r>
            <a:r>
              <a:rPr lang="en-US" baseline="0" dirty="0" err="1"/>
              <a:t>lá</a:t>
            </a:r>
            <a:r>
              <a:rPr lang="en-US" baseline="0" dirty="0"/>
              <a:t> </a:t>
            </a:r>
            <a:r>
              <a:rPr lang="en-US" baseline="0" dirty="0" err="1"/>
              <a:t>cây</a:t>
            </a:r>
            <a:r>
              <a:rPr lang="en-US" baseline="0" dirty="0"/>
              <a:t>: </a:t>
            </a:r>
            <a:r>
              <a:rPr lang="en-US" baseline="0" dirty="0" err="1"/>
              <a:t>các</a:t>
            </a:r>
            <a:r>
              <a:rPr lang="en-US" baseline="0" dirty="0"/>
              <a:t> </a:t>
            </a:r>
            <a:r>
              <a:rPr lang="en-US" baseline="0" dirty="0" err="1"/>
              <a:t>gói</a:t>
            </a:r>
            <a:r>
              <a:rPr lang="en-US" baseline="0" dirty="0"/>
              <a:t> </a:t>
            </a:r>
            <a:r>
              <a:rPr lang="en-US" baseline="0" dirty="0" err="1"/>
              <a:t>đã</a:t>
            </a:r>
            <a:r>
              <a:rPr lang="en-US" baseline="0" dirty="0"/>
              <a:t> </a:t>
            </a:r>
            <a:r>
              <a:rPr lang="en-US" baseline="0" dirty="0" err="1"/>
              <a:t>được</a:t>
            </a:r>
            <a:r>
              <a:rPr lang="en-US" baseline="0" dirty="0"/>
              <a:t> </a:t>
            </a:r>
            <a:r>
              <a:rPr lang="en-US" baseline="0" dirty="0" err="1"/>
              <a:t>ack</a:t>
            </a:r>
            <a:endParaRPr lang="en-US" baseline="0" dirty="0"/>
          </a:p>
          <a:p>
            <a:r>
              <a:rPr lang="en-US" baseline="0" dirty="0" err="1"/>
              <a:t>Màu</a:t>
            </a:r>
            <a:r>
              <a:rPr lang="en-US" baseline="0" dirty="0"/>
              <a:t> </a:t>
            </a:r>
            <a:r>
              <a:rPr lang="en-US" baseline="0" dirty="0" err="1"/>
              <a:t>vàng</a:t>
            </a:r>
            <a:r>
              <a:rPr lang="en-US" baseline="0" dirty="0"/>
              <a:t>: </a:t>
            </a:r>
            <a:r>
              <a:rPr lang="en-US" baseline="0" dirty="0" err="1"/>
              <a:t>các</a:t>
            </a:r>
            <a:r>
              <a:rPr lang="en-US" baseline="0" dirty="0"/>
              <a:t> </a:t>
            </a:r>
            <a:r>
              <a:rPr lang="en-US" baseline="0" dirty="0" err="1"/>
              <a:t>gói</a:t>
            </a:r>
            <a:r>
              <a:rPr lang="en-US" baseline="0" dirty="0"/>
              <a:t> </a:t>
            </a:r>
            <a:r>
              <a:rPr lang="en-US" baseline="0" dirty="0" err="1"/>
              <a:t>đã</a:t>
            </a:r>
            <a:r>
              <a:rPr lang="en-US" baseline="0" dirty="0"/>
              <a:t> </a:t>
            </a:r>
            <a:r>
              <a:rPr lang="en-US" baseline="0" dirty="0" err="1"/>
              <a:t>gửi</a:t>
            </a:r>
            <a:r>
              <a:rPr lang="en-US" baseline="0" dirty="0"/>
              <a:t> </a:t>
            </a:r>
            <a:r>
              <a:rPr lang="en-US" baseline="0" dirty="0" err="1"/>
              <a:t>đang</a:t>
            </a:r>
            <a:r>
              <a:rPr lang="en-US" baseline="0" dirty="0"/>
              <a:t> </a:t>
            </a:r>
            <a:r>
              <a:rPr lang="en-US" baseline="0" dirty="0" err="1"/>
              <a:t>đợi</a:t>
            </a:r>
            <a:r>
              <a:rPr lang="en-US" baseline="0" dirty="0"/>
              <a:t> </a:t>
            </a:r>
            <a:r>
              <a:rPr lang="en-US" baseline="0" dirty="0" err="1"/>
              <a:t>ack</a:t>
            </a:r>
            <a:endParaRPr lang="en-US" baseline="0" dirty="0"/>
          </a:p>
          <a:p>
            <a:r>
              <a:rPr lang="en-US" baseline="0" dirty="0" err="1"/>
              <a:t>Màu</a:t>
            </a:r>
            <a:r>
              <a:rPr lang="en-US" baseline="0" dirty="0"/>
              <a:t> </a:t>
            </a:r>
            <a:r>
              <a:rPr lang="en-US" baseline="0" dirty="0" err="1"/>
              <a:t>xanh</a:t>
            </a:r>
            <a:r>
              <a:rPr lang="en-US" baseline="0" dirty="0"/>
              <a:t> da </a:t>
            </a:r>
            <a:r>
              <a:rPr lang="en-US" baseline="0" dirty="0" err="1"/>
              <a:t>trời</a:t>
            </a:r>
            <a:r>
              <a:rPr lang="en-US" baseline="0" dirty="0"/>
              <a:t>: </a:t>
            </a:r>
            <a:r>
              <a:rPr lang="en-US" baseline="0" dirty="0" err="1"/>
              <a:t>các</a:t>
            </a:r>
            <a:r>
              <a:rPr lang="en-US" baseline="0" dirty="0"/>
              <a:t> </a:t>
            </a:r>
            <a:r>
              <a:rPr lang="en-US" baseline="0" dirty="0" err="1"/>
              <a:t>gói</a:t>
            </a:r>
            <a:r>
              <a:rPr lang="en-US" baseline="0" dirty="0"/>
              <a:t> </a:t>
            </a:r>
            <a:r>
              <a:rPr lang="en-US" baseline="0" dirty="0" err="1"/>
              <a:t>có</a:t>
            </a:r>
            <a:r>
              <a:rPr lang="en-US" baseline="0" dirty="0"/>
              <a:t> </a:t>
            </a:r>
            <a:r>
              <a:rPr lang="en-US" baseline="0" dirty="0" err="1"/>
              <a:t>thể</a:t>
            </a:r>
            <a:r>
              <a:rPr lang="en-US" baseline="0" dirty="0"/>
              <a:t> </a:t>
            </a:r>
            <a:r>
              <a:rPr lang="en-US" baseline="0" dirty="0" err="1"/>
              <a:t>gửi</a:t>
            </a:r>
            <a:r>
              <a:rPr lang="en-US" baseline="0" dirty="0"/>
              <a:t>, </a:t>
            </a:r>
            <a:r>
              <a:rPr lang="en-US" baseline="0" dirty="0" err="1"/>
              <a:t>nhưng</a:t>
            </a:r>
            <a:r>
              <a:rPr lang="en-US" baseline="0" dirty="0"/>
              <a:t> </a:t>
            </a:r>
            <a:r>
              <a:rPr lang="en-US" baseline="0" dirty="0" err="1"/>
              <a:t>chưa</a:t>
            </a:r>
            <a:r>
              <a:rPr lang="en-US" baseline="0" dirty="0"/>
              <a:t> </a:t>
            </a:r>
            <a:r>
              <a:rPr lang="en-US" baseline="0" dirty="0" err="1"/>
              <a:t>được</a:t>
            </a:r>
            <a:r>
              <a:rPr lang="en-US" baseline="0" dirty="0"/>
              <a:t> </a:t>
            </a:r>
            <a:r>
              <a:rPr lang="en-US" baseline="0" dirty="0" err="1"/>
              <a:t>gửi</a:t>
            </a:r>
            <a:endParaRPr lang="en-US" baseline="0" dirty="0"/>
          </a:p>
          <a:p>
            <a:r>
              <a:rPr lang="en-US" baseline="0" dirty="0" err="1"/>
              <a:t>Xác</a:t>
            </a:r>
            <a:r>
              <a:rPr lang="en-US" baseline="0" dirty="0"/>
              <a:t> </a:t>
            </a:r>
            <a:r>
              <a:rPr lang="en-US" baseline="0" dirty="0" err="1"/>
              <a:t>nhận</a:t>
            </a:r>
            <a:r>
              <a:rPr lang="en-US" baseline="0" dirty="0"/>
              <a:t> </a:t>
            </a:r>
            <a:r>
              <a:rPr lang="en-US" baseline="0" dirty="0" err="1"/>
              <a:t>cho</a:t>
            </a:r>
            <a:r>
              <a:rPr lang="en-US" baseline="0" dirty="0"/>
              <a:t> </a:t>
            </a:r>
            <a:r>
              <a:rPr lang="en-US" baseline="0" dirty="0" err="1"/>
              <a:t>một</a:t>
            </a:r>
            <a:r>
              <a:rPr lang="en-US" baseline="0" dirty="0"/>
              <a:t> </a:t>
            </a:r>
            <a:r>
              <a:rPr lang="en-US" baseline="0" dirty="0" err="1"/>
              <a:t>nhóm</a:t>
            </a:r>
            <a:r>
              <a:rPr lang="en-US" baseline="0" dirty="0"/>
              <a:t> </a:t>
            </a:r>
            <a:r>
              <a:rPr lang="en-US" baseline="0" dirty="0" err="1"/>
              <a:t>các</a:t>
            </a:r>
            <a:r>
              <a:rPr lang="en-US" baseline="0" dirty="0"/>
              <a:t> </a:t>
            </a:r>
            <a:r>
              <a:rPr lang="en-US" baseline="0" dirty="0" err="1"/>
              <a:t>gói</a:t>
            </a:r>
            <a:r>
              <a:rPr lang="en-US" baseline="0" dirty="0"/>
              <a:t> tin </a:t>
            </a:r>
            <a:r>
              <a:rPr lang="en-US" baseline="0" dirty="0" err="1"/>
              <a:t>đã</a:t>
            </a:r>
            <a:r>
              <a:rPr lang="en-US" baseline="0" dirty="0"/>
              <a:t> </a:t>
            </a:r>
            <a:r>
              <a:rPr lang="en-US" baseline="0" dirty="0" err="1"/>
              <a:t>được</a:t>
            </a:r>
            <a:r>
              <a:rPr lang="en-US" baseline="0" dirty="0"/>
              <a:t> </a:t>
            </a:r>
            <a:r>
              <a:rPr lang="en-US" baseline="0" dirty="0" err="1"/>
              <a:t>nhận</a:t>
            </a:r>
            <a:r>
              <a:rPr lang="en-US" baseline="0" dirty="0"/>
              <a:t> </a:t>
            </a:r>
            <a:r>
              <a:rPr lang="en-US" baseline="0" dirty="0" err="1"/>
              <a:t>đến</a:t>
            </a:r>
            <a:r>
              <a:rPr lang="en-US" baseline="0" dirty="0"/>
              <a:t> n</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37</a:t>
            </a:fld>
            <a:endParaRPr lang="en-US"/>
          </a:p>
        </p:txBody>
      </p:sp>
    </p:spTree>
    <p:extLst>
      <p:ext uri="{BB962C8B-B14F-4D97-AF65-F5344CB8AC3E}">
        <p14:creationId xmlns:p14="http://schemas.microsoft.com/office/powerpoint/2010/main" val="8439610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Màu</a:t>
            </a:r>
            <a:r>
              <a:rPr lang="en-US" baseline="0" dirty="0"/>
              <a:t> </a:t>
            </a:r>
            <a:r>
              <a:rPr lang="en-US" baseline="0" dirty="0" err="1"/>
              <a:t>xanh</a:t>
            </a:r>
            <a:r>
              <a:rPr lang="en-US" baseline="0" dirty="0"/>
              <a:t> </a:t>
            </a:r>
            <a:r>
              <a:rPr lang="en-US" baseline="0" dirty="0" err="1"/>
              <a:t>lá</a:t>
            </a:r>
            <a:r>
              <a:rPr lang="en-US" baseline="0" dirty="0"/>
              <a:t> </a:t>
            </a:r>
            <a:r>
              <a:rPr lang="en-US" baseline="0" dirty="0" err="1"/>
              <a:t>cây</a:t>
            </a:r>
            <a:r>
              <a:rPr lang="en-US" baseline="0" dirty="0"/>
              <a:t>: </a:t>
            </a:r>
            <a:r>
              <a:rPr lang="en-US" baseline="0" dirty="0" err="1"/>
              <a:t>các</a:t>
            </a:r>
            <a:r>
              <a:rPr lang="en-US" baseline="0" dirty="0"/>
              <a:t> </a:t>
            </a:r>
            <a:r>
              <a:rPr lang="en-US" baseline="0" dirty="0" err="1"/>
              <a:t>gói</a:t>
            </a:r>
            <a:r>
              <a:rPr lang="en-US" baseline="0" dirty="0"/>
              <a:t> </a:t>
            </a:r>
            <a:r>
              <a:rPr lang="en-US" baseline="0" dirty="0" err="1"/>
              <a:t>đã</a:t>
            </a:r>
            <a:r>
              <a:rPr lang="en-US" baseline="0" dirty="0"/>
              <a:t> </a:t>
            </a:r>
            <a:r>
              <a:rPr lang="en-US" baseline="0" dirty="0" err="1"/>
              <a:t>được</a:t>
            </a:r>
            <a:r>
              <a:rPr lang="en-US" baseline="0" dirty="0"/>
              <a:t> </a:t>
            </a:r>
            <a:r>
              <a:rPr lang="en-US" baseline="0" dirty="0" err="1"/>
              <a:t>ack</a:t>
            </a:r>
            <a:endParaRPr lang="en-US" baseline="0" dirty="0"/>
          </a:p>
          <a:p>
            <a:r>
              <a:rPr lang="en-US" baseline="0" dirty="0" err="1"/>
              <a:t>Màu</a:t>
            </a:r>
            <a:r>
              <a:rPr lang="en-US" baseline="0" dirty="0"/>
              <a:t> </a:t>
            </a:r>
            <a:r>
              <a:rPr lang="en-US" baseline="0" dirty="0" err="1"/>
              <a:t>vàng</a:t>
            </a:r>
            <a:r>
              <a:rPr lang="en-US" baseline="0" dirty="0"/>
              <a:t>: </a:t>
            </a:r>
            <a:r>
              <a:rPr lang="en-US" baseline="0" dirty="0" err="1"/>
              <a:t>các</a:t>
            </a:r>
            <a:r>
              <a:rPr lang="en-US" baseline="0" dirty="0"/>
              <a:t> </a:t>
            </a:r>
            <a:r>
              <a:rPr lang="en-US" baseline="0" dirty="0" err="1"/>
              <a:t>gói</a:t>
            </a:r>
            <a:r>
              <a:rPr lang="en-US" baseline="0" dirty="0"/>
              <a:t> </a:t>
            </a:r>
            <a:r>
              <a:rPr lang="en-US" baseline="0" dirty="0" err="1"/>
              <a:t>đã</a:t>
            </a:r>
            <a:r>
              <a:rPr lang="en-US" baseline="0" dirty="0"/>
              <a:t> </a:t>
            </a:r>
            <a:r>
              <a:rPr lang="en-US" baseline="0" dirty="0" err="1"/>
              <a:t>gửi</a:t>
            </a:r>
            <a:r>
              <a:rPr lang="en-US" baseline="0" dirty="0"/>
              <a:t> </a:t>
            </a:r>
            <a:r>
              <a:rPr lang="en-US" baseline="0" dirty="0" err="1"/>
              <a:t>đang</a:t>
            </a:r>
            <a:r>
              <a:rPr lang="en-US" baseline="0" dirty="0"/>
              <a:t> </a:t>
            </a:r>
            <a:r>
              <a:rPr lang="en-US" baseline="0" dirty="0" err="1"/>
              <a:t>đợi</a:t>
            </a:r>
            <a:r>
              <a:rPr lang="en-US" baseline="0" dirty="0"/>
              <a:t> </a:t>
            </a:r>
            <a:r>
              <a:rPr lang="en-US" baseline="0" dirty="0" err="1"/>
              <a:t>ack</a:t>
            </a:r>
            <a:endParaRPr lang="en-US" baseline="0" dirty="0"/>
          </a:p>
          <a:p>
            <a:r>
              <a:rPr lang="en-US" baseline="0" dirty="0" err="1"/>
              <a:t>Màu</a:t>
            </a:r>
            <a:r>
              <a:rPr lang="en-US" baseline="0" dirty="0"/>
              <a:t> </a:t>
            </a:r>
            <a:r>
              <a:rPr lang="en-US" baseline="0" dirty="0" err="1"/>
              <a:t>xanh</a:t>
            </a:r>
            <a:r>
              <a:rPr lang="en-US" baseline="0" dirty="0"/>
              <a:t> da </a:t>
            </a:r>
            <a:r>
              <a:rPr lang="en-US" baseline="0" dirty="0" err="1"/>
              <a:t>trời</a:t>
            </a:r>
            <a:r>
              <a:rPr lang="en-US" baseline="0" dirty="0"/>
              <a:t>: </a:t>
            </a:r>
            <a:r>
              <a:rPr lang="en-US" baseline="0" dirty="0" err="1"/>
              <a:t>các</a:t>
            </a:r>
            <a:r>
              <a:rPr lang="en-US" baseline="0" dirty="0"/>
              <a:t> </a:t>
            </a:r>
            <a:r>
              <a:rPr lang="en-US" baseline="0" dirty="0" err="1"/>
              <a:t>gói</a:t>
            </a:r>
            <a:r>
              <a:rPr lang="en-US" baseline="0" dirty="0"/>
              <a:t> </a:t>
            </a:r>
            <a:r>
              <a:rPr lang="en-US" baseline="0" dirty="0" err="1"/>
              <a:t>có</a:t>
            </a:r>
            <a:r>
              <a:rPr lang="en-US" baseline="0" dirty="0"/>
              <a:t> </a:t>
            </a:r>
            <a:r>
              <a:rPr lang="en-US" baseline="0" dirty="0" err="1"/>
              <a:t>thể</a:t>
            </a:r>
            <a:r>
              <a:rPr lang="en-US" baseline="0" dirty="0"/>
              <a:t> </a:t>
            </a:r>
            <a:r>
              <a:rPr lang="en-US" baseline="0" dirty="0" err="1"/>
              <a:t>gửi</a:t>
            </a:r>
            <a:r>
              <a:rPr lang="en-US" baseline="0" dirty="0"/>
              <a:t>, </a:t>
            </a:r>
            <a:r>
              <a:rPr lang="en-US" baseline="0" dirty="0" err="1"/>
              <a:t>nhưng</a:t>
            </a:r>
            <a:r>
              <a:rPr lang="en-US" baseline="0" dirty="0"/>
              <a:t> </a:t>
            </a:r>
            <a:r>
              <a:rPr lang="en-US" baseline="0" dirty="0" err="1"/>
              <a:t>chưa</a:t>
            </a:r>
            <a:r>
              <a:rPr lang="en-US" baseline="0" dirty="0"/>
              <a:t> </a:t>
            </a:r>
            <a:r>
              <a:rPr lang="en-US" baseline="0" dirty="0" err="1"/>
              <a:t>được</a:t>
            </a:r>
            <a:r>
              <a:rPr lang="en-US" baseline="0" dirty="0"/>
              <a:t> </a:t>
            </a:r>
            <a:r>
              <a:rPr lang="en-US" baseline="0" dirty="0" err="1"/>
              <a:t>gửi</a:t>
            </a:r>
            <a:endParaRPr lang="en-US" baseline="0" dirty="0"/>
          </a:p>
          <a:p>
            <a:r>
              <a:rPr lang="en-US" baseline="0" dirty="0" err="1"/>
              <a:t>Xác</a:t>
            </a:r>
            <a:r>
              <a:rPr lang="en-US" baseline="0" dirty="0"/>
              <a:t> </a:t>
            </a:r>
            <a:r>
              <a:rPr lang="en-US" baseline="0" dirty="0" err="1"/>
              <a:t>nhận</a:t>
            </a:r>
            <a:r>
              <a:rPr lang="en-US" baseline="0" dirty="0"/>
              <a:t> </a:t>
            </a:r>
            <a:r>
              <a:rPr lang="en-US" baseline="0" dirty="0" err="1"/>
              <a:t>cho</a:t>
            </a:r>
            <a:r>
              <a:rPr lang="en-US" baseline="0" dirty="0"/>
              <a:t> </a:t>
            </a:r>
            <a:r>
              <a:rPr lang="en-US" baseline="0" dirty="0" err="1"/>
              <a:t>một</a:t>
            </a:r>
            <a:r>
              <a:rPr lang="en-US" baseline="0" dirty="0"/>
              <a:t> </a:t>
            </a:r>
            <a:r>
              <a:rPr lang="en-US" baseline="0" dirty="0" err="1"/>
              <a:t>nhóm</a:t>
            </a:r>
            <a:r>
              <a:rPr lang="en-US" baseline="0" dirty="0"/>
              <a:t> </a:t>
            </a:r>
            <a:r>
              <a:rPr lang="en-US" baseline="0" dirty="0" err="1"/>
              <a:t>các</a:t>
            </a:r>
            <a:r>
              <a:rPr lang="en-US" baseline="0" dirty="0"/>
              <a:t> </a:t>
            </a:r>
            <a:r>
              <a:rPr lang="en-US" baseline="0" dirty="0" err="1"/>
              <a:t>gói</a:t>
            </a:r>
            <a:r>
              <a:rPr lang="en-US" baseline="0" dirty="0"/>
              <a:t> tin </a:t>
            </a:r>
            <a:r>
              <a:rPr lang="en-US" baseline="0" dirty="0" err="1"/>
              <a:t>đã</a:t>
            </a:r>
            <a:r>
              <a:rPr lang="en-US" baseline="0" dirty="0"/>
              <a:t> </a:t>
            </a:r>
            <a:r>
              <a:rPr lang="en-US" baseline="0" dirty="0" err="1"/>
              <a:t>được</a:t>
            </a:r>
            <a:r>
              <a:rPr lang="en-US" baseline="0" dirty="0"/>
              <a:t> </a:t>
            </a:r>
            <a:r>
              <a:rPr lang="en-US" baseline="0" dirty="0" err="1"/>
              <a:t>nhận</a:t>
            </a:r>
            <a:r>
              <a:rPr lang="en-US" baseline="0" dirty="0"/>
              <a:t> </a:t>
            </a:r>
            <a:r>
              <a:rPr lang="en-US" baseline="0" dirty="0" err="1"/>
              <a:t>đến</a:t>
            </a:r>
            <a:r>
              <a:rPr lang="en-US" baseline="0" dirty="0"/>
              <a:t> n</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38</a:t>
            </a:fld>
            <a:endParaRPr lang="en-US"/>
          </a:p>
        </p:txBody>
      </p:sp>
    </p:spTree>
    <p:extLst>
      <p:ext uri="{BB962C8B-B14F-4D97-AF65-F5344CB8AC3E}">
        <p14:creationId xmlns:p14="http://schemas.microsoft.com/office/powerpoint/2010/main" val="2354573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Cửa</a:t>
            </a:r>
            <a:r>
              <a:rPr lang="en-US" baseline="0" dirty="0"/>
              <a:t> </a:t>
            </a:r>
            <a:r>
              <a:rPr lang="en-US" baseline="0" dirty="0" err="1"/>
              <a:t>sổ</a:t>
            </a:r>
            <a:r>
              <a:rPr lang="en-US" baseline="0" dirty="0"/>
              <a:t> </a:t>
            </a:r>
            <a:r>
              <a:rPr lang="en-US" baseline="0" dirty="0" err="1"/>
              <a:t>có</a:t>
            </a:r>
            <a:r>
              <a:rPr lang="en-US" baseline="0" dirty="0"/>
              <a:t> </a:t>
            </a:r>
            <a:r>
              <a:rPr lang="en-US" baseline="0" dirty="0" err="1"/>
              <a:t>độ</a:t>
            </a:r>
            <a:r>
              <a:rPr lang="en-US" baseline="0" dirty="0"/>
              <a:t> </a:t>
            </a:r>
            <a:r>
              <a:rPr lang="en-US" baseline="0" dirty="0" err="1"/>
              <a:t>lớn</a:t>
            </a:r>
            <a:r>
              <a:rPr lang="en-US" baseline="0" dirty="0"/>
              <a:t> 4 </a:t>
            </a:r>
            <a:r>
              <a:rPr lang="en-US" baseline="0" dirty="0" err="1"/>
              <a:t>gói</a:t>
            </a:r>
            <a:r>
              <a:rPr lang="en-US" baseline="0" dirty="0"/>
              <a:t> tin:</a:t>
            </a:r>
          </a:p>
          <a:p>
            <a:r>
              <a:rPr lang="en-US" b="1" baseline="0" dirty="0" err="1"/>
              <a:t>Bên</a:t>
            </a:r>
            <a:r>
              <a:rPr lang="en-US" b="1" baseline="0" dirty="0"/>
              <a:t> </a:t>
            </a:r>
            <a:r>
              <a:rPr lang="en-US" b="1" baseline="0" dirty="0" err="1"/>
              <a:t>gửi</a:t>
            </a:r>
            <a:r>
              <a:rPr lang="en-US" b="1" baseline="0" dirty="0"/>
              <a:t>:</a:t>
            </a:r>
          </a:p>
          <a:p>
            <a:pPr marL="171450" indent="-171450">
              <a:buFontTx/>
              <a:buChar char="-"/>
            </a:pPr>
            <a:r>
              <a:rPr lang="en-US" baseline="0" dirty="0" err="1"/>
              <a:t>Bên</a:t>
            </a:r>
            <a:r>
              <a:rPr lang="en-US" baseline="0" dirty="0"/>
              <a:t> </a:t>
            </a:r>
            <a:r>
              <a:rPr lang="en-US" baseline="0" dirty="0" err="1"/>
              <a:t>gửi</a:t>
            </a:r>
            <a:r>
              <a:rPr lang="en-US" baseline="0" dirty="0"/>
              <a:t> </a:t>
            </a:r>
            <a:r>
              <a:rPr lang="en-US" baseline="0" dirty="0" err="1"/>
              <a:t>sẽ</a:t>
            </a:r>
            <a:r>
              <a:rPr lang="en-US" baseline="0" dirty="0"/>
              <a:t> </a:t>
            </a:r>
            <a:r>
              <a:rPr lang="en-US" baseline="0" dirty="0" err="1"/>
              <a:t>chỉ</a:t>
            </a:r>
            <a:r>
              <a:rPr lang="en-US" baseline="0" dirty="0"/>
              <a:t> </a:t>
            </a:r>
            <a:r>
              <a:rPr lang="en-US" baseline="0" dirty="0" err="1"/>
              <a:t>được</a:t>
            </a:r>
            <a:r>
              <a:rPr lang="en-US" baseline="0" dirty="0"/>
              <a:t> </a:t>
            </a:r>
            <a:r>
              <a:rPr lang="en-US" baseline="0" dirty="0" err="1"/>
              <a:t>gửi</a:t>
            </a:r>
            <a:r>
              <a:rPr lang="en-US" baseline="0" dirty="0"/>
              <a:t> </a:t>
            </a:r>
            <a:r>
              <a:rPr lang="en-US" baseline="0" dirty="0" err="1"/>
              <a:t>các</a:t>
            </a:r>
            <a:r>
              <a:rPr lang="en-US" baseline="0" dirty="0"/>
              <a:t> </a:t>
            </a:r>
            <a:r>
              <a:rPr lang="en-US" baseline="0" dirty="0" err="1"/>
              <a:t>gói</a:t>
            </a:r>
            <a:r>
              <a:rPr lang="en-US" baseline="0" dirty="0"/>
              <a:t> tin 0,1,2,3. </a:t>
            </a:r>
            <a:r>
              <a:rPr lang="en-US" baseline="0" dirty="0" err="1"/>
              <a:t>Sau</a:t>
            </a:r>
            <a:r>
              <a:rPr lang="en-US" baseline="0" dirty="0"/>
              <a:t> </a:t>
            </a:r>
            <a:r>
              <a:rPr lang="en-US" baseline="0" dirty="0" err="1"/>
              <a:t>đó</a:t>
            </a:r>
            <a:r>
              <a:rPr lang="en-US" baseline="0" dirty="0"/>
              <a:t> </a:t>
            </a:r>
            <a:r>
              <a:rPr lang="en-US" baseline="0" dirty="0" err="1"/>
              <a:t>chờ</a:t>
            </a:r>
            <a:r>
              <a:rPr lang="en-US" baseline="0" dirty="0"/>
              <a:t> </a:t>
            </a:r>
            <a:r>
              <a:rPr lang="en-US" baseline="0" dirty="0" err="1"/>
              <a:t>đợi</a:t>
            </a:r>
            <a:r>
              <a:rPr lang="en-US" baseline="0" dirty="0"/>
              <a:t> </a:t>
            </a:r>
            <a:r>
              <a:rPr lang="en-US" baseline="0" dirty="0" err="1"/>
              <a:t>bên</a:t>
            </a:r>
            <a:r>
              <a:rPr lang="en-US" baseline="0" dirty="0"/>
              <a:t> </a:t>
            </a:r>
            <a:r>
              <a:rPr lang="en-US" baseline="0" dirty="0" err="1"/>
              <a:t>nhận</a:t>
            </a:r>
            <a:r>
              <a:rPr lang="en-US" baseline="0" dirty="0"/>
              <a:t> </a:t>
            </a:r>
            <a:r>
              <a:rPr lang="en-US" baseline="0" dirty="0" err="1"/>
              <a:t>xác</a:t>
            </a:r>
            <a:r>
              <a:rPr lang="en-US" baseline="0" dirty="0"/>
              <a:t> </a:t>
            </a:r>
            <a:r>
              <a:rPr lang="en-US" baseline="0" dirty="0" err="1"/>
              <a:t>nhận</a:t>
            </a:r>
            <a:r>
              <a:rPr lang="en-US" baseline="0" dirty="0"/>
              <a:t> </a:t>
            </a:r>
            <a:r>
              <a:rPr lang="en-US" baseline="0" dirty="0" err="1"/>
              <a:t>cho</a:t>
            </a:r>
            <a:r>
              <a:rPr lang="en-US" baseline="0" dirty="0"/>
              <a:t> </a:t>
            </a:r>
            <a:r>
              <a:rPr lang="en-US" baseline="0" dirty="0" err="1"/>
              <a:t>các</a:t>
            </a:r>
            <a:r>
              <a:rPr lang="en-US" baseline="0" dirty="0"/>
              <a:t> </a:t>
            </a:r>
            <a:r>
              <a:rPr lang="en-US" baseline="0" dirty="0" err="1"/>
              <a:t>gói</a:t>
            </a:r>
            <a:r>
              <a:rPr lang="en-US" baseline="0" dirty="0"/>
              <a:t> </a:t>
            </a:r>
            <a:r>
              <a:rPr lang="en-US" baseline="0" dirty="0" err="1"/>
              <a:t>này</a:t>
            </a:r>
            <a:r>
              <a:rPr lang="en-US" baseline="0" dirty="0"/>
              <a:t> </a:t>
            </a:r>
            <a:r>
              <a:rPr lang="en-US" baseline="0" dirty="0" err="1"/>
              <a:t>mới</a:t>
            </a:r>
            <a:r>
              <a:rPr lang="en-US" baseline="0" dirty="0"/>
              <a:t> </a:t>
            </a:r>
            <a:r>
              <a:rPr lang="en-US" baseline="0" dirty="0" err="1"/>
              <a:t>được</a:t>
            </a:r>
            <a:r>
              <a:rPr lang="en-US" baseline="0" dirty="0"/>
              <a:t> </a:t>
            </a:r>
            <a:r>
              <a:rPr lang="en-US" baseline="0" dirty="0" err="1"/>
              <a:t>tiếp</a:t>
            </a:r>
            <a:r>
              <a:rPr lang="en-US" baseline="0" dirty="0"/>
              <a:t> </a:t>
            </a:r>
            <a:r>
              <a:rPr lang="en-US" baseline="0" dirty="0" err="1"/>
              <a:t>tục</a:t>
            </a:r>
            <a:r>
              <a:rPr lang="en-US" baseline="0" dirty="0"/>
              <a:t> </a:t>
            </a:r>
            <a:r>
              <a:rPr lang="en-US" baseline="0" dirty="0" err="1"/>
              <a:t>gửi</a:t>
            </a:r>
            <a:r>
              <a:rPr lang="en-US" baseline="0" dirty="0"/>
              <a:t> </a:t>
            </a:r>
          </a:p>
          <a:p>
            <a:pPr marL="171450" indent="-171450">
              <a:buFontTx/>
              <a:buChar char="-"/>
            </a:pPr>
            <a:r>
              <a:rPr lang="en-US" baseline="0" dirty="0" err="1"/>
              <a:t>Khi</a:t>
            </a:r>
            <a:r>
              <a:rPr lang="en-US" baseline="0" dirty="0"/>
              <a:t> </a:t>
            </a:r>
            <a:r>
              <a:rPr lang="en-US" baseline="0" dirty="0" err="1"/>
              <a:t>nhận</a:t>
            </a:r>
            <a:r>
              <a:rPr lang="en-US" baseline="0" dirty="0"/>
              <a:t> </a:t>
            </a:r>
            <a:r>
              <a:rPr lang="en-US" baseline="0" dirty="0" err="1"/>
              <a:t>được</a:t>
            </a:r>
            <a:r>
              <a:rPr lang="en-US" baseline="0" dirty="0"/>
              <a:t> ACK0, </a:t>
            </a:r>
            <a:r>
              <a:rPr lang="en-US" baseline="0" dirty="0" err="1"/>
              <a:t>cửa</a:t>
            </a:r>
            <a:r>
              <a:rPr lang="en-US" baseline="0" dirty="0"/>
              <a:t> </a:t>
            </a:r>
            <a:r>
              <a:rPr lang="en-US" baseline="0" dirty="0" err="1"/>
              <a:t>sổ</a:t>
            </a:r>
            <a:r>
              <a:rPr lang="en-US" baseline="0" dirty="0"/>
              <a:t> </a:t>
            </a:r>
            <a:r>
              <a:rPr lang="en-US" baseline="0" dirty="0" err="1"/>
              <a:t>trượt</a:t>
            </a:r>
            <a:r>
              <a:rPr lang="en-US" baseline="0" dirty="0"/>
              <a:t> sang </a:t>
            </a:r>
            <a:r>
              <a:rPr lang="en-US" baseline="0" dirty="0" err="1"/>
              <a:t>phải</a:t>
            </a:r>
            <a:r>
              <a:rPr lang="en-US" baseline="0" dirty="0"/>
              <a:t>, </a:t>
            </a:r>
            <a:r>
              <a:rPr lang="en-US" baseline="0" dirty="0" err="1"/>
              <a:t>bên</a:t>
            </a:r>
            <a:r>
              <a:rPr lang="en-US" baseline="0" dirty="0"/>
              <a:t> </a:t>
            </a:r>
            <a:r>
              <a:rPr lang="en-US" baseline="0" dirty="0" err="1"/>
              <a:t>gửi</a:t>
            </a:r>
            <a:r>
              <a:rPr lang="en-US" baseline="0" dirty="0"/>
              <a:t> </a:t>
            </a:r>
            <a:r>
              <a:rPr lang="en-US" baseline="0" dirty="0" err="1"/>
              <a:t>có</a:t>
            </a:r>
            <a:r>
              <a:rPr lang="en-US" baseline="0" dirty="0"/>
              <a:t> </a:t>
            </a:r>
            <a:r>
              <a:rPr lang="en-US" baseline="0" dirty="0" err="1"/>
              <a:t>thể</a:t>
            </a:r>
            <a:r>
              <a:rPr lang="en-US" baseline="0" dirty="0"/>
              <a:t> </a:t>
            </a:r>
            <a:r>
              <a:rPr lang="en-US" baseline="0" dirty="0" err="1"/>
              <a:t>truyền</a:t>
            </a:r>
            <a:r>
              <a:rPr lang="en-US" baseline="0" dirty="0"/>
              <a:t> </a:t>
            </a:r>
            <a:r>
              <a:rPr lang="en-US" baseline="0" dirty="0" err="1"/>
              <a:t>gói</a:t>
            </a:r>
            <a:r>
              <a:rPr lang="en-US" baseline="0" dirty="0"/>
              <a:t> tin pkt4</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err="1"/>
              <a:t>Khi</a:t>
            </a:r>
            <a:r>
              <a:rPr lang="en-US" baseline="0" dirty="0"/>
              <a:t> </a:t>
            </a:r>
            <a:r>
              <a:rPr lang="en-US" baseline="0" dirty="0" err="1"/>
              <a:t>nhận</a:t>
            </a:r>
            <a:r>
              <a:rPr lang="en-US" baseline="0" dirty="0"/>
              <a:t> </a:t>
            </a:r>
            <a:r>
              <a:rPr lang="en-US" baseline="0" dirty="0" err="1"/>
              <a:t>được</a:t>
            </a:r>
            <a:r>
              <a:rPr lang="en-US" baseline="0" dirty="0"/>
              <a:t> ACK1, </a:t>
            </a:r>
            <a:r>
              <a:rPr lang="en-US" baseline="0" dirty="0" err="1"/>
              <a:t>cửa</a:t>
            </a:r>
            <a:r>
              <a:rPr lang="en-US" baseline="0" dirty="0"/>
              <a:t> </a:t>
            </a:r>
            <a:r>
              <a:rPr lang="en-US" baseline="0" dirty="0" err="1"/>
              <a:t>sổ</a:t>
            </a:r>
            <a:r>
              <a:rPr lang="en-US" baseline="0" dirty="0"/>
              <a:t> </a:t>
            </a:r>
            <a:r>
              <a:rPr lang="en-US" baseline="0" dirty="0" err="1"/>
              <a:t>trượt</a:t>
            </a:r>
            <a:r>
              <a:rPr lang="en-US" baseline="0" dirty="0"/>
              <a:t> sang </a:t>
            </a:r>
            <a:r>
              <a:rPr lang="en-US" baseline="0" dirty="0" err="1"/>
              <a:t>phải</a:t>
            </a:r>
            <a:r>
              <a:rPr lang="en-US" baseline="0" dirty="0"/>
              <a:t>, </a:t>
            </a:r>
            <a:r>
              <a:rPr lang="en-US" baseline="0" dirty="0" err="1"/>
              <a:t>bên</a:t>
            </a:r>
            <a:r>
              <a:rPr lang="en-US" baseline="0" dirty="0"/>
              <a:t> </a:t>
            </a:r>
            <a:r>
              <a:rPr lang="en-US" baseline="0" dirty="0" err="1"/>
              <a:t>gửi</a:t>
            </a:r>
            <a:r>
              <a:rPr lang="en-US" baseline="0" dirty="0"/>
              <a:t> </a:t>
            </a:r>
            <a:r>
              <a:rPr lang="en-US" baseline="0" dirty="0" err="1"/>
              <a:t>có</a:t>
            </a:r>
            <a:r>
              <a:rPr lang="en-US" baseline="0" dirty="0"/>
              <a:t> </a:t>
            </a:r>
            <a:r>
              <a:rPr lang="en-US" baseline="0" dirty="0" err="1"/>
              <a:t>thể</a:t>
            </a:r>
            <a:r>
              <a:rPr lang="en-US" baseline="0" dirty="0"/>
              <a:t> </a:t>
            </a:r>
            <a:r>
              <a:rPr lang="en-US" baseline="0" dirty="0" err="1"/>
              <a:t>truyền</a:t>
            </a:r>
            <a:r>
              <a:rPr lang="en-US" baseline="0" dirty="0"/>
              <a:t> </a:t>
            </a:r>
            <a:r>
              <a:rPr lang="en-US" baseline="0" dirty="0" err="1"/>
              <a:t>gói</a:t>
            </a:r>
            <a:r>
              <a:rPr lang="en-US" baseline="0" dirty="0"/>
              <a:t> tin pkt5</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err="1"/>
              <a:t>Bên</a:t>
            </a:r>
            <a:r>
              <a:rPr lang="en-US" b="1" baseline="0" dirty="0"/>
              <a:t> </a:t>
            </a:r>
            <a:r>
              <a:rPr lang="en-US" b="1" baseline="0" dirty="0" err="1"/>
              <a:t>nhận</a:t>
            </a:r>
            <a:r>
              <a:rPr lang="en-US" b="1"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err="1"/>
              <a:t>Gói</a:t>
            </a:r>
            <a:r>
              <a:rPr lang="en-US" b="0" baseline="0" dirty="0"/>
              <a:t> tin </a:t>
            </a:r>
            <a:r>
              <a:rPr lang="en-US" b="0" baseline="0" dirty="0" err="1"/>
              <a:t>số</a:t>
            </a:r>
            <a:r>
              <a:rPr lang="en-US" b="0" baseline="0" dirty="0"/>
              <a:t> 2 </a:t>
            </a:r>
            <a:r>
              <a:rPr lang="en-US" b="0" baseline="0" dirty="0" err="1"/>
              <a:t>bị</a:t>
            </a:r>
            <a:r>
              <a:rPr lang="en-US" b="0" baseline="0" dirty="0"/>
              <a:t> </a:t>
            </a:r>
            <a:r>
              <a:rPr lang="en-US" b="0" baseline="0" dirty="0" err="1"/>
              <a:t>mất</a:t>
            </a:r>
            <a:r>
              <a:rPr lang="en-US" b="0" baseline="0" dirty="0"/>
              <a:t>, do </a:t>
            </a:r>
            <a:r>
              <a:rPr lang="en-US" b="0" baseline="0" dirty="0" err="1"/>
              <a:t>đó</a:t>
            </a:r>
            <a:r>
              <a:rPr lang="en-US" b="0" baseline="0" dirty="0"/>
              <a:t> </a:t>
            </a:r>
            <a:r>
              <a:rPr lang="en-US" b="0" baseline="0" dirty="0" err="1"/>
              <a:t>gói</a:t>
            </a:r>
            <a:r>
              <a:rPr lang="en-US" b="0" baseline="0" dirty="0"/>
              <a:t> tin 3, 4, 5 </a:t>
            </a:r>
            <a:r>
              <a:rPr lang="en-US" b="0" baseline="0" dirty="0" err="1"/>
              <a:t>gửi</a:t>
            </a:r>
            <a:r>
              <a:rPr lang="en-US" b="0" baseline="0" dirty="0"/>
              <a:t> </a:t>
            </a:r>
            <a:r>
              <a:rPr lang="en-US" b="0" baseline="0" dirty="0" err="1"/>
              <a:t>đến</a:t>
            </a:r>
            <a:r>
              <a:rPr lang="en-US" b="0" baseline="0" dirty="0"/>
              <a:t> </a:t>
            </a:r>
            <a:r>
              <a:rPr lang="en-US" b="0" baseline="0" dirty="0" err="1"/>
              <a:t>không</a:t>
            </a:r>
            <a:r>
              <a:rPr lang="en-US" b="0" baseline="0" dirty="0"/>
              <a:t> </a:t>
            </a:r>
            <a:r>
              <a:rPr lang="en-US" b="0" baseline="0" dirty="0" err="1"/>
              <a:t>theo</a:t>
            </a:r>
            <a:r>
              <a:rPr lang="en-US" b="0" baseline="0" dirty="0"/>
              <a:t> </a:t>
            </a:r>
            <a:r>
              <a:rPr lang="en-US" b="0" baseline="0" dirty="0" err="1"/>
              <a:t>đúng</a:t>
            </a:r>
            <a:r>
              <a:rPr lang="en-US" b="0" baseline="0" dirty="0"/>
              <a:t> </a:t>
            </a:r>
            <a:r>
              <a:rPr lang="en-US" b="0" baseline="0" dirty="0" err="1"/>
              <a:t>thứ</a:t>
            </a:r>
            <a:r>
              <a:rPr lang="en-US" b="0" baseline="0" dirty="0"/>
              <a:t> </a:t>
            </a:r>
            <a:r>
              <a:rPr lang="en-US" b="0" baseline="0" dirty="0" err="1"/>
              <a:t>tự</a:t>
            </a:r>
            <a:r>
              <a:rPr lang="en-US" b="0" baseline="0" dirty="0"/>
              <a:t> </a:t>
            </a:r>
            <a:r>
              <a:rPr lang="en-US" b="0" baseline="0" dirty="0" err="1"/>
              <a:t>và</a:t>
            </a:r>
            <a:r>
              <a:rPr lang="en-US" b="0" baseline="0" dirty="0"/>
              <a:t> </a:t>
            </a:r>
            <a:r>
              <a:rPr lang="en-US" b="0" baseline="0" dirty="0" err="1"/>
              <a:t>bị</a:t>
            </a:r>
            <a:r>
              <a:rPr lang="en-US" b="0" baseline="0" dirty="0"/>
              <a:t> </a:t>
            </a:r>
            <a:r>
              <a:rPr lang="en-US" b="0" baseline="0" dirty="0" err="1"/>
              <a:t>loiaj</a:t>
            </a:r>
            <a:r>
              <a:rPr lang="en-US" b="0" baseline="0" dirty="0"/>
              <a:t> </a:t>
            </a:r>
            <a:r>
              <a:rPr lang="en-US" b="0" baseline="0" dirty="0" err="1"/>
              <a:t>bỏ</a:t>
            </a:r>
            <a:endParaRPr lang="en-US" b="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a:t> </a:t>
            </a:r>
            <a:r>
              <a:rPr lang="en-US" b="0" baseline="0" dirty="0" err="1"/>
              <a:t>Hết</a:t>
            </a:r>
            <a:r>
              <a:rPr lang="en-US" b="0" baseline="0" dirty="0"/>
              <a:t> </a:t>
            </a:r>
            <a:r>
              <a:rPr lang="en-US" b="0" baseline="0" dirty="0" err="1"/>
              <a:t>khoảng</a:t>
            </a:r>
            <a:r>
              <a:rPr lang="en-US" b="0" baseline="0" dirty="0"/>
              <a:t> </a:t>
            </a:r>
            <a:r>
              <a:rPr lang="en-US" b="0" baseline="0" dirty="0" err="1"/>
              <a:t>thời</a:t>
            </a:r>
            <a:r>
              <a:rPr lang="en-US" b="0" baseline="0" dirty="0"/>
              <a:t> </a:t>
            </a:r>
            <a:r>
              <a:rPr lang="en-US" b="0" baseline="0" dirty="0" err="1"/>
              <a:t>gian</a:t>
            </a:r>
            <a:r>
              <a:rPr lang="en-US" b="0" baseline="0" dirty="0"/>
              <a:t> </a:t>
            </a:r>
            <a:r>
              <a:rPr lang="en-US" b="0" baseline="0" dirty="0" err="1"/>
              <a:t>chờ</a:t>
            </a:r>
            <a:r>
              <a:rPr lang="en-US" b="0" baseline="0" dirty="0"/>
              <a:t> </a:t>
            </a:r>
            <a:r>
              <a:rPr lang="en-US" b="0" baseline="0" dirty="0" err="1"/>
              <a:t>xác</a:t>
            </a:r>
            <a:r>
              <a:rPr lang="en-US" b="0" baseline="0" dirty="0"/>
              <a:t> </a:t>
            </a:r>
            <a:r>
              <a:rPr lang="en-US" b="0" baseline="0" dirty="0" err="1"/>
              <a:t>nhận</a:t>
            </a:r>
            <a:r>
              <a:rPr lang="en-US" b="0" baseline="0" dirty="0"/>
              <a:t> </a:t>
            </a:r>
            <a:r>
              <a:rPr lang="en-US" b="0" baseline="0" dirty="0" err="1"/>
              <a:t>của</a:t>
            </a:r>
            <a:r>
              <a:rPr lang="en-US" b="0" baseline="0" dirty="0"/>
              <a:t> </a:t>
            </a:r>
            <a:r>
              <a:rPr lang="en-US" b="0" baseline="0" dirty="0" err="1"/>
              <a:t>gói</a:t>
            </a:r>
            <a:r>
              <a:rPr lang="en-US" b="0" baseline="0" dirty="0"/>
              <a:t> tin </a:t>
            </a:r>
            <a:r>
              <a:rPr lang="en-US" b="0" baseline="0" dirty="0" err="1"/>
              <a:t>thứ</a:t>
            </a:r>
            <a:r>
              <a:rPr lang="en-US" b="0" baseline="0" dirty="0"/>
              <a:t> 2 (timeout(2)), </a:t>
            </a:r>
            <a:r>
              <a:rPr lang="en-US" b="0" baseline="0" dirty="0" err="1"/>
              <a:t>truyền</a:t>
            </a:r>
            <a:r>
              <a:rPr lang="en-US" b="0" baseline="0" dirty="0"/>
              <a:t> </a:t>
            </a:r>
            <a:r>
              <a:rPr lang="en-US" b="0" baseline="0" dirty="0" err="1"/>
              <a:t>lại</a:t>
            </a:r>
            <a:r>
              <a:rPr lang="en-US" b="0" baseline="0" dirty="0"/>
              <a:t> </a:t>
            </a:r>
            <a:r>
              <a:rPr lang="en-US" b="0" baseline="0" dirty="0" err="1"/>
              <a:t>gói</a:t>
            </a:r>
            <a:r>
              <a:rPr lang="en-US" b="0" baseline="0" dirty="0"/>
              <a:t> pkt2 </a:t>
            </a:r>
            <a:r>
              <a:rPr lang="en-US" b="0" baseline="0" dirty="0" err="1"/>
              <a:t>và</a:t>
            </a:r>
            <a:r>
              <a:rPr lang="en-US" b="0" baseline="0" dirty="0"/>
              <a:t> </a:t>
            </a:r>
            <a:r>
              <a:rPr lang="en-US" b="0" baseline="0" dirty="0" err="1"/>
              <a:t>truyền</a:t>
            </a:r>
            <a:r>
              <a:rPr lang="en-US" b="0" baseline="0" dirty="0"/>
              <a:t> </a:t>
            </a:r>
            <a:r>
              <a:rPr lang="en-US" b="0" baseline="0" dirty="0" err="1"/>
              <a:t>liên</a:t>
            </a:r>
            <a:r>
              <a:rPr lang="en-US" b="0" baseline="0" dirty="0"/>
              <a:t> </a:t>
            </a:r>
            <a:r>
              <a:rPr lang="en-US" b="0" baseline="0" dirty="0" err="1"/>
              <a:t>tiếp</a:t>
            </a:r>
            <a:r>
              <a:rPr lang="en-US" b="0" baseline="0" dirty="0"/>
              <a:t> </a:t>
            </a:r>
            <a:r>
              <a:rPr lang="en-US" b="0" baseline="0" dirty="0" err="1"/>
              <a:t>các</a:t>
            </a:r>
            <a:r>
              <a:rPr lang="en-US" b="0" baseline="0" dirty="0"/>
              <a:t> </a:t>
            </a:r>
            <a:r>
              <a:rPr lang="en-US" b="0" baseline="0" dirty="0" err="1"/>
              <a:t>gói</a:t>
            </a:r>
            <a:r>
              <a:rPr lang="en-US" b="0" baseline="0" dirty="0"/>
              <a:t> pkt3, pkt4, pkt5. </a:t>
            </a:r>
            <a:r>
              <a:rPr lang="en-US" b="0" baseline="0" dirty="0" err="1"/>
              <a:t>Sau</a:t>
            </a:r>
            <a:r>
              <a:rPr lang="en-US" b="0" baseline="0" dirty="0"/>
              <a:t> </a:t>
            </a:r>
            <a:r>
              <a:rPr lang="en-US" b="0" baseline="0" dirty="0" err="1"/>
              <a:t>đó</a:t>
            </a:r>
            <a:r>
              <a:rPr lang="en-US" b="0" baseline="0" dirty="0"/>
              <a:t> </a:t>
            </a:r>
            <a:r>
              <a:rPr lang="en-US" b="0" baseline="0" dirty="0" err="1"/>
              <a:t>lại</a:t>
            </a:r>
            <a:r>
              <a:rPr lang="en-US" b="0" baseline="0" dirty="0"/>
              <a:t> </a:t>
            </a:r>
            <a:r>
              <a:rPr lang="en-US" b="0" baseline="0" dirty="0" err="1"/>
              <a:t>đợi</a:t>
            </a:r>
            <a:r>
              <a:rPr lang="en-US" b="0" baseline="0" dirty="0"/>
              <a:t> </a:t>
            </a:r>
            <a:r>
              <a:rPr lang="en-US" b="0" baseline="0" dirty="0" err="1"/>
              <a:t>xác</a:t>
            </a:r>
            <a:r>
              <a:rPr lang="en-US" b="0" baseline="0" dirty="0"/>
              <a:t> </a:t>
            </a:r>
            <a:r>
              <a:rPr lang="en-US" b="0" baseline="0" dirty="0" err="1"/>
              <a:t>nhận</a:t>
            </a:r>
            <a:r>
              <a:rPr lang="en-US" b="0" baseline="0" dirty="0"/>
              <a:t> </a:t>
            </a:r>
            <a:r>
              <a:rPr lang="en-US" b="0" baseline="0" dirty="0" err="1"/>
              <a:t>cho</a:t>
            </a:r>
            <a:r>
              <a:rPr lang="en-US" b="0" baseline="0" dirty="0"/>
              <a:t> </a:t>
            </a:r>
            <a:r>
              <a:rPr lang="en-US" b="0" baseline="0" dirty="0" err="1"/>
              <a:t>các</a:t>
            </a:r>
            <a:r>
              <a:rPr lang="en-US" b="0" baseline="0" dirty="0"/>
              <a:t> </a:t>
            </a:r>
            <a:r>
              <a:rPr lang="en-US" b="0" baseline="0" dirty="0" err="1"/>
              <a:t>gói</a:t>
            </a:r>
            <a:r>
              <a:rPr lang="en-US" b="0" baseline="0" dirty="0"/>
              <a:t> tin </a:t>
            </a:r>
            <a:r>
              <a:rPr lang="en-US" b="0" baseline="0" dirty="0" err="1"/>
              <a:t>này</a:t>
            </a:r>
            <a:r>
              <a:rPr lang="en-US" b="0" baseline="0" dirty="0"/>
              <a:t>. </a:t>
            </a:r>
            <a:r>
              <a:rPr lang="en-US" b="0" baseline="0" dirty="0" err="1"/>
              <a:t>Khi</a:t>
            </a:r>
            <a:r>
              <a:rPr lang="en-US" b="0" baseline="0" dirty="0"/>
              <a:t> </a:t>
            </a:r>
            <a:r>
              <a:rPr lang="en-US" b="0" baseline="0" dirty="0" err="1"/>
              <a:t>nhận</a:t>
            </a:r>
            <a:r>
              <a:rPr lang="en-US" b="0" baseline="0" dirty="0"/>
              <a:t> </a:t>
            </a:r>
            <a:r>
              <a:rPr lang="en-US" b="0" baseline="0" dirty="0" err="1"/>
              <a:t>được</a:t>
            </a:r>
            <a:r>
              <a:rPr lang="en-US" b="0" baseline="0" dirty="0"/>
              <a:t> ACK </a:t>
            </a:r>
            <a:r>
              <a:rPr lang="en-US" b="0" baseline="0" dirty="0" err="1"/>
              <a:t>đầu</a:t>
            </a:r>
            <a:r>
              <a:rPr lang="en-US" b="0" baseline="0" dirty="0"/>
              <a:t> </a:t>
            </a:r>
            <a:r>
              <a:rPr lang="en-US" b="0" baseline="0" dirty="0" err="1"/>
              <a:t>tiên</a:t>
            </a:r>
            <a:r>
              <a:rPr lang="en-US" b="0" baseline="0" dirty="0"/>
              <a:t>, </a:t>
            </a:r>
            <a:r>
              <a:rPr lang="en-US" b="0" baseline="0" dirty="0" err="1"/>
              <a:t>trượt</a:t>
            </a:r>
            <a:r>
              <a:rPr lang="en-US" b="0" baseline="0" dirty="0"/>
              <a:t> </a:t>
            </a:r>
            <a:r>
              <a:rPr lang="en-US" b="0" baseline="0" dirty="0" err="1"/>
              <a:t>cửa</a:t>
            </a:r>
            <a:r>
              <a:rPr lang="en-US" b="0" baseline="0" dirty="0"/>
              <a:t> </a:t>
            </a:r>
            <a:r>
              <a:rPr lang="en-US" b="0" baseline="0" dirty="0" err="1"/>
              <a:t>sổ</a:t>
            </a:r>
            <a:r>
              <a:rPr lang="en-US" b="0" baseline="0" dirty="0"/>
              <a:t> sang </a:t>
            </a:r>
            <a:r>
              <a:rPr lang="en-US" b="0" baseline="0" dirty="0" err="1"/>
              <a:t>phải</a:t>
            </a:r>
            <a:r>
              <a:rPr lang="en-US" b="0" baseline="0" dirty="0"/>
              <a:t> </a:t>
            </a:r>
            <a:r>
              <a:rPr lang="en-US" b="0" baseline="0" dirty="0" err="1"/>
              <a:t>và</a:t>
            </a:r>
            <a:r>
              <a:rPr lang="en-US" b="0" baseline="0" dirty="0"/>
              <a:t> </a:t>
            </a:r>
            <a:r>
              <a:rPr lang="en-US" b="0" baseline="0" dirty="0" err="1"/>
              <a:t>truyền</a:t>
            </a:r>
            <a:r>
              <a:rPr lang="en-US" b="0" baseline="0" dirty="0"/>
              <a:t> </a:t>
            </a:r>
            <a:r>
              <a:rPr lang="en-US" b="0" baseline="0" dirty="0" err="1"/>
              <a:t>gói</a:t>
            </a:r>
            <a:r>
              <a:rPr lang="en-US" b="0" baseline="0" dirty="0"/>
              <a:t> </a:t>
            </a:r>
            <a:r>
              <a:rPr lang="en-US" b="0" baseline="0" dirty="0" err="1"/>
              <a:t>thứ</a:t>
            </a:r>
            <a:r>
              <a:rPr lang="en-US" b="0" baseline="0" dirty="0"/>
              <a:t> 6</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39</a:t>
            </a:fld>
            <a:endParaRPr lang="en-US"/>
          </a:p>
        </p:txBody>
      </p:sp>
    </p:spTree>
    <p:extLst>
      <p:ext uri="{BB962C8B-B14F-4D97-AF65-F5344CB8AC3E}">
        <p14:creationId xmlns:p14="http://schemas.microsoft.com/office/powerpoint/2010/main" val="6228545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repeat:</a:t>
            </a:r>
            <a:r>
              <a:rPr lang="en-US" baseline="0" dirty="0"/>
              <a:t> </a:t>
            </a:r>
            <a:r>
              <a:rPr lang="en-US" baseline="0" dirty="0" err="1"/>
              <a:t>tránh</a:t>
            </a:r>
            <a:r>
              <a:rPr lang="en-US" baseline="0" dirty="0"/>
              <a:t> </a:t>
            </a:r>
            <a:r>
              <a:rPr lang="en-US" baseline="0" dirty="0" err="1"/>
              <a:t>việc</a:t>
            </a:r>
            <a:r>
              <a:rPr lang="en-US" baseline="0" dirty="0"/>
              <a:t> </a:t>
            </a:r>
            <a:r>
              <a:rPr lang="en-US" baseline="0" dirty="0" err="1"/>
              <a:t>truyền</a:t>
            </a:r>
            <a:r>
              <a:rPr lang="en-US" baseline="0" dirty="0"/>
              <a:t> </a:t>
            </a:r>
            <a:r>
              <a:rPr lang="en-US" baseline="0" dirty="0" err="1"/>
              <a:t>lại</a:t>
            </a:r>
            <a:r>
              <a:rPr lang="en-US" baseline="0" dirty="0"/>
              <a:t> </a:t>
            </a:r>
            <a:r>
              <a:rPr lang="en-US" baseline="0" dirty="0" err="1"/>
              <a:t>không</a:t>
            </a:r>
            <a:r>
              <a:rPr lang="en-US" baseline="0" dirty="0"/>
              <a:t> </a:t>
            </a:r>
            <a:r>
              <a:rPr lang="en-US" baseline="0" dirty="0" err="1"/>
              <a:t>cần</a:t>
            </a:r>
            <a:r>
              <a:rPr lang="en-US" baseline="0" dirty="0"/>
              <a:t> </a:t>
            </a:r>
            <a:r>
              <a:rPr lang="en-US" baseline="0" dirty="0" err="1"/>
              <a:t>thiết</a:t>
            </a:r>
            <a:r>
              <a:rPr lang="en-US" baseline="0" dirty="0"/>
              <a:t> </a:t>
            </a:r>
            <a:r>
              <a:rPr lang="en-US" baseline="0" dirty="0" err="1"/>
              <a:t>bằng</a:t>
            </a:r>
            <a:r>
              <a:rPr lang="en-US" baseline="0" dirty="0"/>
              <a:t> </a:t>
            </a:r>
            <a:r>
              <a:rPr lang="en-US" baseline="0" dirty="0" err="1"/>
              <a:t>cách</a:t>
            </a:r>
            <a:r>
              <a:rPr lang="en-US" baseline="0" dirty="0"/>
              <a:t> </a:t>
            </a:r>
            <a:r>
              <a:rPr lang="en-US" baseline="0" dirty="0" err="1"/>
              <a:t>bên</a:t>
            </a:r>
            <a:r>
              <a:rPr lang="en-US" baseline="0" dirty="0"/>
              <a:t> </a:t>
            </a:r>
            <a:r>
              <a:rPr lang="en-US" baseline="0" dirty="0" err="1"/>
              <a:t>gửi</a:t>
            </a:r>
            <a:r>
              <a:rPr lang="en-US" baseline="0" dirty="0"/>
              <a:t> </a:t>
            </a:r>
            <a:r>
              <a:rPr lang="en-US" baseline="0" dirty="0" err="1"/>
              <a:t>chỉ</a:t>
            </a:r>
            <a:r>
              <a:rPr lang="en-US" baseline="0" dirty="0"/>
              <a:t> </a:t>
            </a:r>
            <a:r>
              <a:rPr lang="en-US" baseline="0" dirty="0" err="1"/>
              <a:t>truyền</a:t>
            </a:r>
            <a:r>
              <a:rPr lang="en-US" baseline="0" dirty="0"/>
              <a:t> </a:t>
            </a:r>
            <a:r>
              <a:rPr lang="en-US" baseline="0" dirty="0" err="1"/>
              <a:t>lại</a:t>
            </a:r>
            <a:r>
              <a:rPr lang="en-US" baseline="0" dirty="0"/>
              <a:t> </a:t>
            </a:r>
            <a:r>
              <a:rPr lang="en-US" baseline="0" dirty="0" err="1"/>
              <a:t>các</a:t>
            </a:r>
            <a:r>
              <a:rPr lang="en-US" baseline="0" dirty="0"/>
              <a:t> </a:t>
            </a:r>
            <a:r>
              <a:rPr lang="en-US" baseline="0" dirty="0" err="1"/>
              <a:t>gói</a:t>
            </a:r>
            <a:r>
              <a:rPr lang="en-US" baseline="0" dirty="0"/>
              <a:t> tin </a:t>
            </a:r>
            <a:r>
              <a:rPr lang="en-US" baseline="0" dirty="0" err="1"/>
              <a:t>không</a:t>
            </a:r>
            <a:r>
              <a:rPr lang="en-US" baseline="0" dirty="0"/>
              <a:t> </a:t>
            </a:r>
            <a:r>
              <a:rPr lang="en-US" baseline="0" dirty="0" err="1"/>
              <a:t>nhận</a:t>
            </a:r>
            <a:r>
              <a:rPr lang="en-US" baseline="0" dirty="0"/>
              <a:t> </a:t>
            </a:r>
            <a:r>
              <a:rPr lang="en-US" baseline="0" dirty="0" err="1"/>
              <a:t>được</a:t>
            </a:r>
            <a:r>
              <a:rPr lang="en-US" baseline="0" dirty="0"/>
              <a:t> ACK (</a:t>
            </a:r>
            <a:r>
              <a:rPr lang="en-US" baseline="0" dirty="0" err="1"/>
              <a:t>gói</a:t>
            </a:r>
            <a:r>
              <a:rPr lang="en-US" baseline="0" dirty="0"/>
              <a:t> tin </a:t>
            </a:r>
            <a:r>
              <a:rPr lang="en-US" baseline="0" dirty="0" err="1"/>
              <a:t>bị</a:t>
            </a:r>
            <a:r>
              <a:rPr lang="en-US" baseline="0" dirty="0"/>
              <a:t> </a:t>
            </a:r>
            <a:r>
              <a:rPr lang="en-US" baseline="0" dirty="0" err="1"/>
              <a:t>mất</a:t>
            </a:r>
            <a:r>
              <a:rPr lang="en-US" baseline="0" dirty="0"/>
              <a:t>)</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40</a:t>
            </a:fld>
            <a:endParaRPr lang="en-US"/>
          </a:p>
        </p:txBody>
      </p:sp>
    </p:spTree>
    <p:extLst>
      <p:ext uri="{BB962C8B-B14F-4D97-AF65-F5344CB8AC3E}">
        <p14:creationId xmlns:p14="http://schemas.microsoft.com/office/powerpoint/2010/main" val="36634574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a:t>
            </a:r>
            <a:r>
              <a:rPr lang="en-US" baseline="0" dirty="0"/>
              <a:t> </a:t>
            </a:r>
            <a:r>
              <a:rPr lang="en-US" baseline="0" dirty="0" err="1"/>
              <a:t>họa</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Selective repeat</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41</a:t>
            </a:fld>
            <a:endParaRPr lang="en-US"/>
          </a:p>
        </p:txBody>
      </p:sp>
    </p:spTree>
    <p:extLst>
      <p:ext uri="{BB962C8B-B14F-4D97-AF65-F5344CB8AC3E}">
        <p14:creationId xmlns:p14="http://schemas.microsoft.com/office/powerpoint/2010/main" val="12051730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Phần</a:t>
            </a:r>
            <a:r>
              <a:rPr lang="en-US" baseline="0" dirty="0"/>
              <a:t> </a:t>
            </a:r>
            <a:r>
              <a:rPr lang="en-US" baseline="0" dirty="0" err="1"/>
              <a:t>này</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về</a:t>
            </a:r>
            <a:r>
              <a:rPr lang="en-US" baseline="0" dirty="0"/>
              <a:t> </a:t>
            </a:r>
            <a:r>
              <a:rPr lang="en-US" baseline="0" dirty="0" err="1"/>
              <a:t>truyền</a:t>
            </a:r>
            <a:r>
              <a:rPr lang="en-US" baseline="0" dirty="0"/>
              <a:t> </a:t>
            </a:r>
            <a:r>
              <a:rPr lang="en-US" baseline="0" dirty="0" err="1"/>
              <a:t>dữ</a:t>
            </a:r>
            <a:r>
              <a:rPr lang="en-US" baseline="0" dirty="0"/>
              <a:t> </a:t>
            </a:r>
            <a:r>
              <a:rPr lang="en-US" baseline="0" dirty="0" err="1"/>
              <a:t>liệu</a:t>
            </a:r>
            <a:r>
              <a:rPr lang="en-US" baseline="0" dirty="0"/>
              <a:t> tin </a:t>
            </a:r>
            <a:r>
              <a:rPr lang="en-US" baseline="0" dirty="0" err="1"/>
              <a:t>cậy</a:t>
            </a:r>
            <a:r>
              <a:rPr lang="en-US" baseline="0" dirty="0"/>
              <a:t>. </a:t>
            </a:r>
          </a:p>
          <a:p>
            <a:r>
              <a:rPr lang="en-US" baseline="0" dirty="0" err="1"/>
              <a:t>Dịch</a:t>
            </a:r>
            <a:r>
              <a:rPr lang="en-US" baseline="0" dirty="0"/>
              <a:t> </a:t>
            </a:r>
            <a:r>
              <a:rPr lang="en-US" baseline="0" dirty="0" err="1"/>
              <a:t>vụ</a:t>
            </a:r>
            <a:r>
              <a:rPr lang="en-US" baseline="0" dirty="0"/>
              <a:t> </a:t>
            </a:r>
            <a:r>
              <a:rPr lang="en-US" baseline="0" dirty="0" err="1"/>
              <a:t>này</a:t>
            </a:r>
            <a:r>
              <a:rPr lang="en-US" baseline="0" dirty="0"/>
              <a:t> </a:t>
            </a:r>
            <a:r>
              <a:rPr lang="en-US" baseline="0" dirty="0" err="1"/>
              <a:t>không</a:t>
            </a:r>
            <a:r>
              <a:rPr lang="en-US" baseline="0" dirty="0"/>
              <a:t> </a:t>
            </a:r>
            <a:r>
              <a:rPr lang="en-US" baseline="0" dirty="0" err="1"/>
              <a:t>chỉ</a:t>
            </a:r>
            <a:r>
              <a:rPr lang="en-US" baseline="0" dirty="0"/>
              <a:t> </a:t>
            </a:r>
            <a:r>
              <a:rPr lang="en-US" baseline="0" dirty="0" err="1"/>
              <a:t>nằm</a:t>
            </a:r>
            <a:r>
              <a:rPr lang="en-US" baseline="0" dirty="0"/>
              <a:t> ở </a:t>
            </a:r>
            <a:r>
              <a:rPr lang="en-US" baseline="0" dirty="0" err="1"/>
              <a:t>tầng</a:t>
            </a:r>
            <a:r>
              <a:rPr lang="en-US" baseline="0" dirty="0"/>
              <a:t> </a:t>
            </a:r>
            <a:r>
              <a:rPr lang="en-US" baseline="0" dirty="0" err="1"/>
              <a:t>giao</a:t>
            </a:r>
            <a:r>
              <a:rPr lang="en-US" baseline="0" dirty="0"/>
              <a:t> </a:t>
            </a:r>
            <a:r>
              <a:rPr lang="en-US" baseline="0" dirty="0" err="1"/>
              <a:t>vận</a:t>
            </a:r>
            <a:r>
              <a:rPr lang="en-US" baseline="0" dirty="0"/>
              <a:t> </a:t>
            </a:r>
            <a:r>
              <a:rPr lang="en-US" baseline="0" dirty="0" err="1"/>
              <a:t>mà</a:t>
            </a:r>
            <a:r>
              <a:rPr lang="en-US" baseline="0" dirty="0"/>
              <a:t> </a:t>
            </a:r>
            <a:r>
              <a:rPr lang="en-US" baseline="0" dirty="0" err="1"/>
              <a:t>còn</a:t>
            </a:r>
            <a:r>
              <a:rPr lang="en-US" baseline="0" dirty="0"/>
              <a:t> </a:t>
            </a:r>
            <a:r>
              <a:rPr lang="en-US" baseline="0" dirty="0" err="1"/>
              <a:t>có</a:t>
            </a:r>
            <a:r>
              <a:rPr lang="en-US" baseline="0" dirty="0"/>
              <a:t> </a:t>
            </a:r>
            <a:r>
              <a:rPr lang="en-US" baseline="0" dirty="0" err="1"/>
              <a:t>thể</a:t>
            </a:r>
            <a:r>
              <a:rPr lang="en-US" baseline="0" dirty="0"/>
              <a:t> </a:t>
            </a:r>
            <a:r>
              <a:rPr lang="en-US" baseline="0" dirty="0" err="1"/>
              <a:t>nằm</a:t>
            </a:r>
            <a:r>
              <a:rPr lang="en-US" baseline="0" dirty="0"/>
              <a:t> ở </a:t>
            </a:r>
            <a:r>
              <a:rPr lang="en-US" baseline="0" dirty="0" err="1"/>
              <a:t>tầng</a:t>
            </a:r>
            <a:r>
              <a:rPr lang="en-US" baseline="0" dirty="0"/>
              <a:t> </a:t>
            </a:r>
            <a:r>
              <a:rPr lang="en-US" baseline="0" dirty="0" err="1"/>
              <a:t>liên</a:t>
            </a:r>
            <a:r>
              <a:rPr lang="en-US" baseline="0" dirty="0"/>
              <a:t> </a:t>
            </a:r>
            <a:r>
              <a:rPr lang="en-US" baseline="0" dirty="0" err="1"/>
              <a:t>kết</a:t>
            </a:r>
            <a:r>
              <a:rPr lang="en-US" baseline="0" dirty="0"/>
              <a:t> </a:t>
            </a:r>
            <a:r>
              <a:rPr lang="en-US" baseline="0" dirty="0" err="1"/>
              <a:t>dữ</a:t>
            </a:r>
            <a:r>
              <a:rPr lang="en-US" baseline="0" dirty="0"/>
              <a:t> </a:t>
            </a:r>
            <a:r>
              <a:rPr lang="en-US" baseline="0" dirty="0" err="1"/>
              <a:t>liệu</a:t>
            </a:r>
            <a:r>
              <a:rPr lang="en-US" baseline="0" dirty="0"/>
              <a:t> hay </a:t>
            </a:r>
            <a:r>
              <a:rPr lang="en-US" baseline="0" dirty="0" err="1"/>
              <a:t>tầng</a:t>
            </a:r>
            <a:r>
              <a:rPr lang="en-US" baseline="0" dirty="0"/>
              <a:t> </a:t>
            </a:r>
            <a:r>
              <a:rPr lang="en-US" baseline="0" dirty="0" err="1"/>
              <a:t>ứng</a:t>
            </a:r>
            <a:r>
              <a:rPr lang="en-US" baseline="0" dirty="0"/>
              <a:t> </a:t>
            </a:r>
            <a:r>
              <a:rPr lang="en-US" baseline="0" dirty="0" err="1"/>
              <a:t>dụng</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44</a:t>
            </a:fld>
            <a:endParaRPr lang="en-US"/>
          </a:p>
        </p:txBody>
      </p:sp>
    </p:spTree>
    <p:extLst>
      <p:ext uri="{BB962C8B-B14F-4D97-AF65-F5344CB8AC3E}">
        <p14:creationId xmlns:p14="http://schemas.microsoft.com/office/powerpoint/2010/main" val="1748845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a:t>
            </a:r>
            <a:r>
              <a:rPr lang="en-US" dirty="0" err="1"/>
              <a:t>Dồn</a:t>
            </a:r>
            <a:r>
              <a:rPr lang="en-US" dirty="0"/>
              <a:t> </a:t>
            </a:r>
            <a:r>
              <a:rPr lang="en-US" dirty="0" err="1"/>
              <a:t>kênh</a:t>
            </a:r>
            <a:r>
              <a:rPr lang="en-US" dirty="0"/>
              <a:t>/</a:t>
            </a:r>
            <a:r>
              <a:rPr lang="en-US" dirty="0" err="1"/>
              <a:t>Phân</a:t>
            </a:r>
            <a:r>
              <a:rPr lang="en-US" dirty="0"/>
              <a:t> </a:t>
            </a:r>
            <a:r>
              <a:rPr lang="en-US" dirty="0" err="1"/>
              <a:t>kênh</a:t>
            </a:r>
            <a:r>
              <a:rPr lang="en-US" dirty="0"/>
              <a:t>: </a:t>
            </a:r>
            <a:r>
              <a:rPr lang="en-US"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nguồn</a:t>
            </a:r>
            <a:r>
              <a:rPr lang="en-US" baseline="0" dirty="0"/>
              <a:t>, </a:t>
            </a:r>
            <a:r>
              <a:rPr lang="en-US" baseline="0" dirty="0" err="1"/>
              <a:t>số</a:t>
            </a:r>
            <a:r>
              <a:rPr lang="en-US" baseline="0" dirty="0"/>
              <a:t> </a:t>
            </a:r>
            <a:r>
              <a:rPr lang="en-US" baseline="0" dirty="0" err="1"/>
              <a:t>hiệu</a:t>
            </a:r>
            <a:r>
              <a:rPr lang="en-US" baseline="0" dirty="0"/>
              <a:t> </a:t>
            </a:r>
            <a:r>
              <a:rPr lang="en-US" baseline="0" dirty="0" err="1"/>
              <a:t>cổng</a:t>
            </a:r>
            <a:r>
              <a:rPr lang="en-US" baseline="0" dirty="0"/>
              <a:t> </a:t>
            </a:r>
            <a:r>
              <a:rPr lang="en-US" baseline="0" dirty="0" err="1"/>
              <a:t>đích</a:t>
            </a:r>
            <a:r>
              <a:rPr lang="en-US" baseline="0" dirty="0"/>
              <a:t> </a:t>
            </a:r>
            <a:r>
              <a:rPr lang="en-US"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2) </a:t>
            </a:r>
            <a:r>
              <a:rPr lang="en-US" dirty="0" err="1"/>
              <a:t>Thiết</a:t>
            </a:r>
            <a:r>
              <a:rPr lang="en-US" baseline="0" dirty="0"/>
              <a:t> </a:t>
            </a:r>
            <a:r>
              <a:rPr lang="en-US" baseline="0" dirty="0" err="1"/>
              <a:t>lập</a:t>
            </a:r>
            <a:r>
              <a:rPr lang="en-US" baseline="0" dirty="0"/>
              <a:t> </a:t>
            </a:r>
            <a:r>
              <a:rPr lang="en-US" baseline="0" dirty="0" err="1"/>
              <a:t>và</a:t>
            </a:r>
            <a:r>
              <a:rPr lang="en-US" baseline="0" dirty="0"/>
              <a:t> </a:t>
            </a:r>
            <a:r>
              <a:rPr lang="en-US" baseline="0" dirty="0" err="1"/>
              <a:t>giải</a:t>
            </a:r>
            <a:r>
              <a:rPr lang="en-US" baseline="0" dirty="0"/>
              <a:t> </a:t>
            </a:r>
            <a:r>
              <a:rPr lang="en-US" baseline="0" dirty="0" err="1"/>
              <a:t>phóng</a:t>
            </a:r>
            <a:r>
              <a:rPr lang="en-US" baseline="0" dirty="0"/>
              <a:t> </a:t>
            </a:r>
            <a:r>
              <a:rPr lang="en-US" baseline="0" dirty="0" err="1"/>
              <a:t>kết</a:t>
            </a:r>
            <a:r>
              <a:rPr lang="en-US" baseline="0" dirty="0"/>
              <a:t> </a:t>
            </a:r>
            <a:r>
              <a:rPr lang="en-US" baseline="0" dirty="0" err="1"/>
              <a:t>nối</a:t>
            </a:r>
            <a:r>
              <a:rPr lang="en-US" baseline="0" dirty="0"/>
              <a:t>: RST, SYN, FIN</a:t>
            </a:r>
          </a:p>
          <a:p>
            <a:r>
              <a:rPr lang="en-US" baseline="0" dirty="0"/>
              <a:t>  </a:t>
            </a:r>
            <a:r>
              <a:rPr lang="vi-VN" b="1" dirty="0"/>
              <a:t>RST (Reset) – Đóng kết nối đột ngột</a:t>
            </a:r>
          </a:p>
          <a:p>
            <a:r>
              <a:rPr lang="vi-VN" dirty="0"/>
              <a:t>Cờ </a:t>
            </a:r>
            <a:r>
              <a:rPr lang="vi-VN" b="1" dirty="0"/>
              <a:t>RST</a:t>
            </a:r>
            <a:r>
              <a:rPr lang="vi-VN" dirty="0"/>
              <a:t> được sử dụng khi cần đóng kết nối TCP ngay lập tức mà không cần bắt tay.</a:t>
            </a:r>
          </a:p>
          <a:p>
            <a:r>
              <a:rPr lang="vi-VN" dirty="0"/>
              <a:t>Khi một thiết bị nhận gói tin RST, nó </a:t>
            </a:r>
            <a:r>
              <a:rPr lang="vi-VN" b="1" dirty="0"/>
              <a:t>ngay lập tức chấm dứt kết nối</a:t>
            </a:r>
            <a:r>
              <a:rPr lang="vi-VN" dirty="0"/>
              <a:t> mà không thực hiện quá trình đóng thông thường.</a:t>
            </a:r>
          </a:p>
          <a:p>
            <a:r>
              <a:rPr lang="vi-VN" dirty="0"/>
              <a:t>Một số trường hợp sử dụng RST:</a:t>
            </a:r>
          </a:p>
          <a:p>
            <a:pPr lvl="1"/>
            <a:r>
              <a:rPr lang="vi-VN" dirty="0"/>
              <a:t>Khi một bên phát hiện lỗi hoặc điều kiện bất thường.</a:t>
            </a:r>
          </a:p>
          <a:p>
            <a:pPr lvl="1"/>
            <a:r>
              <a:rPr lang="vi-VN" dirty="0"/>
              <a:t>Khi một thiết bị nhận được gói tin nhưng không có kết nối TCP hợp lệ.</a:t>
            </a:r>
          </a:p>
          <a:p>
            <a:pPr lvl="1"/>
            <a:r>
              <a:rPr lang="vi-VN" dirty="0"/>
              <a:t>Khi tường lửa hoặc hệ thống IDS (Intrusion Detection System) chặn kết nối không mong muốn.</a:t>
            </a:r>
          </a:p>
          <a:p>
            <a:r>
              <a:rPr lang="en-US" dirty="0"/>
              <a:t>📌 </a:t>
            </a:r>
            <a:r>
              <a:rPr lang="vi-VN" b="1" dirty="0"/>
              <a:t>Kết quả</a:t>
            </a:r>
            <a:r>
              <a:rPr lang="vi-VN" dirty="0"/>
              <a:t>: Kết nối bị hủy ngay lập tức mà không cần xác nhận từ phía bên kia.</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3) </a:t>
            </a:r>
            <a:r>
              <a:rPr lang="en-US" dirty="0" err="1"/>
              <a:t>Điều</a:t>
            </a:r>
            <a:r>
              <a:rPr lang="en-US" baseline="0" dirty="0"/>
              <a:t> </a:t>
            </a:r>
            <a:r>
              <a:rPr lang="en-US" baseline="0" dirty="0" err="1"/>
              <a:t>khiển</a:t>
            </a:r>
            <a:r>
              <a:rPr lang="en-US" baseline="0" dirty="0"/>
              <a:t> </a:t>
            </a:r>
            <a:r>
              <a:rPr lang="en-US" baseline="0" dirty="0" err="1"/>
              <a:t>lỗi</a:t>
            </a:r>
            <a:r>
              <a:rPr lang="en-US" baseline="0" dirty="0"/>
              <a:t>: checksum, sequence number, ACK, </a:t>
            </a:r>
            <a:r>
              <a:rPr lang="en-US" baseline="0" dirty="0" err="1"/>
              <a:t>Acknowlegment</a:t>
            </a:r>
            <a:r>
              <a:rPr lang="en-US" baseline="0" dirty="0"/>
              <a:t> number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4) </a:t>
            </a:r>
            <a:r>
              <a:rPr lang="en-US" baseline="0" dirty="0" err="1"/>
              <a:t>Điều</a:t>
            </a:r>
            <a:r>
              <a:rPr lang="en-US" baseline="0" dirty="0"/>
              <a:t> </a:t>
            </a:r>
            <a:r>
              <a:rPr lang="en-US" baseline="0" dirty="0" err="1"/>
              <a:t>khiển</a:t>
            </a:r>
            <a:r>
              <a:rPr lang="en-US" baseline="0" dirty="0"/>
              <a:t> </a:t>
            </a:r>
            <a:r>
              <a:rPr lang="en-US" baseline="0" dirty="0" err="1"/>
              <a:t>luồng</a:t>
            </a:r>
            <a:r>
              <a:rPr lang="en-US" baseline="0" dirty="0"/>
              <a:t>: receive window</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5) </a:t>
            </a:r>
            <a:r>
              <a:rPr lang="en-US" dirty="0" err="1"/>
              <a:t>Truyền</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khẩn</a:t>
            </a:r>
            <a:r>
              <a:rPr lang="en-US" baseline="0" dirty="0"/>
              <a:t> </a:t>
            </a:r>
            <a:r>
              <a:rPr lang="en-US" baseline="0" dirty="0" err="1"/>
              <a:t>cấp</a:t>
            </a:r>
            <a:r>
              <a:rPr lang="en-US" baseline="0" dirty="0"/>
              <a:t>: URG, </a:t>
            </a:r>
            <a:r>
              <a:rPr lang="en-US" baseline="0" dirty="0" err="1"/>
              <a:t>urg</a:t>
            </a:r>
            <a:r>
              <a:rPr lang="en-US" baseline="0" dirty="0"/>
              <a:t> data pointer, </a:t>
            </a:r>
            <a:r>
              <a:rPr lang="en-US" baseline="0" dirty="0" err="1"/>
              <a:t>Psh</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6) </a:t>
            </a:r>
            <a:r>
              <a:rPr lang="en-US" baseline="0" dirty="0" err="1"/>
              <a:t>Kích</a:t>
            </a:r>
            <a:r>
              <a:rPr lang="en-US" baseline="0" dirty="0"/>
              <a:t> </a:t>
            </a:r>
            <a:r>
              <a:rPr lang="en-US" baseline="0" dirty="0" err="1"/>
              <a:t>thước</a:t>
            </a:r>
            <a:r>
              <a:rPr lang="en-US" baseline="0" dirty="0"/>
              <a:t> </a:t>
            </a:r>
            <a:r>
              <a:rPr lang="en-US" baseline="0" dirty="0" err="1"/>
              <a:t>gói</a:t>
            </a:r>
            <a:r>
              <a:rPr lang="en-US" baseline="0" dirty="0"/>
              <a:t> tin: Head </a:t>
            </a:r>
            <a:r>
              <a:rPr lang="en-US" baseline="0" dirty="0" err="1"/>
              <a:t>len</a:t>
            </a:r>
            <a:r>
              <a:rPr lang="en-US" baseline="0" dirty="0"/>
              <a:t>, option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Hai </a:t>
            </a:r>
            <a:r>
              <a:rPr lang="en-US" dirty="0" err="1"/>
              <a:t>trong</a:t>
            </a:r>
            <a:r>
              <a:rPr lang="en-US" dirty="0"/>
              <a:t> </a:t>
            </a:r>
            <a:r>
              <a:rPr lang="en-US" dirty="0" err="1"/>
              <a:t>số</a:t>
            </a:r>
            <a:r>
              <a:rPr lang="en-US" baseline="0" dirty="0"/>
              <a:t> </a:t>
            </a:r>
            <a:r>
              <a:rPr lang="en-US" baseline="0" dirty="0" err="1"/>
              <a:t>những</a:t>
            </a:r>
            <a:r>
              <a:rPr lang="en-US" baseline="0" dirty="0"/>
              <a:t> </a:t>
            </a:r>
            <a:r>
              <a:rPr lang="en-US" baseline="0" dirty="0" err="1"/>
              <a:t>trường</a:t>
            </a:r>
            <a:r>
              <a:rPr lang="en-US" baseline="0" dirty="0"/>
              <a:t> </a:t>
            </a:r>
            <a:r>
              <a:rPr lang="en-US" baseline="0" dirty="0" err="1"/>
              <a:t>quan</a:t>
            </a:r>
            <a:r>
              <a:rPr lang="en-US" baseline="0" dirty="0"/>
              <a:t> </a:t>
            </a:r>
            <a:r>
              <a:rPr lang="en-US" baseline="0" dirty="0" err="1"/>
              <a:t>trọng</a:t>
            </a:r>
            <a:r>
              <a:rPr lang="en-US" baseline="0" dirty="0"/>
              <a:t> </a:t>
            </a:r>
            <a:r>
              <a:rPr lang="en-US" baseline="0" dirty="0" err="1"/>
              <a:t>của</a:t>
            </a:r>
            <a:r>
              <a:rPr lang="en-US" baseline="0" dirty="0"/>
              <a:t> </a:t>
            </a:r>
            <a:r>
              <a:rPr lang="en-US" baseline="0" dirty="0" err="1"/>
              <a:t>tiêu</a:t>
            </a:r>
            <a:r>
              <a:rPr lang="en-US" baseline="0" dirty="0"/>
              <a:t> </a:t>
            </a:r>
            <a:r>
              <a:rPr lang="en-US" baseline="0" dirty="0" err="1"/>
              <a:t>đề</a:t>
            </a:r>
            <a:r>
              <a:rPr lang="en-US" baseline="0" dirty="0"/>
              <a:t> TCP segment </a:t>
            </a:r>
            <a:r>
              <a:rPr lang="en-US" baseline="0" dirty="0" err="1"/>
              <a:t>là</a:t>
            </a:r>
            <a:r>
              <a:rPr lang="en-US" baseline="0" dirty="0"/>
              <a:t> </a:t>
            </a:r>
            <a:r>
              <a:rPr lang="en-US" sz="1200" spc="-5" dirty="0">
                <a:latin typeface="Arial"/>
                <a:cs typeface="Arial"/>
              </a:rPr>
              <a:t>sequence </a:t>
            </a:r>
            <a:r>
              <a:rPr lang="en-US" sz="1200" spc="-10" dirty="0">
                <a:latin typeface="Arial"/>
                <a:cs typeface="Arial"/>
              </a:rPr>
              <a:t>number </a:t>
            </a:r>
            <a:r>
              <a:rPr lang="en-US" sz="1200" spc="-10" dirty="0" err="1">
                <a:latin typeface="Arial"/>
                <a:cs typeface="Arial"/>
              </a:rPr>
              <a:t>và</a:t>
            </a:r>
            <a:r>
              <a:rPr lang="en-US" sz="1200" spc="-10" baseline="0" dirty="0">
                <a:latin typeface="Arial"/>
                <a:cs typeface="Arial"/>
              </a:rPr>
              <a:t> </a:t>
            </a:r>
            <a:r>
              <a:rPr lang="en-US" sz="1200" spc="-10" dirty="0">
                <a:latin typeface="Arial"/>
                <a:cs typeface="Arial"/>
              </a:rPr>
              <a:t>acknowledgement</a:t>
            </a:r>
            <a:r>
              <a:rPr lang="en-US" sz="1200" spc="-5" dirty="0">
                <a:latin typeface="Arial"/>
                <a:cs typeface="Arial"/>
              </a:rPr>
              <a:t> </a:t>
            </a:r>
            <a:r>
              <a:rPr lang="en-US" sz="1200" spc="-10" dirty="0">
                <a:latin typeface="Arial"/>
                <a:cs typeface="Arial"/>
              </a:rPr>
              <a:t>number</a:t>
            </a:r>
            <a:endParaRPr lang="en-US" sz="1200" dirty="0">
              <a:latin typeface="Arial"/>
              <a:cs typeface="Arial"/>
            </a:endParaRPr>
          </a:p>
          <a:p>
            <a:r>
              <a:rPr lang="en-US" sz="1200" spc="-10" dirty="0">
                <a:latin typeface="Arial"/>
                <a:cs typeface="Arial"/>
              </a:rPr>
              <a:t>acknowledgement</a:t>
            </a:r>
            <a:r>
              <a:rPr lang="en-US" sz="1200" spc="-5" dirty="0">
                <a:latin typeface="Arial"/>
                <a:cs typeface="Arial"/>
              </a:rPr>
              <a:t> </a:t>
            </a:r>
            <a:r>
              <a:rPr lang="en-US" sz="1200" spc="-10" dirty="0">
                <a:latin typeface="Arial"/>
                <a:cs typeface="Arial"/>
              </a:rPr>
              <a:t>number : </a:t>
            </a:r>
            <a:r>
              <a:rPr lang="en-US" sz="1200" spc="-10" dirty="0" err="1">
                <a:latin typeface="Arial"/>
                <a:cs typeface="Arial"/>
              </a:rPr>
              <a:t>bên</a:t>
            </a:r>
            <a:r>
              <a:rPr lang="en-US" sz="1200" spc="-10" baseline="0" dirty="0">
                <a:latin typeface="Arial"/>
                <a:cs typeface="Arial"/>
              </a:rPr>
              <a:t> </a:t>
            </a:r>
            <a:r>
              <a:rPr lang="en-US" sz="1200" spc="-10" baseline="0" dirty="0" err="1">
                <a:latin typeface="Arial"/>
                <a:cs typeface="Arial"/>
              </a:rPr>
              <a:t>thu</a:t>
            </a:r>
            <a:r>
              <a:rPr lang="en-US" sz="1200" spc="-10" baseline="0" dirty="0">
                <a:latin typeface="Arial"/>
                <a:cs typeface="Arial"/>
              </a:rPr>
              <a:t> </a:t>
            </a:r>
            <a:r>
              <a:rPr lang="en-US" sz="1200" spc="-10" baseline="0" dirty="0" err="1">
                <a:latin typeface="Arial"/>
                <a:cs typeface="Arial"/>
              </a:rPr>
              <a:t>xác</a:t>
            </a:r>
            <a:r>
              <a:rPr lang="en-US" sz="1200" spc="-10" baseline="0" dirty="0">
                <a:latin typeface="Arial"/>
                <a:cs typeface="Arial"/>
              </a:rPr>
              <a:t> </a:t>
            </a:r>
            <a:r>
              <a:rPr lang="en-US" sz="1200" spc="-10" baseline="0" dirty="0" err="1">
                <a:latin typeface="Arial"/>
                <a:cs typeface="Arial"/>
              </a:rPr>
              <a:t>nhận</a:t>
            </a:r>
            <a:r>
              <a:rPr lang="en-US" sz="1200" spc="-10" baseline="0" dirty="0">
                <a:latin typeface="Arial"/>
                <a:cs typeface="Arial"/>
              </a:rPr>
              <a:t> </a:t>
            </a:r>
            <a:r>
              <a:rPr lang="en-US" sz="1200" spc="-10" baseline="0" dirty="0" err="1">
                <a:latin typeface="Arial"/>
                <a:cs typeface="Arial"/>
              </a:rPr>
              <a:t>thu</a:t>
            </a:r>
            <a:r>
              <a:rPr lang="en-US" sz="1200" spc="-10" baseline="0" dirty="0">
                <a:latin typeface="Arial"/>
                <a:cs typeface="Arial"/>
              </a:rPr>
              <a:t> </a:t>
            </a:r>
            <a:r>
              <a:rPr lang="en-US" sz="1200" spc="-10" baseline="0" dirty="0" err="1">
                <a:latin typeface="Arial"/>
                <a:cs typeface="Arial"/>
              </a:rPr>
              <a:t>được</a:t>
            </a:r>
            <a:r>
              <a:rPr lang="en-US" sz="1200" spc="-10" baseline="0" dirty="0">
                <a:latin typeface="Arial"/>
                <a:cs typeface="Arial"/>
              </a:rPr>
              <a:t> </a:t>
            </a:r>
            <a:r>
              <a:rPr lang="en-US" sz="1200" spc="-10" baseline="0" dirty="0" err="1">
                <a:latin typeface="Arial"/>
                <a:cs typeface="Arial"/>
              </a:rPr>
              <a:t>dữ</a:t>
            </a:r>
            <a:r>
              <a:rPr lang="en-US" sz="1200" spc="-10" baseline="0" dirty="0">
                <a:latin typeface="Arial"/>
                <a:cs typeface="Arial"/>
              </a:rPr>
              <a:t> </a:t>
            </a:r>
            <a:r>
              <a:rPr lang="en-US" sz="1200" spc="-10" baseline="0" dirty="0" err="1">
                <a:latin typeface="Arial"/>
                <a:cs typeface="Arial"/>
              </a:rPr>
              <a:t>liệu</a:t>
            </a:r>
            <a:r>
              <a:rPr lang="en-US" sz="1200" spc="-10" baseline="0" dirty="0">
                <a:latin typeface="Arial"/>
                <a:cs typeface="Arial"/>
              </a:rPr>
              <a:t> </a:t>
            </a:r>
            <a:r>
              <a:rPr lang="en-US" sz="1200" spc="-10" baseline="0" dirty="0" err="1">
                <a:latin typeface="Arial"/>
                <a:cs typeface="Arial"/>
              </a:rPr>
              <a:t>đúng</a:t>
            </a:r>
            <a:endParaRPr lang="en-US" sz="1200" spc="-10" baseline="0" dirty="0">
              <a:latin typeface="Arial"/>
              <a:cs typeface="Arial"/>
            </a:endParaRPr>
          </a:p>
          <a:p>
            <a:endParaRPr lang="en-US" sz="1200" spc="-10" baseline="0" dirty="0">
              <a:latin typeface="Arial"/>
              <a:cs typeface="Arial"/>
            </a:endParaRPr>
          </a:p>
          <a:p>
            <a:r>
              <a:rPr lang="en-US" sz="1200" spc="-10" baseline="0" dirty="0">
                <a:latin typeface="Arial"/>
                <a:cs typeface="Arial"/>
              </a:rPr>
              <a:t>Option </a:t>
            </a:r>
            <a:r>
              <a:rPr lang="en-US" sz="1200" spc="-10" baseline="0" dirty="0" err="1">
                <a:latin typeface="Arial"/>
                <a:cs typeface="Arial"/>
              </a:rPr>
              <a:t>là</a:t>
            </a:r>
            <a:r>
              <a:rPr lang="en-US" sz="1200" spc="-10" baseline="0" dirty="0">
                <a:latin typeface="Arial"/>
                <a:cs typeface="Arial"/>
              </a:rPr>
              <a:t> </a:t>
            </a:r>
            <a:r>
              <a:rPr lang="en-US" sz="1200" spc="-10" baseline="0" dirty="0" err="1">
                <a:latin typeface="Arial"/>
                <a:cs typeface="Arial"/>
              </a:rPr>
              <a:t>tùy</a:t>
            </a:r>
            <a:r>
              <a:rPr lang="en-US" sz="1200" spc="-10" baseline="0" dirty="0">
                <a:latin typeface="Arial"/>
                <a:cs typeface="Arial"/>
              </a:rPr>
              <a:t> </a:t>
            </a:r>
            <a:r>
              <a:rPr lang="en-US" sz="1200" spc="-10" baseline="0" dirty="0" err="1">
                <a:latin typeface="Arial"/>
                <a:cs typeface="Arial"/>
              </a:rPr>
              <a:t>chọn</a:t>
            </a:r>
            <a:r>
              <a:rPr lang="en-US" sz="1200" spc="-10" baseline="0" dirty="0">
                <a:latin typeface="Arial"/>
                <a:cs typeface="Arial"/>
              </a:rPr>
              <a:t>, </a:t>
            </a:r>
            <a:r>
              <a:rPr lang="en-US" sz="1200" spc="-10" baseline="0" dirty="0" err="1">
                <a:latin typeface="Arial"/>
                <a:cs typeface="Arial"/>
              </a:rPr>
              <a:t>có</a:t>
            </a:r>
            <a:r>
              <a:rPr lang="en-US" sz="1200" spc="-10" baseline="0" dirty="0">
                <a:latin typeface="Arial"/>
                <a:cs typeface="Arial"/>
              </a:rPr>
              <a:t> </a:t>
            </a:r>
            <a:r>
              <a:rPr lang="en-US" sz="1200" spc="-10" baseline="0" dirty="0" err="1">
                <a:latin typeface="Arial"/>
                <a:cs typeface="Arial"/>
              </a:rPr>
              <a:t>thể</a:t>
            </a:r>
            <a:r>
              <a:rPr lang="en-US" sz="1200" spc="-10" baseline="0" dirty="0">
                <a:latin typeface="Arial"/>
                <a:cs typeface="Arial"/>
              </a:rPr>
              <a:t> </a:t>
            </a:r>
            <a:r>
              <a:rPr lang="en-US" sz="1200" spc="-10" baseline="0" dirty="0" err="1">
                <a:latin typeface="Arial"/>
                <a:cs typeface="Arial"/>
              </a:rPr>
              <a:t>thay</a:t>
            </a:r>
            <a:r>
              <a:rPr lang="en-US" sz="1200" spc="-10" baseline="0" dirty="0">
                <a:latin typeface="Arial"/>
                <a:cs typeface="Arial"/>
              </a:rPr>
              <a:t> </a:t>
            </a:r>
            <a:r>
              <a:rPr lang="en-US" sz="1200" spc="-10" baseline="0" dirty="0" err="1">
                <a:latin typeface="Arial"/>
                <a:cs typeface="Arial"/>
              </a:rPr>
              <a:t>đổi</a:t>
            </a:r>
            <a:r>
              <a:rPr lang="en-US" sz="1200" spc="-10" baseline="0" dirty="0">
                <a:latin typeface="Arial"/>
                <a:cs typeface="Arial"/>
              </a:rPr>
              <a:t> </a:t>
            </a:r>
            <a:r>
              <a:rPr lang="en-US" sz="1200" spc="-10" baseline="0" dirty="0" err="1">
                <a:latin typeface="Arial"/>
                <a:cs typeface="Arial"/>
              </a:rPr>
              <a:t>tùy</a:t>
            </a:r>
            <a:r>
              <a:rPr lang="en-US" sz="1200" spc="-10" baseline="0" dirty="0">
                <a:latin typeface="Arial"/>
                <a:cs typeface="Arial"/>
              </a:rPr>
              <a:t> ý. </a:t>
            </a:r>
            <a:r>
              <a:rPr lang="en-US" sz="1200" spc="-10" baseline="0" dirty="0" err="1">
                <a:latin typeface="Arial"/>
                <a:cs typeface="Arial"/>
              </a:rPr>
              <a:t>Trường</a:t>
            </a:r>
            <a:r>
              <a:rPr lang="en-US" sz="1200" spc="-10" baseline="0" dirty="0">
                <a:latin typeface="Arial"/>
                <a:cs typeface="Arial"/>
              </a:rPr>
              <a:t> </a:t>
            </a:r>
            <a:r>
              <a:rPr lang="en-US" sz="1200" spc="-10" baseline="0" dirty="0" err="1">
                <a:latin typeface="Arial"/>
                <a:cs typeface="Arial"/>
              </a:rPr>
              <a:t>này</a:t>
            </a:r>
            <a:r>
              <a:rPr lang="en-US" sz="1200" spc="-10" baseline="0" dirty="0">
                <a:latin typeface="Arial"/>
                <a:cs typeface="Arial"/>
              </a:rPr>
              <a:t> </a:t>
            </a:r>
            <a:r>
              <a:rPr lang="en-US" sz="1200" spc="-10" baseline="0" dirty="0" err="1">
                <a:latin typeface="Arial"/>
                <a:cs typeface="Arial"/>
              </a:rPr>
              <a:t>được</a:t>
            </a:r>
            <a:r>
              <a:rPr lang="en-US" sz="1200" spc="-10" baseline="0" dirty="0">
                <a:latin typeface="Arial"/>
                <a:cs typeface="Arial"/>
              </a:rPr>
              <a:t> </a:t>
            </a:r>
            <a:r>
              <a:rPr lang="en-US" sz="1200" spc="-10" baseline="0" dirty="0" err="1">
                <a:latin typeface="Arial"/>
                <a:cs typeface="Arial"/>
              </a:rPr>
              <a:t>sử</a:t>
            </a:r>
            <a:r>
              <a:rPr lang="en-US" sz="1200" spc="-10" baseline="0" dirty="0">
                <a:latin typeface="Arial"/>
                <a:cs typeface="Arial"/>
              </a:rPr>
              <a:t> </a:t>
            </a:r>
            <a:r>
              <a:rPr lang="en-US" sz="1200" spc="-10" baseline="0" dirty="0" err="1">
                <a:latin typeface="Arial"/>
                <a:cs typeface="Arial"/>
              </a:rPr>
              <a:t>dụng</a:t>
            </a:r>
            <a:r>
              <a:rPr lang="en-US" sz="1200" spc="-10" baseline="0" dirty="0">
                <a:latin typeface="Arial"/>
                <a:cs typeface="Arial"/>
              </a:rPr>
              <a:t> </a:t>
            </a:r>
            <a:r>
              <a:rPr lang="en-US" sz="1200" spc="-10" baseline="0" dirty="0" err="1">
                <a:latin typeface="Arial"/>
                <a:cs typeface="Arial"/>
              </a:rPr>
              <a:t>khi</a:t>
            </a:r>
            <a:r>
              <a:rPr lang="en-US" sz="1200" spc="-10" baseline="0" dirty="0">
                <a:latin typeface="Arial"/>
                <a:cs typeface="Arial"/>
              </a:rPr>
              <a:t> </a:t>
            </a:r>
            <a:r>
              <a:rPr lang="en-US" sz="1200" spc="-10" baseline="0" dirty="0" err="1">
                <a:latin typeface="Arial"/>
                <a:cs typeface="Arial"/>
              </a:rPr>
              <a:t>bên</a:t>
            </a:r>
            <a:r>
              <a:rPr lang="en-US" sz="1200" spc="-10" baseline="0" dirty="0">
                <a:latin typeface="Arial"/>
                <a:cs typeface="Arial"/>
              </a:rPr>
              <a:t> </a:t>
            </a:r>
            <a:r>
              <a:rPr lang="en-US" sz="1200" spc="-10" baseline="0" dirty="0" err="1">
                <a:latin typeface="Arial"/>
                <a:cs typeface="Arial"/>
              </a:rPr>
              <a:t>gửi</a:t>
            </a:r>
            <a:r>
              <a:rPr lang="en-US" sz="1200" spc="-10" baseline="0" dirty="0">
                <a:latin typeface="Arial"/>
                <a:cs typeface="Arial"/>
              </a:rPr>
              <a:t>, </a:t>
            </a:r>
            <a:r>
              <a:rPr lang="en-US" sz="1200" spc="-10" baseline="0" dirty="0" err="1">
                <a:latin typeface="Arial"/>
                <a:cs typeface="Arial"/>
              </a:rPr>
              <a:t>bên</a:t>
            </a:r>
            <a:r>
              <a:rPr lang="en-US" sz="1200" spc="-10" baseline="0" dirty="0">
                <a:latin typeface="Arial"/>
                <a:cs typeface="Arial"/>
              </a:rPr>
              <a:t> </a:t>
            </a:r>
            <a:r>
              <a:rPr lang="en-US" sz="1200" spc="-10" baseline="0" dirty="0" err="1">
                <a:latin typeface="Arial"/>
                <a:cs typeface="Arial"/>
              </a:rPr>
              <a:t>nhận</a:t>
            </a:r>
            <a:r>
              <a:rPr lang="en-US" sz="1200" spc="-10" baseline="0" dirty="0">
                <a:latin typeface="Arial"/>
                <a:cs typeface="Arial"/>
              </a:rPr>
              <a:t> </a:t>
            </a:r>
            <a:r>
              <a:rPr lang="en-US" sz="1200" spc="-10" baseline="0" dirty="0" err="1">
                <a:latin typeface="Arial"/>
                <a:cs typeface="Arial"/>
              </a:rPr>
              <a:t>có</a:t>
            </a:r>
            <a:r>
              <a:rPr lang="en-US" sz="1200" spc="-10" baseline="0" dirty="0">
                <a:latin typeface="Arial"/>
                <a:cs typeface="Arial"/>
              </a:rPr>
              <a:t> </a:t>
            </a:r>
            <a:r>
              <a:rPr lang="en-US" sz="1200" spc="-10" baseline="0" dirty="0" err="1">
                <a:latin typeface="Arial"/>
                <a:cs typeface="Arial"/>
              </a:rPr>
              <a:t>thể</a:t>
            </a:r>
            <a:r>
              <a:rPr lang="en-US" sz="1200" spc="-10" baseline="0" dirty="0">
                <a:latin typeface="Arial"/>
                <a:cs typeface="Arial"/>
              </a:rPr>
              <a:t> </a:t>
            </a:r>
            <a:r>
              <a:rPr lang="en-US" sz="1200" spc="-10" baseline="0" dirty="0" err="1">
                <a:latin typeface="Arial"/>
                <a:cs typeface="Arial"/>
              </a:rPr>
              <a:t>thương</a:t>
            </a:r>
            <a:r>
              <a:rPr lang="en-US" sz="1200" spc="-10" baseline="0" dirty="0">
                <a:latin typeface="Arial"/>
                <a:cs typeface="Arial"/>
              </a:rPr>
              <a:t> </a:t>
            </a:r>
            <a:r>
              <a:rPr lang="en-US" sz="1200" spc="-10" baseline="0" dirty="0" err="1">
                <a:latin typeface="Arial"/>
                <a:cs typeface="Arial"/>
              </a:rPr>
              <a:t>lượng</a:t>
            </a:r>
            <a:r>
              <a:rPr lang="en-US" sz="1200" spc="-10" baseline="0" dirty="0">
                <a:latin typeface="Arial"/>
                <a:cs typeface="Arial"/>
              </a:rPr>
              <a:t> </a:t>
            </a:r>
            <a:r>
              <a:rPr lang="en-US" sz="1200" spc="-10" baseline="0" dirty="0" err="1">
                <a:latin typeface="Arial"/>
                <a:cs typeface="Arial"/>
              </a:rPr>
              <a:t>về</a:t>
            </a:r>
            <a:r>
              <a:rPr lang="en-US" sz="1200" spc="-10" baseline="0" dirty="0">
                <a:latin typeface="Arial"/>
                <a:cs typeface="Arial"/>
              </a:rPr>
              <a:t> </a:t>
            </a:r>
            <a:r>
              <a:rPr lang="en-US" sz="1200" spc="-10" baseline="0" dirty="0" err="1">
                <a:latin typeface="Arial"/>
                <a:cs typeface="Arial"/>
              </a:rPr>
              <a:t>giá</a:t>
            </a:r>
            <a:r>
              <a:rPr lang="en-US" sz="1200" spc="-10" baseline="0" dirty="0">
                <a:latin typeface="Arial"/>
                <a:cs typeface="Arial"/>
              </a:rPr>
              <a:t> </a:t>
            </a:r>
            <a:r>
              <a:rPr lang="en-US" sz="1200" spc="-10" baseline="0" dirty="0" err="1">
                <a:latin typeface="Arial"/>
                <a:cs typeface="Arial"/>
              </a:rPr>
              <a:t>trị</a:t>
            </a:r>
            <a:r>
              <a:rPr lang="en-US" sz="1200" spc="-10" baseline="0" dirty="0">
                <a:latin typeface="Arial"/>
                <a:cs typeface="Arial"/>
              </a:rPr>
              <a:t> MMS (</a:t>
            </a:r>
            <a:r>
              <a:rPr lang="en-US" sz="1200" spc="-10" baseline="0" dirty="0" err="1">
                <a:latin typeface="Arial"/>
                <a:cs typeface="Arial"/>
              </a:rPr>
              <a:t>giới</a:t>
            </a:r>
            <a:r>
              <a:rPr lang="en-US" sz="1200" spc="-10" baseline="0" dirty="0">
                <a:latin typeface="Arial"/>
                <a:cs typeface="Arial"/>
              </a:rPr>
              <a:t> </a:t>
            </a:r>
            <a:r>
              <a:rPr lang="en-US" sz="1200" spc="-10" baseline="0" dirty="0" err="1">
                <a:latin typeface="Arial"/>
                <a:cs typeface="Arial"/>
              </a:rPr>
              <a:t>hạn</a:t>
            </a:r>
            <a:r>
              <a:rPr lang="en-US" sz="1200" spc="-10" baseline="0" dirty="0">
                <a:latin typeface="Arial"/>
                <a:cs typeface="Arial"/>
              </a:rPr>
              <a:t> </a:t>
            </a:r>
            <a:r>
              <a:rPr lang="en-US" sz="1200" spc="-10" baseline="0" dirty="0" err="1">
                <a:latin typeface="Arial"/>
                <a:cs typeface="Arial"/>
              </a:rPr>
              <a:t>độ</a:t>
            </a:r>
            <a:r>
              <a:rPr lang="en-US" sz="1200" spc="-10" baseline="0" dirty="0">
                <a:latin typeface="Arial"/>
                <a:cs typeface="Arial"/>
              </a:rPr>
              <a:t> </a:t>
            </a:r>
            <a:r>
              <a:rPr lang="en-US" sz="1200" spc="-10" baseline="0" dirty="0" err="1">
                <a:latin typeface="Arial"/>
                <a:cs typeface="Arial"/>
              </a:rPr>
              <a:t>lớn</a:t>
            </a:r>
            <a:r>
              <a:rPr lang="en-US" sz="1200" spc="-10" baseline="0" dirty="0">
                <a:latin typeface="Arial"/>
                <a:cs typeface="Arial"/>
              </a:rPr>
              <a:t> </a:t>
            </a:r>
            <a:r>
              <a:rPr lang="en-US" sz="1200" spc="-10" baseline="0" dirty="0" err="1">
                <a:latin typeface="Arial"/>
                <a:cs typeface="Arial"/>
              </a:rPr>
              <a:t>dữ</a:t>
            </a:r>
            <a:r>
              <a:rPr lang="en-US" sz="1200" spc="-10" baseline="0" dirty="0">
                <a:latin typeface="Arial"/>
                <a:cs typeface="Arial"/>
              </a:rPr>
              <a:t> </a:t>
            </a:r>
            <a:r>
              <a:rPr lang="en-US" sz="1200" spc="-10" baseline="0" dirty="0" err="1">
                <a:latin typeface="Arial"/>
                <a:cs typeface="Arial"/>
              </a:rPr>
              <a:t>liệu</a:t>
            </a:r>
            <a:r>
              <a:rPr lang="en-US" sz="1200" spc="-10" baseline="0" dirty="0">
                <a:latin typeface="Arial"/>
                <a:cs typeface="Arial"/>
              </a:rPr>
              <a:t> </a:t>
            </a:r>
            <a:r>
              <a:rPr lang="en-US" sz="1200" spc="-10" baseline="0" dirty="0" err="1">
                <a:latin typeface="Arial"/>
                <a:cs typeface="Arial"/>
              </a:rPr>
              <a:t>của</a:t>
            </a:r>
            <a:r>
              <a:rPr lang="en-US" sz="1200" spc="-10" baseline="0" dirty="0">
                <a:latin typeface="Arial"/>
                <a:cs typeface="Arial"/>
              </a:rPr>
              <a:t> segment) (hay </a:t>
            </a:r>
            <a:r>
              <a:rPr lang="en-US" sz="1200" spc="-10" baseline="0" dirty="0" err="1">
                <a:latin typeface="Arial"/>
                <a:cs typeface="Arial"/>
              </a:rPr>
              <a:t>nói</a:t>
            </a:r>
            <a:r>
              <a:rPr lang="en-US" sz="1200" spc="-10" baseline="0" dirty="0">
                <a:latin typeface="Arial"/>
                <a:cs typeface="Arial"/>
              </a:rPr>
              <a:t> </a:t>
            </a:r>
            <a:r>
              <a:rPr lang="en-US" sz="1200" spc="-10" baseline="0" dirty="0" err="1">
                <a:latin typeface="Arial"/>
                <a:cs typeface="Arial"/>
              </a:rPr>
              <a:t>cách</a:t>
            </a:r>
            <a:r>
              <a:rPr lang="en-US" sz="1200" spc="-10" baseline="0" dirty="0">
                <a:latin typeface="Arial"/>
                <a:cs typeface="Arial"/>
              </a:rPr>
              <a:t> </a:t>
            </a:r>
            <a:r>
              <a:rPr lang="en-US" sz="1200" spc="-10" baseline="0" dirty="0" err="1">
                <a:latin typeface="Arial"/>
                <a:cs typeface="Arial"/>
              </a:rPr>
              <a:t>khác</a:t>
            </a:r>
            <a:r>
              <a:rPr lang="en-US" sz="1200" spc="-10" baseline="0" dirty="0">
                <a:latin typeface="Arial"/>
                <a:cs typeface="Arial"/>
              </a:rPr>
              <a:t> </a:t>
            </a:r>
            <a:r>
              <a:rPr lang="en-US" sz="1200" spc="-10" baseline="0" dirty="0" err="1">
                <a:latin typeface="Arial"/>
                <a:cs typeface="Arial"/>
              </a:rPr>
              <a:t>là</a:t>
            </a:r>
            <a:r>
              <a:rPr lang="en-US" sz="1200" spc="-10" baseline="0" dirty="0">
                <a:latin typeface="Arial"/>
                <a:cs typeface="Arial"/>
              </a:rPr>
              <a:t> </a:t>
            </a:r>
            <a:r>
              <a:rPr lang="en-US" sz="1200" spc="-10" baseline="0" dirty="0" err="1">
                <a:latin typeface="Arial"/>
                <a:cs typeface="Arial"/>
              </a:rPr>
              <a:t>khai</a:t>
            </a:r>
            <a:r>
              <a:rPr lang="en-US" sz="1200" spc="-10" baseline="0" dirty="0">
                <a:latin typeface="Arial"/>
                <a:cs typeface="Arial"/>
              </a:rPr>
              <a:t> </a:t>
            </a:r>
            <a:r>
              <a:rPr lang="en-US" sz="1200" spc="-10" baseline="0" dirty="0" err="1">
                <a:latin typeface="Arial"/>
                <a:cs typeface="Arial"/>
              </a:rPr>
              <a:t>báo</a:t>
            </a:r>
            <a:r>
              <a:rPr lang="en-US" sz="1200" spc="-10" baseline="0" dirty="0">
                <a:latin typeface="Arial"/>
                <a:cs typeface="Arial"/>
              </a:rPr>
              <a:t> </a:t>
            </a:r>
            <a:r>
              <a:rPr lang="en-US" sz="1200" spc="-10" baseline="0" dirty="0" err="1">
                <a:latin typeface="Arial"/>
                <a:cs typeface="Arial"/>
              </a:rPr>
              <a:t>độ</a:t>
            </a:r>
            <a:r>
              <a:rPr lang="en-US" sz="1200" spc="-10" baseline="0" dirty="0">
                <a:latin typeface="Arial"/>
                <a:cs typeface="Arial"/>
              </a:rPr>
              <a:t> </a:t>
            </a:r>
            <a:r>
              <a:rPr lang="en-US" sz="1200" spc="-10" baseline="0" dirty="0" err="1">
                <a:latin typeface="Arial"/>
                <a:cs typeface="Arial"/>
              </a:rPr>
              <a:t>dài</a:t>
            </a:r>
            <a:r>
              <a:rPr lang="en-US" sz="1200" spc="-10" baseline="0" dirty="0">
                <a:latin typeface="Arial"/>
                <a:cs typeface="Arial"/>
              </a:rPr>
              <a:t> </a:t>
            </a:r>
            <a:r>
              <a:rPr lang="en-US" sz="1200" spc="-10" baseline="0" dirty="0" err="1">
                <a:latin typeface="Arial"/>
                <a:cs typeface="Arial"/>
              </a:rPr>
              <a:t>tối</a:t>
            </a:r>
            <a:r>
              <a:rPr lang="en-US" sz="1200" spc="-10" baseline="0" dirty="0">
                <a:latin typeface="Arial"/>
                <a:cs typeface="Arial"/>
              </a:rPr>
              <a:t> </a:t>
            </a:r>
            <a:r>
              <a:rPr lang="en-US" sz="1200" spc="-10" baseline="0" dirty="0" err="1">
                <a:latin typeface="Arial"/>
                <a:cs typeface="Arial"/>
              </a:rPr>
              <a:t>đa</a:t>
            </a:r>
            <a:r>
              <a:rPr lang="en-US" sz="1200" spc="-10" baseline="0" dirty="0">
                <a:latin typeface="Arial"/>
                <a:cs typeface="Arial"/>
              </a:rPr>
              <a:t> </a:t>
            </a:r>
            <a:r>
              <a:rPr lang="en-US" sz="1200" spc="-10" baseline="0" dirty="0" err="1">
                <a:latin typeface="Arial"/>
                <a:cs typeface="Arial"/>
              </a:rPr>
              <a:t>của</a:t>
            </a:r>
            <a:r>
              <a:rPr lang="en-US" sz="1200" spc="-10" baseline="0" dirty="0">
                <a:latin typeface="Arial"/>
                <a:cs typeface="Arial"/>
              </a:rPr>
              <a:t> data </a:t>
            </a:r>
            <a:r>
              <a:rPr lang="en-US" sz="1200" spc="-10" baseline="0" dirty="0" err="1">
                <a:latin typeface="Arial"/>
                <a:cs typeface="Arial"/>
              </a:rPr>
              <a:t>trong</a:t>
            </a:r>
            <a:r>
              <a:rPr lang="en-US" sz="1200" spc="-10" baseline="0" dirty="0">
                <a:latin typeface="Arial"/>
                <a:cs typeface="Arial"/>
              </a:rPr>
              <a:t> TCP segment) </a:t>
            </a:r>
            <a:r>
              <a:rPr lang="en-US" sz="1200" spc="-10" baseline="0" dirty="0" err="1">
                <a:latin typeface="Arial"/>
                <a:cs typeface="Arial"/>
              </a:rPr>
              <a:t>hoặc</a:t>
            </a:r>
            <a:r>
              <a:rPr lang="en-US" sz="1200" spc="-10" baseline="0" dirty="0">
                <a:latin typeface="Arial"/>
                <a:cs typeface="Arial"/>
              </a:rPr>
              <a:t> </a:t>
            </a:r>
            <a:r>
              <a:rPr lang="en-US" sz="1200" spc="-10" baseline="0" dirty="0" err="1">
                <a:latin typeface="Arial"/>
                <a:cs typeface="Arial"/>
              </a:rPr>
              <a:t>giá</a:t>
            </a:r>
            <a:r>
              <a:rPr lang="en-US" sz="1200" spc="-10" baseline="0" dirty="0">
                <a:latin typeface="Arial"/>
                <a:cs typeface="Arial"/>
              </a:rPr>
              <a:t> </a:t>
            </a:r>
            <a:r>
              <a:rPr lang="en-US" sz="1200" spc="-10" baseline="0" dirty="0" err="1">
                <a:latin typeface="Arial"/>
                <a:cs typeface="Arial"/>
              </a:rPr>
              <a:t>trị</a:t>
            </a:r>
            <a:r>
              <a:rPr lang="en-US" sz="1200" spc="-10" baseline="0" dirty="0">
                <a:latin typeface="Arial"/>
                <a:cs typeface="Arial"/>
              </a:rPr>
              <a:t> </a:t>
            </a:r>
            <a:r>
              <a:rPr lang="en-US" sz="1200" spc="-10" baseline="0" dirty="0" err="1">
                <a:latin typeface="Arial"/>
                <a:cs typeface="Arial"/>
              </a:rPr>
              <a:t>gia</a:t>
            </a:r>
            <a:r>
              <a:rPr lang="en-US" sz="1200" spc="-10" baseline="0" dirty="0">
                <a:latin typeface="Arial"/>
                <a:cs typeface="Arial"/>
              </a:rPr>
              <a:t> </a:t>
            </a:r>
            <a:r>
              <a:rPr lang="en-US" sz="1200" spc="-10" baseline="0" dirty="0" err="1">
                <a:latin typeface="Arial"/>
                <a:cs typeface="Arial"/>
              </a:rPr>
              <a:t>tăng</a:t>
            </a:r>
            <a:r>
              <a:rPr lang="en-US" sz="1200" spc="-10" baseline="0" dirty="0">
                <a:latin typeface="Arial"/>
                <a:cs typeface="Arial"/>
              </a:rPr>
              <a:t> </a:t>
            </a:r>
            <a:r>
              <a:rPr lang="en-US" sz="1200" spc="-10" baseline="0" dirty="0" err="1">
                <a:latin typeface="Arial"/>
                <a:cs typeface="Arial"/>
              </a:rPr>
              <a:t>của</a:t>
            </a:r>
            <a:r>
              <a:rPr lang="en-US" sz="1200" spc="-10" baseline="0" dirty="0">
                <a:latin typeface="Arial"/>
                <a:cs typeface="Arial"/>
              </a:rPr>
              <a:t> </a:t>
            </a:r>
            <a:r>
              <a:rPr lang="en-US" sz="1200" spc="-10" baseline="0" dirty="0" err="1">
                <a:latin typeface="Arial"/>
                <a:cs typeface="Arial"/>
              </a:rPr>
              <a:t>cửa</a:t>
            </a:r>
            <a:r>
              <a:rPr lang="en-US" sz="1200" spc="-10" baseline="0" dirty="0">
                <a:latin typeface="Arial"/>
                <a:cs typeface="Arial"/>
              </a:rPr>
              <a:t> </a:t>
            </a:r>
            <a:r>
              <a:rPr lang="en-US" sz="1200" spc="-10" baseline="0" dirty="0" err="1">
                <a:latin typeface="Arial"/>
                <a:cs typeface="Arial"/>
              </a:rPr>
              <a:t>sổ</a:t>
            </a:r>
            <a:r>
              <a:rPr lang="en-US" sz="1200" spc="-10" baseline="0" dirty="0">
                <a:latin typeface="Arial"/>
                <a:cs typeface="Arial"/>
              </a:rPr>
              <a:t> </a:t>
            </a:r>
            <a:r>
              <a:rPr lang="en-US" sz="1200" spc="-10" baseline="0" dirty="0" err="1">
                <a:latin typeface="Arial"/>
                <a:cs typeface="Arial"/>
              </a:rPr>
              <a:t>trong</a:t>
            </a:r>
            <a:r>
              <a:rPr lang="en-US" sz="1200" spc="-10" baseline="0" dirty="0">
                <a:latin typeface="Arial"/>
                <a:cs typeface="Arial"/>
              </a:rPr>
              <a:t> </a:t>
            </a:r>
            <a:r>
              <a:rPr lang="en-US" sz="1200" spc="-10" baseline="0" dirty="0" err="1">
                <a:latin typeface="Arial"/>
                <a:cs typeface="Arial"/>
              </a:rPr>
              <a:t>mạng</a:t>
            </a:r>
            <a:r>
              <a:rPr lang="en-US" sz="1200" spc="-10" baseline="0" dirty="0">
                <a:latin typeface="Arial"/>
                <a:cs typeface="Arial"/>
              </a:rPr>
              <a:t> </a:t>
            </a:r>
            <a:r>
              <a:rPr lang="en-US" sz="1200" spc="-10" baseline="0" dirty="0" err="1">
                <a:latin typeface="Arial"/>
                <a:cs typeface="Arial"/>
              </a:rPr>
              <a:t>cao</a:t>
            </a:r>
            <a:r>
              <a:rPr lang="en-US" sz="1200" spc="-10" baseline="0" dirty="0">
                <a:latin typeface="Arial"/>
                <a:cs typeface="Arial"/>
              </a:rPr>
              <a:t> </a:t>
            </a:r>
            <a:r>
              <a:rPr lang="en-US" sz="1200" spc="-10" baseline="0" dirty="0" err="1">
                <a:latin typeface="Arial"/>
                <a:cs typeface="Arial"/>
              </a:rPr>
              <a:t>tốc</a:t>
            </a:r>
            <a:r>
              <a:rPr lang="en-US" sz="1200" spc="-10" baseline="0" dirty="0">
                <a:latin typeface="Arial"/>
                <a:cs typeface="Arial"/>
              </a:rPr>
              <a:t>. </a:t>
            </a:r>
            <a:r>
              <a:rPr lang="en-US" sz="1200" spc="-10" baseline="0" dirty="0" err="1">
                <a:latin typeface="Arial"/>
                <a:cs typeface="Arial"/>
              </a:rPr>
              <a:t>Lựa</a:t>
            </a:r>
            <a:r>
              <a:rPr lang="en-US" sz="1200" spc="-10" baseline="0" dirty="0">
                <a:latin typeface="Arial"/>
                <a:cs typeface="Arial"/>
              </a:rPr>
              <a:t> </a:t>
            </a:r>
            <a:r>
              <a:rPr lang="en-US" sz="1200" spc="-10" baseline="0" dirty="0" err="1">
                <a:latin typeface="Arial"/>
                <a:cs typeface="Arial"/>
              </a:rPr>
              <a:t>chọn</a:t>
            </a:r>
            <a:r>
              <a:rPr lang="en-US" sz="1200" spc="-10" baseline="0" dirty="0">
                <a:latin typeface="Arial"/>
                <a:cs typeface="Arial"/>
              </a:rPr>
              <a:t> </a:t>
            </a:r>
            <a:r>
              <a:rPr lang="en-US" sz="1200" spc="-10" baseline="0" dirty="0" err="1">
                <a:latin typeface="Arial"/>
                <a:cs typeface="Arial"/>
              </a:rPr>
              <a:t>nhãn</a:t>
            </a:r>
            <a:r>
              <a:rPr lang="en-US" sz="1200" spc="-10" baseline="0" dirty="0">
                <a:latin typeface="Arial"/>
                <a:cs typeface="Arial"/>
              </a:rPr>
              <a:t> </a:t>
            </a:r>
            <a:r>
              <a:rPr lang="en-US" sz="1200" spc="-10" baseline="0" dirty="0" err="1">
                <a:latin typeface="Arial"/>
                <a:cs typeface="Arial"/>
              </a:rPr>
              <a:t>thời</a:t>
            </a:r>
            <a:r>
              <a:rPr lang="en-US" sz="1200" spc="-10" baseline="0" dirty="0">
                <a:latin typeface="Arial"/>
                <a:cs typeface="Arial"/>
              </a:rPr>
              <a:t> </a:t>
            </a:r>
            <a:r>
              <a:rPr lang="en-US" sz="1200" spc="-10" baseline="0" dirty="0" err="1">
                <a:latin typeface="Arial"/>
                <a:cs typeface="Arial"/>
              </a:rPr>
              <a:t>gian</a:t>
            </a:r>
            <a:r>
              <a:rPr lang="en-US" sz="1200" spc="-10" baseline="0" dirty="0">
                <a:latin typeface="Arial"/>
                <a:cs typeface="Arial"/>
              </a:rPr>
              <a:t> (timestamping) </a:t>
            </a:r>
            <a:r>
              <a:rPr lang="en-US" sz="1200" spc="-10" baseline="0" dirty="0" err="1">
                <a:latin typeface="Arial"/>
                <a:cs typeface="Arial"/>
              </a:rPr>
              <a:t>cũng</a:t>
            </a:r>
            <a:r>
              <a:rPr lang="en-US" sz="1200" spc="-10" baseline="0" dirty="0">
                <a:latin typeface="Arial"/>
                <a:cs typeface="Arial"/>
              </a:rPr>
              <a:t> </a:t>
            </a:r>
            <a:r>
              <a:rPr lang="en-US" sz="1200" spc="-10" baseline="0" dirty="0" err="1">
                <a:latin typeface="Arial"/>
                <a:cs typeface="Arial"/>
              </a:rPr>
              <a:t>được</a:t>
            </a:r>
            <a:r>
              <a:rPr lang="en-US" sz="1200" spc="-10" baseline="0" dirty="0">
                <a:latin typeface="Arial"/>
                <a:cs typeface="Arial"/>
              </a:rPr>
              <a:t> </a:t>
            </a:r>
            <a:r>
              <a:rPr lang="en-US" sz="1200" spc="-10" baseline="0" dirty="0" err="1">
                <a:latin typeface="Arial"/>
                <a:cs typeface="Arial"/>
              </a:rPr>
              <a:t>định</a:t>
            </a:r>
            <a:r>
              <a:rPr lang="en-US" sz="1200" spc="-10" baseline="0" dirty="0">
                <a:latin typeface="Arial"/>
                <a:cs typeface="Arial"/>
              </a:rPr>
              <a:t> </a:t>
            </a:r>
            <a:r>
              <a:rPr lang="en-US" sz="1200" spc="-10" baseline="0" dirty="0" err="1">
                <a:latin typeface="Arial"/>
                <a:cs typeface="Arial"/>
              </a:rPr>
              <a:t>nghĩa</a:t>
            </a:r>
            <a:r>
              <a:rPr lang="en-US" sz="1200" spc="-10" baseline="0" dirty="0">
                <a:latin typeface="Arial"/>
                <a:cs typeface="Arial"/>
              </a:rPr>
              <a:t>. </a:t>
            </a:r>
            <a:r>
              <a:rPr lang="en-US" sz="1200" spc="-10" baseline="0" dirty="0" err="1">
                <a:latin typeface="Arial"/>
                <a:cs typeface="Arial"/>
              </a:rPr>
              <a:t>Xem</a:t>
            </a:r>
            <a:r>
              <a:rPr lang="en-US" sz="1200" spc="-10" baseline="0" dirty="0">
                <a:latin typeface="Arial"/>
                <a:cs typeface="Arial"/>
              </a:rPr>
              <a:t> RFC 854 </a:t>
            </a:r>
            <a:r>
              <a:rPr lang="en-US" sz="1200" spc="-10" baseline="0" dirty="0" err="1">
                <a:latin typeface="Arial"/>
                <a:cs typeface="Arial"/>
              </a:rPr>
              <a:t>và</a:t>
            </a:r>
            <a:r>
              <a:rPr lang="en-US" sz="1200" spc="-10" baseline="0" dirty="0">
                <a:latin typeface="Arial"/>
                <a:cs typeface="Arial"/>
              </a:rPr>
              <a:t> RFC 1323 </a:t>
            </a:r>
            <a:r>
              <a:rPr lang="en-US" sz="1200" spc="-10" baseline="0" dirty="0" err="1">
                <a:latin typeface="Arial"/>
                <a:cs typeface="Arial"/>
              </a:rPr>
              <a:t>để</a:t>
            </a:r>
            <a:r>
              <a:rPr lang="en-US" sz="1200" spc="-10" baseline="0" dirty="0">
                <a:latin typeface="Arial"/>
                <a:cs typeface="Arial"/>
              </a:rPr>
              <a:t> </a:t>
            </a:r>
            <a:r>
              <a:rPr lang="en-US" sz="1200" spc="-10" baseline="0" dirty="0" err="1">
                <a:latin typeface="Arial"/>
                <a:cs typeface="Arial"/>
              </a:rPr>
              <a:t>biết</a:t>
            </a:r>
            <a:r>
              <a:rPr lang="en-US" sz="1200" spc="-10" baseline="0" dirty="0">
                <a:latin typeface="Arial"/>
                <a:cs typeface="Arial"/>
              </a:rPr>
              <a:t> </a:t>
            </a:r>
            <a:r>
              <a:rPr lang="en-US" sz="1200" spc="-10" baseline="0" dirty="0" err="1">
                <a:latin typeface="Arial"/>
                <a:cs typeface="Arial"/>
              </a:rPr>
              <a:t>thêm</a:t>
            </a:r>
            <a:r>
              <a:rPr lang="en-US" sz="1200" spc="-10" baseline="0" dirty="0">
                <a:latin typeface="Arial"/>
                <a:cs typeface="Arial"/>
              </a:rPr>
              <a:t> chi </a:t>
            </a:r>
            <a:r>
              <a:rPr lang="en-US" sz="1200" spc="-10" baseline="0" dirty="0" err="1">
                <a:latin typeface="Arial"/>
                <a:cs typeface="Arial"/>
              </a:rPr>
              <a:t>tiết</a:t>
            </a:r>
            <a:r>
              <a:rPr lang="en-US" sz="1200" spc="-10" baseline="0" dirty="0">
                <a:latin typeface="Arial"/>
                <a:cs typeface="Arial"/>
              </a:rPr>
              <a:t>.</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47</a:t>
            </a:fld>
            <a:endParaRPr lang="en-US"/>
          </a:p>
        </p:txBody>
      </p:sp>
    </p:spTree>
    <p:extLst>
      <p:ext uri="{BB962C8B-B14F-4D97-AF65-F5344CB8AC3E}">
        <p14:creationId xmlns:p14="http://schemas.microsoft.com/office/powerpoint/2010/main" val="2354397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48</a:t>
            </a:fld>
            <a:endParaRPr lang="en-US"/>
          </a:p>
        </p:txBody>
      </p:sp>
    </p:spTree>
    <p:extLst>
      <p:ext uri="{BB962C8B-B14F-4D97-AF65-F5344CB8AC3E}">
        <p14:creationId xmlns:p14="http://schemas.microsoft.com/office/powerpoint/2010/main" val="3224678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rgbClr val="0070C0"/>
              </a:buClr>
              <a:buFont typeface="Wingdings" panose="05000000000000000000" pitchFamily="2" charset="2"/>
              <a:buChar char="q"/>
            </a:pPr>
            <a:r>
              <a:rPr lang="vi-VN" sz="2200" dirty="0"/>
              <a:t>Bên gửi xử lý segment không đúng thứ tự như thế nào?</a:t>
            </a:r>
          </a:p>
          <a:p>
            <a:pPr marL="800100" lvl="1" indent="-342900">
              <a:buClr>
                <a:srgbClr val="0070C0"/>
              </a:buClr>
              <a:buFont typeface="Wingdings" panose="05000000000000000000" pitchFamily="2" charset="2"/>
              <a:buChar char="q"/>
            </a:pPr>
            <a:r>
              <a:rPr lang="vi-VN" dirty="0"/>
              <a:t>TCP không mô tả</a:t>
            </a:r>
            <a:endParaRPr lang="en-US" dirty="0"/>
          </a:p>
          <a:p>
            <a:pPr marL="457200" lvl="1" indent="0">
              <a:buClr>
                <a:srgbClr val="0070C0"/>
              </a:buClr>
              <a:buFont typeface="Wingdings" panose="05000000000000000000" pitchFamily="2" charset="2"/>
              <a:buNone/>
            </a:pPr>
            <a:r>
              <a:rPr lang="en-US" dirty="0"/>
              <a:t>=&gt; </a:t>
            </a:r>
            <a:r>
              <a:rPr lang="en-US" dirty="0" err="1"/>
              <a:t>người</a:t>
            </a:r>
            <a:r>
              <a:rPr lang="en-US" baseline="0" dirty="0"/>
              <a:t> </a:t>
            </a:r>
            <a:r>
              <a:rPr lang="en-US" baseline="0" dirty="0" err="1"/>
              <a:t>lập</a:t>
            </a:r>
            <a:r>
              <a:rPr lang="en-US" baseline="0" dirty="0"/>
              <a:t> </a:t>
            </a:r>
            <a:r>
              <a:rPr lang="en-US" baseline="0" dirty="0" err="1"/>
              <a:t>trình</a:t>
            </a:r>
            <a:r>
              <a:rPr lang="en-US" baseline="0" dirty="0"/>
              <a:t> TCP </a:t>
            </a:r>
            <a:r>
              <a:rPr lang="en-US" baseline="0" dirty="0" err="1"/>
              <a:t>sẽ</a:t>
            </a:r>
            <a:r>
              <a:rPr lang="en-US" baseline="0" dirty="0"/>
              <a:t> </a:t>
            </a:r>
            <a:r>
              <a:rPr lang="en-US" baseline="0" dirty="0" err="1"/>
              <a:t>đưa</a:t>
            </a:r>
            <a:r>
              <a:rPr lang="en-US" baseline="0" dirty="0"/>
              <a:t> </a:t>
            </a:r>
            <a:r>
              <a:rPr lang="en-US" baseline="0" dirty="0" err="1"/>
              <a:t>ra</a:t>
            </a:r>
            <a:r>
              <a:rPr lang="en-US" baseline="0" dirty="0"/>
              <a:t> </a:t>
            </a:r>
            <a:r>
              <a:rPr lang="en-US" baseline="0" dirty="0" err="1"/>
              <a:t>cách</a:t>
            </a:r>
            <a:r>
              <a:rPr lang="en-US" baseline="0" dirty="0"/>
              <a:t> </a:t>
            </a:r>
            <a:r>
              <a:rPr lang="en-US" baseline="0" dirty="0" err="1"/>
              <a:t>giải</a:t>
            </a:r>
            <a:r>
              <a:rPr lang="en-US" baseline="0" dirty="0"/>
              <a:t> </a:t>
            </a:r>
            <a:r>
              <a:rPr lang="en-US" baseline="0" dirty="0" err="1"/>
              <a:t>quyết</a:t>
            </a:r>
            <a:endParaRPr lang="vi-VN" dirty="0"/>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49</a:t>
            </a:fld>
            <a:endParaRPr lang="en-US"/>
          </a:p>
        </p:txBody>
      </p:sp>
    </p:spTree>
    <p:extLst>
      <p:ext uri="{BB962C8B-B14F-4D97-AF65-F5344CB8AC3E}">
        <p14:creationId xmlns:p14="http://schemas.microsoft.com/office/powerpoint/2010/main" val="15546641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RST (Reset) – Đóng kết nối đột ngột</a:t>
            </a:r>
          </a:p>
          <a:p>
            <a:r>
              <a:rPr lang="vi-VN" dirty="0"/>
              <a:t>Cờ </a:t>
            </a:r>
            <a:r>
              <a:rPr lang="vi-VN" b="1" dirty="0"/>
              <a:t>RST</a:t>
            </a:r>
            <a:r>
              <a:rPr lang="vi-VN" dirty="0"/>
              <a:t> được sử dụng khi cần đóng kết nối TCP ngay lập tức mà không cần bắt tay.</a:t>
            </a:r>
          </a:p>
          <a:p>
            <a:r>
              <a:rPr lang="vi-VN" dirty="0"/>
              <a:t>Khi một thiết bị nhận gói tin RST, nó </a:t>
            </a:r>
            <a:r>
              <a:rPr lang="vi-VN" b="1" dirty="0"/>
              <a:t>ngay lập tức chấm dứt kết nối</a:t>
            </a:r>
            <a:r>
              <a:rPr lang="vi-VN" dirty="0"/>
              <a:t> mà không thực hiện quá trình đóng thông thường.</a:t>
            </a:r>
          </a:p>
          <a:p>
            <a:r>
              <a:rPr lang="vi-VN" dirty="0"/>
              <a:t>Một số trường hợp sử dụng RST:</a:t>
            </a:r>
          </a:p>
          <a:p>
            <a:pPr lvl="1"/>
            <a:r>
              <a:rPr lang="vi-VN" dirty="0"/>
              <a:t>Khi một bên phát hiện lỗi hoặc điều kiện bất thường.</a:t>
            </a:r>
          </a:p>
          <a:p>
            <a:pPr lvl="1"/>
            <a:r>
              <a:rPr lang="vi-VN" dirty="0"/>
              <a:t>Khi một thiết bị nhận được gói tin nhưng không có kết nối TCP hợp lệ.</a:t>
            </a:r>
          </a:p>
          <a:p>
            <a:pPr lvl="1"/>
            <a:r>
              <a:rPr lang="vi-VN" dirty="0"/>
              <a:t>Khi tường lửa hoặc hệ thống IDS (Intrusion Detection System) chặn kết nối không mong muốn.</a:t>
            </a:r>
          </a:p>
          <a:p>
            <a:r>
              <a:rPr lang="en-US" dirty="0"/>
              <a:t>📌 </a:t>
            </a:r>
            <a:r>
              <a:rPr lang="vi-VN" b="1" dirty="0"/>
              <a:t>Kết quả</a:t>
            </a:r>
            <a:r>
              <a:rPr lang="vi-VN" dirty="0"/>
              <a:t>: Kết nối bị hủy ngay lập tức mà không cần xác nhận từ phía bên kia.</a:t>
            </a: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52</a:t>
            </a:fld>
            <a:endParaRPr lang="en-US"/>
          </a:p>
        </p:txBody>
      </p:sp>
    </p:spTree>
    <p:extLst>
      <p:ext uri="{BB962C8B-B14F-4D97-AF65-F5344CB8AC3E}">
        <p14:creationId xmlns:p14="http://schemas.microsoft.com/office/powerpoint/2010/main" val="2475905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2200" b="1" dirty="0" err="1">
                <a:solidFill>
                  <a:schemeClr val="accent2">
                    <a:lumMod val="75000"/>
                  </a:schemeClr>
                </a:solidFill>
              </a:rPr>
              <a:t>Điều</a:t>
            </a:r>
            <a:r>
              <a:rPr lang="en-US" sz="2200" b="1" dirty="0">
                <a:solidFill>
                  <a:schemeClr val="accent2">
                    <a:lumMod val="75000"/>
                  </a:schemeClr>
                </a:solidFill>
              </a:rPr>
              <a:t> </a:t>
            </a:r>
            <a:r>
              <a:rPr lang="en-US" sz="2200" b="1" dirty="0" err="1">
                <a:solidFill>
                  <a:schemeClr val="accent2">
                    <a:lumMod val="75000"/>
                  </a:schemeClr>
                </a:solidFill>
              </a:rPr>
              <a:t>khiển</a:t>
            </a:r>
            <a:r>
              <a:rPr lang="en-US" sz="2200" b="1" dirty="0">
                <a:solidFill>
                  <a:schemeClr val="accent2">
                    <a:lumMod val="75000"/>
                  </a:schemeClr>
                </a:solidFill>
              </a:rPr>
              <a:t> </a:t>
            </a:r>
            <a:r>
              <a:rPr lang="en-US" sz="2200" b="1" dirty="0" err="1">
                <a:solidFill>
                  <a:schemeClr val="accent2">
                    <a:lumMod val="75000"/>
                  </a:schemeClr>
                </a:solidFill>
              </a:rPr>
              <a:t>lỗi</a:t>
            </a:r>
            <a:endParaRPr lang="en-US" sz="2200" b="1" dirty="0">
              <a:solidFill>
                <a:schemeClr val="accent2">
                  <a:lumMod val="75000"/>
                </a:schemeClr>
              </a:solidFill>
            </a:endParaRPr>
          </a:p>
          <a:p>
            <a:pPr marL="342900" indent="-342900" algn="just">
              <a:buFont typeface="Courier New" panose="02070309020205020404" pitchFamily="49" charset="0"/>
              <a:buChar char="o"/>
            </a:pPr>
            <a:r>
              <a:rPr lang="vi-VN" sz="2200" dirty="0">
                <a:solidFill>
                  <a:schemeClr val="tx2"/>
                </a:solidFill>
              </a:rPr>
              <a:t>TCP là một giao thức </a:t>
            </a:r>
            <a:r>
              <a:rPr lang="en-US" sz="2200" dirty="0" err="1">
                <a:solidFill>
                  <a:schemeClr val="tx2"/>
                </a:solidFill>
              </a:rPr>
              <a:t>tầng</a:t>
            </a:r>
            <a:r>
              <a:rPr lang="en-US" sz="2200" dirty="0">
                <a:solidFill>
                  <a:schemeClr val="tx2"/>
                </a:solidFill>
              </a:rPr>
              <a:t> </a:t>
            </a:r>
            <a:r>
              <a:rPr lang="en-US" sz="2200" dirty="0" err="1">
                <a:solidFill>
                  <a:schemeClr val="tx2"/>
                </a:solidFill>
              </a:rPr>
              <a:t>giao</a:t>
            </a:r>
            <a:r>
              <a:rPr lang="en-US" sz="2200" dirty="0">
                <a:solidFill>
                  <a:schemeClr val="tx2"/>
                </a:solidFill>
              </a:rPr>
              <a:t> </a:t>
            </a:r>
            <a:r>
              <a:rPr lang="en-US" sz="2200" dirty="0" err="1">
                <a:solidFill>
                  <a:schemeClr val="tx2"/>
                </a:solidFill>
              </a:rPr>
              <a:t>vận</a:t>
            </a:r>
            <a:r>
              <a:rPr lang="en-US" sz="2200" dirty="0">
                <a:solidFill>
                  <a:schemeClr val="tx2"/>
                </a:solidFill>
              </a:rPr>
              <a:t> </a:t>
            </a:r>
            <a:r>
              <a:rPr lang="vi-VN" sz="2200" dirty="0">
                <a:solidFill>
                  <a:schemeClr val="tx2"/>
                </a:solidFill>
              </a:rPr>
              <a:t>đáng tin cậy. </a:t>
            </a:r>
            <a:endParaRPr lang="en-US" sz="2200" dirty="0">
              <a:solidFill>
                <a:schemeClr val="tx2"/>
              </a:solidFill>
            </a:endParaRPr>
          </a:p>
          <a:p>
            <a:pPr marL="800100" lvl="1" indent="-342900" algn="just">
              <a:buFont typeface="Courier New" panose="02070309020205020404" pitchFamily="49" charset="0"/>
              <a:buChar char="o"/>
            </a:pPr>
            <a:r>
              <a:rPr lang="vi-VN" sz="1800" dirty="0">
                <a:solidFill>
                  <a:schemeClr val="tx2"/>
                </a:solidFill>
              </a:rPr>
              <a:t>Điều này có nghĩa là một chương trình ứng dụng cung cấp một luồng dữ liệu cho TCP dựa vào TCP để truyền toàn bộ luồng dữ liệu đến chương trình ứng dụng ở đầu kia theo </a:t>
            </a:r>
            <a:r>
              <a:rPr lang="vi-VN" sz="1800" b="1" i="1" dirty="0">
                <a:solidFill>
                  <a:schemeClr val="tx2"/>
                </a:solidFill>
              </a:rPr>
              <a:t>đúng thứ tự</a:t>
            </a:r>
            <a:r>
              <a:rPr lang="vi-VN" sz="1800" dirty="0">
                <a:solidFill>
                  <a:schemeClr val="tx2"/>
                </a:solidFill>
              </a:rPr>
              <a:t>, </a:t>
            </a:r>
            <a:r>
              <a:rPr lang="vi-VN" sz="1800" b="1" i="1" dirty="0">
                <a:solidFill>
                  <a:schemeClr val="tx2"/>
                </a:solidFill>
              </a:rPr>
              <a:t>không lỗi </a:t>
            </a:r>
            <a:r>
              <a:rPr lang="vi-VN" sz="1800" dirty="0">
                <a:solidFill>
                  <a:schemeClr val="tx2"/>
                </a:solidFill>
              </a:rPr>
              <a:t>và </a:t>
            </a:r>
            <a:r>
              <a:rPr lang="vi-VN" sz="1800" b="1" i="1" dirty="0">
                <a:solidFill>
                  <a:schemeClr val="tx2"/>
                </a:solidFill>
              </a:rPr>
              <a:t>không mất mát hoặc trùng lặp</a:t>
            </a:r>
            <a:r>
              <a:rPr lang="vi-VN" sz="1800" dirty="0">
                <a:solidFill>
                  <a:schemeClr val="tx2"/>
                </a:solidFill>
              </a:rPr>
              <a:t> bất kỳ phần nào.</a:t>
            </a:r>
            <a:endParaRPr lang="en-US" sz="1800" dirty="0">
              <a:solidFill>
                <a:schemeClr val="tx2"/>
              </a:solidFill>
            </a:endParaRPr>
          </a:p>
          <a:p>
            <a:pPr marL="342900" indent="-342900" algn="just">
              <a:buFont typeface="Courier New" panose="02070309020205020404" pitchFamily="49" charset="0"/>
              <a:buChar char="o"/>
            </a:pPr>
            <a:r>
              <a:rPr lang="vi-VN" sz="2200" dirty="0">
                <a:solidFill>
                  <a:schemeClr val="tx2"/>
                </a:solidFill>
              </a:rPr>
              <a:t>TCP cung cấp độ tin cậy bằng cách sử dụng </a:t>
            </a:r>
            <a:r>
              <a:rPr lang="en-US" sz="2200" dirty="0" err="1">
                <a:solidFill>
                  <a:schemeClr val="tx2"/>
                </a:solidFill>
              </a:rPr>
              <a:t>điều</a:t>
            </a:r>
            <a:r>
              <a:rPr lang="en-US" sz="2200" dirty="0">
                <a:solidFill>
                  <a:schemeClr val="tx2"/>
                </a:solidFill>
              </a:rPr>
              <a:t> </a:t>
            </a:r>
            <a:r>
              <a:rPr lang="en-US" sz="2200" dirty="0" err="1">
                <a:solidFill>
                  <a:schemeClr val="tx2"/>
                </a:solidFill>
              </a:rPr>
              <a:t>khiển</a:t>
            </a:r>
            <a:r>
              <a:rPr lang="en-US" sz="2200" dirty="0">
                <a:solidFill>
                  <a:schemeClr val="tx2"/>
                </a:solidFill>
              </a:rPr>
              <a:t> </a:t>
            </a:r>
            <a:r>
              <a:rPr lang="vi-VN" sz="2200" dirty="0">
                <a:solidFill>
                  <a:schemeClr val="tx2"/>
                </a:solidFill>
              </a:rPr>
              <a:t>lỗi. </a:t>
            </a:r>
            <a:endParaRPr lang="en-US" sz="2200" dirty="0">
              <a:solidFill>
                <a:schemeClr val="tx2"/>
              </a:solidFill>
            </a:endParaRPr>
          </a:p>
          <a:p>
            <a:pPr marL="342900" indent="-342900" algn="just">
              <a:buFont typeface="Courier New" panose="02070309020205020404" pitchFamily="49" charset="0"/>
              <a:buChar char="o"/>
            </a:pPr>
            <a:r>
              <a:rPr lang="en-US" sz="2200" dirty="0" err="1">
                <a:solidFill>
                  <a:schemeClr val="tx2"/>
                </a:solidFill>
              </a:rPr>
              <a:t>Điều</a:t>
            </a:r>
            <a:r>
              <a:rPr lang="en-US" sz="2200" dirty="0">
                <a:solidFill>
                  <a:schemeClr val="tx2"/>
                </a:solidFill>
              </a:rPr>
              <a:t> </a:t>
            </a:r>
            <a:r>
              <a:rPr lang="en-US" sz="2200" dirty="0" err="1">
                <a:solidFill>
                  <a:schemeClr val="tx2"/>
                </a:solidFill>
              </a:rPr>
              <a:t>khiển</a:t>
            </a:r>
            <a:r>
              <a:rPr lang="en-US" sz="2200" dirty="0">
                <a:solidFill>
                  <a:schemeClr val="tx2"/>
                </a:solidFill>
              </a:rPr>
              <a:t> </a:t>
            </a:r>
            <a:r>
              <a:rPr lang="en-US" sz="2200" dirty="0" err="1">
                <a:solidFill>
                  <a:schemeClr val="tx2"/>
                </a:solidFill>
              </a:rPr>
              <a:t>lỗi</a:t>
            </a:r>
            <a:r>
              <a:rPr lang="en-US" sz="2200" dirty="0">
                <a:solidFill>
                  <a:schemeClr val="tx2"/>
                </a:solidFill>
              </a:rPr>
              <a:t> </a:t>
            </a:r>
            <a:r>
              <a:rPr lang="vi-VN" sz="2200" dirty="0">
                <a:solidFill>
                  <a:schemeClr val="tx2"/>
                </a:solidFill>
              </a:rPr>
              <a:t>bao gồm các cơ chế để phát hiện các phân đoạn bị hỏng, mất, không theo thứ tự, và trùng lặp. </a:t>
            </a:r>
            <a:endParaRPr lang="en-US" sz="2200" dirty="0">
              <a:solidFill>
                <a:schemeClr val="tx2"/>
              </a:solidFill>
            </a:endParaRPr>
          </a:p>
          <a:p>
            <a:pPr marL="342900" indent="-342900" algn="just">
              <a:buFont typeface="Courier New" panose="02070309020205020404" pitchFamily="49" charset="0"/>
              <a:buChar char="o"/>
            </a:pPr>
            <a:r>
              <a:rPr lang="en-US" sz="2200" dirty="0" err="1">
                <a:solidFill>
                  <a:schemeClr val="tx2"/>
                </a:solidFill>
              </a:rPr>
              <a:t>Điều</a:t>
            </a:r>
            <a:r>
              <a:rPr lang="en-US" sz="2200" dirty="0">
                <a:solidFill>
                  <a:schemeClr val="tx2"/>
                </a:solidFill>
              </a:rPr>
              <a:t> </a:t>
            </a:r>
            <a:r>
              <a:rPr lang="en-US" sz="2200" dirty="0" err="1">
                <a:solidFill>
                  <a:schemeClr val="tx2"/>
                </a:solidFill>
              </a:rPr>
              <a:t>khiển</a:t>
            </a:r>
            <a:r>
              <a:rPr lang="en-US" sz="2200" dirty="0">
                <a:solidFill>
                  <a:schemeClr val="tx2"/>
                </a:solidFill>
              </a:rPr>
              <a:t> </a:t>
            </a:r>
            <a:r>
              <a:rPr lang="vi-VN" sz="2200" dirty="0">
                <a:solidFill>
                  <a:schemeClr val="tx2"/>
                </a:solidFill>
              </a:rPr>
              <a:t>lỗi cũng bao gồm một cơ chế để sửa lỗi sau khi </a:t>
            </a:r>
            <a:r>
              <a:rPr lang="en-US" sz="2200" dirty="0" err="1">
                <a:solidFill>
                  <a:schemeClr val="tx2"/>
                </a:solidFill>
              </a:rPr>
              <a:t>lỗi</a:t>
            </a:r>
            <a:r>
              <a:rPr lang="en-US" sz="2200" dirty="0">
                <a:solidFill>
                  <a:schemeClr val="tx2"/>
                </a:solidFill>
              </a:rPr>
              <a:t> </a:t>
            </a:r>
            <a:r>
              <a:rPr lang="vi-VN" sz="2200" dirty="0">
                <a:solidFill>
                  <a:schemeClr val="tx2"/>
                </a:solidFill>
              </a:rPr>
              <a:t>được phát hiện. </a:t>
            </a:r>
            <a:endParaRPr lang="en-US" sz="2200" dirty="0">
              <a:solidFill>
                <a:schemeClr val="tx2"/>
              </a:solidFill>
            </a:endParaRPr>
          </a:p>
          <a:p>
            <a:pPr marL="800100" lvl="1" indent="-342900" algn="just">
              <a:buFont typeface="Courier New" panose="02070309020205020404" pitchFamily="49" charset="0"/>
              <a:buChar char="o"/>
            </a:pPr>
            <a:r>
              <a:rPr lang="vi-VN" sz="1800" dirty="0">
                <a:solidFill>
                  <a:schemeClr val="tx2"/>
                </a:solidFill>
              </a:rPr>
              <a:t>Phát hiện và sửa lỗi trong TCP được thực hiện bằng ba công cụ đơn giản: kiểm tra tổng</a:t>
            </a:r>
            <a:r>
              <a:rPr lang="en-US" sz="1800" dirty="0">
                <a:solidFill>
                  <a:schemeClr val="tx2"/>
                </a:solidFill>
              </a:rPr>
              <a:t> (</a:t>
            </a:r>
            <a:r>
              <a:rPr lang="en-US" sz="1800" b="1" i="1" dirty="0">
                <a:solidFill>
                  <a:schemeClr val="tx2"/>
                </a:solidFill>
              </a:rPr>
              <a:t>checksum)</a:t>
            </a:r>
            <a:r>
              <a:rPr lang="vi-VN" sz="1800" dirty="0">
                <a:solidFill>
                  <a:schemeClr val="tx2"/>
                </a:solidFill>
              </a:rPr>
              <a:t>, thông báo xác nhận</a:t>
            </a:r>
            <a:r>
              <a:rPr lang="en-US" sz="1800" dirty="0">
                <a:solidFill>
                  <a:schemeClr val="tx2"/>
                </a:solidFill>
              </a:rPr>
              <a:t> (</a:t>
            </a:r>
            <a:r>
              <a:rPr lang="en-US" sz="1800" b="1" i="1" dirty="0">
                <a:solidFill>
                  <a:schemeClr val="tx2"/>
                </a:solidFill>
              </a:rPr>
              <a:t>acknowledgment)</a:t>
            </a:r>
            <a:r>
              <a:rPr lang="vi-VN" sz="1800" dirty="0">
                <a:solidFill>
                  <a:schemeClr val="tx2"/>
                </a:solidFill>
              </a:rPr>
              <a:t>, và thời gian chờ</a:t>
            </a:r>
            <a:r>
              <a:rPr lang="en-US" sz="1800" dirty="0">
                <a:solidFill>
                  <a:schemeClr val="tx2"/>
                </a:solidFill>
              </a:rPr>
              <a:t> (</a:t>
            </a:r>
            <a:r>
              <a:rPr lang="en-US" sz="1800" b="1" i="1" dirty="0">
                <a:solidFill>
                  <a:schemeClr val="tx2"/>
                </a:solidFill>
              </a:rPr>
              <a:t>time-out)</a:t>
            </a:r>
            <a:r>
              <a:rPr lang="vi-VN" sz="1800" dirty="0">
                <a:solidFill>
                  <a:schemeClr val="tx2"/>
                </a:solidFill>
              </a:rPr>
              <a:t>.</a:t>
            </a:r>
            <a:endParaRPr lang="en-US" sz="1800" dirty="0">
              <a:solidFill>
                <a:schemeClr val="tx2"/>
              </a:solidFill>
            </a:endParaRPr>
          </a:p>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54</a:t>
            </a:fld>
            <a:endParaRPr lang="en-US"/>
          </a:p>
        </p:txBody>
      </p:sp>
    </p:spTree>
    <p:extLst>
      <p:ext uri="{BB962C8B-B14F-4D97-AF65-F5344CB8AC3E}">
        <p14:creationId xmlns:p14="http://schemas.microsoft.com/office/powerpoint/2010/main" val="11536826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Tắc</a:t>
            </a:r>
            <a:r>
              <a:rPr lang="en-US" baseline="0"/>
              <a:t> nghen</a:t>
            </a:r>
            <a:endParaRPr lang="en-US"/>
          </a:p>
        </p:txBody>
      </p:sp>
      <p:sp>
        <p:nvSpPr>
          <p:cNvPr id="4" name="Slide Number Placeholder 3"/>
          <p:cNvSpPr>
            <a:spLocks noGrp="1"/>
          </p:cNvSpPr>
          <p:nvPr>
            <p:ph type="sldNum" sz="quarter" idx="10"/>
          </p:nvPr>
        </p:nvSpPr>
        <p:spPr/>
        <p:txBody>
          <a:bodyPr/>
          <a:lstStyle/>
          <a:p>
            <a:fld id="{B33358BC-3400-4DC5-BF4D-839B26A3A8D8}" type="slidenum">
              <a:rPr lang="en-US" smtClean="0"/>
              <a:t>59</a:t>
            </a:fld>
            <a:endParaRPr lang="en-US"/>
          </a:p>
        </p:txBody>
      </p:sp>
    </p:spTree>
    <p:extLst>
      <p:ext uri="{BB962C8B-B14F-4D97-AF65-F5344CB8AC3E}">
        <p14:creationId xmlns:p14="http://schemas.microsoft.com/office/powerpoint/2010/main" val="79464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Gồm</a:t>
            </a:r>
            <a:r>
              <a:rPr lang="en-US" baseline="0" dirty="0"/>
              <a:t> 2 </a:t>
            </a:r>
            <a:r>
              <a:rPr lang="en-US" baseline="0" dirty="0" err="1"/>
              <a:t>giai</a:t>
            </a:r>
            <a:r>
              <a:rPr lang="en-US" baseline="0" dirty="0"/>
              <a:t> </a:t>
            </a:r>
            <a:r>
              <a:rPr lang="en-US" baseline="0" dirty="0" err="1"/>
              <a:t>đoạn</a:t>
            </a:r>
            <a:r>
              <a:rPr lang="en-US" baseline="0" dirty="0"/>
              <a:t>: slow-chat </a:t>
            </a:r>
            <a:r>
              <a:rPr lang="en-US" baseline="0" dirty="0" err="1"/>
              <a:t>và</a:t>
            </a:r>
            <a:r>
              <a:rPr lang="en-US" baseline="0" dirty="0"/>
              <a:t> </a:t>
            </a:r>
            <a:r>
              <a:rPr lang="en-US" baseline="0" dirty="0" err="1"/>
              <a:t>tránh</a:t>
            </a:r>
            <a:r>
              <a:rPr lang="en-US" baseline="0" dirty="0"/>
              <a:t> </a:t>
            </a:r>
            <a:r>
              <a:rPr lang="en-US" baseline="0" dirty="0" err="1"/>
              <a:t>tắc</a:t>
            </a:r>
            <a:r>
              <a:rPr lang="en-US" baseline="0" dirty="0"/>
              <a:t> </a:t>
            </a:r>
            <a:r>
              <a:rPr lang="en-US" baseline="0" dirty="0" err="1"/>
              <a:t>nghẽn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60</a:t>
            </a:fld>
            <a:endParaRPr lang="en-US"/>
          </a:p>
        </p:txBody>
      </p:sp>
    </p:spTree>
    <p:extLst>
      <p:ext uri="{BB962C8B-B14F-4D97-AF65-F5344CB8AC3E}">
        <p14:creationId xmlns:p14="http://schemas.microsoft.com/office/powerpoint/2010/main" val="22684750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Gồm</a:t>
            </a:r>
            <a:r>
              <a:rPr lang="en-US" baseline="0" dirty="0"/>
              <a:t> 2 </a:t>
            </a:r>
            <a:r>
              <a:rPr lang="en-US" baseline="0" dirty="0" err="1"/>
              <a:t>giai</a:t>
            </a:r>
            <a:r>
              <a:rPr lang="en-US" baseline="0" dirty="0"/>
              <a:t> </a:t>
            </a:r>
            <a:r>
              <a:rPr lang="en-US" baseline="0" dirty="0" err="1"/>
              <a:t>đoạn</a:t>
            </a:r>
            <a:r>
              <a:rPr lang="en-US" baseline="0" dirty="0"/>
              <a:t>: slow-chat </a:t>
            </a:r>
            <a:r>
              <a:rPr lang="en-US" baseline="0" dirty="0" err="1"/>
              <a:t>và</a:t>
            </a:r>
            <a:r>
              <a:rPr lang="en-US" baseline="0" dirty="0"/>
              <a:t> </a:t>
            </a:r>
            <a:r>
              <a:rPr lang="en-US" baseline="0" dirty="0" err="1"/>
              <a:t>tránh</a:t>
            </a:r>
            <a:r>
              <a:rPr lang="en-US" baseline="0" dirty="0"/>
              <a:t> </a:t>
            </a:r>
            <a:r>
              <a:rPr lang="en-US" baseline="0" dirty="0" err="1"/>
              <a:t>tắc</a:t>
            </a:r>
            <a:r>
              <a:rPr lang="en-US" baseline="0" dirty="0"/>
              <a:t> </a:t>
            </a:r>
            <a:r>
              <a:rPr lang="en-US" baseline="0" dirty="0" err="1"/>
              <a:t>nghẽn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61</a:t>
            </a:fld>
            <a:endParaRPr lang="en-US"/>
          </a:p>
        </p:txBody>
      </p:sp>
    </p:spTree>
    <p:extLst>
      <p:ext uri="{BB962C8B-B14F-4D97-AF65-F5344CB8AC3E}">
        <p14:creationId xmlns:p14="http://schemas.microsoft.com/office/powerpoint/2010/main" val="23649090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62</a:t>
            </a:fld>
            <a:endParaRPr lang="en-US"/>
          </a:p>
        </p:txBody>
      </p:sp>
    </p:spTree>
    <p:extLst>
      <p:ext uri="{BB962C8B-B14F-4D97-AF65-F5344CB8AC3E}">
        <p14:creationId xmlns:p14="http://schemas.microsoft.com/office/powerpoint/2010/main" val="15698912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Gồm</a:t>
            </a:r>
            <a:r>
              <a:rPr lang="en-US" baseline="0" dirty="0"/>
              <a:t> 2 </a:t>
            </a:r>
            <a:r>
              <a:rPr lang="en-US" baseline="0" dirty="0" err="1"/>
              <a:t>giai</a:t>
            </a:r>
            <a:r>
              <a:rPr lang="en-US" baseline="0" dirty="0"/>
              <a:t> </a:t>
            </a:r>
            <a:r>
              <a:rPr lang="en-US" baseline="0" dirty="0" err="1"/>
              <a:t>đoạn</a:t>
            </a:r>
            <a:r>
              <a:rPr lang="en-US" baseline="0" dirty="0"/>
              <a:t>: slow-chat </a:t>
            </a:r>
            <a:r>
              <a:rPr lang="en-US" baseline="0" dirty="0" err="1"/>
              <a:t>và</a:t>
            </a:r>
            <a:r>
              <a:rPr lang="en-US" baseline="0" dirty="0"/>
              <a:t> </a:t>
            </a:r>
            <a:r>
              <a:rPr lang="en-US" baseline="0" dirty="0" err="1"/>
              <a:t>tránh</a:t>
            </a:r>
            <a:r>
              <a:rPr lang="en-US" baseline="0" dirty="0"/>
              <a:t> </a:t>
            </a:r>
            <a:r>
              <a:rPr lang="en-US" baseline="0" dirty="0" err="1"/>
              <a:t>tắc</a:t>
            </a:r>
            <a:r>
              <a:rPr lang="en-US" baseline="0" dirty="0"/>
              <a:t> </a:t>
            </a:r>
            <a:r>
              <a:rPr lang="en-US" baseline="0" dirty="0" err="1"/>
              <a:t>nghẽn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63</a:t>
            </a:fld>
            <a:endParaRPr lang="en-US"/>
          </a:p>
        </p:txBody>
      </p:sp>
    </p:spTree>
    <p:extLst>
      <p:ext uri="{BB962C8B-B14F-4D97-AF65-F5344CB8AC3E}">
        <p14:creationId xmlns:p14="http://schemas.microsoft.com/office/powerpoint/2010/main" val="418521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Gồm</a:t>
            </a:r>
            <a:r>
              <a:rPr lang="en-US" baseline="0" dirty="0"/>
              <a:t> 2 </a:t>
            </a:r>
            <a:r>
              <a:rPr lang="en-US" baseline="0" dirty="0" err="1"/>
              <a:t>giai</a:t>
            </a:r>
            <a:r>
              <a:rPr lang="en-US" baseline="0" dirty="0"/>
              <a:t> </a:t>
            </a:r>
            <a:r>
              <a:rPr lang="en-US" baseline="0" dirty="0" err="1"/>
              <a:t>đoạn</a:t>
            </a:r>
            <a:r>
              <a:rPr lang="en-US" baseline="0" dirty="0"/>
              <a:t>: slow-chat </a:t>
            </a:r>
            <a:r>
              <a:rPr lang="en-US" baseline="0" dirty="0" err="1"/>
              <a:t>và</a:t>
            </a:r>
            <a:r>
              <a:rPr lang="en-US" baseline="0" dirty="0"/>
              <a:t> </a:t>
            </a:r>
            <a:r>
              <a:rPr lang="en-US" baseline="0" dirty="0" err="1"/>
              <a:t>tránh</a:t>
            </a:r>
            <a:r>
              <a:rPr lang="en-US" baseline="0" dirty="0"/>
              <a:t> </a:t>
            </a:r>
            <a:r>
              <a:rPr lang="en-US" baseline="0" dirty="0" err="1"/>
              <a:t>tắc</a:t>
            </a:r>
            <a:r>
              <a:rPr lang="en-US" baseline="0" dirty="0"/>
              <a:t> </a:t>
            </a:r>
            <a:r>
              <a:rPr lang="en-US" baseline="0" dirty="0" err="1"/>
              <a:t>nghẽn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64</a:t>
            </a:fld>
            <a:endParaRPr lang="en-US"/>
          </a:p>
        </p:txBody>
      </p:sp>
    </p:spTree>
    <p:extLst>
      <p:ext uri="{BB962C8B-B14F-4D97-AF65-F5344CB8AC3E}">
        <p14:creationId xmlns:p14="http://schemas.microsoft.com/office/powerpoint/2010/main" val="32689182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Gồm</a:t>
            </a:r>
            <a:r>
              <a:rPr lang="en-US" baseline="0" dirty="0"/>
              <a:t> 2 </a:t>
            </a:r>
            <a:r>
              <a:rPr lang="en-US" baseline="0" dirty="0" err="1"/>
              <a:t>giai</a:t>
            </a:r>
            <a:r>
              <a:rPr lang="en-US" baseline="0" dirty="0"/>
              <a:t> </a:t>
            </a:r>
            <a:r>
              <a:rPr lang="en-US" baseline="0" dirty="0" err="1"/>
              <a:t>đoạn</a:t>
            </a:r>
            <a:r>
              <a:rPr lang="en-US" baseline="0" dirty="0"/>
              <a:t>: slow-chat </a:t>
            </a:r>
            <a:r>
              <a:rPr lang="en-US" baseline="0" dirty="0" err="1"/>
              <a:t>và</a:t>
            </a:r>
            <a:r>
              <a:rPr lang="en-US" baseline="0" dirty="0"/>
              <a:t> </a:t>
            </a:r>
            <a:r>
              <a:rPr lang="en-US" baseline="0" dirty="0" err="1"/>
              <a:t>tránh</a:t>
            </a:r>
            <a:r>
              <a:rPr lang="en-US" baseline="0" dirty="0"/>
              <a:t> </a:t>
            </a:r>
            <a:r>
              <a:rPr lang="en-US" baseline="0" dirty="0" err="1"/>
              <a:t>tắc</a:t>
            </a:r>
            <a:r>
              <a:rPr lang="en-US" baseline="0" dirty="0"/>
              <a:t> </a:t>
            </a:r>
            <a:r>
              <a:rPr lang="en-US" baseline="0" dirty="0" err="1"/>
              <a:t>nghẽn</a:t>
            </a:r>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65</a:t>
            </a:fld>
            <a:endParaRPr lang="en-US"/>
          </a:p>
        </p:txBody>
      </p:sp>
    </p:spTree>
    <p:extLst>
      <p:ext uri="{BB962C8B-B14F-4D97-AF65-F5344CB8AC3E}">
        <p14:creationId xmlns:p14="http://schemas.microsoft.com/office/powerpoint/2010/main" val="34488122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67</a:t>
            </a:fld>
            <a:endParaRPr lang="en-US"/>
          </a:p>
        </p:txBody>
      </p:sp>
    </p:spTree>
    <p:extLst>
      <p:ext uri="{BB962C8B-B14F-4D97-AF65-F5344CB8AC3E}">
        <p14:creationId xmlns:p14="http://schemas.microsoft.com/office/powerpoint/2010/main" val="1977470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358BC-3400-4DC5-BF4D-839B26A3A8D8}" type="slidenum">
              <a:rPr lang="en-US" smtClean="0"/>
              <a:t>68</a:t>
            </a:fld>
            <a:endParaRPr lang="en-US"/>
          </a:p>
        </p:txBody>
      </p:sp>
    </p:spTree>
    <p:extLst>
      <p:ext uri="{BB962C8B-B14F-4D97-AF65-F5344CB8AC3E}">
        <p14:creationId xmlns:p14="http://schemas.microsoft.com/office/powerpoint/2010/main" val="446158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C9852C1-DCF2-4504-B1BA-540EF57DFE85}" type="datetime1">
              <a:rPr lang="en-US" smtClean="0"/>
              <a:t>3/2/2026</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12700">
              <a:lnSpc>
                <a:spcPts val="1645"/>
              </a:lnSpc>
            </a:pPr>
            <a:r>
              <a:rPr spc="-5" dirty="0"/>
              <a:t>1-</a:t>
            </a: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333CC"/>
                </a:solidFill>
                <a:latin typeface="Arial"/>
                <a:cs typeface="Arial"/>
              </a:defRPr>
            </a:lvl1pPr>
          </a:lstStyle>
          <a:p>
            <a:endParaRPr/>
          </a:p>
        </p:txBody>
      </p:sp>
      <p:sp>
        <p:nvSpPr>
          <p:cNvPr id="3" name="Holder 3"/>
          <p:cNvSpPr>
            <a:spLocks noGrp="1"/>
          </p:cNvSpPr>
          <p:nvPr>
            <p:ph type="body" idx="1"/>
          </p:nvPr>
        </p:nvSpPr>
        <p:spPr>
          <a:xfrm>
            <a:off x="780541" y="2133600"/>
            <a:ext cx="8497316" cy="4648200"/>
          </a:xfrm>
        </p:spPr>
        <p:txBody>
          <a:bodyPr lIns="0" tIns="0" rIns="0" bIns="0"/>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9618511-C59D-4F40-A1E6-9B62D9120EF7}" type="datetime1">
              <a:rPr lang="en-US" smtClean="0"/>
              <a:t>3/2/2026</a:t>
            </a:fld>
            <a:endParaRPr lang="en-US"/>
          </a:p>
        </p:txBody>
      </p:sp>
      <p:sp>
        <p:nvSpPr>
          <p:cNvPr id="6" name="Holder 6"/>
          <p:cNvSpPr>
            <a:spLocks noGrp="1"/>
          </p:cNvSpPr>
          <p:nvPr>
            <p:ph type="sldNum" sz="quarter" idx="7"/>
          </p:nvPr>
        </p:nvSpPr>
        <p:spPr>
          <a:xfrm>
            <a:off x="9138919" y="6903266"/>
            <a:ext cx="394970" cy="205184"/>
          </a:xfrm>
        </p:spPr>
        <p:txBody>
          <a:bodyPr lIns="0" tIns="0" rIns="0" bIns="0"/>
          <a:lstStyle>
            <a:lvl1pPr>
              <a:defRPr sz="1400" b="0" i="0">
                <a:solidFill>
                  <a:schemeClr val="tx1"/>
                </a:solidFill>
                <a:latin typeface="Arial"/>
                <a:cs typeface="Arial"/>
              </a:defRPr>
            </a:lvl1pPr>
          </a:lstStyle>
          <a:p>
            <a:pPr marL="12700">
              <a:lnSpc>
                <a:spcPts val="1645"/>
              </a:lnSpc>
            </a:pPr>
            <a:fld id="{81D60167-4931-47E6-BA6A-407CBD079E47}" type="slidenum">
              <a:rPr spc="-5" smtClean="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333CC"/>
                </a:solidFill>
                <a:latin typeface="Arial"/>
                <a:cs typeface="Arial"/>
              </a:defRPr>
            </a:lvl1pPr>
          </a:lstStyle>
          <a:p>
            <a:endParaRPr/>
          </a:p>
        </p:txBody>
      </p:sp>
      <p:sp>
        <p:nvSpPr>
          <p:cNvPr id="3" name="Holder 3"/>
          <p:cNvSpPr>
            <a:spLocks noGrp="1"/>
          </p:cNvSpPr>
          <p:nvPr>
            <p:ph sz="half" idx="2"/>
          </p:nvPr>
        </p:nvSpPr>
        <p:spPr>
          <a:xfrm>
            <a:off x="1169161" y="1842008"/>
            <a:ext cx="3858895" cy="4415790"/>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4" name="Holder 4"/>
          <p:cNvSpPr>
            <a:spLocks noGrp="1"/>
          </p:cNvSpPr>
          <p:nvPr>
            <p:ph sz="half" idx="3"/>
          </p:nvPr>
        </p:nvSpPr>
        <p:spPr>
          <a:xfrm>
            <a:off x="5346446" y="2034794"/>
            <a:ext cx="3703320" cy="5293995"/>
          </a:xfrm>
          <a:prstGeom prst="rect">
            <a:avLst/>
          </a:prstGeom>
        </p:spPr>
        <p:txBody>
          <a:bodyPr wrap="square" lIns="0" tIns="0" rIns="0" bIns="0">
            <a:spAutoFit/>
          </a:bodyPr>
          <a:lstStyle>
            <a:lvl1pPr>
              <a:defRPr sz="2400" b="0" i="0">
                <a:solidFill>
                  <a:srgbClr val="CC0000"/>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563262C-890A-45EA-9D57-7D7CAFC61E8E}" type="datetime1">
              <a:rPr lang="en-US" smtClean="0"/>
              <a:t>3/2/2026</a:t>
            </a:fld>
            <a:endParaRPr lang="en-US"/>
          </a:p>
        </p:txBody>
      </p:sp>
      <p:sp>
        <p:nvSpPr>
          <p:cNvPr id="7" name="Holder 7"/>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12700">
              <a:lnSpc>
                <a:spcPts val="1645"/>
              </a:lnSpc>
            </a:pPr>
            <a:r>
              <a:rPr spc="-5" dirty="0"/>
              <a:t>1-</a:t>
            </a: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333C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9C7D8A20-7AC9-47F6-BE36-6BB5A203A330}" type="datetime1">
              <a:rPr lang="en-US" smtClean="0"/>
              <a:t>3/2/2026</a:t>
            </a:fld>
            <a:endParaRPr lang="en-US"/>
          </a:p>
        </p:txBody>
      </p:sp>
      <p:sp>
        <p:nvSpPr>
          <p:cNvPr id="5" name="Holder 5"/>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12700">
              <a:lnSpc>
                <a:spcPts val="1645"/>
              </a:lnSpc>
            </a:pPr>
            <a:r>
              <a:rPr spc="-5" dirty="0"/>
              <a:t>1-</a:t>
            </a: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AB06E73-54D0-486A-B536-C9EE76BFF58C}" type="datetime1">
              <a:rPr lang="en-US" smtClean="0"/>
              <a:t>3/2/2026</a:t>
            </a:fld>
            <a:endParaRPr lang="en-US"/>
          </a:p>
        </p:txBody>
      </p:sp>
      <p:sp>
        <p:nvSpPr>
          <p:cNvPr id="4" name="Holder 4"/>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12700">
              <a:lnSpc>
                <a:spcPts val="1645"/>
              </a:lnSpc>
            </a:pPr>
            <a:r>
              <a:rPr spc="-5" dirty="0"/>
              <a:t>1-</a:t>
            </a: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0541" y="550418"/>
            <a:ext cx="8497316" cy="1441450"/>
          </a:xfrm>
          <a:prstGeom prst="rect">
            <a:avLst/>
          </a:prstGeom>
        </p:spPr>
        <p:txBody>
          <a:bodyPr wrap="square" lIns="0" tIns="0" rIns="0" bIns="0">
            <a:spAutoFit/>
          </a:bodyPr>
          <a:lstStyle>
            <a:lvl1pPr>
              <a:defRPr sz="3600" b="0" i="0">
                <a:solidFill>
                  <a:srgbClr val="3333CC"/>
                </a:solidFill>
                <a:latin typeface="Arial"/>
                <a:cs typeface="Arial"/>
              </a:defRPr>
            </a:lvl1pPr>
          </a:lstStyle>
          <a:p>
            <a:endParaRPr/>
          </a:p>
        </p:txBody>
      </p:sp>
      <p:sp>
        <p:nvSpPr>
          <p:cNvPr id="3" name="Holder 3"/>
          <p:cNvSpPr>
            <a:spLocks noGrp="1"/>
          </p:cNvSpPr>
          <p:nvPr>
            <p:ph type="body" idx="1"/>
          </p:nvPr>
        </p:nvSpPr>
        <p:spPr>
          <a:xfrm>
            <a:off x="1148588" y="1844294"/>
            <a:ext cx="7016750" cy="2575560"/>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8B53B400-D7D9-4BFA-B11C-716FBF3EF032}" type="datetime1">
              <a:rPr lang="en-US" smtClean="0"/>
              <a:t>3/2/2026</a:t>
            </a:fld>
            <a:endParaRPr lang="en-US"/>
          </a:p>
        </p:txBody>
      </p:sp>
      <p:sp>
        <p:nvSpPr>
          <p:cNvPr id="6" name="Holder 6"/>
          <p:cNvSpPr>
            <a:spLocks noGrp="1"/>
          </p:cNvSpPr>
          <p:nvPr>
            <p:ph type="sldNum" sz="quarter" idx="7"/>
          </p:nvPr>
        </p:nvSpPr>
        <p:spPr>
          <a:xfrm>
            <a:off x="9138919" y="6903266"/>
            <a:ext cx="394970" cy="224154"/>
          </a:xfrm>
          <a:prstGeom prst="rect">
            <a:avLst/>
          </a:prstGeom>
        </p:spPr>
        <p:txBody>
          <a:bodyPr wrap="square" lIns="0" tIns="0" rIns="0" bIns="0">
            <a:spAutoFit/>
          </a:bodyPr>
          <a:lstStyle>
            <a:lvl1pPr>
              <a:defRPr sz="1400" b="0" i="0">
                <a:solidFill>
                  <a:schemeClr val="tx1"/>
                </a:solidFill>
                <a:latin typeface="Arial"/>
                <a:cs typeface="Arial"/>
              </a:defRPr>
            </a:lvl1pPr>
          </a:lstStyle>
          <a:p>
            <a:pPr marL="12700">
              <a:lnSpc>
                <a:spcPts val="1645"/>
              </a:lnSpc>
            </a:pPr>
            <a:r>
              <a:rPr spc="-5" dirty="0"/>
              <a:t>1-</a:t>
            </a: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17" Type="http://schemas.openxmlformats.org/officeDocument/2006/relationships/image" Target="../media/image116.png"/><Relationship Id="rId21" Type="http://schemas.openxmlformats.org/officeDocument/2006/relationships/image" Target="../media/image20.png"/><Relationship Id="rId42" Type="http://schemas.openxmlformats.org/officeDocument/2006/relationships/image" Target="../media/image41.png"/><Relationship Id="rId63" Type="http://schemas.openxmlformats.org/officeDocument/2006/relationships/image" Target="../media/image62.png"/><Relationship Id="rId84" Type="http://schemas.openxmlformats.org/officeDocument/2006/relationships/image" Target="../media/image83.png"/><Relationship Id="rId138" Type="http://schemas.openxmlformats.org/officeDocument/2006/relationships/image" Target="../media/image137.png"/><Relationship Id="rId16" Type="http://schemas.openxmlformats.org/officeDocument/2006/relationships/image" Target="../media/image15.png"/><Relationship Id="rId107" Type="http://schemas.openxmlformats.org/officeDocument/2006/relationships/image" Target="../media/image106.png"/><Relationship Id="rId11" Type="http://schemas.openxmlformats.org/officeDocument/2006/relationships/image" Target="../media/image10.png"/><Relationship Id="rId32" Type="http://schemas.openxmlformats.org/officeDocument/2006/relationships/image" Target="../media/image31.png"/><Relationship Id="rId37" Type="http://schemas.openxmlformats.org/officeDocument/2006/relationships/image" Target="../media/image36.png"/><Relationship Id="rId53" Type="http://schemas.openxmlformats.org/officeDocument/2006/relationships/image" Target="../media/image52.png"/><Relationship Id="rId58" Type="http://schemas.openxmlformats.org/officeDocument/2006/relationships/image" Target="../media/image57.png"/><Relationship Id="rId74" Type="http://schemas.openxmlformats.org/officeDocument/2006/relationships/image" Target="../media/image73.png"/><Relationship Id="rId79" Type="http://schemas.openxmlformats.org/officeDocument/2006/relationships/image" Target="../media/image78.png"/><Relationship Id="rId102" Type="http://schemas.openxmlformats.org/officeDocument/2006/relationships/image" Target="../media/image101.png"/><Relationship Id="rId123" Type="http://schemas.openxmlformats.org/officeDocument/2006/relationships/image" Target="../media/image122.png"/><Relationship Id="rId128" Type="http://schemas.openxmlformats.org/officeDocument/2006/relationships/image" Target="../media/image127.png"/><Relationship Id="rId5" Type="http://schemas.openxmlformats.org/officeDocument/2006/relationships/image" Target="../media/image4.png"/><Relationship Id="rId90" Type="http://schemas.openxmlformats.org/officeDocument/2006/relationships/image" Target="../media/image89.png"/><Relationship Id="rId95" Type="http://schemas.openxmlformats.org/officeDocument/2006/relationships/image" Target="../media/image94.png"/><Relationship Id="rId22" Type="http://schemas.openxmlformats.org/officeDocument/2006/relationships/image" Target="../media/image21.png"/><Relationship Id="rId27" Type="http://schemas.openxmlformats.org/officeDocument/2006/relationships/image" Target="../media/image26.png"/><Relationship Id="rId43" Type="http://schemas.openxmlformats.org/officeDocument/2006/relationships/image" Target="../media/image42.png"/><Relationship Id="rId48" Type="http://schemas.openxmlformats.org/officeDocument/2006/relationships/image" Target="../media/image47.png"/><Relationship Id="rId64" Type="http://schemas.openxmlformats.org/officeDocument/2006/relationships/image" Target="../media/image63.png"/><Relationship Id="rId69" Type="http://schemas.openxmlformats.org/officeDocument/2006/relationships/image" Target="../media/image68.png"/><Relationship Id="rId113" Type="http://schemas.openxmlformats.org/officeDocument/2006/relationships/image" Target="../media/image112.png"/><Relationship Id="rId118" Type="http://schemas.openxmlformats.org/officeDocument/2006/relationships/image" Target="../media/image117.png"/><Relationship Id="rId134" Type="http://schemas.openxmlformats.org/officeDocument/2006/relationships/image" Target="../media/image133.png"/><Relationship Id="rId80" Type="http://schemas.openxmlformats.org/officeDocument/2006/relationships/image" Target="../media/image79.png"/><Relationship Id="rId85" Type="http://schemas.openxmlformats.org/officeDocument/2006/relationships/image" Target="../media/image84.png"/><Relationship Id="rId12" Type="http://schemas.openxmlformats.org/officeDocument/2006/relationships/image" Target="../media/image11.png"/><Relationship Id="rId17" Type="http://schemas.openxmlformats.org/officeDocument/2006/relationships/image" Target="../media/image16.png"/><Relationship Id="rId33" Type="http://schemas.openxmlformats.org/officeDocument/2006/relationships/image" Target="../media/image32.png"/><Relationship Id="rId38" Type="http://schemas.openxmlformats.org/officeDocument/2006/relationships/image" Target="../media/image37.png"/><Relationship Id="rId59" Type="http://schemas.openxmlformats.org/officeDocument/2006/relationships/image" Target="../media/image58.png"/><Relationship Id="rId103" Type="http://schemas.openxmlformats.org/officeDocument/2006/relationships/image" Target="../media/image102.png"/><Relationship Id="rId108" Type="http://schemas.openxmlformats.org/officeDocument/2006/relationships/image" Target="../media/image107.png"/><Relationship Id="rId124" Type="http://schemas.openxmlformats.org/officeDocument/2006/relationships/image" Target="../media/image123.png"/><Relationship Id="rId129" Type="http://schemas.openxmlformats.org/officeDocument/2006/relationships/image" Target="../media/image128.png"/><Relationship Id="rId54" Type="http://schemas.openxmlformats.org/officeDocument/2006/relationships/image" Target="../media/image53.png"/><Relationship Id="rId70" Type="http://schemas.openxmlformats.org/officeDocument/2006/relationships/image" Target="../media/image69.png"/><Relationship Id="rId75" Type="http://schemas.openxmlformats.org/officeDocument/2006/relationships/image" Target="../media/image74.png"/><Relationship Id="rId91" Type="http://schemas.openxmlformats.org/officeDocument/2006/relationships/image" Target="../media/image90.png"/><Relationship Id="rId96"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5.png"/><Relationship Id="rId23" Type="http://schemas.openxmlformats.org/officeDocument/2006/relationships/image" Target="../media/image22.png"/><Relationship Id="rId28" Type="http://schemas.openxmlformats.org/officeDocument/2006/relationships/image" Target="../media/image27.png"/><Relationship Id="rId49" Type="http://schemas.openxmlformats.org/officeDocument/2006/relationships/image" Target="../media/image48.png"/><Relationship Id="rId114" Type="http://schemas.openxmlformats.org/officeDocument/2006/relationships/image" Target="../media/image113.png"/><Relationship Id="rId119" Type="http://schemas.openxmlformats.org/officeDocument/2006/relationships/image" Target="../media/image118.png"/><Relationship Id="rId44" Type="http://schemas.openxmlformats.org/officeDocument/2006/relationships/image" Target="../media/image43.png"/><Relationship Id="rId60" Type="http://schemas.openxmlformats.org/officeDocument/2006/relationships/image" Target="../media/image59.png"/><Relationship Id="rId65" Type="http://schemas.openxmlformats.org/officeDocument/2006/relationships/image" Target="../media/image64.png"/><Relationship Id="rId81" Type="http://schemas.openxmlformats.org/officeDocument/2006/relationships/image" Target="../media/image80.png"/><Relationship Id="rId86" Type="http://schemas.openxmlformats.org/officeDocument/2006/relationships/image" Target="../media/image85.png"/><Relationship Id="rId130" Type="http://schemas.openxmlformats.org/officeDocument/2006/relationships/image" Target="../media/image129.png"/><Relationship Id="rId135" Type="http://schemas.openxmlformats.org/officeDocument/2006/relationships/image" Target="../media/image134.png"/><Relationship Id="rId13" Type="http://schemas.openxmlformats.org/officeDocument/2006/relationships/image" Target="../media/image12.png"/><Relationship Id="rId18" Type="http://schemas.openxmlformats.org/officeDocument/2006/relationships/image" Target="../media/image17.png"/><Relationship Id="rId39" Type="http://schemas.openxmlformats.org/officeDocument/2006/relationships/image" Target="../media/image38.png"/><Relationship Id="rId109" Type="http://schemas.openxmlformats.org/officeDocument/2006/relationships/image" Target="../media/image108.png"/><Relationship Id="rId34" Type="http://schemas.openxmlformats.org/officeDocument/2006/relationships/image" Target="../media/image33.png"/><Relationship Id="rId50" Type="http://schemas.openxmlformats.org/officeDocument/2006/relationships/image" Target="../media/image49.png"/><Relationship Id="rId55" Type="http://schemas.openxmlformats.org/officeDocument/2006/relationships/image" Target="../media/image54.png"/><Relationship Id="rId76" Type="http://schemas.openxmlformats.org/officeDocument/2006/relationships/image" Target="../media/image75.png"/><Relationship Id="rId97" Type="http://schemas.openxmlformats.org/officeDocument/2006/relationships/image" Target="../media/image96.png"/><Relationship Id="rId104" Type="http://schemas.openxmlformats.org/officeDocument/2006/relationships/image" Target="../media/image103.png"/><Relationship Id="rId120" Type="http://schemas.openxmlformats.org/officeDocument/2006/relationships/image" Target="../media/image119.png"/><Relationship Id="rId125" Type="http://schemas.openxmlformats.org/officeDocument/2006/relationships/image" Target="../media/image124.png"/><Relationship Id="rId7" Type="http://schemas.openxmlformats.org/officeDocument/2006/relationships/image" Target="../media/image6.png"/><Relationship Id="rId71" Type="http://schemas.openxmlformats.org/officeDocument/2006/relationships/image" Target="../media/image70.png"/><Relationship Id="rId92" Type="http://schemas.openxmlformats.org/officeDocument/2006/relationships/image" Target="../media/image91.png"/><Relationship Id="rId2" Type="http://schemas.openxmlformats.org/officeDocument/2006/relationships/notesSlide" Target="../notesSlides/notesSlide6.xml"/><Relationship Id="rId29" Type="http://schemas.openxmlformats.org/officeDocument/2006/relationships/image" Target="../media/image28.png"/><Relationship Id="rId24" Type="http://schemas.openxmlformats.org/officeDocument/2006/relationships/image" Target="../media/image23.png"/><Relationship Id="rId40" Type="http://schemas.openxmlformats.org/officeDocument/2006/relationships/image" Target="../media/image39.png"/><Relationship Id="rId45" Type="http://schemas.openxmlformats.org/officeDocument/2006/relationships/image" Target="../media/image44.png"/><Relationship Id="rId66" Type="http://schemas.openxmlformats.org/officeDocument/2006/relationships/image" Target="../media/image65.png"/><Relationship Id="rId87" Type="http://schemas.openxmlformats.org/officeDocument/2006/relationships/image" Target="../media/image86.png"/><Relationship Id="rId110" Type="http://schemas.openxmlformats.org/officeDocument/2006/relationships/image" Target="../media/image109.png"/><Relationship Id="rId115" Type="http://schemas.openxmlformats.org/officeDocument/2006/relationships/image" Target="../media/image114.png"/><Relationship Id="rId131" Type="http://schemas.openxmlformats.org/officeDocument/2006/relationships/image" Target="../media/image130.png"/><Relationship Id="rId136" Type="http://schemas.openxmlformats.org/officeDocument/2006/relationships/image" Target="../media/image135.png"/><Relationship Id="rId61" Type="http://schemas.openxmlformats.org/officeDocument/2006/relationships/image" Target="../media/image60.png"/><Relationship Id="rId82" Type="http://schemas.openxmlformats.org/officeDocument/2006/relationships/image" Target="../media/image81.png"/><Relationship Id="rId19" Type="http://schemas.openxmlformats.org/officeDocument/2006/relationships/image" Target="../media/image18.png"/><Relationship Id="rId14" Type="http://schemas.openxmlformats.org/officeDocument/2006/relationships/image" Target="../media/image13.png"/><Relationship Id="rId30" Type="http://schemas.openxmlformats.org/officeDocument/2006/relationships/image" Target="../media/image29.png"/><Relationship Id="rId35" Type="http://schemas.openxmlformats.org/officeDocument/2006/relationships/image" Target="../media/image34.png"/><Relationship Id="rId56" Type="http://schemas.openxmlformats.org/officeDocument/2006/relationships/image" Target="../media/image55.png"/><Relationship Id="rId77" Type="http://schemas.openxmlformats.org/officeDocument/2006/relationships/image" Target="../media/image76.png"/><Relationship Id="rId100" Type="http://schemas.openxmlformats.org/officeDocument/2006/relationships/image" Target="../media/image99.png"/><Relationship Id="rId105" Type="http://schemas.openxmlformats.org/officeDocument/2006/relationships/image" Target="../media/image104.png"/><Relationship Id="rId126" Type="http://schemas.openxmlformats.org/officeDocument/2006/relationships/image" Target="../media/image125.png"/><Relationship Id="rId8" Type="http://schemas.openxmlformats.org/officeDocument/2006/relationships/image" Target="../media/image7.png"/><Relationship Id="rId51" Type="http://schemas.openxmlformats.org/officeDocument/2006/relationships/image" Target="../media/image50.png"/><Relationship Id="rId72" Type="http://schemas.openxmlformats.org/officeDocument/2006/relationships/image" Target="../media/image71.png"/><Relationship Id="rId93" Type="http://schemas.openxmlformats.org/officeDocument/2006/relationships/image" Target="../media/image92.png"/><Relationship Id="rId98" Type="http://schemas.openxmlformats.org/officeDocument/2006/relationships/image" Target="../media/image97.png"/><Relationship Id="rId121" Type="http://schemas.openxmlformats.org/officeDocument/2006/relationships/image" Target="../media/image120.png"/><Relationship Id="rId3" Type="http://schemas.openxmlformats.org/officeDocument/2006/relationships/image" Target="../media/image2.png"/><Relationship Id="rId25" Type="http://schemas.openxmlformats.org/officeDocument/2006/relationships/image" Target="../media/image24.png"/><Relationship Id="rId46" Type="http://schemas.openxmlformats.org/officeDocument/2006/relationships/image" Target="../media/image45.png"/><Relationship Id="rId67" Type="http://schemas.openxmlformats.org/officeDocument/2006/relationships/image" Target="../media/image66.png"/><Relationship Id="rId116" Type="http://schemas.openxmlformats.org/officeDocument/2006/relationships/image" Target="../media/image115.png"/><Relationship Id="rId137" Type="http://schemas.openxmlformats.org/officeDocument/2006/relationships/image" Target="../media/image136.png"/><Relationship Id="rId20" Type="http://schemas.openxmlformats.org/officeDocument/2006/relationships/image" Target="../media/image19.png"/><Relationship Id="rId41" Type="http://schemas.openxmlformats.org/officeDocument/2006/relationships/image" Target="../media/image40.png"/><Relationship Id="rId62" Type="http://schemas.openxmlformats.org/officeDocument/2006/relationships/image" Target="../media/image61.png"/><Relationship Id="rId83" Type="http://schemas.openxmlformats.org/officeDocument/2006/relationships/image" Target="../media/image82.png"/><Relationship Id="rId88" Type="http://schemas.openxmlformats.org/officeDocument/2006/relationships/image" Target="../media/image87.png"/><Relationship Id="rId111" Type="http://schemas.openxmlformats.org/officeDocument/2006/relationships/image" Target="../media/image110.png"/><Relationship Id="rId132" Type="http://schemas.openxmlformats.org/officeDocument/2006/relationships/image" Target="../media/image131.png"/><Relationship Id="rId15" Type="http://schemas.openxmlformats.org/officeDocument/2006/relationships/image" Target="../media/image14.png"/><Relationship Id="rId36" Type="http://schemas.openxmlformats.org/officeDocument/2006/relationships/image" Target="../media/image35.png"/><Relationship Id="rId57" Type="http://schemas.openxmlformats.org/officeDocument/2006/relationships/image" Target="../media/image56.png"/><Relationship Id="rId106" Type="http://schemas.openxmlformats.org/officeDocument/2006/relationships/image" Target="../media/image105.png"/><Relationship Id="rId127" Type="http://schemas.openxmlformats.org/officeDocument/2006/relationships/image" Target="../media/image126.png"/><Relationship Id="rId10" Type="http://schemas.openxmlformats.org/officeDocument/2006/relationships/image" Target="../media/image9.png"/><Relationship Id="rId31" Type="http://schemas.openxmlformats.org/officeDocument/2006/relationships/image" Target="../media/image30.png"/><Relationship Id="rId52" Type="http://schemas.openxmlformats.org/officeDocument/2006/relationships/image" Target="../media/image51.png"/><Relationship Id="rId73" Type="http://schemas.openxmlformats.org/officeDocument/2006/relationships/image" Target="../media/image72.png"/><Relationship Id="rId78" Type="http://schemas.openxmlformats.org/officeDocument/2006/relationships/image" Target="../media/image77.png"/><Relationship Id="rId94" Type="http://schemas.openxmlformats.org/officeDocument/2006/relationships/image" Target="../media/image93.png"/><Relationship Id="rId99" Type="http://schemas.openxmlformats.org/officeDocument/2006/relationships/image" Target="../media/image98.png"/><Relationship Id="rId101" Type="http://schemas.openxmlformats.org/officeDocument/2006/relationships/image" Target="../media/image100.png"/><Relationship Id="rId122" Type="http://schemas.openxmlformats.org/officeDocument/2006/relationships/image" Target="../media/image121.png"/><Relationship Id="rId4" Type="http://schemas.openxmlformats.org/officeDocument/2006/relationships/image" Target="../media/image3.png"/><Relationship Id="rId9" Type="http://schemas.openxmlformats.org/officeDocument/2006/relationships/image" Target="../media/image8.png"/><Relationship Id="rId26" Type="http://schemas.openxmlformats.org/officeDocument/2006/relationships/image" Target="../media/image25.png"/><Relationship Id="rId47" Type="http://schemas.openxmlformats.org/officeDocument/2006/relationships/image" Target="../media/image46.png"/><Relationship Id="rId68" Type="http://schemas.openxmlformats.org/officeDocument/2006/relationships/image" Target="../media/image67.png"/><Relationship Id="rId89" Type="http://schemas.openxmlformats.org/officeDocument/2006/relationships/image" Target="../media/image88.png"/><Relationship Id="rId112" Type="http://schemas.openxmlformats.org/officeDocument/2006/relationships/image" Target="../media/image111.png"/><Relationship Id="rId133" Type="http://schemas.openxmlformats.org/officeDocument/2006/relationships/image" Target="../media/image132.png"/></Relationships>
</file>

<file path=ppt/slides/_rels/slide8.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9.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50.png"/><Relationship Id="rId2" Type="http://schemas.openxmlformats.org/officeDocument/2006/relationships/notesSlide" Target="../notesSlides/notesSlide9.xml"/><Relationship Id="rId16"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pn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png"/><Relationship Id="rId14" Type="http://schemas.openxmlformats.org/officeDocument/2006/relationships/image" Target="../media/image15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62.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customXml" Target="../ink/ink1.xml"/><Relationship Id="rId4" Type="http://schemas.openxmlformats.org/officeDocument/2006/relationships/image" Target="../media/image16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3.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 Id="rId4" Type="http://schemas.openxmlformats.org/officeDocument/2006/relationships/image" Target="../media/image167.png"/></Relationships>
</file>

<file path=ppt/slides/_rels/slide3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72.png"/></Relationships>
</file>

<file path=ppt/slides/_rels/slide37.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57.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3.xml"/><Relationship Id="rId4" Type="http://schemas.openxmlformats.org/officeDocument/2006/relationships/image" Target="../media/image18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514600"/>
            <a:ext cx="4826000" cy="848360"/>
          </a:xfrm>
          <a:prstGeom prst="rect">
            <a:avLst/>
          </a:prstGeom>
        </p:spPr>
        <p:txBody>
          <a:bodyPr vert="horz" wrap="square" lIns="0" tIns="12700" rIns="0" bIns="0" rtlCol="0">
            <a:spAutoFit/>
          </a:bodyPr>
          <a:lstStyle/>
          <a:p>
            <a:pPr marL="12700" algn="ctr">
              <a:lnSpc>
                <a:spcPct val="100000"/>
              </a:lnSpc>
              <a:spcBef>
                <a:spcPts val="100"/>
              </a:spcBef>
            </a:pPr>
            <a:r>
              <a:rPr sz="5400" b="1" spc="-5" dirty="0">
                <a:latin typeface="Arial"/>
                <a:cs typeface="Arial"/>
              </a:rPr>
              <a:t>Mạng máy</a:t>
            </a:r>
            <a:r>
              <a:rPr sz="5400" b="1" spc="-90" dirty="0">
                <a:latin typeface="Arial"/>
                <a:cs typeface="Arial"/>
              </a:rPr>
              <a:t> </a:t>
            </a:r>
            <a:r>
              <a:rPr sz="5400" b="1" dirty="0">
                <a:latin typeface="Arial"/>
                <a:cs typeface="Arial"/>
              </a:rPr>
              <a:t>tính</a:t>
            </a:r>
            <a:endParaRPr sz="5400" dirty="0">
              <a:latin typeface="Arial"/>
              <a:cs typeface="Arial"/>
            </a:endParaRPr>
          </a:p>
        </p:txBody>
      </p:sp>
      <p:sp>
        <p:nvSpPr>
          <p:cNvPr id="3" name="object 3"/>
          <p:cNvSpPr txBox="1"/>
          <p:nvPr/>
        </p:nvSpPr>
        <p:spPr>
          <a:xfrm>
            <a:off x="4191000" y="4397524"/>
            <a:ext cx="4597654" cy="514243"/>
          </a:xfrm>
          <a:prstGeom prst="rect">
            <a:avLst/>
          </a:prstGeom>
        </p:spPr>
        <p:txBody>
          <a:bodyPr vert="horz" wrap="square" lIns="0" tIns="143510" rIns="0" bIns="0" rtlCol="0">
            <a:spAutoFit/>
          </a:bodyPr>
          <a:lstStyle/>
          <a:p>
            <a:r>
              <a:rPr lang="en-US" sz="2400" b="1" dirty="0" err="1"/>
              <a:t>Bộ</a:t>
            </a:r>
            <a:r>
              <a:rPr lang="en-US" sz="2400" b="1" dirty="0"/>
              <a:t> </a:t>
            </a:r>
            <a:r>
              <a:rPr lang="en-US" sz="2400" b="1" dirty="0" err="1"/>
              <a:t>môn</a:t>
            </a:r>
            <a:r>
              <a:rPr lang="en-US" sz="2400" b="1" dirty="0"/>
              <a:t> </a:t>
            </a:r>
            <a:r>
              <a:rPr lang="en-US" sz="2400" b="1" dirty="0" err="1"/>
              <a:t>Mạng</a:t>
            </a:r>
            <a:r>
              <a:rPr lang="en-US" sz="2400" b="1" dirty="0"/>
              <a:t> </a:t>
            </a:r>
            <a:r>
              <a:rPr lang="en-US" sz="2400" b="1" dirty="0" err="1"/>
              <a:t>và</a:t>
            </a:r>
            <a:r>
              <a:rPr lang="en-US" sz="2400" b="1" dirty="0"/>
              <a:t> an </a:t>
            </a:r>
            <a:r>
              <a:rPr lang="en-US" sz="2400" b="1" dirty="0" err="1"/>
              <a:t>toàn</a:t>
            </a:r>
            <a:r>
              <a:rPr lang="en-US" sz="2400" b="1" dirty="0"/>
              <a:t> </a:t>
            </a:r>
            <a:r>
              <a:rPr lang="en-US" sz="2400" b="1" dirty="0" err="1"/>
              <a:t>thông</a:t>
            </a:r>
            <a:r>
              <a:rPr lang="en-US" sz="2400" b="1" dirty="0"/>
              <a:t> tin</a:t>
            </a:r>
          </a:p>
        </p:txBody>
      </p:sp>
      <p:sp>
        <p:nvSpPr>
          <p:cNvPr id="4" name="Subtitle 2"/>
          <p:cNvSpPr txBox="1">
            <a:spLocks/>
          </p:cNvSpPr>
          <p:nvPr/>
        </p:nvSpPr>
        <p:spPr bwMode="auto">
          <a:xfrm>
            <a:off x="1524000" y="32236"/>
            <a:ext cx="6629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Aft>
                <a:spcPct val="0"/>
              </a:spcAft>
              <a:buClr>
                <a:srgbClr val="0070C0"/>
              </a:buClr>
              <a:buSzPct val="100000"/>
              <a:buFont typeface="Wingdings" panose="05000000000000000000" pitchFamily="2" charset="2"/>
              <a:buNone/>
            </a:pPr>
            <a:r>
              <a:rPr lang="en-US" sz="2000" dirty="0">
                <a:solidFill>
                  <a:srgbClr val="000000"/>
                </a:solidFill>
                <a:latin typeface="Arial" panose="020B0604020202020204" pitchFamily="34" charset="0"/>
                <a:cs typeface="Arial" panose="020B0604020202020204" pitchFamily="34" charset="0"/>
              </a:rPr>
              <a:t>TRƯỜNG ĐẠI HỌC THỦY LỢI</a:t>
            </a:r>
          </a:p>
          <a:p>
            <a:pPr algn="ctr" fontAlgn="base">
              <a:spcAft>
                <a:spcPct val="0"/>
              </a:spcAft>
              <a:buClr>
                <a:srgbClr val="0070C0"/>
              </a:buClr>
              <a:buSzPct val="100000"/>
              <a:buFont typeface="Wingdings" panose="05000000000000000000" pitchFamily="2" charset="2"/>
              <a:buNone/>
            </a:pPr>
            <a:r>
              <a:rPr lang="en-US" sz="2400" b="1" dirty="0">
                <a:solidFill>
                  <a:srgbClr val="000000"/>
                </a:solidFill>
                <a:latin typeface="Arial" panose="020B0604020202020204" pitchFamily="34" charset="0"/>
                <a:cs typeface="Arial" panose="020B0604020202020204" pitchFamily="34" charset="0"/>
              </a:rPr>
              <a:t>KHOA CÔNG NGHỆ THÔNG TIN</a:t>
            </a:r>
          </a:p>
          <a:p>
            <a:pPr algn="ctr" fontAlgn="base">
              <a:spcAft>
                <a:spcPct val="0"/>
              </a:spcAft>
              <a:buClr>
                <a:srgbClr val="0070C0"/>
              </a:buClr>
              <a:buSzPct val="100000"/>
              <a:buFont typeface="Wingdings" panose="05000000000000000000" pitchFamily="2" charset="2"/>
              <a:buNone/>
            </a:pPr>
            <a:endParaRPr lang="en-US" sz="2800" dirty="0">
              <a:solidFill>
                <a:srgbClr val="0070C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1</a:t>
            </a:fld>
            <a:endParaRPr lang="en-US"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spc="-5" dirty="0"/>
              <a:t>Chương 3: </a:t>
            </a:r>
            <a:r>
              <a:rPr dirty="0"/>
              <a:t>Tầng </a:t>
            </a:r>
            <a:r>
              <a:rPr spc="-5" dirty="0"/>
              <a:t>giao</a:t>
            </a:r>
            <a:r>
              <a:rPr spc="-160" dirty="0"/>
              <a:t> </a:t>
            </a:r>
            <a:r>
              <a:rPr spc="-5" dirty="0"/>
              <a:t>vận</a:t>
            </a:r>
          </a:p>
        </p:txBody>
      </p:sp>
      <p:sp>
        <p:nvSpPr>
          <p:cNvPr id="4" name="object 4"/>
          <p:cNvSpPr txBox="1"/>
          <p:nvPr/>
        </p:nvSpPr>
        <p:spPr>
          <a:xfrm>
            <a:off x="1193546" y="1780286"/>
            <a:ext cx="5403215" cy="285655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solidFill>
                  <a:srgbClr val="FF0000"/>
                </a:solidFill>
                <a:latin typeface="Arial"/>
                <a:cs typeface="Arial"/>
              </a:rPr>
              <a:t>Tổng</a:t>
            </a:r>
            <a:r>
              <a:rPr lang="en-US" sz="3200" spc="-5" dirty="0">
                <a:solidFill>
                  <a:srgbClr val="FF0000"/>
                </a:solidFill>
                <a:latin typeface="Arial"/>
                <a:cs typeface="Arial"/>
              </a:rPr>
              <a:t> </a:t>
            </a:r>
            <a:r>
              <a:rPr lang="en-US" sz="3200" spc="-5" dirty="0" err="1">
                <a:solidFill>
                  <a:srgbClr val="FF0000"/>
                </a:solidFill>
                <a:latin typeface="Arial"/>
                <a:cs typeface="Arial"/>
              </a:rPr>
              <a:t>quan</a:t>
            </a:r>
            <a:r>
              <a:rPr lang="en-US" sz="3200" spc="-5" dirty="0">
                <a:solidFill>
                  <a:srgbClr val="FF0000"/>
                </a:solidFill>
                <a:latin typeface="Arial"/>
                <a:cs typeface="Arial"/>
              </a:rPr>
              <a:t> </a:t>
            </a:r>
            <a:r>
              <a:rPr lang="en-US" sz="3200" spc="-5" dirty="0" err="1">
                <a:solidFill>
                  <a:srgbClr val="FF0000"/>
                </a:solidFill>
                <a:latin typeface="Arial"/>
                <a:cs typeface="Arial"/>
              </a:rPr>
              <a:t>về</a:t>
            </a:r>
            <a:r>
              <a:rPr lang="en-US" sz="3200" spc="-5" dirty="0">
                <a:solidFill>
                  <a:srgbClr val="FF0000"/>
                </a:solidFill>
                <a:latin typeface="Arial"/>
                <a:cs typeface="Arial"/>
              </a:rPr>
              <a:t> </a:t>
            </a:r>
            <a:r>
              <a:rPr lang="en-US" sz="3200" spc="-5" dirty="0" err="1">
                <a:solidFill>
                  <a:srgbClr val="FF0000"/>
                </a:solidFill>
                <a:latin typeface="Arial"/>
                <a:cs typeface="Arial"/>
              </a:rPr>
              <a:t>tầng</a:t>
            </a:r>
            <a:r>
              <a:rPr lang="en-US" sz="3200" spc="-5" dirty="0">
                <a:solidFill>
                  <a:srgbClr val="FF0000"/>
                </a:solidFill>
                <a:latin typeface="Arial"/>
                <a:cs typeface="Arial"/>
              </a:rPr>
              <a:t> </a:t>
            </a:r>
            <a:r>
              <a:rPr lang="en-US" sz="3200" spc="-5" dirty="0" err="1">
                <a:solidFill>
                  <a:srgbClr val="FF0000"/>
                </a:solidFill>
                <a:latin typeface="Arial"/>
                <a:cs typeface="Arial"/>
              </a:rPr>
              <a:t>giao</a:t>
            </a:r>
            <a:r>
              <a:rPr lang="en-US" sz="3200" spc="-5" dirty="0">
                <a:solidFill>
                  <a:srgbClr val="FF0000"/>
                </a:solidFill>
                <a:latin typeface="Arial"/>
                <a:cs typeface="Arial"/>
              </a:rPr>
              <a:t> </a:t>
            </a:r>
            <a:r>
              <a:rPr lang="en-US" sz="3200" spc="-5" dirty="0" err="1">
                <a:solidFill>
                  <a:srgbClr val="FF0000"/>
                </a:solidFill>
                <a:latin typeface="Arial"/>
                <a:cs typeface="Arial"/>
              </a:rPr>
              <a:t>vận</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dirty="0" err="1">
                <a:latin typeface="Arial"/>
                <a:cs typeface="Arial"/>
              </a:rPr>
              <a:t>Dồn</a:t>
            </a:r>
            <a:r>
              <a:rPr lang="en-US" sz="3200" dirty="0">
                <a:latin typeface="Arial"/>
                <a:cs typeface="Arial"/>
              </a:rPr>
              <a:t> </a:t>
            </a:r>
            <a:r>
              <a:rPr lang="en-US" sz="3200" dirty="0" err="1">
                <a:latin typeface="Arial"/>
                <a:cs typeface="Arial"/>
              </a:rPr>
              <a:t>kênh</a:t>
            </a:r>
            <a:r>
              <a:rPr lang="en-US" sz="3200" dirty="0">
                <a:latin typeface="Arial"/>
                <a:cs typeface="Arial"/>
              </a:rPr>
              <a:t> </a:t>
            </a:r>
            <a:r>
              <a:rPr lang="en-US" sz="3200" dirty="0" err="1">
                <a:latin typeface="Arial"/>
                <a:cs typeface="Arial"/>
              </a:rPr>
              <a:t>và</a:t>
            </a:r>
            <a:r>
              <a:rPr lang="en-US" sz="3200" dirty="0">
                <a:latin typeface="Arial"/>
                <a:cs typeface="Arial"/>
              </a:rPr>
              <a:t> </a:t>
            </a:r>
            <a:r>
              <a:rPr lang="en-US" sz="3200" dirty="0" err="1">
                <a:latin typeface="Arial"/>
                <a:cs typeface="Arial"/>
              </a:rPr>
              <a:t>phân</a:t>
            </a:r>
            <a:r>
              <a:rPr lang="en-US" sz="3200" dirty="0">
                <a:latin typeface="Arial"/>
                <a:cs typeface="Arial"/>
              </a:rPr>
              <a:t> </a:t>
            </a:r>
            <a:r>
              <a:rPr lang="en-US" sz="3200" dirty="0" err="1">
                <a:latin typeface="Arial"/>
                <a:cs typeface="Arial"/>
              </a:rPr>
              <a:t>kênh</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sz="3200" spc="35" dirty="0">
                <a:latin typeface="Arial"/>
                <a:cs typeface="Arial"/>
              </a:rPr>
              <a:t> </a:t>
            </a:r>
            <a:r>
              <a:rPr sz="3200" spc="-5" dirty="0">
                <a:latin typeface="Arial"/>
                <a:cs typeface="Arial"/>
              </a:rPr>
              <a:t>UDP</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5" dirty="0" err="1">
                <a:latin typeface="Arial"/>
                <a:cs typeface="Arial"/>
              </a:rPr>
              <a:t>T</a:t>
            </a:r>
            <a:r>
              <a:rPr sz="3200" spc="-5" dirty="0" err="1">
                <a:latin typeface="Arial"/>
                <a:cs typeface="Arial"/>
              </a:rPr>
              <a:t>ruyền</a:t>
            </a:r>
            <a:r>
              <a:rPr sz="3200" spc="-5" dirty="0">
                <a:latin typeface="Arial"/>
                <a:cs typeface="Arial"/>
              </a:rPr>
              <a:t> dữ liệu tin cậy</a:t>
            </a:r>
            <a:endParaRPr sz="3200" dirty="0">
              <a:latin typeface="Arial"/>
              <a:cs typeface="Arial"/>
            </a:endParaRPr>
          </a:p>
          <a:p>
            <a:pPr marL="355600" indent="-342900">
              <a:lnSpc>
                <a:spcPct val="100000"/>
              </a:lnSpc>
              <a:spcBef>
                <a:spcPts val="580"/>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lang="en-US" sz="3200" spc="-20" dirty="0">
                <a:latin typeface="Arial"/>
                <a:cs typeface="Arial"/>
              </a:rPr>
              <a:t> TCP</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2</a:t>
            </a:fld>
            <a:endParaRPr lang="en-US"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7388861" cy="566822"/>
          </a:xfrm>
          <a:prstGeom prst="rect">
            <a:avLst/>
          </a:prstGeom>
        </p:spPr>
        <p:txBody>
          <a:bodyPr vert="horz" wrap="square" lIns="0" tIns="12700" rIns="0" bIns="0" rtlCol="0">
            <a:spAutoFit/>
          </a:bodyPr>
          <a:lstStyle/>
          <a:p>
            <a:pPr marL="12700">
              <a:lnSpc>
                <a:spcPct val="100000"/>
              </a:lnSpc>
              <a:spcBef>
                <a:spcPts val="100"/>
              </a:spcBef>
            </a:pPr>
            <a:r>
              <a:rPr lang="en-US" spc="-5" dirty="0" err="1"/>
              <a:t>Tổng</a:t>
            </a:r>
            <a:r>
              <a:rPr lang="en-US" spc="-5" dirty="0"/>
              <a:t> </a:t>
            </a:r>
            <a:r>
              <a:rPr lang="en-US" spc="-5" dirty="0" err="1"/>
              <a:t>quan</a:t>
            </a:r>
            <a:r>
              <a:rPr lang="en-US" spc="-5" dirty="0"/>
              <a:t> </a:t>
            </a:r>
            <a:r>
              <a:rPr lang="en-US" spc="-5" dirty="0" err="1"/>
              <a:t>về</a:t>
            </a:r>
            <a:r>
              <a:rPr lang="en-US" spc="-5" dirty="0"/>
              <a:t> </a:t>
            </a:r>
            <a:r>
              <a:rPr lang="en-US" spc="-5" dirty="0" err="1"/>
              <a:t>t</a:t>
            </a:r>
            <a:r>
              <a:rPr dirty="0" err="1"/>
              <a:t>ầng</a:t>
            </a:r>
            <a:r>
              <a:rPr dirty="0"/>
              <a:t> </a:t>
            </a:r>
            <a:r>
              <a:rPr spc="-5" dirty="0"/>
              <a:t>giao</a:t>
            </a:r>
            <a:r>
              <a:rPr spc="-160" dirty="0"/>
              <a:t> </a:t>
            </a:r>
            <a:r>
              <a:rPr spc="-5" dirty="0"/>
              <a:t>vận</a:t>
            </a:r>
          </a:p>
        </p:txBody>
      </p:sp>
      <p:sp>
        <p:nvSpPr>
          <p:cNvPr id="4" name="object 4"/>
          <p:cNvSpPr txBox="1"/>
          <p:nvPr/>
        </p:nvSpPr>
        <p:spPr>
          <a:xfrm>
            <a:off x="1193546" y="1780286"/>
            <a:ext cx="8044434" cy="1533112"/>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Dịch</a:t>
            </a:r>
            <a:r>
              <a:rPr lang="en-US" sz="2800" spc="-5" dirty="0">
                <a:latin typeface="Arial"/>
                <a:cs typeface="Arial"/>
              </a:rPr>
              <a:t> </a:t>
            </a:r>
            <a:r>
              <a:rPr lang="en-US" sz="2800" spc="-5" dirty="0" err="1">
                <a:latin typeface="Arial"/>
                <a:cs typeface="Arial"/>
              </a:rPr>
              <a:t>vụ</a:t>
            </a:r>
            <a:r>
              <a:rPr lang="en-US" sz="2800" spc="-5" dirty="0">
                <a:latin typeface="Arial"/>
                <a:cs typeface="Arial"/>
              </a:rPr>
              <a:t> </a:t>
            </a:r>
            <a:r>
              <a:rPr lang="en-US" sz="2800" spc="-5" dirty="0" err="1">
                <a:latin typeface="Arial"/>
                <a:cs typeface="Arial"/>
              </a:rPr>
              <a:t>và</a:t>
            </a:r>
            <a:r>
              <a:rPr lang="en-US" sz="2800" spc="-5" dirty="0">
                <a:latin typeface="Arial"/>
                <a:cs typeface="Arial"/>
              </a:rPr>
              <a:t> </a:t>
            </a:r>
            <a:r>
              <a:rPr lang="en-US" sz="2800" spc="-5" dirty="0" err="1">
                <a:latin typeface="Arial"/>
                <a:cs typeface="Arial"/>
              </a:rPr>
              <a:t>giao</a:t>
            </a:r>
            <a:r>
              <a:rPr lang="en-US" sz="2800" spc="-5" dirty="0">
                <a:latin typeface="Arial"/>
                <a:cs typeface="Arial"/>
              </a:rPr>
              <a:t> </a:t>
            </a:r>
            <a:r>
              <a:rPr lang="en-US" sz="2800" spc="-5" dirty="0" err="1">
                <a:latin typeface="Arial"/>
                <a:cs typeface="Arial"/>
              </a:rPr>
              <a:t>thức</a:t>
            </a:r>
            <a:r>
              <a:rPr lang="en-US" sz="2800" spc="-5" dirty="0">
                <a:latin typeface="Arial"/>
                <a:cs typeface="Arial"/>
              </a:rPr>
              <a:t> </a:t>
            </a:r>
            <a:r>
              <a:rPr lang="en-US" sz="2800" spc="-5" dirty="0" err="1">
                <a:latin typeface="Arial"/>
                <a:cs typeface="Arial"/>
              </a:rPr>
              <a:t>tầng</a:t>
            </a:r>
            <a:r>
              <a:rPr lang="en-US" sz="2800" spc="-5" dirty="0">
                <a:latin typeface="Arial"/>
                <a:cs typeface="Arial"/>
              </a:rPr>
              <a:t> </a:t>
            </a:r>
            <a:r>
              <a:rPr lang="en-US" sz="2800" spc="-5" dirty="0" err="1">
                <a:latin typeface="Arial"/>
                <a:cs typeface="Arial"/>
              </a:rPr>
              <a:t>giao</a:t>
            </a:r>
            <a:r>
              <a:rPr lang="en-US" sz="2800" spc="-5" dirty="0">
                <a:latin typeface="Arial"/>
                <a:cs typeface="Arial"/>
              </a:rPr>
              <a:t> </a:t>
            </a:r>
            <a:r>
              <a:rPr lang="en-US" sz="2800" spc="-5" dirty="0" err="1">
                <a:latin typeface="Arial"/>
                <a:cs typeface="Arial"/>
              </a:rPr>
              <a:t>vận</a:t>
            </a:r>
            <a:endParaRPr sz="28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2800" dirty="0" err="1">
                <a:latin typeface="Arial"/>
                <a:cs typeface="Arial"/>
              </a:rPr>
              <a:t>Quan</a:t>
            </a:r>
            <a:r>
              <a:rPr lang="en-US" sz="2800" dirty="0">
                <a:latin typeface="Arial"/>
                <a:cs typeface="Arial"/>
              </a:rPr>
              <a:t> </a:t>
            </a:r>
            <a:r>
              <a:rPr lang="en-US" sz="2800" dirty="0" err="1">
                <a:latin typeface="Arial"/>
                <a:cs typeface="Arial"/>
              </a:rPr>
              <a:t>hệ</a:t>
            </a:r>
            <a:r>
              <a:rPr lang="en-US" sz="2800" dirty="0">
                <a:latin typeface="Arial"/>
                <a:cs typeface="Arial"/>
              </a:rPr>
              <a:t> </a:t>
            </a:r>
            <a:r>
              <a:rPr lang="en-US" sz="2800" dirty="0" err="1">
                <a:latin typeface="Arial"/>
                <a:cs typeface="Arial"/>
              </a:rPr>
              <a:t>giữa</a:t>
            </a:r>
            <a:r>
              <a:rPr lang="en-US" sz="2800" dirty="0">
                <a:latin typeface="Arial"/>
                <a:cs typeface="Arial"/>
              </a:rPr>
              <a:t> </a:t>
            </a:r>
            <a:r>
              <a:rPr lang="en-US" sz="2800" dirty="0" err="1">
                <a:latin typeface="Arial"/>
                <a:cs typeface="Arial"/>
              </a:rPr>
              <a:t>tầng</a:t>
            </a:r>
            <a:r>
              <a:rPr lang="en-US" sz="2800" dirty="0">
                <a:latin typeface="Arial"/>
                <a:cs typeface="Arial"/>
              </a:rPr>
              <a:t> </a:t>
            </a:r>
            <a:r>
              <a:rPr lang="en-US" sz="2800" dirty="0" err="1">
                <a:latin typeface="Arial"/>
                <a:cs typeface="Arial"/>
              </a:rPr>
              <a:t>giao</a:t>
            </a:r>
            <a:r>
              <a:rPr lang="en-US" sz="2800" dirty="0">
                <a:latin typeface="Arial"/>
                <a:cs typeface="Arial"/>
              </a:rPr>
              <a:t> </a:t>
            </a:r>
            <a:r>
              <a:rPr lang="en-US" sz="2800" dirty="0" err="1">
                <a:latin typeface="Arial"/>
                <a:cs typeface="Arial"/>
              </a:rPr>
              <a:t>vận</a:t>
            </a:r>
            <a:r>
              <a:rPr lang="en-US" sz="2800" dirty="0">
                <a:latin typeface="Arial"/>
                <a:cs typeface="Arial"/>
              </a:rPr>
              <a:t> </a:t>
            </a:r>
            <a:r>
              <a:rPr lang="en-US" sz="2800" dirty="0" err="1">
                <a:latin typeface="Arial"/>
                <a:cs typeface="Arial"/>
              </a:rPr>
              <a:t>và</a:t>
            </a:r>
            <a:r>
              <a:rPr lang="en-US" sz="2800" dirty="0">
                <a:latin typeface="Arial"/>
                <a:cs typeface="Arial"/>
              </a:rPr>
              <a:t> </a:t>
            </a:r>
            <a:r>
              <a:rPr lang="en-US" sz="2800" dirty="0" err="1">
                <a:latin typeface="Arial"/>
                <a:cs typeface="Arial"/>
              </a:rPr>
              <a:t>tầng</a:t>
            </a:r>
            <a:r>
              <a:rPr lang="en-US" sz="2800" dirty="0">
                <a:latin typeface="Arial"/>
                <a:cs typeface="Arial"/>
              </a:rPr>
              <a:t> </a:t>
            </a:r>
            <a:r>
              <a:rPr lang="en-US" sz="2800" dirty="0" err="1">
                <a:latin typeface="Arial"/>
                <a:cs typeface="Arial"/>
              </a:rPr>
              <a:t>mạng</a:t>
            </a:r>
            <a:endParaRPr lang="en-US" sz="28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2800" dirty="0" err="1">
                <a:latin typeface="Arial"/>
                <a:cs typeface="Arial"/>
              </a:rPr>
              <a:t>Tầng</a:t>
            </a:r>
            <a:r>
              <a:rPr lang="en-US" sz="2800" dirty="0">
                <a:latin typeface="Arial"/>
                <a:cs typeface="Arial"/>
              </a:rPr>
              <a:t> </a:t>
            </a:r>
            <a:r>
              <a:rPr lang="en-US" sz="2800" dirty="0" err="1">
                <a:latin typeface="Arial"/>
                <a:cs typeface="Arial"/>
              </a:rPr>
              <a:t>giao</a:t>
            </a:r>
            <a:r>
              <a:rPr lang="en-US" sz="2800" dirty="0">
                <a:latin typeface="Arial"/>
                <a:cs typeface="Arial"/>
              </a:rPr>
              <a:t> </a:t>
            </a:r>
            <a:r>
              <a:rPr lang="en-US" sz="2800" dirty="0" err="1">
                <a:latin typeface="Arial"/>
                <a:cs typeface="Arial"/>
              </a:rPr>
              <a:t>vận</a:t>
            </a:r>
            <a:r>
              <a:rPr lang="en-US" sz="2800" dirty="0">
                <a:latin typeface="Arial"/>
                <a:cs typeface="Arial"/>
              </a:rPr>
              <a:t> </a:t>
            </a:r>
            <a:r>
              <a:rPr lang="en-US" sz="2800" dirty="0" err="1">
                <a:latin typeface="Arial"/>
                <a:cs typeface="Arial"/>
              </a:rPr>
              <a:t>trong</a:t>
            </a:r>
            <a:r>
              <a:rPr lang="en-US" sz="2800" dirty="0">
                <a:latin typeface="Arial"/>
                <a:cs typeface="Arial"/>
              </a:rPr>
              <a:t> Internet</a:t>
            </a:r>
            <a:endParaRPr sz="28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3</a:t>
            </a:fld>
            <a:endParaRPr lang="en-US" spc="-5" dirty="0"/>
          </a:p>
        </p:txBody>
      </p:sp>
    </p:spTree>
    <p:extLst>
      <p:ext uri="{BB962C8B-B14F-4D97-AF65-F5344CB8AC3E}">
        <p14:creationId xmlns:p14="http://schemas.microsoft.com/office/powerpoint/2010/main" val="2118317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4343400" y="1143000"/>
            <a:ext cx="5615433" cy="5486400"/>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381000" y="533400"/>
            <a:ext cx="4220210" cy="1120820"/>
          </a:xfrm>
          <a:prstGeom prst="rect">
            <a:avLst/>
          </a:prstGeom>
        </p:spPr>
        <p:txBody>
          <a:bodyPr vert="horz" wrap="square" lIns="0" tIns="12700" rIns="0" bIns="0" rtlCol="0">
            <a:spAutoFit/>
          </a:bodyPr>
          <a:lstStyle/>
          <a:p>
            <a:pPr marL="12700" marR="5080">
              <a:lnSpc>
                <a:spcPct val="100000"/>
              </a:lnSpc>
              <a:spcBef>
                <a:spcPts val="100"/>
              </a:spcBef>
            </a:pPr>
            <a:r>
              <a:rPr lang="en-US" dirty="0" err="1"/>
              <a:t>Dịch</a:t>
            </a:r>
            <a:r>
              <a:rPr lang="en-US" dirty="0"/>
              <a:t> </a:t>
            </a:r>
            <a:r>
              <a:rPr lang="en-US" dirty="0" err="1"/>
              <a:t>vụ</a:t>
            </a:r>
            <a:r>
              <a:rPr lang="en-US" dirty="0"/>
              <a:t> </a:t>
            </a:r>
            <a:r>
              <a:rPr lang="en-US" dirty="0" err="1"/>
              <a:t>và</a:t>
            </a:r>
            <a:r>
              <a:rPr lang="en-US" dirty="0"/>
              <a:t> </a:t>
            </a:r>
            <a:r>
              <a:rPr lang="en-US" dirty="0" err="1"/>
              <a:t>giao</a:t>
            </a:r>
            <a:r>
              <a:rPr lang="en-US" dirty="0"/>
              <a:t> </a:t>
            </a:r>
            <a:r>
              <a:rPr lang="en-US" dirty="0" err="1"/>
              <a:t>thức</a:t>
            </a:r>
            <a:r>
              <a:rPr lang="en-US" dirty="0"/>
              <a:t> </a:t>
            </a:r>
            <a:r>
              <a:rPr lang="en-US" dirty="0" err="1"/>
              <a:t>tầng</a:t>
            </a:r>
            <a:r>
              <a:rPr lang="en-US" dirty="0"/>
              <a:t> </a:t>
            </a:r>
            <a:r>
              <a:rPr lang="en-US" dirty="0" err="1"/>
              <a:t>giao</a:t>
            </a:r>
            <a:r>
              <a:rPr lang="en-US" dirty="0"/>
              <a:t> </a:t>
            </a:r>
            <a:r>
              <a:rPr lang="en-US" dirty="0" err="1"/>
              <a:t>vận</a:t>
            </a:r>
            <a:endParaRPr dirty="0"/>
          </a:p>
        </p:txBody>
      </p:sp>
      <p:sp>
        <p:nvSpPr>
          <p:cNvPr id="5" name="object 5"/>
          <p:cNvSpPr txBox="1"/>
          <p:nvPr/>
        </p:nvSpPr>
        <p:spPr>
          <a:xfrm>
            <a:off x="710436" y="2084324"/>
            <a:ext cx="3890773" cy="5501506"/>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4375"/>
              <a:buFont typeface="Wingdings"/>
              <a:buChar char=""/>
              <a:tabLst>
                <a:tab pos="354965" algn="l"/>
                <a:tab pos="355600" algn="l"/>
              </a:tabLst>
            </a:pPr>
            <a:r>
              <a:rPr lang="en-US" sz="2000" dirty="0" err="1">
                <a:latin typeface="Arial"/>
                <a:cs typeface="Arial"/>
              </a:rPr>
              <a:t>Giao</a:t>
            </a:r>
            <a:r>
              <a:rPr lang="en-US" sz="2000" dirty="0">
                <a:latin typeface="Arial"/>
                <a:cs typeface="Arial"/>
              </a:rPr>
              <a:t> </a:t>
            </a:r>
            <a:r>
              <a:rPr lang="en-US" sz="2000" dirty="0" err="1">
                <a:latin typeface="Arial"/>
                <a:cs typeface="Arial"/>
              </a:rPr>
              <a:t>thức</a:t>
            </a:r>
            <a:r>
              <a:rPr lang="en-US" sz="2000" dirty="0">
                <a:latin typeface="Arial"/>
                <a:cs typeface="Arial"/>
              </a:rPr>
              <a:t> </a:t>
            </a:r>
            <a:r>
              <a:rPr lang="en-US" sz="2000" dirty="0" err="1">
                <a:latin typeface="Arial"/>
                <a:cs typeface="Arial"/>
              </a:rPr>
              <a:t>giao</a:t>
            </a:r>
            <a:r>
              <a:rPr lang="en-US" sz="2000" dirty="0">
                <a:latin typeface="Arial"/>
                <a:cs typeface="Arial"/>
              </a:rPr>
              <a:t> </a:t>
            </a:r>
            <a:r>
              <a:rPr lang="en-US" sz="2000" dirty="0" err="1">
                <a:latin typeface="Arial"/>
                <a:cs typeface="Arial"/>
              </a:rPr>
              <a:t>vận</a:t>
            </a:r>
            <a:r>
              <a:rPr lang="en-US" sz="2000" dirty="0">
                <a:latin typeface="Arial"/>
                <a:cs typeface="Arial"/>
              </a:rPr>
              <a:t> </a:t>
            </a:r>
            <a:r>
              <a:rPr sz="2000" dirty="0" err="1">
                <a:latin typeface="Arial"/>
                <a:cs typeface="Arial"/>
              </a:rPr>
              <a:t>cung</a:t>
            </a:r>
            <a:r>
              <a:rPr sz="2000" dirty="0">
                <a:latin typeface="Arial"/>
                <a:cs typeface="Arial"/>
              </a:rPr>
              <a:t> </a:t>
            </a:r>
            <a:r>
              <a:rPr sz="2000" dirty="0" err="1">
                <a:latin typeface="Arial"/>
                <a:cs typeface="Arial"/>
              </a:rPr>
              <a:t>cấp</a:t>
            </a:r>
            <a:r>
              <a:rPr sz="2000" dirty="0">
                <a:latin typeface="Arial"/>
                <a:cs typeface="Arial"/>
              </a:rPr>
              <a:t> </a:t>
            </a:r>
            <a:r>
              <a:rPr lang="en-US" sz="2000" i="1" dirty="0" err="1">
                <a:solidFill>
                  <a:srgbClr val="CC0000"/>
                </a:solidFill>
                <a:latin typeface="Arial"/>
                <a:cs typeface="Arial"/>
              </a:rPr>
              <a:t>kênh</a:t>
            </a:r>
            <a:r>
              <a:rPr lang="en-US" sz="2000" i="1" dirty="0">
                <a:solidFill>
                  <a:srgbClr val="CC0000"/>
                </a:solidFill>
                <a:latin typeface="Arial"/>
                <a:cs typeface="Arial"/>
              </a:rPr>
              <a:t> </a:t>
            </a:r>
            <a:r>
              <a:rPr lang="en-US" sz="2000" i="1" dirty="0" err="1">
                <a:solidFill>
                  <a:srgbClr val="CC0000"/>
                </a:solidFill>
                <a:latin typeface="Arial"/>
                <a:cs typeface="Arial"/>
              </a:rPr>
              <a:t>truyền</a:t>
            </a:r>
            <a:r>
              <a:rPr lang="en-US" sz="2000" i="1" dirty="0">
                <a:solidFill>
                  <a:srgbClr val="CC0000"/>
                </a:solidFill>
                <a:latin typeface="Arial"/>
                <a:cs typeface="Arial"/>
              </a:rPr>
              <a:t> </a:t>
            </a:r>
            <a:r>
              <a:rPr sz="2000" i="1" dirty="0" err="1">
                <a:solidFill>
                  <a:srgbClr val="CC0000"/>
                </a:solidFill>
                <a:latin typeface="Arial"/>
                <a:cs typeface="Arial"/>
              </a:rPr>
              <a:t>lôgic</a:t>
            </a:r>
            <a:r>
              <a:rPr sz="2000" i="1" dirty="0">
                <a:solidFill>
                  <a:srgbClr val="CC0000"/>
                </a:solidFill>
                <a:latin typeface="Arial"/>
                <a:cs typeface="Arial"/>
              </a:rPr>
              <a:t> </a:t>
            </a:r>
            <a:r>
              <a:rPr sz="2000" dirty="0" err="1">
                <a:latin typeface="Arial"/>
                <a:cs typeface="Arial"/>
              </a:rPr>
              <a:t>giữa</a:t>
            </a:r>
            <a:r>
              <a:rPr sz="2000" dirty="0">
                <a:latin typeface="Arial"/>
                <a:cs typeface="Arial"/>
              </a:rPr>
              <a:t> các tiến trình ứng </a:t>
            </a:r>
            <a:r>
              <a:rPr sz="2000" dirty="0" err="1">
                <a:latin typeface="Arial"/>
                <a:cs typeface="Arial"/>
              </a:rPr>
              <a:t>dụng</a:t>
            </a:r>
            <a:r>
              <a:rPr sz="2000" dirty="0">
                <a:latin typeface="Arial"/>
                <a:cs typeface="Arial"/>
              </a:rPr>
              <a:t> </a:t>
            </a:r>
            <a:r>
              <a:rPr sz="2000" dirty="0" err="1">
                <a:latin typeface="Arial"/>
                <a:cs typeface="Arial"/>
              </a:rPr>
              <a:t>chạy</a:t>
            </a:r>
            <a:r>
              <a:rPr sz="2000" dirty="0">
                <a:latin typeface="Arial"/>
                <a:cs typeface="Arial"/>
              </a:rPr>
              <a:t> trên các host khác  nhau</a:t>
            </a:r>
          </a:p>
          <a:p>
            <a:pPr marL="355600" marR="401955" indent="-342900">
              <a:lnSpc>
                <a:spcPct val="100000"/>
              </a:lnSpc>
              <a:spcBef>
                <a:spcPts val="385"/>
              </a:spcBef>
              <a:buClr>
                <a:srgbClr val="3333CC"/>
              </a:buClr>
              <a:buSzPct val="84375"/>
              <a:buFont typeface="Wingdings"/>
              <a:buChar char=""/>
              <a:tabLst>
                <a:tab pos="354965" algn="l"/>
                <a:tab pos="355600" algn="l"/>
              </a:tabLst>
            </a:pPr>
            <a:r>
              <a:rPr lang="en-US" sz="2000" dirty="0" err="1">
                <a:latin typeface="Arial"/>
                <a:cs typeface="Arial"/>
              </a:rPr>
              <a:t>G</a:t>
            </a:r>
            <a:r>
              <a:rPr sz="2000" dirty="0" err="1">
                <a:latin typeface="Arial"/>
                <a:cs typeface="Arial"/>
              </a:rPr>
              <a:t>iao</a:t>
            </a:r>
            <a:r>
              <a:rPr sz="2000" dirty="0">
                <a:latin typeface="Arial"/>
                <a:cs typeface="Arial"/>
              </a:rPr>
              <a:t> thức giao vận chạy  trong các end system</a:t>
            </a:r>
          </a:p>
          <a:p>
            <a:pPr marL="755650" marR="320675" lvl="1" indent="-285750">
              <a:lnSpc>
                <a:spcPct val="100000"/>
              </a:lnSpc>
              <a:spcBef>
                <a:spcPts val="384"/>
              </a:spcBef>
              <a:buClr>
                <a:srgbClr val="3333CC"/>
              </a:buClr>
              <a:buSzPct val="75000"/>
              <a:buFont typeface="Wingdings"/>
              <a:buChar char=""/>
              <a:tabLst>
                <a:tab pos="755650" algn="l"/>
              </a:tabLst>
            </a:pPr>
            <a:r>
              <a:rPr sz="2000" dirty="0">
                <a:latin typeface="Arial"/>
                <a:cs typeface="Arial"/>
              </a:rPr>
              <a:t>phía gửi: chia app</a:t>
            </a:r>
            <a:r>
              <a:rPr lang="en-US" sz="2000" dirty="0">
                <a:latin typeface="Arial"/>
                <a:cs typeface="Arial"/>
              </a:rPr>
              <a:t>.</a:t>
            </a:r>
            <a:r>
              <a:rPr sz="2000" dirty="0">
                <a:latin typeface="Arial"/>
                <a:cs typeface="Arial"/>
              </a:rPr>
              <a:t>  message thành các </a:t>
            </a:r>
            <a:r>
              <a:rPr sz="2000" dirty="0">
                <a:solidFill>
                  <a:srgbClr val="CC0000"/>
                </a:solidFill>
                <a:latin typeface="Arial"/>
                <a:cs typeface="Arial"/>
              </a:rPr>
              <a:t> </a:t>
            </a:r>
            <a:r>
              <a:rPr sz="2000" i="1" dirty="0">
                <a:solidFill>
                  <a:srgbClr val="CC0000"/>
                </a:solidFill>
                <a:latin typeface="Arial"/>
                <a:cs typeface="Arial"/>
              </a:rPr>
              <a:t>segment</a:t>
            </a:r>
            <a:r>
              <a:rPr sz="2000" dirty="0">
                <a:latin typeface="Arial"/>
                <a:cs typeface="Arial"/>
              </a:rPr>
              <a:t>, chuyển tới  tầng mạng</a:t>
            </a:r>
          </a:p>
          <a:p>
            <a:pPr marL="755650" marR="276225" lvl="1" indent="-285750">
              <a:lnSpc>
                <a:spcPct val="100000"/>
              </a:lnSpc>
              <a:spcBef>
                <a:spcPts val="380"/>
              </a:spcBef>
              <a:buClr>
                <a:srgbClr val="3333CC"/>
              </a:buClr>
              <a:buSzPct val="75000"/>
              <a:buFont typeface="Wingdings"/>
              <a:buChar char=""/>
              <a:tabLst>
                <a:tab pos="755650" algn="l"/>
              </a:tabLst>
            </a:pPr>
            <a:r>
              <a:rPr sz="2000" dirty="0">
                <a:latin typeface="Arial"/>
                <a:cs typeface="Arial"/>
              </a:rPr>
              <a:t>phía nhận: ghép các  segment lại thành  message, chuyển tới  tầng ứng dụng</a:t>
            </a:r>
          </a:p>
          <a:p>
            <a:pPr marL="355600" marR="76835" indent="-342900">
              <a:lnSpc>
                <a:spcPct val="100000"/>
              </a:lnSpc>
              <a:spcBef>
                <a:spcPts val="385"/>
              </a:spcBef>
              <a:buClr>
                <a:srgbClr val="3333CC"/>
              </a:buClr>
              <a:buSzPct val="84375"/>
              <a:buFont typeface="Wingdings"/>
              <a:buChar char=""/>
              <a:tabLst>
                <a:tab pos="354965" algn="l"/>
                <a:tab pos="355600" algn="l"/>
              </a:tabLst>
            </a:pPr>
            <a:r>
              <a:rPr lang="en-US" sz="2000" dirty="0" err="1">
                <a:latin typeface="Arial"/>
                <a:cs typeface="Arial"/>
              </a:rPr>
              <a:t>C</a:t>
            </a:r>
            <a:r>
              <a:rPr sz="2000" dirty="0" err="1">
                <a:latin typeface="Arial"/>
                <a:cs typeface="Arial"/>
              </a:rPr>
              <a:t>ó</a:t>
            </a:r>
            <a:r>
              <a:rPr sz="2000" dirty="0">
                <a:latin typeface="Arial"/>
                <a:cs typeface="Arial"/>
              </a:rPr>
              <a:t> nhiều hơn một giao thức  giao vận cho các ứng dụng</a:t>
            </a:r>
          </a:p>
          <a:p>
            <a:pPr marL="755650" lvl="1" indent="-285750">
              <a:lnSpc>
                <a:spcPct val="100000"/>
              </a:lnSpc>
              <a:spcBef>
                <a:spcPts val="385"/>
              </a:spcBef>
              <a:buClr>
                <a:srgbClr val="3333CC"/>
              </a:buClr>
              <a:buSzPct val="75000"/>
              <a:buFont typeface="Wingdings"/>
              <a:buChar char=""/>
              <a:tabLst>
                <a:tab pos="755650" algn="l"/>
              </a:tabLst>
            </a:pPr>
            <a:r>
              <a:rPr sz="2000" dirty="0">
                <a:latin typeface="Arial"/>
                <a:cs typeface="Arial"/>
              </a:rPr>
              <a:t>Internet: TCP và UDP</a:t>
            </a:r>
          </a:p>
        </p:txBody>
      </p:sp>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4</a:t>
            </a:fld>
            <a:endParaRPr lang="en-US" spc="-5" dirty="0"/>
          </a:p>
        </p:txBody>
      </p:sp>
    </p:spTree>
    <p:extLst>
      <p:ext uri="{BB962C8B-B14F-4D97-AF65-F5344CB8AC3E}">
        <p14:creationId xmlns:p14="http://schemas.microsoft.com/office/powerpoint/2010/main" val="62243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15594" y="818642"/>
            <a:ext cx="8278495" cy="566822"/>
          </a:xfrm>
          <a:prstGeom prst="rect">
            <a:avLst/>
          </a:prstGeom>
        </p:spPr>
        <p:txBody>
          <a:bodyPr vert="horz" wrap="square" lIns="0" tIns="12700" rIns="0" bIns="0" rtlCol="0">
            <a:spAutoFit/>
          </a:bodyPr>
          <a:lstStyle/>
          <a:p>
            <a:pPr marL="12700">
              <a:lnSpc>
                <a:spcPct val="100000"/>
              </a:lnSpc>
              <a:spcBef>
                <a:spcPts val="100"/>
              </a:spcBef>
            </a:pPr>
            <a:r>
              <a:rPr lang="en-US" dirty="0" err="1"/>
              <a:t>Dịch</a:t>
            </a:r>
            <a:r>
              <a:rPr lang="en-US" dirty="0"/>
              <a:t> </a:t>
            </a:r>
            <a:r>
              <a:rPr lang="en-US" dirty="0" err="1"/>
              <a:t>vụ</a:t>
            </a:r>
            <a:r>
              <a:rPr lang="en-US" dirty="0"/>
              <a:t> </a:t>
            </a:r>
            <a:r>
              <a:rPr lang="en-US" dirty="0" err="1"/>
              <a:t>và</a:t>
            </a:r>
            <a:r>
              <a:rPr lang="en-US" dirty="0"/>
              <a:t> </a:t>
            </a:r>
            <a:r>
              <a:rPr lang="en-US" dirty="0" err="1"/>
              <a:t>giao</a:t>
            </a:r>
            <a:r>
              <a:rPr lang="en-US" dirty="0"/>
              <a:t> </a:t>
            </a:r>
            <a:r>
              <a:rPr lang="en-US" dirty="0" err="1"/>
              <a:t>thức</a:t>
            </a:r>
            <a:r>
              <a:rPr lang="en-US" dirty="0"/>
              <a:t> </a:t>
            </a:r>
            <a:r>
              <a:rPr lang="en-US" dirty="0" err="1"/>
              <a:t>tầng</a:t>
            </a:r>
            <a:r>
              <a:rPr lang="en-US" dirty="0"/>
              <a:t> </a:t>
            </a:r>
            <a:r>
              <a:rPr lang="en-US" dirty="0" err="1"/>
              <a:t>giao</a:t>
            </a:r>
            <a:r>
              <a:rPr lang="en-US" dirty="0"/>
              <a:t> </a:t>
            </a:r>
            <a:r>
              <a:rPr lang="en-US" dirty="0" err="1"/>
              <a:t>vận</a:t>
            </a:r>
            <a:endParaRPr dirty="0"/>
          </a:p>
        </p:txBody>
      </p:sp>
      <p:sp>
        <p:nvSpPr>
          <p:cNvPr id="286" name="object 286"/>
          <p:cNvSpPr txBox="1"/>
          <p:nvPr/>
        </p:nvSpPr>
        <p:spPr>
          <a:xfrm>
            <a:off x="492802" y="1826512"/>
            <a:ext cx="5176774" cy="2623795"/>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en-US" sz="2400" spc="-5" dirty="0" err="1">
                <a:latin typeface="Arial"/>
                <a:cs typeface="Arial"/>
              </a:rPr>
              <a:t>Các</a:t>
            </a:r>
            <a:r>
              <a:rPr lang="en-US" sz="2400" spc="-5" dirty="0">
                <a:latin typeface="Arial"/>
                <a:cs typeface="Arial"/>
              </a:rPr>
              <a:t> </a:t>
            </a:r>
            <a:r>
              <a:rPr lang="en-US" sz="2400" spc="-5" dirty="0" err="1">
                <a:latin typeface="Arial"/>
                <a:cs typeface="Arial"/>
              </a:rPr>
              <a:t>dạng</a:t>
            </a:r>
            <a:r>
              <a:rPr lang="en-US" sz="2400" spc="-5" dirty="0">
                <a:latin typeface="Arial"/>
                <a:cs typeface="Arial"/>
              </a:rPr>
              <a:t> </a:t>
            </a:r>
            <a:r>
              <a:rPr lang="en-US" sz="2400" spc="-5" dirty="0" err="1">
                <a:latin typeface="Arial"/>
                <a:cs typeface="Arial"/>
              </a:rPr>
              <a:t>dịch</a:t>
            </a:r>
            <a:r>
              <a:rPr lang="en-US" sz="2400" spc="-5" dirty="0">
                <a:latin typeface="Arial"/>
                <a:cs typeface="Arial"/>
              </a:rPr>
              <a:t> </a:t>
            </a:r>
            <a:r>
              <a:rPr lang="en-US" sz="2400" spc="-5" dirty="0" err="1">
                <a:latin typeface="Arial"/>
                <a:cs typeface="Arial"/>
              </a:rPr>
              <a:t>vụ</a:t>
            </a:r>
            <a:r>
              <a:rPr lang="en-US" sz="2400" spc="-5" dirty="0">
                <a:latin typeface="Arial"/>
                <a:cs typeface="Arial"/>
              </a:rPr>
              <a:t> </a:t>
            </a:r>
            <a:r>
              <a:rPr lang="en-US" sz="2400" spc="-5" dirty="0" err="1">
                <a:latin typeface="Arial"/>
                <a:cs typeface="Arial"/>
              </a:rPr>
              <a:t>giao</a:t>
            </a:r>
            <a:r>
              <a:rPr lang="en-US" sz="2400" spc="-5" dirty="0">
                <a:latin typeface="Arial"/>
                <a:cs typeface="Arial"/>
              </a:rPr>
              <a:t> </a:t>
            </a:r>
            <a:r>
              <a:rPr lang="en-US" sz="2400" spc="-5" dirty="0" err="1">
                <a:latin typeface="Arial"/>
                <a:cs typeface="Arial"/>
              </a:rPr>
              <a:t>vận</a:t>
            </a:r>
            <a:r>
              <a:rPr lang="en-US" sz="2400" spc="-5" dirty="0">
                <a:latin typeface="Arial"/>
                <a:cs typeface="Arial"/>
              </a:rPr>
              <a:t>: </a:t>
            </a:r>
            <a:endParaRPr sz="2000" dirty="0">
              <a:latin typeface="Arial"/>
              <a:cs typeface="Arial"/>
            </a:endParaRPr>
          </a:p>
          <a:p>
            <a:pPr marL="755650" lvl="1" indent="-285750">
              <a:lnSpc>
                <a:spcPct val="100000"/>
              </a:lnSpc>
              <a:spcBef>
                <a:spcPts val="480"/>
              </a:spcBef>
              <a:buClr>
                <a:srgbClr val="3333CC"/>
              </a:buClr>
              <a:buSzPct val="75000"/>
              <a:buFont typeface="Wingdings"/>
              <a:buChar char=""/>
              <a:tabLst>
                <a:tab pos="755650" algn="l"/>
              </a:tabLst>
            </a:pPr>
            <a:r>
              <a:rPr lang="en-US" sz="2000" spc="-5" dirty="0" err="1">
                <a:latin typeface="Arial"/>
                <a:cs typeface="Arial"/>
              </a:rPr>
              <a:t>Dồn</a:t>
            </a:r>
            <a:r>
              <a:rPr lang="en-US" sz="2000" spc="-5" dirty="0">
                <a:latin typeface="Arial"/>
                <a:cs typeface="Arial"/>
              </a:rPr>
              <a:t> </a:t>
            </a:r>
            <a:r>
              <a:rPr lang="en-US" sz="2000" spc="-5" dirty="0" err="1">
                <a:latin typeface="Arial"/>
                <a:cs typeface="Arial"/>
              </a:rPr>
              <a:t>kênh</a:t>
            </a:r>
            <a:r>
              <a:rPr lang="en-US" sz="2000" spc="-5" dirty="0">
                <a:latin typeface="Arial"/>
                <a:cs typeface="Arial"/>
              </a:rPr>
              <a:t> (multiplex) </a:t>
            </a:r>
            <a:r>
              <a:rPr lang="en-US" sz="2000" spc="-5" dirty="0" err="1">
                <a:latin typeface="Arial"/>
                <a:cs typeface="Arial"/>
              </a:rPr>
              <a:t>và</a:t>
            </a:r>
            <a:r>
              <a:rPr lang="en-US" sz="2000" spc="-5" dirty="0">
                <a:latin typeface="Arial"/>
                <a:cs typeface="Arial"/>
              </a:rPr>
              <a:t> </a:t>
            </a:r>
            <a:r>
              <a:rPr lang="en-US" sz="2000" spc="-5" dirty="0" err="1">
                <a:latin typeface="Arial"/>
                <a:cs typeface="Arial"/>
              </a:rPr>
              <a:t>phân</a:t>
            </a:r>
            <a:r>
              <a:rPr lang="en-US" sz="2000" spc="-5" dirty="0">
                <a:latin typeface="Arial"/>
                <a:cs typeface="Arial"/>
              </a:rPr>
              <a:t> </a:t>
            </a:r>
            <a:r>
              <a:rPr lang="en-US" sz="2000" spc="-5" dirty="0" err="1">
                <a:latin typeface="Arial"/>
                <a:cs typeface="Arial"/>
              </a:rPr>
              <a:t>kênh</a:t>
            </a:r>
            <a:r>
              <a:rPr lang="en-US" sz="2000" spc="-5" dirty="0">
                <a:latin typeface="Arial"/>
                <a:cs typeface="Arial"/>
              </a:rPr>
              <a:t> (</a:t>
            </a:r>
            <a:r>
              <a:rPr lang="en-US" sz="2000" spc="-5" dirty="0" err="1">
                <a:latin typeface="Arial"/>
                <a:cs typeface="Arial"/>
              </a:rPr>
              <a:t>demultiplex</a:t>
            </a:r>
            <a:r>
              <a:rPr lang="en-US" sz="2000" spc="-5" dirty="0">
                <a:latin typeface="Arial"/>
                <a:cs typeface="Arial"/>
              </a:rPr>
              <a:t>)</a:t>
            </a:r>
            <a:endParaRPr sz="2000" dirty="0">
              <a:latin typeface="Arial"/>
              <a:cs typeface="Arial"/>
            </a:endParaRPr>
          </a:p>
          <a:p>
            <a:pPr marL="755650" marR="180340" lvl="1" indent="-285750">
              <a:spcBef>
                <a:spcPts val="480"/>
              </a:spcBef>
              <a:buClr>
                <a:srgbClr val="3333CC"/>
              </a:buClr>
              <a:buSzPct val="75000"/>
              <a:buFont typeface="Wingdings"/>
              <a:buChar char=""/>
              <a:tabLst>
                <a:tab pos="755650" algn="l"/>
              </a:tabLst>
            </a:pPr>
            <a:r>
              <a:rPr lang="en-US" sz="2000" spc="-5" dirty="0" err="1">
                <a:latin typeface="Arial"/>
                <a:cs typeface="Arial"/>
              </a:rPr>
              <a:t>Đảm</a:t>
            </a:r>
            <a:r>
              <a:rPr lang="en-US" sz="2000" spc="-5" dirty="0">
                <a:latin typeface="Arial"/>
                <a:cs typeface="Arial"/>
              </a:rPr>
              <a:t> </a:t>
            </a:r>
            <a:r>
              <a:rPr lang="en-US" sz="2000" spc="-5" dirty="0" err="1">
                <a:latin typeface="Arial"/>
                <a:cs typeface="Arial"/>
              </a:rPr>
              <a:t>bảo</a:t>
            </a:r>
            <a:r>
              <a:rPr lang="en-US" sz="2000" spc="-5" dirty="0">
                <a:latin typeface="Arial"/>
                <a:cs typeface="Arial"/>
              </a:rPr>
              <a:t> </a:t>
            </a:r>
            <a:r>
              <a:rPr lang="en-US" sz="2000" spc="-5" dirty="0" err="1">
                <a:latin typeface="Arial"/>
                <a:cs typeface="Arial"/>
              </a:rPr>
              <a:t>thông</a:t>
            </a:r>
            <a:r>
              <a:rPr lang="en-US" sz="2000" spc="-5" dirty="0">
                <a:latin typeface="Arial"/>
                <a:cs typeface="Arial"/>
              </a:rPr>
              <a:t> </a:t>
            </a:r>
            <a:r>
              <a:rPr lang="en-US" sz="2000" spc="-5" dirty="0" err="1">
                <a:latin typeface="Arial"/>
                <a:cs typeface="Arial"/>
              </a:rPr>
              <a:t>lượng</a:t>
            </a:r>
            <a:endParaRPr lang="en-US" sz="2000" spc="-5" dirty="0">
              <a:latin typeface="Arial"/>
              <a:cs typeface="Arial"/>
            </a:endParaRPr>
          </a:p>
          <a:p>
            <a:pPr marL="755650" marR="180340" lvl="1" indent="-285750">
              <a:spcBef>
                <a:spcPts val="480"/>
              </a:spcBef>
              <a:buClr>
                <a:srgbClr val="3333CC"/>
              </a:buClr>
              <a:buSzPct val="75000"/>
              <a:buFont typeface="Wingdings"/>
              <a:buChar char=""/>
              <a:tabLst>
                <a:tab pos="755650" algn="l"/>
              </a:tabLst>
            </a:pPr>
            <a:r>
              <a:rPr lang="en-US" sz="2000" spc="-5" dirty="0" err="1">
                <a:latin typeface="Arial"/>
                <a:cs typeface="Arial"/>
              </a:rPr>
              <a:t>Đảm</a:t>
            </a:r>
            <a:r>
              <a:rPr lang="en-US" sz="2000" spc="-5" dirty="0">
                <a:latin typeface="Arial"/>
                <a:cs typeface="Arial"/>
              </a:rPr>
              <a:t> </a:t>
            </a:r>
            <a:r>
              <a:rPr lang="en-US" sz="2000" spc="-5" dirty="0" err="1">
                <a:latin typeface="Arial"/>
                <a:cs typeface="Arial"/>
              </a:rPr>
              <a:t>bảo</a:t>
            </a:r>
            <a:r>
              <a:rPr lang="en-US" sz="2000" spc="-5" dirty="0">
                <a:latin typeface="Arial"/>
                <a:cs typeface="Arial"/>
              </a:rPr>
              <a:t> </a:t>
            </a:r>
            <a:r>
              <a:rPr lang="en-US" sz="2000" spc="-5" dirty="0" err="1">
                <a:latin typeface="Arial"/>
                <a:cs typeface="Arial"/>
              </a:rPr>
              <a:t>độ</a:t>
            </a:r>
            <a:r>
              <a:rPr lang="en-US" sz="2000" spc="-5" dirty="0">
                <a:latin typeface="Arial"/>
                <a:cs typeface="Arial"/>
              </a:rPr>
              <a:t> </a:t>
            </a:r>
            <a:r>
              <a:rPr lang="en-US" sz="2000" spc="-5" dirty="0" err="1">
                <a:latin typeface="Arial"/>
                <a:cs typeface="Arial"/>
              </a:rPr>
              <a:t>trễ</a:t>
            </a:r>
            <a:endParaRPr lang="en-US" sz="2000" spc="-5" dirty="0">
              <a:latin typeface="Arial"/>
              <a:cs typeface="Arial"/>
            </a:endParaRPr>
          </a:p>
          <a:p>
            <a:pPr marL="755650" marR="180340" lvl="1" indent="-285750">
              <a:spcBef>
                <a:spcPts val="480"/>
              </a:spcBef>
              <a:buClr>
                <a:srgbClr val="3333CC"/>
              </a:buClr>
              <a:buSzPct val="75000"/>
              <a:buFont typeface="Wingdings"/>
              <a:buChar char=""/>
              <a:tabLst>
                <a:tab pos="755650" algn="l"/>
              </a:tabLst>
            </a:pPr>
            <a:r>
              <a:rPr lang="en-US" sz="2000" spc="-5" dirty="0" err="1">
                <a:latin typeface="Arial"/>
                <a:cs typeface="Arial"/>
              </a:rPr>
              <a:t>Truyền</a:t>
            </a:r>
            <a:r>
              <a:rPr lang="en-US" sz="2000" spc="-5" dirty="0">
                <a:latin typeface="Arial"/>
                <a:cs typeface="Arial"/>
              </a:rPr>
              <a:t> </a:t>
            </a:r>
            <a:r>
              <a:rPr lang="en-US" sz="2000" spc="-5" dirty="0" err="1">
                <a:latin typeface="Arial"/>
                <a:cs typeface="Arial"/>
              </a:rPr>
              <a:t>dữ</a:t>
            </a:r>
            <a:r>
              <a:rPr lang="en-US" sz="2000" spc="-5" dirty="0">
                <a:latin typeface="Arial"/>
                <a:cs typeface="Arial"/>
              </a:rPr>
              <a:t> </a:t>
            </a:r>
            <a:r>
              <a:rPr lang="en-US" sz="2000" spc="-5" dirty="0" err="1">
                <a:latin typeface="Arial"/>
                <a:cs typeface="Arial"/>
              </a:rPr>
              <a:t>liệu</a:t>
            </a:r>
            <a:r>
              <a:rPr lang="en-US" sz="2000" spc="-5" dirty="0">
                <a:latin typeface="Arial"/>
                <a:cs typeface="Arial"/>
              </a:rPr>
              <a:t> tin </a:t>
            </a:r>
            <a:r>
              <a:rPr lang="en-US" sz="2000" spc="-5" dirty="0" err="1">
                <a:latin typeface="Arial"/>
                <a:cs typeface="Arial"/>
              </a:rPr>
              <a:t>cậy</a:t>
            </a:r>
            <a:endParaRPr lang="en-US" sz="2000" spc="-5" dirty="0">
              <a:latin typeface="Arial"/>
              <a:cs typeface="Arial"/>
            </a:endParaRPr>
          </a:p>
          <a:p>
            <a:pPr marL="755650" marR="180340" lvl="1" indent="-285750">
              <a:lnSpc>
                <a:spcPct val="100000"/>
              </a:lnSpc>
              <a:spcBef>
                <a:spcPts val="480"/>
              </a:spcBef>
              <a:buClr>
                <a:srgbClr val="3333CC"/>
              </a:buClr>
              <a:buSzPct val="75000"/>
              <a:buFont typeface="Wingdings"/>
              <a:buChar char=""/>
              <a:tabLst>
                <a:tab pos="755650" algn="l"/>
              </a:tabLst>
            </a:pPr>
            <a:r>
              <a:rPr lang="en-US" sz="2000" spc="-5" dirty="0">
                <a:latin typeface="Arial"/>
                <a:cs typeface="Arial"/>
              </a:rPr>
              <a:t>…</a:t>
            </a:r>
            <a:endParaRPr sz="2000" spc="-5" dirty="0">
              <a:latin typeface="Arial"/>
              <a:cs typeface="Arial"/>
            </a:endParaRPr>
          </a:p>
        </p:txBody>
      </p:sp>
      <p:sp>
        <p:nvSpPr>
          <p:cNvPr id="409" name="Slide Number Placeholder 408"/>
          <p:cNvSpPr>
            <a:spLocks noGrp="1"/>
          </p:cNvSpPr>
          <p:nvPr>
            <p:ph type="sldNum" sz="quarter" idx="7"/>
          </p:nvPr>
        </p:nvSpPr>
        <p:spPr>
          <a:xfrm>
            <a:off x="9393808" y="7315200"/>
            <a:ext cx="394970" cy="205184"/>
          </a:xfrm>
        </p:spPr>
        <p:txBody>
          <a:bodyPr/>
          <a:lstStyle/>
          <a:p>
            <a:pPr marL="12700">
              <a:lnSpc>
                <a:spcPts val="1645"/>
              </a:lnSpc>
            </a:pPr>
            <a:fld id="{81D60167-4931-47E6-BA6A-407CBD079E47}" type="slidenum">
              <a:rPr lang="en-US" spc="-5" smtClean="0"/>
              <a:t>5</a:t>
            </a:fld>
            <a:endParaRPr lang="en-US" spc="-5" dirty="0"/>
          </a:p>
        </p:txBody>
      </p:sp>
    </p:spTree>
    <p:extLst>
      <p:ext uri="{BB962C8B-B14F-4D97-AF65-F5344CB8AC3E}">
        <p14:creationId xmlns:p14="http://schemas.microsoft.com/office/powerpoint/2010/main" val="3097430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957326"/>
            <a:ext cx="8989061" cy="566822"/>
          </a:xfrm>
          <a:prstGeom prst="rect">
            <a:avLst/>
          </a:prstGeom>
        </p:spPr>
        <p:txBody>
          <a:bodyPr vert="horz" wrap="square" lIns="0" tIns="12700" rIns="0" bIns="0" rtlCol="0">
            <a:spAutoFit/>
          </a:bodyPr>
          <a:lstStyle/>
          <a:p>
            <a:pPr marL="12700">
              <a:lnSpc>
                <a:spcPct val="100000"/>
              </a:lnSpc>
              <a:spcBef>
                <a:spcPts val="100"/>
              </a:spcBef>
            </a:pPr>
            <a:r>
              <a:rPr lang="en-US" dirty="0" err="1"/>
              <a:t>Quan</a:t>
            </a:r>
            <a:r>
              <a:rPr lang="en-US" dirty="0"/>
              <a:t> </a:t>
            </a:r>
            <a:r>
              <a:rPr lang="en-US" dirty="0" err="1"/>
              <a:t>hệ</a:t>
            </a:r>
            <a:r>
              <a:rPr lang="en-US" dirty="0"/>
              <a:t> </a:t>
            </a:r>
            <a:r>
              <a:rPr lang="en-US" dirty="0" err="1"/>
              <a:t>giữa</a:t>
            </a:r>
            <a:r>
              <a:rPr lang="en-US" dirty="0"/>
              <a:t> </a:t>
            </a:r>
            <a:r>
              <a:rPr lang="en-US" dirty="0" err="1"/>
              <a:t>tầng</a:t>
            </a:r>
            <a:r>
              <a:rPr lang="en-US" dirty="0"/>
              <a:t> </a:t>
            </a:r>
            <a:r>
              <a:rPr lang="en-US" dirty="0" err="1"/>
              <a:t>giao</a:t>
            </a:r>
            <a:r>
              <a:rPr lang="en-US" dirty="0"/>
              <a:t> </a:t>
            </a:r>
            <a:r>
              <a:rPr lang="en-US" dirty="0" err="1"/>
              <a:t>vận</a:t>
            </a:r>
            <a:r>
              <a:rPr lang="en-US" dirty="0"/>
              <a:t> </a:t>
            </a:r>
            <a:r>
              <a:rPr lang="en-US" dirty="0" err="1"/>
              <a:t>và</a:t>
            </a:r>
            <a:r>
              <a:rPr lang="en-US" dirty="0"/>
              <a:t> </a:t>
            </a:r>
            <a:r>
              <a:rPr lang="en-US" dirty="0" err="1"/>
              <a:t>tầng</a:t>
            </a:r>
            <a:r>
              <a:rPr lang="en-US" dirty="0"/>
              <a:t> </a:t>
            </a:r>
            <a:r>
              <a:rPr lang="en-US" dirty="0" err="1"/>
              <a:t>mạng</a:t>
            </a:r>
            <a:endParaRPr dirty="0"/>
          </a:p>
        </p:txBody>
      </p:sp>
      <p:sp>
        <p:nvSpPr>
          <p:cNvPr id="3" name="object 3"/>
          <p:cNvSpPr txBox="1"/>
          <p:nvPr/>
        </p:nvSpPr>
        <p:spPr>
          <a:xfrm>
            <a:off x="1069338" y="1966214"/>
            <a:ext cx="3807461" cy="3023392"/>
          </a:xfrm>
          <a:prstGeom prst="rect">
            <a:avLst/>
          </a:prstGeom>
        </p:spPr>
        <p:txBody>
          <a:bodyPr vert="horz" wrap="square" lIns="0" tIns="12700" rIns="0" bIns="0" rtlCol="0">
            <a:spAutoFit/>
          </a:bodyPr>
          <a:lstStyle/>
          <a:p>
            <a:pPr marL="355600" indent="-342900">
              <a:spcBef>
                <a:spcPts val="300"/>
              </a:spcBef>
              <a:spcAft>
                <a:spcPts val="300"/>
              </a:spcAft>
              <a:buClr>
                <a:srgbClr val="3333CC"/>
              </a:buClr>
              <a:buSzPct val="83333"/>
              <a:buFont typeface="Wingdings"/>
              <a:buChar char=""/>
              <a:tabLst>
                <a:tab pos="355600" algn="l"/>
              </a:tabLst>
            </a:pPr>
            <a:r>
              <a:rPr sz="2400" i="1" dirty="0" err="1">
                <a:solidFill>
                  <a:srgbClr val="00009A"/>
                </a:solidFill>
                <a:latin typeface="Arial"/>
                <a:cs typeface="Arial"/>
              </a:rPr>
              <a:t>tầng</a:t>
            </a:r>
            <a:r>
              <a:rPr sz="2400" i="1" dirty="0">
                <a:solidFill>
                  <a:srgbClr val="00009A"/>
                </a:solidFill>
                <a:latin typeface="Arial"/>
                <a:cs typeface="Arial"/>
              </a:rPr>
              <a:t> giao </a:t>
            </a:r>
            <a:r>
              <a:rPr sz="2400" i="1" dirty="0" err="1">
                <a:solidFill>
                  <a:srgbClr val="00009A"/>
                </a:solidFill>
                <a:latin typeface="Arial"/>
                <a:cs typeface="Arial"/>
              </a:rPr>
              <a:t>vận</a:t>
            </a:r>
            <a:r>
              <a:rPr sz="2400" i="1" dirty="0">
                <a:solidFill>
                  <a:srgbClr val="00009A"/>
                </a:solidFill>
                <a:latin typeface="Arial"/>
                <a:cs typeface="Arial"/>
              </a:rPr>
              <a:t>:</a:t>
            </a:r>
            <a:r>
              <a:rPr lang="en-US" sz="2400" i="1" dirty="0">
                <a:solidFill>
                  <a:srgbClr val="00009A"/>
                </a:solidFill>
                <a:latin typeface="Arial"/>
                <a:cs typeface="Arial"/>
              </a:rPr>
              <a:t> </a:t>
            </a:r>
            <a:r>
              <a:rPr lang="en-US" sz="2400" dirty="0" err="1">
                <a:latin typeface="Arial"/>
                <a:cs typeface="Arial"/>
              </a:rPr>
              <a:t>cung</a:t>
            </a:r>
            <a:r>
              <a:rPr lang="en-US" sz="2400" dirty="0">
                <a:latin typeface="Arial"/>
                <a:cs typeface="Arial"/>
              </a:rPr>
              <a:t> </a:t>
            </a:r>
            <a:r>
              <a:rPr lang="en-US" sz="2400" dirty="0" err="1">
                <a:latin typeface="Arial"/>
                <a:cs typeface="Arial"/>
              </a:rPr>
              <a:t>cấp</a:t>
            </a:r>
            <a:r>
              <a:rPr lang="en-US" sz="2400" dirty="0">
                <a:latin typeface="Arial"/>
                <a:cs typeface="Arial"/>
              </a:rPr>
              <a:t> </a:t>
            </a:r>
            <a:r>
              <a:rPr lang="en-US" sz="2400" dirty="0" err="1">
                <a:latin typeface="Arial"/>
                <a:cs typeface="Arial"/>
              </a:rPr>
              <a:t>đường</a:t>
            </a:r>
            <a:r>
              <a:rPr lang="en-US" sz="2400" dirty="0">
                <a:latin typeface="Arial"/>
                <a:cs typeface="Arial"/>
              </a:rPr>
              <a:t> </a:t>
            </a:r>
            <a:r>
              <a:rPr lang="en-US" sz="2400" dirty="0" err="1">
                <a:latin typeface="Arial"/>
                <a:cs typeface="Arial"/>
              </a:rPr>
              <a:t>tru</a:t>
            </a:r>
            <a:r>
              <a:rPr sz="2400" dirty="0" err="1">
                <a:latin typeface="Arial"/>
                <a:cs typeface="Arial"/>
              </a:rPr>
              <a:t>yền</a:t>
            </a:r>
            <a:r>
              <a:rPr lang="en-US" sz="2400" dirty="0">
                <a:latin typeface="Arial"/>
                <a:cs typeface="Arial"/>
              </a:rPr>
              <a:t> </a:t>
            </a:r>
            <a:r>
              <a:rPr sz="2400" dirty="0" err="1">
                <a:latin typeface="Arial"/>
                <a:cs typeface="Arial"/>
              </a:rPr>
              <a:t>lôgic</a:t>
            </a:r>
            <a:r>
              <a:rPr sz="2400" dirty="0">
                <a:latin typeface="Arial"/>
                <a:cs typeface="Arial"/>
              </a:rPr>
              <a:t> </a:t>
            </a:r>
            <a:r>
              <a:rPr sz="2400" dirty="0">
                <a:solidFill>
                  <a:srgbClr val="FF0000"/>
                </a:solidFill>
                <a:latin typeface="Arial"/>
                <a:cs typeface="Arial"/>
              </a:rPr>
              <a:t>giữa </a:t>
            </a:r>
            <a:r>
              <a:rPr sz="2400" dirty="0" err="1">
                <a:solidFill>
                  <a:srgbClr val="FF0000"/>
                </a:solidFill>
                <a:latin typeface="Arial"/>
                <a:cs typeface="Arial"/>
              </a:rPr>
              <a:t>các</a:t>
            </a:r>
            <a:r>
              <a:rPr sz="2400" dirty="0">
                <a:solidFill>
                  <a:srgbClr val="FF0000"/>
                </a:solidFill>
                <a:latin typeface="Arial"/>
                <a:cs typeface="Arial"/>
              </a:rPr>
              <a:t> </a:t>
            </a:r>
            <a:r>
              <a:rPr sz="2400" dirty="0" err="1">
                <a:solidFill>
                  <a:srgbClr val="FF0000"/>
                </a:solidFill>
                <a:latin typeface="Arial"/>
                <a:cs typeface="Arial"/>
              </a:rPr>
              <a:t>tiến</a:t>
            </a:r>
            <a:r>
              <a:rPr sz="2400" dirty="0">
                <a:solidFill>
                  <a:srgbClr val="FF0000"/>
                </a:solidFill>
                <a:latin typeface="Arial"/>
                <a:cs typeface="Arial"/>
              </a:rPr>
              <a:t> </a:t>
            </a:r>
            <a:r>
              <a:rPr sz="2400" dirty="0" err="1">
                <a:solidFill>
                  <a:srgbClr val="FF0000"/>
                </a:solidFill>
                <a:latin typeface="Arial"/>
                <a:cs typeface="Arial"/>
              </a:rPr>
              <a:t>trình</a:t>
            </a:r>
            <a:r>
              <a:rPr lang="en-US" sz="2400" dirty="0">
                <a:solidFill>
                  <a:srgbClr val="FF0000"/>
                </a:solidFill>
                <a:latin typeface="Arial"/>
                <a:cs typeface="Arial"/>
              </a:rPr>
              <a:t> </a:t>
            </a:r>
            <a:r>
              <a:rPr lang="en-US" sz="2400" dirty="0" err="1">
                <a:latin typeface="Arial"/>
                <a:cs typeface="Arial"/>
              </a:rPr>
              <a:t>chạy</a:t>
            </a:r>
            <a:r>
              <a:rPr lang="en-US" sz="2400" dirty="0">
                <a:latin typeface="Arial"/>
                <a:cs typeface="Arial"/>
              </a:rPr>
              <a:t> </a:t>
            </a:r>
            <a:r>
              <a:rPr lang="en-US" sz="2400" dirty="0" err="1">
                <a:latin typeface="Arial"/>
                <a:cs typeface="Arial"/>
              </a:rPr>
              <a:t>trên</a:t>
            </a:r>
            <a:r>
              <a:rPr lang="en-US" sz="2400" dirty="0">
                <a:latin typeface="Arial"/>
                <a:cs typeface="Arial"/>
              </a:rPr>
              <a:t> </a:t>
            </a:r>
            <a:r>
              <a:rPr lang="en-US" sz="2400" dirty="0" err="1">
                <a:latin typeface="Arial"/>
                <a:cs typeface="Arial"/>
              </a:rPr>
              <a:t>các</a:t>
            </a:r>
            <a:r>
              <a:rPr lang="en-US" sz="2400" dirty="0">
                <a:latin typeface="Arial"/>
                <a:cs typeface="Arial"/>
              </a:rPr>
              <a:t> host</a:t>
            </a:r>
          </a:p>
          <a:p>
            <a:pPr marL="355600" indent="-342900">
              <a:spcBef>
                <a:spcPts val="300"/>
              </a:spcBef>
              <a:spcAft>
                <a:spcPts val="300"/>
              </a:spcAft>
              <a:buClr>
                <a:srgbClr val="3333CC"/>
              </a:buClr>
              <a:buSzPct val="83333"/>
              <a:buFont typeface="Wingdings"/>
              <a:buChar char=""/>
              <a:tabLst>
                <a:tab pos="355600" algn="l"/>
              </a:tabLst>
            </a:pPr>
            <a:r>
              <a:rPr lang="en-US" sz="2400" i="1" dirty="0" err="1">
                <a:solidFill>
                  <a:srgbClr val="00009A"/>
                </a:solidFill>
                <a:latin typeface="Arial"/>
                <a:cs typeface="Arial"/>
              </a:rPr>
              <a:t>tầng</a:t>
            </a:r>
            <a:r>
              <a:rPr lang="en-US" sz="2400" i="1" dirty="0">
                <a:solidFill>
                  <a:srgbClr val="00009A"/>
                </a:solidFill>
                <a:latin typeface="Arial"/>
                <a:cs typeface="Arial"/>
              </a:rPr>
              <a:t> </a:t>
            </a:r>
            <a:r>
              <a:rPr lang="en-US" sz="2400" i="1" dirty="0" err="1">
                <a:solidFill>
                  <a:srgbClr val="00009A"/>
                </a:solidFill>
                <a:latin typeface="Arial"/>
                <a:cs typeface="Arial"/>
              </a:rPr>
              <a:t>mạng</a:t>
            </a:r>
            <a:r>
              <a:rPr lang="en-US" sz="2400" i="1" dirty="0">
                <a:solidFill>
                  <a:srgbClr val="00009A"/>
                </a:solidFill>
                <a:latin typeface="Arial"/>
                <a:cs typeface="Arial"/>
              </a:rPr>
              <a:t>: </a:t>
            </a:r>
            <a:r>
              <a:rPr lang="vi-VN" sz="2400" dirty="0">
                <a:latin typeface="Arial"/>
                <a:cs typeface="Arial"/>
              </a:rPr>
              <a:t>cung cấp đường truyền</a:t>
            </a:r>
            <a:r>
              <a:rPr lang="en-US" sz="2400" dirty="0">
                <a:latin typeface="Arial"/>
                <a:cs typeface="Arial"/>
              </a:rPr>
              <a:t> </a:t>
            </a:r>
            <a:r>
              <a:rPr lang="vi-VN" sz="2400" dirty="0">
                <a:latin typeface="Arial"/>
                <a:cs typeface="Arial"/>
              </a:rPr>
              <a:t>lôgic </a:t>
            </a:r>
            <a:r>
              <a:rPr lang="vi-VN" sz="2400" dirty="0">
                <a:solidFill>
                  <a:srgbClr val="FF0000"/>
                </a:solidFill>
                <a:latin typeface="Arial"/>
                <a:cs typeface="Arial"/>
              </a:rPr>
              <a:t>giữa các host</a:t>
            </a:r>
          </a:p>
          <a:p>
            <a:pPr marL="354965" marR="222885">
              <a:lnSpc>
                <a:spcPct val="70000"/>
              </a:lnSpc>
              <a:spcBef>
                <a:spcPts val="434"/>
              </a:spcBef>
            </a:pPr>
            <a:endParaRPr sz="2400" dirty="0">
              <a:latin typeface="Arial"/>
              <a:cs typeface="Arial"/>
            </a:endParaRPr>
          </a:p>
        </p:txBody>
      </p:sp>
      <p:sp>
        <p:nvSpPr>
          <p:cNvPr id="4" name="object 4"/>
          <p:cNvSpPr/>
          <p:nvPr/>
        </p:nvSpPr>
        <p:spPr>
          <a:xfrm>
            <a:off x="5498464" y="2375280"/>
            <a:ext cx="4036060" cy="3856990"/>
          </a:xfrm>
          <a:custGeom>
            <a:avLst/>
            <a:gdLst/>
            <a:ahLst/>
            <a:cxnLst/>
            <a:rect l="l" t="t" r="r" b="b"/>
            <a:pathLst>
              <a:path w="4036059" h="3856990">
                <a:moveTo>
                  <a:pt x="4035552" y="3856482"/>
                </a:moveTo>
                <a:lnTo>
                  <a:pt x="4035552" y="0"/>
                </a:lnTo>
                <a:lnTo>
                  <a:pt x="0" y="0"/>
                </a:lnTo>
                <a:lnTo>
                  <a:pt x="0" y="3856482"/>
                </a:lnTo>
                <a:lnTo>
                  <a:pt x="9144" y="3856482"/>
                </a:lnTo>
                <a:lnTo>
                  <a:pt x="9143" y="19050"/>
                </a:lnTo>
                <a:lnTo>
                  <a:pt x="19050" y="9906"/>
                </a:lnTo>
                <a:lnTo>
                  <a:pt x="19050" y="19050"/>
                </a:lnTo>
                <a:lnTo>
                  <a:pt x="4016501" y="19050"/>
                </a:lnTo>
                <a:lnTo>
                  <a:pt x="4016501" y="9905"/>
                </a:lnTo>
                <a:lnTo>
                  <a:pt x="4025645" y="19050"/>
                </a:lnTo>
                <a:lnTo>
                  <a:pt x="4025645" y="3856482"/>
                </a:lnTo>
                <a:lnTo>
                  <a:pt x="4035552" y="3856482"/>
                </a:lnTo>
                <a:close/>
              </a:path>
              <a:path w="4036059" h="3856990">
                <a:moveTo>
                  <a:pt x="19050" y="19050"/>
                </a:moveTo>
                <a:lnTo>
                  <a:pt x="19050" y="9906"/>
                </a:lnTo>
                <a:lnTo>
                  <a:pt x="9143" y="19050"/>
                </a:lnTo>
                <a:lnTo>
                  <a:pt x="19050" y="19050"/>
                </a:lnTo>
                <a:close/>
              </a:path>
              <a:path w="4036059" h="3856990">
                <a:moveTo>
                  <a:pt x="19050" y="3837432"/>
                </a:moveTo>
                <a:lnTo>
                  <a:pt x="19050" y="19050"/>
                </a:lnTo>
                <a:lnTo>
                  <a:pt x="9143" y="19050"/>
                </a:lnTo>
                <a:lnTo>
                  <a:pt x="9144" y="3837432"/>
                </a:lnTo>
                <a:lnTo>
                  <a:pt x="19050" y="3837432"/>
                </a:lnTo>
                <a:close/>
              </a:path>
              <a:path w="4036059" h="3856990">
                <a:moveTo>
                  <a:pt x="4025645" y="3837432"/>
                </a:moveTo>
                <a:lnTo>
                  <a:pt x="9144" y="3837432"/>
                </a:lnTo>
                <a:lnTo>
                  <a:pt x="19050" y="3846576"/>
                </a:lnTo>
                <a:lnTo>
                  <a:pt x="19050" y="3856482"/>
                </a:lnTo>
                <a:lnTo>
                  <a:pt x="4016501" y="3856482"/>
                </a:lnTo>
                <a:lnTo>
                  <a:pt x="4016501" y="3846576"/>
                </a:lnTo>
                <a:lnTo>
                  <a:pt x="4025645" y="3837432"/>
                </a:lnTo>
                <a:close/>
              </a:path>
              <a:path w="4036059" h="3856990">
                <a:moveTo>
                  <a:pt x="19050" y="3856482"/>
                </a:moveTo>
                <a:lnTo>
                  <a:pt x="19050" y="3846576"/>
                </a:lnTo>
                <a:lnTo>
                  <a:pt x="9144" y="3837432"/>
                </a:lnTo>
                <a:lnTo>
                  <a:pt x="9144" y="3856482"/>
                </a:lnTo>
                <a:lnTo>
                  <a:pt x="19050" y="3856482"/>
                </a:lnTo>
                <a:close/>
              </a:path>
              <a:path w="4036059" h="3856990">
                <a:moveTo>
                  <a:pt x="4025645" y="19050"/>
                </a:moveTo>
                <a:lnTo>
                  <a:pt x="4016501" y="9905"/>
                </a:lnTo>
                <a:lnTo>
                  <a:pt x="4016501" y="19050"/>
                </a:lnTo>
                <a:lnTo>
                  <a:pt x="4025645" y="19050"/>
                </a:lnTo>
                <a:close/>
              </a:path>
              <a:path w="4036059" h="3856990">
                <a:moveTo>
                  <a:pt x="4025645" y="3837432"/>
                </a:moveTo>
                <a:lnTo>
                  <a:pt x="4025645" y="19050"/>
                </a:lnTo>
                <a:lnTo>
                  <a:pt x="4016501" y="19050"/>
                </a:lnTo>
                <a:lnTo>
                  <a:pt x="4016501" y="3837432"/>
                </a:lnTo>
                <a:lnTo>
                  <a:pt x="4025645" y="3837432"/>
                </a:lnTo>
                <a:close/>
              </a:path>
              <a:path w="4036059" h="3856990">
                <a:moveTo>
                  <a:pt x="4025645" y="3856482"/>
                </a:moveTo>
                <a:lnTo>
                  <a:pt x="4025645" y="3837432"/>
                </a:lnTo>
                <a:lnTo>
                  <a:pt x="4016501" y="3846576"/>
                </a:lnTo>
                <a:lnTo>
                  <a:pt x="4016501" y="3856482"/>
                </a:lnTo>
                <a:lnTo>
                  <a:pt x="4025645" y="3856482"/>
                </a:lnTo>
                <a:close/>
              </a:path>
            </a:pathLst>
          </a:custGeom>
          <a:solidFill>
            <a:srgbClr val="CC0000"/>
          </a:solidFill>
        </p:spPr>
        <p:txBody>
          <a:bodyPr wrap="square" lIns="0" tIns="0" rIns="0" bIns="0" rtlCol="0"/>
          <a:lstStyle/>
          <a:p>
            <a:endParaRPr/>
          </a:p>
        </p:txBody>
      </p:sp>
      <p:sp>
        <p:nvSpPr>
          <p:cNvPr id="5" name="object 5"/>
          <p:cNvSpPr/>
          <p:nvPr/>
        </p:nvSpPr>
        <p:spPr>
          <a:xfrm>
            <a:off x="5732526" y="2181605"/>
            <a:ext cx="1946910" cy="387350"/>
          </a:xfrm>
          <a:custGeom>
            <a:avLst/>
            <a:gdLst/>
            <a:ahLst/>
            <a:cxnLst/>
            <a:rect l="l" t="t" r="r" b="b"/>
            <a:pathLst>
              <a:path w="1946909" h="387350">
                <a:moveTo>
                  <a:pt x="0" y="0"/>
                </a:moveTo>
                <a:lnTo>
                  <a:pt x="0" y="387095"/>
                </a:lnTo>
                <a:lnTo>
                  <a:pt x="1946910" y="387095"/>
                </a:lnTo>
                <a:lnTo>
                  <a:pt x="1946910"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5487578" y="1966214"/>
            <a:ext cx="3791585" cy="3059812"/>
          </a:xfrm>
          <a:prstGeom prst="rect">
            <a:avLst/>
          </a:prstGeom>
        </p:spPr>
        <p:txBody>
          <a:bodyPr vert="horz" wrap="square" lIns="0" tIns="195580" rIns="0" bIns="0" rtlCol="0">
            <a:spAutoFit/>
          </a:bodyPr>
          <a:lstStyle/>
          <a:p>
            <a:pPr marL="536575">
              <a:lnSpc>
                <a:spcPct val="100000"/>
              </a:lnSpc>
              <a:spcBef>
                <a:spcPts val="1540"/>
              </a:spcBef>
            </a:pPr>
            <a:r>
              <a:rPr sz="2400" i="1" dirty="0">
                <a:solidFill>
                  <a:srgbClr val="00009A"/>
                </a:solidFill>
                <a:latin typeface="Arial"/>
                <a:cs typeface="Arial"/>
              </a:rPr>
              <a:t>một so sánh:</a:t>
            </a:r>
            <a:endParaRPr sz="2400" dirty="0">
              <a:latin typeface="Arial"/>
              <a:cs typeface="Arial"/>
            </a:endParaRPr>
          </a:p>
          <a:p>
            <a:pPr marL="355600" marR="48260" indent="-343535"/>
            <a:r>
              <a:rPr sz="1800" i="1" dirty="0">
                <a:latin typeface="Arial"/>
                <a:cs typeface="Arial"/>
              </a:rPr>
              <a:t>12 trẻ trong nhà </a:t>
            </a:r>
            <a:r>
              <a:rPr sz="1800" i="1" dirty="0" err="1">
                <a:latin typeface="Arial"/>
                <a:cs typeface="Arial"/>
              </a:rPr>
              <a:t>của</a:t>
            </a:r>
            <a:r>
              <a:rPr sz="1800" i="1" dirty="0">
                <a:latin typeface="Arial"/>
                <a:cs typeface="Arial"/>
              </a:rPr>
              <a:t> An gửi thư cho  12 trẻ trong nhà </a:t>
            </a:r>
            <a:r>
              <a:rPr sz="1800" i="1" dirty="0" err="1">
                <a:latin typeface="Arial"/>
                <a:cs typeface="Arial"/>
              </a:rPr>
              <a:t>của</a:t>
            </a:r>
            <a:r>
              <a:rPr sz="1800" i="1" dirty="0">
                <a:latin typeface="Arial"/>
                <a:cs typeface="Arial"/>
              </a:rPr>
              <a:t> </a:t>
            </a:r>
            <a:r>
              <a:rPr sz="1800" i="1" dirty="0" err="1">
                <a:latin typeface="Arial"/>
                <a:cs typeface="Arial"/>
              </a:rPr>
              <a:t>B</a:t>
            </a:r>
            <a:r>
              <a:rPr lang="en-US" i="1" dirty="0" err="1">
                <a:latin typeface="Arial"/>
                <a:cs typeface="Arial"/>
              </a:rPr>
              <a:t>ình</a:t>
            </a:r>
            <a:r>
              <a:rPr sz="1800" i="1" dirty="0">
                <a:latin typeface="Arial"/>
                <a:cs typeface="Arial"/>
              </a:rPr>
              <a:t>:</a:t>
            </a:r>
            <a:endParaRPr sz="1800" dirty="0">
              <a:latin typeface="Arial"/>
              <a:cs typeface="Arial"/>
            </a:endParaRPr>
          </a:p>
          <a:p>
            <a:pPr marL="355600" indent="-342900">
              <a:buClr>
                <a:srgbClr val="3333CC"/>
              </a:buClr>
              <a:buSzPct val="83333"/>
              <a:buFont typeface="Courier New" panose="02070309020205020404" pitchFamily="49" charset="0"/>
              <a:buChar char="o"/>
              <a:tabLst>
                <a:tab pos="354965" algn="l"/>
                <a:tab pos="355600" algn="l"/>
              </a:tabLst>
            </a:pPr>
            <a:r>
              <a:rPr sz="1800" dirty="0">
                <a:latin typeface="Arial"/>
                <a:cs typeface="Arial"/>
              </a:rPr>
              <a:t>host = nhà</a:t>
            </a:r>
          </a:p>
          <a:p>
            <a:pPr marL="355600" indent="-342900">
              <a:buClr>
                <a:srgbClr val="3333CC"/>
              </a:buClr>
              <a:buSzPct val="83333"/>
              <a:buFont typeface="Courier New" panose="02070309020205020404" pitchFamily="49" charset="0"/>
              <a:buChar char="o"/>
              <a:tabLst>
                <a:tab pos="354965" algn="l"/>
                <a:tab pos="355600" algn="l"/>
              </a:tabLst>
            </a:pPr>
            <a:r>
              <a:rPr sz="1800" dirty="0">
                <a:latin typeface="Arial"/>
                <a:cs typeface="Arial"/>
              </a:rPr>
              <a:t>tiến trình = trẻ</a:t>
            </a:r>
          </a:p>
          <a:p>
            <a:pPr marL="355600" marR="5080" indent="-342900">
              <a:buClr>
                <a:srgbClr val="3333CC"/>
              </a:buClr>
              <a:buSzPct val="83333"/>
              <a:buFont typeface="Courier New" panose="02070309020205020404" pitchFamily="49" charset="0"/>
              <a:buChar char="o"/>
              <a:tabLst>
                <a:tab pos="354965" algn="l"/>
                <a:tab pos="355600" algn="l"/>
              </a:tabLst>
            </a:pPr>
            <a:r>
              <a:rPr lang="en-US" sz="1800" dirty="0" err="1">
                <a:latin typeface="Arial"/>
                <a:cs typeface="Arial"/>
              </a:rPr>
              <a:t>Thông</a:t>
            </a:r>
            <a:r>
              <a:rPr lang="en-US" sz="1800" dirty="0">
                <a:latin typeface="Arial"/>
                <a:cs typeface="Arial"/>
              </a:rPr>
              <a:t> </a:t>
            </a:r>
            <a:r>
              <a:rPr lang="en-US" sz="1800" dirty="0" err="1">
                <a:latin typeface="Arial"/>
                <a:cs typeface="Arial"/>
              </a:rPr>
              <a:t>điệp</a:t>
            </a:r>
            <a:r>
              <a:rPr lang="en-US" sz="1800" dirty="0">
                <a:latin typeface="Arial"/>
                <a:cs typeface="Arial"/>
              </a:rPr>
              <a:t> </a:t>
            </a:r>
            <a:r>
              <a:rPr sz="1800" dirty="0">
                <a:latin typeface="Arial"/>
                <a:cs typeface="Arial"/>
              </a:rPr>
              <a:t>= </a:t>
            </a:r>
            <a:r>
              <a:rPr lang="en-US" sz="1800" dirty="0" err="1">
                <a:latin typeface="Arial"/>
                <a:cs typeface="Arial"/>
              </a:rPr>
              <a:t>thư</a:t>
            </a:r>
            <a:r>
              <a:rPr sz="1800" dirty="0">
                <a:latin typeface="Arial"/>
                <a:cs typeface="Arial"/>
              </a:rPr>
              <a:t> trong phong  bì thư</a:t>
            </a:r>
          </a:p>
          <a:p>
            <a:pPr marL="355600" indent="-342900">
              <a:buClr>
                <a:srgbClr val="3333CC"/>
              </a:buClr>
              <a:buSzPct val="83333"/>
              <a:buFont typeface="Courier New" panose="02070309020205020404" pitchFamily="49" charset="0"/>
              <a:buChar char="o"/>
              <a:tabLst>
                <a:tab pos="354965" algn="l"/>
                <a:tab pos="355600" algn="l"/>
              </a:tabLst>
            </a:pPr>
            <a:r>
              <a:rPr sz="1800" dirty="0">
                <a:latin typeface="Arial"/>
                <a:cs typeface="Arial"/>
              </a:rPr>
              <a:t>giao thức giao vận = An </a:t>
            </a:r>
            <a:r>
              <a:rPr sz="1800" dirty="0" err="1">
                <a:latin typeface="Arial"/>
                <a:cs typeface="Arial"/>
              </a:rPr>
              <a:t>và</a:t>
            </a:r>
            <a:r>
              <a:rPr sz="1800" dirty="0">
                <a:latin typeface="Arial"/>
                <a:cs typeface="Arial"/>
              </a:rPr>
              <a:t> </a:t>
            </a:r>
            <a:r>
              <a:rPr sz="1800" dirty="0" err="1">
                <a:latin typeface="Arial"/>
                <a:cs typeface="Arial"/>
              </a:rPr>
              <a:t>B</a:t>
            </a:r>
            <a:r>
              <a:rPr lang="en-US" dirty="0" err="1">
                <a:latin typeface="Arial"/>
                <a:cs typeface="Arial"/>
              </a:rPr>
              <a:t>ình</a:t>
            </a:r>
            <a:endParaRPr sz="1800" dirty="0">
              <a:latin typeface="Arial"/>
              <a:cs typeface="Arial"/>
            </a:endParaRPr>
          </a:p>
          <a:p>
            <a:pPr marL="355600" marR="347345" indent="-342900">
              <a:buClr>
                <a:srgbClr val="3333CC"/>
              </a:buClr>
              <a:buSzPct val="83333"/>
              <a:buFont typeface="Courier New" panose="02070309020205020404" pitchFamily="49" charset="0"/>
              <a:buChar char="o"/>
              <a:tabLst>
                <a:tab pos="354965" algn="l"/>
                <a:tab pos="355600" algn="l"/>
              </a:tabLst>
            </a:pPr>
            <a:r>
              <a:rPr sz="1800" dirty="0">
                <a:latin typeface="Arial"/>
                <a:cs typeface="Arial"/>
              </a:rPr>
              <a:t>giao thức tầng mạng = dịch vụ  thư bưu điện</a:t>
            </a:r>
          </a:p>
        </p:txBody>
      </p:sp>
      <p:sp>
        <p:nvSpPr>
          <p:cNvPr id="8" name="Slide Number Placeholder 7"/>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584948" y="6163817"/>
            <a:ext cx="392429" cy="170688"/>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6272022" y="3720084"/>
            <a:ext cx="368046" cy="169163"/>
          </a:xfrm>
          <a:prstGeom prst="rect">
            <a:avLst/>
          </a:prstGeom>
          <a:blipFill>
            <a:blip r:embed="rId4" cstate="print"/>
            <a:stretch>
              <a:fillRect/>
            </a:stretch>
          </a:blipFill>
        </p:spPr>
        <p:txBody>
          <a:bodyPr wrap="square" lIns="0" tIns="0" rIns="0" bIns="0" rtlCol="0"/>
          <a:lstStyle/>
          <a:p>
            <a:endParaRPr/>
          </a:p>
        </p:txBody>
      </p:sp>
      <p:sp>
        <p:nvSpPr>
          <p:cNvPr id="4" name="object 4"/>
          <p:cNvSpPr/>
          <p:nvPr/>
        </p:nvSpPr>
        <p:spPr>
          <a:xfrm>
            <a:off x="8020050" y="6100571"/>
            <a:ext cx="392429" cy="169925"/>
          </a:xfrm>
          <a:prstGeom prst="rect">
            <a:avLst/>
          </a:prstGeom>
          <a:blipFill>
            <a:blip r:embed="rId5"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815594" y="818642"/>
            <a:ext cx="8278495" cy="635635"/>
          </a:xfrm>
          <a:prstGeom prst="rect">
            <a:avLst/>
          </a:prstGeom>
        </p:spPr>
        <p:txBody>
          <a:bodyPr vert="horz" wrap="square" lIns="0" tIns="12700" rIns="0" bIns="0" rtlCol="0">
            <a:spAutoFit/>
          </a:bodyPr>
          <a:lstStyle/>
          <a:p>
            <a:pPr marL="12700">
              <a:lnSpc>
                <a:spcPct val="100000"/>
              </a:lnSpc>
              <a:spcBef>
                <a:spcPts val="100"/>
              </a:spcBef>
            </a:pPr>
            <a:r>
              <a:rPr lang="en-US" sz="4000" dirty="0" err="1"/>
              <a:t>T</a:t>
            </a:r>
            <a:r>
              <a:rPr sz="4000" dirty="0" err="1"/>
              <a:t>ầng</a:t>
            </a:r>
            <a:r>
              <a:rPr sz="4000" dirty="0"/>
              <a:t> </a:t>
            </a:r>
            <a:r>
              <a:rPr sz="4000" spc="-5" dirty="0"/>
              <a:t>giao vận của</a:t>
            </a:r>
            <a:r>
              <a:rPr sz="4000" spc="-50" dirty="0"/>
              <a:t> </a:t>
            </a:r>
            <a:r>
              <a:rPr sz="4000" dirty="0"/>
              <a:t>Internet</a:t>
            </a:r>
          </a:p>
        </p:txBody>
      </p:sp>
      <p:sp>
        <p:nvSpPr>
          <p:cNvPr id="6" name="object 6"/>
          <p:cNvSpPr/>
          <p:nvPr/>
        </p:nvSpPr>
        <p:spPr>
          <a:xfrm>
            <a:off x="5903043" y="2152209"/>
            <a:ext cx="1715770" cy="1058545"/>
          </a:xfrm>
          <a:custGeom>
            <a:avLst/>
            <a:gdLst/>
            <a:ahLst/>
            <a:cxnLst/>
            <a:rect l="l" t="t" r="r" b="b"/>
            <a:pathLst>
              <a:path w="1715770" h="1058545">
                <a:moveTo>
                  <a:pt x="1715348" y="254327"/>
                </a:moveTo>
                <a:lnTo>
                  <a:pt x="1713040" y="206674"/>
                </a:lnTo>
                <a:lnTo>
                  <a:pt x="1704764" y="165794"/>
                </a:lnTo>
                <a:lnTo>
                  <a:pt x="1681345" y="116419"/>
                </a:lnTo>
                <a:lnTo>
                  <a:pt x="1647709" y="77116"/>
                </a:lnTo>
                <a:lnTo>
                  <a:pt x="1605645" y="46529"/>
                </a:lnTo>
                <a:lnTo>
                  <a:pt x="1556936" y="23300"/>
                </a:lnTo>
                <a:lnTo>
                  <a:pt x="1510783" y="10608"/>
                </a:lnTo>
                <a:lnTo>
                  <a:pt x="1457279" y="4061"/>
                </a:lnTo>
                <a:lnTo>
                  <a:pt x="1400409" y="1574"/>
                </a:lnTo>
                <a:lnTo>
                  <a:pt x="1344161" y="1062"/>
                </a:lnTo>
                <a:lnTo>
                  <a:pt x="1292522" y="440"/>
                </a:lnTo>
                <a:lnTo>
                  <a:pt x="1239980" y="0"/>
                </a:lnTo>
                <a:lnTo>
                  <a:pt x="1195081" y="1488"/>
                </a:lnTo>
                <a:lnTo>
                  <a:pt x="1145182" y="5691"/>
                </a:lnTo>
                <a:lnTo>
                  <a:pt x="1077638" y="13394"/>
                </a:lnTo>
                <a:lnTo>
                  <a:pt x="993818" y="23415"/>
                </a:lnTo>
                <a:lnTo>
                  <a:pt x="945276" y="29424"/>
                </a:lnTo>
                <a:lnTo>
                  <a:pt x="893826" y="36152"/>
                </a:lnTo>
                <a:lnTo>
                  <a:pt x="841052" y="43581"/>
                </a:lnTo>
                <a:lnTo>
                  <a:pt x="788360" y="51720"/>
                </a:lnTo>
                <a:lnTo>
                  <a:pt x="737155" y="60573"/>
                </a:lnTo>
                <a:lnTo>
                  <a:pt x="688840" y="70148"/>
                </a:lnTo>
                <a:lnTo>
                  <a:pt x="644822" y="80450"/>
                </a:lnTo>
                <a:lnTo>
                  <a:pt x="592420" y="94557"/>
                </a:lnTo>
                <a:lnTo>
                  <a:pt x="541537" y="109984"/>
                </a:lnTo>
                <a:lnTo>
                  <a:pt x="492946" y="126557"/>
                </a:lnTo>
                <a:lnTo>
                  <a:pt x="447422" y="144103"/>
                </a:lnTo>
                <a:lnTo>
                  <a:pt x="405736" y="162448"/>
                </a:lnTo>
                <a:lnTo>
                  <a:pt x="368663" y="181421"/>
                </a:lnTo>
                <a:lnTo>
                  <a:pt x="301803" y="238684"/>
                </a:lnTo>
                <a:lnTo>
                  <a:pt x="285920" y="280666"/>
                </a:lnTo>
                <a:lnTo>
                  <a:pt x="272895" y="322361"/>
                </a:lnTo>
                <a:lnTo>
                  <a:pt x="246296" y="359342"/>
                </a:lnTo>
                <a:lnTo>
                  <a:pt x="207245" y="382080"/>
                </a:lnTo>
                <a:lnTo>
                  <a:pt x="157733" y="399515"/>
                </a:lnTo>
                <a:lnTo>
                  <a:pt x="105954" y="416401"/>
                </a:lnTo>
                <a:lnTo>
                  <a:pt x="60100" y="437493"/>
                </a:lnTo>
                <a:lnTo>
                  <a:pt x="28364" y="467546"/>
                </a:lnTo>
                <a:lnTo>
                  <a:pt x="10387" y="512541"/>
                </a:lnTo>
                <a:lnTo>
                  <a:pt x="1042" y="569459"/>
                </a:lnTo>
                <a:lnTo>
                  <a:pt x="0" y="629559"/>
                </a:lnTo>
                <a:lnTo>
                  <a:pt x="6931" y="684100"/>
                </a:lnTo>
                <a:lnTo>
                  <a:pt x="21506" y="724340"/>
                </a:lnTo>
                <a:lnTo>
                  <a:pt x="82561" y="764631"/>
                </a:lnTo>
                <a:lnTo>
                  <a:pt x="135413" y="768810"/>
                </a:lnTo>
                <a:lnTo>
                  <a:pt x="212768" y="772346"/>
                </a:lnTo>
                <a:lnTo>
                  <a:pt x="294267" y="773706"/>
                </a:lnTo>
                <a:lnTo>
                  <a:pt x="344008" y="772799"/>
                </a:lnTo>
                <a:lnTo>
                  <a:pt x="397737" y="771288"/>
                </a:lnTo>
                <a:lnTo>
                  <a:pt x="453949" y="769512"/>
                </a:lnTo>
                <a:lnTo>
                  <a:pt x="511140" y="767812"/>
                </a:lnTo>
                <a:lnTo>
                  <a:pt x="567806" y="766527"/>
                </a:lnTo>
                <a:lnTo>
                  <a:pt x="622441" y="765998"/>
                </a:lnTo>
                <a:lnTo>
                  <a:pt x="673542" y="766565"/>
                </a:lnTo>
                <a:lnTo>
                  <a:pt x="719604" y="768568"/>
                </a:lnTo>
                <a:lnTo>
                  <a:pt x="759122" y="772346"/>
                </a:lnTo>
                <a:lnTo>
                  <a:pt x="825959" y="785690"/>
                </a:lnTo>
                <a:lnTo>
                  <a:pt x="874654" y="803936"/>
                </a:lnTo>
                <a:lnTo>
                  <a:pt x="913400" y="825948"/>
                </a:lnTo>
                <a:lnTo>
                  <a:pt x="950390" y="850594"/>
                </a:lnTo>
                <a:lnTo>
                  <a:pt x="993998" y="876848"/>
                </a:lnTo>
                <a:lnTo>
                  <a:pt x="1036289" y="902362"/>
                </a:lnTo>
                <a:lnTo>
                  <a:pt x="1080602" y="932366"/>
                </a:lnTo>
                <a:lnTo>
                  <a:pt x="1125549" y="963894"/>
                </a:lnTo>
                <a:lnTo>
                  <a:pt x="1169925" y="994088"/>
                </a:lnTo>
                <a:lnTo>
                  <a:pt x="1212523" y="1020091"/>
                </a:lnTo>
                <a:lnTo>
                  <a:pt x="1252136" y="1039046"/>
                </a:lnTo>
                <a:lnTo>
                  <a:pt x="1307084" y="1053929"/>
                </a:lnTo>
                <a:lnTo>
                  <a:pt x="1358530" y="1058096"/>
                </a:lnTo>
                <a:lnTo>
                  <a:pt x="1406120" y="1054262"/>
                </a:lnTo>
                <a:lnTo>
                  <a:pt x="1449494" y="1045142"/>
                </a:lnTo>
                <a:lnTo>
                  <a:pt x="1489797" y="1032986"/>
                </a:lnTo>
                <a:lnTo>
                  <a:pt x="1526742" y="1015329"/>
                </a:lnTo>
                <a:lnTo>
                  <a:pt x="1559544" y="989528"/>
                </a:lnTo>
                <a:lnTo>
                  <a:pt x="1587416" y="952940"/>
                </a:lnTo>
                <a:lnTo>
                  <a:pt x="1605509" y="912895"/>
                </a:lnTo>
                <a:lnTo>
                  <a:pt x="1620237" y="863926"/>
                </a:lnTo>
                <a:lnTo>
                  <a:pt x="1632624" y="809910"/>
                </a:lnTo>
                <a:lnTo>
                  <a:pt x="1654472" y="702242"/>
                </a:lnTo>
                <a:lnTo>
                  <a:pt x="1665207" y="653761"/>
                </a:lnTo>
                <a:lnTo>
                  <a:pt x="1675247" y="606267"/>
                </a:lnTo>
                <a:lnTo>
                  <a:pt x="1684263" y="558553"/>
                </a:lnTo>
                <a:lnTo>
                  <a:pt x="1691926" y="509413"/>
                </a:lnTo>
                <a:lnTo>
                  <a:pt x="1708659" y="358947"/>
                </a:lnTo>
                <a:lnTo>
                  <a:pt x="1713337" y="306002"/>
                </a:lnTo>
                <a:lnTo>
                  <a:pt x="1715348" y="254327"/>
                </a:lnTo>
                <a:close/>
              </a:path>
            </a:pathLst>
          </a:custGeom>
          <a:solidFill>
            <a:srgbClr val="DDDDDD"/>
          </a:solidFill>
        </p:spPr>
        <p:txBody>
          <a:bodyPr wrap="square" lIns="0" tIns="0" rIns="0" bIns="0" rtlCol="0"/>
          <a:lstStyle/>
          <a:p>
            <a:endParaRPr/>
          </a:p>
        </p:txBody>
      </p:sp>
      <p:sp>
        <p:nvSpPr>
          <p:cNvPr id="7" name="object 7"/>
          <p:cNvSpPr/>
          <p:nvPr/>
        </p:nvSpPr>
        <p:spPr>
          <a:xfrm>
            <a:off x="6296405" y="3747515"/>
            <a:ext cx="986790" cy="669290"/>
          </a:xfrm>
          <a:custGeom>
            <a:avLst/>
            <a:gdLst/>
            <a:ahLst/>
            <a:cxnLst/>
            <a:rect l="l" t="t" r="r" b="b"/>
            <a:pathLst>
              <a:path w="986790" h="669289">
                <a:moveTo>
                  <a:pt x="0" y="0"/>
                </a:moveTo>
                <a:lnTo>
                  <a:pt x="0" y="669036"/>
                </a:lnTo>
                <a:lnTo>
                  <a:pt x="986789" y="669036"/>
                </a:lnTo>
                <a:lnTo>
                  <a:pt x="986789" y="0"/>
                </a:lnTo>
                <a:lnTo>
                  <a:pt x="0" y="0"/>
                </a:lnTo>
                <a:close/>
              </a:path>
            </a:pathLst>
          </a:custGeom>
          <a:solidFill>
            <a:srgbClr val="DDDDDD"/>
          </a:solidFill>
        </p:spPr>
        <p:txBody>
          <a:bodyPr wrap="square" lIns="0" tIns="0" rIns="0" bIns="0" rtlCol="0"/>
          <a:lstStyle/>
          <a:p>
            <a:endParaRPr/>
          </a:p>
        </p:txBody>
      </p:sp>
      <p:sp>
        <p:nvSpPr>
          <p:cNvPr id="8" name="object 8"/>
          <p:cNvSpPr/>
          <p:nvPr/>
        </p:nvSpPr>
        <p:spPr>
          <a:xfrm>
            <a:off x="6062472" y="3483102"/>
            <a:ext cx="1459230" cy="318135"/>
          </a:xfrm>
          <a:custGeom>
            <a:avLst/>
            <a:gdLst/>
            <a:ahLst/>
            <a:cxnLst/>
            <a:rect l="l" t="t" r="r" b="b"/>
            <a:pathLst>
              <a:path w="1459229" h="318135">
                <a:moveTo>
                  <a:pt x="1459230" y="317753"/>
                </a:moveTo>
                <a:lnTo>
                  <a:pt x="729996" y="0"/>
                </a:lnTo>
                <a:lnTo>
                  <a:pt x="0" y="317753"/>
                </a:lnTo>
                <a:lnTo>
                  <a:pt x="1459230" y="317753"/>
                </a:lnTo>
                <a:close/>
              </a:path>
            </a:pathLst>
          </a:custGeom>
          <a:solidFill>
            <a:srgbClr val="DDDDDD"/>
          </a:solidFill>
        </p:spPr>
        <p:txBody>
          <a:bodyPr wrap="square" lIns="0" tIns="0" rIns="0" bIns="0" rtlCol="0"/>
          <a:lstStyle/>
          <a:p>
            <a:endParaRPr/>
          </a:p>
        </p:txBody>
      </p:sp>
      <p:sp>
        <p:nvSpPr>
          <p:cNvPr id="9" name="object 9"/>
          <p:cNvSpPr/>
          <p:nvPr/>
        </p:nvSpPr>
        <p:spPr>
          <a:xfrm>
            <a:off x="6089507" y="4872807"/>
            <a:ext cx="3171825" cy="1638935"/>
          </a:xfrm>
          <a:custGeom>
            <a:avLst/>
            <a:gdLst/>
            <a:ahLst/>
            <a:cxnLst/>
            <a:rect l="l" t="t" r="r" b="b"/>
            <a:pathLst>
              <a:path w="3171825" h="1638934">
                <a:moveTo>
                  <a:pt x="3171609" y="1040980"/>
                </a:moveTo>
                <a:lnTo>
                  <a:pt x="3171114" y="993513"/>
                </a:lnTo>
                <a:lnTo>
                  <a:pt x="3168490" y="942482"/>
                </a:lnTo>
                <a:lnTo>
                  <a:pt x="3163853" y="888731"/>
                </a:lnTo>
                <a:lnTo>
                  <a:pt x="3157319" y="833103"/>
                </a:lnTo>
                <a:lnTo>
                  <a:pt x="3149005" y="776443"/>
                </a:lnTo>
                <a:lnTo>
                  <a:pt x="3139028" y="719595"/>
                </a:lnTo>
                <a:lnTo>
                  <a:pt x="3127504" y="663403"/>
                </a:lnTo>
                <a:lnTo>
                  <a:pt x="3114549" y="608710"/>
                </a:lnTo>
                <a:lnTo>
                  <a:pt x="3100280" y="556361"/>
                </a:lnTo>
                <a:lnTo>
                  <a:pt x="3084813" y="507199"/>
                </a:lnTo>
                <a:lnTo>
                  <a:pt x="3068266" y="462069"/>
                </a:lnTo>
                <a:lnTo>
                  <a:pt x="3050754" y="421814"/>
                </a:lnTo>
                <a:lnTo>
                  <a:pt x="3032394" y="387278"/>
                </a:lnTo>
                <a:lnTo>
                  <a:pt x="3004605" y="347698"/>
                </a:lnTo>
                <a:lnTo>
                  <a:pt x="2972749" y="315142"/>
                </a:lnTo>
                <a:lnTo>
                  <a:pt x="2937407" y="288587"/>
                </a:lnTo>
                <a:lnTo>
                  <a:pt x="2899159" y="267009"/>
                </a:lnTo>
                <a:lnTo>
                  <a:pt x="2858585" y="249386"/>
                </a:lnTo>
                <a:lnTo>
                  <a:pt x="2816266" y="234692"/>
                </a:lnTo>
                <a:lnTo>
                  <a:pt x="2772783" y="221904"/>
                </a:lnTo>
                <a:lnTo>
                  <a:pt x="2728716" y="210000"/>
                </a:lnTo>
                <a:lnTo>
                  <a:pt x="2684645" y="197954"/>
                </a:lnTo>
                <a:lnTo>
                  <a:pt x="2641152" y="184744"/>
                </a:lnTo>
                <a:lnTo>
                  <a:pt x="2598816" y="169346"/>
                </a:lnTo>
                <a:lnTo>
                  <a:pt x="2552681" y="150961"/>
                </a:lnTo>
                <a:lnTo>
                  <a:pt x="2505797" y="132173"/>
                </a:lnTo>
                <a:lnTo>
                  <a:pt x="2458282" y="113358"/>
                </a:lnTo>
                <a:lnTo>
                  <a:pt x="2410254" y="94890"/>
                </a:lnTo>
                <a:lnTo>
                  <a:pt x="2361834" y="77144"/>
                </a:lnTo>
                <a:lnTo>
                  <a:pt x="2313139" y="60496"/>
                </a:lnTo>
                <a:lnTo>
                  <a:pt x="2264289" y="45320"/>
                </a:lnTo>
                <a:lnTo>
                  <a:pt x="2215402" y="31991"/>
                </a:lnTo>
                <a:lnTo>
                  <a:pt x="2166597" y="20884"/>
                </a:lnTo>
                <a:lnTo>
                  <a:pt x="2117994" y="12374"/>
                </a:lnTo>
                <a:lnTo>
                  <a:pt x="2068369" y="6343"/>
                </a:lnTo>
                <a:lnTo>
                  <a:pt x="2017263" y="2346"/>
                </a:lnTo>
                <a:lnTo>
                  <a:pt x="1965252" y="270"/>
                </a:lnTo>
                <a:lnTo>
                  <a:pt x="1912912" y="0"/>
                </a:lnTo>
                <a:lnTo>
                  <a:pt x="1860819" y="1421"/>
                </a:lnTo>
                <a:lnTo>
                  <a:pt x="1809548" y="4419"/>
                </a:lnTo>
                <a:lnTo>
                  <a:pt x="1759677" y="8881"/>
                </a:lnTo>
                <a:lnTo>
                  <a:pt x="1711781" y="14691"/>
                </a:lnTo>
                <a:lnTo>
                  <a:pt x="1666436" y="21736"/>
                </a:lnTo>
                <a:lnTo>
                  <a:pt x="1624218" y="29900"/>
                </a:lnTo>
                <a:lnTo>
                  <a:pt x="1577070" y="44709"/>
                </a:lnTo>
                <a:lnTo>
                  <a:pt x="1535647" y="65357"/>
                </a:lnTo>
                <a:lnTo>
                  <a:pt x="1498242" y="89613"/>
                </a:lnTo>
                <a:lnTo>
                  <a:pt x="1463150" y="115244"/>
                </a:lnTo>
                <a:lnTo>
                  <a:pt x="1428665" y="140018"/>
                </a:lnTo>
                <a:lnTo>
                  <a:pt x="1393082" y="161703"/>
                </a:lnTo>
                <a:lnTo>
                  <a:pt x="1354694" y="178065"/>
                </a:lnTo>
                <a:lnTo>
                  <a:pt x="1311798" y="186872"/>
                </a:lnTo>
                <a:lnTo>
                  <a:pt x="1271052" y="186422"/>
                </a:lnTo>
                <a:lnTo>
                  <a:pt x="1230181" y="178809"/>
                </a:lnTo>
                <a:lnTo>
                  <a:pt x="1188551" y="166073"/>
                </a:lnTo>
                <a:lnTo>
                  <a:pt x="1145529" y="150250"/>
                </a:lnTo>
                <a:lnTo>
                  <a:pt x="1100481" y="133381"/>
                </a:lnTo>
                <a:lnTo>
                  <a:pt x="1052774" y="117502"/>
                </a:lnTo>
                <a:lnTo>
                  <a:pt x="1001775" y="104653"/>
                </a:lnTo>
                <a:lnTo>
                  <a:pt x="946849" y="96871"/>
                </a:lnTo>
                <a:lnTo>
                  <a:pt x="887364" y="96194"/>
                </a:lnTo>
                <a:lnTo>
                  <a:pt x="845047" y="99524"/>
                </a:lnTo>
                <a:lnTo>
                  <a:pt x="798048" y="104545"/>
                </a:lnTo>
                <a:lnTo>
                  <a:pt x="747260" y="111153"/>
                </a:lnTo>
                <a:lnTo>
                  <a:pt x="693576" y="119241"/>
                </a:lnTo>
                <a:lnTo>
                  <a:pt x="637889" y="128706"/>
                </a:lnTo>
                <a:lnTo>
                  <a:pt x="581093" y="139442"/>
                </a:lnTo>
                <a:lnTo>
                  <a:pt x="524080" y="151344"/>
                </a:lnTo>
                <a:lnTo>
                  <a:pt x="467744" y="164308"/>
                </a:lnTo>
                <a:lnTo>
                  <a:pt x="412977" y="178228"/>
                </a:lnTo>
                <a:lnTo>
                  <a:pt x="360673" y="192999"/>
                </a:lnTo>
                <a:lnTo>
                  <a:pt x="311724" y="208517"/>
                </a:lnTo>
                <a:lnTo>
                  <a:pt x="267025" y="224677"/>
                </a:lnTo>
                <a:lnTo>
                  <a:pt x="227467" y="241373"/>
                </a:lnTo>
                <a:lnTo>
                  <a:pt x="147862" y="290074"/>
                </a:lnTo>
                <a:lnTo>
                  <a:pt x="114327" y="324211"/>
                </a:lnTo>
                <a:lnTo>
                  <a:pt x="90953" y="360902"/>
                </a:lnTo>
                <a:lnTo>
                  <a:pt x="75357" y="400137"/>
                </a:lnTo>
                <a:lnTo>
                  <a:pt x="65155" y="441909"/>
                </a:lnTo>
                <a:lnTo>
                  <a:pt x="57962" y="486207"/>
                </a:lnTo>
                <a:lnTo>
                  <a:pt x="51395" y="533024"/>
                </a:lnTo>
                <a:lnTo>
                  <a:pt x="43068" y="582350"/>
                </a:lnTo>
                <a:lnTo>
                  <a:pt x="34518" y="626062"/>
                </a:lnTo>
                <a:lnTo>
                  <a:pt x="25420" y="675186"/>
                </a:lnTo>
                <a:lnTo>
                  <a:pt x="16596" y="728097"/>
                </a:lnTo>
                <a:lnTo>
                  <a:pt x="8869" y="783165"/>
                </a:lnTo>
                <a:lnTo>
                  <a:pt x="3063" y="838763"/>
                </a:lnTo>
                <a:lnTo>
                  <a:pt x="0" y="893265"/>
                </a:lnTo>
                <a:lnTo>
                  <a:pt x="502" y="945041"/>
                </a:lnTo>
                <a:lnTo>
                  <a:pt x="5394" y="992465"/>
                </a:lnTo>
                <a:lnTo>
                  <a:pt x="15499" y="1033909"/>
                </a:lnTo>
                <a:lnTo>
                  <a:pt x="57300" y="1095304"/>
                </a:lnTo>
                <a:lnTo>
                  <a:pt x="128638" y="1125543"/>
                </a:lnTo>
                <a:lnTo>
                  <a:pt x="172381" y="1132463"/>
                </a:lnTo>
                <a:lnTo>
                  <a:pt x="220220" y="1136742"/>
                </a:lnTo>
                <a:lnTo>
                  <a:pt x="271188" y="1140501"/>
                </a:lnTo>
                <a:lnTo>
                  <a:pt x="324320" y="1145859"/>
                </a:lnTo>
                <a:lnTo>
                  <a:pt x="378650" y="1154936"/>
                </a:lnTo>
                <a:lnTo>
                  <a:pt x="433212" y="1169852"/>
                </a:lnTo>
                <a:lnTo>
                  <a:pt x="475036" y="1184847"/>
                </a:lnTo>
                <a:lnTo>
                  <a:pt x="518506" y="1201796"/>
                </a:lnTo>
                <a:lnTo>
                  <a:pt x="563490" y="1220371"/>
                </a:lnTo>
                <a:lnTo>
                  <a:pt x="609855" y="1240239"/>
                </a:lnTo>
                <a:lnTo>
                  <a:pt x="657468" y="1261070"/>
                </a:lnTo>
                <a:lnTo>
                  <a:pt x="706198" y="1282533"/>
                </a:lnTo>
                <a:lnTo>
                  <a:pt x="755913" y="1304298"/>
                </a:lnTo>
                <a:lnTo>
                  <a:pt x="806479" y="1326034"/>
                </a:lnTo>
                <a:lnTo>
                  <a:pt x="857765" y="1347410"/>
                </a:lnTo>
                <a:lnTo>
                  <a:pt x="909638" y="1368096"/>
                </a:lnTo>
                <a:lnTo>
                  <a:pt x="961967" y="1387760"/>
                </a:lnTo>
                <a:lnTo>
                  <a:pt x="1014618" y="1406072"/>
                </a:lnTo>
                <a:lnTo>
                  <a:pt x="1106733" y="1437343"/>
                </a:lnTo>
                <a:lnTo>
                  <a:pt x="1153900" y="1453214"/>
                </a:lnTo>
                <a:lnTo>
                  <a:pt x="1201688" y="1469067"/>
                </a:lnTo>
                <a:lnTo>
                  <a:pt x="1250009" y="1484774"/>
                </a:lnTo>
                <a:lnTo>
                  <a:pt x="1298775" y="1500205"/>
                </a:lnTo>
                <a:lnTo>
                  <a:pt x="1347897" y="1515229"/>
                </a:lnTo>
                <a:lnTo>
                  <a:pt x="1397288" y="1529716"/>
                </a:lnTo>
                <a:lnTo>
                  <a:pt x="1446859" y="1543537"/>
                </a:lnTo>
                <a:lnTo>
                  <a:pt x="1496522" y="1556562"/>
                </a:lnTo>
                <a:lnTo>
                  <a:pt x="1546187" y="1568660"/>
                </a:lnTo>
                <a:lnTo>
                  <a:pt x="1595768" y="1579702"/>
                </a:lnTo>
                <a:lnTo>
                  <a:pt x="1645176" y="1589557"/>
                </a:lnTo>
                <a:lnTo>
                  <a:pt x="1694322" y="1598096"/>
                </a:lnTo>
                <a:lnTo>
                  <a:pt x="1743873" y="1605373"/>
                </a:lnTo>
                <a:lnTo>
                  <a:pt x="1794395" y="1612132"/>
                </a:lnTo>
                <a:lnTo>
                  <a:pt x="1845643" y="1618298"/>
                </a:lnTo>
                <a:lnTo>
                  <a:pt x="1897374" y="1623796"/>
                </a:lnTo>
                <a:lnTo>
                  <a:pt x="1949345" y="1628550"/>
                </a:lnTo>
                <a:lnTo>
                  <a:pt x="2001312" y="1632486"/>
                </a:lnTo>
                <a:lnTo>
                  <a:pt x="2053033" y="1635530"/>
                </a:lnTo>
                <a:lnTo>
                  <a:pt x="2104264" y="1637605"/>
                </a:lnTo>
                <a:lnTo>
                  <a:pt x="2154762" y="1638637"/>
                </a:lnTo>
                <a:lnTo>
                  <a:pt x="2204284" y="1638551"/>
                </a:lnTo>
                <a:lnTo>
                  <a:pt x="2252586" y="1637272"/>
                </a:lnTo>
                <a:lnTo>
                  <a:pt x="2299425" y="1634726"/>
                </a:lnTo>
                <a:lnTo>
                  <a:pt x="2344558" y="1630836"/>
                </a:lnTo>
                <a:lnTo>
                  <a:pt x="2387742" y="1625528"/>
                </a:lnTo>
                <a:lnTo>
                  <a:pt x="2440439" y="1615968"/>
                </a:lnTo>
                <a:lnTo>
                  <a:pt x="2491323" y="1604062"/>
                </a:lnTo>
                <a:lnTo>
                  <a:pt x="2540431" y="1590033"/>
                </a:lnTo>
                <a:lnTo>
                  <a:pt x="2587801" y="1574104"/>
                </a:lnTo>
                <a:lnTo>
                  <a:pt x="2633471" y="1556499"/>
                </a:lnTo>
                <a:lnTo>
                  <a:pt x="2677478" y="1537441"/>
                </a:lnTo>
                <a:lnTo>
                  <a:pt x="2719860" y="1517153"/>
                </a:lnTo>
                <a:lnTo>
                  <a:pt x="2760656" y="1495859"/>
                </a:lnTo>
                <a:lnTo>
                  <a:pt x="2799902" y="1473782"/>
                </a:lnTo>
                <a:lnTo>
                  <a:pt x="2837637" y="1451144"/>
                </a:lnTo>
                <a:lnTo>
                  <a:pt x="2873898" y="1428170"/>
                </a:lnTo>
                <a:lnTo>
                  <a:pt x="2917121" y="1401736"/>
                </a:lnTo>
                <a:lnTo>
                  <a:pt x="2959810" y="1376430"/>
                </a:lnTo>
                <a:lnTo>
                  <a:pt x="3001039" y="1350954"/>
                </a:lnTo>
                <a:lnTo>
                  <a:pt x="3039878" y="1324012"/>
                </a:lnTo>
                <a:lnTo>
                  <a:pt x="3075399" y="1294303"/>
                </a:lnTo>
                <a:lnTo>
                  <a:pt x="3106675" y="1260530"/>
                </a:lnTo>
                <a:lnTo>
                  <a:pt x="3132776" y="1221396"/>
                </a:lnTo>
                <a:lnTo>
                  <a:pt x="3152775" y="1175600"/>
                </a:lnTo>
                <a:lnTo>
                  <a:pt x="3165744" y="1121846"/>
                </a:lnTo>
                <a:lnTo>
                  <a:pt x="3169858" y="1084039"/>
                </a:lnTo>
                <a:lnTo>
                  <a:pt x="3171609" y="1040980"/>
                </a:lnTo>
                <a:close/>
              </a:path>
            </a:pathLst>
          </a:custGeom>
          <a:solidFill>
            <a:srgbClr val="DDDDDD"/>
          </a:solidFill>
        </p:spPr>
        <p:txBody>
          <a:bodyPr wrap="square" lIns="0" tIns="0" rIns="0" bIns="0" rtlCol="0"/>
          <a:lstStyle/>
          <a:p>
            <a:endParaRPr/>
          </a:p>
        </p:txBody>
      </p:sp>
      <p:sp>
        <p:nvSpPr>
          <p:cNvPr id="10" name="object 10"/>
          <p:cNvSpPr/>
          <p:nvPr/>
        </p:nvSpPr>
        <p:spPr>
          <a:xfrm>
            <a:off x="8723376" y="5404103"/>
            <a:ext cx="152400" cy="527685"/>
          </a:xfrm>
          <a:custGeom>
            <a:avLst/>
            <a:gdLst/>
            <a:ahLst/>
            <a:cxnLst/>
            <a:rect l="l" t="t" r="r" b="b"/>
            <a:pathLst>
              <a:path w="152400" h="527685">
                <a:moveTo>
                  <a:pt x="152399" y="3047"/>
                </a:moveTo>
                <a:lnTo>
                  <a:pt x="140207" y="0"/>
                </a:lnTo>
                <a:lnTo>
                  <a:pt x="0" y="524255"/>
                </a:lnTo>
                <a:lnTo>
                  <a:pt x="12192" y="527303"/>
                </a:lnTo>
                <a:lnTo>
                  <a:pt x="152399" y="3047"/>
                </a:lnTo>
                <a:close/>
              </a:path>
            </a:pathLst>
          </a:custGeom>
          <a:solidFill>
            <a:srgbClr val="808080"/>
          </a:solidFill>
        </p:spPr>
        <p:txBody>
          <a:bodyPr wrap="square" lIns="0" tIns="0" rIns="0" bIns="0" rtlCol="0"/>
          <a:lstStyle/>
          <a:p>
            <a:endParaRPr/>
          </a:p>
        </p:txBody>
      </p:sp>
      <p:sp>
        <p:nvSpPr>
          <p:cNvPr id="11" name="object 11"/>
          <p:cNvSpPr/>
          <p:nvPr/>
        </p:nvSpPr>
        <p:spPr>
          <a:xfrm>
            <a:off x="8641841" y="5913882"/>
            <a:ext cx="86995" cy="16510"/>
          </a:xfrm>
          <a:custGeom>
            <a:avLst/>
            <a:gdLst/>
            <a:ahLst/>
            <a:cxnLst/>
            <a:rect l="l" t="t" r="r" b="b"/>
            <a:pathLst>
              <a:path w="86995" h="16510">
                <a:moveTo>
                  <a:pt x="86868" y="3047"/>
                </a:moveTo>
                <a:lnTo>
                  <a:pt x="761" y="0"/>
                </a:lnTo>
                <a:lnTo>
                  <a:pt x="0" y="12953"/>
                </a:lnTo>
                <a:lnTo>
                  <a:pt x="86106" y="16001"/>
                </a:lnTo>
                <a:lnTo>
                  <a:pt x="86868" y="3047"/>
                </a:lnTo>
                <a:close/>
              </a:path>
            </a:pathLst>
          </a:custGeom>
          <a:solidFill>
            <a:srgbClr val="808080"/>
          </a:solidFill>
        </p:spPr>
        <p:txBody>
          <a:bodyPr wrap="square" lIns="0" tIns="0" rIns="0" bIns="0" rtlCol="0"/>
          <a:lstStyle/>
          <a:p>
            <a:endParaRPr/>
          </a:p>
        </p:txBody>
      </p:sp>
      <p:sp>
        <p:nvSpPr>
          <p:cNvPr id="12" name="object 12"/>
          <p:cNvSpPr/>
          <p:nvPr/>
        </p:nvSpPr>
        <p:spPr>
          <a:xfrm>
            <a:off x="8812529" y="5612129"/>
            <a:ext cx="114300" cy="0"/>
          </a:xfrm>
          <a:custGeom>
            <a:avLst/>
            <a:gdLst/>
            <a:ahLst/>
            <a:cxnLst/>
            <a:rect l="l" t="t" r="r" b="b"/>
            <a:pathLst>
              <a:path w="114300">
                <a:moveTo>
                  <a:pt x="0" y="0"/>
                </a:moveTo>
                <a:lnTo>
                  <a:pt x="114300" y="0"/>
                </a:lnTo>
              </a:path>
            </a:pathLst>
          </a:custGeom>
          <a:ln w="12191">
            <a:solidFill>
              <a:srgbClr val="808080"/>
            </a:solidFill>
          </a:ln>
        </p:spPr>
        <p:txBody>
          <a:bodyPr wrap="square" lIns="0" tIns="0" rIns="0" bIns="0" rtlCol="0"/>
          <a:lstStyle/>
          <a:p>
            <a:endParaRPr/>
          </a:p>
        </p:txBody>
      </p:sp>
      <p:sp>
        <p:nvSpPr>
          <p:cNvPr id="13" name="object 13"/>
          <p:cNvSpPr/>
          <p:nvPr/>
        </p:nvSpPr>
        <p:spPr>
          <a:xfrm>
            <a:off x="6763511" y="5158740"/>
            <a:ext cx="262255" cy="474980"/>
          </a:xfrm>
          <a:custGeom>
            <a:avLst/>
            <a:gdLst/>
            <a:ahLst/>
            <a:cxnLst/>
            <a:rect l="l" t="t" r="r" b="b"/>
            <a:pathLst>
              <a:path w="262254" h="474979">
                <a:moveTo>
                  <a:pt x="262128" y="4571"/>
                </a:moveTo>
                <a:lnTo>
                  <a:pt x="253746" y="0"/>
                </a:lnTo>
                <a:lnTo>
                  <a:pt x="0" y="470154"/>
                </a:lnTo>
                <a:lnTo>
                  <a:pt x="8382" y="474726"/>
                </a:lnTo>
                <a:lnTo>
                  <a:pt x="262128" y="4571"/>
                </a:lnTo>
                <a:close/>
              </a:path>
            </a:pathLst>
          </a:custGeom>
          <a:solidFill>
            <a:srgbClr val="808080"/>
          </a:solidFill>
        </p:spPr>
        <p:txBody>
          <a:bodyPr wrap="square" lIns="0" tIns="0" rIns="0" bIns="0" rtlCol="0"/>
          <a:lstStyle/>
          <a:p>
            <a:endParaRPr/>
          </a:p>
        </p:txBody>
      </p:sp>
      <p:sp>
        <p:nvSpPr>
          <p:cNvPr id="14" name="object 14"/>
          <p:cNvSpPr/>
          <p:nvPr/>
        </p:nvSpPr>
        <p:spPr>
          <a:xfrm>
            <a:off x="6793229" y="5212079"/>
            <a:ext cx="196850" cy="0"/>
          </a:xfrm>
          <a:custGeom>
            <a:avLst/>
            <a:gdLst/>
            <a:ahLst/>
            <a:cxnLst/>
            <a:rect l="l" t="t" r="r" b="b"/>
            <a:pathLst>
              <a:path w="196850">
                <a:moveTo>
                  <a:pt x="0" y="0"/>
                </a:moveTo>
                <a:lnTo>
                  <a:pt x="196595" y="0"/>
                </a:lnTo>
              </a:path>
            </a:pathLst>
          </a:custGeom>
          <a:ln w="9144">
            <a:solidFill>
              <a:srgbClr val="808080"/>
            </a:solidFill>
          </a:ln>
        </p:spPr>
        <p:txBody>
          <a:bodyPr wrap="square" lIns="0" tIns="0" rIns="0" bIns="0" rtlCol="0"/>
          <a:lstStyle/>
          <a:p>
            <a:endParaRPr/>
          </a:p>
        </p:txBody>
      </p:sp>
      <p:sp>
        <p:nvSpPr>
          <p:cNvPr id="15" name="object 15"/>
          <p:cNvSpPr/>
          <p:nvPr/>
        </p:nvSpPr>
        <p:spPr>
          <a:xfrm>
            <a:off x="6534149" y="5548503"/>
            <a:ext cx="273050" cy="0"/>
          </a:xfrm>
          <a:custGeom>
            <a:avLst/>
            <a:gdLst/>
            <a:ahLst/>
            <a:cxnLst/>
            <a:rect l="l" t="t" r="r" b="b"/>
            <a:pathLst>
              <a:path w="273050">
                <a:moveTo>
                  <a:pt x="0" y="0"/>
                </a:moveTo>
                <a:lnTo>
                  <a:pt x="272796" y="0"/>
                </a:lnTo>
              </a:path>
            </a:pathLst>
          </a:custGeom>
          <a:ln w="9905">
            <a:solidFill>
              <a:srgbClr val="808080"/>
            </a:solidFill>
          </a:ln>
        </p:spPr>
        <p:txBody>
          <a:bodyPr wrap="square" lIns="0" tIns="0" rIns="0" bIns="0" rtlCol="0"/>
          <a:lstStyle/>
          <a:p>
            <a:endParaRPr/>
          </a:p>
        </p:txBody>
      </p:sp>
      <p:sp>
        <p:nvSpPr>
          <p:cNvPr id="16" name="object 16"/>
          <p:cNvSpPr/>
          <p:nvPr/>
        </p:nvSpPr>
        <p:spPr>
          <a:xfrm>
            <a:off x="6906005" y="5628131"/>
            <a:ext cx="490220" cy="0"/>
          </a:xfrm>
          <a:custGeom>
            <a:avLst/>
            <a:gdLst/>
            <a:ahLst/>
            <a:cxnLst/>
            <a:rect l="l" t="t" r="r" b="b"/>
            <a:pathLst>
              <a:path w="490220">
                <a:moveTo>
                  <a:pt x="0" y="0"/>
                </a:moveTo>
                <a:lnTo>
                  <a:pt x="489966" y="0"/>
                </a:lnTo>
              </a:path>
            </a:pathLst>
          </a:custGeom>
          <a:ln w="9143">
            <a:solidFill>
              <a:srgbClr val="808080"/>
            </a:solidFill>
          </a:ln>
        </p:spPr>
        <p:txBody>
          <a:bodyPr wrap="square" lIns="0" tIns="0" rIns="0" bIns="0" rtlCol="0"/>
          <a:lstStyle/>
          <a:p>
            <a:endParaRPr/>
          </a:p>
        </p:txBody>
      </p:sp>
      <p:sp>
        <p:nvSpPr>
          <p:cNvPr id="17" name="object 17"/>
          <p:cNvSpPr/>
          <p:nvPr/>
        </p:nvSpPr>
        <p:spPr>
          <a:xfrm>
            <a:off x="7141463" y="5533644"/>
            <a:ext cx="62230" cy="90805"/>
          </a:xfrm>
          <a:custGeom>
            <a:avLst/>
            <a:gdLst/>
            <a:ahLst/>
            <a:cxnLst/>
            <a:rect l="l" t="t" r="r" b="b"/>
            <a:pathLst>
              <a:path w="62229" h="90804">
                <a:moveTo>
                  <a:pt x="61721" y="4572"/>
                </a:moveTo>
                <a:lnTo>
                  <a:pt x="54101" y="0"/>
                </a:lnTo>
                <a:lnTo>
                  <a:pt x="0" y="85344"/>
                </a:lnTo>
                <a:lnTo>
                  <a:pt x="7619" y="90678"/>
                </a:lnTo>
                <a:lnTo>
                  <a:pt x="61721" y="4572"/>
                </a:lnTo>
                <a:close/>
              </a:path>
            </a:pathLst>
          </a:custGeom>
          <a:solidFill>
            <a:srgbClr val="808080"/>
          </a:solidFill>
        </p:spPr>
        <p:txBody>
          <a:bodyPr wrap="square" lIns="0" tIns="0" rIns="0" bIns="0" rtlCol="0"/>
          <a:lstStyle/>
          <a:p>
            <a:endParaRPr/>
          </a:p>
        </p:txBody>
      </p:sp>
      <p:sp>
        <p:nvSpPr>
          <p:cNvPr id="18" name="object 18"/>
          <p:cNvSpPr/>
          <p:nvPr/>
        </p:nvSpPr>
        <p:spPr>
          <a:xfrm>
            <a:off x="6953250" y="5625084"/>
            <a:ext cx="11430" cy="82550"/>
          </a:xfrm>
          <a:custGeom>
            <a:avLst/>
            <a:gdLst/>
            <a:ahLst/>
            <a:cxnLst/>
            <a:rect l="l" t="t" r="r" b="b"/>
            <a:pathLst>
              <a:path w="11429" h="82550">
                <a:moveTo>
                  <a:pt x="11429" y="82296"/>
                </a:moveTo>
                <a:lnTo>
                  <a:pt x="9905" y="0"/>
                </a:lnTo>
                <a:lnTo>
                  <a:pt x="0" y="0"/>
                </a:lnTo>
                <a:lnTo>
                  <a:pt x="1523" y="82296"/>
                </a:lnTo>
                <a:lnTo>
                  <a:pt x="11429" y="82296"/>
                </a:lnTo>
                <a:close/>
              </a:path>
            </a:pathLst>
          </a:custGeom>
          <a:solidFill>
            <a:srgbClr val="808080"/>
          </a:solidFill>
        </p:spPr>
        <p:txBody>
          <a:bodyPr wrap="square" lIns="0" tIns="0" rIns="0" bIns="0" rtlCol="0"/>
          <a:lstStyle/>
          <a:p>
            <a:endParaRPr/>
          </a:p>
        </p:txBody>
      </p:sp>
      <p:sp>
        <p:nvSpPr>
          <p:cNvPr id="19" name="object 19"/>
          <p:cNvSpPr/>
          <p:nvPr/>
        </p:nvSpPr>
        <p:spPr>
          <a:xfrm>
            <a:off x="7350251" y="5632703"/>
            <a:ext cx="9525" cy="76200"/>
          </a:xfrm>
          <a:custGeom>
            <a:avLst/>
            <a:gdLst/>
            <a:ahLst/>
            <a:cxnLst/>
            <a:rect l="l" t="t" r="r" b="b"/>
            <a:pathLst>
              <a:path w="9525" h="76200">
                <a:moveTo>
                  <a:pt x="0" y="0"/>
                </a:moveTo>
                <a:lnTo>
                  <a:pt x="0" y="76200"/>
                </a:lnTo>
                <a:lnTo>
                  <a:pt x="9144" y="76200"/>
                </a:lnTo>
                <a:lnTo>
                  <a:pt x="9144" y="0"/>
                </a:lnTo>
                <a:lnTo>
                  <a:pt x="0" y="0"/>
                </a:lnTo>
                <a:close/>
              </a:path>
            </a:pathLst>
          </a:custGeom>
          <a:solidFill>
            <a:srgbClr val="808080"/>
          </a:solidFill>
        </p:spPr>
        <p:txBody>
          <a:bodyPr wrap="square" lIns="0" tIns="0" rIns="0" bIns="0" rtlCol="0"/>
          <a:lstStyle/>
          <a:p>
            <a:endParaRPr/>
          </a:p>
        </p:txBody>
      </p:sp>
      <p:sp>
        <p:nvSpPr>
          <p:cNvPr id="20" name="object 20"/>
          <p:cNvSpPr/>
          <p:nvPr/>
        </p:nvSpPr>
        <p:spPr>
          <a:xfrm>
            <a:off x="7433310" y="5487161"/>
            <a:ext cx="508634" cy="278130"/>
          </a:xfrm>
          <a:custGeom>
            <a:avLst/>
            <a:gdLst/>
            <a:ahLst/>
            <a:cxnLst/>
            <a:rect l="l" t="t" r="r" b="b"/>
            <a:pathLst>
              <a:path w="508634" h="278129">
                <a:moveTo>
                  <a:pt x="508254" y="269747"/>
                </a:moveTo>
                <a:lnTo>
                  <a:pt x="4572" y="0"/>
                </a:lnTo>
                <a:lnTo>
                  <a:pt x="0" y="8382"/>
                </a:lnTo>
                <a:lnTo>
                  <a:pt x="503682" y="278129"/>
                </a:lnTo>
                <a:lnTo>
                  <a:pt x="508254" y="269747"/>
                </a:lnTo>
                <a:close/>
              </a:path>
            </a:pathLst>
          </a:custGeom>
          <a:solidFill>
            <a:srgbClr val="808080"/>
          </a:solidFill>
        </p:spPr>
        <p:txBody>
          <a:bodyPr wrap="square" lIns="0" tIns="0" rIns="0" bIns="0" rtlCol="0"/>
          <a:lstStyle/>
          <a:p>
            <a:endParaRPr/>
          </a:p>
        </p:txBody>
      </p:sp>
      <p:sp>
        <p:nvSpPr>
          <p:cNvPr id="21" name="object 21"/>
          <p:cNvSpPr/>
          <p:nvPr/>
        </p:nvSpPr>
        <p:spPr>
          <a:xfrm>
            <a:off x="6884670" y="5421629"/>
            <a:ext cx="81915" cy="10160"/>
          </a:xfrm>
          <a:custGeom>
            <a:avLst/>
            <a:gdLst/>
            <a:ahLst/>
            <a:cxnLst/>
            <a:rect l="l" t="t" r="r" b="b"/>
            <a:pathLst>
              <a:path w="81915" h="10160">
                <a:moveTo>
                  <a:pt x="0" y="0"/>
                </a:moveTo>
                <a:lnTo>
                  <a:pt x="0" y="9906"/>
                </a:lnTo>
                <a:lnTo>
                  <a:pt x="81533" y="9906"/>
                </a:lnTo>
                <a:lnTo>
                  <a:pt x="81533" y="0"/>
                </a:lnTo>
                <a:lnTo>
                  <a:pt x="0" y="0"/>
                </a:lnTo>
                <a:close/>
              </a:path>
            </a:pathLst>
          </a:custGeom>
          <a:solidFill>
            <a:srgbClr val="808080"/>
          </a:solidFill>
        </p:spPr>
        <p:txBody>
          <a:bodyPr wrap="square" lIns="0" tIns="0" rIns="0" bIns="0" rtlCol="0"/>
          <a:lstStyle/>
          <a:p>
            <a:endParaRPr/>
          </a:p>
        </p:txBody>
      </p:sp>
      <p:sp>
        <p:nvSpPr>
          <p:cNvPr id="22" name="object 22"/>
          <p:cNvSpPr/>
          <p:nvPr/>
        </p:nvSpPr>
        <p:spPr>
          <a:xfrm>
            <a:off x="6737604" y="4013453"/>
            <a:ext cx="238125" cy="83820"/>
          </a:xfrm>
          <a:custGeom>
            <a:avLst/>
            <a:gdLst/>
            <a:ahLst/>
            <a:cxnLst/>
            <a:rect l="l" t="t" r="r" b="b"/>
            <a:pathLst>
              <a:path w="238125" h="83820">
                <a:moveTo>
                  <a:pt x="237744" y="74675"/>
                </a:moveTo>
                <a:lnTo>
                  <a:pt x="3048" y="0"/>
                </a:lnTo>
                <a:lnTo>
                  <a:pt x="0" y="9144"/>
                </a:lnTo>
                <a:lnTo>
                  <a:pt x="234696" y="83819"/>
                </a:lnTo>
                <a:lnTo>
                  <a:pt x="237744" y="74675"/>
                </a:lnTo>
                <a:close/>
              </a:path>
            </a:pathLst>
          </a:custGeom>
          <a:solidFill>
            <a:srgbClr val="808080"/>
          </a:solidFill>
        </p:spPr>
        <p:txBody>
          <a:bodyPr wrap="square" lIns="0" tIns="0" rIns="0" bIns="0" rtlCol="0"/>
          <a:lstStyle/>
          <a:p>
            <a:endParaRPr/>
          </a:p>
        </p:txBody>
      </p:sp>
      <p:sp>
        <p:nvSpPr>
          <p:cNvPr id="23" name="object 23"/>
          <p:cNvSpPr/>
          <p:nvPr/>
        </p:nvSpPr>
        <p:spPr>
          <a:xfrm>
            <a:off x="6583679" y="4173854"/>
            <a:ext cx="168910" cy="0"/>
          </a:xfrm>
          <a:custGeom>
            <a:avLst/>
            <a:gdLst/>
            <a:ahLst/>
            <a:cxnLst/>
            <a:rect l="l" t="t" r="r" b="b"/>
            <a:pathLst>
              <a:path w="168910">
                <a:moveTo>
                  <a:pt x="0" y="0"/>
                </a:moveTo>
                <a:lnTo>
                  <a:pt x="168401" y="0"/>
                </a:lnTo>
              </a:path>
            </a:pathLst>
          </a:custGeom>
          <a:ln w="12953">
            <a:solidFill>
              <a:srgbClr val="808080"/>
            </a:solidFill>
          </a:ln>
        </p:spPr>
        <p:txBody>
          <a:bodyPr wrap="square" lIns="0" tIns="0" rIns="0" bIns="0" rtlCol="0"/>
          <a:lstStyle/>
          <a:p>
            <a:endParaRPr/>
          </a:p>
        </p:txBody>
      </p:sp>
      <p:sp>
        <p:nvSpPr>
          <p:cNvPr id="24" name="object 24"/>
          <p:cNvSpPr/>
          <p:nvPr/>
        </p:nvSpPr>
        <p:spPr>
          <a:xfrm>
            <a:off x="6332981" y="3984497"/>
            <a:ext cx="370332" cy="307086"/>
          </a:xfrm>
          <a:prstGeom prst="rect">
            <a:avLst/>
          </a:prstGeom>
          <a:blipFill>
            <a:blip r:embed="rId6" cstate="print"/>
            <a:stretch>
              <a:fillRect/>
            </a:stretch>
          </a:blipFill>
        </p:spPr>
        <p:txBody>
          <a:bodyPr wrap="square" lIns="0" tIns="0" rIns="0" bIns="0" rtlCol="0"/>
          <a:lstStyle/>
          <a:p>
            <a:endParaRPr/>
          </a:p>
        </p:txBody>
      </p:sp>
      <p:sp>
        <p:nvSpPr>
          <p:cNvPr id="25" name="object 25"/>
          <p:cNvSpPr/>
          <p:nvPr/>
        </p:nvSpPr>
        <p:spPr>
          <a:xfrm>
            <a:off x="6304025" y="3938778"/>
            <a:ext cx="506729" cy="105917"/>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7716774" y="3989867"/>
            <a:ext cx="1273175" cy="640080"/>
          </a:xfrm>
          <a:custGeom>
            <a:avLst/>
            <a:gdLst/>
            <a:ahLst/>
            <a:cxnLst/>
            <a:rect l="l" t="t" r="r" b="b"/>
            <a:pathLst>
              <a:path w="1273175" h="640079">
                <a:moveTo>
                  <a:pt x="1272596" y="69306"/>
                </a:moveTo>
                <a:lnTo>
                  <a:pt x="1267879" y="34635"/>
                </a:lnTo>
                <a:lnTo>
                  <a:pt x="1248156" y="10632"/>
                </a:lnTo>
                <a:lnTo>
                  <a:pt x="1220463" y="1838"/>
                </a:lnTo>
                <a:lnTo>
                  <a:pt x="1182064" y="0"/>
                </a:lnTo>
                <a:lnTo>
                  <a:pt x="1135682" y="3359"/>
                </a:lnTo>
                <a:lnTo>
                  <a:pt x="1084040" y="10156"/>
                </a:lnTo>
                <a:lnTo>
                  <a:pt x="1029862" y="18631"/>
                </a:lnTo>
                <a:lnTo>
                  <a:pt x="975871" y="27027"/>
                </a:lnTo>
                <a:lnTo>
                  <a:pt x="924792" y="33583"/>
                </a:lnTo>
                <a:lnTo>
                  <a:pt x="879348" y="36540"/>
                </a:lnTo>
                <a:lnTo>
                  <a:pt x="823323" y="36215"/>
                </a:lnTo>
                <a:lnTo>
                  <a:pt x="767954" y="34197"/>
                </a:lnTo>
                <a:lnTo>
                  <a:pt x="715422" y="31206"/>
                </a:lnTo>
                <a:lnTo>
                  <a:pt x="667907" y="27960"/>
                </a:lnTo>
                <a:lnTo>
                  <a:pt x="627588" y="25180"/>
                </a:lnTo>
                <a:lnTo>
                  <a:pt x="596646" y="23586"/>
                </a:lnTo>
                <a:lnTo>
                  <a:pt x="582096" y="23547"/>
                </a:lnTo>
                <a:lnTo>
                  <a:pt x="577596" y="23586"/>
                </a:lnTo>
                <a:lnTo>
                  <a:pt x="545461" y="22685"/>
                </a:lnTo>
                <a:lnTo>
                  <a:pt x="500770" y="20458"/>
                </a:lnTo>
                <a:lnTo>
                  <a:pt x="450830" y="17920"/>
                </a:lnTo>
                <a:lnTo>
                  <a:pt x="394906" y="15680"/>
                </a:lnTo>
                <a:lnTo>
                  <a:pt x="337625" y="14619"/>
                </a:lnTo>
                <a:lnTo>
                  <a:pt x="282273" y="15549"/>
                </a:lnTo>
                <a:lnTo>
                  <a:pt x="232136" y="19283"/>
                </a:lnTo>
                <a:lnTo>
                  <a:pt x="190500" y="26634"/>
                </a:lnTo>
                <a:lnTo>
                  <a:pt x="134477" y="46043"/>
                </a:lnTo>
                <a:lnTo>
                  <a:pt x="84490" y="72183"/>
                </a:lnTo>
                <a:lnTo>
                  <a:pt x="43464" y="103553"/>
                </a:lnTo>
                <a:lnTo>
                  <a:pt x="14325" y="138654"/>
                </a:lnTo>
                <a:lnTo>
                  <a:pt x="0" y="175986"/>
                </a:lnTo>
                <a:lnTo>
                  <a:pt x="1636" y="210622"/>
                </a:lnTo>
                <a:lnTo>
                  <a:pt x="14365" y="249872"/>
                </a:lnTo>
                <a:lnTo>
                  <a:pt x="36195" y="291619"/>
                </a:lnTo>
                <a:lnTo>
                  <a:pt x="65136" y="333748"/>
                </a:lnTo>
                <a:lnTo>
                  <a:pt x="99201" y="374141"/>
                </a:lnTo>
                <a:lnTo>
                  <a:pt x="136398" y="410682"/>
                </a:lnTo>
                <a:lnTo>
                  <a:pt x="171754" y="439984"/>
                </a:lnTo>
                <a:lnTo>
                  <a:pt x="211922" y="468754"/>
                </a:lnTo>
                <a:lnTo>
                  <a:pt x="256023" y="496457"/>
                </a:lnTo>
                <a:lnTo>
                  <a:pt x="303176" y="522560"/>
                </a:lnTo>
                <a:lnTo>
                  <a:pt x="352501" y="546531"/>
                </a:lnTo>
                <a:lnTo>
                  <a:pt x="403120" y="567836"/>
                </a:lnTo>
                <a:lnTo>
                  <a:pt x="454152" y="585942"/>
                </a:lnTo>
                <a:lnTo>
                  <a:pt x="500770" y="599635"/>
                </a:lnTo>
                <a:lnTo>
                  <a:pt x="550640" y="611909"/>
                </a:lnTo>
                <a:lnTo>
                  <a:pt x="602509" y="622415"/>
                </a:lnTo>
                <a:lnTo>
                  <a:pt x="655129" y="630805"/>
                </a:lnTo>
                <a:lnTo>
                  <a:pt x="707249" y="636729"/>
                </a:lnTo>
                <a:lnTo>
                  <a:pt x="757618" y="639841"/>
                </a:lnTo>
                <a:lnTo>
                  <a:pt x="804987" y="639792"/>
                </a:lnTo>
                <a:lnTo>
                  <a:pt x="848106" y="636234"/>
                </a:lnTo>
                <a:lnTo>
                  <a:pt x="899696" y="625919"/>
                </a:lnTo>
                <a:lnTo>
                  <a:pt x="947137" y="609338"/>
                </a:lnTo>
                <a:lnTo>
                  <a:pt x="990600" y="587466"/>
                </a:lnTo>
                <a:lnTo>
                  <a:pt x="1030252" y="561276"/>
                </a:lnTo>
                <a:lnTo>
                  <a:pt x="1066263" y="531741"/>
                </a:lnTo>
                <a:lnTo>
                  <a:pt x="1098804" y="499836"/>
                </a:lnTo>
                <a:lnTo>
                  <a:pt x="1127633" y="464159"/>
                </a:lnTo>
                <a:lnTo>
                  <a:pt x="1152652" y="423212"/>
                </a:lnTo>
                <a:lnTo>
                  <a:pt x="1174242" y="378964"/>
                </a:lnTo>
                <a:lnTo>
                  <a:pt x="1192784" y="333381"/>
                </a:lnTo>
                <a:lnTo>
                  <a:pt x="1208659" y="288434"/>
                </a:lnTo>
                <a:lnTo>
                  <a:pt x="1222248" y="246090"/>
                </a:lnTo>
                <a:lnTo>
                  <a:pt x="1253179" y="156936"/>
                </a:lnTo>
                <a:lnTo>
                  <a:pt x="1266348" y="111216"/>
                </a:lnTo>
                <a:lnTo>
                  <a:pt x="1272596" y="69306"/>
                </a:lnTo>
                <a:close/>
              </a:path>
              <a:path w="1273175" h="640079">
                <a:moveTo>
                  <a:pt x="602432" y="23371"/>
                </a:moveTo>
                <a:lnTo>
                  <a:pt x="593979" y="23014"/>
                </a:lnTo>
                <a:lnTo>
                  <a:pt x="582096" y="22943"/>
                </a:lnTo>
                <a:lnTo>
                  <a:pt x="593533" y="23448"/>
                </a:lnTo>
                <a:lnTo>
                  <a:pt x="602432" y="23371"/>
                </a:lnTo>
                <a:close/>
              </a:path>
            </a:pathLst>
          </a:custGeom>
          <a:solidFill>
            <a:srgbClr val="DDDDDD"/>
          </a:solidFill>
        </p:spPr>
        <p:txBody>
          <a:bodyPr wrap="square" lIns="0" tIns="0" rIns="0" bIns="0" rtlCol="0"/>
          <a:lstStyle/>
          <a:p>
            <a:endParaRPr/>
          </a:p>
        </p:txBody>
      </p:sp>
      <p:sp>
        <p:nvSpPr>
          <p:cNvPr id="27" name="object 27"/>
          <p:cNvSpPr/>
          <p:nvPr/>
        </p:nvSpPr>
        <p:spPr>
          <a:xfrm>
            <a:off x="7730821" y="2455707"/>
            <a:ext cx="1692261" cy="1081960"/>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8085581" y="4248150"/>
            <a:ext cx="169545" cy="128270"/>
          </a:xfrm>
          <a:custGeom>
            <a:avLst/>
            <a:gdLst/>
            <a:ahLst/>
            <a:cxnLst/>
            <a:rect l="l" t="t" r="r" b="b"/>
            <a:pathLst>
              <a:path w="169545" h="128270">
                <a:moveTo>
                  <a:pt x="169163" y="120396"/>
                </a:moveTo>
                <a:lnTo>
                  <a:pt x="5333" y="0"/>
                </a:lnTo>
                <a:lnTo>
                  <a:pt x="0" y="7620"/>
                </a:lnTo>
                <a:lnTo>
                  <a:pt x="163829" y="128016"/>
                </a:lnTo>
                <a:lnTo>
                  <a:pt x="169163" y="120396"/>
                </a:lnTo>
                <a:close/>
              </a:path>
            </a:pathLst>
          </a:custGeom>
          <a:solidFill>
            <a:srgbClr val="808080"/>
          </a:solidFill>
        </p:spPr>
        <p:txBody>
          <a:bodyPr wrap="square" lIns="0" tIns="0" rIns="0" bIns="0" rtlCol="0"/>
          <a:lstStyle/>
          <a:p>
            <a:endParaRPr/>
          </a:p>
        </p:txBody>
      </p:sp>
      <p:sp>
        <p:nvSpPr>
          <p:cNvPr id="29" name="object 29"/>
          <p:cNvSpPr/>
          <p:nvPr/>
        </p:nvSpPr>
        <p:spPr>
          <a:xfrm>
            <a:off x="8185403" y="4172330"/>
            <a:ext cx="279400" cy="0"/>
          </a:xfrm>
          <a:custGeom>
            <a:avLst/>
            <a:gdLst/>
            <a:ahLst/>
            <a:cxnLst/>
            <a:rect l="l" t="t" r="r" b="b"/>
            <a:pathLst>
              <a:path w="279400">
                <a:moveTo>
                  <a:pt x="0" y="0"/>
                </a:moveTo>
                <a:lnTo>
                  <a:pt x="278892" y="0"/>
                </a:lnTo>
              </a:path>
            </a:pathLst>
          </a:custGeom>
          <a:ln w="9905">
            <a:solidFill>
              <a:srgbClr val="808080"/>
            </a:solidFill>
          </a:ln>
        </p:spPr>
        <p:txBody>
          <a:bodyPr wrap="square" lIns="0" tIns="0" rIns="0" bIns="0" rtlCol="0"/>
          <a:lstStyle/>
          <a:p>
            <a:endParaRPr/>
          </a:p>
        </p:txBody>
      </p:sp>
      <p:sp>
        <p:nvSpPr>
          <p:cNvPr id="30" name="object 30"/>
          <p:cNvSpPr/>
          <p:nvPr/>
        </p:nvSpPr>
        <p:spPr>
          <a:xfrm>
            <a:off x="8418576" y="4254246"/>
            <a:ext cx="140970" cy="112395"/>
          </a:xfrm>
          <a:custGeom>
            <a:avLst/>
            <a:gdLst/>
            <a:ahLst/>
            <a:cxnLst/>
            <a:rect l="l" t="t" r="r" b="b"/>
            <a:pathLst>
              <a:path w="140970" h="112395">
                <a:moveTo>
                  <a:pt x="140970" y="7619"/>
                </a:moveTo>
                <a:lnTo>
                  <a:pt x="134874" y="0"/>
                </a:lnTo>
                <a:lnTo>
                  <a:pt x="0" y="105155"/>
                </a:lnTo>
                <a:lnTo>
                  <a:pt x="6096" y="112013"/>
                </a:lnTo>
                <a:lnTo>
                  <a:pt x="140970" y="7619"/>
                </a:lnTo>
                <a:close/>
              </a:path>
            </a:pathLst>
          </a:custGeom>
          <a:solidFill>
            <a:srgbClr val="808080"/>
          </a:solidFill>
        </p:spPr>
        <p:txBody>
          <a:bodyPr wrap="square" lIns="0" tIns="0" rIns="0" bIns="0" rtlCol="0"/>
          <a:lstStyle/>
          <a:p>
            <a:endParaRPr/>
          </a:p>
        </p:txBody>
      </p:sp>
      <p:sp>
        <p:nvSpPr>
          <p:cNvPr id="31" name="object 31"/>
          <p:cNvSpPr/>
          <p:nvPr/>
        </p:nvSpPr>
        <p:spPr>
          <a:xfrm>
            <a:off x="7539227" y="3027807"/>
            <a:ext cx="106045" cy="0"/>
          </a:xfrm>
          <a:custGeom>
            <a:avLst/>
            <a:gdLst/>
            <a:ahLst/>
            <a:cxnLst/>
            <a:rect l="l" t="t" r="r" b="b"/>
            <a:pathLst>
              <a:path w="106045">
                <a:moveTo>
                  <a:pt x="0" y="0"/>
                </a:moveTo>
                <a:lnTo>
                  <a:pt x="105918" y="0"/>
                </a:lnTo>
              </a:path>
            </a:pathLst>
          </a:custGeom>
          <a:ln w="12953">
            <a:solidFill>
              <a:srgbClr val="969696"/>
            </a:solidFill>
          </a:ln>
        </p:spPr>
        <p:txBody>
          <a:bodyPr wrap="square" lIns="0" tIns="0" rIns="0" bIns="0" rtlCol="0"/>
          <a:lstStyle/>
          <a:p>
            <a:endParaRPr/>
          </a:p>
        </p:txBody>
      </p:sp>
      <p:sp>
        <p:nvSpPr>
          <p:cNvPr id="32" name="object 32"/>
          <p:cNvSpPr/>
          <p:nvPr/>
        </p:nvSpPr>
        <p:spPr>
          <a:xfrm>
            <a:off x="8048243" y="5131308"/>
            <a:ext cx="394970" cy="193040"/>
          </a:xfrm>
          <a:custGeom>
            <a:avLst/>
            <a:gdLst/>
            <a:ahLst/>
            <a:cxnLst/>
            <a:rect l="l" t="t" r="r" b="b"/>
            <a:pathLst>
              <a:path w="394970" h="193039">
                <a:moveTo>
                  <a:pt x="394715" y="184403"/>
                </a:moveTo>
                <a:lnTo>
                  <a:pt x="3809" y="0"/>
                </a:lnTo>
                <a:lnTo>
                  <a:pt x="0" y="9144"/>
                </a:lnTo>
                <a:lnTo>
                  <a:pt x="390143" y="192785"/>
                </a:lnTo>
                <a:lnTo>
                  <a:pt x="394715" y="184403"/>
                </a:lnTo>
                <a:close/>
              </a:path>
            </a:pathLst>
          </a:custGeom>
          <a:solidFill>
            <a:srgbClr val="808080"/>
          </a:solidFill>
        </p:spPr>
        <p:txBody>
          <a:bodyPr wrap="square" lIns="0" tIns="0" rIns="0" bIns="0" rtlCol="0"/>
          <a:lstStyle/>
          <a:p>
            <a:endParaRPr/>
          </a:p>
        </p:txBody>
      </p:sp>
      <p:sp>
        <p:nvSpPr>
          <p:cNvPr id="33" name="object 33"/>
          <p:cNvSpPr/>
          <p:nvPr/>
        </p:nvSpPr>
        <p:spPr>
          <a:xfrm>
            <a:off x="7427213" y="5119115"/>
            <a:ext cx="327025" cy="207010"/>
          </a:xfrm>
          <a:custGeom>
            <a:avLst/>
            <a:gdLst/>
            <a:ahLst/>
            <a:cxnLst/>
            <a:rect l="l" t="t" r="r" b="b"/>
            <a:pathLst>
              <a:path w="327025" h="207010">
                <a:moveTo>
                  <a:pt x="326898" y="8381"/>
                </a:moveTo>
                <a:lnTo>
                  <a:pt x="322326" y="0"/>
                </a:lnTo>
                <a:lnTo>
                  <a:pt x="0" y="198119"/>
                </a:lnTo>
                <a:lnTo>
                  <a:pt x="4572" y="206501"/>
                </a:lnTo>
                <a:lnTo>
                  <a:pt x="326898" y="8381"/>
                </a:lnTo>
                <a:close/>
              </a:path>
            </a:pathLst>
          </a:custGeom>
          <a:solidFill>
            <a:srgbClr val="808080"/>
          </a:solidFill>
        </p:spPr>
        <p:txBody>
          <a:bodyPr wrap="square" lIns="0" tIns="0" rIns="0" bIns="0" rtlCol="0"/>
          <a:lstStyle/>
          <a:p>
            <a:endParaRPr/>
          </a:p>
        </p:txBody>
      </p:sp>
      <p:sp>
        <p:nvSpPr>
          <p:cNvPr id="34" name="object 34"/>
          <p:cNvSpPr/>
          <p:nvPr/>
        </p:nvSpPr>
        <p:spPr>
          <a:xfrm>
            <a:off x="7472172" y="5415153"/>
            <a:ext cx="672465" cy="0"/>
          </a:xfrm>
          <a:custGeom>
            <a:avLst/>
            <a:gdLst/>
            <a:ahLst/>
            <a:cxnLst/>
            <a:rect l="l" t="t" r="r" b="b"/>
            <a:pathLst>
              <a:path w="672465">
                <a:moveTo>
                  <a:pt x="0" y="0"/>
                </a:moveTo>
                <a:lnTo>
                  <a:pt x="672083" y="0"/>
                </a:lnTo>
              </a:path>
            </a:pathLst>
          </a:custGeom>
          <a:ln w="9905">
            <a:solidFill>
              <a:srgbClr val="808080"/>
            </a:solidFill>
          </a:ln>
        </p:spPr>
        <p:txBody>
          <a:bodyPr wrap="square" lIns="0" tIns="0" rIns="0" bIns="0" rtlCol="0"/>
          <a:lstStyle/>
          <a:p>
            <a:endParaRPr/>
          </a:p>
        </p:txBody>
      </p:sp>
      <p:sp>
        <p:nvSpPr>
          <p:cNvPr id="35" name="object 35"/>
          <p:cNvSpPr/>
          <p:nvPr/>
        </p:nvSpPr>
        <p:spPr>
          <a:xfrm>
            <a:off x="8266938" y="2926842"/>
            <a:ext cx="128905" cy="95250"/>
          </a:xfrm>
          <a:custGeom>
            <a:avLst/>
            <a:gdLst/>
            <a:ahLst/>
            <a:cxnLst/>
            <a:rect l="l" t="t" r="r" b="b"/>
            <a:pathLst>
              <a:path w="128904" h="95250">
                <a:moveTo>
                  <a:pt x="128777" y="7619"/>
                </a:moveTo>
                <a:lnTo>
                  <a:pt x="123443" y="0"/>
                </a:lnTo>
                <a:lnTo>
                  <a:pt x="0" y="87630"/>
                </a:lnTo>
                <a:lnTo>
                  <a:pt x="5333" y="95250"/>
                </a:lnTo>
                <a:lnTo>
                  <a:pt x="128777" y="7619"/>
                </a:lnTo>
                <a:close/>
              </a:path>
            </a:pathLst>
          </a:custGeom>
          <a:solidFill>
            <a:srgbClr val="808080"/>
          </a:solidFill>
        </p:spPr>
        <p:txBody>
          <a:bodyPr wrap="square" lIns="0" tIns="0" rIns="0" bIns="0" rtlCol="0"/>
          <a:lstStyle/>
          <a:p>
            <a:endParaRPr/>
          </a:p>
        </p:txBody>
      </p:sp>
      <p:sp>
        <p:nvSpPr>
          <p:cNvPr id="36" name="object 36"/>
          <p:cNvSpPr/>
          <p:nvPr/>
        </p:nvSpPr>
        <p:spPr>
          <a:xfrm>
            <a:off x="8266176" y="2997707"/>
            <a:ext cx="270510" cy="295275"/>
          </a:xfrm>
          <a:custGeom>
            <a:avLst/>
            <a:gdLst/>
            <a:ahLst/>
            <a:cxnLst/>
            <a:rect l="l" t="t" r="r" b="b"/>
            <a:pathLst>
              <a:path w="270509" h="295275">
                <a:moveTo>
                  <a:pt x="270509" y="6095"/>
                </a:moveTo>
                <a:lnTo>
                  <a:pt x="262889" y="0"/>
                </a:lnTo>
                <a:lnTo>
                  <a:pt x="0" y="288797"/>
                </a:lnTo>
                <a:lnTo>
                  <a:pt x="6857" y="294893"/>
                </a:lnTo>
                <a:lnTo>
                  <a:pt x="270509" y="6095"/>
                </a:lnTo>
                <a:close/>
              </a:path>
            </a:pathLst>
          </a:custGeom>
          <a:solidFill>
            <a:srgbClr val="808080"/>
          </a:solidFill>
        </p:spPr>
        <p:txBody>
          <a:bodyPr wrap="square" lIns="0" tIns="0" rIns="0" bIns="0" rtlCol="0"/>
          <a:lstStyle/>
          <a:p>
            <a:endParaRPr/>
          </a:p>
        </p:txBody>
      </p:sp>
      <p:sp>
        <p:nvSpPr>
          <p:cNvPr id="37" name="object 37"/>
          <p:cNvSpPr/>
          <p:nvPr/>
        </p:nvSpPr>
        <p:spPr>
          <a:xfrm>
            <a:off x="8634603" y="2999232"/>
            <a:ext cx="0" cy="196850"/>
          </a:xfrm>
          <a:custGeom>
            <a:avLst/>
            <a:gdLst/>
            <a:ahLst/>
            <a:cxnLst/>
            <a:rect l="l" t="t" r="r" b="b"/>
            <a:pathLst>
              <a:path h="196850">
                <a:moveTo>
                  <a:pt x="0" y="0"/>
                </a:moveTo>
                <a:lnTo>
                  <a:pt x="0" y="196596"/>
                </a:lnTo>
              </a:path>
            </a:pathLst>
          </a:custGeom>
          <a:ln w="9906">
            <a:solidFill>
              <a:srgbClr val="808080"/>
            </a:solidFill>
          </a:ln>
        </p:spPr>
        <p:txBody>
          <a:bodyPr wrap="square" lIns="0" tIns="0" rIns="0" bIns="0" rtlCol="0"/>
          <a:lstStyle/>
          <a:p>
            <a:endParaRPr/>
          </a:p>
        </p:txBody>
      </p:sp>
      <p:sp>
        <p:nvSpPr>
          <p:cNvPr id="38" name="object 38"/>
          <p:cNvSpPr/>
          <p:nvPr/>
        </p:nvSpPr>
        <p:spPr>
          <a:xfrm>
            <a:off x="8355329" y="3305555"/>
            <a:ext cx="121920" cy="0"/>
          </a:xfrm>
          <a:custGeom>
            <a:avLst/>
            <a:gdLst/>
            <a:ahLst/>
            <a:cxnLst/>
            <a:rect l="l" t="t" r="r" b="b"/>
            <a:pathLst>
              <a:path w="121920">
                <a:moveTo>
                  <a:pt x="0" y="0"/>
                </a:moveTo>
                <a:lnTo>
                  <a:pt x="121920" y="0"/>
                </a:lnTo>
              </a:path>
            </a:pathLst>
          </a:custGeom>
          <a:ln w="9143">
            <a:solidFill>
              <a:srgbClr val="808080"/>
            </a:solidFill>
          </a:ln>
        </p:spPr>
        <p:txBody>
          <a:bodyPr wrap="square" lIns="0" tIns="0" rIns="0" bIns="0" rtlCol="0"/>
          <a:lstStyle/>
          <a:p>
            <a:endParaRPr/>
          </a:p>
        </p:txBody>
      </p:sp>
      <p:sp>
        <p:nvSpPr>
          <p:cNvPr id="39" name="object 39"/>
          <p:cNvSpPr/>
          <p:nvPr/>
        </p:nvSpPr>
        <p:spPr>
          <a:xfrm>
            <a:off x="8842248" y="3296031"/>
            <a:ext cx="178435" cy="0"/>
          </a:xfrm>
          <a:custGeom>
            <a:avLst/>
            <a:gdLst/>
            <a:ahLst/>
            <a:cxnLst/>
            <a:rect l="l" t="t" r="r" b="b"/>
            <a:pathLst>
              <a:path w="178434">
                <a:moveTo>
                  <a:pt x="0" y="0"/>
                </a:moveTo>
                <a:lnTo>
                  <a:pt x="178307" y="0"/>
                </a:lnTo>
              </a:path>
            </a:pathLst>
          </a:custGeom>
          <a:ln w="9906">
            <a:solidFill>
              <a:srgbClr val="808080"/>
            </a:solidFill>
          </a:ln>
        </p:spPr>
        <p:txBody>
          <a:bodyPr wrap="square" lIns="0" tIns="0" rIns="0" bIns="0" rtlCol="0"/>
          <a:lstStyle/>
          <a:p>
            <a:endParaRPr/>
          </a:p>
        </p:txBody>
      </p:sp>
      <p:sp>
        <p:nvSpPr>
          <p:cNvPr id="40" name="object 40"/>
          <p:cNvSpPr/>
          <p:nvPr/>
        </p:nvSpPr>
        <p:spPr>
          <a:xfrm>
            <a:off x="7983474" y="3371850"/>
            <a:ext cx="108585" cy="706120"/>
          </a:xfrm>
          <a:custGeom>
            <a:avLst/>
            <a:gdLst/>
            <a:ahLst/>
            <a:cxnLst/>
            <a:rect l="l" t="t" r="r" b="b"/>
            <a:pathLst>
              <a:path w="108584" h="706120">
                <a:moveTo>
                  <a:pt x="108204" y="762"/>
                </a:moveTo>
                <a:lnTo>
                  <a:pt x="98298" y="0"/>
                </a:lnTo>
                <a:lnTo>
                  <a:pt x="0" y="704850"/>
                </a:lnTo>
                <a:lnTo>
                  <a:pt x="9906" y="705612"/>
                </a:lnTo>
                <a:lnTo>
                  <a:pt x="108204" y="762"/>
                </a:lnTo>
                <a:close/>
              </a:path>
            </a:pathLst>
          </a:custGeom>
          <a:solidFill>
            <a:srgbClr val="969696"/>
          </a:solidFill>
        </p:spPr>
        <p:txBody>
          <a:bodyPr wrap="square" lIns="0" tIns="0" rIns="0" bIns="0" rtlCol="0"/>
          <a:lstStyle/>
          <a:p>
            <a:endParaRPr/>
          </a:p>
        </p:txBody>
      </p:sp>
      <p:sp>
        <p:nvSpPr>
          <p:cNvPr id="41" name="object 41"/>
          <p:cNvSpPr/>
          <p:nvPr/>
        </p:nvSpPr>
        <p:spPr>
          <a:xfrm>
            <a:off x="8575548" y="3371850"/>
            <a:ext cx="120650" cy="728980"/>
          </a:xfrm>
          <a:custGeom>
            <a:avLst/>
            <a:gdLst/>
            <a:ahLst/>
            <a:cxnLst/>
            <a:rect l="l" t="t" r="r" b="b"/>
            <a:pathLst>
              <a:path w="120650" h="728979">
                <a:moveTo>
                  <a:pt x="120395" y="762"/>
                </a:moveTo>
                <a:lnTo>
                  <a:pt x="111251" y="0"/>
                </a:lnTo>
                <a:lnTo>
                  <a:pt x="0" y="726948"/>
                </a:lnTo>
                <a:lnTo>
                  <a:pt x="9905" y="728472"/>
                </a:lnTo>
                <a:lnTo>
                  <a:pt x="120395" y="762"/>
                </a:lnTo>
                <a:close/>
              </a:path>
            </a:pathLst>
          </a:custGeom>
          <a:solidFill>
            <a:srgbClr val="808080"/>
          </a:solidFill>
        </p:spPr>
        <p:txBody>
          <a:bodyPr wrap="square" lIns="0" tIns="0" rIns="0" bIns="0" rtlCol="0"/>
          <a:lstStyle/>
          <a:p>
            <a:endParaRPr/>
          </a:p>
        </p:txBody>
      </p:sp>
      <p:sp>
        <p:nvSpPr>
          <p:cNvPr id="42" name="object 42"/>
          <p:cNvSpPr/>
          <p:nvPr/>
        </p:nvSpPr>
        <p:spPr>
          <a:xfrm>
            <a:off x="7960613" y="4511802"/>
            <a:ext cx="235585" cy="440690"/>
          </a:xfrm>
          <a:custGeom>
            <a:avLst/>
            <a:gdLst/>
            <a:ahLst/>
            <a:cxnLst/>
            <a:rect l="l" t="t" r="r" b="b"/>
            <a:pathLst>
              <a:path w="235584" h="440689">
                <a:moveTo>
                  <a:pt x="235457" y="3810"/>
                </a:moveTo>
                <a:lnTo>
                  <a:pt x="227075" y="0"/>
                </a:lnTo>
                <a:lnTo>
                  <a:pt x="0" y="435864"/>
                </a:lnTo>
                <a:lnTo>
                  <a:pt x="8381" y="440436"/>
                </a:lnTo>
                <a:lnTo>
                  <a:pt x="235457" y="3810"/>
                </a:lnTo>
                <a:close/>
              </a:path>
            </a:pathLst>
          </a:custGeom>
          <a:solidFill>
            <a:srgbClr val="808080"/>
          </a:solidFill>
        </p:spPr>
        <p:txBody>
          <a:bodyPr wrap="square" lIns="0" tIns="0" rIns="0" bIns="0" rtlCol="0"/>
          <a:lstStyle/>
          <a:p>
            <a:endParaRPr/>
          </a:p>
        </p:txBody>
      </p:sp>
      <p:sp>
        <p:nvSpPr>
          <p:cNvPr id="43" name="object 43"/>
          <p:cNvSpPr/>
          <p:nvPr/>
        </p:nvSpPr>
        <p:spPr>
          <a:xfrm>
            <a:off x="9037320" y="3289553"/>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808080"/>
          </a:solidFill>
        </p:spPr>
        <p:txBody>
          <a:bodyPr wrap="square" lIns="0" tIns="0" rIns="0" bIns="0" rtlCol="0"/>
          <a:lstStyle/>
          <a:p>
            <a:endParaRPr/>
          </a:p>
        </p:txBody>
      </p:sp>
      <p:sp>
        <p:nvSpPr>
          <p:cNvPr id="44" name="object 44"/>
          <p:cNvSpPr/>
          <p:nvPr/>
        </p:nvSpPr>
        <p:spPr>
          <a:xfrm>
            <a:off x="9104376" y="3289553"/>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808080"/>
          </a:solidFill>
        </p:spPr>
        <p:txBody>
          <a:bodyPr wrap="square" lIns="0" tIns="0" rIns="0" bIns="0" rtlCol="0"/>
          <a:lstStyle/>
          <a:p>
            <a:endParaRPr/>
          </a:p>
        </p:txBody>
      </p:sp>
      <p:sp>
        <p:nvSpPr>
          <p:cNvPr id="45" name="object 45"/>
          <p:cNvSpPr/>
          <p:nvPr/>
        </p:nvSpPr>
        <p:spPr>
          <a:xfrm>
            <a:off x="9170670" y="3289553"/>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808080"/>
          </a:solidFill>
        </p:spPr>
        <p:txBody>
          <a:bodyPr wrap="square" lIns="0" tIns="0" rIns="0" bIns="0" rtlCol="0"/>
          <a:lstStyle/>
          <a:p>
            <a:endParaRPr/>
          </a:p>
        </p:txBody>
      </p:sp>
      <p:sp>
        <p:nvSpPr>
          <p:cNvPr id="46" name="object 46"/>
          <p:cNvSpPr/>
          <p:nvPr/>
        </p:nvSpPr>
        <p:spPr>
          <a:xfrm>
            <a:off x="6821423" y="2458211"/>
            <a:ext cx="159385" cy="405765"/>
          </a:xfrm>
          <a:custGeom>
            <a:avLst/>
            <a:gdLst/>
            <a:ahLst/>
            <a:cxnLst/>
            <a:rect l="l" t="t" r="r" b="b"/>
            <a:pathLst>
              <a:path w="159384" h="405764">
                <a:moveTo>
                  <a:pt x="159258" y="6096"/>
                </a:moveTo>
                <a:lnTo>
                  <a:pt x="141732" y="0"/>
                </a:lnTo>
                <a:lnTo>
                  <a:pt x="0" y="399288"/>
                </a:lnTo>
                <a:lnTo>
                  <a:pt x="18288" y="405384"/>
                </a:lnTo>
                <a:lnTo>
                  <a:pt x="159258" y="6096"/>
                </a:lnTo>
                <a:close/>
              </a:path>
            </a:pathLst>
          </a:custGeom>
          <a:solidFill>
            <a:srgbClr val="808080"/>
          </a:solidFill>
        </p:spPr>
        <p:txBody>
          <a:bodyPr wrap="square" lIns="0" tIns="0" rIns="0" bIns="0" rtlCol="0"/>
          <a:lstStyle/>
          <a:p>
            <a:endParaRPr/>
          </a:p>
        </p:txBody>
      </p:sp>
      <p:sp>
        <p:nvSpPr>
          <p:cNvPr id="47" name="object 47"/>
          <p:cNvSpPr/>
          <p:nvPr/>
        </p:nvSpPr>
        <p:spPr>
          <a:xfrm>
            <a:off x="6963155" y="2458211"/>
            <a:ext cx="159385" cy="403860"/>
          </a:xfrm>
          <a:custGeom>
            <a:avLst/>
            <a:gdLst/>
            <a:ahLst/>
            <a:cxnLst/>
            <a:rect l="l" t="t" r="r" b="b"/>
            <a:pathLst>
              <a:path w="159384" h="403860">
                <a:moveTo>
                  <a:pt x="159257" y="397002"/>
                </a:moveTo>
                <a:lnTo>
                  <a:pt x="17525" y="0"/>
                </a:lnTo>
                <a:lnTo>
                  <a:pt x="0" y="6096"/>
                </a:lnTo>
                <a:lnTo>
                  <a:pt x="141731" y="403860"/>
                </a:lnTo>
                <a:lnTo>
                  <a:pt x="159257" y="397002"/>
                </a:lnTo>
                <a:close/>
              </a:path>
            </a:pathLst>
          </a:custGeom>
          <a:solidFill>
            <a:srgbClr val="808080"/>
          </a:solidFill>
        </p:spPr>
        <p:txBody>
          <a:bodyPr wrap="square" lIns="0" tIns="0" rIns="0" bIns="0" rtlCol="0"/>
          <a:lstStyle/>
          <a:p>
            <a:endParaRPr/>
          </a:p>
        </p:txBody>
      </p:sp>
      <p:sp>
        <p:nvSpPr>
          <p:cNvPr id="48" name="object 48"/>
          <p:cNvSpPr/>
          <p:nvPr/>
        </p:nvSpPr>
        <p:spPr>
          <a:xfrm>
            <a:off x="6827520" y="2849879"/>
            <a:ext cx="147320" cy="62230"/>
          </a:xfrm>
          <a:custGeom>
            <a:avLst/>
            <a:gdLst/>
            <a:ahLst/>
            <a:cxnLst/>
            <a:rect l="l" t="t" r="r" b="b"/>
            <a:pathLst>
              <a:path w="147320" h="62230">
                <a:moveTo>
                  <a:pt x="147066" y="43433"/>
                </a:moveTo>
                <a:lnTo>
                  <a:pt x="5334" y="0"/>
                </a:lnTo>
                <a:lnTo>
                  <a:pt x="0" y="18288"/>
                </a:lnTo>
                <a:lnTo>
                  <a:pt x="141732" y="61721"/>
                </a:lnTo>
                <a:lnTo>
                  <a:pt x="147066" y="43433"/>
                </a:lnTo>
                <a:close/>
              </a:path>
            </a:pathLst>
          </a:custGeom>
          <a:solidFill>
            <a:srgbClr val="808080"/>
          </a:solidFill>
        </p:spPr>
        <p:txBody>
          <a:bodyPr wrap="square" lIns="0" tIns="0" rIns="0" bIns="0" rtlCol="0"/>
          <a:lstStyle/>
          <a:p>
            <a:endParaRPr/>
          </a:p>
        </p:txBody>
      </p:sp>
      <p:sp>
        <p:nvSpPr>
          <p:cNvPr id="49" name="object 49"/>
          <p:cNvSpPr/>
          <p:nvPr/>
        </p:nvSpPr>
        <p:spPr>
          <a:xfrm>
            <a:off x="6969251" y="2849879"/>
            <a:ext cx="147320" cy="62230"/>
          </a:xfrm>
          <a:custGeom>
            <a:avLst/>
            <a:gdLst/>
            <a:ahLst/>
            <a:cxnLst/>
            <a:rect l="l" t="t" r="r" b="b"/>
            <a:pathLst>
              <a:path w="147320" h="62230">
                <a:moveTo>
                  <a:pt x="147065" y="18288"/>
                </a:moveTo>
                <a:lnTo>
                  <a:pt x="141731" y="0"/>
                </a:lnTo>
                <a:lnTo>
                  <a:pt x="0" y="43434"/>
                </a:lnTo>
                <a:lnTo>
                  <a:pt x="5333" y="61722"/>
                </a:lnTo>
                <a:lnTo>
                  <a:pt x="147065" y="18288"/>
                </a:lnTo>
                <a:close/>
              </a:path>
            </a:pathLst>
          </a:custGeom>
          <a:solidFill>
            <a:srgbClr val="808080"/>
          </a:solidFill>
        </p:spPr>
        <p:txBody>
          <a:bodyPr wrap="square" lIns="0" tIns="0" rIns="0" bIns="0" rtlCol="0"/>
          <a:lstStyle/>
          <a:p>
            <a:endParaRPr/>
          </a:p>
        </p:txBody>
      </p:sp>
      <p:sp>
        <p:nvSpPr>
          <p:cNvPr id="50" name="object 50"/>
          <p:cNvSpPr/>
          <p:nvPr/>
        </p:nvSpPr>
        <p:spPr>
          <a:xfrm>
            <a:off x="6971918" y="2616707"/>
            <a:ext cx="0" cy="55880"/>
          </a:xfrm>
          <a:custGeom>
            <a:avLst/>
            <a:gdLst/>
            <a:ahLst/>
            <a:cxnLst/>
            <a:rect l="l" t="t" r="r" b="b"/>
            <a:pathLst>
              <a:path h="55880">
                <a:moveTo>
                  <a:pt x="0" y="0"/>
                </a:moveTo>
                <a:lnTo>
                  <a:pt x="0" y="55625"/>
                </a:lnTo>
              </a:path>
            </a:pathLst>
          </a:custGeom>
          <a:ln w="19050">
            <a:solidFill>
              <a:srgbClr val="808080"/>
            </a:solidFill>
          </a:ln>
        </p:spPr>
        <p:txBody>
          <a:bodyPr wrap="square" lIns="0" tIns="0" rIns="0" bIns="0" rtlCol="0"/>
          <a:lstStyle/>
          <a:p>
            <a:endParaRPr/>
          </a:p>
        </p:txBody>
      </p:sp>
      <p:sp>
        <p:nvSpPr>
          <p:cNvPr id="51" name="object 51"/>
          <p:cNvSpPr/>
          <p:nvPr/>
        </p:nvSpPr>
        <p:spPr>
          <a:xfrm>
            <a:off x="6827520" y="2808732"/>
            <a:ext cx="147320" cy="60960"/>
          </a:xfrm>
          <a:custGeom>
            <a:avLst/>
            <a:gdLst/>
            <a:ahLst/>
            <a:cxnLst/>
            <a:rect l="l" t="t" r="r" b="b"/>
            <a:pathLst>
              <a:path w="147320" h="60960">
                <a:moveTo>
                  <a:pt x="147066" y="18288"/>
                </a:moveTo>
                <a:lnTo>
                  <a:pt x="141732" y="0"/>
                </a:lnTo>
                <a:lnTo>
                  <a:pt x="0" y="42672"/>
                </a:lnTo>
                <a:lnTo>
                  <a:pt x="5334" y="60960"/>
                </a:lnTo>
                <a:lnTo>
                  <a:pt x="147066" y="18288"/>
                </a:lnTo>
                <a:close/>
              </a:path>
            </a:pathLst>
          </a:custGeom>
          <a:solidFill>
            <a:srgbClr val="808080"/>
          </a:solidFill>
        </p:spPr>
        <p:txBody>
          <a:bodyPr wrap="square" lIns="0" tIns="0" rIns="0" bIns="0" rtlCol="0"/>
          <a:lstStyle/>
          <a:p>
            <a:endParaRPr/>
          </a:p>
        </p:txBody>
      </p:sp>
      <p:sp>
        <p:nvSpPr>
          <p:cNvPr id="52" name="object 52"/>
          <p:cNvSpPr/>
          <p:nvPr/>
        </p:nvSpPr>
        <p:spPr>
          <a:xfrm>
            <a:off x="6969251" y="2808732"/>
            <a:ext cx="147320" cy="59690"/>
          </a:xfrm>
          <a:custGeom>
            <a:avLst/>
            <a:gdLst/>
            <a:ahLst/>
            <a:cxnLst/>
            <a:rect l="l" t="t" r="r" b="b"/>
            <a:pathLst>
              <a:path w="147320" h="59689">
                <a:moveTo>
                  <a:pt x="147065" y="41148"/>
                </a:moveTo>
                <a:lnTo>
                  <a:pt x="5333" y="0"/>
                </a:lnTo>
                <a:lnTo>
                  <a:pt x="0" y="18288"/>
                </a:lnTo>
                <a:lnTo>
                  <a:pt x="141731" y="59436"/>
                </a:lnTo>
                <a:lnTo>
                  <a:pt x="147065" y="41148"/>
                </a:lnTo>
                <a:close/>
              </a:path>
            </a:pathLst>
          </a:custGeom>
          <a:solidFill>
            <a:srgbClr val="808080"/>
          </a:solidFill>
        </p:spPr>
        <p:txBody>
          <a:bodyPr wrap="square" lIns="0" tIns="0" rIns="0" bIns="0" rtlCol="0"/>
          <a:lstStyle/>
          <a:p>
            <a:endParaRPr/>
          </a:p>
        </p:txBody>
      </p:sp>
      <p:sp>
        <p:nvSpPr>
          <p:cNvPr id="53" name="object 53"/>
          <p:cNvSpPr/>
          <p:nvPr/>
        </p:nvSpPr>
        <p:spPr>
          <a:xfrm>
            <a:off x="6886955" y="2678429"/>
            <a:ext cx="88900" cy="50800"/>
          </a:xfrm>
          <a:custGeom>
            <a:avLst/>
            <a:gdLst/>
            <a:ahLst/>
            <a:cxnLst/>
            <a:rect l="l" t="t" r="r" b="b"/>
            <a:pathLst>
              <a:path w="88900" h="50800">
                <a:moveTo>
                  <a:pt x="88392" y="32765"/>
                </a:moveTo>
                <a:lnTo>
                  <a:pt x="6858" y="0"/>
                </a:lnTo>
                <a:lnTo>
                  <a:pt x="0" y="17526"/>
                </a:lnTo>
                <a:lnTo>
                  <a:pt x="81534" y="50291"/>
                </a:lnTo>
                <a:lnTo>
                  <a:pt x="88392" y="32765"/>
                </a:lnTo>
                <a:close/>
              </a:path>
            </a:pathLst>
          </a:custGeom>
          <a:solidFill>
            <a:srgbClr val="808080"/>
          </a:solidFill>
        </p:spPr>
        <p:txBody>
          <a:bodyPr wrap="square" lIns="0" tIns="0" rIns="0" bIns="0" rtlCol="0"/>
          <a:lstStyle/>
          <a:p>
            <a:endParaRPr/>
          </a:p>
        </p:txBody>
      </p:sp>
      <p:sp>
        <p:nvSpPr>
          <p:cNvPr id="54" name="object 54"/>
          <p:cNvSpPr/>
          <p:nvPr/>
        </p:nvSpPr>
        <p:spPr>
          <a:xfrm>
            <a:off x="6968489" y="2678429"/>
            <a:ext cx="93345" cy="50800"/>
          </a:xfrm>
          <a:custGeom>
            <a:avLst/>
            <a:gdLst/>
            <a:ahLst/>
            <a:cxnLst/>
            <a:rect l="l" t="t" r="r" b="b"/>
            <a:pathLst>
              <a:path w="93345" h="50800">
                <a:moveTo>
                  <a:pt x="92963" y="17525"/>
                </a:moveTo>
                <a:lnTo>
                  <a:pt x="86105" y="0"/>
                </a:lnTo>
                <a:lnTo>
                  <a:pt x="0" y="32003"/>
                </a:lnTo>
                <a:lnTo>
                  <a:pt x="6857" y="50291"/>
                </a:lnTo>
                <a:lnTo>
                  <a:pt x="92963" y="17525"/>
                </a:lnTo>
                <a:close/>
              </a:path>
            </a:pathLst>
          </a:custGeom>
          <a:solidFill>
            <a:srgbClr val="808080"/>
          </a:solidFill>
        </p:spPr>
        <p:txBody>
          <a:bodyPr wrap="square" lIns="0" tIns="0" rIns="0" bIns="0" rtlCol="0"/>
          <a:lstStyle/>
          <a:p>
            <a:endParaRPr/>
          </a:p>
        </p:txBody>
      </p:sp>
      <p:sp>
        <p:nvSpPr>
          <p:cNvPr id="55" name="object 55"/>
          <p:cNvSpPr/>
          <p:nvPr/>
        </p:nvSpPr>
        <p:spPr>
          <a:xfrm>
            <a:off x="6859523" y="2737104"/>
            <a:ext cx="112395" cy="62230"/>
          </a:xfrm>
          <a:custGeom>
            <a:avLst/>
            <a:gdLst/>
            <a:ahLst/>
            <a:cxnLst/>
            <a:rect l="l" t="t" r="r" b="b"/>
            <a:pathLst>
              <a:path w="112395" h="62230">
                <a:moveTo>
                  <a:pt x="112014" y="44195"/>
                </a:moveTo>
                <a:lnTo>
                  <a:pt x="7620" y="0"/>
                </a:lnTo>
                <a:lnTo>
                  <a:pt x="0" y="17526"/>
                </a:lnTo>
                <a:lnTo>
                  <a:pt x="105156" y="61721"/>
                </a:lnTo>
                <a:lnTo>
                  <a:pt x="112014" y="44195"/>
                </a:lnTo>
                <a:close/>
              </a:path>
            </a:pathLst>
          </a:custGeom>
          <a:solidFill>
            <a:srgbClr val="808080"/>
          </a:solidFill>
        </p:spPr>
        <p:txBody>
          <a:bodyPr wrap="square" lIns="0" tIns="0" rIns="0" bIns="0" rtlCol="0"/>
          <a:lstStyle/>
          <a:p>
            <a:endParaRPr/>
          </a:p>
        </p:txBody>
      </p:sp>
      <p:sp>
        <p:nvSpPr>
          <p:cNvPr id="56" name="object 56"/>
          <p:cNvSpPr/>
          <p:nvPr/>
        </p:nvSpPr>
        <p:spPr>
          <a:xfrm>
            <a:off x="6968489" y="2745485"/>
            <a:ext cx="112395" cy="56515"/>
          </a:xfrm>
          <a:custGeom>
            <a:avLst/>
            <a:gdLst/>
            <a:ahLst/>
            <a:cxnLst/>
            <a:rect l="l" t="t" r="r" b="b"/>
            <a:pathLst>
              <a:path w="112395" h="56514">
                <a:moveTo>
                  <a:pt x="112013" y="17525"/>
                </a:moveTo>
                <a:lnTo>
                  <a:pt x="105917" y="0"/>
                </a:lnTo>
                <a:lnTo>
                  <a:pt x="0" y="38861"/>
                </a:lnTo>
                <a:lnTo>
                  <a:pt x="6857" y="56387"/>
                </a:lnTo>
                <a:lnTo>
                  <a:pt x="112013" y="17525"/>
                </a:lnTo>
                <a:close/>
              </a:path>
            </a:pathLst>
          </a:custGeom>
          <a:solidFill>
            <a:srgbClr val="808080"/>
          </a:solidFill>
        </p:spPr>
        <p:txBody>
          <a:bodyPr wrap="square" lIns="0" tIns="0" rIns="0" bIns="0" rtlCol="0"/>
          <a:lstStyle/>
          <a:p>
            <a:endParaRPr/>
          </a:p>
        </p:txBody>
      </p:sp>
      <p:sp>
        <p:nvSpPr>
          <p:cNvPr id="57" name="object 57"/>
          <p:cNvSpPr/>
          <p:nvPr/>
        </p:nvSpPr>
        <p:spPr>
          <a:xfrm>
            <a:off x="6969251" y="2618232"/>
            <a:ext cx="59690" cy="34290"/>
          </a:xfrm>
          <a:custGeom>
            <a:avLst/>
            <a:gdLst/>
            <a:ahLst/>
            <a:cxnLst/>
            <a:rect l="l" t="t" r="r" b="b"/>
            <a:pathLst>
              <a:path w="59690" h="34289">
                <a:moveTo>
                  <a:pt x="59435" y="18287"/>
                </a:moveTo>
                <a:lnTo>
                  <a:pt x="54101" y="0"/>
                </a:lnTo>
                <a:lnTo>
                  <a:pt x="0" y="16001"/>
                </a:lnTo>
                <a:lnTo>
                  <a:pt x="5333" y="34289"/>
                </a:lnTo>
                <a:lnTo>
                  <a:pt x="59435" y="18287"/>
                </a:lnTo>
                <a:close/>
              </a:path>
            </a:pathLst>
          </a:custGeom>
          <a:solidFill>
            <a:srgbClr val="808080"/>
          </a:solidFill>
        </p:spPr>
        <p:txBody>
          <a:bodyPr wrap="square" lIns="0" tIns="0" rIns="0" bIns="0" rtlCol="0"/>
          <a:lstStyle/>
          <a:p>
            <a:endParaRPr/>
          </a:p>
        </p:txBody>
      </p:sp>
      <p:sp>
        <p:nvSpPr>
          <p:cNvPr id="58" name="object 58"/>
          <p:cNvSpPr/>
          <p:nvPr/>
        </p:nvSpPr>
        <p:spPr>
          <a:xfrm>
            <a:off x="6968489" y="2535935"/>
            <a:ext cx="40640" cy="29845"/>
          </a:xfrm>
          <a:custGeom>
            <a:avLst/>
            <a:gdLst/>
            <a:ahLst/>
            <a:cxnLst/>
            <a:rect l="l" t="t" r="r" b="b"/>
            <a:pathLst>
              <a:path w="40640" h="29844">
                <a:moveTo>
                  <a:pt x="40385" y="17525"/>
                </a:moveTo>
                <a:lnTo>
                  <a:pt x="34289" y="0"/>
                </a:lnTo>
                <a:lnTo>
                  <a:pt x="0" y="12191"/>
                </a:lnTo>
                <a:lnTo>
                  <a:pt x="6857" y="29717"/>
                </a:lnTo>
                <a:lnTo>
                  <a:pt x="40385" y="17525"/>
                </a:lnTo>
                <a:close/>
              </a:path>
            </a:pathLst>
          </a:custGeom>
          <a:solidFill>
            <a:srgbClr val="808080"/>
          </a:solidFill>
        </p:spPr>
        <p:txBody>
          <a:bodyPr wrap="square" lIns="0" tIns="0" rIns="0" bIns="0" rtlCol="0"/>
          <a:lstStyle/>
          <a:p>
            <a:endParaRPr/>
          </a:p>
        </p:txBody>
      </p:sp>
      <p:sp>
        <p:nvSpPr>
          <p:cNvPr id="59" name="object 59"/>
          <p:cNvSpPr/>
          <p:nvPr/>
        </p:nvSpPr>
        <p:spPr>
          <a:xfrm>
            <a:off x="6908291" y="2612898"/>
            <a:ext cx="71120" cy="40005"/>
          </a:xfrm>
          <a:custGeom>
            <a:avLst/>
            <a:gdLst/>
            <a:ahLst/>
            <a:cxnLst/>
            <a:rect l="l" t="t" r="r" b="b"/>
            <a:pathLst>
              <a:path w="71120" h="40005">
                <a:moveTo>
                  <a:pt x="70865" y="21336"/>
                </a:moveTo>
                <a:lnTo>
                  <a:pt x="5333" y="0"/>
                </a:lnTo>
                <a:lnTo>
                  <a:pt x="0" y="17526"/>
                </a:lnTo>
                <a:lnTo>
                  <a:pt x="65531" y="39623"/>
                </a:lnTo>
                <a:lnTo>
                  <a:pt x="70865" y="21336"/>
                </a:lnTo>
                <a:close/>
              </a:path>
            </a:pathLst>
          </a:custGeom>
          <a:solidFill>
            <a:srgbClr val="808080"/>
          </a:solidFill>
        </p:spPr>
        <p:txBody>
          <a:bodyPr wrap="square" lIns="0" tIns="0" rIns="0" bIns="0" rtlCol="0"/>
          <a:lstStyle/>
          <a:p>
            <a:endParaRPr/>
          </a:p>
        </p:txBody>
      </p:sp>
      <p:sp>
        <p:nvSpPr>
          <p:cNvPr id="60" name="object 60"/>
          <p:cNvSpPr/>
          <p:nvPr/>
        </p:nvSpPr>
        <p:spPr>
          <a:xfrm>
            <a:off x="6935724" y="2532888"/>
            <a:ext cx="47625" cy="38100"/>
          </a:xfrm>
          <a:custGeom>
            <a:avLst/>
            <a:gdLst/>
            <a:ahLst/>
            <a:cxnLst/>
            <a:rect l="l" t="t" r="r" b="b"/>
            <a:pathLst>
              <a:path w="47625" h="38100">
                <a:moveTo>
                  <a:pt x="47244" y="21336"/>
                </a:moveTo>
                <a:lnTo>
                  <a:pt x="9144" y="0"/>
                </a:lnTo>
                <a:lnTo>
                  <a:pt x="0" y="16764"/>
                </a:lnTo>
                <a:lnTo>
                  <a:pt x="37338" y="38100"/>
                </a:lnTo>
                <a:lnTo>
                  <a:pt x="47244" y="21336"/>
                </a:lnTo>
                <a:close/>
              </a:path>
            </a:pathLst>
          </a:custGeom>
          <a:solidFill>
            <a:srgbClr val="808080"/>
          </a:solidFill>
        </p:spPr>
        <p:txBody>
          <a:bodyPr wrap="square" lIns="0" tIns="0" rIns="0" bIns="0" rtlCol="0"/>
          <a:lstStyle/>
          <a:p>
            <a:endParaRPr/>
          </a:p>
        </p:txBody>
      </p:sp>
      <p:sp>
        <p:nvSpPr>
          <p:cNvPr id="61" name="object 61"/>
          <p:cNvSpPr/>
          <p:nvPr/>
        </p:nvSpPr>
        <p:spPr>
          <a:xfrm>
            <a:off x="6947153" y="2424683"/>
            <a:ext cx="47625" cy="46990"/>
          </a:xfrm>
          <a:custGeom>
            <a:avLst/>
            <a:gdLst/>
            <a:ahLst/>
            <a:cxnLst/>
            <a:rect l="l" t="t" r="r" b="b"/>
            <a:pathLst>
              <a:path w="47625" h="46989">
                <a:moveTo>
                  <a:pt x="47244" y="22860"/>
                </a:moveTo>
                <a:lnTo>
                  <a:pt x="45374" y="14144"/>
                </a:lnTo>
                <a:lnTo>
                  <a:pt x="40290" y="6858"/>
                </a:lnTo>
                <a:lnTo>
                  <a:pt x="32777" y="1857"/>
                </a:lnTo>
                <a:lnTo>
                  <a:pt x="23622" y="0"/>
                </a:lnTo>
                <a:lnTo>
                  <a:pt x="14466" y="1857"/>
                </a:lnTo>
                <a:lnTo>
                  <a:pt x="6953" y="6858"/>
                </a:lnTo>
                <a:lnTo>
                  <a:pt x="1869" y="14144"/>
                </a:lnTo>
                <a:lnTo>
                  <a:pt x="0" y="22860"/>
                </a:lnTo>
                <a:lnTo>
                  <a:pt x="1869" y="32015"/>
                </a:lnTo>
                <a:lnTo>
                  <a:pt x="6953" y="39528"/>
                </a:lnTo>
                <a:lnTo>
                  <a:pt x="14466" y="44612"/>
                </a:lnTo>
                <a:lnTo>
                  <a:pt x="23622" y="46482"/>
                </a:lnTo>
                <a:lnTo>
                  <a:pt x="32777" y="44612"/>
                </a:lnTo>
                <a:lnTo>
                  <a:pt x="40290" y="39528"/>
                </a:lnTo>
                <a:lnTo>
                  <a:pt x="45374" y="32015"/>
                </a:lnTo>
                <a:lnTo>
                  <a:pt x="47244" y="22860"/>
                </a:lnTo>
                <a:close/>
              </a:path>
            </a:pathLst>
          </a:custGeom>
          <a:solidFill>
            <a:srgbClr val="808080"/>
          </a:solidFill>
        </p:spPr>
        <p:txBody>
          <a:bodyPr wrap="square" lIns="0" tIns="0" rIns="0" bIns="0" rtlCol="0"/>
          <a:lstStyle/>
          <a:p>
            <a:endParaRPr/>
          </a:p>
        </p:txBody>
      </p:sp>
      <p:sp>
        <p:nvSpPr>
          <p:cNvPr id="62" name="object 62"/>
          <p:cNvSpPr/>
          <p:nvPr/>
        </p:nvSpPr>
        <p:spPr>
          <a:xfrm>
            <a:off x="6942581" y="2420111"/>
            <a:ext cx="56515" cy="55880"/>
          </a:xfrm>
          <a:custGeom>
            <a:avLst/>
            <a:gdLst/>
            <a:ahLst/>
            <a:cxnLst/>
            <a:rect l="l" t="t" r="r" b="b"/>
            <a:pathLst>
              <a:path w="56515" h="55880">
                <a:moveTo>
                  <a:pt x="4572" y="42672"/>
                </a:moveTo>
                <a:lnTo>
                  <a:pt x="4571" y="12192"/>
                </a:lnTo>
                <a:lnTo>
                  <a:pt x="2285" y="16002"/>
                </a:lnTo>
                <a:lnTo>
                  <a:pt x="2285" y="16764"/>
                </a:lnTo>
                <a:lnTo>
                  <a:pt x="1523" y="17526"/>
                </a:lnTo>
                <a:lnTo>
                  <a:pt x="761" y="21336"/>
                </a:lnTo>
                <a:lnTo>
                  <a:pt x="0" y="22098"/>
                </a:lnTo>
                <a:lnTo>
                  <a:pt x="0" y="33528"/>
                </a:lnTo>
                <a:lnTo>
                  <a:pt x="762" y="33528"/>
                </a:lnTo>
                <a:lnTo>
                  <a:pt x="1524" y="38100"/>
                </a:lnTo>
                <a:lnTo>
                  <a:pt x="2286" y="38862"/>
                </a:lnTo>
                <a:lnTo>
                  <a:pt x="4572" y="42672"/>
                </a:lnTo>
                <a:close/>
              </a:path>
              <a:path w="56515" h="55880">
                <a:moveTo>
                  <a:pt x="8382" y="47244"/>
                </a:moveTo>
                <a:lnTo>
                  <a:pt x="8381" y="8382"/>
                </a:lnTo>
                <a:lnTo>
                  <a:pt x="7619" y="8382"/>
                </a:lnTo>
                <a:lnTo>
                  <a:pt x="4571" y="11430"/>
                </a:lnTo>
                <a:lnTo>
                  <a:pt x="4572" y="43434"/>
                </a:lnTo>
                <a:lnTo>
                  <a:pt x="7620" y="47244"/>
                </a:lnTo>
                <a:lnTo>
                  <a:pt x="8382" y="47244"/>
                </a:lnTo>
                <a:close/>
              </a:path>
              <a:path w="56515" h="55880">
                <a:moveTo>
                  <a:pt x="51816" y="43434"/>
                </a:moveTo>
                <a:lnTo>
                  <a:pt x="51816" y="11430"/>
                </a:lnTo>
                <a:lnTo>
                  <a:pt x="48006" y="7620"/>
                </a:lnTo>
                <a:lnTo>
                  <a:pt x="44196" y="4572"/>
                </a:lnTo>
                <a:lnTo>
                  <a:pt x="43434" y="4572"/>
                </a:lnTo>
                <a:lnTo>
                  <a:pt x="39624" y="2286"/>
                </a:lnTo>
                <a:lnTo>
                  <a:pt x="38862" y="1524"/>
                </a:lnTo>
                <a:lnTo>
                  <a:pt x="34290" y="762"/>
                </a:lnTo>
                <a:lnTo>
                  <a:pt x="33528" y="0"/>
                </a:lnTo>
                <a:lnTo>
                  <a:pt x="22859" y="0"/>
                </a:lnTo>
                <a:lnTo>
                  <a:pt x="22097" y="762"/>
                </a:lnTo>
                <a:lnTo>
                  <a:pt x="17525" y="1524"/>
                </a:lnTo>
                <a:lnTo>
                  <a:pt x="16763" y="2286"/>
                </a:lnTo>
                <a:lnTo>
                  <a:pt x="12953" y="4572"/>
                </a:lnTo>
                <a:lnTo>
                  <a:pt x="12191" y="4572"/>
                </a:lnTo>
                <a:lnTo>
                  <a:pt x="8381" y="7620"/>
                </a:lnTo>
                <a:lnTo>
                  <a:pt x="8382" y="48006"/>
                </a:lnTo>
                <a:lnTo>
                  <a:pt x="9144" y="48615"/>
                </a:lnTo>
                <a:lnTo>
                  <a:pt x="9144" y="27432"/>
                </a:lnTo>
                <a:lnTo>
                  <a:pt x="9207" y="27813"/>
                </a:lnTo>
                <a:lnTo>
                  <a:pt x="9906" y="23622"/>
                </a:lnTo>
                <a:lnTo>
                  <a:pt x="9906" y="24384"/>
                </a:lnTo>
                <a:lnTo>
                  <a:pt x="10668" y="19812"/>
                </a:lnTo>
                <a:lnTo>
                  <a:pt x="10668" y="21336"/>
                </a:lnTo>
                <a:lnTo>
                  <a:pt x="12192" y="18288"/>
                </a:lnTo>
                <a:lnTo>
                  <a:pt x="12192" y="17526"/>
                </a:lnTo>
                <a:lnTo>
                  <a:pt x="15240" y="14478"/>
                </a:lnTo>
                <a:lnTo>
                  <a:pt x="15240" y="14630"/>
                </a:lnTo>
                <a:lnTo>
                  <a:pt x="18288" y="12192"/>
                </a:lnTo>
                <a:lnTo>
                  <a:pt x="18288" y="12496"/>
                </a:lnTo>
                <a:lnTo>
                  <a:pt x="20574" y="11125"/>
                </a:lnTo>
                <a:lnTo>
                  <a:pt x="20574" y="10668"/>
                </a:lnTo>
                <a:lnTo>
                  <a:pt x="23622" y="10160"/>
                </a:lnTo>
                <a:lnTo>
                  <a:pt x="23622" y="9906"/>
                </a:lnTo>
                <a:lnTo>
                  <a:pt x="27432" y="9361"/>
                </a:lnTo>
                <a:lnTo>
                  <a:pt x="27432" y="9144"/>
                </a:lnTo>
                <a:lnTo>
                  <a:pt x="28956" y="9144"/>
                </a:lnTo>
                <a:lnTo>
                  <a:pt x="28956" y="9361"/>
                </a:lnTo>
                <a:lnTo>
                  <a:pt x="32766" y="9906"/>
                </a:lnTo>
                <a:lnTo>
                  <a:pt x="32766" y="10058"/>
                </a:lnTo>
                <a:lnTo>
                  <a:pt x="35814" y="10668"/>
                </a:lnTo>
                <a:lnTo>
                  <a:pt x="35814" y="11125"/>
                </a:lnTo>
                <a:lnTo>
                  <a:pt x="38862" y="12954"/>
                </a:lnTo>
                <a:lnTo>
                  <a:pt x="38862" y="12192"/>
                </a:lnTo>
                <a:lnTo>
                  <a:pt x="44196" y="17526"/>
                </a:lnTo>
                <a:lnTo>
                  <a:pt x="44196" y="18288"/>
                </a:lnTo>
                <a:lnTo>
                  <a:pt x="45720" y="21336"/>
                </a:lnTo>
                <a:lnTo>
                  <a:pt x="45720" y="19812"/>
                </a:lnTo>
                <a:lnTo>
                  <a:pt x="47244" y="24384"/>
                </a:lnTo>
                <a:lnTo>
                  <a:pt x="47244" y="48615"/>
                </a:lnTo>
                <a:lnTo>
                  <a:pt x="48006" y="48006"/>
                </a:lnTo>
                <a:lnTo>
                  <a:pt x="48768" y="47244"/>
                </a:lnTo>
                <a:lnTo>
                  <a:pt x="51816" y="43434"/>
                </a:lnTo>
                <a:close/>
              </a:path>
              <a:path w="56515" h="55880">
                <a:moveTo>
                  <a:pt x="9207" y="27813"/>
                </a:moveTo>
                <a:lnTo>
                  <a:pt x="9144" y="27432"/>
                </a:lnTo>
                <a:lnTo>
                  <a:pt x="9144" y="28194"/>
                </a:lnTo>
                <a:lnTo>
                  <a:pt x="9207" y="27813"/>
                </a:lnTo>
                <a:close/>
              </a:path>
              <a:path w="56515" h="55880">
                <a:moveTo>
                  <a:pt x="12954" y="38100"/>
                </a:moveTo>
                <a:lnTo>
                  <a:pt x="10668" y="34290"/>
                </a:lnTo>
                <a:lnTo>
                  <a:pt x="10668" y="35052"/>
                </a:lnTo>
                <a:lnTo>
                  <a:pt x="9906" y="31242"/>
                </a:lnTo>
                <a:lnTo>
                  <a:pt x="9906" y="32004"/>
                </a:lnTo>
                <a:lnTo>
                  <a:pt x="9207" y="27813"/>
                </a:lnTo>
                <a:lnTo>
                  <a:pt x="9144" y="28194"/>
                </a:lnTo>
                <a:lnTo>
                  <a:pt x="9144" y="48615"/>
                </a:lnTo>
                <a:lnTo>
                  <a:pt x="12192" y="51054"/>
                </a:lnTo>
                <a:lnTo>
                  <a:pt x="12192" y="37338"/>
                </a:lnTo>
                <a:lnTo>
                  <a:pt x="12954" y="38100"/>
                </a:lnTo>
                <a:close/>
              </a:path>
              <a:path w="56515" h="55880">
                <a:moveTo>
                  <a:pt x="12954" y="16764"/>
                </a:moveTo>
                <a:lnTo>
                  <a:pt x="12192" y="17526"/>
                </a:lnTo>
                <a:lnTo>
                  <a:pt x="12192" y="18288"/>
                </a:lnTo>
                <a:lnTo>
                  <a:pt x="12954" y="16764"/>
                </a:lnTo>
                <a:close/>
              </a:path>
              <a:path w="56515" h="55880">
                <a:moveTo>
                  <a:pt x="14901" y="40724"/>
                </a:moveTo>
                <a:lnTo>
                  <a:pt x="12192" y="37338"/>
                </a:lnTo>
                <a:lnTo>
                  <a:pt x="12192" y="51054"/>
                </a:lnTo>
                <a:lnTo>
                  <a:pt x="12954" y="51054"/>
                </a:lnTo>
                <a:lnTo>
                  <a:pt x="14477" y="51968"/>
                </a:lnTo>
                <a:lnTo>
                  <a:pt x="14477" y="40386"/>
                </a:lnTo>
                <a:lnTo>
                  <a:pt x="14901" y="40724"/>
                </a:lnTo>
                <a:close/>
              </a:path>
              <a:path w="56515" h="55880">
                <a:moveTo>
                  <a:pt x="15240" y="14630"/>
                </a:moveTo>
                <a:lnTo>
                  <a:pt x="15240" y="14478"/>
                </a:lnTo>
                <a:lnTo>
                  <a:pt x="14477" y="15240"/>
                </a:lnTo>
                <a:lnTo>
                  <a:pt x="15240" y="14630"/>
                </a:lnTo>
                <a:close/>
              </a:path>
              <a:path w="56515" h="55880">
                <a:moveTo>
                  <a:pt x="15240" y="41148"/>
                </a:moveTo>
                <a:lnTo>
                  <a:pt x="14901" y="40724"/>
                </a:lnTo>
                <a:lnTo>
                  <a:pt x="14477" y="40386"/>
                </a:lnTo>
                <a:lnTo>
                  <a:pt x="15240" y="41148"/>
                </a:lnTo>
                <a:close/>
              </a:path>
              <a:path w="56515" h="55880">
                <a:moveTo>
                  <a:pt x="15240" y="52425"/>
                </a:moveTo>
                <a:lnTo>
                  <a:pt x="15240" y="41148"/>
                </a:lnTo>
                <a:lnTo>
                  <a:pt x="14477" y="40386"/>
                </a:lnTo>
                <a:lnTo>
                  <a:pt x="14477" y="51968"/>
                </a:lnTo>
                <a:lnTo>
                  <a:pt x="15240" y="52425"/>
                </a:lnTo>
                <a:close/>
              </a:path>
              <a:path w="56515" h="55880">
                <a:moveTo>
                  <a:pt x="18288" y="53594"/>
                </a:moveTo>
                <a:lnTo>
                  <a:pt x="18288" y="43434"/>
                </a:lnTo>
                <a:lnTo>
                  <a:pt x="14901" y="40724"/>
                </a:lnTo>
                <a:lnTo>
                  <a:pt x="15240" y="41148"/>
                </a:lnTo>
                <a:lnTo>
                  <a:pt x="15240" y="52425"/>
                </a:lnTo>
                <a:lnTo>
                  <a:pt x="16764" y="53340"/>
                </a:lnTo>
                <a:lnTo>
                  <a:pt x="17526" y="53340"/>
                </a:lnTo>
                <a:lnTo>
                  <a:pt x="18288" y="53594"/>
                </a:lnTo>
                <a:close/>
              </a:path>
              <a:path w="56515" h="55880">
                <a:moveTo>
                  <a:pt x="18288" y="12496"/>
                </a:moveTo>
                <a:lnTo>
                  <a:pt x="18288" y="12192"/>
                </a:lnTo>
                <a:lnTo>
                  <a:pt x="17526" y="12954"/>
                </a:lnTo>
                <a:lnTo>
                  <a:pt x="18288" y="12496"/>
                </a:lnTo>
                <a:close/>
              </a:path>
              <a:path w="56515" h="55880">
                <a:moveTo>
                  <a:pt x="21336" y="54610"/>
                </a:moveTo>
                <a:lnTo>
                  <a:pt x="21336" y="44958"/>
                </a:lnTo>
                <a:lnTo>
                  <a:pt x="17526" y="42672"/>
                </a:lnTo>
                <a:lnTo>
                  <a:pt x="18288" y="43434"/>
                </a:lnTo>
                <a:lnTo>
                  <a:pt x="18288" y="53594"/>
                </a:lnTo>
                <a:lnTo>
                  <a:pt x="21336" y="54610"/>
                </a:lnTo>
                <a:close/>
              </a:path>
              <a:path w="56515" h="55880">
                <a:moveTo>
                  <a:pt x="21336" y="10668"/>
                </a:moveTo>
                <a:lnTo>
                  <a:pt x="20574" y="10668"/>
                </a:lnTo>
                <a:lnTo>
                  <a:pt x="20574" y="11125"/>
                </a:lnTo>
                <a:lnTo>
                  <a:pt x="21336" y="10668"/>
                </a:lnTo>
                <a:close/>
              </a:path>
              <a:path w="56515" h="55880">
                <a:moveTo>
                  <a:pt x="25146" y="45720"/>
                </a:moveTo>
                <a:lnTo>
                  <a:pt x="20574" y="44196"/>
                </a:lnTo>
                <a:lnTo>
                  <a:pt x="21336" y="44958"/>
                </a:lnTo>
                <a:lnTo>
                  <a:pt x="21336" y="54610"/>
                </a:lnTo>
                <a:lnTo>
                  <a:pt x="22098" y="54864"/>
                </a:lnTo>
                <a:lnTo>
                  <a:pt x="23622" y="54991"/>
                </a:lnTo>
                <a:lnTo>
                  <a:pt x="23622" y="45720"/>
                </a:lnTo>
                <a:lnTo>
                  <a:pt x="25146" y="45720"/>
                </a:lnTo>
                <a:close/>
              </a:path>
              <a:path w="56515" h="55880">
                <a:moveTo>
                  <a:pt x="25146" y="9906"/>
                </a:moveTo>
                <a:lnTo>
                  <a:pt x="23622" y="9906"/>
                </a:lnTo>
                <a:lnTo>
                  <a:pt x="23622" y="10160"/>
                </a:lnTo>
                <a:lnTo>
                  <a:pt x="25146" y="9906"/>
                </a:lnTo>
                <a:close/>
              </a:path>
              <a:path w="56515" h="55880">
                <a:moveTo>
                  <a:pt x="28956" y="55626"/>
                </a:moveTo>
                <a:lnTo>
                  <a:pt x="28956" y="46482"/>
                </a:lnTo>
                <a:lnTo>
                  <a:pt x="27432" y="46482"/>
                </a:lnTo>
                <a:lnTo>
                  <a:pt x="27432" y="46264"/>
                </a:lnTo>
                <a:lnTo>
                  <a:pt x="23622" y="45720"/>
                </a:lnTo>
                <a:lnTo>
                  <a:pt x="23622" y="54991"/>
                </a:lnTo>
                <a:lnTo>
                  <a:pt x="27432" y="55626"/>
                </a:lnTo>
                <a:lnTo>
                  <a:pt x="27432" y="46482"/>
                </a:lnTo>
                <a:lnTo>
                  <a:pt x="28194" y="46373"/>
                </a:lnTo>
                <a:lnTo>
                  <a:pt x="28194" y="55626"/>
                </a:lnTo>
                <a:lnTo>
                  <a:pt x="28956" y="55626"/>
                </a:lnTo>
                <a:close/>
              </a:path>
              <a:path w="56515" h="55880">
                <a:moveTo>
                  <a:pt x="28194" y="9252"/>
                </a:moveTo>
                <a:lnTo>
                  <a:pt x="27432" y="9144"/>
                </a:lnTo>
                <a:lnTo>
                  <a:pt x="27432" y="9361"/>
                </a:lnTo>
                <a:lnTo>
                  <a:pt x="28194" y="9252"/>
                </a:lnTo>
                <a:close/>
              </a:path>
              <a:path w="56515" h="55880">
                <a:moveTo>
                  <a:pt x="28956" y="9361"/>
                </a:moveTo>
                <a:lnTo>
                  <a:pt x="28956" y="9144"/>
                </a:lnTo>
                <a:lnTo>
                  <a:pt x="28194" y="9252"/>
                </a:lnTo>
                <a:lnTo>
                  <a:pt x="28956" y="9361"/>
                </a:lnTo>
                <a:close/>
              </a:path>
              <a:path w="56515" h="55880">
                <a:moveTo>
                  <a:pt x="32766" y="54991"/>
                </a:moveTo>
                <a:lnTo>
                  <a:pt x="32766" y="45720"/>
                </a:lnTo>
                <a:lnTo>
                  <a:pt x="28194" y="46373"/>
                </a:lnTo>
                <a:lnTo>
                  <a:pt x="28956" y="46482"/>
                </a:lnTo>
                <a:lnTo>
                  <a:pt x="28956" y="55626"/>
                </a:lnTo>
                <a:lnTo>
                  <a:pt x="32766" y="54991"/>
                </a:lnTo>
                <a:close/>
              </a:path>
              <a:path w="56515" h="55880">
                <a:moveTo>
                  <a:pt x="32766" y="10058"/>
                </a:moveTo>
                <a:lnTo>
                  <a:pt x="32766" y="9906"/>
                </a:lnTo>
                <a:lnTo>
                  <a:pt x="32004" y="9906"/>
                </a:lnTo>
                <a:lnTo>
                  <a:pt x="32766" y="10058"/>
                </a:lnTo>
                <a:close/>
              </a:path>
              <a:path w="56515" h="55880">
                <a:moveTo>
                  <a:pt x="35814" y="44196"/>
                </a:moveTo>
                <a:lnTo>
                  <a:pt x="32004" y="45720"/>
                </a:lnTo>
                <a:lnTo>
                  <a:pt x="32766" y="45720"/>
                </a:lnTo>
                <a:lnTo>
                  <a:pt x="32766" y="54991"/>
                </a:lnTo>
                <a:lnTo>
                  <a:pt x="33528" y="54864"/>
                </a:lnTo>
                <a:lnTo>
                  <a:pt x="34290" y="54864"/>
                </a:lnTo>
                <a:lnTo>
                  <a:pt x="35052" y="54610"/>
                </a:lnTo>
                <a:lnTo>
                  <a:pt x="35052" y="44958"/>
                </a:lnTo>
                <a:lnTo>
                  <a:pt x="35814" y="44196"/>
                </a:lnTo>
                <a:close/>
              </a:path>
              <a:path w="56515" h="55880">
                <a:moveTo>
                  <a:pt x="35814" y="11125"/>
                </a:moveTo>
                <a:lnTo>
                  <a:pt x="35814" y="10668"/>
                </a:lnTo>
                <a:lnTo>
                  <a:pt x="35052" y="10668"/>
                </a:lnTo>
                <a:lnTo>
                  <a:pt x="35814" y="11125"/>
                </a:lnTo>
                <a:close/>
              </a:path>
              <a:path w="56515" h="55880">
                <a:moveTo>
                  <a:pt x="41910" y="51968"/>
                </a:moveTo>
                <a:lnTo>
                  <a:pt x="41910" y="40386"/>
                </a:lnTo>
                <a:lnTo>
                  <a:pt x="38862" y="43434"/>
                </a:lnTo>
                <a:lnTo>
                  <a:pt x="38862" y="42672"/>
                </a:lnTo>
                <a:lnTo>
                  <a:pt x="35052" y="44958"/>
                </a:lnTo>
                <a:lnTo>
                  <a:pt x="35052" y="54610"/>
                </a:lnTo>
                <a:lnTo>
                  <a:pt x="38862" y="53340"/>
                </a:lnTo>
                <a:lnTo>
                  <a:pt x="39624" y="53340"/>
                </a:lnTo>
                <a:lnTo>
                  <a:pt x="41910" y="51968"/>
                </a:lnTo>
                <a:close/>
              </a:path>
              <a:path w="56515" h="55880">
                <a:moveTo>
                  <a:pt x="44196" y="51054"/>
                </a:moveTo>
                <a:lnTo>
                  <a:pt x="44196" y="37338"/>
                </a:lnTo>
                <a:lnTo>
                  <a:pt x="41148" y="41148"/>
                </a:lnTo>
                <a:lnTo>
                  <a:pt x="41910" y="40386"/>
                </a:lnTo>
                <a:lnTo>
                  <a:pt x="41910" y="51968"/>
                </a:lnTo>
                <a:lnTo>
                  <a:pt x="43434" y="51054"/>
                </a:lnTo>
                <a:lnTo>
                  <a:pt x="44196" y="51054"/>
                </a:lnTo>
                <a:close/>
              </a:path>
              <a:path w="56515" h="55880">
                <a:moveTo>
                  <a:pt x="44196" y="18288"/>
                </a:moveTo>
                <a:lnTo>
                  <a:pt x="44196" y="17526"/>
                </a:lnTo>
                <a:lnTo>
                  <a:pt x="43434" y="16764"/>
                </a:lnTo>
                <a:lnTo>
                  <a:pt x="44196" y="18288"/>
                </a:lnTo>
                <a:close/>
              </a:path>
              <a:path w="56515" h="55880">
                <a:moveTo>
                  <a:pt x="47244" y="48615"/>
                </a:moveTo>
                <a:lnTo>
                  <a:pt x="47244" y="31242"/>
                </a:lnTo>
                <a:lnTo>
                  <a:pt x="45720" y="35052"/>
                </a:lnTo>
                <a:lnTo>
                  <a:pt x="45720" y="34290"/>
                </a:lnTo>
                <a:lnTo>
                  <a:pt x="43434" y="38100"/>
                </a:lnTo>
                <a:lnTo>
                  <a:pt x="44196" y="37338"/>
                </a:lnTo>
                <a:lnTo>
                  <a:pt x="44196" y="51054"/>
                </a:lnTo>
                <a:lnTo>
                  <a:pt x="47244" y="48615"/>
                </a:lnTo>
                <a:close/>
              </a:path>
              <a:path w="56515" h="55880">
                <a:moveTo>
                  <a:pt x="47244" y="27432"/>
                </a:moveTo>
                <a:lnTo>
                  <a:pt x="47244" y="24384"/>
                </a:lnTo>
                <a:lnTo>
                  <a:pt x="46482" y="23622"/>
                </a:lnTo>
                <a:lnTo>
                  <a:pt x="47180" y="27813"/>
                </a:lnTo>
                <a:lnTo>
                  <a:pt x="47244" y="27432"/>
                </a:lnTo>
                <a:close/>
              </a:path>
              <a:path w="56515" h="55880">
                <a:moveTo>
                  <a:pt x="47244" y="31242"/>
                </a:moveTo>
                <a:lnTo>
                  <a:pt x="47244" y="28194"/>
                </a:lnTo>
                <a:lnTo>
                  <a:pt x="47180" y="27813"/>
                </a:lnTo>
                <a:lnTo>
                  <a:pt x="46482" y="32004"/>
                </a:lnTo>
                <a:lnTo>
                  <a:pt x="47244" y="31242"/>
                </a:lnTo>
                <a:close/>
              </a:path>
              <a:path w="56515" h="55880">
                <a:moveTo>
                  <a:pt x="47244" y="28194"/>
                </a:moveTo>
                <a:lnTo>
                  <a:pt x="47244" y="27432"/>
                </a:lnTo>
                <a:lnTo>
                  <a:pt x="47180" y="27813"/>
                </a:lnTo>
                <a:lnTo>
                  <a:pt x="47244" y="28194"/>
                </a:lnTo>
                <a:close/>
              </a:path>
              <a:path w="56515" h="55880">
                <a:moveTo>
                  <a:pt x="54864" y="38862"/>
                </a:moveTo>
                <a:lnTo>
                  <a:pt x="54864" y="16764"/>
                </a:lnTo>
                <a:lnTo>
                  <a:pt x="54102" y="16764"/>
                </a:lnTo>
                <a:lnTo>
                  <a:pt x="54102" y="16002"/>
                </a:lnTo>
                <a:lnTo>
                  <a:pt x="51816" y="12192"/>
                </a:lnTo>
                <a:lnTo>
                  <a:pt x="51816" y="42672"/>
                </a:lnTo>
                <a:lnTo>
                  <a:pt x="54102" y="38862"/>
                </a:lnTo>
                <a:lnTo>
                  <a:pt x="54864" y="38862"/>
                </a:lnTo>
                <a:close/>
              </a:path>
              <a:path w="56515" h="55880">
                <a:moveTo>
                  <a:pt x="56388" y="33528"/>
                </a:moveTo>
                <a:lnTo>
                  <a:pt x="56388" y="21336"/>
                </a:lnTo>
                <a:lnTo>
                  <a:pt x="54864" y="17526"/>
                </a:lnTo>
                <a:lnTo>
                  <a:pt x="54864" y="38100"/>
                </a:lnTo>
                <a:lnTo>
                  <a:pt x="56388" y="33528"/>
                </a:lnTo>
                <a:close/>
              </a:path>
            </a:pathLst>
          </a:custGeom>
          <a:solidFill>
            <a:srgbClr val="808080"/>
          </a:solidFill>
        </p:spPr>
        <p:txBody>
          <a:bodyPr wrap="square" lIns="0" tIns="0" rIns="0" bIns="0" rtlCol="0"/>
          <a:lstStyle/>
          <a:p>
            <a:endParaRPr/>
          </a:p>
        </p:txBody>
      </p:sp>
      <p:sp>
        <p:nvSpPr>
          <p:cNvPr id="63" name="object 63"/>
          <p:cNvSpPr/>
          <p:nvPr/>
        </p:nvSpPr>
        <p:spPr>
          <a:xfrm>
            <a:off x="6745223" y="2281427"/>
            <a:ext cx="468629" cy="342900"/>
          </a:xfrm>
          <a:prstGeom prst="rect">
            <a:avLst/>
          </a:prstGeom>
          <a:blipFill>
            <a:blip r:embed="rId9" cstate="print"/>
            <a:stretch>
              <a:fillRect/>
            </a:stretch>
          </a:blipFill>
        </p:spPr>
        <p:txBody>
          <a:bodyPr wrap="square" lIns="0" tIns="0" rIns="0" bIns="0" rtlCol="0"/>
          <a:lstStyle/>
          <a:p>
            <a:endParaRPr/>
          </a:p>
        </p:txBody>
      </p:sp>
      <p:sp>
        <p:nvSpPr>
          <p:cNvPr id="64" name="object 64"/>
          <p:cNvSpPr/>
          <p:nvPr/>
        </p:nvSpPr>
        <p:spPr>
          <a:xfrm>
            <a:off x="6979158" y="2837688"/>
            <a:ext cx="158115" cy="104139"/>
          </a:xfrm>
          <a:custGeom>
            <a:avLst/>
            <a:gdLst/>
            <a:ahLst/>
            <a:cxnLst/>
            <a:rect l="l" t="t" r="r" b="b"/>
            <a:pathLst>
              <a:path w="158115" h="104139">
                <a:moveTo>
                  <a:pt x="157733" y="95249"/>
                </a:moveTo>
                <a:lnTo>
                  <a:pt x="5333" y="0"/>
                </a:lnTo>
                <a:lnTo>
                  <a:pt x="0" y="8382"/>
                </a:lnTo>
                <a:lnTo>
                  <a:pt x="152399" y="103632"/>
                </a:lnTo>
                <a:lnTo>
                  <a:pt x="157733" y="95249"/>
                </a:lnTo>
                <a:close/>
              </a:path>
            </a:pathLst>
          </a:custGeom>
          <a:solidFill>
            <a:srgbClr val="969696"/>
          </a:solidFill>
        </p:spPr>
        <p:txBody>
          <a:bodyPr wrap="square" lIns="0" tIns="0" rIns="0" bIns="0" rtlCol="0"/>
          <a:lstStyle/>
          <a:p>
            <a:endParaRPr/>
          </a:p>
        </p:txBody>
      </p:sp>
      <p:sp>
        <p:nvSpPr>
          <p:cNvPr id="65" name="object 65"/>
          <p:cNvSpPr/>
          <p:nvPr/>
        </p:nvSpPr>
        <p:spPr>
          <a:xfrm>
            <a:off x="7046976" y="3000755"/>
            <a:ext cx="387096" cy="95250"/>
          </a:xfrm>
          <a:prstGeom prst="rect">
            <a:avLst/>
          </a:prstGeom>
          <a:blipFill>
            <a:blip r:embed="rId10" cstate="print"/>
            <a:stretch>
              <a:fillRect/>
            </a:stretch>
          </a:blipFill>
        </p:spPr>
        <p:txBody>
          <a:bodyPr wrap="square" lIns="0" tIns="0" rIns="0" bIns="0" rtlCol="0"/>
          <a:lstStyle/>
          <a:p>
            <a:endParaRPr/>
          </a:p>
        </p:txBody>
      </p:sp>
      <p:sp>
        <p:nvSpPr>
          <p:cNvPr id="66" name="object 66"/>
          <p:cNvSpPr/>
          <p:nvPr/>
        </p:nvSpPr>
        <p:spPr>
          <a:xfrm>
            <a:off x="7042403" y="2990850"/>
            <a:ext cx="397001" cy="109282"/>
          </a:xfrm>
          <a:prstGeom prst="rect">
            <a:avLst/>
          </a:prstGeom>
          <a:blipFill>
            <a:blip r:embed="rId11" cstate="print"/>
            <a:stretch>
              <a:fillRect/>
            </a:stretch>
          </a:blipFill>
        </p:spPr>
        <p:txBody>
          <a:bodyPr wrap="square" lIns="0" tIns="0" rIns="0" bIns="0" rtlCol="0"/>
          <a:lstStyle/>
          <a:p>
            <a:endParaRPr/>
          </a:p>
        </p:txBody>
      </p:sp>
      <p:sp>
        <p:nvSpPr>
          <p:cNvPr id="67" name="object 67"/>
          <p:cNvSpPr/>
          <p:nvPr/>
        </p:nvSpPr>
        <p:spPr>
          <a:xfrm>
            <a:off x="7045451" y="2926079"/>
            <a:ext cx="387096" cy="111251"/>
          </a:xfrm>
          <a:prstGeom prst="rect">
            <a:avLst/>
          </a:prstGeom>
          <a:blipFill>
            <a:blip r:embed="rId12" cstate="print"/>
            <a:stretch>
              <a:fillRect/>
            </a:stretch>
          </a:blipFill>
        </p:spPr>
        <p:txBody>
          <a:bodyPr wrap="square" lIns="0" tIns="0" rIns="0" bIns="0" rtlCol="0"/>
          <a:lstStyle/>
          <a:p>
            <a:endParaRPr/>
          </a:p>
        </p:txBody>
      </p:sp>
      <p:sp>
        <p:nvSpPr>
          <p:cNvPr id="68" name="object 68"/>
          <p:cNvSpPr/>
          <p:nvPr/>
        </p:nvSpPr>
        <p:spPr>
          <a:xfrm>
            <a:off x="7040879" y="2921999"/>
            <a:ext cx="397510" cy="120014"/>
          </a:xfrm>
          <a:custGeom>
            <a:avLst/>
            <a:gdLst/>
            <a:ahLst/>
            <a:cxnLst/>
            <a:rect l="l" t="t" r="r" b="b"/>
            <a:pathLst>
              <a:path w="397509" h="120014">
                <a:moveTo>
                  <a:pt x="762" y="66564"/>
                </a:moveTo>
                <a:lnTo>
                  <a:pt x="761" y="52848"/>
                </a:lnTo>
                <a:lnTo>
                  <a:pt x="0" y="55896"/>
                </a:lnTo>
                <a:lnTo>
                  <a:pt x="0" y="63516"/>
                </a:lnTo>
                <a:lnTo>
                  <a:pt x="762" y="66564"/>
                </a:lnTo>
                <a:close/>
              </a:path>
              <a:path w="397509" h="120014">
                <a:moveTo>
                  <a:pt x="395478" y="67326"/>
                </a:moveTo>
                <a:lnTo>
                  <a:pt x="395478" y="52086"/>
                </a:lnTo>
                <a:lnTo>
                  <a:pt x="393954" y="49038"/>
                </a:lnTo>
                <a:lnTo>
                  <a:pt x="328473" y="13571"/>
                </a:lnTo>
                <a:lnTo>
                  <a:pt x="280085" y="4506"/>
                </a:lnTo>
                <a:lnTo>
                  <a:pt x="227102" y="86"/>
                </a:lnTo>
                <a:lnTo>
                  <a:pt x="169562" y="0"/>
                </a:lnTo>
                <a:lnTo>
                  <a:pt x="115358" y="4594"/>
                </a:lnTo>
                <a:lnTo>
                  <a:pt x="67147" y="13778"/>
                </a:lnTo>
                <a:lnTo>
                  <a:pt x="28897" y="27571"/>
                </a:lnTo>
                <a:lnTo>
                  <a:pt x="4571" y="45990"/>
                </a:lnTo>
                <a:lnTo>
                  <a:pt x="3047" y="49038"/>
                </a:lnTo>
                <a:lnTo>
                  <a:pt x="2285" y="49038"/>
                </a:lnTo>
                <a:lnTo>
                  <a:pt x="761" y="52086"/>
                </a:lnTo>
                <a:lnTo>
                  <a:pt x="762" y="67326"/>
                </a:lnTo>
                <a:lnTo>
                  <a:pt x="2286" y="70374"/>
                </a:lnTo>
                <a:lnTo>
                  <a:pt x="3048" y="70374"/>
                </a:lnTo>
                <a:lnTo>
                  <a:pt x="4572" y="74184"/>
                </a:lnTo>
                <a:lnTo>
                  <a:pt x="9143" y="77510"/>
                </a:lnTo>
                <a:lnTo>
                  <a:pt x="9144" y="58182"/>
                </a:lnTo>
                <a:lnTo>
                  <a:pt x="9906" y="55134"/>
                </a:lnTo>
                <a:lnTo>
                  <a:pt x="9906" y="55896"/>
                </a:lnTo>
                <a:lnTo>
                  <a:pt x="10668" y="54372"/>
                </a:lnTo>
                <a:lnTo>
                  <a:pt x="10668" y="53610"/>
                </a:lnTo>
                <a:lnTo>
                  <a:pt x="12192" y="51324"/>
                </a:lnTo>
                <a:lnTo>
                  <a:pt x="40088" y="32832"/>
                </a:lnTo>
                <a:lnTo>
                  <a:pt x="83983" y="19640"/>
                </a:lnTo>
                <a:lnTo>
                  <a:pt x="138532" y="11740"/>
                </a:lnTo>
                <a:lnTo>
                  <a:pt x="198391" y="9124"/>
                </a:lnTo>
                <a:lnTo>
                  <a:pt x="258216" y="11782"/>
                </a:lnTo>
                <a:lnTo>
                  <a:pt x="312663" y="19708"/>
                </a:lnTo>
                <a:lnTo>
                  <a:pt x="356388" y="32891"/>
                </a:lnTo>
                <a:lnTo>
                  <a:pt x="384048" y="51324"/>
                </a:lnTo>
                <a:lnTo>
                  <a:pt x="385572" y="53610"/>
                </a:lnTo>
                <a:lnTo>
                  <a:pt x="385572" y="52848"/>
                </a:lnTo>
                <a:lnTo>
                  <a:pt x="386334" y="55896"/>
                </a:lnTo>
                <a:lnTo>
                  <a:pt x="386334" y="55134"/>
                </a:lnTo>
                <a:lnTo>
                  <a:pt x="387096" y="58182"/>
                </a:lnTo>
                <a:lnTo>
                  <a:pt x="387096" y="76902"/>
                </a:lnTo>
                <a:lnTo>
                  <a:pt x="391668" y="73422"/>
                </a:lnTo>
                <a:lnTo>
                  <a:pt x="393954" y="70374"/>
                </a:lnTo>
                <a:lnTo>
                  <a:pt x="395478" y="67326"/>
                </a:lnTo>
                <a:close/>
              </a:path>
              <a:path w="397509" h="120014">
                <a:moveTo>
                  <a:pt x="11430" y="66564"/>
                </a:moveTo>
                <a:lnTo>
                  <a:pt x="9906" y="63516"/>
                </a:lnTo>
                <a:lnTo>
                  <a:pt x="9906" y="64278"/>
                </a:lnTo>
                <a:lnTo>
                  <a:pt x="9144" y="61230"/>
                </a:lnTo>
                <a:lnTo>
                  <a:pt x="9143" y="77510"/>
                </a:lnTo>
                <a:lnTo>
                  <a:pt x="10667" y="78619"/>
                </a:lnTo>
                <a:lnTo>
                  <a:pt x="10668" y="65802"/>
                </a:lnTo>
                <a:lnTo>
                  <a:pt x="11430" y="66564"/>
                </a:lnTo>
                <a:close/>
              </a:path>
              <a:path w="397509" h="120014">
                <a:moveTo>
                  <a:pt x="11430" y="52848"/>
                </a:moveTo>
                <a:lnTo>
                  <a:pt x="10668" y="53610"/>
                </a:lnTo>
                <a:lnTo>
                  <a:pt x="10668" y="54372"/>
                </a:lnTo>
                <a:lnTo>
                  <a:pt x="11430" y="52848"/>
                </a:lnTo>
                <a:close/>
              </a:path>
              <a:path w="397509" h="120014">
                <a:moveTo>
                  <a:pt x="387096" y="76902"/>
                </a:moveTo>
                <a:lnTo>
                  <a:pt x="387096" y="61230"/>
                </a:lnTo>
                <a:lnTo>
                  <a:pt x="386334" y="64278"/>
                </a:lnTo>
                <a:lnTo>
                  <a:pt x="386334" y="63516"/>
                </a:lnTo>
                <a:lnTo>
                  <a:pt x="385572" y="66564"/>
                </a:lnTo>
                <a:lnTo>
                  <a:pt x="385572" y="65802"/>
                </a:lnTo>
                <a:lnTo>
                  <a:pt x="384048" y="68088"/>
                </a:lnTo>
                <a:lnTo>
                  <a:pt x="356179" y="86560"/>
                </a:lnTo>
                <a:lnTo>
                  <a:pt x="312324" y="99746"/>
                </a:lnTo>
                <a:lnTo>
                  <a:pt x="257816" y="107649"/>
                </a:lnTo>
                <a:lnTo>
                  <a:pt x="197991" y="110274"/>
                </a:lnTo>
                <a:lnTo>
                  <a:pt x="138182" y="107627"/>
                </a:lnTo>
                <a:lnTo>
                  <a:pt x="83722" y="99710"/>
                </a:lnTo>
                <a:lnTo>
                  <a:pt x="39948" y="86529"/>
                </a:lnTo>
                <a:lnTo>
                  <a:pt x="12192" y="68088"/>
                </a:lnTo>
                <a:lnTo>
                  <a:pt x="10668" y="65802"/>
                </a:lnTo>
                <a:lnTo>
                  <a:pt x="10667" y="78619"/>
                </a:lnTo>
                <a:lnTo>
                  <a:pt x="68099" y="105864"/>
                </a:lnTo>
                <a:lnTo>
                  <a:pt x="116566" y="114923"/>
                </a:lnTo>
                <a:lnTo>
                  <a:pt x="169562" y="119332"/>
                </a:lnTo>
                <a:lnTo>
                  <a:pt x="227102" y="119407"/>
                </a:lnTo>
                <a:lnTo>
                  <a:pt x="281248" y="114802"/>
                </a:lnTo>
                <a:lnTo>
                  <a:pt x="329365" y="105612"/>
                </a:lnTo>
                <a:lnTo>
                  <a:pt x="367492" y="91824"/>
                </a:lnTo>
                <a:lnTo>
                  <a:pt x="387096" y="76902"/>
                </a:lnTo>
                <a:close/>
              </a:path>
              <a:path w="397509" h="120014">
                <a:moveTo>
                  <a:pt x="396240" y="63516"/>
                </a:moveTo>
                <a:lnTo>
                  <a:pt x="396240" y="55896"/>
                </a:lnTo>
                <a:lnTo>
                  <a:pt x="395478" y="52848"/>
                </a:lnTo>
                <a:lnTo>
                  <a:pt x="395478" y="66564"/>
                </a:lnTo>
                <a:lnTo>
                  <a:pt x="396240" y="63516"/>
                </a:lnTo>
                <a:close/>
              </a:path>
              <a:path w="397509" h="120014">
                <a:moveTo>
                  <a:pt x="397002" y="59706"/>
                </a:moveTo>
                <a:lnTo>
                  <a:pt x="396240" y="58944"/>
                </a:lnTo>
                <a:lnTo>
                  <a:pt x="396240" y="60468"/>
                </a:lnTo>
                <a:lnTo>
                  <a:pt x="397002" y="59706"/>
                </a:lnTo>
                <a:close/>
              </a:path>
            </a:pathLst>
          </a:custGeom>
          <a:solidFill>
            <a:srgbClr val="808080"/>
          </a:solidFill>
        </p:spPr>
        <p:txBody>
          <a:bodyPr wrap="square" lIns="0" tIns="0" rIns="0" bIns="0" rtlCol="0"/>
          <a:lstStyle/>
          <a:p>
            <a:endParaRPr/>
          </a:p>
        </p:txBody>
      </p:sp>
      <p:sp>
        <p:nvSpPr>
          <p:cNvPr id="69" name="object 69"/>
          <p:cNvSpPr/>
          <p:nvPr/>
        </p:nvSpPr>
        <p:spPr>
          <a:xfrm>
            <a:off x="7123176" y="2955035"/>
            <a:ext cx="218694" cy="51816"/>
          </a:xfrm>
          <a:prstGeom prst="rect">
            <a:avLst/>
          </a:prstGeom>
          <a:blipFill>
            <a:blip r:embed="rId13" cstate="print"/>
            <a:stretch>
              <a:fillRect/>
            </a:stretch>
          </a:blipFill>
        </p:spPr>
        <p:txBody>
          <a:bodyPr wrap="square" lIns="0" tIns="0" rIns="0" bIns="0" rtlCol="0"/>
          <a:lstStyle/>
          <a:p>
            <a:endParaRPr/>
          </a:p>
        </p:txBody>
      </p:sp>
      <p:sp>
        <p:nvSpPr>
          <p:cNvPr id="70" name="object 70"/>
          <p:cNvSpPr/>
          <p:nvPr/>
        </p:nvSpPr>
        <p:spPr>
          <a:xfrm>
            <a:off x="7123176" y="2948177"/>
            <a:ext cx="218694" cy="65531"/>
          </a:xfrm>
          <a:prstGeom prst="rect">
            <a:avLst/>
          </a:prstGeom>
          <a:blipFill>
            <a:blip r:embed="rId14" cstate="print"/>
            <a:stretch>
              <a:fillRect/>
            </a:stretch>
          </a:blipFill>
        </p:spPr>
        <p:txBody>
          <a:bodyPr wrap="square" lIns="0" tIns="0" rIns="0" bIns="0" rtlCol="0"/>
          <a:lstStyle/>
          <a:p>
            <a:endParaRPr/>
          </a:p>
        </p:txBody>
      </p:sp>
      <p:sp>
        <p:nvSpPr>
          <p:cNvPr id="71" name="object 71"/>
          <p:cNvSpPr/>
          <p:nvPr/>
        </p:nvSpPr>
        <p:spPr>
          <a:xfrm>
            <a:off x="7133081" y="2948177"/>
            <a:ext cx="199390" cy="66040"/>
          </a:xfrm>
          <a:custGeom>
            <a:avLst/>
            <a:gdLst/>
            <a:ahLst/>
            <a:cxnLst/>
            <a:rect l="l" t="t" r="r" b="b"/>
            <a:pathLst>
              <a:path w="199390" h="66039">
                <a:moveTo>
                  <a:pt x="137480" y="52577"/>
                </a:moveTo>
                <a:lnTo>
                  <a:pt x="71628" y="1523"/>
                </a:lnTo>
                <a:lnTo>
                  <a:pt x="70866" y="761"/>
                </a:lnTo>
                <a:lnTo>
                  <a:pt x="69342" y="0"/>
                </a:lnTo>
                <a:lnTo>
                  <a:pt x="0" y="0"/>
                </a:lnTo>
                <a:lnTo>
                  <a:pt x="0" y="12954"/>
                </a:lnTo>
                <a:lnTo>
                  <a:pt x="64008" y="12953"/>
                </a:lnTo>
                <a:lnTo>
                  <a:pt x="64008" y="11429"/>
                </a:lnTo>
                <a:lnTo>
                  <a:pt x="67818" y="12953"/>
                </a:lnTo>
                <a:lnTo>
                  <a:pt x="67818" y="14383"/>
                </a:lnTo>
                <a:lnTo>
                  <a:pt x="131826" y="64007"/>
                </a:lnTo>
                <a:lnTo>
                  <a:pt x="132588" y="64769"/>
                </a:lnTo>
                <a:lnTo>
                  <a:pt x="134112" y="65531"/>
                </a:lnTo>
                <a:lnTo>
                  <a:pt x="135636" y="65531"/>
                </a:lnTo>
                <a:lnTo>
                  <a:pt x="135636" y="52577"/>
                </a:lnTo>
                <a:lnTo>
                  <a:pt x="137480" y="52577"/>
                </a:lnTo>
                <a:close/>
              </a:path>
              <a:path w="199390" h="66039">
                <a:moveTo>
                  <a:pt x="67818" y="12953"/>
                </a:moveTo>
                <a:lnTo>
                  <a:pt x="64008" y="11429"/>
                </a:lnTo>
                <a:lnTo>
                  <a:pt x="65973" y="12953"/>
                </a:lnTo>
                <a:lnTo>
                  <a:pt x="67818" y="12953"/>
                </a:lnTo>
                <a:close/>
              </a:path>
              <a:path w="199390" h="66039">
                <a:moveTo>
                  <a:pt x="65973" y="12953"/>
                </a:moveTo>
                <a:lnTo>
                  <a:pt x="64008" y="11429"/>
                </a:lnTo>
                <a:lnTo>
                  <a:pt x="64008" y="12953"/>
                </a:lnTo>
                <a:lnTo>
                  <a:pt x="65973" y="12953"/>
                </a:lnTo>
                <a:close/>
              </a:path>
              <a:path w="199390" h="66039">
                <a:moveTo>
                  <a:pt x="67818" y="14383"/>
                </a:moveTo>
                <a:lnTo>
                  <a:pt x="67818" y="12953"/>
                </a:lnTo>
                <a:lnTo>
                  <a:pt x="65973" y="12953"/>
                </a:lnTo>
                <a:lnTo>
                  <a:pt x="67818" y="14383"/>
                </a:lnTo>
                <a:close/>
              </a:path>
              <a:path w="199390" h="66039">
                <a:moveTo>
                  <a:pt x="139446" y="54101"/>
                </a:moveTo>
                <a:lnTo>
                  <a:pt x="137480" y="52577"/>
                </a:lnTo>
                <a:lnTo>
                  <a:pt x="135636" y="52577"/>
                </a:lnTo>
                <a:lnTo>
                  <a:pt x="139446" y="54101"/>
                </a:lnTo>
                <a:close/>
              </a:path>
              <a:path w="199390" h="66039">
                <a:moveTo>
                  <a:pt x="139446" y="65531"/>
                </a:moveTo>
                <a:lnTo>
                  <a:pt x="139446" y="54101"/>
                </a:lnTo>
                <a:lnTo>
                  <a:pt x="135636" y="52577"/>
                </a:lnTo>
                <a:lnTo>
                  <a:pt x="135636" y="65531"/>
                </a:lnTo>
                <a:lnTo>
                  <a:pt x="139446" y="65531"/>
                </a:lnTo>
                <a:close/>
              </a:path>
              <a:path w="199390" h="66039">
                <a:moveTo>
                  <a:pt x="198882" y="65531"/>
                </a:moveTo>
                <a:lnTo>
                  <a:pt x="198882" y="52577"/>
                </a:lnTo>
                <a:lnTo>
                  <a:pt x="137480" y="52577"/>
                </a:lnTo>
                <a:lnTo>
                  <a:pt x="139446" y="54101"/>
                </a:lnTo>
                <a:lnTo>
                  <a:pt x="139446" y="65531"/>
                </a:lnTo>
                <a:lnTo>
                  <a:pt x="198882" y="65531"/>
                </a:lnTo>
                <a:close/>
              </a:path>
            </a:pathLst>
          </a:custGeom>
          <a:solidFill>
            <a:srgbClr val="808080"/>
          </a:solidFill>
        </p:spPr>
        <p:txBody>
          <a:bodyPr wrap="square" lIns="0" tIns="0" rIns="0" bIns="0" rtlCol="0"/>
          <a:lstStyle/>
          <a:p>
            <a:endParaRPr/>
          </a:p>
        </p:txBody>
      </p:sp>
      <p:sp>
        <p:nvSpPr>
          <p:cNvPr id="72" name="object 72"/>
          <p:cNvSpPr/>
          <p:nvPr/>
        </p:nvSpPr>
        <p:spPr>
          <a:xfrm>
            <a:off x="7896605" y="3006089"/>
            <a:ext cx="387096" cy="97536"/>
          </a:xfrm>
          <a:prstGeom prst="rect">
            <a:avLst/>
          </a:prstGeom>
          <a:blipFill>
            <a:blip r:embed="rId15" cstate="print"/>
            <a:stretch>
              <a:fillRect/>
            </a:stretch>
          </a:blipFill>
        </p:spPr>
        <p:txBody>
          <a:bodyPr wrap="square" lIns="0" tIns="0" rIns="0" bIns="0" rtlCol="0"/>
          <a:lstStyle/>
          <a:p>
            <a:endParaRPr/>
          </a:p>
        </p:txBody>
      </p:sp>
      <p:sp>
        <p:nvSpPr>
          <p:cNvPr id="73" name="object 73"/>
          <p:cNvSpPr/>
          <p:nvPr/>
        </p:nvSpPr>
        <p:spPr>
          <a:xfrm>
            <a:off x="7891272" y="2996183"/>
            <a:ext cx="397001" cy="112029"/>
          </a:xfrm>
          <a:prstGeom prst="rect">
            <a:avLst/>
          </a:prstGeom>
          <a:blipFill>
            <a:blip r:embed="rId16" cstate="print"/>
            <a:stretch>
              <a:fillRect/>
            </a:stretch>
          </a:blipFill>
        </p:spPr>
        <p:txBody>
          <a:bodyPr wrap="square" lIns="0" tIns="0" rIns="0" bIns="0" rtlCol="0"/>
          <a:lstStyle/>
          <a:p>
            <a:endParaRPr/>
          </a:p>
        </p:txBody>
      </p:sp>
      <p:sp>
        <p:nvSpPr>
          <p:cNvPr id="74" name="object 74"/>
          <p:cNvSpPr/>
          <p:nvPr/>
        </p:nvSpPr>
        <p:spPr>
          <a:xfrm>
            <a:off x="7894320" y="2929127"/>
            <a:ext cx="387857" cy="114300"/>
          </a:xfrm>
          <a:prstGeom prst="rect">
            <a:avLst/>
          </a:prstGeom>
          <a:blipFill>
            <a:blip r:embed="rId17" cstate="print"/>
            <a:stretch>
              <a:fillRect/>
            </a:stretch>
          </a:blipFill>
        </p:spPr>
        <p:txBody>
          <a:bodyPr wrap="square" lIns="0" tIns="0" rIns="0" bIns="0" rtlCol="0"/>
          <a:lstStyle/>
          <a:p>
            <a:endParaRPr/>
          </a:p>
        </p:txBody>
      </p:sp>
      <p:sp>
        <p:nvSpPr>
          <p:cNvPr id="75" name="object 75"/>
          <p:cNvSpPr/>
          <p:nvPr/>
        </p:nvSpPr>
        <p:spPr>
          <a:xfrm>
            <a:off x="7889748" y="2924555"/>
            <a:ext cx="397510" cy="123189"/>
          </a:xfrm>
          <a:custGeom>
            <a:avLst/>
            <a:gdLst/>
            <a:ahLst/>
            <a:cxnLst/>
            <a:rect l="l" t="t" r="r" b="b"/>
            <a:pathLst>
              <a:path w="397509" h="123189">
                <a:moveTo>
                  <a:pt x="762" y="65532"/>
                </a:moveTo>
                <a:lnTo>
                  <a:pt x="761" y="58674"/>
                </a:lnTo>
                <a:lnTo>
                  <a:pt x="0" y="61722"/>
                </a:lnTo>
                <a:lnTo>
                  <a:pt x="0" y="62484"/>
                </a:lnTo>
                <a:lnTo>
                  <a:pt x="762" y="65532"/>
                </a:lnTo>
                <a:close/>
              </a:path>
              <a:path w="397509" h="123189">
                <a:moveTo>
                  <a:pt x="1524" y="68580"/>
                </a:moveTo>
                <a:lnTo>
                  <a:pt x="1523" y="54864"/>
                </a:lnTo>
                <a:lnTo>
                  <a:pt x="761" y="57912"/>
                </a:lnTo>
                <a:lnTo>
                  <a:pt x="762" y="66294"/>
                </a:lnTo>
                <a:lnTo>
                  <a:pt x="1524" y="68580"/>
                </a:lnTo>
                <a:close/>
              </a:path>
              <a:path w="397509" h="123189">
                <a:moveTo>
                  <a:pt x="397002" y="66294"/>
                </a:moveTo>
                <a:lnTo>
                  <a:pt x="397002" y="57912"/>
                </a:lnTo>
                <a:lnTo>
                  <a:pt x="396240" y="54864"/>
                </a:lnTo>
                <a:lnTo>
                  <a:pt x="395478" y="54864"/>
                </a:lnTo>
                <a:lnTo>
                  <a:pt x="395478" y="54102"/>
                </a:lnTo>
                <a:lnTo>
                  <a:pt x="393954" y="51054"/>
                </a:lnTo>
                <a:lnTo>
                  <a:pt x="392430" y="47244"/>
                </a:lnTo>
                <a:lnTo>
                  <a:pt x="354660" y="22922"/>
                </a:lnTo>
                <a:lnTo>
                  <a:pt x="299413" y="8205"/>
                </a:lnTo>
                <a:lnTo>
                  <a:pt x="242288" y="1197"/>
                </a:lnTo>
                <a:lnTo>
                  <a:pt x="198882" y="0"/>
                </a:lnTo>
                <a:lnTo>
                  <a:pt x="178308" y="0"/>
                </a:lnTo>
                <a:lnTo>
                  <a:pt x="123337" y="4272"/>
                </a:lnTo>
                <a:lnTo>
                  <a:pt x="74499" y="13139"/>
                </a:lnTo>
                <a:lnTo>
                  <a:pt x="28607" y="29153"/>
                </a:lnTo>
                <a:lnTo>
                  <a:pt x="1523" y="54102"/>
                </a:lnTo>
                <a:lnTo>
                  <a:pt x="1524" y="69342"/>
                </a:lnTo>
                <a:lnTo>
                  <a:pt x="3048" y="73152"/>
                </a:lnTo>
                <a:lnTo>
                  <a:pt x="9905" y="79184"/>
                </a:lnTo>
                <a:lnTo>
                  <a:pt x="9906" y="60198"/>
                </a:lnTo>
                <a:lnTo>
                  <a:pt x="10668" y="57150"/>
                </a:lnTo>
                <a:lnTo>
                  <a:pt x="10668" y="57912"/>
                </a:lnTo>
                <a:lnTo>
                  <a:pt x="11430" y="54864"/>
                </a:lnTo>
                <a:lnTo>
                  <a:pt x="33993" y="37033"/>
                </a:lnTo>
                <a:lnTo>
                  <a:pt x="70926" y="23628"/>
                </a:lnTo>
                <a:lnTo>
                  <a:pt x="118115" y="14672"/>
                </a:lnTo>
                <a:lnTo>
                  <a:pt x="170262" y="10287"/>
                </a:lnTo>
                <a:lnTo>
                  <a:pt x="226813" y="10197"/>
                </a:lnTo>
                <a:lnTo>
                  <a:pt x="280097" y="14723"/>
                </a:lnTo>
                <a:lnTo>
                  <a:pt x="327186" y="23788"/>
                </a:lnTo>
                <a:lnTo>
                  <a:pt x="363969" y="37415"/>
                </a:lnTo>
                <a:lnTo>
                  <a:pt x="386334" y="55626"/>
                </a:lnTo>
                <a:lnTo>
                  <a:pt x="387096" y="57912"/>
                </a:lnTo>
                <a:lnTo>
                  <a:pt x="387096" y="59436"/>
                </a:lnTo>
                <a:lnTo>
                  <a:pt x="387762" y="62103"/>
                </a:lnTo>
                <a:lnTo>
                  <a:pt x="387858" y="61722"/>
                </a:lnTo>
                <a:lnTo>
                  <a:pt x="387858" y="78646"/>
                </a:lnTo>
                <a:lnTo>
                  <a:pt x="394716" y="72390"/>
                </a:lnTo>
                <a:lnTo>
                  <a:pt x="395478" y="69342"/>
                </a:lnTo>
                <a:lnTo>
                  <a:pt x="396240" y="68580"/>
                </a:lnTo>
                <a:lnTo>
                  <a:pt x="397002" y="66294"/>
                </a:lnTo>
                <a:close/>
              </a:path>
              <a:path w="397509" h="123189">
                <a:moveTo>
                  <a:pt x="387858" y="78646"/>
                </a:moveTo>
                <a:lnTo>
                  <a:pt x="387858" y="62484"/>
                </a:lnTo>
                <a:lnTo>
                  <a:pt x="387762" y="62103"/>
                </a:lnTo>
                <a:lnTo>
                  <a:pt x="387096" y="64770"/>
                </a:lnTo>
                <a:lnTo>
                  <a:pt x="387096" y="65532"/>
                </a:lnTo>
                <a:lnTo>
                  <a:pt x="385572" y="68580"/>
                </a:lnTo>
                <a:lnTo>
                  <a:pt x="326268" y="100102"/>
                </a:lnTo>
                <a:lnTo>
                  <a:pt x="278914" y="109084"/>
                </a:lnTo>
                <a:lnTo>
                  <a:pt x="226813" y="113419"/>
                </a:lnTo>
                <a:lnTo>
                  <a:pt x="169792" y="113469"/>
                </a:lnTo>
                <a:lnTo>
                  <a:pt x="116419" y="108864"/>
                </a:lnTo>
                <a:lnTo>
                  <a:pt x="69436" y="99723"/>
                </a:lnTo>
                <a:lnTo>
                  <a:pt x="33040" y="86042"/>
                </a:lnTo>
                <a:lnTo>
                  <a:pt x="11430" y="67818"/>
                </a:lnTo>
                <a:lnTo>
                  <a:pt x="10668" y="65532"/>
                </a:lnTo>
                <a:lnTo>
                  <a:pt x="10668" y="66294"/>
                </a:lnTo>
                <a:lnTo>
                  <a:pt x="9906" y="64008"/>
                </a:lnTo>
                <a:lnTo>
                  <a:pt x="9905" y="79184"/>
                </a:lnTo>
                <a:lnTo>
                  <a:pt x="25676" y="93057"/>
                </a:lnTo>
                <a:lnTo>
                  <a:pt x="64112" y="107979"/>
                </a:lnTo>
                <a:lnTo>
                  <a:pt x="113820" y="117912"/>
                </a:lnTo>
                <a:lnTo>
                  <a:pt x="169792" y="122809"/>
                </a:lnTo>
                <a:lnTo>
                  <a:pt x="228903" y="122786"/>
                </a:lnTo>
                <a:lnTo>
                  <a:pt x="285205" y="117714"/>
                </a:lnTo>
                <a:lnTo>
                  <a:pt x="334632" y="107629"/>
                </a:lnTo>
                <a:lnTo>
                  <a:pt x="372648" y="92522"/>
                </a:lnTo>
                <a:lnTo>
                  <a:pt x="387858" y="78646"/>
                </a:lnTo>
                <a:close/>
              </a:path>
              <a:path w="397509" h="123189">
                <a:moveTo>
                  <a:pt x="387096" y="60198"/>
                </a:moveTo>
                <a:lnTo>
                  <a:pt x="387096" y="57912"/>
                </a:lnTo>
                <a:lnTo>
                  <a:pt x="386334" y="57150"/>
                </a:lnTo>
                <a:lnTo>
                  <a:pt x="387096" y="60198"/>
                </a:lnTo>
                <a:close/>
              </a:path>
              <a:path w="397509" h="123189">
                <a:moveTo>
                  <a:pt x="387096" y="65532"/>
                </a:moveTo>
                <a:lnTo>
                  <a:pt x="387096" y="64008"/>
                </a:lnTo>
                <a:lnTo>
                  <a:pt x="386334" y="66294"/>
                </a:lnTo>
                <a:lnTo>
                  <a:pt x="387096" y="65532"/>
                </a:lnTo>
                <a:close/>
              </a:path>
              <a:path w="397509" h="123189">
                <a:moveTo>
                  <a:pt x="387858" y="62484"/>
                </a:moveTo>
                <a:lnTo>
                  <a:pt x="387858" y="61722"/>
                </a:lnTo>
                <a:lnTo>
                  <a:pt x="387762" y="62103"/>
                </a:lnTo>
                <a:lnTo>
                  <a:pt x="387858" y="62484"/>
                </a:lnTo>
                <a:close/>
              </a:path>
            </a:pathLst>
          </a:custGeom>
          <a:solidFill>
            <a:srgbClr val="808080"/>
          </a:solidFill>
        </p:spPr>
        <p:txBody>
          <a:bodyPr wrap="square" lIns="0" tIns="0" rIns="0" bIns="0" rtlCol="0"/>
          <a:lstStyle/>
          <a:p>
            <a:endParaRPr/>
          </a:p>
        </p:txBody>
      </p:sp>
      <p:sp>
        <p:nvSpPr>
          <p:cNvPr id="76" name="object 76"/>
          <p:cNvSpPr/>
          <p:nvPr/>
        </p:nvSpPr>
        <p:spPr>
          <a:xfrm>
            <a:off x="7972805" y="2958845"/>
            <a:ext cx="218694" cy="53339"/>
          </a:xfrm>
          <a:prstGeom prst="rect">
            <a:avLst/>
          </a:prstGeom>
          <a:blipFill>
            <a:blip r:embed="rId18" cstate="print"/>
            <a:stretch>
              <a:fillRect/>
            </a:stretch>
          </a:blipFill>
        </p:spPr>
        <p:txBody>
          <a:bodyPr wrap="square" lIns="0" tIns="0" rIns="0" bIns="0" rtlCol="0"/>
          <a:lstStyle/>
          <a:p>
            <a:endParaRPr/>
          </a:p>
        </p:txBody>
      </p:sp>
      <p:sp>
        <p:nvSpPr>
          <p:cNvPr id="77" name="object 77"/>
          <p:cNvSpPr/>
          <p:nvPr/>
        </p:nvSpPr>
        <p:spPr>
          <a:xfrm>
            <a:off x="7972805" y="2951988"/>
            <a:ext cx="218694" cy="67055"/>
          </a:xfrm>
          <a:prstGeom prst="rect">
            <a:avLst/>
          </a:prstGeom>
          <a:blipFill>
            <a:blip r:embed="rId19" cstate="print"/>
            <a:stretch>
              <a:fillRect/>
            </a:stretch>
          </a:blipFill>
        </p:spPr>
        <p:txBody>
          <a:bodyPr wrap="square" lIns="0" tIns="0" rIns="0" bIns="0" rtlCol="0"/>
          <a:lstStyle/>
          <a:p>
            <a:endParaRPr/>
          </a:p>
        </p:txBody>
      </p:sp>
      <p:sp>
        <p:nvSpPr>
          <p:cNvPr id="78" name="object 78"/>
          <p:cNvSpPr/>
          <p:nvPr/>
        </p:nvSpPr>
        <p:spPr>
          <a:xfrm>
            <a:off x="7982712" y="2951988"/>
            <a:ext cx="199390" cy="67310"/>
          </a:xfrm>
          <a:custGeom>
            <a:avLst/>
            <a:gdLst/>
            <a:ahLst/>
            <a:cxnLst/>
            <a:rect l="l" t="t" r="r" b="b"/>
            <a:pathLst>
              <a:path w="199390" h="67310">
                <a:moveTo>
                  <a:pt x="137535" y="54101"/>
                </a:moveTo>
                <a:lnTo>
                  <a:pt x="71628" y="1523"/>
                </a:lnTo>
                <a:lnTo>
                  <a:pt x="68580" y="0"/>
                </a:lnTo>
                <a:lnTo>
                  <a:pt x="0" y="0"/>
                </a:lnTo>
                <a:lnTo>
                  <a:pt x="0" y="12954"/>
                </a:lnTo>
                <a:lnTo>
                  <a:pt x="63246" y="12953"/>
                </a:lnTo>
                <a:lnTo>
                  <a:pt x="63246" y="11429"/>
                </a:lnTo>
                <a:lnTo>
                  <a:pt x="67818" y="12953"/>
                </a:lnTo>
                <a:lnTo>
                  <a:pt x="67818" y="15077"/>
                </a:lnTo>
                <a:lnTo>
                  <a:pt x="131064" y="65531"/>
                </a:lnTo>
                <a:lnTo>
                  <a:pt x="134112" y="67055"/>
                </a:lnTo>
                <a:lnTo>
                  <a:pt x="135636" y="67055"/>
                </a:lnTo>
                <a:lnTo>
                  <a:pt x="135636" y="54101"/>
                </a:lnTo>
                <a:lnTo>
                  <a:pt x="137535" y="54101"/>
                </a:lnTo>
                <a:close/>
              </a:path>
              <a:path w="199390" h="67310">
                <a:moveTo>
                  <a:pt x="67818" y="12953"/>
                </a:moveTo>
                <a:lnTo>
                  <a:pt x="63246" y="11429"/>
                </a:lnTo>
                <a:lnTo>
                  <a:pt x="65156" y="12953"/>
                </a:lnTo>
                <a:lnTo>
                  <a:pt x="67818" y="12953"/>
                </a:lnTo>
                <a:close/>
              </a:path>
              <a:path w="199390" h="67310">
                <a:moveTo>
                  <a:pt x="65156" y="12953"/>
                </a:moveTo>
                <a:lnTo>
                  <a:pt x="63246" y="11429"/>
                </a:lnTo>
                <a:lnTo>
                  <a:pt x="63246" y="12953"/>
                </a:lnTo>
                <a:lnTo>
                  <a:pt x="65156" y="12953"/>
                </a:lnTo>
                <a:close/>
              </a:path>
              <a:path w="199390" h="67310">
                <a:moveTo>
                  <a:pt x="67818" y="15077"/>
                </a:moveTo>
                <a:lnTo>
                  <a:pt x="67818" y="12953"/>
                </a:lnTo>
                <a:lnTo>
                  <a:pt x="65156" y="12953"/>
                </a:lnTo>
                <a:lnTo>
                  <a:pt x="67818" y="15077"/>
                </a:lnTo>
                <a:close/>
              </a:path>
              <a:path w="199390" h="67310">
                <a:moveTo>
                  <a:pt x="139446" y="55625"/>
                </a:moveTo>
                <a:lnTo>
                  <a:pt x="137535" y="54101"/>
                </a:lnTo>
                <a:lnTo>
                  <a:pt x="135636" y="54101"/>
                </a:lnTo>
                <a:lnTo>
                  <a:pt x="139446" y="55625"/>
                </a:lnTo>
                <a:close/>
              </a:path>
              <a:path w="199390" h="67310">
                <a:moveTo>
                  <a:pt x="139446" y="67055"/>
                </a:moveTo>
                <a:lnTo>
                  <a:pt x="139446" y="55625"/>
                </a:lnTo>
                <a:lnTo>
                  <a:pt x="135636" y="54101"/>
                </a:lnTo>
                <a:lnTo>
                  <a:pt x="135636" y="67055"/>
                </a:lnTo>
                <a:lnTo>
                  <a:pt x="139446" y="67055"/>
                </a:lnTo>
                <a:close/>
              </a:path>
              <a:path w="199390" h="67310">
                <a:moveTo>
                  <a:pt x="198882" y="67055"/>
                </a:moveTo>
                <a:lnTo>
                  <a:pt x="198882" y="54101"/>
                </a:lnTo>
                <a:lnTo>
                  <a:pt x="137535" y="54101"/>
                </a:lnTo>
                <a:lnTo>
                  <a:pt x="139446" y="55625"/>
                </a:lnTo>
                <a:lnTo>
                  <a:pt x="139446" y="67055"/>
                </a:lnTo>
                <a:lnTo>
                  <a:pt x="198882" y="67055"/>
                </a:lnTo>
                <a:close/>
              </a:path>
            </a:pathLst>
          </a:custGeom>
          <a:solidFill>
            <a:srgbClr val="808080"/>
          </a:solidFill>
        </p:spPr>
        <p:txBody>
          <a:bodyPr wrap="square" lIns="0" tIns="0" rIns="0" bIns="0" rtlCol="0"/>
          <a:lstStyle/>
          <a:p>
            <a:endParaRPr/>
          </a:p>
        </p:txBody>
      </p:sp>
      <p:sp>
        <p:nvSpPr>
          <p:cNvPr id="79" name="object 79"/>
          <p:cNvSpPr/>
          <p:nvPr/>
        </p:nvSpPr>
        <p:spPr>
          <a:xfrm>
            <a:off x="7907274" y="3269741"/>
            <a:ext cx="387096" cy="97536"/>
          </a:xfrm>
          <a:prstGeom prst="rect">
            <a:avLst/>
          </a:prstGeom>
          <a:blipFill>
            <a:blip r:embed="rId20" cstate="print"/>
            <a:stretch>
              <a:fillRect/>
            </a:stretch>
          </a:blipFill>
        </p:spPr>
        <p:txBody>
          <a:bodyPr wrap="square" lIns="0" tIns="0" rIns="0" bIns="0" rtlCol="0"/>
          <a:lstStyle/>
          <a:p>
            <a:endParaRPr/>
          </a:p>
        </p:txBody>
      </p:sp>
      <p:sp>
        <p:nvSpPr>
          <p:cNvPr id="80" name="object 80"/>
          <p:cNvSpPr/>
          <p:nvPr/>
        </p:nvSpPr>
        <p:spPr>
          <a:xfrm>
            <a:off x="7902701" y="3259835"/>
            <a:ext cx="397001" cy="111886"/>
          </a:xfrm>
          <a:prstGeom prst="rect">
            <a:avLst/>
          </a:prstGeom>
          <a:blipFill>
            <a:blip r:embed="rId21" cstate="print"/>
            <a:stretch>
              <a:fillRect/>
            </a:stretch>
          </a:blipFill>
        </p:spPr>
        <p:txBody>
          <a:bodyPr wrap="square" lIns="0" tIns="0" rIns="0" bIns="0" rtlCol="0"/>
          <a:lstStyle/>
          <a:p>
            <a:endParaRPr/>
          </a:p>
        </p:txBody>
      </p:sp>
      <p:sp>
        <p:nvSpPr>
          <p:cNvPr id="81" name="object 81"/>
          <p:cNvSpPr/>
          <p:nvPr/>
        </p:nvSpPr>
        <p:spPr>
          <a:xfrm>
            <a:off x="7905750" y="3192779"/>
            <a:ext cx="387096" cy="114299"/>
          </a:xfrm>
          <a:prstGeom prst="rect">
            <a:avLst/>
          </a:prstGeom>
          <a:blipFill>
            <a:blip r:embed="rId22" cstate="print"/>
            <a:stretch>
              <a:fillRect/>
            </a:stretch>
          </a:blipFill>
        </p:spPr>
        <p:txBody>
          <a:bodyPr wrap="square" lIns="0" tIns="0" rIns="0" bIns="0" rtlCol="0"/>
          <a:lstStyle/>
          <a:p>
            <a:endParaRPr/>
          </a:p>
        </p:txBody>
      </p:sp>
      <p:sp>
        <p:nvSpPr>
          <p:cNvPr id="82" name="object 82"/>
          <p:cNvSpPr/>
          <p:nvPr/>
        </p:nvSpPr>
        <p:spPr>
          <a:xfrm>
            <a:off x="7901177" y="3188789"/>
            <a:ext cx="397510" cy="122555"/>
          </a:xfrm>
          <a:custGeom>
            <a:avLst/>
            <a:gdLst/>
            <a:ahLst/>
            <a:cxnLst/>
            <a:rect l="l" t="t" r="r" b="b"/>
            <a:pathLst>
              <a:path w="397509" h="122554">
                <a:moveTo>
                  <a:pt x="762" y="67998"/>
                </a:moveTo>
                <a:lnTo>
                  <a:pt x="761" y="54282"/>
                </a:lnTo>
                <a:lnTo>
                  <a:pt x="0" y="57330"/>
                </a:lnTo>
                <a:lnTo>
                  <a:pt x="0" y="65712"/>
                </a:lnTo>
                <a:lnTo>
                  <a:pt x="762" y="67998"/>
                </a:lnTo>
                <a:close/>
              </a:path>
              <a:path w="397509" h="122554">
                <a:moveTo>
                  <a:pt x="395478" y="68760"/>
                </a:moveTo>
                <a:lnTo>
                  <a:pt x="395478" y="53520"/>
                </a:lnTo>
                <a:lnTo>
                  <a:pt x="393954" y="49710"/>
                </a:lnTo>
                <a:lnTo>
                  <a:pt x="332116" y="14814"/>
                </a:lnTo>
                <a:lnTo>
                  <a:pt x="282631" y="4868"/>
                </a:lnTo>
                <a:lnTo>
                  <a:pt x="228242" y="71"/>
                </a:lnTo>
                <a:lnTo>
                  <a:pt x="168472" y="0"/>
                </a:lnTo>
                <a:lnTo>
                  <a:pt x="112575" y="5085"/>
                </a:lnTo>
                <a:lnTo>
                  <a:pt x="63319" y="15190"/>
                </a:lnTo>
                <a:lnTo>
                  <a:pt x="25093" y="30318"/>
                </a:lnTo>
                <a:lnTo>
                  <a:pt x="2285" y="50472"/>
                </a:lnTo>
                <a:lnTo>
                  <a:pt x="1523" y="53520"/>
                </a:lnTo>
                <a:lnTo>
                  <a:pt x="761" y="53520"/>
                </a:lnTo>
                <a:lnTo>
                  <a:pt x="762" y="68760"/>
                </a:lnTo>
                <a:lnTo>
                  <a:pt x="1524" y="68760"/>
                </a:lnTo>
                <a:lnTo>
                  <a:pt x="3048" y="72570"/>
                </a:lnTo>
                <a:lnTo>
                  <a:pt x="9144" y="77930"/>
                </a:lnTo>
                <a:lnTo>
                  <a:pt x="9144" y="59616"/>
                </a:lnTo>
                <a:lnTo>
                  <a:pt x="9906" y="56568"/>
                </a:lnTo>
                <a:lnTo>
                  <a:pt x="9906" y="57330"/>
                </a:lnTo>
                <a:lnTo>
                  <a:pt x="11430" y="54282"/>
                </a:lnTo>
                <a:lnTo>
                  <a:pt x="33795" y="36390"/>
                </a:lnTo>
                <a:lnTo>
                  <a:pt x="70740" y="22975"/>
                </a:lnTo>
                <a:lnTo>
                  <a:pt x="118076" y="14046"/>
                </a:lnTo>
                <a:lnTo>
                  <a:pt x="169803" y="9758"/>
                </a:lnTo>
                <a:lnTo>
                  <a:pt x="228242" y="9764"/>
                </a:lnTo>
                <a:lnTo>
                  <a:pt x="280509" y="14238"/>
                </a:lnTo>
                <a:lnTo>
                  <a:pt x="327492" y="23318"/>
                </a:lnTo>
                <a:lnTo>
                  <a:pt x="363910" y="36918"/>
                </a:lnTo>
                <a:lnTo>
                  <a:pt x="386334" y="57330"/>
                </a:lnTo>
                <a:lnTo>
                  <a:pt x="386334" y="56568"/>
                </a:lnTo>
                <a:lnTo>
                  <a:pt x="387096" y="59616"/>
                </a:lnTo>
                <a:lnTo>
                  <a:pt x="387096" y="78044"/>
                </a:lnTo>
                <a:lnTo>
                  <a:pt x="393954" y="71808"/>
                </a:lnTo>
                <a:lnTo>
                  <a:pt x="395478" y="68760"/>
                </a:lnTo>
                <a:close/>
              </a:path>
              <a:path w="397509" h="122554">
                <a:moveTo>
                  <a:pt x="9906" y="58854"/>
                </a:moveTo>
                <a:lnTo>
                  <a:pt x="9144" y="59616"/>
                </a:lnTo>
                <a:lnTo>
                  <a:pt x="9144" y="61140"/>
                </a:lnTo>
                <a:lnTo>
                  <a:pt x="9252" y="61467"/>
                </a:lnTo>
                <a:lnTo>
                  <a:pt x="9906" y="58854"/>
                </a:lnTo>
                <a:close/>
              </a:path>
              <a:path w="397509" h="122554">
                <a:moveTo>
                  <a:pt x="9252" y="61467"/>
                </a:moveTo>
                <a:lnTo>
                  <a:pt x="9144" y="61140"/>
                </a:lnTo>
                <a:lnTo>
                  <a:pt x="9144" y="61902"/>
                </a:lnTo>
                <a:lnTo>
                  <a:pt x="9252" y="61467"/>
                </a:lnTo>
                <a:close/>
              </a:path>
              <a:path w="397509" h="122554">
                <a:moveTo>
                  <a:pt x="9906" y="63426"/>
                </a:moveTo>
                <a:lnTo>
                  <a:pt x="9252" y="61467"/>
                </a:lnTo>
                <a:lnTo>
                  <a:pt x="9144" y="61902"/>
                </a:lnTo>
                <a:lnTo>
                  <a:pt x="9144" y="62664"/>
                </a:lnTo>
                <a:lnTo>
                  <a:pt x="9906" y="63426"/>
                </a:lnTo>
                <a:close/>
              </a:path>
              <a:path w="397509" h="122554">
                <a:moveTo>
                  <a:pt x="387096" y="78044"/>
                </a:moveTo>
                <a:lnTo>
                  <a:pt x="387096" y="62664"/>
                </a:lnTo>
                <a:lnTo>
                  <a:pt x="386334" y="65712"/>
                </a:lnTo>
                <a:lnTo>
                  <a:pt x="386334" y="64950"/>
                </a:lnTo>
                <a:lnTo>
                  <a:pt x="326047" y="99289"/>
                </a:lnTo>
                <a:lnTo>
                  <a:pt x="278739" y="108229"/>
                </a:lnTo>
                <a:lnTo>
                  <a:pt x="227151" y="112526"/>
                </a:lnTo>
                <a:lnTo>
                  <a:pt x="171609" y="112639"/>
                </a:lnTo>
                <a:lnTo>
                  <a:pt x="168472" y="112526"/>
                </a:lnTo>
                <a:lnTo>
                  <a:pt x="116425" y="108082"/>
                </a:lnTo>
                <a:lnTo>
                  <a:pt x="69355" y="99005"/>
                </a:lnTo>
                <a:lnTo>
                  <a:pt x="32720" y="85394"/>
                </a:lnTo>
                <a:lnTo>
                  <a:pt x="9906" y="64950"/>
                </a:lnTo>
                <a:lnTo>
                  <a:pt x="9906" y="65712"/>
                </a:lnTo>
                <a:lnTo>
                  <a:pt x="9144" y="62664"/>
                </a:lnTo>
                <a:lnTo>
                  <a:pt x="9144" y="77930"/>
                </a:lnTo>
                <a:lnTo>
                  <a:pt x="25684" y="92471"/>
                </a:lnTo>
                <a:lnTo>
                  <a:pt x="64023" y="107408"/>
                </a:lnTo>
                <a:lnTo>
                  <a:pt x="113563" y="117367"/>
                </a:lnTo>
                <a:lnTo>
                  <a:pt x="168472" y="122218"/>
                </a:lnTo>
                <a:lnTo>
                  <a:pt x="228242" y="122298"/>
                </a:lnTo>
                <a:lnTo>
                  <a:pt x="284378" y="117240"/>
                </a:lnTo>
                <a:lnTo>
                  <a:pt x="333709" y="107149"/>
                </a:lnTo>
                <a:lnTo>
                  <a:pt x="371735" y="92010"/>
                </a:lnTo>
                <a:lnTo>
                  <a:pt x="387096" y="78044"/>
                </a:lnTo>
                <a:close/>
              </a:path>
              <a:path w="397509" h="122554">
                <a:moveTo>
                  <a:pt x="396240" y="65712"/>
                </a:moveTo>
                <a:lnTo>
                  <a:pt x="396240" y="57330"/>
                </a:lnTo>
                <a:lnTo>
                  <a:pt x="395478" y="54282"/>
                </a:lnTo>
                <a:lnTo>
                  <a:pt x="395478" y="67998"/>
                </a:lnTo>
                <a:lnTo>
                  <a:pt x="396240" y="65712"/>
                </a:lnTo>
                <a:close/>
              </a:path>
              <a:path w="397509" h="122554">
                <a:moveTo>
                  <a:pt x="397002" y="61902"/>
                </a:moveTo>
                <a:lnTo>
                  <a:pt x="397002" y="61140"/>
                </a:lnTo>
                <a:lnTo>
                  <a:pt x="396240" y="58092"/>
                </a:lnTo>
                <a:lnTo>
                  <a:pt x="396240" y="64188"/>
                </a:lnTo>
                <a:lnTo>
                  <a:pt x="397002" y="61902"/>
                </a:lnTo>
                <a:close/>
              </a:path>
            </a:pathLst>
          </a:custGeom>
          <a:solidFill>
            <a:srgbClr val="808080"/>
          </a:solidFill>
        </p:spPr>
        <p:txBody>
          <a:bodyPr wrap="square" lIns="0" tIns="0" rIns="0" bIns="0" rtlCol="0"/>
          <a:lstStyle/>
          <a:p>
            <a:endParaRPr/>
          </a:p>
        </p:txBody>
      </p:sp>
      <p:sp>
        <p:nvSpPr>
          <p:cNvPr id="83" name="object 83"/>
          <p:cNvSpPr/>
          <p:nvPr/>
        </p:nvSpPr>
        <p:spPr>
          <a:xfrm>
            <a:off x="7983474" y="3222498"/>
            <a:ext cx="219455" cy="53339"/>
          </a:xfrm>
          <a:prstGeom prst="rect">
            <a:avLst/>
          </a:prstGeom>
          <a:blipFill>
            <a:blip r:embed="rId23" cstate="print"/>
            <a:stretch>
              <a:fillRect/>
            </a:stretch>
          </a:blipFill>
        </p:spPr>
        <p:txBody>
          <a:bodyPr wrap="square" lIns="0" tIns="0" rIns="0" bIns="0" rtlCol="0"/>
          <a:lstStyle/>
          <a:p>
            <a:endParaRPr/>
          </a:p>
        </p:txBody>
      </p:sp>
      <p:sp>
        <p:nvSpPr>
          <p:cNvPr id="84" name="object 84"/>
          <p:cNvSpPr/>
          <p:nvPr/>
        </p:nvSpPr>
        <p:spPr>
          <a:xfrm>
            <a:off x="7983474" y="3215639"/>
            <a:ext cx="219455" cy="67055"/>
          </a:xfrm>
          <a:prstGeom prst="rect">
            <a:avLst/>
          </a:prstGeom>
          <a:blipFill>
            <a:blip r:embed="rId24" cstate="print"/>
            <a:stretch>
              <a:fillRect/>
            </a:stretch>
          </a:blipFill>
        </p:spPr>
        <p:txBody>
          <a:bodyPr wrap="square" lIns="0" tIns="0" rIns="0" bIns="0" rtlCol="0"/>
          <a:lstStyle/>
          <a:p>
            <a:endParaRPr/>
          </a:p>
        </p:txBody>
      </p:sp>
      <p:sp>
        <p:nvSpPr>
          <p:cNvPr id="85" name="object 85"/>
          <p:cNvSpPr/>
          <p:nvPr/>
        </p:nvSpPr>
        <p:spPr>
          <a:xfrm>
            <a:off x="7993379" y="3215639"/>
            <a:ext cx="200025" cy="67310"/>
          </a:xfrm>
          <a:custGeom>
            <a:avLst/>
            <a:gdLst/>
            <a:ahLst/>
            <a:cxnLst/>
            <a:rect l="l" t="t" r="r" b="b"/>
            <a:pathLst>
              <a:path w="200025" h="67310">
                <a:moveTo>
                  <a:pt x="137535" y="54101"/>
                </a:moveTo>
                <a:lnTo>
                  <a:pt x="71628" y="1523"/>
                </a:lnTo>
                <a:lnTo>
                  <a:pt x="70866" y="761"/>
                </a:lnTo>
                <a:lnTo>
                  <a:pt x="69342" y="0"/>
                </a:lnTo>
                <a:lnTo>
                  <a:pt x="0" y="0"/>
                </a:lnTo>
                <a:lnTo>
                  <a:pt x="0" y="12954"/>
                </a:lnTo>
                <a:lnTo>
                  <a:pt x="64008" y="12953"/>
                </a:lnTo>
                <a:lnTo>
                  <a:pt x="64008" y="11429"/>
                </a:lnTo>
                <a:lnTo>
                  <a:pt x="67818" y="12953"/>
                </a:lnTo>
                <a:lnTo>
                  <a:pt x="67818" y="14469"/>
                </a:lnTo>
                <a:lnTo>
                  <a:pt x="131826" y="65531"/>
                </a:lnTo>
                <a:lnTo>
                  <a:pt x="132588" y="66293"/>
                </a:lnTo>
                <a:lnTo>
                  <a:pt x="134112" y="67055"/>
                </a:lnTo>
                <a:lnTo>
                  <a:pt x="135636" y="67055"/>
                </a:lnTo>
                <a:lnTo>
                  <a:pt x="135636" y="54101"/>
                </a:lnTo>
                <a:lnTo>
                  <a:pt x="137535" y="54101"/>
                </a:lnTo>
                <a:close/>
              </a:path>
              <a:path w="200025" h="67310">
                <a:moveTo>
                  <a:pt x="67818" y="12953"/>
                </a:moveTo>
                <a:lnTo>
                  <a:pt x="64008" y="11429"/>
                </a:lnTo>
                <a:lnTo>
                  <a:pt x="65918" y="12953"/>
                </a:lnTo>
                <a:lnTo>
                  <a:pt x="67818" y="12953"/>
                </a:lnTo>
                <a:close/>
              </a:path>
              <a:path w="200025" h="67310">
                <a:moveTo>
                  <a:pt x="65918" y="12953"/>
                </a:moveTo>
                <a:lnTo>
                  <a:pt x="64008" y="11429"/>
                </a:lnTo>
                <a:lnTo>
                  <a:pt x="64008" y="12953"/>
                </a:lnTo>
                <a:lnTo>
                  <a:pt x="65918" y="12953"/>
                </a:lnTo>
                <a:close/>
              </a:path>
              <a:path w="200025" h="67310">
                <a:moveTo>
                  <a:pt x="67818" y="14469"/>
                </a:moveTo>
                <a:lnTo>
                  <a:pt x="67818" y="12953"/>
                </a:lnTo>
                <a:lnTo>
                  <a:pt x="65918" y="12953"/>
                </a:lnTo>
                <a:lnTo>
                  <a:pt x="67818" y="14469"/>
                </a:lnTo>
                <a:close/>
              </a:path>
              <a:path w="200025" h="67310">
                <a:moveTo>
                  <a:pt x="139446" y="55625"/>
                </a:moveTo>
                <a:lnTo>
                  <a:pt x="137535" y="54101"/>
                </a:lnTo>
                <a:lnTo>
                  <a:pt x="135636" y="54101"/>
                </a:lnTo>
                <a:lnTo>
                  <a:pt x="139446" y="55625"/>
                </a:lnTo>
                <a:close/>
              </a:path>
              <a:path w="200025" h="67310">
                <a:moveTo>
                  <a:pt x="139446" y="67055"/>
                </a:moveTo>
                <a:lnTo>
                  <a:pt x="139446" y="55625"/>
                </a:lnTo>
                <a:lnTo>
                  <a:pt x="135636" y="54101"/>
                </a:lnTo>
                <a:lnTo>
                  <a:pt x="135636" y="67055"/>
                </a:lnTo>
                <a:lnTo>
                  <a:pt x="139446" y="67055"/>
                </a:lnTo>
                <a:close/>
              </a:path>
              <a:path w="200025" h="67310">
                <a:moveTo>
                  <a:pt x="199644" y="67055"/>
                </a:moveTo>
                <a:lnTo>
                  <a:pt x="199644" y="54101"/>
                </a:lnTo>
                <a:lnTo>
                  <a:pt x="137535" y="54101"/>
                </a:lnTo>
                <a:lnTo>
                  <a:pt x="139446" y="55625"/>
                </a:lnTo>
                <a:lnTo>
                  <a:pt x="139446" y="67055"/>
                </a:lnTo>
                <a:lnTo>
                  <a:pt x="199644" y="67055"/>
                </a:lnTo>
                <a:close/>
              </a:path>
            </a:pathLst>
          </a:custGeom>
          <a:solidFill>
            <a:srgbClr val="808080"/>
          </a:solidFill>
        </p:spPr>
        <p:txBody>
          <a:bodyPr wrap="square" lIns="0" tIns="0" rIns="0" bIns="0" rtlCol="0"/>
          <a:lstStyle/>
          <a:p>
            <a:endParaRPr/>
          </a:p>
        </p:txBody>
      </p:sp>
      <p:sp>
        <p:nvSpPr>
          <p:cNvPr id="86" name="object 86"/>
          <p:cNvSpPr/>
          <p:nvPr/>
        </p:nvSpPr>
        <p:spPr>
          <a:xfrm>
            <a:off x="8456676" y="3271265"/>
            <a:ext cx="387096" cy="97536"/>
          </a:xfrm>
          <a:prstGeom prst="rect">
            <a:avLst/>
          </a:prstGeom>
          <a:blipFill>
            <a:blip r:embed="rId25" cstate="print"/>
            <a:stretch>
              <a:fillRect/>
            </a:stretch>
          </a:blipFill>
        </p:spPr>
        <p:txBody>
          <a:bodyPr wrap="square" lIns="0" tIns="0" rIns="0" bIns="0" rtlCol="0"/>
          <a:lstStyle/>
          <a:p>
            <a:endParaRPr/>
          </a:p>
        </p:txBody>
      </p:sp>
      <p:sp>
        <p:nvSpPr>
          <p:cNvPr id="87" name="object 87"/>
          <p:cNvSpPr/>
          <p:nvPr/>
        </p:nvSpPr>
        <p:spPr>
          <a:xfrm>
            <a:off x="8452103" y="3261359"/>
            <a:ext cx="397001" cy="112052"/>
          </a:xfrm>
          <a:prstGeom prst="rect">
            <a:avLst/>
          </a:prstGeom>
          <a:blipFill>
            <a:blip r:embed="rId26" cstate="print"/>
            <a:stretch>
              <a:fillRect/>
            </a:stretch>
          </a:blipFill>
        </p:spPr>
        <p:txBody>
          <a:bodyPr wrap="square" lIns="0" tIns="0" rIns="0" bIns="0" rtlCol="0"/>
          <a:lstStyle/>
          <a:p>
            <a:endParaRPr/>
          </a:p>
        </p:txBody>
      </p:sp>
      <p:sp>
        <p:nvSpPr>
          <p:cNvPr id="88" name="object 88"/>
          <p:cNvSpPr/>
          <p:nvPr/>
        </p:nvSpPr>
        <p:spPr>
          <a:xfrm>
            <a:off x="8455151" y="3194304"/>
            <a:ext cx="387096" cy="114299"/>
          </a:xfrm>
          <a:prstGeom prst="rect">
            <a:avLst/>
          </a:prstGeom>
          <a:blipFill>
            <a:blip r:embed="rId27" cstate="print"/>
            <a:stretch>
              <a:fillRect/>
            </a:stretch>
          </a:blipFill>
        </p:spPr>
        <p:txBody>
          <a:bodyPr wrap="square" lIns="0" tIns="0" rIns="0" bIns="0" rtlCol="0"/>
          <a:lstStyle/>
          <a:p>
            <a:endParaRPr/>
          </a:p>
        </p:txBody>
      </p:sp>
      <p:sp>
        <p:nvSpPr>
          <p:cNvPr id="89" name="object 89"/>
          <p:cNvSpPr/>
          <p:nvPr/>
        </p:nvSpPr>
        <p:spPr>
          <a:xfrm>
            <a:off x="8450579" y="3189732"/>
            <a:ext cx="397510" cy="123189"/>
          </a:xfrm>
          <a:custGeom>
            <a:avLst/>
            <a:gdLst/>
            <a:ahLst/>
            <a:cxnLst/>
            <a:rect l="l" t="t" r="r" b="b"/>
            <a:pathLst>
              <a:path w="397509" h="123189">
                <a:moveTo>
                  <a:pt x="762" y="68580"/>
                </a:moveTo>
                <a:lnTo>
                  <a:pt x="761" y="54864"/>
                </a:lnTo>
                <a:lnTo>
                  <a:pt x="0" y="57912"/>
                </a:lnTo>
                <a:lnTo>
                  <a:pt x="0" y="66294"/>
                </a:lnTo>
                <a:lnTo>
                  <a:pt x="762" y="68580"/>
                </a:lnTo>
                <a:close/>
              </a:path>
              <a:path w="397509" h="123189">
                <a:moveTo>
                  <a:pt x="395478" y="69342"/>
                </a:moveTo>
                <a:lnTo>
                  <a:pt x="395478" y="54102"/>
                </a:lnTo>
                <a:lnTo>
                  <a:pt x="365320" y="27626"/>
                </a:lnTo>
                <a:lnTo>
                  <a:pt x="312520" y="10987"/>
                </a:lnTo>
                <a:lnTo>
                  <a:pt x="256812" y="2379"/>
                </a:lnTo>
                <a:lnTo>
                  <a:pt x="217932" y="0"/>
                </a:lnTo>
                <a:lnTo>
                  <a:pt x="178308" y="0"/>
                </a:lnTo>
                <a:lnTo>
                  <a:pt x="138732" y="2504"/>
                </a:lnTo>
                <a:lnTo>
                  <a:pt x="83724" y="10920"/>
                </a:lnTo>
                <a:lnTo>
                  <a:pt x="31621" y="27401"/>
                </a:lnTo>
                <a:lnTo>
                  <a:pt x="761" y="54102"/>
                </a:lnTo>
                <a:lnTo>
                  <a:pt x="762" y="69342"/>
                </a:lnTo>
                <a:lnTo>
                  <a:pt x="2286" y="73152"/>
                </a:lnTo>
                <a:lnTo>
                  <a:pt x="9144" y="79093"/>
                </a:lnTo>
                <a:lnTo>
                  <a:pt x="9144" y="60198"/>
                </a:lnTo>
                <a:lnTo>
                  <a:pt x="9906" y="57150"/>
                </a:lnTo>
                <a:lnTo>
                  <a:pt x="9906" y="57912"/>
                </a:lnTo>
                <a:lnTo>
                  <a:pt x="11430" y="54864"/>
                </a:lnTo>
                <a:lnTo>
                  <a:pt x="12192" y="52578"/>
                </a:lnTo>
                <a:lnTo>
                  <a:pt x="45644" y="31710"/>
                </a:lnTo>
                <a:lnTo>
                  <a:pt x="92154" y="18769"/>
                </a:lnTo>
                <a:lnTo>
                  <a:pt x="140211" y="12064"/>
                </a:lnTo>
                <a:lnTo>
                  <a:pt x="178308" y="9906"/>
                </a:lnTo>
                <a:lnTo>
                  <a:pt x="198120" y="9144"/>
                </a:lnTo>
                <a:lnTo>
                  <a:pt x="217932" y="9906"/>
                </a:lnTo>
                <a:lnTo>
                  <a:pt x="304257" y="18883"/>
                </a:lnTo>
                <a:lnTo>
                  <a:pt x="352455" y="32267"/>
                </a:lnTo>
                <a:lnTo>
                  <a:pt x="385572" y="55626"/>
                </a:lnTo>
                <a:lnTo>
                  <a:pt x="386334" y="57912"/>
                </a:lnTo>
                <a:lnTo>
                  <a:pt x="386334" y="57150"/>
                </a:lnTo>
                <a:lnTo>
                  <a:pt x="387096" y="60198"/>
                </a:lnTo>
                <a:lnTo>
                  <a:pt x="387096" y="78641"/>
                </a:lnTo>
                <a:lnTo>
                  <a:pt x="393954" y="72390"/>
                </a:lnTo>
                <a:lnTo>
                  <a:pt x="395478" y="69342"/>
                </a:lnTo>
                <a:close/>
              </a:path>
              <a:path w="397509" h="123189">
                <a:moveTo>
                  <a:pt x="387096" y="78641"/>
                </a:moveTo>
                <a:lnTo>
                  <a:pt x="387096" y="63246"/>
                </a:lnTo>
                <a:lnTo>
                  <a:pt x="386334" y="66294"/>
                </a:lnTo>
                <a:lnTo>
                  <a:pt x="386334" y="65532"/>
                </a:lnTo>
                <a:lnTo>
                  <a:pt x="325581" y="99963"/>
                </a:lnTo>
                <a:lnTo>
                  <a:pt x="278073" y="108892"/>
                </a:lnTo>
                <a:lnTo>
                  <a:pt x="224452" y="113313"/>
                </a:lnTo>
                <a:lnTo>
                  <a:pt x="168890" y="113226"/>
                </a:lnTo>
                <a:lnTo>
                  <a:pt x="115558" y="108632"/>
                </a:lnTo>
                <a:lnTo>
                  <a:pt x="68629" y="99533"/>
                </a:lnTo>
                <a:lnTo>
                  <a:pt x="32275" y="85928"/>
                </a:lnTo>
                <a:lnTo>
                  <a:pt x="9906" y="65532"/>
                </a:lnTo>
                <a:lnTo>
                  <a:pt x="9906" y="66294"/>
                </a:lnTo>
                <a:lnTo>
                  <a:pt x="9144" y="63246"/>
                </a:lnTo>
                <a:lnTo>
                  <a:pt x="9144" y="79093"/>
                </a:lnTo>
                <a:lnTo>
                  <a:pt x="25226" y="93025"/>
                </a:lnTo>
                <a:lnTo>
                  <a:pt x="63805" y="107940"/>
                </a:lnTo>
                <a:lnTo>
                  <a:pt x="113523" y="117884"/>
                </a:lnTo>
                <a:lnTo>
                  <a:pt x="168890" y="122755"/>
                </a:lnTo>
                <a:lnTo>
                  <a:pt x="228395" y="122803"/>
                </a:lnTo>
                <a:lnTo>
                  <a:pt x="284553" y="117751"/>
                </a:lnTo>
                <a:lnTo>
                  <a:pt x="333863" y="107674"/>
                </a:lnTo>
                <a:lnTo>
                  <a:pt x="371829" y="92558"/>
                </a:lnTo>
                <a:lnTo>
                  <a:pt x="387096" y="78641"/>
                </a:lnTo>
                <a:close/>
              </a:path>
              <a:path w="397509" h="123189">
                <a:moveTo>
                  <a:pt x="396240" y="66294"/>
                </a:moveTo>
                <a:lnTo>
                  <a:pt x="396240" y="57912"/>
                </a:lnTo>
                <a:lnTo>
                  <a:pt x="395478" y="54864"/>
                </a:lnTo>
                <a:lnTo>
                  <a:pt x="395478" y="68580"/>
                </a:lnTo>
                <a:lnTo>
                  <a:pt x="396240" y="66294"/>
                </a:lnTo>
                <a:close/>
              </a:path>
              <a:path w="397509" h="123189">
                <a:moveTo>
                  <a:pt x="397002" y="61722"/>
                </a:moveTo>
                <a:lnTo>
                  <a:pt x="396240" y="61722"/>
                </a:lnTo>
                <a:lnTo>
                  <a:pt x="396240" y="62484"/>
                </a:lnTo>
                <a:lnTo>
                  <a:pt x="397002" y="61722"/>
                </a:lnTo>
                <a:close/>
              </a:path>
            </a:pathLst>
          </a:custGeom>
          <a:solidFill>
            <a:srgbClr val="808080"/>
          </a:solidFill>
        </p:spPr>
        <p:txBody>
          <a:bodyPr wrap="square" lIns="0" tIns="0" rIns="0" bIns="0" rtlCol="0"/>
          <a:lstStyle/>
          <a:p>
            <a:endParaRPr/>
          </a:p>
        </p:txBody>
      </p:sp>
      <p:sp>
        <p:nvSpPr>
          <p:cNvPr id="90" name="object 90"/>
          <p:cNvSpPr/>
          <p:nvPr/>
        </p:nvSpPr>
        <p:spPr>
          <a:xfrm>
            <a:off x="8532876" y="3224022"/>
            <a:ext cx="218694" cy="53339"/>
          </a:xfrm>
          <a:prstGeom prst="rect">
            <a:avLst/>
          </a:prstGeom>
          <a:blipFill>
            <a:blip r:embed="rId28" cstate="print"/>
            <a:stretch>
              <a:fillRect/>
            </a:stretch>
          </a:blipFill>
        </p:spPr>
        <p:txBody>
          <a:bodyPr wrap="square" lIns="0" tIns="0" rIns="0" bIns="0" rtlCol="0"/>
          <a:lstStyle/>
          <a:p>
            <a:endParaRPr/>
          </a:p>
        </p:txBody>
      </p:sp>
      <p:sp>
        <p:nvSpPr>
          <p:cNvPr id="91" name="object 91"/>
          <p:cNvSpPr/>
          <p:nvPr/>
        </p:nvSpPr>
        <p:spPr>
          <a:xfrm>
            <a:off x="8532876" y="3217164"/>
            <a:ext cx="218694" cy="67055"/>
          </a:xfrm>
          <a:prstGeom prst="rect">
            <a:avLst/>
          </a:prstGeom>
          <a:blipFill>
            <a:blip r:embed="rId29" cstate="print"/>
            <a:stretch>
              <a:fillRect/>
            </a:stretch>
          </a:blipFill>
        </p:spPr>
        <p:txBody>
          <a:bodyPr wrap="square" lIns="0" tIns="0" rIns="0" bIns="0" rtlCol="0"/>
          <a:lstStyle/>
          <a:p>
            <a:endParaRPr/>
          </a:p>
        </p:txBody>
      </p:sp>
      <p:sp>
        <p:nvSpPr>
          <p:cNvPr id="92" name="object 92"/>
          <p:cNvSpPr/>
          <p:nvPr/>
        </p:nvSpPr>
        <p:spPr>
          <a:xfrm>
            <a:off x="8542781" y="3217164"/>
            <a:ext cx="199390" cy="67310"/>
          </a:xfrm>
          <a:custGeom>
            <a:avLst/>
            <a:gdLst/>
            <a:ahLst/>
            <a:cxnLst/>
            <a:rect l="l" t="t" r="r" b="b"/>
            <a:pathLst>
              <a:path w="199390" h="67310">
                <a:moveTo>
                  <a:pt x="137535" y="54101"/>
                </a:moveTo>
                <a:lnTo>
                  <a:pt x="71628" y="1523"/>
                </a:lnTo>
                <a:lnTo>
                  <a:pt x="70866" y="761"/>
                </a:lnTo>
                <a:lnTo>
                  <a:pt x="69342" y="0"/>
                </a:lnTo>
                <a:lnTo>
                  <a:pt x="0" y="0"/>
                </a:lnTo>
                <a:lnTo>
                  <a:pt x="0" y="12954"/>
                </a:lnTo>
                <a:lnTo>
                  <a:pt x="64008" y="12953"/>
                </a:lnTo>
                <a:lnTo>
                  <a:pt x="64008" y="11429"/>
                </a:lnTo>
                <a:lnTo>
                  <a:pt x="67818" y="12953"/>
                </a:lnTo>
                <a:lnTo>
                  <a:pt x="67818" y="14469"/>
                </a:lnTo>
                <a:lnTo>
                  <a:pt x="131826" y="65531"/>
                </a:lnTo>
                <a:lnTo>
                  <a:pt x="132588" y="66293"/>
                </a:lnTo>
                <a:lnTo>
                  <a:pt x="134112" y="67055"/>
                </a:lnTo>
                <a:lnTo>
                  <a:pt x="135636" y="67055"/>
                </a:lnTo>
                <a:lnTo>
                  <a:pt x="135636" y="54101"/>
                </a:lnTo>
                <a:lnTo>
                  <a:pt x="137535" y="54101"/>
                </a:lnTo>
                <a:close/>
              </a:path>
              <a:path w="199390" h="67310">
                <a:moveTo>
                  <a:pt x="67818" y="12953"/>
                </a:moveTo>
                <a:lnTo>
                  <a:pt x="64008" y="11429"/>
                </a:lnTo>
                <a:lnTo>
                  <a:pt x="65918" y="12953"/>
                </a:lnTo>
                <a:lnTo>
                  <a:pt x="67818" y="12953"/>
                </a:lnTo>
                <a:close/>
              </a:path>
              <a:path w="199390" h="67310">
                <a:moveTo>
                  <a:pt x="65918" y="12953"/>
                </a:moveTo>
                <a:lnTo>
                  <a:pt x="64008" y="11429"/>
                </a:lnTo>
                <a:lnTo>
                  <a:pt x="64008" y="12953"/>
                </a:lnTo>
                <a:lnTo>
                  <a:pt x="65918" y="12953"/>
                </a:lnTo>
                <a:close/>
              </a:path>
              <a:path w="199390" h="67310">
                <a:moveTo>
                  <a:pt x="67818" y="14469"/>
                </a:moveTo>
                <a:lnTo>
                  <a:pt x="67818" y="12953"/>
                </a:lnTo>
                <a:lnTo>
                  <a:pt x="65918" y="12953"/>
                </a:lnTo>
                <a:lnTo>
                  <a:pt x="67818" y="14469"/>
                </a:lnTo>
                <a:close/>
              </a:path>
              <a:path w="199390" h="67310">
                <a:moveTo>
                  <a:pt x="139446" y="55625"/>
                </a:moveTo>
                <a:lnTo>
                  <a:pt x="137535" y="54101"/>
                </a:lnTo>
                <a:lnTo>
                  <a:pt x="135636" y="54101"/>
                </a:lnTo>
                <a:lnTo>
                  <a:pt x="139446" y="55625"/>
                </a:lnTo>
                <a:close/>
              </a:path>
              <a:path w="199390" h="67310">
                <a:moveTo>
                  <a:pt x="139446" y="67055"/>
                </a:moveTo>
                <a:lnTo>
                  <a:pt x="139446" y="55625"/>
                </a:lnTo>
                <a:lnTo>
                  <a:pt x="135636" y="54101"/>
                </a:lnTo>
                <a:lnTo>
                  <a:pt x="135636" y="67055"/>
                </a:lnTo>
                <a:lnTo>
                  <a:pt x="139446" y="67055"/>
                </a:lnTo>
                <a:close/>
              </a:path>
              <a:path w="199390" h="67310">
                <a:moveTo>
                  <a:pt x="198882" y="67055"/>
                </a:moveTo>
                <a:lnTo>
                  <a:pt x="198882" y="54101"/>
                </a:lnTo>
                <a:lnTo>
                  <a:pt x="137535" y="54101"/>
                </a:lnTo>
                <a:lnTo>
                  <a:pt x="139446" y="55625"/>
                </a:lnTo>
                <a:lnTo>
                  <a:pt x="139446" y="67055"/>
                </a:lnTo>
                <a:lnTo>
                  <a:pt x="198882" y="67055"/>
                </a:lnTo>
                <a:close/>
              </a:path>
            </a:pathLst>
          </a:custGeom>
          <a:solidFill>
            <a:srgbClr val="808080"/>
          </a:solidFill>
        </p:spPr>
        <p:txBody>
          <a:bodyPr wrap="square" lIns="0" tIns="0" rIns="0" bIns="0" rtlCol="0"/>
          <a:lstStyle/>
          <a:p>
            <a:endParaRPr/>
          </a:p>
        </p:txBody>
      </p:sp>
      <p:sp>
        <p:nvSpPr>
          <p:cNvPr id="93" name="object 93"/>
          <p:cNvSpPr/>
          <p:nvPr/>
        </p:nvSpPr>
        <p:spPr>
          <a:xfrm>
            <a:off x="8452103" y="3248405"/>
            <a:ext cx="9525" cy="76200"/>
          </a:xfrm>
          <a:custGeom>
            <a:avLst/>
            <a:gdLst/>
            <a:ahLst/>
            <a:cxnLst/>
            <a:rect l="l" t="t" r="r" b="b"/>
            <a:pathLst>
              <a:path w="9525" h="76200">
                <a:moveTo>
                  <a:pt x="0" y="0"/>
                </a:moveTo>
                <a:lnTo>
                  <a:pt x="0" y="76199"/>
                </a:lnTo>
                <a:lnTo>
                  <a:pt x="9144" y="76199"/>
                </a:lnTo>
                <a:lnTo>
                  <a:pt x="9144" y="0"/>
                </a:lnTo>
                <a:lnTo>
                  <a:pt x="0" y="0"/>
                </a:lnTo>
                <a:close/>
              </a:path>
            </a:pathLst>
          </a:custGeom>
          <a:solidFill>
            <a:srgbClr val="808080"/>
          </a:solidFill>
        </p:spPr>
        <p:txBody>
          <a:bodyPr wrap="square" lIns="0" tIns="0" rIns="0" bIns="0" rtlCol="0"/>
          <a:lstStyle/>
          <a:p>
            <a:endParaRPr/>
          </a:p>
        </p:txBody>
      </p:sp>
      <p:sp>
        <p:nvSpPr>
          <p:cNvPr id="94" name="object 94"/>
          <p:cNvSpPr/>
          <p:nvPr/>
        </p:nvSpPr>
        <p:spPr>
          <a:xfrm>
            <a:off x="8837676" y="3251453"/>
            <a:ext cx="9525" cy="75565"/>
          </a:xfrm>
          <a:custGeom>
            <a:avLst/>
            <a:gdLst/>
            <a:ahLst/>
            <a:cxnLst/>
            <a:rect l="l" t="t" r="r" b="b"/>
            <a:pathLst>
              <a:path w="9525" h="75564">
                <a:moveTo>
                  <a:pt x="0" y="0"/>
                </a:moveTo>
                <a:lnTo>
                  <a:pt x="0" y="75437"/>
                </a:lnTo>
                <a:lnTo>
                  <a:pt x="9144" y="75437"/>
                </a:lnTo>
                <a:lnTo>
                  <a:pt x="9144" y="0"/>
                </a:lnTo>
                <a:lnTo>
                  <a:pt x="0" y="0"/>
                </a:lnTo>
                <a:close/>
              </a:path>
            </a:pathLst>
          </a:custGeom>
          <a:solidFill>
            <a:srgbClr val="808080"/>
          </a:solidFill>
        </p:spPr>
        <p:txBody>
          <a:bodyPr wrap="square" lIns="0" tIns="0" rIns="0" bIns="0" rtlCol="0"/>
          <a:lstStyle/>
          <a:p>
            <a:endParaRPr/>
          </a:p>
        </p:txBody>
      </p:sp>
      <p:sp>
        <p:nvSpPr>
          <p:cNvPr id="95" name="object 95"/>
          <p:cNvSpPr/>
          <p:nvPr/>
        </p:nvSpPr>
        <p:spPr>
          <a:xfrm>
            <a:off x="8383524" y="2906267"/>
            <a:ext cx="387096" cy="97536"/>
          </a:xfrm>
          <a:prstGeom prst="rect">
            <a:avLst/>
          </a:prstGeom>
          <a:blipFill>
            <a:blip r:embed="rId30" cstate="print"/>
            <a:stretch>
              <a:fillRect/>
            </a:stretch>
          </a:blipFill>
        </p:spPr>
        <p:txBody>
          <a:bodyPr wrap="square" lIns="0" tIns="0" rIns="0" bIns="0" rtlCol="0"/>
          <a:lstStyle/>
          <a:p>
            <a:endParaRPr/>
          </a:p>
        </p:txBody>
      </p:sp>
      <p:sp>
        <p:nvSpPr>
          <p:cNvPr id="96" name="object 96"/>
          <p:cNvSpPr/>
          <p:nvPr/>
        </p:nvSpPr>
        <p:spPr>
          <a:xfrm>
            <a:off x="8378951" y="2896361"/>
            <a:ext cx="397001" cy="111732"/>
          </a:xfrm>
          <a:prstGeom prst="rect">
            <a:avLst/>
          </a:prstGeom>
          <a:blipFill>
            <a:blip r:embed="rId31" cstate="print"/>
            <a:stretch>
              <a:fillRect/>
            </a:stretch>
          </a:blipFill>
        </p:spPr>
        <p:txBody>
          <a:bodyPr wrap="square" lIns="0" tIns="0" rIns="0" bIns="0" rtlCol="0"/>
          <a:lstStyle/>
          <a:p>
            <a:endParaRPr/>
          </a:p>
        </p:txBody>
      </p:sp>
      <p:sp>
        <p:nvSpPr>
          <p:cNvPr id="97" name="object 97"/>
          <p:cNvSpPr/>
          <p:nvPr/>
        </p:nvSpPr>
        <p:spPr>
          <a:xfrm>
            <a:off x="8382000" y="2829305"/>
            <a:ext cx="387096" cy="114300"/>
          </a:xfrm>
          <a:prstGeom prst="rect">
            <a:avLst/>
          </a:prstGeom>
          <a:blipFill>
            <a:blip r:embed="rId32" cstate="print"/>
            <a:stretch>
              <a:fillRect/>
            </a:stretch>
          </a:blipFill>
        </p:spPr>
        <p:txBody>
          <a:bodyPr wrap="square" lIns="0" tIns="0" rIns="0" bIns="0" rtlCol="0"/>
          <a:lstStyle/>
          <a:p>
            <a:endParaRPr/>
          </a:p>
        </p:txBody>
      </p:sp>
      <p:sp>
        <p:nvSpPr>
          <p:cNvPr id="98" name="object 98"/>
          <p:cNvSpPr/>
          <p:nvPr/>
        </p:nvSpPr>
        <p:spPr>
          <a:xfrm>
            <a:off x="8377427" y="2825368"/>
            <a:ext cx="397510" cy="122555"/>
          </a:xfrm>
          <a:custGeom>
            <a:avLst/>
            <a:gdLst/>
            <a:ahLst/>
            <a:cxnLst/>
            <a:rect l="l" t="t" r="r" b="b"/>
            <a:pathLst>
              <a:path w="397509" h="122555">
                <a:moveTo>
                  <a:pt x="762" y="67945"/>
                </a:moveTo>
                <a:lnTo>
                  <a:pt x="761" y="54229"/>
                </a:lnTo>
                <a:lnTo>
                  <a:pt x="0" y="57277"/>
                </a:lnTo>
                <a:lnTo>
                  <a:pt x="0" y="64897"/>
                </a:lnTo>
                <a:lnTo>
                  <a:pt x="762" y="67945"/>
                </a:lnTo>
                <a:close/>
              </a:path>
              <a:path w="397509" h="122555">
                <a:moveTo>
                  <a:pt x="395478" y="68707"/>
                </a:moveTo>
                <a:lnTo>
                  <a:pt x="395478" y="53467"/>
                </a:lnTo>
                <a:lnTo>
                  <a:pt x="393954" y="49657"/>
                </a:lnTo>
                <a:lnTo>
                  <a:pt x="332454" y="14811"/>
                </a:lnTo>
                <a:lnTo>
                  <a:pt x="282828" y="4874"/>
                </a:lnTo>
                <a:lnTo>
                  <a:pt x="227974" y="57"/>
                </a:lnTo>
                <a:lnTo>
                  <a:pt x="168166" y="0"/>
                </a:lnTo>
                <a:lnTo>
                  <a:pt x="112064" y="5074"/>
                </a:lnTo>
                <a:lnTo>
                  <a:pt x="62738" y="15165"/>
                </a:lnTo>
                <a:lnTo>
                  <a:pt x="24656" y="30278"/>
                </a:lnTo>
                <a:lnTo>
                  <a:pt x="2285" y="50419"/>
                </a:lnTo>
                <a:lnTo>
                  <a:pt x="1523" y="53467"/>
                </a:lnTo>
                <a:lnTo>
                  <a:pt x="761" y="53467"/>
                </a:lnTo>
                <a:lnTo>
                  <a:pt x="762" y="68707"/>
                </a:lnTo>
                <a:lnTo>
                  <a:pt x="1524" y="68707"/>
                </a:lnTo>
                <a:lnTo>
                  <a:pt x="3048" y="72517"/>
                </a:lnTo>
                <a:lnTo>
                  <a:pt x="9144" y="77838"/>
                </a:lnTo>
                <a:lnTo>
                  <a:pt x="9144" y="59563"/>
                </a:lnTo>
                <a:lnTo>
                  <a:pt x="9906" y="56515"/>
                </a:lnTo>
                <a:lnTo>
                  <a:pt x="9906" y="57277"/>
                </a:lnTo>
                <a:lnTo>
                  <a:pt x="11430" y="54229"/>
                </a:lnTo>
                <a:lnTo>
                  <a:pt x="33665" y="36292"/>
                </a:lnTo>
                <a:lnTo>
                  <a:pt x="70582" y="22859"/>
                </a:lnTo>
                <a:lnTo>
                  <a:pt x="117960" y="13931"/>
                </a:lnTo>
                <a:lnTo>
                  <a:pt x="169774" y="9656"/>
                </a:lnTo>
                <a:lnTo>
                  <a:pt x="227974" y="9655"/>
                </a:lnTo>
                <a:lnTo>
                  <a:pt x="280658" y="14179"/>
                </a:lnTo>
                <a:lnTo>
                  <a:pt x="327677" y="23275"/>
                </a:lnTo>
                <a:lnTo>
                  <a:pt x="364055" y="36879"/>
                </a:lnTo>
                <a:lnTo>
                  <a:pt x="385572" y="54991"/>
                </a:lnTo>
                <a:lnTo>
                  <a:pt x="386334" y="57277"/>
                </a:lnTo>
                <a:lnTo>
                  <a:pt x="386334" y="56515"/>
                </a:lnTo>
                <a:lnTo>
                  <a:pt x="387096" y="59563"/>
                </a:lnTo>
                <a:lnTo>
                  <a:pt x="387096" y="77905"/>
                </a:lnTo>
                <a:lnTo>
                  <a:pt x="393954" y="71755"/>
                </a:lnTo>
                <a:lnTo>
                  <a:pt x="395478" y="68707"/>
                </a:lnTo>
                <a:close/>
              </a:path>
              <a:path w="397509" h="122555">
                <a:moveTo>
                  <a:pt x="9906" y="58801"/>
                </a:moveTo>
                <a:lnTo>
                  <a:pt x="9144" y="59563"/>
                </a:lnTo>
                <a:lnTo>
                  <a:pt x="9144" y="60325"/>
                </a:lnTo>
                <a:lnTo>
                  <a:pt x="9252" y="60760"/>
                </a:lnTo>
                <a:lnTo>
                  <a:pt x="9906" y="58801"/>
                </a:lnTo>
                <a:close/>
              </a:path>
              <a:path w="397509" h="122555">
                <a:moveTo>
                  <a:pt x="9252" y="60760"/>
                </a:moveTo>
                <a:lnTo>
                  <a:pt x="9144" y="60325"/>
                </a:lnTo>
                <a:lnTo>
                  <a:pt x="9144" y="61087"/>
                </a:lnTo>
                <a:lnTo>
                  <a:pt x="9252" y="60760"/>
                </a:lnTo>
                <a:close/>
              </a:path>
              <a:path w="397509" h="122555">
                <a:moveTo>
                  <a:pt x="9906" y="63373"/>
                </a:moveTo>
                <a:lnTo>
                  <a:pt x="9252" y="60760"/>
                </a:lnTo>
                <a:lnTo>
                  <a:pt x="9144" y="61087"/>
                </a:lnTo>
                <a:lnTo>
                  <a:pt x="9144" y="62611"/>
                </a:lnTo>
                <a:lnTo>
                  <a:pt x="9906" y="63373"/>
                </a:lnTo>
                <a:close/>
              </a:path>
              <a:path w="397509" h="122555">
                <a:moveTo>
                  <a:pt x="387096" y="77905"/>
                </a:moveTo>
                <a:lnTo>
                  <a:pt x="387096" y="62611"/>
                </a:lnTo>
                <a:lnTo>
                  <a:pt x="386334" y="65659"/>
                </a:lnTo>
                <a:lnTo>
                  <a:pt x="386334" y="64897"/>
                </a:lnTo>
                <a:lnTo>
                  <a:pt x="325963" y="99204"/>
                </a:lnTo>
                <a:lnTo>
                  <a:pt x="278666" y="108148"/>
                </a:lnTo>
                <a:lnTo>
                  <a:pt x="226577" y="112499"/>
                </a:lnTo>
                <a:lnTo>
                  <a:pt x="169704" y="112576"/>
                </a:lnTo>
                <a:lnTo>
                  <a:pt x="116456" y="108040"/>
                </a:lnTo>
                <a:lnTo>
                  <a:pt x="69407" y="98971"/>
                </a:lnTo>
                <a:lnTo>
                  <a:pt x="32764" y="85357"/>
                </a:lnTo>
                <a:lnTo>
                  <a:pt x="10668" y="67183"/>
                </a:lnTo>
                <a:lnTo>
                  <a:pt x="9906" y="64897"/>
                </a:lnTo>
                <a:lnTo>
                  <a:pt x="9906" y="65659"/>
                </a:lnTo>
                <a:lnTo>
                  <a:pt x="9144" y="62611"/>
                </a:lnTo>
                <a:lnTo>
                  <a:pt x="9144" y="77838"/>
                </a:lnTo>
                <a:lnTo>
                  <a:pt x="25846" y="92417"/>
                </a:lnTo>
                <a:lnTo>
                  <a:pt x="64189" y="107355"/>
                </a:lnTo>
                <a:lnTo>
                  <a:pt x="113625" y="117314"/>
                </a:lnTo>
                <a:lnTo>
                  <a:pt x="169704" y="122282"/>
                </a:lnTo>
                <a:lnTo>
                  <a:pt x="227974" y="122245"/>
                </a:lnTo>
                <a:lnTo>
                  <a:pt x="283986" y="117187"/>
                </a:lnTo>
                <a:lnTo>
                  <a:pt x="333286" y="107096"/>
                </a:lnTo>
                <a:lnTo>
                  <a:pt x="371426" y="91956"/>
                </a:lnTo>
                <a:lnTo>
                  <a:pt x="387096" y="77905"/>
                </a:lnTo>
                <a:close/>
              </a:path>
              <a:path w="397509" h="122555">
                <a:moveTo>
                  <a:pt x="396240" y="64897"/>
                </a:moveTo>
                <a:lnTo>
                  <a:pt x="396240" y="57277"/>
                </a:lnTo>
                <a:lnTo>
                  <a:pt x="395478" y="54229"/>
                </a:lnTo>
                <a:lnTo>
                  <a:pt x="395478" y="67945"/>
                </a:lnTo>
                <a:lnTo>
                  <a:pt x="396240" y="64897"/>
                </a:lnTo>
                <a:close/>
              </a:path>
              <a:path w="397509" h="122555">
                <a:moveTo>
                  <a:pt x="397002" y="61087"/>
                </a:moveTo>
                <a:lnTo>
                  <a:pt x="397002" y="60325"/>
                </a:lnTo>
                <a:lnTo>
                  <a:pt x="396240" y="58039"/>
                </a:lnTo>
                <a:lnTo>
                  <a:pt x="396240" y="64135"/>
                </a:lnTo>
                <a:lnTo>
                  <a:pt x="397002" y="61087"/>
                </a:lnTo>
                <a:close/>
              </a:path>
            </a:pathLst>
          </a:custGeom>
          <a:solidFill>
            <a:srgbClr val="808080"/>
          </a:solidFill>
        </p:spPr>
        <p:txBody>
          <a:bodyPr wrap="square" lIns="0" tIns="0" rIns="0" bIns="0" rtlCol="0"/>
          <a:lstStyle/>
          <a:p>
            <a:endParaRPr/>
          </a:p>
        </p:txBody>
      </p:sp>
      <p:sp>
        <p:nvSpPr>
          <p:cNvPr id="99" name="object 99"/>
          <p:cNvSpPr/>
          <p:nvPr/>
        </p:nvSpPr>
        <p:spPr>
          <a:xfrm>
            <a:off x="8459724" y="2859023"/>
            <a:ext cx="219455" cy="53339"/>
          </a:xfrm>
          <a:prstGeom prst="rect">
            <a:avLst/>
          </a:prstGeom>
          <a:blipFill>
            <a:blip r:embed="rId33" cstate="print"/>
            <a:stretch>
              <a:fillRect/>
            </a:stretch>
          </a:blipFill>
        </p:spPr>
        <p:txBody>
          <a:bodyPr wrap="square" lIns="0" tIns="0" rIns="0" bIns="0" rtlCol="0"/>
          <a:lstStyle/>
          <a:p>
            <a:endParaRPr/>
          </a:p>
        </p:txBody>
      </p:sp>
      <p:sp>
        <p:nvSpPr>
          <p:cNvPr id="100" name="object 100"/>
          <p:cNvSpPr/>
          <p:nvPr/>
        </p:nvSpPr>
        <p:spPr>
          <a:xfrm>
            <a:off x="8459724" y="2852166"/>
            <a:ext cx="219455" cy="67055"/>
          </a:xfrm>
          <a:prstGeom prst="rect">
            <a:avLst/>
          </a:prstGeom>
          <a:blipFill>
            <a:blip r:embed="rId24" cstate="print"/>
            <a:stretch>
              <a:fillRect/>
            </a:stretch>
          </a:blipFill>
        </p:spPr>
        <p:txBody>
          <a:bodyPr wrap="square" lIns="0" tIns="0" rIns="0" bIns="0" rtlCol="0"/>
          <a:lstStyle/>
          <a:p>
            <a:endParaRPr/>
          </a:p>
        </p:txBody>
      </p:sp>
      <p:sp>
        <p:nvSpPr>
          <p:cNvPr id="101" name="object 101"/>
          <p:cNvSpPr/>
          <p:nvPr/>
        </p:nvSpPr>
        <p:spPr>
          <a:xfrm>
            <a:off x="8469629" y="2852166"/>
            <a:ext cx="200025" cy="67310"/>
          </a:xfrm>
          <a:custGeom>
            <a:avLst/>
            <a:gdLst/>
            <a:ahLst/>
            <a:cxnLst/>
            <a:rect l="l" t="t" r="r" b="b"/>
            <a:pathLst>
              <a:path w="200025" h="67310">
                <a:moveTo>
                  <a:pt x="137535" y="54101"/>
                </a:moveTo>
                <a:lnTo>
                  <a:pt x="71628" y="1523"/>
                </a:lnTo>
                <a:lnTo>
                  <a:pt x="70866" y="761"/>
                </a:lnTo>
                <a:lnTo>
                  <a:pt x="69342" y="0"/>
                </a:lnTo>
                <a:lnTo>
                  <a:pt x="0" y="0"/>
                </a:lnTo>
                <a:lnTo>
                  <a:pt x="0" y="12954"/>
                </a:lnTo>
                <a:lnTo>
                  <a:pt x="64008" y="12953"/>
                </a:lnTo>
                <a:lnTo>
                  <a:pt x="64008" y="11429"/>
                </a:lnTo>
                <a:lnTo>
                  <a:pt x="67818" y="12953"/>
                </a:lnTo>
                <a:lnTo>
                  <a:pt x="67818" y="14469"/>
                </a:lnTo>
                <a:lnTo>
                  <a:pt x="131826" y="65531"/>
                </a:lnTo>
                <a:lnTo>
                  <a:pt x="132588" y="66293"/>
                </a:lnTo>
                <a:lnTo>
                  <a:pt x="134112" y="67055"/>
                </a:lnTo>
                <a:lnTo>
                  <a:pt x="135636" y="67055"/>
                </a:lnTo>
                <a:lnTo>
                  <a:pt x="135636" y="54101"/>
                </a:lnTo>
                <a:lnTo>
                  <a:pt x="137535" y="54101"/>
                </a:lnTo>
                <a:close/>
              </a:path>
              <a:path w="200025" h="67310">
                <a:moveTo>
                  <a:pt x="67818" y="12953"/>
                </a:moveTo>
                <a:lnTo>
                  <a:pt x="64008" y="11429"/>
                </a:lnTo>
                <a:lnTo>
                  <a:pt x="65918" y="12953"/>
                </a:lnTo>
                <a:lnTo>
                  <a:pt x="67818" y="12953"/>
                </a:lnTo>
                <a:close/>
              </a:path>
              <a:path w="200025" h="67310">
                <a:moveTo>
                  <a:pt x="65918" y="12953"/>
                </a:moveTo>
                <a:lnTo>
                  <a:pt x="64008" y="11429"/>
                </a:lnTo>
                <a:lnTo>
                  <a:pt x="64008" y="12953"/>
                </a:lnTo>
                <a:lnTo>
                  <a:pt x="65918" y="12953"/>
                </a:lnTo>
                <a:close/>
              </a:path>
              <a:path w="200025" h="67310">
                <a:moveTo>
                  <a:pt x="67818" y="14469"/>
                </a:moveTo>
                <a:lnTo>
                  <a:pt x="67818" y="12953"/>
                </a:lnTo>
                <a:lnTo>
                  <a:pt x="65918" y="12953"/>
                </a:lnTo>
                <a:lnTo>
                  <a:pt x="67818" y="14469"/>
                </a:lnTo>
                <a:close/>
              </a:path>
              <a:path w="200025" h="67310">
                <a:moveTo>
                  <a:pt x="139446" y="55625"/>
                </a:moveTo>
                <a:lnTo>
                  <a:pt x="137535" y="54101"/>
                </a:lnTo>
                <a:lnTo>
                  <a:pt x="135636" y="54101"/>
                </a:lnTo>
                <a:lnTo>
                  <a:pt x="139446" y="55625"/>
                </a:lnTo>
                <a:close/>
              </a:path>
              <a:path w="200025" h="67310">
                <a:moveTo>
                  <a:pt x="139446" y="67055"/>
                </a:moveTo>
                <a:lnTo>
                  <a:pt x="139446" y="55625"/>
                </a:lnTo>
                <a:lnTo>
                  <a:pt x="135636" y="54101"/>
                </a:lnTo>
                <a:lnTo>
                  <a:pt x="135636" y="67055"/>
                </a:lnTo>
                <a:lnTo>
                  <a:pt x="139446" y="67055"/>
                </a:lnTo>
                <a:close/>
              </a:path>
              <a:path w="200025" h="67310">
                <a:moveTo>
                  <a:pt x="199644" y="67055"/>
                </a:moveTo>
                <a:lnTo>
                  <a:pt x="199644" y="54101"/>
                </a:lnTo>
                <a:lnTo>
                  <a:pt x="137535" y="54101"/>
                </a:lnTo>
                <a:lnTo>
                  <a:pt x="139446" y="55625"/>
                </a:lnTo>
                <a:lnTo>
                  <a:pt x="139446" y="67055"/>
                </a:lnTo>
                <a:lnTo>
                  <a:pt x="199644" y="67055"/>
                </a:lnTo>
                <a:close/>
              </a:path>
            </a:pathLst>
          </a:custGeom>
          <a:solidFill>
            <a:srgbClr val="808080"/>
          </a:solidFill>
        </p:spPr>
        <p:txBody>
          <a:bodyPr wrap="square" lIns="0" tIns="0" rIns="0" bIns="0" rtlCol="0"/>
          <a:lstStyle/>
          <a:p>
            <a:endParaRPr/>
          </a:p>
        </p:txBody>
      </p:sp>
      <p:sp>
        <p:nvSpPr>
          <p:cNvPr id="102" name="object 102"/>
          <p:cNvSpPr/>
          <p:nvPr/>
        </p:nvSpPr>
        <p:spPr>
          <a:xfrm>
            <a:off x="8378951" y="2883407"/>
            <a:ext cx="9525" cy="76200"/>
          </a:xfrm>
          <a:custGeom>
            <a:avLst/>
            <a:gdLst/>
            <a:ahLst/>
            <a:cxnLst/>
            <a:rect l="l" t="t" r="r" b="b"/>
            <a:pathLst>
              <a:path w="9525" h="76200">
                <a:moveTo>
                  <a:pt x="0" y="0"/>
                </a:moveTo>
                <a:lnTo>
                  <a:pt x="0" y="76200"/>
                </a:lnTo>
                <a:lnTo>
                  <a:pt x="9144" y="76200"/>
                </a:lnTo>
                <a:lnTo>
                  <a:pt x="9144" y="0"/>
                </a:lnTo>
                <a:lnTo>
                  <a:pt x="0" y="0"/>
                </a:lnTo>
                <a:close/>
              </a:path>
            </a:pathLst>
          </a:custGeom>
          <a:solidFill>
            <a:srgbClr val="808080"/>
          </a:solidFill>
        </p:spPr>
        <p:txBody>
          <a:bodyPr wrap="square" lIns="0" tIns="0" rIns="0" bIns="0" rtlCol="0"/>
          <a:lstStyle/>
          <a:p>
            <a:endParaRPr/>
          </a:p>
        </p:txBody>
      </p:sp>
      <p:sp>
        <p:nvSpPr>
          <p:cNvPr id="103" name="object 103"/>
          <p:cNvSpPr/>
          <p:nvPr/>
        </p:nvSpPr>
        <p:spPr>
          <a:xfrm>
            <a:off x="8764524" y="2886455"/>
            <a:ext cx="10160" cy="74930"/>
          </a:xfrm>
          <a:custGeom>
            <a:avLst/>
            <a:gdLst/>
            <a:ahLst/>
            <a:cxnLst/>
            <a:rect l="l" t="t" r="r" b="b"/>
            <a:pathLst>
              <a:path w="10159" h="74930">
                <a:moveTo>
                  <a:pt x="0" y="0"/>
                </a:moveTo>
                <a:lnTo>
                  <a:pt x="0" y="74675"/>
                </a:lnTo>
                <a:lnTo>
                  <a:pt x="9905" y="74675"/>
                </a:lnTo>
                <a:lnTo>
                  <a:pt x="9905" y="0"/>
                </a:lnTo>
                <a:lnTo>
                  <a:pt x="0" y="0"/>
                </a:lnTo>
                <a:close/>
              </a:path>
            </a:pathLst>
          </a:custGeom>
          <a:solidFill>
            <a:srgbClr val="808080"/>
          </a:solidFill>
        </p:spPr>
        <p:txBody>
          <a:bodyPr wrap="square" lIns="0" tIns="0" rIns="0" bIns="0" rtlCol="0"/>
          <a:lstStyle/>
          <a:p>
            <a:endParaRPr/>
          </a:p>
        </p:txBody>
      </p:sp>
      <p:sp>
        <p:nvSpPr>
          <p:cNvPr id="104" name="object 104"/>
          <p:cNvSpPr/>
          <p:nvPr/>
        </p:nvSpPr>
        <p:spPr>
          <a:xfrm>
            <a:off x="8431529" y="4171188"/>
            <a:ext cx="488442" cy="115062"/>
          </a:xfrm>
          <a:prstGeom prst="rect">
            <a:avLst/>
          </a:prstGeom>
          <a:blipFill>
            <a:blip r:embed="rId34" cstate="print"/>
            <a:stretch>
              <a:fillRect/>
            </a:stretch>
          </a:blipFill>
        </p:spPr>
        <p:txBody>
          <a:bodyPr wrap="square" lIns="0" tIns="0" rIns="0" bIns="0" rtlCol="0"/>
          <a:lstStyle/>
          <a:p>
            <a:endParaRPr/>
          </a:p>
        </p:txBody>
      </p:sp>
      <p:sp>
        <p:nvSpPr>
          <p:cNvPr id="105" name="object 105"/>
          <p:cNvSpPr/>
          <p:nvPr/>
        </p:nvSpPr>
        <p:spPr>
          <a:xfrm>
            <a:off x="8426958" y="4158996"/>
            <a:ext cx="497585" cy="131871"/>
          </a:xfrm>
          <a:prstGeom prst="rect">
            <a:avLst/>
          </a:prstGeom>
          <a:blipFill>
            <a:blip r:embed="rId35" cstate="print"/>
            <a:stretch>
              <a:fillRect/>
            </a:stretch>
          </a:blipFill>
        </p:spPr>
        <p:txBody>
          <a:bodyPr wrap="square" lIns="0" tIns="0" rIns="0" bIns="0" rtlCol="0"/>
          <a:lstStyle/>
          <a:p>
            <a:endParaRPr/>
          </a:p>
        </p:txBody>
      </p:sp>
      <p:sp>
        <p:nvSpPr>
          <p:cNvPr id="106" name="object 106"/>
          <p:cNvSpPr/>
          <p:nvPr/>
        </p:nvSpPr>
        <p:spPr>
          <a:xfrm>
            <a:off x="8430005" y="4080509"/>
            <a:ext cx="487680" cy="134874"/>
          </a:xfrm>
          <a:prstGeom prst="rect">
            <a:avLst/>
          </a:prstGeom>
          <a:blipFill>
            <a:blip r:embed="rId36" cstate="print"/>
            <a:stretch>
              <a:fillRect/>
            </a:stretch>
          </a:blipFill>
        </p:spPr>
        <p:txBody>
          <a:bodyPr wrap="square" lIns="0" tIns="0" rIns="0" bIns="0" rtlCol="0"/>
          <a:lstStyle/>
          <a:p>
            <a:endParaRPr/>
          </a:p>
        </p:txBody>
      </p:sp>
      <p:sp>
        <p:nvSpPr>
          <p:cNvPr id="107" name="object 107"/>
          <p:cNvSpPr/>
          <p:nvPr/>
        </p:nvSpPr>
        <p:spPr>
          <a:xfrm>
            <a:off x="8424672" y="4076073"/>
            <a:ext cx="497840" cy="144145"/>
          </a:xfrm>
          <a:custGeom>
            <a:avLst/>
            <a:gdLst/>
            <a:ahLst/>
            <a:cxnLst/>
            <a:rect l="l" t="t" r="r" b="b"/>
            <a:pathLst>
              <a:path w="497840" h="144145">
                <a:moveTo>
                  <a:pt x="762" y="75302"/>
                </a:moveTo>
                <a:lnTo>
                  <a:pt x="761" y="67682"/>
                </a:lnTo>
                <a:lnTo>
                  <a:pt x="0" y="71492"/>
                </a:lnTo>
                <a:lnTo>
                  <a:pt x="0" y="72254"/>
                </a:lnTo>
                <a:lnTo>
                  <a:pt x="762" y="75302"/>
                </a:lnTo>
                <a:close/>
              </a:path>
              <a:path w="497840" h="144145">
                <a:moveTo>
                  <a:pt x="1524" y="79874"/>
                </a:moveTo>
                <a:lnTo>
                  <a:pt x="1523" y="63872"/>
                </a:lnTo>
                <a:lnTo>
                  <a:pt x="761" y="66920"/>
                </a:lnTo>
                <a:lnTo>
                  <a:pt x="762" y="76064"/>
                </a:lnTo>
                <a:lnTo>
                  <a:pt x="1524" y="79874"/>
                </a:lnTo>
                <a:close/>
              </a:path>
              <a:path w="497840" h="144145">
                <a:moveTo>
                  <a:pt x="497586" y="76064"/>
                </a:moveTo>
                <a:lnTo>
                  <a:pt x="497586" y="66920"/>
                </a:lnTo>
                <a:lnTo>
                  <a:pt x="496823" y="63872"/>
                </a:lnTo>
                <a:lnTo>
                  <a:pt x="496823" y="63110"/>
                </a:lnTo>
                <a:lnTo>
                  <a:pt x="496062" y="63110"/>
                </a:lnTo>
                <a:lnTo>
                  <a:pt x="494538" y="58538"/>
                </a:lnTo>
                <a:lnTo>
                  <a:pt x="472488" y="39006"/>
                </a:lnTo>
                <a:lnTo>
                  <a:pt x="436764" y="23377"/>
                </a:lnTo>
                <a:lnTo>
                  <a:pt x="390420" y="11656"/>
                </a:lnTo>
                <a:lnTo>
                  <a:pt x="336508" y="3850"/>
                </a:lnTo>
                <a:lnTo>
                  <a:pt x="278622" y="0"/>
                </a:lnTo>
                <a:lnTo>
                  <a:pt x="218203" y="4"/>
                </a:lnTo>
                <a:lnTo>
                  <a:pt x="159917" y="3976"/>
                </a:lnTo>
                <a:lnTo>
                  <a:pt x="106280" y="11886"/>
                </a:lnTo>
                <a:lnTo>
                  <a:pt x="60347" y="23739"/>
                </a:lnTo>
                <a:lnTo>
                  <a:pt x="25172" y="39542"/>
                </a:lnTo>
                <a:lnTo>
                  <a:pt x="2285" y="63110"/>
                </a:lnTo>
                <a:lnTo>
                  <a:pt x="1523" y="63110"/>
                </a:lnTo>
                <a:lnTo>
                  <a:pt x="1524" y="80636"/>
                </a:lnTo>
                <a:lnTo>
                  <a:pt x="2286" y="80636"/>
                </a:lnTo>
                <a:lnTo>
                  <a:pt x="3810" y="84446"/>
                </a:lnTo>
                <a:lnTo>
                  <a:pt x="6096" y="88256"/>
                </a:lnTo>
                <a:lnTo>
                  <a:pt x="9906" y="90870"/>
                </a:lnTo>
                <a:lnTo>
                  <a:pt x="9906" y="69206"/>
                </a:lnTo>
                <a:lnTo>
                  <a:pt x="10668" y="66158"/>
                </a:lnTo>
                <a:lnTo>
                  <a:pt x="10668" y="66920"/>
                </a:lnTo>
                <a:lnTo>
                  <a:pt x="12192" y="63110"/>
                </a:lnTo>
                <a:lnTo>
                  <a:pt x="33895" y="45308"/>
                </a:lnTo>
                <a:lnTo>
                  <a:pt x="113190" y="20383"/>
                </a:lnTo>
                <a:lnTo>
                  <a:pt x="165018" y="13272"/>
                </a:lnTo>
                <a:lnTo>
                  <a:pt x="219639" y="9828"/>
                </a:lnTo>
                <a:lnTo>
                  <a:pt x="278622" y="9777"/>
                </a:lnTo>
                <a:lnTo>
                  <a:pt x="334634" y="13405"/>
                </a:lnTo>
                <a:lnTo>
                  <a:pt x="386275" y="20623"/>
                </a:lnTo>
                <a:lnTo>
                  <a:pt x="430664" y="31437"/>
                </a:lnTo>
                <a:lnTo>
                  <a:pt x="486156" y="63872"/>
                </a:lnTo>
                <a:lnTo>
                  <a:pt x="487680" y="66920"/>
                </a:lnTo>
                <a:lnTo>
                  <a:pt x="487680" y="66158"/>
                </a:lnTo>
                <a:lnTo>
                  <a:pt x="488442" y="69206"/>
                </a:lnTo>
                <a:lnTo>
                  <a:pt x="488442" y="88382"/>
                </a:lnTo>
                <a:lnTo>
                  <a:pt x="496823" y="79874"/>
                </a:lnTo>
                <a:lnTo>
                  <a:pt x="497586" y="76064"/>
                </a:lnTo>
                <a:close/>
              </a:path>
              <a:path w="497840" h="144145">
                <a:moveTo>
                  <a:pt x="488442" y="88382"/>
                </a:moveTo>
                <a:lnTo>
                  <a:pt x="488442" y="73778"/>
                </a:lnTo>
                <a:lnTo>
                  <a:pt x="487680" y="77588"/>
                </a:lnTo>
                <a:lnTo>
                  <a:pt x="487680" y="76826"/>
                </a:lnTo>
                <a:lnTo>
                  <a:pt x="429843" y="112320"/>
                </a:lnTo>
                <a:lnTo>
                  <a:pt x="385171" y="123139"/>
                </a:lnTo>
                <a:lnTo>
                  <a:pt x="333327" y="130347"/>
                </a:lnTo>
                <a:lnTo>
                  <a:pt x="278622" y="133844"/>
                </a:lnTo>
                <a:lnTo>
                  <a:pt x="249174" y="133918"/>
                </a:lnTo>
                <a:lnTo>
                  <a:pt x="218203" y="133806"/>
                </a:lnTo>
                <a:lnTo>
                  <a:pt x="163552" y="130233"/>
                </a:lnTo>
                <a:lnTo>
                  <a:pt x="111809" y="122927"/>
                </a:lnTo>
                <a:lnTo>
                  <a:pt x="67288" y="111976"/>
                </a:lnTo>
                <a:lnTo>
                  <a:pt x="11430" y="79112"/>
                </a:lnTo>
                <a:lnTo>
                  <a:pt x="10668" y="76826"/>
                </a:lnTo>
                <a:lnTo>
                  <a:pt x="10668" y="77588"/>
                </a:lnTo>
                <a:lnTo>
                  <a:pt x="9906" y="73778"/>
                </a:lnTo>
                <a:lnTo>
                  <a:pt x="9906" y="90870"/>
                </a:lnTo>
                <a:lnTo>
                  <a:pt x="41369" y="112456"/>
                </a:lnTo>
                <a:lnTo>
                  <a:pt x="93632" y="128663"/>
                </a:lnTo>
                <a:lnTo>
                  <a:pt x="152566" y="138332"/>
                </a:lnTo>
                <a:lnTo>
                  <a:pt x="207852" y="142920"/>
                </a:lnTo>
                <a:lnTo>
                  <a:pt x="249174" y="143882"/>
                </a:lnTo>
                <a:lnTo>
                  <a:pt x="274320" y="143882"/>
                </a:lnTo>
                <a:lnTo>
                  <a:pt x="332580" y="139862"/>
                </a:lnTo>
                <a:lnTo>
                  <a:pt x="379909" y="133408"/>
                </a:lnTo>
                <a:lnTo>
                  <a:pt x="430035" y="122029"/>
                </a:lnTo>
                <a:lnTo>
                  <a:pt x="472304" y="104760"/>
                </a:lnTo>
                <a:lnTo>
                  <a:pt x="488442" y="88382"/>
                </a:lnTo>
                <a:close/>
              </a:path>
            </a:pathLst>
          </a:custGeom>
          <a:solidFill>
            <a:srgbClr val="808080"/>
          </a:solidFill>
        </p:spPr>
        <p:txBody>
          <a:bodyPr wrap="square" lIns="0" tIns="0" rIns="0" bIns="0" rtlCol="0"/>
          <a:lstStyle/>
          <a:p>
            <a:endParaRPr/>
          </a:p>
        </p:txBody>
      </p:sp>
      <p:sp>
        <p:nvSpPr>
          <p:cNvPr id="108" name="object 108"/>
          <p:cNvSpPr/>
          <p:nvPr/>
        </p:nvSpPr>
        <p:spPr>
          <a:xfrm>
            <a:off x="8527541" y="4114800"/>
            <a:ext cx="275844" cy="64008"/>
          </a:xfrm>
          <a:prstGeom prst="rect">
            <a:avLst/>
          </a:prstGeom>
          <a:blipFill>
            <a:blip r:embed="rId37" cstate="print"/>
            <a:stretch>
              <a:fillRect/>
            </a:stretch>
          </a:blipFill>
        </p:spPr>
        <p:txBody>
          <a:bodyPr wrap="square" lIns="0" tIns="0" rIns="0" bIns="0" rtlCol="0"/>
          <a:lstStyle/>
          <a:p>
            <a:endParaRPr/>
          </a:p>
        </p:txBody>
      </p:sp>
      <p:sp>
        <p:nvSpPr>
          <p:cNvPr id="109" name="object 109"/>
          <p:cNvSpPr/>
          <p:nvPr/>
        </p:nvSpPr>
        <p:spPr>
          <a:xfrm>
            <a:off x="8527541" y="4108703"/>
            <a:ext cx="275844" cy="76200"/>
          </a:xfrm>
          <a:prstGeom prst="rect">
            <a:avLst/>
          </a:prstGeom>
          <a:blipFill>
            <a:blip r:embed="rId38" cstate="print"/>
            <a:stretch>
              <a:fillRect/>
            </a:stretch>
          </a:blipFill>
        </p:spPr>
        <p:txBody>
          <a:bodyPr wrap="square" lIns="0" tIns="0" rIns="0" bIns="0" rtlCol="0"/>
          <a:lstStyle/>
          <a:p>
            <a:endParaRPr/>
          </a:p>
        </p:txBody>
      </p:sp>
      <p:sp>
        <p:nvSpPr>
          <p:cNvPr id="110" name="object 110"/>
          <p:cNvSpPr/>
          <p:nvPr/>
        </p:nvSpPr>
        <p:spPr>
          <a:xfrm>
            <a:off x="8540496" y="4108703"/>
            <a:ext cx="250698" cy="76200"/>
          </a:xfrm>
          <a:prstGeom prst="rect">
            <a:avLst/>
          </a:prstGeom>
          <a:blipFill>
            <a:blip r:embed="rId39" cstate="print"/>
            <a:stretch>
              <a:fillRect/>
            </a:stretch>
          </a:blipFill>
        </p:spPr>
        <p:txBody>
          <a:bodyPr wrap="square" lIns="0" tIns="0" rIns="0" bIns="0" rtlCol="0"/>
          <a:lstStyle/>
          <a:p>
            <a:endParaRPr/>
          </a:p>
        </p:txBody>
      </p:sp>
      <p:sp>
        <p:nvSpPr>
          <p:cNvPr id="111" name="object 111"/>
          <p:cNvSpPr/>
          <p:nvPr/>
        </p:nvSpPr>
        <p:spPr>
          <a:xfrm>
            <a:off x="8431529" y="4143755"/>
            <a:ext cx="0" cy="64769"/>
          </a:xfrm>
          <a:custGeom>
            <a:avLst/>
            <a:gdLst/>
            <a:ahLst/>
            <a:cxnLst/>
            <a:rect l="l" t="t" r="r" b="b"/>
            <a:pathLst>
              <a:path h="64770">
                <a:moveTo>
                  <a:pt x="0" y="0"/>
                </a:moveTo>
                <a:lnTo>
                  <a:pt x="0" y="64770"/>
                </a:lnTo>
              </a:path>
            </a:pathLst>
          </a:custGeom>
          <a:ln w="9143">
            <a:solidFill>
              <a:srgbClr val="808080"/>
            </a:solidFill>
          </a:ln>
        </p:spPr>
        <p:txBody>
          <a:bodyPr wrap="square" lIns="0" tIns="0" rIns="0" bIns="0" rtlCol="0"/>
          <a:lstStyle/>
          <a:p>
            <a:endParaRPr/>
          </a:p>
        </p:txBody>
      </p:sp>
      <p:sp>
        <p:nvSpPr>
          <p:cNvPr id="112" name="object 112"/>
          <p:cNvSpPr/>
          <p:nvPr/>
        </p:nvSpPr>
        <p:spPr>
          <a:xfrm>
            <a:off x="8913113" y="4147565"/>
            <a:ext cx="9525" cy="85725"/>
          </a:xfrm>
          <a:custGeom>
            <a:avLst/>
            <a:gdLst/>
            <a:ahLst/>
            <a:cxnLst/>
            <a:rect l="l" t="t" r="r" b="b"/>
            <a:pathLst>
              <a:path w="9525" h="85725">
                <a:moveTo>
                  <a:pt x="0" y="0"/>
                </a:moveTo>
                <a:lnTo>
                  <a:pt x="0" y="85344"/>
                </a:lnTo>
                <a:lnTo>
                  <a:pt x="9143" y="85344"/>
                </a:lnTo>
                <a:lnTo>
                  <a:pt x="9143" y="0"/>
                </a:lnTo>
                <a:lnTo>
                  <a:pt x="0" y="0"/>
                </a:lnTo>
                <a:close/>
              </a:path>
            </a:pathLst>
          </a:custGeom>
          <a:solidFill>
            <a:srgbClr val="808080"/>
          </a:solidFill>
        </p:spPr>
        <p:txBody>
          <a:bodyPr wrap="square" lIns="0" tIns="0" rIns="0" bIns="0" rtlCol="0"/>
          <a:lstStyle/>
          <a:p>
            <a:endParaRPr/>
          </a:p>
        </p:txBody>
      </p:sp>
      <p:sp>
        <p:nvSpPr>
          <p:cNvPr id="113" name="object 113"/>
          <p:cNvSpPr/>
          <p:nvPr/>
        </p:nvSpPr>
        <p:spPr>
          <a:xfrm>
            <a:off x="7120127" y="4178808"/>
            <a:ext cx="300355" cy="0"/>
          </a:xfrm>
          <a:custGeom>
            <a:avLst/>
            <a:gdLst/>
            <a:ahLst/>
            <a:cxnLst/>
            <a:rect l="l" t="t" r="r" b="b"/>
            <a:pathLst>
              <a:path w="300354">
                <a:moveTo>
                  <a:pt x="0" y="0"/>
                </a:moveTo>
                <a:lnTo>
                  <a:pt x="300227" y="0"/>
                </a:lnTo>
              </a:path>
            </a:pathLst>
          </a:custGeom>
          <a:ln w="9144">
            <a:solidFill>
              <a:srgbClr val="808080"/>
            </a:solidFill>
          </a:ln>
        </p:spPr>
        <p:txBody>
          <a:bodyPr wrap="square" lIns="0" tIns="0" rIns="0" bIns="0" rtlCol="0"/>
          <a:lstStyle/>
          <a:p>
            <a:endParaRPr/>
          </a:p>
        </p:txBody>
      </p:sp>
      <p:sp>
        <p:nvSpPr>
          <p:cNvPr id="114" name="object 114"/>
          <p:cNvSpPr/>
          <p:nvPr/>
        </p:nvSpPr>
        <p:spPr>
          <a:xfrm>
            <a:off x="7780781" y="4158234"/>
            <a:ext cx="488442" cy="115824"/>
          </a:xfrm>
          <a:prstGeom prst="rect">
            <a:avLst/>
          </a:prstGeom>
          <a:blipFill>
            <a:blip r:embed="rId40" cstate="print"/>
            <a:stretch>
              <a:fillRect/>
            </a:stretch>
          </a:blipFill>
        </p:spPr>
        <p:txBody>
          <a:bodyPr wrap="square" lIns="0" tIns="0" rIns="0" bIns="0" rtlCol="0"/>
          <a:lstStyle/>
          <a:p>
            <a:endParaRPr/>
          </a:p>
        </p:txBody>
      </p:sp>
      <p:sp>
        <p:nvSpPr>
          <p:cNvPr id="115" name="object 115"/>
          <p:cNvSpPr/>
          <p:nvPr/>
        </p:nvSpPr>
        <p:spPr>
          <a:xfrm>
            <a:off x="7776210" y="4146803"/>
            <a:ext cx="497585" cy="131517"/>
          </a:xfrm>
          <a:prstGeom prst="rect">
            <a:avLst/>
          </a:prstGeom>
          <a:blipFill>
            <a:blip r:embed="rId41" cstate="print"/>
            <a:stretch>
              <a:fillRect/>
            </a:stretch>
          </a:blipFill>
        </p:spPr>
        <p:txBody>
          <a:bodyPr wrap="square" lIns="0" tIns="0" rIns="0" bIns="0" rtlCol="0"/>
          <a:lstStyle/>
          <a:p>
            <a:endParaRPr/>
          </a:p>
        </p:txBody>
      </p:sp>
      <p:sp>
        <p:nvSpPr>
          <p:cNvPr id="116" name="object 116"/>
          <p:cNvSpPr/>
          <p:nvPr/>
        </p:nvSpPr>
        <p:spPr>
          <a:xfrm>
            <a:off x="7778496" y="4067555"/>
            <a:ext cx="488442" cy="134874"/>
          </a:xfrm>
          <a:prstGeom prst="rect">
            <a:avLst/>
          </a:prstGeom>
          <a:blipFill>
            <a:blip r:embed="rId42" cstate="print"/>
            <a:stretch>
              <a:fillRect/>
            </a:stretch>
          </a:blipFill>
        </p:spPr>
        <p:txBody>
          <a:bodyPr wrap="square" lIns="0" tIns="0" rIns="0" bIns="0" rtlCol="0"/>
          <a:lstStyle/>
          <a:p>
            <a:endParaRPr/>
          </a:p>
        </p:txBody>
      </p:sp>
      <p:sp>
        <p:nvSpPr>
          <p:cNvPr id="117" name="object 117"/>
          <p:cNvSpPr/>
          <p:nvPr/>
        </p:nvSpPr>
        <p:spPr>
          <a:xfrm>
            <a:off x="7773924" y="4062984"/>
            <a:ext cx="497840" cy="144145"/>
          </a:xfrm>
          <a:custGeom>
            <a:avLst/>
            <a:gdLst/>
            <a:ahLst/>
            <a:cxnLst/>
            <a:rect l="l" t="t" r="r" b="b"/>
            <a:pathLst>
              <a:path w="497840" h="144145">
                <a:moveTo>
                  <a:pt x="762" y="76199"/>
                </a:moveTo>
                <a:lnTo>
                  <a:pt x="761" y="67817"/>
                </a:lnTo>
                <a:lnTo>
                  <a:pt x="0" y="71627"/>
                </a:lnTo>
                <a:lnTo>
                  <a:pt x="0" y="72389"/>
                </a:lnTo>
                <a:lnTo>
                  <a:pt x="762" y="76199"/>
                </a:lnTo>
                <a:close/>
              </a:path>
              <a:path w="497840" h="144145">
                <a:moveTo>
                  <a:pt x="1524" y="80009"/>
                </a:moveTo>
                <a:lnTo>
                  <a:pt x="1523" y="64007"/>
                </a:lnTo>
                <a:lnTo>
                  <a:pt x="761" y="67055"/>
                </a:lnTo>
                <a:lnTo>
                  <a:pt x="762" y="76961"/>
                </a:lnTo>
                <a:lnTo>
                  <a:pt x="1524" y="80009"/>
                </a:lnTo>
                <a:close/>
              </a:path>
              <a:path w="497840" h="144145">
                <a:moveTo>
                  <a:pt x="496062" y="80771"/>
                </a:moveTo>
                <a:lnTo>
                  <a:pt x="496062" y="63245"/>
                </a:lnTo>
                <a:lnTo>
                  <a:pt x="468259" y="36952"/>
                </a:lnTo>
                <a:lnTo>
                  <a:pt x="420490" y="19034"/>
                </a:lnTo>
                <a:lnTo>
                  <a:pt x="364448" y="7937"/>
                </a:lnTo>
                <a:lnTo>
                  <a:pt x="311827" y="2110"/>
                </a:lnTo>
                <a:lnTo>
                  <a:pt x="274320" y="0"/>
                </a:lnTo>
                <a:lnTo>
                  <a:pt x="224028" y="0"/>
                </a:lnTo>
                <a:lnTo>
                  <a:pt x="133687" y="7910"/>
                </a:lnTo>
                <a:lnTo>
                  <a:pt x="77508" y="19015"/>
                </a:lnTo>
                <a:lnTo>
                  <a:pt x="29560" y="36946"/>
                </a:lnTo>
                <a:lnTo>
                  <a:pt x="1523" y="63245"/>
                </a:lnTo>
                <a:lnTo>
                  <a:pt x="1524" y="80771"/>
                </a:lnTo>
                <a:lnTo>
                  <a:pt x="3810" y="84581"/>
                </a:lnTo>
                <a:lnTo>
                  <a:pt x="9906" y="90209"/>
                </a:lnTo>
                <a:lnTo>
                  <a:pt x="9906" y="70103"/>
                </a:lnTo>
                <a:lnTo>
                  <a:pt x="10668" y="66293"/>
                </a:lnTo>
                <a:lnTo>
                  <a:pt x="10668" y="67055"/>
                </a:lnTo>
                <a:lnTo>
                  <a:pt x="12192" y="64007"/>
                </a:lnTo>
                <a:lnTo>
                  <a:pt x="33061" y="46061"/>
                </a:lnTo>
                <a:lnTo>
                  <a:pt x="111619" y="20915"/>
                </a:lnTo>
                <a:lnTo>
                  <a:pt x="163453" y="13715"/>
                </a:lnTo>
                <a:lnTo>
                  <a:pt x="218758" y="10165"/>
                </a:lnTo>
                <a:lnTo>
                  <a:pt x="278805" y="10165"/>
                </a:lnTo>
                <a:lnTo>
                  <a:pt x="333871" y="13660"/>
                </a:lnTo>
                <a:lnTo>
                  <a:pt x="385851" y="20836"/>
                </a:lnTo>
                <a:lnTo>
                  <a:pt x="430518" y="31617"/>
                </a:lnTo>
                <a:lnTo>
                  <a:pt x="486156" y="64007"/>
                </a:lnTo>
                <a:lnTo>
                  <a:pt x="487680" y="67055"/>
                </a:lnTo>
                <a:lnTo>
                  <a:pt x="487680" y="68198"/>
                </a:lnTo>
                <a:lnTo>
                  <a:pt x="488442" y="70103"/>
                </a:lnTo>
                <a:lnTo>
                  <a:pt x="488442" y="90141"/>
                </a:lnTo>
                <a:lnTo>
                  <a:pt x="494538" y="84581"/>
                </a:lnTo>
                <a:lnTo>
                  <a:pt x="496062" y="80771"/>
                </a:lnTo>
                <a:close/>
              </a:path>
              <a:path w="497840" h="144145">
                <a:moveTo>
                  <a:pt x="487680" y="90836"/>
                </a:moveTo>
                <a:lnTo>
                  <a:pt x="487680" y="76961"/>
                </a:lnTo>
                <a:lnTo>
                  <a:pt x="486156" y="80009"/>
                </a:lnTo>
                <a:lnTo>
                  <a:pt x="464770" y="97983"/>
                </a:lnTo>
                <a:lnTo>
                  <a:pt x="430370" y="112370"/>
                </a:lnTo>
                <a:lnTo>
                  <a:pt x="385844" y="123166"/>
                </a:lnTo>
                <a:lnTo>
                  <a:pt x="334077" y="130370"/>
                </a:lnTo>
                <a:lnTo>
                  <a:pt x="278805" y="133925"/>
                </a:lnTo>
                <a:lnTo>
                  <a:pt x="218758" y="133889"/>
                </a:lnTo>
                <a:lnTo>
                  <a:pt x="164196" y="130404"/>
                </a:lnTo>
                <a:lnTo>
                  <a:pt x="112331" y="123214"/>
                </a:lnTo>
                <a:lnTo>
                  <a:pt x="67657" y="112420"/>
                </a:lnTo>
                <a:lnTo>
                  <a:pt x="11430" y="80009"/>
                </a:lnTo>
                <a:lnTo>
                  <a:pt x="10668" y="76961"/>
                </a:lnTo>
                <a:lnTo>
                  <a:pt x="10668" y="77723"/>
                </a:lnTo>
                <a:lnTo>
                  <a:pt x="9906" y="74675"/>
                </a:lnTo>
                <a:lnTo>
                  <a:pt x="9906" y="90209"/>
                </a:lnTo>
                <a:lnTo>
                  <a:pt x="25136" y="104271"/>
                </a:lnTo>
                <a:lnTo>
                  <a:pt x="60382" y="120022"/>
                </a:lnTo>
                <a:lnTo>
                  <a:pt x="106459" y="131836"/>
                </a:lnTo>
                <a:lnTo>
                  <a:pt x="160280" y="139711"/>
                </a:lnTo>
                <a:lnTo>
                  <a:pt x="218758" y="143649"/>
                </a:lnTo>
                <a:lnTo>
                  <a:pt x="278805" y="143649"/>
                </a:lnTo>
                <a:lnTo>
                  <a:pt x="337336" y="139711"/>
                </a:lnTo>
                <a:lnTo>
                  <a:pt x="391261" y="131836"/>
                </a:lnTo>
                <a:lnTo>
                  <a:pt x="437495" y="120022"/>
                </a:lnTo>
                <a:lnTo>
                  <a:pt x="472949" y="104271"/>
                </a:lnTo>
                <a:lnTo>
                  <a:pt x="487680" y="90836"/>
                </a:lnTo>
                <a:close/>
              </a:path>
              <a:path w="497840" h="144145">
                <a:moveTo>
                  <a:pt x="487680" y="68198"/>
                </a:moveTo>
                <a:lnTo>
                  <a:pt x="487680" y="67055"/>
                </a:lnTo>
                <a:lnTo>
                  <a:pt x="486918" y="66293"/>
                </a:lnTo>
                <a:lnTo>
                  <a:pt x="487680" y="68198"/>
                </a:lnTo>
                <a:close/>
              </a:path>
              <a:path w="497840" h="144145">
                <a:moveTo>
                  <a:pt x="488442" y="90141"/>
                </a:moveTo>
                <a:lnTo>
                  <a:pt x="488442" y="74675"/>
                </a:lnTo>
                <a:lnTo>
                  <a:pt x="486918" y="77723"/>
                </a:lnTo>
                <a:lnTo>
                  <a:pt x="487680" y="76961"/>
                </a:lnTo>
                <a:lnTo>
                  <a:pt x="487680" y="90836"/>
                </a:lnTo>
                <a:lnTo>
                  <a:pt x="488442" y="90141"/>
                </a:lnTo>
                <a:close/>
              </a:path>
              <a:path w="497840" h="144145">
                <a:moveTo>
                  <a:pt x="488442" y="71627"/>
                </a:moveTo>
                <a:lnTo>
                  <a:pt x="488442" y="70103"/>
                </a:lnTo>
                <a:lnTo>
                  <a:pt x="487680" y="69341"/>
                </a:lnTo>
                <a:lnTo>
                  <a:pt x="488357" y="72051"/>
                </a:lnTo>
                <a:lnTo>
                  <a:pt x="488442" y="71627"/>
                </a:lnTo>
                <a:close/>
              </a:path>
              <a:path w="497840" h="144145">
                <a:moveTo>
                  <a:pt x="488442" y="74675"/>
                </a:moveTo>
                <a:lnTo>
                  <a:pt x="488442" y="72389"/>
                </a:lnTo>
                <a:lnTo>
                  <a:pt x="488357" y="72051"/>
                </a:lnTo>
                <a:lnTo>
                  <a:pt x="487680" y="75437"/>
                </a:lnTo>
                <a:lnTo>
                  <a:pt x="488442" y="74675"/>
                </a:lnTo>
                <a:close/>
              </a:path>
              <a:path w="497840" h="144145">
                <a:moveTo>
                  <a:pt x="488442" y="72389"/>
                </a:moveTo>
                <a:lnTo>
                  <a:pt x="488442" y="71627"/>
                </a:lnTo>
                <a:lnTo>
                  <a:pt x="488357" y="72051"/>
                </a:lnTo>
                <a:lnTo>
                  <a:pt x="488442" y="72389"/>
                </a:lnTo>
                <a:close/>
              </a:path>
              <a:path w="497840" h="144145">
                <a:moveTo>
                  <a:pt x="497586" y="76961"/>
                </a:moveTo>
                <a:lnTo>
                  <a:pt x="497586" y="67055"/>
                </a:lnTo>
                <a:lnTo>
                  <a:pt x="496062" y="64007"/>
                </a:lnTo>
                <a:lnTo>
                  <a:pt x="496062" y="80009"/>
                </a:lnTo>
                <a:lnTo>
                  <a:pt x="497586" y="76961"/>
                </a:lnTo>
                <a:close/>
              </a:path>
            </a:pathLst>
          </a:custGeom>
          <a:solidFill>
            <a:srgbClr val="808080"/>
          </a:solidFill>
        </p:spPr>
        <p:txBody>
          <a:bodyPr wrap="square" lIns="0" tIns="0" rIns="0" bIns="0" rtlCol="0"/>
          <a:lstStyle/>
          <a:p>
            <a:endParaRPr/>
          </a:p>
        </p:txBody>
      </p:sp>
      <p:sp>
        <p:nvSpPr>
          <p:cNvPr id="118" name="object 118"/>
          <p:cNvSpPr/>
          <p:nvPr/>
        </p:nvSpPr>
        <p:spPr>
          <a:xfrm>
            <a:off x="7876793" y="4102608"/>
            <a:ext cx="275844" cy="63245"/>
          </a:xfrm>
          <a:prstGeom prst="rect">
            <a:avLst/>
          </a:prstGeom>
          <a:blipFill>
            <a:blip r:embed="rId43" cstate="print"/>
            <a:stretch>
              <a:fillRect/>
            </a:stretch>
          </a:blipFill>
        </p:spPr>
        <p:txBody>
          <a:bodyPr wrap="square" lIns="0" tIns="0" rIns="0" bIns="0" rtlCol="0"/>
          <a:lstStyle/>
          <a:p>
            <a:endParaRPr/>
          </a:p>
        </p:txBody>
      </p:sp>
      <p:sp>
        <p:nvSpPr>
          <p:cNvPr id="119" name="object 119"/>
          <p:cNvSpPr/>
          <p:nvPr/>
        </p:nvSpPr>
        <p:spPr>
          <a:xfrm>
            <a:off x="7876793" y="4095750"/>
            <a:ext cx="275844" cy="76200"/>
          </a:xfrm>
          <a:prstGeom prst="rect">
            <a:avLst/>
          </a:prstGeom>
          <a:blipFill>
            <a:blip r:embed="rId44" cstate="print"/>
            <a:stretch>
              <a:fillRect/>
            </a:stretch>
          </a:blipFill>
        </p:spPr>
        <p:txBody>
          <a:bodyPr wrap="square" lIns="0" tIns="0" rIns="0" bIns="0" rtlCol="0"/>
          <a:lstStyle/>
          <a:p>
            <a:endParaRPr/>
          </a:p>
        </p:txBody>
      </p:sp>
      <p:sp>
        <p:nvSpPr>
          <p:cNvPr id="120" name="object 120"/>
          <p:cNvSpPr/>
          <p:nvPr/>
        </p:nvSpPr>
        <p:spPr>
          <a:xfrm>
            <a:off x="8262365" y="4135373"/>
            <a:ext cx="9525" cy="73660"/>
          </a:xfrm>
          <a:custGeom>
            <a:avLst/>
            <a:gdLst/>
            <a:ahLst/>
            <a:cxnLst/>
            <a:rect l="l" t="t" r="r" b="b"/>
            <a:pathLst>
              <a:path w="9525" h="73660">
                <a:moveTo>
                  <a:pt x="0" y="73151"/>
                </a:moveTo>
                <a:lnTo>
                  <a:pt x="9143" y="73151"/>
                </a:lnTo>
                <a:lnTo>
                  <a:pt x="9143" y="0"/>
                </a:lnTo>
                <a:lnTo>
                  <a:pt x="0" y="0"/>
                </a:lnTo>
                <a:lnTo>
                  <a:pt x="0" y="73151"/>
                </a:lnTo>
                <a:close/>
              </a:path>
            </a:pathLst>
          </a:custGeom>
          <a:solidFill>
            <a:srgbClr val="808080"/>
          </a:solidFill>
        </p:spPr>
        <p:txBody>
          <a:bodyPr wrap="square" lIns="0" tIns="0" rIns="0" bIns="0" rtlCol="0"/>
          <a:lstStyle/>
          <a:p>
            <a:endParaRPr/>
          </a:p>
        </p:txBody>
      </p:sp>
      <p:sp>
        <p:nvSpPr>
          <p:cNvPr id="121" name="object 121"/>
          <p:cNvSpPr/>
          <p:nvPr/>
        </p:nvSpPr>
        <p:spPr>
          <a:xfrm>
            <a:off x="8091677" y="4437888"/>
            <a:ext cx="488442" cy="115062"/>
          </a:xfrm>
          <a:prstGeom prst="rect">
            <a:avLst/>
          </a:prstGeom>
          <a:blipFill>
            <a:blip r:embed="rId45" cstate="print"/>
            <a:stretch>
              <a:fillRect/>
            </a:stretch>
          </a:blipFill>
        </p:spPr>
        <p:txBody>
          <a:bodyPr wrap="square" lIns="0" tIns="0" rIns="0" bIns="0" rtlCol="0"/>
          <a:lstStyle/>
          <a:p>
            <a:endParaRPr/>
          </a:p>
        </p:txBody>
      </p:sp>
      <p:sp>
        <p:nvSpPr>
          <p:cNvPr id="122" name="object 122"/>
          <p:cNvSpPr/>
          <p:nvPr/>
        </p:nvSpPr>
        <p:spPr>
          <a:xfrm>
            <a:off x="8087105" y="4425696"/>
            <a:ext cx="497585" cy="132583"/>
          </a:xfrm>
          <a:prstGeom prst="rect">
            <a:avLst/>
          </a:prstGeom>
          <a:blipFill>
            <a:blip r:embed="rId46" cstate="print"/>
            <a:stretch>
              <a:fillRect/>
            </a:stretch>
          </a:blipFill>
        </p:spPr>
        <p:txBody>
          <a:bodyPr wrap="square" lIns="0" tIns="0" rIns="0" bIns="0" rtlCol="0"/>
          <a:lstStyle/>
          <a:p>
            <a:endParaRPr/>
          </a:p>
        </p:txBody>
      </p:sp>
      <p:sp>
        <p:nvSpPr>
          <p:cNvPr id="123" name="object 123"/>
          <p:cNvSpPr/>
          <p:nvPr/>
        </p:nvSpPr>
        <p:spPr>
          <a:xfrm>
            <a:off x="8090153" y="4347209"/>
            <a:ext cx="487680" cy="134874"/>
          </a:xfrm>
          <a:prstGeom prst="rect">
            <a:avLst/>
          </a:prstGeom>
          <a:blipFill>
            <a:blip r:embed="rId47" cstate="print"/>
            <a:stretch>
              <a:fillRect/>
            </a:stretch>
          </a:blipFill>
        </p:spPr>
        <p:txBody>
          <a:bodyPr wrap="square" lIns="0" tIns="0" rIns="0" bIns="0" rtlCol="0"/>
          <a:lstStyle/>
          <a:p>
            <a:endParaRPr/>
          </a:p>
        </p:txBody>
      </p:sp>
      <p:sp>
        <p:nvSpPr>
          <p:cNvPr id="124" name="object 124"/>
          <p:cNvSpPr/>
          <p:nvPr/>
        </p:nvSpPr>
        <p:spPr>
          <a:xfrm>
            <a:off x="8084820" y="4342786"/>
            <a:ext cx="498475" cy="144145"/>
          </a:xfrm>
          <a:custGeom>
            <a:avLst/>
            <a:gdLst/>
            <a:ahLst/>
            <a:cxnLst/>
            <a:rect l="l" t="t" r="r" b="b"/>
            <a:pathLst>
              <a:path w="498475" h="144145">
                <a:moveTo>
                  <a:pt x="762" y="75289"/>
                </a:moveTo>
                <a:lnTo>
                  <a:pt x="761" y="67669"/>
                </a:lnTo>
                <a:lnTo>
                  <a:pt x="0" y="71479"/>
                </a:lnTo>
                <a:lnTo>
                  <a:pt x="0" y="72241"/>
                </a:lnTo>
                <a:lnTo>
                  <a:pt x="762" y="75289"/>
                </a:lnTo>
                <a:close/>
              </a:path>
              <a:path w="498475" h="144145">
                <a:moveTo>
                  <a:pt x="496823" y="80623"/>
                </a:moveTo>
                <a:lnTo>
                  <a:pt x="496823" y="63097"/>
                </a:lnTo>
                <a:lnTo>
                  <a:pt x="496062" y="63097"/>
                </a:lnTo>
                <a:lnTo>
                  <a:pt x="494538" y="58525"/>
                </a:lnTo>
                <a:lnTo>
                  <a:pt x="436840" y="23373"/>
                </a:lnTo>
                <a:lnTo>
                  <a:pt x="390507" y="11654"/>
                </a:lnTo>
                <a:lnTo>
                  <a:pt x="336594" y="3848"/>
                </a:lnTo>
                <a:lnTo>
                  <a:pt x="278850" y="7"/>
                </a:lnTo>
                <a:lnTo>
                  <a:pt x="218260" y="0"/>
                </a:lnTo>
                <a:lnTo>
                  <a:pt x="159954" y="3969"/>
                </a:lnTo>
                <a:lnTo>
                  <a:pt x="106299" y="11877"/>
                </a:lnTo>
                <a:lnTo>
                  <a:pt x="60351" y="23728"/>
                </a:lnTo>
                <a:lnTo>
                  <a:pt x="25169" y="39530"/>
                </a:lnTo>
                <a:lnTo>
                  <a:pt x="2285" y="63097"/>
                </a:lnTo>
                <a:lnTo>
                  <a:pt x="1523" y="63097"/>
                </a:lnTo>
                <a:lnTo>
                  <a:pt x="1523" y="63859"/>
                </a:lnTo>
                <a:lnTo>
                  <a:pt x="761" y="66907"/>
                </a:lnTo>
                <a:lnTo>
                  <a:pt x="762" y="76051"/>
                </a:lnTo>
                <a:lnTo>
                  <a:pt x="1524" y="79861"/>
                </a:lnTo>
                <a:lnTo>
                  <a:pt x="9906" y="88337"/>
                </a:lnTo>
                <a:lnTo>
                  <a:pt x="9906" y="69193"/>
                </a:lnTo>
                <a:lnTo>
                  <a:pt x="10668" y="66145"/>
                </a:lnTo>
                <a:lnTo>
                  <a:pt x="10668" y="66907"/>
                </a:lnTo>
                <a:lnTo>
                  <a:pt x="12192" y="63097"/>
                </a:lnTo>
                <a:lnTo>
                  <a:pt x="34062" y="45278"/>
                </a:lnTo>
                <a:lnTo>
                  <a:pt x="113504" y="20343"/>
                </a:lnTo>
                <a:lnTo>
                  <a:pt x="165333" y="13235"/>
                </a:lnTo>
                <a:lnTo>
                  <a:pt x="219472" y="9825"/>
                </a:lnTo>
                <a:lnTo>
                  <a:pt x="278850" y="9754"/>
                </a:lnTo>
                <a:lnTo>
                  <a:pt x="334795" y="13390"/>
                </a:lnTo>
                <a:lnTo>
                  <a:pt x="386369" y="20614"/>
                </a:lnTo>
                <a:lnTo>
                  <a:pt x="430702" y="31431"/>
                </a:lnTo>
                <a:lnTo>
                  <a:pt x="486156" y="63859"/>
                </a:lnTo>
                <a:lnTo>
                  <a:pt x="487680" y="66907"/>
                </a:lnTo>
                <a:lnTo>
                  <a:pt x="487680" y="66145"/>
                </a:lnTo>
                <a:lnTo>
                  <a:pt x="488442" y="69193"/>
                </a:lnTo>
                <a:lnTo>
                  <a:pt x="488442" y="90852"/>
                </a:lnTo>
                <a:lnTo>
                  <a:pt x="492252" y="88243"/>
                </a:lnTo>
                <a:lnTo>
                  <a:pt x="496062" y="80623"/>
                </a:lnTo>
                <a:lnTo>
                  <a:pt x="496823" y="80623"/>
                </a:lnTo>
                <a:close/>
              </a:path>
              <a:path w="498475" h="144145">
                <a:moveTo>
                  <a:pt x="488442" y="90852"/>
                </a:moveTo>
                <a:lnTo>
                  <a:pt x="488442" y="73765"/>
                </a:lnTo>
                <a:lnTo>
                  <a:pt x="487680" y="77575"/>
                </a:lnTo>
                <a:lnTo>
                  <a:pt x="487680" y="76813"/>
                </a:lnTo>
                <a:lnTo>
                  <a:pt x="430364" y="112237"/>
                </a:lnTo>
                <a:lnTo>
                  <a:pt x="385645" y="123039"/>
                </a:lnTo>
                <a:lnTo>
                  <a:pt x="333630" y="130239"/>
                </a:lnTo>
                <a:lnTo>
                  <a:pt x="278850" y="133728"/>
                </a:lnTo>
                <a:lnTo>
                  <a:pt x="218260" y="133722"/>
                </a:lnTo>
                <a:lnTo>
                  <a:pt x="163209" y="130147"/>
                </a:lnTo>
                <a:lnTo>
                  <a:pt x="111410" y="122857"/>
                </a:lnTo>
                <a:lnTo>
                  <a:pt x="67014" y="111925"/>
                </a:lnTo>
                <a:lnTo>
                  <a:pt x="12192" y="79099"/>
                </a:lnTo>
                <a:lnTo>
                  <a:pt x="10668" y="76813"/>
                </a:lnTo>
                <a:lnTo>
                  <a:pt x="10668" y="77575"/>
                </a:lnTo>
                <a:lnTo>
                  <a:pt x="9906" y="73765"/>
                </a:lnTo>
                <a:lnTo>
                  <a:pt x="9906" y="88337"/>
                </a:lnTo>
                <a:lnTo>
                  <a:pt x="26178" y="104793"/>
                </a:lnTo>
                <a:lnTo>
                  <a:pt x="68398" y="122060"/>
                </a:lnTo>
                <a:lnTo>
                  <a:pt x="118407" y="133415"/>
                </a:lnTo>
                <a:lnTo>
                  <a:pt x="165668" y="139847"/>
                </a:lnTo>
                <a:lnTo>
                  <a:pt x="224028" y="143869"/>
                </a:lnTo>
                <a:lnTo>
                  <a:pt x="249174" y="143869"/>
                </a:lnTo>
                <a:lnTo>
                  <a:pt x="290386" y="142950"/>
                </a:lnTo>
                <a:lnTo>
                  <a:pt x="345675" y="138338"/>
                </a:lnTo>
                <a:lnTo>
                  <a:pt x="404665" y="128623"/>
                </a:lnTo>
                <a:lnTo>
                  <a:pt x="456982" y="112394"/>
                </a:lnTo>
                <a:lnTo>
                  <a:pt x="488442" y="90852"/>
                </a:lnTo>
                <a:close/>
              </a:path>
              <a:path w="498475" h="144145">
                <a:moveTo>
                  <a:pt x="497586" y="76051"/>
                </a:moveTo>
                <a:lnTo>
                  <a:pt x="497586" y="66907"/>
                </a:lnTo>
                <a:lnTo>
                  <a:pt x="496823" y="63859"/>
                </a:lnTo>
                <a:lnTo>
                  <a:pt x="496823" y="79861"/>
                </a:lnTo>
                <a:lnTo>
                  <a:pt x="497586" y="76051"/>
                </a:lnTo>
                <a:close/>
              </a:path>
              <a:path w="498475" h="144145">
                <a:moveTo>
                  <a:pt x="498348" y="72241"/>
                </a:moveTo>
                <a:lnTo>
                  <a:pt x="498348" y="71479"/>
                </a:lnTo>
                <a:lnTo>
                  <a:pt x="497586" y="67669"/>
                </a:lnTo>
                <a:lnTo>
                  <a:pt x="497586" y="75289"/>
                </a:lnTo>
                <a:lnTo>
                  <a:pt x="498348" y="72241"/>
                </a:lnTo>
                <a:close/>
              </a:path>
            </a:pathLst>
          </a:custGeom>
          <a:solidFill>
            <a:srgbClr val="808080"/>
          </a:solidFill>
        </p:spPr>
        <p:txBody>
          <a:bodyPr wrap="square" lIns="0" tIns="0" rIns="0" bIns="0" rtlCol="0"/>
          <a:lstStyle/>
          <a:p>
            <a:endParaRPr/>
          </a:p>
        </p:txBody>
      </p:sp>
      <p:sp>
        <p:nvSpPr>
          <p:cNvPr id="125" name="object 125"/>
          <p:cNvSpPr/>
          <p:nvPr/>
        </p:nvSpPr>
        <p:spPr>
          <a:xfrm>
            <a:off x="8187689" y="4381500"/>
            <a:ext cx="276605" cy="64008"/>
          </a:xfrm>
          <a:prstGeom prst="rect">
            <a:avLst/>
          </a:prstGeom>
          <a:blipFill>
            <a:blip r:embed="rId48" cstate="print"/>
            <a:stretch>
              <a:fillRect/>
            </a:stretch>
          </a:blipFill>
        </p:spPr>
        <p:txBody>
          <a:bodyPr wrap="square" lIns="0" tIns="0" rIns="0" bIns="0" rtlCol="0"/>
          <a:lstStyle/>
          <a:p>
            <a:endParaRPr/>
          </a:p>
        </p:txBody>
      </p:sp>
      <p:sp>
        <p:nvSpPr>
          <p:cNvPr id="126" name="object 126"/>
          <p:cNvSpPr/>
          <p:nvPr/>
        </p:nvSpPr>
        <p:spPr>
          <a:xfrm>
            <a:off x="8187689" y="4375403"/>
            <a:ext cx="276605" cy="76200"/>
          </a:xfrm>
          <a:prstGeom prst="rect">
            <a:avLst/>
          </a:prstGeom>
          <a:blipFill>
            <a:blip r:embed="rId49" cstate="print"/>
            <a:stretch>
              <a:fillRect/>
            </a:stretch>
          </a:blipFill>
        </p:spPr>
        <p:txBody>
          <a:bodyPr wrap="square" lIns="0" tIns="0" rIns="0" bIns="0" rtlCol="0"/>
          <a:lstStyle/>
          <a:p>
            <a:endParaRPr/>
          </a:p>
        </p:txBody>
      </p:sp>
      <p:sp>
        <p:nvSpPr>
          <p:cNvPr id="127" name="object 127"/>
          <p:cNvSpPr/>
          <p:nvPr/>
        </p:nvSpPr>
        <p:spPr>
          <a:xfrm>
            <a:off x="8285988" y="5350002"/>
            <a:ext cx="617220" cy="136398"/>
          </a:xfrm>
          <a:prstGeom prst="rect">
            <a:avLst/>
          </a:prstGeom>
          <a:blipFill>
            <a:blip r:embed="rId50" cstate="print"/>
            <a:stretch>
              <a:fillRect/>
            </a:stretch>
          </a:blipFill>
        </p:spPr>
        <p:txBody>
          <a:bodyPr wrap="square" lIns="0" tIns="0" rIns="0" bIns="0" rtlCol="0"/>
          <a:lstStyle/>
          <a:p>
            <a:endParaRPr/>
          </a:p>
        </p:txBody>
      </p:sp>
      <p:sp>
        <p:nvSpPr>
          <p:cNvPr id="128" name="object 128"/>
          <p:cNvSpPr/>
          <p:nvPr/>
        </p:nvSpPr>
        <p:spPr>
          <a:xfrm>
            <a:off x="8281415" y="5345186"/>
            <a:ext cx="627380" cy="146685"/>
          </a:xfrm>
          <a:custGeom>
            <a:avLst/>
            <a:gdLst/>
            <a:ahLst/>
            <a:cxnLst/>
            <a:rect l="l" t="t" r="r" b="b"/>
            <a:pathLst>
              <a:path w="627379" h="146685">
                <a:moveTo>
                  <a:pt x="762" y="77205"/>
                </a:moveTo>
                <a:lnTo>
                  <a:pt x="761" y="68823"/>
                </a:lnTo>
                <a:lnTo>
                  <a:pt x="0" y="68823"/>
                </a:lnTo>
                <a:lnTo>
                  <a:pt x="0" y="77205"/>
                </a:lnTo>
                <a:lnTo>
                  <a:pt x="762" y="77205"/>
                </a:lnTo>
                <a:close/>
              </a:path>
              <a:path w="627379" h="146685">
                <a:moveTo>
                  <a:pt x="622554" y="86349"/>
                </a:moveTo>
                <a:lnTo>
                  <a:pt x="622554" y="59679"/>
                </a:lnTo>
                <a:lnTo>
                  <a:pt x="621792" y="59679"/>
                </a:lnTo>
                <a:lnTo>
                  <a:pt x="618744" y="55869"/>
                </a:lnTo>
                <a:lnTo>
                  <a:pt x="559152" y="26623"/>
                </a:lnTo>
                <a:lnTo>
                  <a:pt x="514126" y="15972"/>
                </a:lnTo>
                <a:lnTo>
                  <a:pt x="461587" y="7962"/>
                </a:lnTo>
                <a:lnTo>
                  <a:pt x="404363" y="2667"/>
                </a:lnTo>
                <a:lnTo>
                  <a:pt x="344100" y="15"/>
                </a:lnTo>
                <a:lnTo>
                  <a:pt x="281653" y="0"/>
                </a:lnTo>
                <a:lnTo>
                  <a:pt x="220978" y="2696"/>
                </a:lnTo>
                <a:lnTo>
                  <a:pt x="163495" y="8081"/>
                </a:lnTo>
                <a:lnTo>
                  <a:pt x="111310" y="16160"/>
                </a:lnTo>
                <a:lnTo>
                  <a:pt x="66531" y="26941"/>
                </a:lnTo>
                <a:lnTo>
                  <a:pt x="7619" y="56631"/>
                </a:lnTo>
                <a:lnTo>
                  <a:pt x="2285" y="63489"/>
                </a:lnTo>
                <a:lnTo>
                  <a:pt x="2285" y="64251"/>
                </a:lnTo>
                <a:lnTo>
                  <a:pt x="1523" y="64251"/>
                </a:lnTo>
                <a:lnTo>
                  <a:pt x="761" y="68061"/>
                </a:lnTo>
                <a:lnTo>
                  <a:pt x="762" y="77967"/>
                </a:lnTo>
                <a:lnTo>
                  <a:pt x="1524" y="81777"/>
                </a:lnTo>
                <a:lnTo>
                  <a:pt x="2286" y="82539"/>
                </a:lnTo>
                <a:lnTo>
                  <a:pt x="3810" y="85587"/>
                </a:lnTo>
                <a:lnTo>
                  <a:pt x="4572" y="86349"/>
                </a:lnTo>
                <a:lnTo>
                  <a:pt x="7620" y="90159"/>
                </a:lnTo>
                <a:lnTo>
                  <a:pt x="9144" y="91145"/>
                </a:lnTo>
                <a:lnTo>
                  <a:pt x="9144" y="72633"/>
                </a:lnTo>
                <a:lnTo>
                  <a:pt x="9228" y="73057"/>
                </a:lnTo>
                <a:lnTo>
                  <a:pt x="9906" y="70347"/>
                </a:lnTo>
                <a:lnTo>
                  <a:pt x="9906" y="71109"/>
                </a:lnTo>
                <a:lnTo>
                  <a:pt x="10668" y="67299"/>
                </a:lnTo>
                <a:lnTo>
                  <a:pt x="10668" y="68823"/>
                </a:lnTo>
                <a:lnTo>
                  <a:pt x="12192" y="65013"/>
                </a:lnTo>
                <a:lnTo>
                  <a:pt x="12192" y="65775"/>
                </a:lnTo>
                <a:lnTo>
                  <a:pt x="14478" y="61965"/>
                </a:lnTo>
                <a:lnTo>
                  <a:pt x="74753" y="34581"/>
                </a:lnTo>
                <a:lnTo>
                  <a:pt x="118951" y="24609"/>
                </a:lnTo>
                <a:lnTo>
                  <a:pt x="169927" y="17125"/>
                </a:lnTo>
                <a:lnTo>
                  <a:pt x="225736" y="12135"/>
                </a:lnTo>
                <a:lnTo>
                  <a:pt x="281653" y="9763"/>
                </a:lnTo>
                <a:lnTo>
                  <a:pt x="344100" y="9663"/>
                </a:lnTo>
                <a:lnTo>
                  <a:pt x="402697" y="12190"/>
                </a:lnTo>
                <a:lnTo>
                  <a:pt x="458375" y="17237"/>
                </a:lnTo>
                <a:lnTo>
                  <a:pt x="509155" y="24808"/>
                </a:lnTo>
                <a:lnTo>
                  <a:pt x="553091" y="34909"/>
                </a:lnTo>
                <a:lnTo>
                  <a:pt x="612648" y="62727"/>
                </a:lnTo>
                <a:lnTo>
                  <a:pt x="614934" y="65775"/>
                </a:lnTo>
                <a:lnTo>
                  <a:pt x="614934" y="66029"/>
                </a:lnTo>
                <a:lnTo>
                  <a:pt x="616458" y="68061"/>
                </a:lnTo>
                <a:lnTo>
                  <a:pt x="616458" y="69204"/>
                </a:lnTo>
                <a:lnTo>
                  <a:pt x="617220" y="71109"/>
                </a:lnTo>
                <a:lnTo>
                  <a:pt x="617220" y="91634"/>
                </a:lnTo>
                <a:lnTo>
                  <a:pt x="619506" y="90159"/>
                </a:lnTo>
                <a:lnTo>
                  <a:pt x="621792" y="86349"/>
                </a:lnTo>
                <a:lnTo>
                  <a:pt x="622554" y="86349"/>
                </a:lnTo>
                <a:close/>
              </a:path>
              <a:path w="627379" h="146685">
                <a:moveTo>
                  <a:pt x="9228" y="73057"/>
                </a:moveTo>
                <a:lnTo>
                  <a:pt x="9144" y="72633"/>
                </a:lnTo>
                <a:lnTo>
                  <a:pt x="9144" y="73395"/>
                </a:lnTo>
                <a:lnTo>
                  <a:pt x="9228" y="73057"/>
                </a:lnTo>
                <a:close/>
              </a:path>
              <a:path w="627379" h="146685">
                <a:moveTo>
                  <a:pt x="614934" y="93109"/>
                </a:moveTo>
                <a:lnTo>
                  <a:pt x="614934" y="80253"/>
                </a:lnTo>
                <a:lnTo>
                  <a:pt x="611886" y="84063"/>
                </a:lnTo>
                <a:lnTo>
                  <a:pt x="587475" y="98974"/>
                </a:lnTo>
                <a:lnTo>
                  <a:pt x="508112" y="121380"/>
                </a:lnTo>
                <a:lnTo>
                  <a:pt x="457113" y="128861"/>
                </a:lnTo>
                <a:lnTo>
                  <a:pt x="401207" y="133853"/>
                </a:lnTo>
                <a:lnTo>
                  <a:pt x="344100" y="136274"/>
                </a:lnTo>
                <a:lnTo>
                  <a:pt x="281653" y="136298"/>
                </a:lnTo>
                <a:lnTo>
                  <a:pt x="223804" y="133816"/>
                </a:lnTo>
                <a:lnTo>
                  <a:pt x="168032" y="128777"/>
                </a:lnTo>
                <a:lnTo>
                  <a:pt x="117237" y="121213"/>
                </a:lnTo>
                <a:lnTo>
                  <a:pt x="73394" y="111117"/>
                </a:lnTo>
                <a:lnTo>
                  <a:pt x="14478" y="83301"/>
                </a:lnTo>
                <a:lnTo>
                  <a:pt x="12192" y="80253"/>
                </a:lnTo>
                <a:lnTo>
                  <a:pt x="12192" y="81015"/>
                </a:lnTo>
                <a:lnTo>
                  <a:pt x="10668" y="77967"/>
                </a:lnTo>
                <a:lnTo>
                  <a:pt x="10668" y="78729"/>
                </a:lnTo>
                <a:lnTo>
                  <a:pt x="9906" y="74919"/>
                </a:lnTo>
                <a:lnTo>
                  <a:pt x="9906" y="76443"/>
                </a:lnTo>
                <a:lnTo>
                  <a:pt x="9228" y="73057"/>
                </a:lnTo>
                <a:lnTo>
                  <a:pt x="9144" y="73395"/>
                </a:lnTo>
                <a:lnTo>
                  <a:pt x="32337" y="106147"/>
                </a:lnTo>
                <a:lnTo>
                  <a:pt x="68220" y="119469"/>
                </a:lnTo>
                <a:lnTo>
                  <a:pt x="113240" y="130126"/>
                </a:lnTo>
                <a:lnTo>
                  <a:pt x="165367" y="138117"/>
                </a:lnTo>
                <a:lnTo>
                  <a:pt x="222573" y="143444"/>
                </a:lnTo>
                <a:lnTo>
                  <a:pt x="281653" y="146054"/>
                </a:lnTo>
                <a:lnTo>
                  <a:pt x="344100" y="146104"/>
                </a:lnTo>
                <a:lnTo>
                  <a:pt x="404363" y="143438"/>
                </a:lnTo>
                <a:lnTo>
                  <a:pt x="461756" y="138082"/>
                </a:lnTo>
                <a:lnTo>
                  <a:pt x="513743" y="130115"/>
                </a:lnTo>
                <a:lnTo>
                  <a:pt x="558801" y="119459"/>
                </a:lnTo>
                <a:lnTo>
                  <a:pt x="594731" y="106140"/>
                </a:lnTo>
                <a:lnTo>
                  <a:pt x="614934" y="93109"/>
                </a:lnTo>
                <a:close/>
              </a:path>
              <a:path w="627379" h="146685">
                <a:moveTo>
                  <a:pt x="614934" y="66029"/>
                </a:moveTo>
                <a:lnTo>
                  <a:pt x="614934" y="65775"/>
                </a:lnTo>
                <a:lnTo>
                  <a:pt x="614172" y="65013"/>
                </a:lnTo>
                <a:lnTo>
                  <a:pt x="614934" y="66029"/>
                </a:lnTo>
                <a:close/>
              </a:path>
              <a:path w="627379" h="146685">
                <a:moveTo>
                  <a:pt x="616458" y="92125"/>
                </a:moveTo>
                <a:lnTo>
                  <a:pt x="616458" y="77967"/>
                </a:lnTo>
                <a:lnTo>
                  <a:pt x="614172" y="81015"/>
                </a:lnTo>
                <a:lnTo>
                  <a:pt x="614934" y="80253"/>
                </a:lnTo>
                <a:lnTo>
                  <a:pt x="614934" y="93109"/>
                </a:lnTo>
                <a:lnTo>
                  <a:pt x="616458" y="92125"/>
                </a:lnTo>
                <a:close/>
              </a:path>
              <a:path w="627379" h="146685">
                <a:moveTo>
                  <a:pt x="616458" y="69204"/>
                </a:moveTo>
                <a:lnTo>
                  <a:pt x="616458" y="68061"/>
                </a:lnTo>
                <a:lnTo>
                  <a:pt x="615696" y="67299"/>
                </a:lnTo>
                <a:lnTo>
                  <a:pt x="616458" y="69204"/>
                </a:lnTo>
                <a:close/>
              </a:path>
              <a:path w="627379" h="146685">
                <a:moveTo>
                  <a:pt x="617220" y="91634"/>
                </a:moveTo>
                <a:lnTo>
                  <a:pt x="617220" y="74919"/>
                </a:lnTo>
                <a:lnTo>
                  <a:pt x="615696" y="78729"/>
                </a:lnTo>
                <a:lnTo>
                  <a:pt x="616458" y="77967"/>
                </a:lnTo>
                <a:lnTo>
                  <a:pt x="616458" y="92125"/>
                </a:lnTo>
                <a:lnTo>
                  <a:pt x="617220" y="91634"/>
                </a:lnTo>
                <a:close/>
              </a:path>
              <a:path w="627379" h="146685">
                <a:moveTo>
                  <a:pt x="624840" y="82539"/>
                </a:moveTo>
                <a:lnTo>
                  <a:pt x="624840" y="63489"/>
                </a:lnTo>
                <a:lnTo>
                  <a:pt x="622554" y="60441"/>
                </a:lnTo>
                <a:lnTo>
                  <a:pt x="622554" y="85587"/>
                </a:lnTo>
                <a:lnTo>
                  <a:pt x="624840" y="82539"/>
                </a:lnTo>
                <a:close/>
              </a:path>
              <a:path w="627379" h="146685">
                <a:moveTo>
                  <a:pt x="626364" y="77967"/>
                </a:moveTo>
                <a:lnTo>
                  <a:pt x="626364" y="68061"/>
                </a:lnTo>
                <a:lnTo>
                  <a:pt x="624840" y="64251"/>
                </a:lnTo>
                <a:lnTo>
                  <a:pt x="624840" y="81777"/>
                </a:lnTo>
                <a:lnTo>
                  <a:pt x="626364" y="77967"/>
                </a:lnTo>
                <a:close/>
              </a:path>
              <a:path w="627379" h="146685">
                <a:moveTo>
                  <a:pt x="627126" y="73395"/>
                </a:moveTo>
                <a:lnTo>
                  <a:pt x="627126" y="72633"/>
                </a:lnTo>
                <a:lnTo>
                  <a:pt x="626364" y="72633"/>
                </a:lnTo>
                <a:lnTo>
                  <a:pt x="626364" y="73395"/>
                </a:lnTo>
                <a:lnTo>
                  <a:pt x="627126" y="73395"/>
                </a:lnTo>
                <a:close/>
              </a:path>
            </a:pathLst>
          </a:custGeom>
          <a:solidFill>
            <a:srgbClr val="808080"/>
          </a:solidFill>
        </p:spPr>
        <p:txBody>
          <a:bodyPr wrap="square" lIns="0" tIns="0" rIns="0" bIns="0" rtlCol="0"/>
          <a:lstStyle/>
          <a:p>
            <a:endParaRPr/>
          </a:p>
        </p:txBody>
      </p:sp>
      <p:sp>
        <p:nvSpPr>
          <p:cNvPr id="129" name="object 129"/>
          <p:cNvSpPr/>
          <p:nvPr/>
        </p:nvSpPr>
        <p:spPr>
          <a:xfrm>
            <a:off x="8285988" y="5336285"/>
            <a:ext cx="620268" cy="84582"/>
          </a:xfrm>
          <a:prstGeom prst="rect">
            <a:avLst/>
          </a:prstGeom>
          <a:blipFill>
            <a:blip r:embed="rId51" cstate="print"/>
            <a:stretch>
              <a:fillRect/>
            </a:stretch>
          </a:blipFill>
        </p:spPr>
        <p:txBody>
          <a:bodyPr wrap="square" lIns="0" tIns="0" rIns="0" bIns="0" rtlCol="0"/>
          <a:lstStyle/>
          <a:p>
            <a:endParaRPr/>
          </a:p>
        </p:txBody>
      </p:sp>
      <p:sp>
        <p:nvSpPr>
          <p:cNvPr id="130" name="object 130"/>
          <p:cNvSpPr/>
          <p:nvPr/>
        </p:nvSpPr>
        <p:spPr>
          <a:xfrm>
            <a:off x="8283701" y="5242559"/>
            <a:ext cx="617220" cy="160019"/>
          </a:xfrm>
          <a:prstGeom prst="rect">
            <a:avLst/>
          </a:prstGeom>
          <a:blipFill>
            <a:blip r:embed="rId52" cstate="print"/>
            <a:stretch>
              <a:fillRect/>
            </a:stretch>
          </a:blipFill>
        </p:spPr>
        <p:txBody>
          <a:bodyPr wrap="square" lIns="0" tIns="0" rIns="0" bIns="0" rtlCol="0"/>
          <a:lstStyle/>
          <a:p>
            <a:endParaRPr/>
          </a:p>
        </p:txBody>
      </p:sp>
      <p:sp>
        <p:nvSpPr>
          <p:cNvPr id="131" name="object 131"/>
          <p:cNvSpPr/>
          <p:nvPr/>
        </p:nvSpPr>
        <p:spPr>
          <a:xfrm>
            <a:off x="8279129" y="5237547"/>
            <a:ext cx="626745" cy="170180"/>
          </a:xfrm>
          <a:custGeom>
            <a:avLst/>
            <a:gdLst/>
            <a:ahLst/>
            <a:cxnLst/>
            <a:rect l="l" t="t" r="r" b="b"/>
            <a:pathLst>
              <a:path w="626745" h="170179">
                <a:moveTo>
                  <a:pt x="1524" y="94166"/>
                </a:moveTo>
                <a:lnTo>
                  <a:pt x="1523" y="75116"/>
                </a:lnTo>
                <a:lnTo>
                  <a:pt x="0" y="79688"/>
                </a:lnTo>
                <a:lnTo>
                  <a:pt x="0" y="90356"/>
                </a:lnTo>
                <a:lnTo>
                  <a:pt x="1524" y="94166"/>
                </a:lnTo>
                <a:close/>
              </a:path>
              <a:path w="626745" h="170179">
                <a:moveTo>
                  <a:pt x="622554" y="99500"/>
                </a:moveTo>
                <a:lnTo>
                  <a:pt x="622554" y="69782"/>
                </a:lnTo>
                <a:lnTo>
                  <a:pt x="621792" y="69782"/>
                </a:lnTo>
                <a:lnTo>
                  <a:pt x="618744" y="65210"/>
                </a:lnTo>
                <a:lnTo>
                  <a:pt x="581489" y="40110"/>
                </a:lnTo>
                <a:lnTo>
                  <a:pt x="535532" y="24158"/>
                </a:lnTo>
                <a:lnTo>
                  <a:pt x="481724" y="12857"/>
                </a:lnTo>
                <a:lnTo>
                  <a:pt x="424725" y="5521"/>
                </a:lnTo>
                <a:lnTo>
                  <a:pt x="369194" y="1464"/>
                </a:lnTo>
                <a:lnTo>
                  <a:pt x="319792" y="0"/>
                </a:lnTo>
                <a:lnTo>
                  <a:pt x="281178" y="440"/>
                </a:lnTo>
                <a:lnTo>
                  <a:pt x="235458" y="2726"/>
                </a:lnTo>
                <a:lnTo>
                  <a:pt x="193995" y="6234"/>
                </a:lnTo>
                <a:lnTo>
                  <a:pt x="138700" y="13911"/>
                </a:lnTo>
                <a:lnTo>
                  <a:pt x="80743" y="26996"/>
                </a:lnTo>
                <a:lnTo>
                  <a:pt x="31294" y="46731"/>
                </a:lnTo>
                <a:lnTo>
                  <a:pt x="1523" y="74354"/>
                </a:lnTo>
                <a:lnTo>
                  <a:pt x="1524" y="94928"/>
                </a:lnTo>
                <a:lnTo>
                  <a:pt x="9144" y="102668"/>
                </a:lnTo>
                <a:lnTo>
                  <a:pt x="9144" y="81974"/>
                </a:lnTo>
                <a:lnTo>
                  <a:pt x="10668" y="78164"/>
                </a:lnTo>
                <a:lnTo>
                  <a:pt x="10668" y="78926"/>
                </a:lnTo>
                <a:lnTo>
                  <a:pt x="12192" y="74354"/>
                </a:lnTo>
                <a:lnTo>
                  <a:pt x="34849" y="56010"/>
                </a:lnTo>
                <a:lnTo>
                  <a:pt x="112993" y="28529"/>
                </a:lnTo>
                <a:lnTo>
                  <a:pt x="164261" y="19368"/>
                </a:lnTo>
                <a:lnTo>
                  <a:pt x="220848" y="13243"/>
                </a:lnTo>
                <a:lnTo>
                  <a:pt x="278917" y="10232"/>
                </a:lnTo>
                <a:lnTo>
                  <a:pt x="341539" y="10053"/>
                </a:lnTo>
                <a:lnTo>
                  <a:pt x="401425" y="12963"/>
                </a:lnTo>
                <a:lnTo>
                  <a:pt x="458192" y="18860"/>
                </a:lnTo>
                <a:lnTo>
                  <a:pt x="509731" y="27732"/>
                </a:lnTo>
                <a:lnTo>
                  <a:pt x="553933" y="39565"/>
                </a:lnTo>
                <a:lnTo>
                  <a:pt x="611886" y="72068"/>
                </a:lnTo>
                <a:lnTo>
                  <a:pt x="614172" y="75116"/>
                </a:lnTo>
                <a:lnTo>
                  <a:pt x="614172" y="74354"/>
                </a:lnTo>
                <a:lnTo>
                  <a:pt x="615696" y="78926"/>
                </a:lnTo>
                <a:lnTo>
                  <a:pt x="615696" y="78164"/>
                </a:lnTo>
                <a:lnTo>
                  <a:pt x="616458" y="81974"/>
                </a:lnTo>
                <a:lnTo>
                  <a:pt x="616458" y="81212"/>
                </a:lnTo>
                <a:lnTo>
                  <a:pt x="617143" y="84641"/>
                </a:lnTo>
                <a:lnTo>
                  <a:pt x="617220" y="84260"/>
                </a:lnTo>
                <a:lnTo>
                  <a:pt x="617220" y="106053"/>
                </a:lnTo>
                <a:lnTo>
                  <a:pt x="619506" y="103310"/>
                </a:lnTo>
                <a:lnTo>
                  <a:pt x="621792" y="99500"/>
                </a:lnTo>
                <a:lnTo>
                  <a:pt x="622554" y="99500"/>
                </a:lnTo>
                <a:close/>
              </a:path>
              <a:path w="626745" h="170179">
                <a:moveTo>
                  <a:pt x="9906" y="81212"/>
                </a:moveTo>
                <a:lnTo>
                  <a:pt x="9144" y="81974"/>
                </a:lnTo>
                <a:lnTo>
                  <a:pt x="9144" y="84260"/>
                </a:lnTo>
                <a:lnTo>
                  <a:pt x="9220" y="84641"/>
                </a:lnTo>
                <a:lnTo>
                  <a:pt x="9906" y="81212"/>
                </a:lnTo>
                <a:close/>
              </a:path>
              <a:path w="626745" h="170179">
                <a:moveTo>
                  <a:pt x="9220" y="84641"/>
                </a:moveTo>
                <a:lnTo>
                  <a:pt x="9144" y="84260"/>
                </a:lnTo>
                <a:lnTo>
                  <a:pt x="9144" y="85022"/>
                </a:lnTo>
                <a:lnTo>
                  <a:pt x="9220" y="84641"/>
                </a:lnTo>
                <a:close/>
              </a:path>
              <a:path w="626745" h="170179">
                <a:moveTo>
                  <a:pt x="9906" y="88070"/>
                </a:moveTo>
                <a:lnTo>
                  <a:pt x="9220" y="84641"/>
                </a:lnTo>
                <a:lnTo>
                  <a:pt x="9144" y="85022"/>
                </a:lnTo>
                <a:lnTo>
                  <a:pt x="9144" y="87308"/>
                </a:lnTo>
                <a:lnTo>
                  <a:pt x="9906" y="88070"/>
                </a:lnTo>
                <a:close/>
              </a:path>
              <a:path w="626745" h="170179">
                <a:moveTo>
                  <a:pt x="617220" y="106053"/>
                </a:moveTo>
                <a:lnTo>
                  <a:pt x="617220" y="85022"/>
                </a:lnTo>
                <a:lnTo>
                  <a:pt x="617143" y="84641"/>
                </a:lnTo>
                <a:lnTo>
                  <a:pt x="616458" y="88070"/>
                </a:lnTo>
                <a:lnTo>
                  <a:pt x="616458" y="87308"/>
                </a:lnTo>
                <a:lnTo>
                  <a:pt x="615696" y="91880"/>
                </a:lnTo>
                <a:lnTo>
                  <a:pt x="615696" y="91118"/>
                </a:lnTo>
                <a:lnTo>
                  <a:pt x="614172" y="94928"/>
                </a:lnTo>
                <a:lnTo>
                  <a:pt x="614172" y="94166"/>
                </a:lnTo>
                <a:lnTo>
                  <a:pt x="611886" y="97976"/>
                </a:lnTo>
                <a:lnTo>
                  <a:pt x="588401" y="115489"/>
                </a:lnTo>
                <a:lnTo>
                  <a:pt x="508843" y="141850"/>
                </a:lnTo>
                <a:lnTo>
                  <a:pt x="457023" y="150652"/>
                </a:lnTo>
                <a:lnTo>
                  <a:pt x="400011" y="156501"/>
                </a:lnTo>
                <a:lnTo>
                  <a:pt x="341539" y="159298"/>
                </a:lnTo>
                <a:lnTo>
                  <a:pt x="278917" y="159250"/>
                </a:lnTo>
                <a:lnTo>
                  <a:pt x="219088" y="156101"/>
                </a:lnTo>
                <a:lnTo>
                  <a:pt x="162574" y="149904"/>
                </a:lnTo>
                <a:lnTo>
                  <a:pt x="111500" y="140636"/>
                </a:lnTo>
                <a:lnTo>
                  <a:pt x="67994" y="128274"/>
                </a:lnTo>
                <a:lnTo>
                  <a:pt x="12192" y="94166"/>
                </a:lnTo>
                <a:lnTo>
                  <a:pt x="10668" y="91118"/>
                </a:lnTo>
                <a:lnTo>
                  <a:pt x="10668" y="91880"/>
                </a:lnTo>
                <a:lnTo>
                  <a:pt x="9144" y="87308"/>
                </a:lnTo>
                <a:lnTo>
                  <a:pt x="9144" y="102668"/>
                </a:lnTo>
                <a:lnTo>
                  <a:pt x="25686" y="119470"/>
                </a:lnTo>
                <a:lnTo>
                  <a:pt x="66423" y="137953"/>
                </a:lnTo>
                <a:lnTo>
                  <a:pt x="116514" y="151216"/>
                </a:lnTo>
                <a:lnTo>
                  <a:pt x="168737" y="160099"/>
                </a:lnTo>
                <a:lnTo>
                  <a:pt x="215872" y="165441"/>
                </a:lnTo>
                <a:lnTo>
                  <a:pt x="281178" y="168842"/>
                </a:lnTo>
                <a:lnTo>
                  <a:pt x="313182" y="169604"/>
                </a:lnTo>
                <a:lnTo>
                  <a:pt x="357125" y="168547"/>
                </a:lnTo>
                <a:lnTo>
                  <a:pt x="411307" y="165196"/>
                </a:lnTo>
                <a:lnTo>
                  <a:pt x="469992" y="158503"/>
                </a:lnTo>
                <a:lnTo>
                  <a:pt x="527442" y="147419"/>
                </a:lnTo>
                <a:lnTo>
                  <a:pt x="577922" y="130895"/>
                </a:lnTo>
                <a:lnTo>
                  <a:pt x="615696" y="107882"/>
                </a:lnTo>
                <a:lnTo>
                  <a:pt x="617220" y="106053"/>
                </a:lnTo>
                <a:close/>
              </a:path>
              <a:path w="626745" h="170179">
                <a:moveTo>
                  <a:pt x="617220" y="85022"/>
                </a:moveTo>
                <a:lnTo>
                  <a:pt x="617220" y="84260"/>
                </a:lnTo>
                <a:lnTo>
                  <a:pt x="617143" y="84641"/>
                </a:lnTo>
                <a:lnTo>
                  <a:pt x="617220" y="85022"/>
                </a:lnTo>
                <a:close/>
              </a:path>
              <a:path w="626745" h="170179">
                <a:moveTo>
                  <a:pt x="624840" y="94928"/>
                </a:moveTo>
                <a:lnTo>
                  <a:pt x="624840" y="74354"/>
                </a:lnTo>
                <a:lnTo>
                  <a:pt x="624078" y="74354"/>
                </a:lnTo>
                <a:lnTo>
                  <a:pt x="622554" y="70544"/>
                </a:lnTo>
                <a:lnTo>
                  <a:pt x="622554" y="98738"/>
                </a:lnTo>
                <a:lnTo>
                  <a:pt x="624078" y="94928"/>
                </a:lnTo>
                <a:lnTo>
                  <a:pt x="624840" y="94928"/>
                </a:lnTo>
                <a:close/>
              </a:path>
              <a:path w="626745" h="170179">
                <a:moveTo>
                  <a:pt x="626364" y="89594"/>
                </a:moveTo>
                <a:lnTo>
                  <a:pt x="626364" y="79688"/>
                </a:lnTo>
                <a:lnTo>
                  <a:pt x="625602" y="79688"/>
                </a:lnTo>
                <a:lnTo>
                  <a:pt x="624840" y="75116"/>
                </a:lnTo>
                <a:lnTo>
                  <a:pt x="624840" y="94166"/>
                </a:lnTo>
                <a:lnTo>
                  <a:pt x="625602" y="90356"/>
                </a:lnTo>
                <a:lnTo>
                  <a:pt x="626364" y="89594"/>
                </a:lnTo>
                <a:close/>
              </a:path>
            </a:pathLst>
          </a:custGeom>
          <a:solidFill>
            <a:srgbClr val="808080"/>
          </a:solidFill>
        </p:spPr>
        <p:txBody>
          <a:bodyPr wrap="square" lIns="0" tIns="0" rIns="0" bIns="0" rtlCol="0"/>
          <a:lstStyle/>
          <a:p>
            <a:endParaRPr/>
          </a:p>
        </p:txBody>
      </p:sp>
      <p:sp>
        <p:nvSpPr>
          <p:cNvPr id="132" name="object 132"/>
          <p:cNvSpPr/>
          <p:nvPr/>
        </p:nvSpPr>
        <p:spPr>
          <a:xfrm>
            <a:off x="8407908" y="5283708"/>
            <a:ext cx="348995" cy="75437"/>
          </a:xfrm>
          <a:prstGeom prst="rect">
            <a:avLst/>
          </a:prstGeom>
          <a:blipFill>
            <a:blip r:embed="rId53" cstate="print"/>
            <a:stretch>
              <a:fillRect/>
            </a:stretch>
          </a:blipFill>
        </p:spPr>
        <p:txBody>
          <a:bodyPr wrap="square" lIns="0" tIns="0" rIns="0" bIns="0" rtlCol="0"/>
          <a:lstStyle/>
          <a:p>
            <a:endParaRPr/>
          </a:p>
        </p:txBody>
      </p:sp>
      <p:sp>
        <p:nvSpPr>
          <p:cNvPr id="133" name="object 133"/>
          <p:cNvSpPr/>
          <p:nvPr/>
        </p:nvSpPr>
        <p:spPr>
          <a:xfrm>
            <a:off x="8407908" y="5276850"/>
            <a:ext cx="348996" cy="88392"/>
          </a:xfrm>
          <a:prstGeom prst="rect">
            <a:avLst/>
          </a:prstGeom>
          <a:blipFill>
            <a:blip r:embed="rId54" cstate="print"/>
            <a:stretch>
              <a:fillRect/>
            </a:stretch>
          </a:blipFill>
        </p:spPr>
        <p:txBody>
          <a:bodyPr wrap="square" lIns="0" tIns="0" rIns="0" bIns="0" rtlCol="0"/>
          <a:lstStyle/>
          <a:p>
            <a:endParaRPr/>
          </a:p>
        </p:txBody>
      </p:sp>
      <p:sp>
        <p:nvSpPr>
          <p:cNvPr id="134" name="object 134"/>
          <p:cNvSpPr/>
          <p:nvPr/>
        </p:nvSpPr>
        <p:spPr>
          <a:xfrm>
            <a:off x="8423148" y="5276850"/>
            <a:ext cx="318135" cy="88900"/>
          </a:xfrm>
          <a:custGeom>
            <a:avLst/>
            <a:gdLst/>
            <a:ahLst/>
            <a:cxnLst/>
            <a:rect l="l" t="t" r="r" b="b"/>
            <a:pathLst>
              <a:path w="318134" h="88900">
                <a:moveTo>
                  <a:pt x="218032" y="75437"/>
                </a:moveTo>
                <a:lnTo>
                  <a:pt x="112014" y="1523"/>
                </a:lnTo>
                <a:lnTo>
                  <a:pt x="110489" y="761"/>
                </a:lnTo>
                <a:lnTo>
                  <a:pt x="109728" y="0"/>
                </a:lnTo>
                <a:lnTo>
                  <a:pt x="0" y="0"/>
                </a:lnTo>
                <a:lnTo>
                  <a:pt x="0" y="12954"/>
                </a:lnTo>
                <a:lnTo>
                  <a:pt x="104394" y="12953"/>
                </a:lnTo>
                <a:lnTo>
                  <a:pt x="104394" y="11429"/>
                </a:lnTo>
                <a:lnTo>
                  <a:pt x="108204" y="12953"/>
                </a:lnTo>
                <a:lnTo>
                  <a:pt x="108204" y="14086"/>
                </a:lnTo>
                <a:lnTo>
                  <a:pt x="212597" y="86867"/>
                </a:lnTo>
                <a:lnTo>
                  <a:pt x="214122" y="87630"/>
                </a:lnTo>
                <a:lnTo>
                  <a:pt x="214884" y="88391"/>
                </a:lnTo>
                <a:lnTo>
                  <a:pt x="216408" y="88391"/>
                </a:lnTo>
                <a:lnTo>
                  <a:pt x="216408" y="75437"/>
                </a:lnTo>
                <a:lnTo>
                  <a:pt x="218032" y="75437"/>
                </a:lnTo>
                <a:close/>
              </a:path>
              <a:path w="318134" h="88900">
                <a:moveTo>
                  <a:pt x="108204" y="12953"/>
                </a:moveTo>
                <a:lnTo>
                  <a:pt x="104394" y="11429"/>
                </a:lnTo>
                <a:lnTo>
                  <a:pt x="106579" y="12953"/>
                </a:lnTo>
                <a:lnTo>
                  <a:pt x="108204" y="12953"/>
                </a:lnTo>
                <a:close/>
              </a:path>
              <a:path w="318134" h="88900">
                <a:moveTo>
                  <a:pt x="106579" y="12953"/>
                </a:moveTo>
                <a:lnTo>
                  <a:pt x="104394" y="11429"/>
                </a:lnTo>
                <a:lnTo>
                  <a:pt x="104394" y="12953"/>
                </a:lnTo>
                <a:lnTo>
                  <a:pt x="106579" y="12953"/>
                </a:lnTo>
                <a:close/>
              </a:path>
              <a:path w="318134" h="88900">
                <a:moveTo>
                  <a:pt x="108204" y="14086"/>
                </a:moveTo>
                <a:lnTo>
                  <a:pt x="108204" y="12953"/>
                </a:lnTo>
                <a:lnTo>
                  <a:pt x="106579" y="12953"/>
                </a:lnTo>
                <a:lnTo>
                  <a:pt x="108204" y="14086"/>
                </a:lnTo>
                <a:close/>
              </a:path>
              <a:path w="318134" h="88900">
                <a:moveTo>
                  <a:pt x="220218" y="76961"/>
                </a:moveTo>
                <a:lnTo>
                  <a:pt x="218032" y="75437"/>
                </a:lnTo>
                <a:lnTo>
                  <a:pt x="216408" y="75437"/>
                </a:lnTo>
                <a:lnTo>
                  <a:pt x="220218" y="76961"/>
                </a:lnTo>
                <a:close/>
              </a:path>
              <a:path w="318134" h="88900">
                <a:moveTo>
                  <a:pt x="220218" y="88391"/>
                </a:moveTo>
                <a:lnTo>
                  <a:pt x="220218" y="76961"/>
                </a:lnTo>
                <a:lnTo>
                  <a:pt x="216408" y="75437"/>
                </a:lnTo>
                <a:lnTo>
                  <a:pt x="216408" y="88391"/>
                </a:lnTo>
                <a:lnTo>
                  <a:pt x="220218" y="88391"/>
                </a:lnTo>
                <a:close/>
              </a:path>
              <a:path w="318134" h="88900">
                <a:moveTo>
                  <a:pt x="317754" y="88391"/>
                </a:moveTo>
                <a:lnTo>
                  <a:pt x="317754" y="75437"/>
                </a:lnTo>
                <a:lnTo>
                  <a:pt x="218032" y="75437"/>
                </a:lnTo>
                <a:lnTo>
                  <a:pt x="220218" y="76961"/>
                </a:lnTo>
                <a:lnTo>
                  <a:pt x="220218" y="88391"/>
                </a:lnTo>
                <a:lnTo>
                  <a:pt x="317754" y="88391"/>
                </a:lnTo>
                <a:close/>
              </a:path>
            </a:pathLst>
          </a:custGeom>
          <a:solidFill>
            <a:srgbClr val="808080"/>
          </a:solidFill>
        </p:spPr>
        <p:txBody>
          <a:bodyPr wrap="square" lIns="0" tIns="0" rIns="0" bIns="0" rtlCol="0"/>
          <a:lstStyle/>
          <a:p>
            <a:endParaRPr/>
          </a:p>
        </p:txBody>
      </p:sp>
      <p:sp>
        <p:nvSpPr>
          <p:cNvPr id="135" name="object 135"/>
          <p:cNvSpPr/>
          <p:nvPr/>
        </p:nvSpPr>
        <p:spPr>
          <a:xfrm>
            <a:off x="8900922" y="5322570"/>
            <a:ext cx="0" cy="107950"/>
          </a:xfrm>
          <a:custGeom>
            <a:avLst/>
            <a:gdLst/>
            <a:ahLst/>
            <a:cxnLst/>
            <a:rect l="l" t="t" r="r" b="b"/>
            <a:pathLst>
              <a:path h="107950">
                <a:moveTo>
                  <a:pt x="0" y="0"/>
                </a:moveTo>
                <a:lnTo>
                  <a:pt x="0" y="107441"/>
                </a:lnTo>
              </a:path>
            </a:pathLst>
          </a:custGeom>
          <a:ln w="9143">
            <a:solidFill>
              <a:srgbClr val="808080"/>
            </a:solidFill>
          </a:ln>
        </p:spPr>
        <p:txBody>
          <a:bodyPr wrap="square" lIns="0" tIns="0" rIns="0" bIns="0" rtlCol="0"/>
          <a:lstStyle/>
          <a:p>
            <a:endParaRPr/>
          </a:p>
        </p:txBody>
      </p:sp>
      <p:sp>
        <p:nvSpPr>
          <p:cNvPr id="136" name="object 136"/>
          <p:cNvSpPr/>
          <p:nvPr/>
        </p:nvSpPr>
        <p:spPr>
          <a:xfrm>
            <a:off x="7660386" y="5051297"/>
            <a:ext cx="617219" cy="137160"/>
          </a:xfrm>
          <a:prstGeom prst="rect">
            <a:avLst/>
          </a:prstGeom>
          <a:blipFill>
            <a:blip r:embed="rId55" cstate="print"/>
            <a:stretch>
              <a:fillRect/>
            </a:stretch>
          </a:blipFill>
        </p:spPr>
        <p:txBody>
          <a:bodyPr wrap="square" lIns="0" tIns="0" rIns="0" bIns="0" rtlCol="0"/>
          <a:lstStyle/>
          <a:p>
            <a:endParaRPr/>
          </a:p>
        </p:txBody>
      </p:sp>
      <p:sp>
        <p:nvSpPr>
          <p:cNvPr id="137" name="object 137"/>
          <p:cNvSpPr/>
          <p:nvPr/>
        </p:nvSpPr>
        <p:spPr>
          <a:xfrm>
            <a:off x="7655813" y="5046867"/>
            <a:ext cx="627380" cy="146050"/>
          </a:xfrm>
          <a:custGeom>
            <a:avLst/>
            <a:gdLst/>
            <a:ahLst/>
            <a:cxnLst/>
            <a:rect l="l" t="t" r="r" b="b"/>
            <a:pathLst>
              <a:path w="627379" h="146050">
                <a:moveTo>
                  <a:pt x="762" y="76820"/>
                </a:moveTo>
                <a:lnTo>
                  <a:pt x="761" y="69200"/>
                </a:lnTo>
                <a:lnTo>
                  <a:pt x="0" y="72248"/>
                </a:lnTo>
                <a:lnTo>
                  <a:pt x="0" y="73772"/>
                </a:lnTo>
                <a:lnTo>
                  <a:pt x="762" y="76820"/>
                </a:lnTo>
                <a:close/>
              </a:path>
              <a:path w="627379" h="146050">
                <a:moveTo>
                  <a:pt x="2286" y="81392"/>
                </a:moveTo>
                <a:lnTo>
                  <a:pt x="2285" y="64628"/>
                </a:lnTo>
                <a:lnTo>
                  <a:pt x="761" y="67676"/>
                </a:lnTo>
                <a:lnTo>
                  <a:pt x="762" y="78344"/>
                </a:lnTo>
                <a:lnTo>
                  <a:pt x="2286" y="81392"/>
                </a:lnTo>
                <a:close/>
              </a:path>
              <a:path w="627379" h="146050">
                <a:moveTo>
                  <a:pt x="624840" y="82154"/>
                </a:moveTo>
                <a:lnTo>
                  <a:pt x="624840" y="63866"/>
                </a:lnTo>
                <a:lnTo>
                  <a:pt x="622554" y="60056"/>
                </a:lnTo>
                <a:lnTo>
                  <a:pt x="622554" y="59294"/>
                </a:lnTo>
                <a:lnTo>
                  <a:pt x="558824" y="26434"/>
                </a:lnTo>
                <a:lnTo>
                  <a:pt x="513645" y="15847"/>
                </a:lnTo>
                <a:lnTo>
                  <a:pt x="461314" y="7896"/>
                </a:lnTo>
                <a:lnTo>
                  <a:pt x="403887" y="2588"/>
                </a:lnTo>
                <a:lnTo>
                  <a:pt x="344953" y="0"/>
                </a:lnTo>
                <a:lnTo>
                  <a:pt x="280115" y="17"/>
                </a:lnTo>
                <a:lnTo>
                  <a:pt x="221578" y="2606"/>
                </a:lnTo>
                <a:lnTo>
                  <a:pt x="164317" y="7952"/>
                </a:lnTo>
                <a:lnTo>
                  <a:pt x="112235" y="15981"/>
                </a:lnTo>
                <a:lnTo>
                  <a:pt x="67388" y="26701"/>
                </a:lnTo>
                <a:lnTo>
                  <a:pt x="7619" y="56246"/>
                </a:lnTo>
                <a:lnTo>
                  <a:pt x="4571" y="59294"/>
                </a:lnTo>
                <a:lnTo>
                  <a:pt x="4571" y="60056"/>
                </a:lnTo>
                <a:lnTo>
                  <a:pt x="2285" y="63866"/>
                </a:lnTo>
                <a:lnTo>
                  <a:pt x="2286" y="82154"/>
                </a:lnTo>
                <a:lnTo>
                  <a:pt x="4572" y="85964"/>
                </a:lnTo>
                <a:lnTo>
                  <a:pt x="7620" y="90536"/>
                </a:lnTo>
                <a:lnTo>
                  <a:pt x="9906" y="91988"/>
                </a:lnTo>
                <a:lnTo>
                  <a:pt x="9906" y="70724"/>
                </a:lnTo>
                <a:lnTo>
                  <a:pt x="10668" y="67676"/>
                </a:lnTo>
                <a:lnTo>
                  <a:pt x="10668" y="68438"/>
                </a:lnTo>
                <a:lnTo>
                  <a:pt x="12192" y="64628"/>
                </a:lnTo>
                <a:lnTo>
                  <a:pt x="12192" y="65390"/>
                </a:lnTo>
                <a:lnTo>
                  <a:pt x="74089" y="34621"/>
                </a:lnTo>
                <a:lnTo>
                  <a:pt x="118110" y="24543"/>
                </a:lnTo>
                <a:lnTo>
                  <a:pt x="168995" y="16986"/>
                </a:lnTo>
                <a:lnTo>
                  <a:pt x="224786" y="11950"/>
                </a:lnTo>
                <a:lnTo>
                  <a:pt x="281964" y="9501"/>
                </a:lnTo>
                <a:lnTo>
                  <a:pt x="344953" y="9511"/>
                </a:lnTo>
                <a:lnTo>
                  <a:pt x="402005" y="11961"/>
                </a:lnTo>
                <a:lnTo>
                  <a:pt x="457830" y="17002"/>
                </a:lnTo>
                <a:lnTo>
                  <a:pt x="508765" y="24561"/>
                </a:lnTo>
                <a:lnTo>
                  <a:pt x="552853" y="34638"/>
                </a:lnTo>
                <a:lnTo>
                  <a:pt x="612648" y="62342"/>
                </a:lnTo>
                <a:lnTo>
                  <a:pt x="614934" y="65390"/>
                </a:lnTo>
                <a:lnTo>
                  <a:pt x="614934" y="65898"/>
                </a:lnTo>
                <a:lnTo>
                  <a:pt x="616458" y="68438"/>
                </a:lnTo>
                <a:lnTo>
                  <a:pt x="616458" y="69200"/>
                </a:lnTo>
                <a:lnTo>
                  <a:pt x="617220" y="70724"/>
                </a:lnTo>
                <a:lnTo>
                  <a:pt x="617220" y="91278"/>
                </a:lnTo>
                <a:lnTo>
                  <a:pt x="619506" y="89774"/>
                </a:lnTo>
                <a:lnTo>
                  <a:pt x="622554" y="85964"/>
                </a:lnTo>
                <a:lnTo>
                  <a:pt x="624840" y="82154"/>
                </a:lnTo>
                <a:close/>
              </a:path>
              <a:path w="627379" h="146050">
                <a:moveTo>
                  <a:pt x="614934" y="92781"/>
                </a:moveTo>
                <a:lnTo>
                  <a:pt x="614934" y="80630"/>
                </a:lnTo>
                <a:lnTo>
                  <a:pt x="611886" y="83678"/>
                </a:lnTo>
                <a:lnTo>
                  <a:pt x="587914" y="98716"/>
                </a:lnTo>
                <a:lnTo>
                  <a:pt x="508317" y="121373"/>
                </a:lnTo>
                <a:lnTo>
                  <a:pt x="456807" y="128949"/>
                </a:lnTo>
                <a:lnTo>
                  <a:pt x="400231" y="133995"/>
                </a:lnTo>
                <a:lnTo>
                  <a:pt x="344953" y="136308"/>
                </a:lnTo>
                <a:lnTo>
                  <a:pt x="280115" y="136406"/>
                </a:lnTo>
                <a:lnTo>
                  <a:pt x="220690" y="133729"/>
                </a:lnTo>
                <a:lnTo>
                  <a:pt x="164317" y="128415"/>
                </a:lnTo>
                <a:lnTo>
                  <a:pt x="113393" y="120497"/>
                </a:lnTo>
                <a:lnTo>
                  <a:pt x="69635" y="109899"/>
                </a:lnTo>
                <a:lnTo>
                  <a:pt x="12192" y="80630"/>
                </a:lnTo>
                <a:lnTo>
                  <a:pt x="10668" y="77582"/>
                </a:lnTo>
                <a:lnTo>
                  <a:pt x="10668" y="78344"/>
                </a:lnTo>
                <a:lnTo>
                  <a:pt x="9906" y="74534"/>
                </a:lnTo>
                <a:lnTo>
                  <a:pt x="9906" y="91988"/>
                </a:lnTo>
                <a:lnTo>
                  <a:pt x="32464" y="106319"/>
                </a:lnTo>
                <a:lnTo>
                  <a:pt x="68490" y="119491"/>
                </a:lnTo>
                <a:lnTo>
                  <a:pt x="113656" y="130043"/>
                </a:lnTo>
                <a:lnTo>
                  <a:pt x="165924" y="137967"/>
                </a:lnTo>
                <a:lnTo>
                  <a:pt x="223256" y="143257"/>
                </a:lnTo>
                <a:lnTo>
                  <a:pt x="281964" y="145831"/>
                </a:lnTo>
                <a:lnTo>
                  <a:pt x="344953" y="145900"/>
                </a:lnTo>
                <a:lnTo>
                  <a:pt x="405240" y="143237"/>
                </a:lnTo>
                <a:lnTo>
                  <a:pt x="462434" y="137908"/>
                </a:lnTo>
                <a:lnTo>
                  <a:pt x="514497" y="129905"/>
                </a:lnTo>
                <a:lnTo>
                  <a:pt x="559389" y="119221"/>
                </a:lnTo>
                <a:lnTo>
                  <a:pt x="595072" y="105846"/>
                </a:lnTo>
                <a:lnTo>
                  <a:pt x="614934" y="92781"/>
                </a:lnTo>
                <a:close/>
              </a:path>
              <a:path w="627379" h="146050">
                <a:moveTo>
                  <a:pt x="614934" y="65898"/>
                </a:moveTo>
                <a:lnTo>
                  <a:pt x="614934" y="65390"/>
                </a:lnTo>
                <a:lnTo>
                  <a:pt x="614172" y="64628"/>
                </a:lnTo>
                <a:lnTo>
                  <a:pt x="614934" y="65898"/>
                </a:lnTo>
                <a:close/>
              </a:path>
              <a:path w="627379" h="146050">
                <a:moveTo>
                  <a:pt x="616458" y="91779"/>
                </a:moveTo>
                <a:lnTo>
                  <a:pt x="616458" y="77582"/>
                </a:lnTo>
                <a:lnTo>
                  <a:pt x="614172" y="80630"/>
                </a:lnTo>
                <a:lnTo>
                  <a:pt x="614934" y="80630"/>
                </a:lnTo>
                <a:lnTo>
                  <a:pt x="614934" y="92781"/>
                </a:lnTo>
                <a:lnTo>
                  <a:pt x="616458" y="91779"/>
                </a:lnTo>
                <a:close/>
              </a:path>
              <a:path w="627379" h="146050">
                <a:moveTo>
                  <a:pt x="616458" y="69200"/>
                </a:moveTo>
                <a:lnTo>
                  <a:pt x="616458" y="68438"/>
                </a:lnTo>
                <a:lnTo>
                  <a:pt x="615696" y="67676"/>
                </a:lnTo>
                <a:lnTo>
                  <a:pt x="616458" y="69200"/>
                </a:lnTo>
                <a:close/>
              </a:path>
              <a:path w="627379" h="146050">
                <a:moveTo>
                  <a:pt x="617220" y="91278"/>
                </a:moveTo>
                <a:lnTo>
                  <a:pt x="617220" y="74534"/>
                </a:lnTo>
                <a:lnTo>
                  <a:pt x="615696" y="78344"/>
                </a:lnTo>
                <a:lnTo>
                  <a:pt x="616458" y="77582"/>
                </a:lnTo>
                <a:lnTo>
                  <a:pt x="616458" y="91779"/>
                </a:lnTo>
                <a:lnTo>
                  <a:pt x="617220" y="91278"/>
                </a:lnTo>
                <a:close/>
              </a:path>
              <a:path w="627379" h="146050">
                <a:moveTo>
                  <a:pt x="626364" y="78344"/>
                </a:moveTo>
                <a:lnTo>
                  <a:pt x="626364" y="67676"/>
                </a:lnTo>
                <a:lnTo>
                  <a:pt x="624840" y="64628"/>
                </a:lnTo>
                <a:lnTo>
                  <a:pt x="624840" y="81392"/>
                </a:lnTo>
                <a:lnTo>
                  <a:pt x="626364" y="78344"/>
                </a:lnTo>
                <a:close/>
              </a:path>
              <a:path w="627379" h="146050">
                <a:moveTo>
                  <a:pt x="627126" y="73772"/>
                </a:moveTo>
                <a:lnTo>
                  <a:pt x="627126" y="72248"/>
                </a:lnTo>
                <a:lnTo>
                  <a:pt x="626364" y="69200"/>
                </a:lnTo>
                <a:lnTo>
                  <a:pt x="626364" y="76820"/>
                </a:lnTo>
                <a:lnTo>
                  <a:pt x="627126" y="73772"/>
                </a:lnTo>
                <a:close/>
              </a:path>
            </a:pathLst>
          </a:custGeom>
          <a:solidFill>
            <a:srgbClr val="808080"/>
          </a:solidFill>
        </p:spPr>
        <p:txBody>
          <a:bodyPr wrap="square" lIns="0" tIns="0" rIns="0" bIns="0" rtlCol="0"/>
          <a:lstStyle/>
          <a:p>
            <a:endParaRPr/>
          </a:p>
        </p:txBody>
      </p:sp>
      <p:sp>
        <p:nvSpPr>
          <p:cNvPr id="138" name="object 138"/>
          <p:cNvSpPr/>
          <p:nvPr/>
        </p:nvSpPr>
        <p:spPr>
          <a:xfrm>
            <a:off x="7660386" y="5037582"/>
            <a:ext cx="620268" cy="84582"/>
          </a:xfrm>
          <a:prstGeom prst="rect">
            <a:avLst/>
          </a:prstGeom>
          <a:blipFill>
            <a:blip r:embed="rId56" cstate="print"/>
            <a:stretch>
              <a:fillRect/>
            </a:stretch>
          </a:blipFill>
        </p:spPr>
        <p:txBody>
          <a:bodyPr wrap="square" lIns="0" tIns="0" rIns="0" bIns="0" rtlCol="0"/>
          <a:lstStyle/>
          <a:p>
            <a:endParaRPr/>
          </a:p>
        </p:txBody>
      </p:sp>
      <p:sp>
        <p:nvSpPr>
          <p:cNvPr id="139" name="object 139"/>
          <p:cNvSpPr/>
          <p:nvPr/>
        </p:nvSpPr>
        <p:spPr>
          <a:xfrm>
            <a:off x="7658100" y="4943855"/>
            <a:ext cx="617220" cy="160020"/>
          </a:xfrm>
          <a:prstGeom prst="rect">
            <a:avLst/>
          </a:prstGeom>
          <a:blipFill>
            <a:blip r:embed="rId57" cstate="print"/>
            <a:stretch>
              <a:fillRect/>
            </a:stretch>
          </a:blipFill>
        </p:spPr>
        <p:txBody>
          <a:bodyPr wrap="square" lIns="0" tIns="0" rIns="0" bIns="0" rtlCol="0"/>
          <a:lstStyle/>
          <a:p>
            <a:endParaRPr/>
          </a:p>
        </p:txBody>
      </p:sp>
      <p:sp>
        <p:nvSpPr>
          <p:cNvPr id="140" name="object 140"/>
          <p:cNvSpPr/>
          <p:nvPr/>
        </p:nvSpPr>
        <p:spPr>
          <a:xfrm>
            <a:off x="7653527" y="4939184"/>
            <a:ext cx="626745" cy="169545"/>
          </a:xfrm>
          <a:custGeom>
            <a:avLst/>
            <a:gdLst/>
            <a:ahLst/>
            <a:cxnLst/>
            <a:rect l="l" t="t" r="r" b="b"/>
            <a:pathLst>
              <a:path w="626745" h="169545">
                <a:moveTo>
                  <a:pt x="622554" y="99921"/>
                </a:moveTo>
                <a:lnTo>
                  <a:pt x="622554" y="69441"/>
                </a:lnTo>
                <a:lnTo>
                  <a:pt x="619506" y="65631"/>
                </a:lnTo>
                <a:lnTo>
                  <a:pt x="565819" y="33449"/>
                </a:lnTo>
                <a:lnTo>
                  <a:pt x="524880" y="21343"/>
                </a:lnTo>
                <a:lnTo>
                  <a:pt x="476922" y="11923"/>
                </a:lnTo>
                <a:lnTo>
                  <a:pt x="423729" y="5211"/>
                </a:lnTo>
                <a:lnTo>
                  <a:pt x="367028" y="1226"/>
                </a:lnTo>
                <a:lnTo>
                  <a:pt x="308576" y="0"/>
                </a:lnTo>
                <a:lnTo>
                  <a:pt x="250584" y="1534"/>
                </a:lnTo>
                <a:lnTo>
                  <a:pt x="194294" y="5867"/>
                </a:lnTo>
                <a:lnTo>
                  <a:pt x="141689" y="13016"/>
                </a:lnTo>
                <a:lnTo>
                  <a:pt x="94554" y="23003"/>
                </a:lnTo>
                <a:lnTo>
                  <a:pt x="54674" y="35848"/>
                </a:lnTo>
                <a:lnTo>
                  <a:pt x="3809" y="70203"/>
                </a:lnTo>
                <a:lnTo>
                  <a:pt x="2285" y="74013"/>
                </a:lnTo>
                <a:lnTo>
                  <a:pt x="1523" y="74775"/>
                </a:lnTo>
                <a:lnTo>
                  <a:pt x="761" y="79347"/>
                </a:lnTo>
                <a:lnTo>
                  <a:pt x="0" y="79347"/>
                </a:lnTo>
                <a:lnTo>
                  <a:pt x="0" y="90015"/>
                </a:lnTo>
                <a:lnTo>
                  <a:pt x="762" y="90015"/>
                </a:lnTo>
                <a:lnTo>
                  <a:pt x="1524" y="93825"/>
                </a:lnTo>
                <a:lnTo>
                  <a:pt x="1524" y="94587"/>
                </a:lnTo>
                <a:lnTo>
                  <a:pt x="2286" y="94587"/>
                </a:lnTo>
                <a:lnTo>
                  <a:pt x="4572" y="99159"/>
                </a:lnTo>
                <a:lnTo>
                  <a:pt x="9144" y="103513"/>
                </a:lnTo>
                <a:lnTo>
                  <a:pt x="9144" y="83919"/>
                </a:lnTo>
                <a:lnTo>
                  <a:pt x="9271" y="84681"/>
                </a:lnTo>
                <a:lnTo>
                  <a:pt x="9906" y="80871"/>
                </a:lnTo>
                <a:lnTo>
                  <a:pt x="9906" y="81633"/>
                </a:lnTo>
                <a:lnTo>
                  <a:pt x="10668" y="77823"/>
                </a:lnTo>
                <a:lnTo>
                  <a:pt x="10668" y="78585"/>
                </a:lnTo>
                <a:lnTo>
                  <a:pt x="12192" y="74775"/>
                </a:lnTo>
                <a:lnTo>
                  <a:pt x="34078" y="56322"/>
                </a:lnTo>
                <a:lnTo>
                  <a:pt x="111470" y="28682"/>
                </a:lnTo>
                <a:lnTo>
                  <a:pt x="162676" y="19464"/>
                </a:lnTo>
                <a:lnTo>
                  <a:pt x="219357" y="13293"/>
                </a:lnTo>
                <a:lnTo>
                  <a:pt x="279361" y="10153"/>
                </a:lnTo>
                <a:lnTo>
                  <a:pt x="340540" y="10028"/>
                </a:lnTo>
                <a:lnTo>
                  <a:pt x="400744" y="12903"/>
                </a:lnTo>
                <a:lnTo>
                  <a:pt x="457822" y="18763"/>
                </a:lnTo>
                <a:lnTo>
                  <a:pt x="509625" y="27591"/>
                </a:lnTo>
                <a:lnTo>
                  <a:pt x="554003" y="39371"/>
                </a:lnTo>
                <a:lnTo>
                  <a:pt x="611886" y="71727"/>
                </a:lnTo>
                <a:lnTo>
                  <a:pt x="614172" y="75537"/>
                </a:lnTo>
                <a:lnTo>
                  <a:pt x="614172" y="74775"/>
                </a:lnTo>
                <a:lnTo>
                  <a:pt x="615696" y="78585"/>
                </a:lnTo>
                <a:lnTo>
                  <a:pt x="615696" y="77823"/>
                </a:lnTo>
                <a:lnTo>
                  <a:pt x="617220" y="81633"/>
                </a:lnTo>
                <a:lnTo>
                  <a:pt x="617220" y="105590"/>
                </a:lnTo>
                <a:lnTo>
                  <a:pt x="619506" y="103731"/>
                </a:lnTo>
                <a:lnTo>
                  <a:pt x="622554" y="99921"/>
                </a:lnTo>
                <a:close/>
              </a:path>
              <a:path w="626745" h="169545">
                <a:moveTo>
                  <a:pt x="9271" y="84681"/>
                </a:moveTo>
                <a:lnTo>
                  <a:pt x="9144" y="83919"/>
                </a:lnTo>
                <a:lnTo>
                  <a:pt x="9144" y="85443"/>
                </a:lnTo>
                <a:lnTo>
                  <a:pt x="9271" y="84681"/>
                </a:lnTo>
                <a:close/>
              </a:path>
              <a:path w="626745" h="169545">
                <a:moveTo>
                  <a:pt x="617220" y="105590"/>
                </a:moveTo>
                <a:lnTo>
                  <a:pt x="617220" y="87729"/>
                </a:lnTo>
                <a:lnTo>
                  <a:pt x="615696" y="91539"/>
                </a:lnTo>
                <a:lnTo>
                  <a:pt x="615696" y="90777"/>
                </a:lnTo>
                <a:lnTo>
                  <a:pt x="614172" y="94587"/>
                </a:lnTo>
                <a:lnTo>
                  <a:pt x="614172" y="93825"/>
                </a:lnTo>
                <a:lnTo>
                  <a:pt x="611886" y="98397"/>
                </a:lnTo>
                <a:lnTo>
                  <a:pt x="553206" y="130266"/>
                </a:lnTo>
                <a:lnTo>
                  <a:pt x="508559" y="141902"/>
                </a:lnTo>
                <a:lnTo>
                  <a:pt x="456569" y="150634"/>
                </a:lnTo>
                <a:lnTo>
                  <a:pt x="399380" y="156433"/>
                </a:lnTo>
                <a:lnTo>
                  <a:pt x="340540" y="159205"/>
                </a:lnTo>
                <a:lnTo>
                  <a:pt x="308776" y="159196"/>
                </a:lnTo>
                <a:lnTo>
                  <a:pt x="218078" y="155950"/>
                </a:lnTo>
                <a:lnTo>
                  <a:pt x="161551" y="149734"/>
                </a:lnTo>
                <a:lnTo>
                  <a:pt x="110553" y="140441"/>
                </a:lnTo>
                <a:lnTo>
                  <a:pt x="67231" y="128045"/>
                </a:lnTo>
                <a:lnTo>
                  <a:pt x="12192" y="93825"/>
                </a:lnTo>
                <a:lnTo>
                  <a:pt x="10668" y="90777"/>
                </a:lnTo>
                <a:lnTo>
                  <a:pt x="10668" y="91539"/>
                </a:lnTo>
                <a:lnTo>
                  <a:pt x="9906" y="87729"/>
                </a:lnTo>
                <a:lnTo>
                  <a:pt x="9906" y="88491"/>
                </a:lnTo>
                <a:lnTo>
                  <a:pt x="9271" y="84681"/>
                </a:lnTo>
                <a:lnTo>
                  <a:pt x="9144" y="85443"/>
                </a:lnTo>
                <a:lnTo>
                  <a:pt x="9144" y="103513"/>
                </a:lnTo>
                <a:lnTo>
                  <a:pt x="24083" y="117741"/>
                </a:lnTo>
                <a:lnTo>
                  <a:pt x="94252" y="146240"/>
                </a:lnTo>
                <a:lnTo>
                  <a:pt x="141296" y="156199"/>
                </a:lnTo>
                <a:lnTo>
                  <a:pt x="193903" y="163328"/>
                </a:lnTo>
                <a:lnTo>
                  <a:pt x="250265" y="167648"/>
                </a:lnTo>
                <a:lnTo>
                  <a:pt x="308776" y="169178"/>
                </a:lnTo>
                <a:lnTo>
                  <a:pt x="367086" y="167947"/>
                </a:lnTo>
                <a:lnTo>
                  <a:pt x="423815" y="163977"/>
                </a:lnTo>
                <a:lnTo>
                  <a:pt x="477128" y="157282"/>
                </a:lnTo>
                <a:lnTo>
                  <a:pt x="525161" y="147888"/>
                </a:lnTo>
                <a:lnTo>
                  <a:pt x="566106" y="135817"/>
                </a:lnTo>
                <a:lnTo>
                  <a:pt x="598157" y="121091"/>
                </a:lnTo>
                <a:lnTo>
                  <a:pt x="617220" y="105590"/>
                </a:lnTo>
                <a:close/>
              </a:path>
              <a:path w="626745" h="169545">
                <a:moveTo>
                  <a:pt x="617220" y="83919"/>
                </a:moveTo>
                <a:lnTo>
                  <a:pt x="617220" y="81633"/>
                </a:lnTo>
                <a:lnTo>
                  <a:pt x="616458" y="80871"/>
                </a:lnTo>
                <a:lnTo>
                  <a:pt x="617093" y="84681"/>
                </a:lnTo>
                <a:lnTo>
                  <a:pt x="617220" y="83919"/>
                </a:lnTo>
                <a:close/>
              </a:path>
              <a:path w="626745" h="169545">
                <a:moveTo>
                  <a:pt x="617220" y="87729"/>
                </a:moveTo>
                <a:lnTo>
                  <a:pt x="617220" y="85443"/>
                </a:lnTo>
                <a:lnTo>
                  <a:pt x="617093" y="84681"/>
                </a:lnTo>
                <a:lnTo>
                  <a:pt x="616458" y="88491"/>
                </a:lnTo>
                <a:lnTo>
                  <a:pt x="617220" y="87729"/>
                </a:lnTo>
                <a:close/>
              </a:path>
              <a:path w="626745" h="169545">
                <a:moveTo>
                  <a:pt x="617220" y="85443"/>
                </a:moveTo>
                <a:lnTo>
                  <a:pt x="617220" y="83919"/>
                </a:lnTo>
                <a:lnTo>
                  <a:pt x="617093" y="84681"/>
                </a:lnTo>
                <a:lnTo>
                  <a:pt x="617220" y="85443"/>
                </a:lnTo>
                <a:close/>
              </a:path>
              <a:path w="626745" h="169545">
                <a:moveTo>
                  <a:pt x="624840" y="95349"/>
                </a:moveTo>
                <a:lnTo>
                  <a:pt x="624840" y="74013"/>
                </a:lnTo>
                <a:lnTo>
                  <a:pt x="622554" y="70203"/>
                </a:lnTo>
                <a:lnTo>
                  <a:pt x="622554" y="99159"/>
                </a:lnTo>
                <a:lnTo>
                  <a:pt x="624840" y="95349"/>
                </a:lnTo>
                <a:close/>
              </a:path>
              <a:path w="626745" h="169545">
                <a:moveTo>
                  <a:pt x="626364" y="90015"/>
                </a:moveTo>
                <a:lnTo>
                  <a:pt x="626364" y="79347"/>
                </a:lnTo>
                <a:lnTo>
                  <a:pt x="624840" y="74775"/>
                </a:lnTo>
                <a:lnTo>
                  <a:pt x="624840" y="93825"/>
                </a:lnTo>
                <a:lnTo>
                  <a:pt x="626364" y="90015"/>
                </a:lnTo>
                <a:close/>
              </a:path>
            </a:pathLst>
          </a:custGeom>
          <a:solidFill>
            <a:srgbClr val="808080"/>
          </a:solidFill>
        </p:spPr>
        <p:txBody>
          <a:bodyPr wrap="square" lIns="0" tIns="0" rIns="0" bIns="0" rtlCol="0"/>
          <a:lstStyle/>
          <a:p>
            <a:endParaRPr/>
          </a:p>
        </p:txBody>
      </p:sp>
      <p:sp>
        <p:nvSpPr>
          <p:cNvPr id="141" name="object 141"/>
          <p:cNvSpPr/>
          <p:nvPr/>
        </p:nvSpPr>
        <p:spPr>
          <a:xfrm>
            <a:off x="7782305" y="4985003"/>
            <a:ext cx="348996" cy="75437"/>
          </a:xfrm>
          <a:prstGeom prst="rect">
            <a:avLst/>
          </a:prstGeom>
          <a:blipFill>
            <a:blip r:embed="rId58" cstate="print"/>
            <a:stretch>
              <a:fillRect/>
            </a:stretch>
          </a:blipFill>
        </p:spPr>
        <p:txBody>
          <a:bodyPr wrap="square" lIns="0" tIns="0" rIns="0" bIns="0" rtlCol="0"/>
          <a:lstStyle/>
          <a:p>
            <a:endParaRPr/>
          </a:p>
        </p:txBody>
      </p:sp>
      <p:sp>
        <p:nvSpPr>
          <p:cNvPr id="142" name="object 142"/>
          <p:cNvSpPr/>
          <p:nvPr/>
        </p:nvSpPr>
        <p:spPr>
          <a:xfrm>
            <a:off x="7782305" y="4978908"/>
            <a:ext cx="348996" cy="87630"/>
          </a:xfrm>
          <a:prstGeom prst="rect">
            <a:avLst/>
          </a:prstGeom>
          <a:blipFill>
            <a:blip r:embed="rId59" cstate="print"/>
            <a:stretch>
              <a:fillRect/>
            </a:stretch>
          </a:blipFill>
        </p:spPr>
        <p:txBody>
          <a:bodyPr wrap="square" lIns="0" tIns="0" rIns="0" bIns="0" rtlCol="0"/>
          <a:lstStyle/>
          <a:p>
            <a:endParaRPr/>
          </a:p>
        </p:txBody>
      </p:sp>
      <p:sp>
        <p:nvSpPr>
          <p:cNvPr id="143" name="object 143"/>
          <p:cNvSpPr/>
          <p:nvPr/>
        </p:nvSpPr>
        <p:spPr>
          <a:xfrm>
            <a:off x="7797546" y="4978908"/>
            <a:ext cx="318135" cy="87630"/>
          </a:xfrm>
          <a:custGeom>
            <a:avLst/>
            <a:gdLst/>
            <a:ahLst/>
            <a:cxnLst/>
            <a:rect l="l" t="t" r="r" b="b"/>
            <a:pathLst>
              <a:path w="318134" h="87629">
                <a:moveTo>
                  <a:pt x="219125" y="75437"/>
                </a:moveTo>
                <a:lnTo>
                  <a:pt x="112014" y="761"/>
                </a:lnTo>
                <a:lnTo>
                  <a:pt x="111252" y="0"/>
                </a:lnTo>
                <a:lnTo>
                  <a:pt x="0" y="0"/>
                </a:lnTo>
                <a:lnTo>
                  <a:pt x="0" y="12192"/>
                </a:lnTo>
                <a:lnTo>
                  <a:pt x="105155" y="12191"/>
                </a:lnTo>
                <a:lnTo>
                  <a:pt x="105155" y="11429"/>
                </a:lnTo>
                <a:lnTo>
                  <a:pt x="108204" y="12191"/>
                </a:lnTo>
                <a:lnTo>
                  <a:pt x="108204" y="13570"/>
                </a:lnTo>
                <a:lnTo>
                  <a:pt x="212597" y="86867"/>
                </a:lnTo>
                <a:lnTo>
                  <a:pt x="214122" y="87630"/>
                </a:lnTo>
                <a:lnTo>
                  <a:pt x="216408" y="87630"/>
                </a:lnTo>
                <a:lnTo>
                  <a:pt x="216408" y="75437"/>
                </a:lnTo>
                <a:lnTo>
                  <a:pt x="219125" y="75437"/>
                </a:lnTo>
                <a:close/>
              </a:path>
              <a:path w="318134" h="87629">
                <a:moveTo>
                  <a:pt x="108204" y="12191"/>
                </a:moveTo>
                <a:lnTo>
                  <a:pt x="105155" y="11429"/>
                </a:lnTo>
                <a:lnTo>
                  <a:pt x="106241" y="12191"/>
                </a:lnTo>
                <a:lnTo>
                  <a:pt x="108204" y="12191"/>
                </a:lnTo>
                <a:close/>
              </a:path>
              <a:path w="318134" h="87629">
                <a:moveTo>
                  <a:pt x="106241" y="12191"/>
                </a:moveTo>
                <a:lnTo>
                  <a:pt x="105155" y="11429"/>
                </a:lnTo>
                <a:lnTo>
                  <a:pt x="105155" y="12191"/>
                </a:lnTo>
                <a:lnTo>
                  <a:pt x="106241" y="12191"/>
                </a:lnTo>
                <a:close/>
              </a:path>
              <a:path w="318134" h="87629">
                <a:moveTo>
                  <a:pt x="108204" y="13570"/>
                </a:moveTo>
                <a:lnTo>
                  <a:pt x="108204" y="12191"/>
                </a:lnTo>
                <a:lnTo>
                  <a:pt x="106241" y="12191"/>
                </a:lnTo>
                <a:lnTo>
                  <a:pt x="108204" y="13570"/>
                </a:lnTo>
                <a:close/>
              </a:path>
              <a:path w="318134" h="87629">
                <a:moveTo>
                  <a:pt x="220218" y="76199"/>
                </a:moveTo>
                <a:lnTo>
                  <a:pt x="219125" y="75437"/>
                </a:lnTo>
                <a:lnTo>
                  <a:pt x="216408" y="75437"/>
                </a:lnTo>
                <a:lnTo>
                  <a:pt x="220218" y="76199"/>
                </a:lnTo>
                <a:close/>
              </a:path>
              <a:path w="318134" h="87629">
                <a:moveTo>
                  <a:pt x="220218" y="87630"/>
                </a:moveTo>
                <a:lnTo>
                  <a:pt x="220218" y="76199"/>
                </a:lnTo>
                <a:lnTo>
                  <a:pt x="216408" y="75437"/>
                </a:lnTo>
                <a:lnTo>
                  <a:pt x="216408" y="87630"/>
                </a:lnTo>
                <a:lnTo>
                  <a:pt x="220218" y="87630"/>
                </a:lnTo>
                <a:close/>
              </a:path>
              <a:path w="318134" h="87629">
                <a:moveTo>
                  <a:pt x="317754" y="87629"/>
                </a:moveTo>
                <a:lnTo>
                  <a:pt x="317754" y="75437"/>
                </a:lnTo>
                <a:lnTo>
                  <a:pt x="219125" y="75437"/>
                </a:lnTo>
                <a:lnTo>
                  <a:pt x="220218" y="76199"/>
                </a:lnTo>
                <a:lnTo>
                  <a:pt x="220218" y="87630"/>
                </a:lnTo>
                <a:lnTo>
                  <a:pt x="317754" y="87629"/>
                </a:lnTo>
                <a:close/>
              </a:path>
            </a:pathLst>
          </a:custGeom>
          <a:solidFill>
            <a:srgbClr val="808080"/>
          </a:solidFill>
        </p:spPr>
        <p:txBody>
          <a:bodyPr wrap="square" lIns="0" tIns="0" rIns="0" bIns="0" rtlCol="0"/>
          <a:lstStyle/>
          <a:p>
            <a:endParaRPr/>
          </a:p>
        </p:txBody>
      </p:sp>
      <p:sp>
        <p:nvSpPr>
          <p:cNvPr id="144" name="object 144"/>
          <p:cNvSpPr/>
          <p:nvPr/>
        </p:nvSpPr>
        <p:spPr>
          <a:xfrm>
            <a:off x="6936486" y="5394197"/>
            <a:ext cx="617219" cy="137160"/>
          </a:xfrm>
          <a:prstGeom prst="rect">
            <a:avLst/>
          </a:prstGeom>
          <a:blipFill>
            <a:blip r:embed="rId60" cstate="print"/>
            <a:stretch>
              <a:fillRect/>
            </a:stretch>
          </a:blipFill>
        </p:spPr>
        <p:txBody>
          <a:bodyPr wrap="square" lIns="0" tIns="0" rIns="0" bIns="0" rtlCol="0"/>
          <a:lstStyle/>
          <a:p>
            <a:endParaRPr/>
          </a:p>
        </p:txBody>
      </p:sp>
      <p:sp>
        <p:nvSpPr>
          <p:cNvPr id="145" name="object 145"/>
          <p:cNvSpPr/>
          <p:nvPr/>
        </p:nvSpPr>
        <p:spPr>
          <a:xfrm>
            <a:off x="6931913" y="5389767"/>
            <a:ext cx="627380" cy="146050"/>
          </a:xfrm>
          <a:custGeom>
            <a:avLst/>
            <a:gdLst/>
            <a:ahLst/>
            <a:cxnLst/>
            <a:rect l="l" t="t" r="r" b="b"/>
            <a:pathLst>
              <a:path w="627379" h="146050">
                <a:moveTo>
                  <a:pt x="762" y="76820"/>
                </a:moveTo>
                <a:lnTo>
                  <a:pt x="761" y="69200"/>
                </a:lnTo>
                <a:lnTo>
                  <a:pt x="0" y="72248"/>
                </a:lnTo>
                <a:lnTo>
                  <a:pt x="0" y="73772"/>
                </a:lnTo>
                <a:lnTo>
                  <a:pt x="762" y="76820"/>
                </a:lnTo>
                <a:close/>
              </a:path>
              <a:path w="627379" h="146050">
                <a:moveTo>
                  <a:pt x="2286" y="81392"/>
                </a:moveTo>
                <a:lnTo>
                  <a:pt x="2285" y="64628"/>
                </a:lnTo>
                <a:lnTo>
                  <a:pt x="761" y="67676"/>
                </a:lnTo>
                <a:lnTo>
                  <a:pt x="762" y="78344"/>
                </a:lnTo>
                <a:lnTo>
                  <a:pt x="2286" y="81392"/>
                </a:lnTo>
                <a:close/>
              </a:path>
              <a:path w="627379" h="146050">
                <a:moveTo>
                  <a:pt x="624840" y="82154"/>
                </a:moveTo>
                <a:lnTo>
                  <a:pt x="624840" y="63866"/>
                </a:lnTo>
                <a:lnTo>
                  <a:pt x="622554" y="60056"/>
                </a:lnTo>
                <a:lnTo>
                  <a:pt x="622554" y="59294"/>
                </a:lnTo>
                <a:lnTo>
                  <a:pt x="558824" y="26434"/>
                </a:lnTo>
                <a:lnTo>
                  <a:pt x="513645" y="15847"/>
                </a:lnTo>
                <a:lnTo>
                  <a:pt x="461314" y="7896"/>
                </a:lnTo>
                <a:lnTo>
                  <a:pt x="403887" y="2588"/>
                </a:lnTo>
                <a:lnTo>
                  <a:pt x="344953" y="0"/>
                </a:lnTo>
                <a:lnTo>
                  <a:pt x="280111" y="17"/>
                </a:lnTo>
                <a:lnTo>
                  <a:pt x="221578" y="2606"/>
                </a:lnTo>
                <a:lnTo>
                  <a:pt x="164317" y="7952"/>
                </a:lnTo>
                <a:lnTo>
                  <a:pt x="112235" y="15981"/>
                </a:lnTo>
                <a:lnTo>
                  <a:pt x="67388" y="26701"/>
                </a:lnTo>
                <a:lnTo>
                  <a:pt x="7619" y="56246"/>
                </a:lnTo>
                <a:lnTo>
                  <a:pt x="4571" y="59294"/>
                </a:lnTo>
                <a:lnTo>
                  <a:pt x="4571" y="60056"/>
                </a:lnTo>
                <a:lnTo>
                  <a:pt x="2285" y="63866"/>
                </a:lnTo>
                <a:lnTo>
                  <a:pt x="2286" y="82154"/>
                </a:lnTo>
                <a:lnTo>
                  <a:pt x="4572" y="85964"/>
                </a:lnTo>
                <a:lnTo>
                  <a:pt x="7620" y="90536"/>
                </a:lnTo>
                <a:lnTo>
                  <a:pt x="9906" y="91988"/>
                </a:lnTo>
                <a:lnTo>
                  <a:pt x="9906" y="70724"/>
                </a:lnTo>
                <a:lnTo>
                  <a:pt x="10668" y="67676"/>
                </a:lnTo>
                <a:lnTo>
                  <a:pt x="10668" y="68438"/>
                </a:lnTo>
                <a:lnTo>
                  <a:pt x="12192" y="64628"/>
                </a:lnTo>
                <a:lnTo>
                  <a:pt x="12192" y="65390"/>
                </a:lnTo>
                <a:lnTo>
                  <a:pt x="74089" y="34621"/>
                </a:lnTo>
                <a:lnTo>
                  <a:pt x="118110" y="24543"/>
                </a:lnTo>
                <a:lnTo>
                  <a:pt x="168995" y="16986"/>
                </a:lnTo>
                <a:lnTo>
                  <a:pt x="224786" y="11950"/>
                </a:lnTo>
                <a:lnTo>
                  <a:pt x="281964" y="9501"/>
                </a:lnTo>
                <a:lnTo>
                  <a:pt x="344953" y="9511"/>
                </a:lnTo>
                <a:lnTo>
                  <a:pt x="402005" y="11961"/>
                </a:lnTo>
                <a:lnTo>
                  <a:pt x="457830" y="17002"/>
                </a:lnTo>
                <a:lnTo>
                  <a:pt x="508765" y="24561"/>
                </a:lnTo>
                <a:lnTo>
                  <a:pt x="552853" y="34638"/>
                </a:lnTo>
                <a:lnTo>
                  <a:pt x="612648" y="62342"/>
                </a:lnTo>
                <a:lnTo>
                  <a:pt x="614934" y="65390"/>
                </a:lnTo>
                <a:lnTo>
                  <a:pt x="614934" y="65898"/>
                </a:lnTo>
                <a:lnTo>
                  <a:pt x="616458" y="68438"/>
                </a:lnTo>
                <a:lnTo>
                  <a:pt x="616458" y="69200"/>
                </a:lnTo>
                <a:lnTo>
                  <a:pt x="617220" y="70724"/>
                </a:lnTo>
                <a:lnTo>
                  <a:pt x="617220" y="91278"/>
                </a:lnTo>
                <a:lnTo>
                  <a:pt x="619506" y="89774"/>
                </a:lnTo>
                <a:lnTo>
                  <a:pt x="622554" y="85964"/>
                </a:lnTo>
                <a:lnTo>
                  <a:pt x="624840" y="82154"/>
                </a:lnTo>
                <a:close/>
              </a:path>
              <a:path w="627379" h="146050">
                <a:moveTo>
                  <a:pt x="614934" y="92781"/>
                </a:moveTo>
                <a:lnTo>
                  <a:pt x="614934" y="80630"/>
                </a:lnTo>
                <a:lnTo>
                  <a:pt x="611886" y="83678"/>
                </a:lnTo>
                <a:lnTo>
                  <a:pt x="587912" y="98716"/>
                </a:lnTo>
                <a:lnTo>
                  <a:pt x="508312" y="121373"/>
                </a:lnTo>
                <a:lnTo>
                  <a:pt x="456801" y="128949"/>
                </a:lnTo>
                <a:lnTo>
                  <a:pt x="400225" y="133995"/>
                </a:lnTo>
                <a:lnTo>
                  <a:pt x="344953" y="136308"/>
                </a:lnTo>
                <a:lnTo>
                  <a:pt x="280111" y="136406"/>
                </a:lnTo>
                <a:lnTo>
                  <a:pt x="220686" y="133729"/>
                </a:lnTo>
                <a:lnTo>
                  <a:pt x="164317" y="128415"/>
                </a:lnTo>
                <a:lnTo>
                  <a:pt x="113391" y="120497"/>
                </a:lnTo>
                <a:lnTo>
                  <a:pt x="69635" y="109899"/>
                </a:lnTo>
                <a:lnTo>
                  <a:pt x="12192" y="80630"/>
                </a:lnTo>
                <a:lnTo>
                  <a:pt x="10668" y="77582"/>
                </a:lnTo>
                <a:lnTo>
                  <a:pt x="10668" y="78344"/>
                </a:lnTo>
                <a:lnTo>
                  <a:pt x="9906" y="74534"/>
                </a:lnTo>
                <a:lnTo>
                  <a:pt x="9906" y="91988"/>
                </a:lnTo>
                <a:lnTo>
                  <a:pt x="32464" y="106319"/>
                </a:lnTo>
                <a:lnTo>
                  <a:pt x="68490" y="119491"/>
                </a:lnTo>
                <a:lnTo>
                  <a:pt x="113656" y="130043"/>
                </a:lnTo>
                <a:lnTo>
                  <a:pt x="165924" y="137967"/>
                </a:lnTo>
                <a:lnTo>
                  <a:pt x="223256" y="143257"/>
                </a:lnTo>
                <a:lnTo>
                  <a:pt x="281964" y="145831"/>
                </a:lnTo>
                <a:lnTo>
                  <a:pt x="344953" y="145900"/>
                </a:lnTo>
                <a:lnTo>
                  <a:pt x="405240" y="143237"/>
                </a:lnTo>
                <a:lnTo>
                  <a:pt x="462434" y="137908"/>
                </a:lnTo>
                <a:lnTo>
                  <a:pt x="514497" y="129905"/>
                </a:lnTo>
                <a:lnTo>
                  <a:pt x="559389" y="119221"/>
                </a:lnTo>
                <a:lnTo>
                  <a:pt x="595072" y="105846"/>
                </a:lnTo>
                <a:lnTo>
                  <a:pt x="614934" y="92781"/>
                </a:lnTo>
                <a:close/>
              </a:path>
              <a:path w="627379" h="146050">
                <a:moveTo>
                  <a:pt x="614934" y="65898"/>
                </a:moveTo>
                <a:lnTo>
                  <a:pt x="614934" y="65390"/>
                </a:lnTo>
                <a:lnTo>
                  <a:pt x="614172" y="64628"/>
                </a:lnTo>
                <a:lnTo>
                  <a:pt x="614934" y="65898"/>
                </a:lnTo>
                <a:close/>
              </a:path>
              <a:path w="627379" h="146050">
                <a:moveTo>
                  <a:pt x="616458" y="91779"/>
                </a:moveTo>
                <a:lnTo>
                  <a:pt x="616458" y="77582"/>
                </a:lnTo>
                <a:lnTo>
                  <a:pt x="614172" y="80630"/>
                </a:lnTo>
                <a:lnTo>
                  <a:pt x="614934" y="80630"/>
                </a:lnTo>
                <a:lnTo>
                  <a:pt x="614934" y="92781"/>
                </a:lnTo>
                <a:lnTo>
                  <a:pt x="616458" y="91779"/>
                </a:lnTo>
                <a:close/>
              </a:path>
              <a:path w="627379" h="146050">
                <a:moveTo>
                  <a:pt x="616458" y="69200"/>
                </a:moveTo>
                <a:lnTo>
                  <a:pt x="616458" y="68438"/>
                </a:lnTo>
                <a:lnTo>
                  <a:pt x="615696" y="67676"/>
                </a:lnTo>
                <a:lnTo>
                  <a:pt x="616458" y="69200"/>
                </a:lnTo>
                <a:close/>
              </a:path>
              <a:path w="627379" h="146050">
                <a:moveTo>
                  <a:pt x="617220" y="91278"/>
                </a:moveTo>
                <a:lnTo>
                  <a:pt x="617220" y="74534"/>
                </a:lnTo>
                <a:lnTo>
                  <a:pt x="615696" y="78344"/>
                </a:lnTo>
                <a:lnTo>
                  <a:pt x="616458" y="77582"/>
                </a:lnTo>
                <a:lnTo>
                  <a:pt x="616458" y="91779"/>
                </a:lnTo>
                <a:lnTo>
                  <a:pt x="617220" y="91278"/>
                </a:lnTo>
                <a:close/>
              </a:path>
              <a:path w="627379" h="146050">
                <a:moveTo>
                  <a:pt x="626364" y="78344"/>
                </a:moveTo>
                <a:lnTo>
                  <a:pt x="626364" y="67676"/>
                </a:lnTo>
                <a:lnTo>
                  <a:pt x="624840" y="64628"/>
                </a:lnTo>
                <a:lnTo>
                  <a:pt x="624840" y="81392"/>
                </a:lnTo>
                <a:lnTo>
                  <a:pt x="626364" y="78344"/>
                </a:lnTo>
                <a:close/>
              </a:path>
              <a:path w="627379" h="146050">
                <a:moveTo>
                  <a:pt x="627126" y="73772"/>
                </a:moveTo>
                <a:lnTo>
                  <a:pt x="627126" y="72248"/>
                </a:lnTo>
                <a:lnTo>
                  <a:pt x="626364" y="69200"/>
                </a:lnTo>
                <a:lnTo>
                  <a:pt x="626364" y="76820"/>
                </a:lnTo>
                <a:lnTo>
                  <a:pt x="627126" y="73772"/>
                </a:lnTo>
                <a:close/>
              </a:path>
            </a:pathLst>
          </a:custGeom>
          <a:solidFill>
            <a:srgbClr val="808080"/>
          </a:solidFill>
        </p:spPr>
        <p:txBody>
          <a:bodyPr wrap="square" lIns="0" tIns="0" rIns="0" bIns="0" rtlCol="0"/>
          <a:lstStyle/>
          <a:p>
            <a:endParaRPr/>
          </a:p>
        </p:txBody>
      </p:sp>
      <p:sp>
        <p:nvSpPr>
          <p:cNvPr id="146" name="object 146"/>
          <p:cNvSpPr/>
          <p:nvPr/>
        </p:nvSpPr>
        <p:spPr>
          <a:xfrm>
            <a:off x="6936486" y="5380482"/>
            <a:ext cx="620268" cy="84582"/>
          </a:xfrm>
          <a:prstGeom prst="rect">
            <a:avLst/>
          </a:prstGeom>
          <a:blipFill>
            <a:blip r:embed="rId56" cstate="print"/>
            <a:stretch>
              <a:fillRect/>
            </a:stretch>
          </a:blipFill>
        </p:spPr>
        <p:txBody>
          <a:bodyPr wrap="square" lIns="0" tIns="0" rIns="0" bIns="0" rtlCol="0"/>
          <a:lstStyle/>
          <a:p>
            <a:endParaRPr/>
          </a:p>
        </p:txBody>
      </p:sp>
      <p:sp>
        <p:nvSpPr>
          <p:cNvPr id="147" name="object 147"/>
          <p:cNvSpPr/>
          <p:nvPr/>
        </p:nvSpPr>
        <p:spPr>
          <a:xfrm>
            <a:off x="6958265" y="5485508"/>
            <a:ext cx="617220" cy="160020"/>
          </a:xfrm>
          <a:prstGeom prst="rect">
            <a:avLst/>
          </a:prstGeom>
          <a:blipFill>
            <a:blip r:embed="rId61" cstate="print"/>
            <a:stretch>
              <a:fillRect/>
            </a:stretch>
          </a:blipFill>
        </p:spPr>
        <p:txBody>
          <a:bodyPr wrap="square" lIns="0" tIns="0" rIns="0" bIns="0" rtlCol="0"/>
          <a:lstStyle/>
          <a:p>
            <a:endParaRPr/>
          </a:p>
        </p:txBody>
      </p:sp>
      <p:sp>
        <p:nvSpPr>
          <p:cNvPr id="148" name="object 148"/>
          <p:cNvSpPr/>
          <p:nvPr/>
        </p:nvSpPr>
        <p:spPr>
          <a:xfrm>
            <a:off x="6929627" y="5282084"/>
            <a:ext cx="626745" cy="169545"/>
          </a:xfrm>
          <a:custGeom>
            <a:avLst/>
            <a:gdLst/>
            <a:ahLst/>
            <a:cxnLst/>
            <a:rect l="l" t="t" r="r" b="b"/>
            <a:pathLst>
              <a:path w="626745" h="169545">
                <a:moveTo>
                  <a:pt x="622554" y="99921"/>
                </a:moveTo>
                <a:lnTo>
                  <a:pt x="622554" y="69441"/>
                </a:lnTo>
                <a:lnTo>
                  <a:pt x="619506" y="65631"/>
                </a:lnTo>
                <a:lnTo>
                  <a:pt x="565819" y="33449"/>
                </a:lnTo>
                <a:lnTo>
                  <a:pt x="524880" y="21343"/>
                </a:lnTo>
                <a:lnTo>
                  <a:pt x="476922" y="11923"/>
                </a:lnTo>
                <a:lnTo>
                  <a:pt x="423729" y="5211"/>
                </a:lnTo>
                <a:lnTo>
                  <a:pt x="367028" y="1226"/>
                </a:lnTo>
                <a:lnTo>
                  <a:pt x="308576" y="0"/>
                </a:lnTo>
                <a:lnTo>
                  <a:pt x="250584" y="1534"/>
                </a:lnTo>
                <a:lnTo>
                  <a:pt x="194294" y="5867"/>
                </a:lnTo>
                <a:lnTo>
                  <a:pt x="141689" y="13016"/>
                </a:lnTo>
                <a:lnTo>
                  <a:pt x="94554" y="23003"/>
                </a:lnTo>
                <a:lnTo>
                  <a:pt x="54674" y="35848"/>
                </a:lnTo>
                <a:lnTo>
                  <a:pt x="3809" y="70203"/>
                </a:lnTo>
                <a:lnTo>
                  <a:pt x="2285" y="74013"/>
                </a:lnTo>
                <a:lnTo>
                  <a:pt x="1523" y="74775"/>
                </a:lnTo>
                <a:lnTo>
                  <a:pt x="761" y="79347"/>
                </a:lnTo>
                <a:lnTo>
                  <a:pt x="0" y="79347"/>
                </a:lnTo>
                <a:lnTo>
                  <a:pt x="0" y="90015"/>
                </a:lnTo>
                <a:lnTo>
                  <a:pt x="762" y="90015"/>
                </a:lnTo>
                <a:lnTo>
                  <a:pt x="1524" y="93825"/>
                </a:lnTo>
                <a:lnTo>
                  <a:pt x="1524" y="94587"/>
                </a:lnTo>
                <a:lnTo>
                  <a:pt x="2286" y="94587"/>
                </a:lnTo>
                <a:lnTo>
                  <a:pt x="4572" y="99159"/>
                </a:lnTo>
                <a:lnTo>
                  <a:pt x="9144" y="103513"/>
                </a:lnTo>
                <a:lnTo>
                  <a:pt x="9144" y="83919"/>
                </a:lnTo>
                <a:lnTo>
                  <a:pt x="9271" y="84681"/>
                </a:lnTo>
                <a:lnTo>
                  <a:pt x="9906" y="80871"/>
                </a:lnTo>
                <a:lnTo>
                  <a:pt x="9906" y="81633"/>
                </a:lnTo>
                <a:lnTo>
                  <a:pt x="10668" y="77823"/>
                </a:lnTo>
                <a:lnTo>
                  <a:pt x="10668" y="78585"/>
                </a:lnTo>
                <a:lnTo>
                  <a:pt x="12192" y="74775"/>
                </a:lnTo>
                <a:lnTo>
                  <a:pt x="34078" y="56322"/>
                </a:lnTo>
                <a:lnTo>
                  <a:pt x="111470" y="28682"/>
                </a:lnTo>
                <a:lnTo>
                  <a:pt x="162676" y="19464"/>
                </a:lnTo>
                <a:lnTo>
                  <a:pt x="219357" y="13293"/>
                </a:lnTo>
                <a:lnTo>
                  <a:pt x="279361" y="10153"/>
                </a:lnTo>
                <a:lnTo>
                  <a:pt x="340540" y="10028"/>
                </a:lnTo>
                <a:lnTo>
                  <a:pt x="400744" y="12903"/>
                </a:lnTo>
                <a:lnTo>
                  <a:pt x="457822" y="18763"/>
                </a:lnTo>
                <a:lnTo>
                  <a:pt x="509625" y="27591"/>
                </a:lnTo>
                <a:lnTo>
                  <a:pt x="554003" y="39371"/>
                </a:lnTo>
                <a:lnTo>
                  <a:pt x="611886" y="71727"/>
                </a:lnTo>
                <a:lnTo>
                  <a:pt x="614172" y="75537"/>
                </a:lnTo>
                <a:lnTo>
                  <a:pt x="614172" y="74775"/>
                </a:lnTo>
                <a:lnTo>
                  <a:pt x="615696" y="78585"/>
                </a:lnTo>
                <a:lnTo>
                  <a:pt x="615696" y="77823"/>
                </a:lnTo>
                <a:lnTo>
                  <a:pt x="617220" y="81633"/>
                </a:lnTo>
                <a:lnTo>
                  <a:pt x="617220" y="105590"/>
                </a:lnTo>
                <a:lnTo>
                  <a:pt x="619506" y="103731"/>
                </a:lnTo>
                <a:lnTo>
                  <a:pt x="622554" y="99921"/>
                </a:lnTo>
                <a:close/>
              </a:path>
              <a:path w="626745" h="169545">
                <a:moveTo>
                  <a:pt x="9271" y="84681"/>
                </a:moveTo>
                <a:lnTo>
                  <a:pt x="9144" y="83919"/>
                </a:lnTo>
                <a:lnTo>
                  <a:pt x="9144" y="85443"/>
                </a:lnTo>
                <a:lnTo>
                  <a:pt x="9271" y="84681"/>
                </a:lnTo>
                <a:close/>
              </a:path>
              <a:path w="626745" h="169545">
                <a:moveTo>
                  <a:pt x="617220" y="105590"/>
                </a:moveTo>
                <a:lnTo>
                  <a:pt x="617220" y="87729"/>
                </a:lnTo>
                <a:lnTo>
                  <a:pt x="615696" y="91539"/>
                </a:lnTo>
                <a:lnTo>
                  <a:pt x="615696" y="90777"/>
                </a:lnTo>
                <a:lnTo>
                  <a:pt x="614172" y="94587"/>
                </a:lnTo>
                <a:lnTo>
                  <a:pt x="614172" y="93825"/>
                </a:lnTo>
                <a:lnTo>
                  <a:pt x="611886" y="98397"/>
                </a:lnTo>
                <a:lnTo>
                  <a:pt x="553206" y="130266"/>
                </a:lnTo>
                <a:lnTo>
                  <a:pt x="508559" y="141902"/>
                </a:lnTo>
                <a:lnTo>
                  <a:pt x="456569" y="150634"/>
                </a:lnTo>
                <a:lnTo>
                  <a:pt x="399380" y="156433"/>
                </a:lnTo>
                <a:lnTo>
                  <a:pt x="340540" y="159205"/>
                </a:lnTo>
                <a:lnTo>
                  <a:pt x="308776" y="159196"/>
                </a:lnTo>
                <a:lnTo>
                  <a:pt x="218078" y="155950"/>
                </a:lnTo>
                <a:lnTo>
                  <a:pt x="161551" y="149734"/>
                </a:lnTo>
                <a:lnTo>
                  <a:pt x="110553" y="140441"/>
                </a:lnTo>
                <a:lnTo>
                  <a:pt x="67231" y="128045"/>
                </a:lnTo>
                <a:lnTo>
                  <a:pt x="12192" y="93825"/>
                </a:lnTo>
                <a:lnTo>
                  <a:pt x="10668" y="90777"/>
                </a:lnTo>
                <a:lnTo>
                  <a:pt x="10668" y="91539"/>
                </a:lnTo>
                <a:lnTo>
                  <a:pt x="9906" y="87729"/>
                </a:lnTo>
                <a:lnTo>
                  <a:pt x="9906" y="88491"/>
                </a:lnTo>
                <a:lnTo>
                  <a:pt x="9271" y="84681"/>
                </a:lnTo>
                <a:lnTo>
                  <a:pt x="9144" y="85443"/>
                </a:lnTo>
                <a:lnTo>
                  <a:pt x="9144" y="103513"/>
                </a:lnTo>
                <a:lnTo>
                  <a:pt x="24083" y="117741"/>
                </a:lnTo>
                <a:lnTo>
                  <a:pt x="94252" y="146240"/>
                </a:lnTo>
                <a:lnTo>
                  <a:pt x="141296" y="156199"/>
                </a:lnTo>
                <a:lnTo>
                  <a:pt x="193903" y="163328"/>
                </a:lnTo>
                <a:lnTo>
                  <a:pt x="250265" y="167648"/>
                </a:lnTo>
                <a:lnTo>
                  <a:pt x="308776" y="169178"/>
                </a:lnTo>
                <a:lnTo>
                  <a:pt x="367086" y="167947"/>
                </a:lnTo>
                <a:lnTo>
                  <a:pt x="423815" y="163977"/>
                </a:lnTo>
                <a:lnTo>
                  <a:pt x="477128" y="157282"/>
                </a:lnTo>
                <a:lnTo>
                  <a:pt x="525161" y="147888"/>
                </a:lnTo>
                <a:lnTo>
                  <a:pt x="566106" y="135817"/>
                </a:lnTo>
                <a:lnTo>
                  <a:pt x="598157" y="121091"/>
                </a:lnTo>
                <a:lnTo>
                  <a:pt x="617220" y="105590"/>
                </a:lnTo>
                <a:close/>
              </a:path>
              <a:path w="626745" h="169545">
                <a:moveTo>
                  <a:pt x="617220" y="83919"/>
                </a:moveTo>
                <a:lnTo>
                  <a:pt x="617220" y="81633"/>
                </a:lnTo>
                <a:lnTo>
                  <a:pt x="616458" y="80871"/>
                </a:lnTo>
                <a:lnTo>
                  <a:pt x="617093" y="84681"/>
                </a:lnTo>
                <a:lnTo>
                  <a:pt x="617220" y="83919"/>
                </a:lnTo>
                <a:close/>
              </a:path>
              <a:path w="626745" h="169545">
                <a:moveTo>
                  <a:pt x="617220" y="87729"/>
                </a:moveTo>
                <a:lnTo>
                  <a:pt x="617220" y="85443"/>
                </a:lnTo>
                <a:lnTo>
                  <a:pt x="617093" y="84681"/>
                </a:lnTo>
                <a:lnTo>
                  <a:pt x="616458" y="88491"/>
                </a:lnTo>
                <a:lnTo>
                  <a:pt x="617220" y="87729"/>
                </a:lnTo>
                <a:close/>
              </a:path>
              <a:path w="626745" h="169545">
                <a:moveTo>
                  <a:pt x="617220" y="85443"/>
                </a:moveTo>
                <a:lnTo>
                  <a:pt x="617220" y="83919"/>
                </a:lnTo>
                <a:lnTo>
                  <a:pt x="617093" y="84681"/>
                </a:lnTo>
                <a:lnTo>
                  <a:pt x="617220" y="85443"/>
                </a:lnTo>
                <a:close/>
              </a:path>
              <a:path w="626745" h="169545">
                <a:moveTo>
                  <a:pt x="624840" y="95349"/>
                </a:moveTo>
                <a:lnTo>
                  <a:pt x="624840" y="74013"/>
                </a:lnTo>
                <a:lnTo>
                  <a:pt x="622554" y="70203"/>
                </a:lnTo>
                <a:lnTo>
                  <a:pt x="622554" y="99159"/>
                </a:lnTo>
                <a:lnTo>
                  <a:pt x="624840" y="95349"/>
                </a:lnTo>
                <a:close/>
              </a:path>
              <a:path w="626745" h="169545">
                <a:moveTo>
                  <a:pt x="626364" y="90015"/>
                </a:moveTo>
                <a:lnTo>
                  <a:pt x="626364" y="79347"/>
                </a:lnTo>
                <a:lnTo>
                  <a:pt x="624840" y="74775"/>
                </a:lnTo>
                <a:lnTo>
                  <a:pt x="624840" y="93825"/>
                </a:lnTo>
                <a:lnTo>
                  <a:pt x="626364" y="90015"/>
                </a:lnTo>
                <a:close/>
              </a:path>
            </a:pathLst>
          </a:custGeom>
          <a:solidFill>
            <a:srgbClr val="808080"/>
          </a:solidFill>
        </p:spPr>
        <p:txBody>
          <a:bodyPr wrap="square" lIns="0" tIns="0" rIns="0" bIns="0" rtlCol="0"/>
          <a:lstStyle/>
          <a:p>
            <a:endParaRPr/>
          </a:p>
        </p:txBody>
      </p:sp>
      <p:sp>
        <p:nvSpPr>
          <p:cNvPr id="149" name="object 149"/>
          <p:cNvSpPr/>
          <p:nvPr/>
        </p:nvSpPr>
        <p:spPr>
          <a:xfrm>
            <a:off x="7058405" y="5327903"/>
            <a:ext cx="348996" cy="75437"/>
          </a:xfrm>
          <a:prstGeom prst="rect">
            <a:avLst/>
          </a:prstGeom>
          <a:blipFill>
            <a:blip r:embed="rId62" cstate="print"/>
            <a:stretch>
              <a:fillRect/>
            </a:stretch>
          </a:blipFill>
        </p:spPr>
        <p:txBody>
          <a:bodyPr wrap="square" lIns="0" tIns="0" rIns="0" bIns="0" rtlCol="0"/>
          <a:lstStyle/>
          <a:p>
            <a:endParaRPr/>
          </a:p>
        </p:txBody>
      </p:sp>
      <p:sp>
        <p:nvSpPr>
          <p:cNvPr id="150" name="object 150"/>
          <p:cNvSpPr/>
          <p:nvPr/>
        </p:nvSpPr>
        <p:spPr>
          <a:xfrm>
            <a:off x="7058405" y="5321808"/>
            <a:ext cx="348996" cy="87630"/>
          </a:xfrm>
          <a:prstGeom prst="rect">
            <a:avLst/>
          </a:prstGeom>
          <a:blipFill>
            <a:blip r:embed="rId59" cstate="print"/>
            <a:stretch>
              <a:fillRect/>
            </a:stretch>
          </a:blipFill>
        </p:spPr>
        <p:txBody>
          <a:bodyPr wrap="square" lIns="0" tIns="0" rIns="0" bIns="0" rtlCol="0"/>
          <a:lstStyle/>
          <a:p>
            <a:endParaRPr/>
          </a:p>
        </p:txBody>
      </p:sp>
      <p:sp>
        <p:nvSpPr>
          <p:cNvPr id="151" name="object 151"/>
          <p:cNvSpPr/>
          <p:nvPr/>
        </p:nvSpPr>
        <p:spPr>
          <a:xfrm>
            <a:off x="7073646" y="5321808"/>
            <a:ext cx="318135" cy="87630"/>
          </a:xfrm>
          <a:custGeom>
            <a:avLst/>
            <a:gdLst/>
            <a:ahLst/>
            <a:cxnLst/>
            <a:rect l="l" t="t" r="r" b="b"/>
            <a:pathLst>
              <a:path w="318134" h="87629">
                <a:moveTo>
                  <a:pt x="219125" y="75437"/>
                </a:moveTo>
                <a:lnTo>
                  <a:pt x="112014" y="761"/>
                </a:lnTo>
                <a:lnTo>
                  <a:pt x="111252" y="0"/>
                </a:lnTo>
                <a:lnTo>
                  <a:pt x="0" y="0"/>
                </a:lnTo>
                <a:lnTo>
                  <a:pt x="0" y="12192"/>
                </a:lnTo>
                <a:lnTo>
                  <a:pt x="105155" y="12191"/>
                </a:lnTo>
                <a:lnTo>
                  <a:pt x="105155" y="11429"/>
                </a:lnTo>
                <a:lnTo>
                  <a:pt x="108204" y="12191"/>
                </a:lnTo>
                <a:lnTo>
                  <a:pt x="108204" y="13570"/>
                </a:lnTo>
                <a:lnTo>
                  <a:pt x="212597" y="86867"/>
                </a:lnTo>
                <a:lnTo>
                  <a:pt x="214122" y="87630"/>
                </a:lnTo>
                <a:lnTo>
                  <a:pt x="216408" y="87630"/>
                </a:lnTo>
                <a:lnTo>
                  <a:pt x="216408" y="75437"/>
                </a:lnTo>
                <a:lnTo>
                  <a:pt x="219125" y="75437"/>
                </a:lnTo>
                <a:close/>
              </a:path>
              <a:path w="318134" h="87629">
                <a:moveTo>
                  <a:pt x="108204" y="12191"/>
                </a:moveTo>
                <a:lnTo>
                  <a:pt x="105155" y="11429"/>
                </a:lnTo>
                <a:lnTo>
                  <a:pt x="106241" y="12191"/>
                </a:lnTo>
                <a:lnTo>
                  <a:pt x="108204" y="12191"/>
                </a:lnTo>
                <a:close/>
              </a:path>
              <a:path w="318134" h="87629">
                <a:moveTo>
                  <a:pt x="106241" y="12191"/>
                </a:moveTo>
                <a:lnTo>
                  <a:pt x="105155" y="11429"/>
                </a:lnTo>
                <a:lnTo>
                  <a:pt x="105155" y="12191"/>
                </a:lnTo>
                <a:lnTo>
                  <a:pt x="106241" y="12191"/>
                </a:lnTo>
                <a:close/>
              </a:path>
              <a:path w="318134" h="87629">
                <a:moveTo>
                  <a:pt x="108204" y="13570"/>
                </a:moveTo>
                <a:lnTo>
                  <a:pt x="108204" y="12191"/>
                </a:lnTo>
                <a:lnTo>
                  <a:pt x="106241" y="12191"/>
                </a:lnTo>
                <a:lnTo>
                  <a:pt x="108204" y="13570"/>
                </a:lnTo>
                <a:close/>
              </a:path>
              <a:path w="318134" h="87629">
                <a:moveTo>
                  <a:pt x="220218" y="76199"/>
                </a:moveTo>
                <a:lnTo>
                  <a:pt x="219125" y="75437"/>
                </a:lnTo>
                <a:lnTo>
                  <a:pt x="216408" y="75437"/>
                </a:lnTo>
                <a:lnTo>
                  <a:pt x="220218" y="76199"/>
                </a:lnTo>
                <a:close/>
              </a:path>
              <a:path w="318134" h="87629">
                <a:moveTo>
                  <a:pt x="220218" y="87630"/>
                </a:moveTo>
                <a:lnTo>
                  <a:pt x="220218" y="76199"/>
                </a:lnTo>
                <a:lnTo>
                  <a:pt x="216408" y="75437"/>
                </a:lnTo>
                <a:lnTo>
                  <a:pt x="216408" y="87630"/>
                </a:lnTo>
                <a:lnTo>
                  <a:pt x="220218" y="87630"/>
                </a:lnTo>
                <a:close/>
              </a:path>
              <a:path w="318134" h="87629">
                <a:moveTo>
                  <a:pt x="317754" y="87629"/>
                </a:moveTo>
                <a:lnTo>
                  <a:pt x="317754" y="75437"/>
                </a:lnTo>
                <a:lnTo>
                  <a:pt x="219125" y="75437"/>
                </a:lnTo>
                <a:lnTo>
                  <a:pt x="220218" y="76199"/>
                </a:lnTo>
                <a:lnTo>
                  <a:pt x="220218" y="87630"/>
                </a:lnTo>
                <a:lnTo>
                  <a:pt x="317754" y="87629"/>
                </a:lnTo>
                <a:close/>
              </a:path>
            </a:pathLst>
          </a:custGeom>
          <a:solidFill>
            <a:srgbClr val="808080"/>
          </a:solidFill>
        </p:spPr>
        <p:txBody>
          <a:bodyPr wrap="square" lIns="0" tIns="0" rIns="0" bIns="0" rtlCol="0"/>
          <a:lstStyle/>
          <a:p>
            <a:endParaRPr/>
          </a:p>
        </p:txBody>
      </p:sp>
      <p:sp>
        <p:nvSpPr>
          <p:cNvPr id="152" name="object 152"/>
          <p:cNvSpPr/>
          <p:nvPr/>
        </p:nvSpPr>
        <p:spPr>
          <a:xfrm>
            <a:off x="6936866" y="5362194"/>
            <a:ext cx="0" cy="107950"/>
          </a:xfrm>
          <a:custGeom>
            <a:avLst/>
            <a:gdLst/>
            <a:ahLst/>
            <a:cxnLst/>
            <a:rect l="l" t="t" r="r" b="b"/>
            <a:pathLst>
              <a:path h="107950">
                <a:moveTo>
                  <a:pt x="0" y="0"/>
                </a:moveTo>
                <a:lnTo>
                  <a:pt x="0" y="107441"/>
                </a:lnTo>
              </a:path>
            </a:pathLst>
          </a:custGeom>
          <a:ln w="9906">
            <a:solidFill>
              <a:srgbClr val="808080"/>
            </a:solidFill>
          </a:ln>
        </p:spPr>
        <p:txBody>
          <a:bodyPr wrap="square" lIns="0" tIns="0" rIns="0" bIns="0" rtlCol="0"/>
          <a:lstStyle/>
          <a:p>
            <a:endParaRPr/>
          </a:p>
        </p:txBody>
      </p:sp>
      <p:sp>
        <p:nvSpPr>
          <p:cNvPr id="153" name="object 153"/>
          <p:cNvSpPr/>
          <p:nvPr/>
        </p:nvSpPr>
        <p:spPr>
          <a:xfrm>
            <a:off x="7551420" y="5366765"/>
            <a:ext cx="0" cy="107950"/>
          </a:xfrm>
          <a:custGeom>
            <a:avLst/>
            <a:gdLst/>
            <a:ahLst/>
            <a:cxnLst/>
            <a:rect l="l" t="t" r="r" b="b"/>
            <a:pathLst>
              <a:path h="107950">
                <a:moveTo>
                  <a:pt x="0" y="0"/>
                </a:moveTo>
                <a:lnTo>
                  <a:pt x="0" y="107441"/>
                </a:lnTo>
              </a:path>
            </a:pathLst>
          </a:custGeom>
          <a:ln w="9143">
            <a:solidFill>
              <a:srgbClr val="808080"/>
            </a:solidFill>
          </a:ln>
        </p:spPr>
        <p:txBody>
          <a:bodyPr wrap="square" lIns="0" tIns="0" rIns="0" bIns="0" rtlCol="0"/>
          <a:lstStyle/>
          <a:p>
            <a:endParaRPr/>
          </a:p>
        </p:txBody>
      </p:sp>
      <p:sp>
        <p:nvSpPr>
          <p:cNvPr id="154" name="object 154"/>
          <p:cNvSpPr/>
          <p:nvPr/>
        </p:nvSpPr>
        <p:spPr>
          <a:xfrm>
            <a:off x="6745223" y="4155185"/>
            <a:ext cx="387096" cy="96774"/>
          </a:xfrm>
          <a:prstGeom prst="rect">
            <a:avLst/>
          </a:prstGeom>
          <a:blipFill>
            <a:blip r:embed="rId63" cstate="print"/>
            <a:stretch>
              <a:fillRect/>
            </a:stretch>
          </a:blipFill>
        </p:spPr>
        <p:txBody>
          <a:bodyPr wrap="square" lIns="0" tIns="0" rIns="0" bIns="0" rtlCol="0"/>
          <a:lstStyle/>
          <a:p>
            <a:endParaRPr/>
          </a:p>
        </p:txBody>
      </p:sp>
      <p:sp>
        <p:nvSpPr>
          <p:cNvPr id="155" name="object 155"/>
          <p:cNvSpPr/>
          <p:nvPr/>
        </p:nvSpPr>
        <p:spPr>
          <a:xfrm>
            <a:off x="6740652" y="4146041"/>
            <a:ext cx="397002" cy="110489"/>
          </a:xfrm>
          <a:prstGeom prst="rect">
            <a:avLst/>
          </a:prstGeom>
          <a:blipFill>
            <a:blip r:embed="rId64" cstate="print"/>
            <a:stretch>
              <a:fillRect/>
            </a:stretch>
          </a:blipFill>
        </p:spPr>
        <p:txBody>
          <a:bodyPr wrap="square" lIns="0" tIns="0" rIns="0" bIns="0" rtlCol="0"/>
          <a:lstStyle/>
          <a:p>
            <a:endParaRPr/>
          </a:p>
        </p:txBody>
      </p:sp>
      <p:sp>
        <p:nvSpPr>
          <p:cNvPr id="156" name="object 156"/>
          <p:cNvSpPr/>
          <p:nvPr/>
        </p:nvSpPr>
        <p:spPr>
          <a:xfrm>
            <a:off x="6743699" y="4080509"/>
            <a:ext cx="387096" cy="112013"/>
          </a:xfrm>
          <a:prstGeom prst="rect">
            <a:avLst/>
          </a:prstGeom>
          <a:blipFill>
            <a:blip r:embed="rId65" cstate="print"/>
            <a:stretch>
              <a:fillRect/>
            </a:stretch>
          </a:blipFill>
        </p:spPr>
        <p:txBody>
          <a:bodyPr wrap="square" lIns="0" tIns="0" rIns="0" bIns="0" rtlCol="0"/>
          <a:lstStyle/>
          <a:p>
            <a:endParaRPr/>
          </a:p>
        </p:txBody>
      </p:sp>
      <p:sp>
        <p:nvSpPr>
          <p:cNvPr id="157" name="object 157"/>
          <p:cNvSpPr/>
          <p:nvPr/>
        </p:nvSpPr>
        <p:spPr>
          <a:xfrm>
            <a:off x="6739128" y="4076242"/>
            <a:ext cx="397510" cy="120650"/>
          </a:xfrm>
          <a:custGeom>
            <a:avLst/>
            <a:gdLst/>
            <a:ahLst/>
            <a:cxnLst/>
            <a:rect l="l" t="t" r="r" b="b"/>
            <a:pathLst>
              <a:path w="397509" h="120650">
                <a:moveTo>
                  <a:pt x="395478" y="67513"/>
                </a:moveTo>
                <a:lnTo>
                  <a:pt x="395478" y="52273"/>
                </a:lnTo>
                <a:lnTo>
                  <a:pt x="393954" y="49225"/>
                </a:lnTo>
                <a:lnTo>
                  <a:pt x="332987" y="14706"/>
                </a:lnTo>
                <a:lnTo>
                  <a:pt x="283294" y="4852"/>
                </a:lnTo>
                <a:lnTo>
                  <a:pt x="228097" y="55"/>
                </a:lnTo>
                <a:lnTo>
                  <a:pt x="168195" y="0"/>
                </a:lnTo>
                <a:lnTo>
                  <a:pt x="111870" y="5021"/>
                </a:lnTo>
                <a:lnTo>
                  <a:pt x="62416" y="15020"/>
                </a:lnTo>
                <a:lnTo>
                  <a:pt x="24374" y="30005"/>
                </a:lnTo>
                <a:lnTo>
                  <a:pt x="2285" y="49987"/>
                </a:lnTo>
                <a:lnTo>
                  <a:pt x="1523" y="52273"/>
                </a:lnTo>
                <a:lnTo>
                  <a:pt x="1523" y="53035"/>
                </a:lnTo>
                <a:lnTo>
                  <a:pt x="761" y="53035"/>
                </a:lnTo>
                <a:lnTo>
                  <a:pt x="0" y="56083"/>
                </a:lnTo>
                <a:lnTo>
                  <a:pt x="0" y="64465"/>
                </a:lnTo>
                <a:lnTo>
                  <a:pt x="762" y="66751"/>
                </a:lnTo>
                <a:lnTo>
                  <a:pt x="762" y="67513"/>
                </a:lnTo>
                <a:lnTo>
                  <a:pt x="1524" y="67513"/>
                </a:lnTo>
                <a:lnTo>
                  <a:pt x="3048" y="71323"/>
                </a:lnTo>
                <a:lnTo>
                  <a:pt x="9144" y="76631"/>
                </a:lnTo>
                <a:lnTo>
                  <a:pt x="9144" y="58369"/>
                </a:lnTo>
                <a:lnTo>
                  <a:pt x="9906" y="55321"/>
                </a:lnTo>
                <a:lnTo>
                  <a:pt x="9906" y="56083"/>
                </a:lnTo>
                <a:lnTo>
                  <a:pt x="11430" y="53797"/>
                </a:lnTo>
                <a:lnTo>
                  <a:pt x="33691" y="36032"/>
                </a:lnTo>
                <a:lnTo>
                  <a:pt x="70409" y="22712"/>
                </a:lnTo>
                <a:lnTo>
                  <a:pt x="117458" y="13837"/>
                </a:lnTo>
                <a:lnTo>
                  <a:pt x="169553" y="9501"/>
                </a:lnTo>
                <a:lnTo>
                  <a:pt x="228097" y="9584"/>
                </a:lnTo>
                <a:lnTo>
                  <a:pt x="279315" y="13857"/>
                </a:lnTo>
                <a:lnTo>
                  <a:pt x="326414" y="22738"/>
                </a:lnTo>
                <a:lnTo>
                  <a:pt x="363209" y="36052"/>
                </a:lnTo>
                <a:lnTo>
                  <a:pt x="386334" y="56083"/>
                </a:lnTo>
                <a:lnTo>
                  <a:pt x="386334" y="55321"/>
                </a:lnTo>
                <a:lnTo>
                  <a:pt x="387096" y="58369"/>
                </a:lnTo>
                <a:lnTo>
                  <a:pt x="387096" y="76708"/>
                </a:lnTo>
                <a:lnTo>
                  <a:pt x="393954" y="70561"/>
                </a:lnTo>
                <a:lnTo>
                  <a:pt x="395478" y="67513"/>
                </a:lnTo>
                <a:close/>
              </a:path>
              <a:path w="397509" h="120650">
                <a:moveTo>
                  <a:pt x="9906" y="57607"/>
                </a:moveTo>
                <a:lnTo>
                  <a:pt x="9144" y="58369"/>
                </a:lnTo>
                <a:lnTo>
                  <a:pt x="9144" y="59893"/>
                </a:lnTo>
                <a:lnTo>
                  <a:pt x="9239" y="60274"/>
                </a:lnTo>
                <a:lnTo>
                  <a:pt x="9906" y="57607"/>
                </a:lnTo>
                <a:close/>
              </a:path>
              <a:path w="397509" h="120650">
                <a:moveTo>
                  <a:pt x="9239" y="60274"/>
                </a:moveTo>
                <a:lnTo>
                  <a:pt x="9144" y="59893"/>
                </a:lnTo>
                <a:lnTo>
                  <a:pt x="9144" y="60655"/>
                </a:lnTo>
                <a:lnTo>
                  <a:pt x="9239" y="60274"/>
                </a:lnTo>
                <a:close/>
              </a:path>
              <a:path w="397509" h="120650">
                <a:moveTo>
                  <a:pt x="9906" y="62941"/>
                </a:moveTo>
                <a:lnTo>
                  <a:pt x="9239" y="60274"/>
                </a:lnTo>
                <a:lnTo>
                  <a:pt x="9144" y="60655"/>
                </a:lnTo>
                <a:lnTo>
                  <a:pt x="9144" y="61417"/>
                </a:lnTo>
                <a:lnTo>
                  <a:pt x="9906" y="62941"/>
                </a:lnTo>
                <a:close/>
              </a:path>
              <a:path w="397509" h="120650">
                <a:moveTo>
                  <a:pt x="387096" y="76708"/>
                </a:moveTo>
                <a:lnTo>
                  <a:pt x="387096" y="61417"/>
                </a:lnTo>
                <a:lnTo>
                  <a:pt x="386334" y="64465"/>
                </a:lnTo>
                <a:lnTo>
                  <a:pt x="386334" y="63703"/>
                </a:lnTo>
                <a:lnTo>
                  <a:pt x="326606" y="97394"/>
                </a:lnTo>
                <a:lnTo>
                  <a:pt x="279267" y="106172"/>
                </a:lnTo>
                <a:lnTo>
                  <a:pt x="226850" y="110463"/>
                </a:lnTo>
                <a:lnTo>
                  <a:pt x="169553" y="110511"/>
                </a:lnTo>
                <a:lnTo>
                  <a:pt x="116379" y="106096"/>
                </a:lnTo>
                <a:lnTo>
                  <a:pt x="69172" y="97201"/>
                </a:lnTo>
                <a:lnTo>
                  <a:pt x="32530" y="83839"/>
                </a:lnTo>
                <a:lnTo>
                  <a:pt x="10668" y="65989"/>
                </a:lnTo>
                <a:lnTo>
                  <a:pt x="9906" y="63703"/>
                </a:lnTo>
                <a:lnTo>
                  <a:pt x="9906" y="64465"/>
                </a:lnTo>
                <a:lnTo>
                  <a:pt x="9144" y="61417"/>
                </a:lnTo>
                <a:lnTo>
                  <a:pt x="9144" y="76631"/>
                </a:lnTo>
                <a:lnTo>
                  <a:pt x="25458" y="90834"/>
                </a:lnTo>
                <a:lnTo>
                  <a:pt x="63701" y="105490"/>
                </a:lnTo>
                <a:lnTo>
                  <a:pt x="113244" y="115271"/>
                </a:lnTo>
                <a:lnTo>
                  <a:pt x="168195" y="120041"/>
                </a:lnTo>
                <a:lnTo>
                  <a:pt x="228097" y="120136"/>
                </a:lnTo>
                <a:lnTo>
                  <a:pt x="284341" y="115183"/>
                </a:lnTo>
                <a:lnTo>
                  <a:pt x="333754" y="105282"/>
                </a:lnTo>
                <a:lnTo>
                  <a:pt x="371802" y="90415"/>
                </a:lnTo>
                <a:lnTo>
                  <a:pt x="387096" y="76708"/>
                </a:lnTo>
                <a:close/>
              </a:path>
              <a:path w="397509" h="120650">
                <a:moveTo>
                  <a:pt x="396240" y="64465"/>
                </a:moveTo>
                <a:lnTo>
                  <a:pt x="396240" y="56083"/>
                </a:lnTo>
                <a:lnTo>
                  <a:pt x="395478" y="53035"/>
                </a:lnTo>
                <a:lnTo>
                  <a:pt x="395478" y="66751"/>
                </a:lnTo>
                <a:lnTo>
                  <a:pt x="396240" y="64465"/>
                </a:lnTo>
                <a:close/>
              </a:path>
              <a:path w="397509" h="120650">
                <a:moveTo>
                  <a:pt x="397002" y="60655"/>
                </a:moveTo>
                <a:lnTo>
                  <a:pt x="397002" y="59893"/>
                </a:lnTo>
                <a:lnTo>
                  <a:pt x="396240" y="56845"/>
                </a:lnTo>
                <a:lnTo>
                  <a:pt x="396240" y="63703"/>
                </a:lnTo>
                <a:lnTo>
                  <a:pt x="397002" y="60655"/>
                </a:lnTo>
                <a:close/>
              </a:path>
            </a:pathLst>
          </a:custGeom>
          <a:solidFill>
            <a:srgbClr val="808080"/>
          </a:solidFill>
        </p:spPr>
        <p:txBody>
          <a:bodyPr wrap="square" lIns="0" tIns="0" rIns="0" bIns="0" rtlCol="0"/>
          <a:lstStyle/>
          <a:p>
            <a:endParaRPr/>
          </a:p>
        </p:txBody>
      </p:sp>
      <p:sp>
        <p:nvSpPr>
          <p:cNvPr id="158" name="object 158"/>
          <p:cNvSpPr/>
          <p:nvPr/>
        </p:nvSpPr>
        <p:spPr>
          <a:xfrm>
            <a:off x="6821423" y="4108703"/>
            <a:ext cx="219455" cy="53340"/>
          </a:xfrm>
          <a:prstGeom prst="rect">
            <a:avLst/>
          </a:prstGeom>
          <a:blipFill>
            <a:blip r:embed="rId66" cstate="print"/>
            <a:stretch>
              <a:fillRect/>
            </a:stretch>
          </a:blipFill>
        </p:spPr>
        <p:txBody>
          <a:bodyPr wrap="square" lIns="0" tIns="0" rIns="0" bIns="0" rtlCol="0"/>
          <a:lstStyle/>
          <a:p>
            <a:endParaRPr/>
          </a:p>
        </p:txBody>
      </p:sp>
      <p:sp>
        <p:nvSpPr>
          <p:cNvPr id="159" name="object 159"/>
          <p:cNvSpPr/>
          <p:nvPr/>
        </p:nvSpPr>
        <p:spPr>
          <a:xfrm>
            <a:off x="6821423" y="4102608"/>
            <a:ext cx="219455" cy="65531"/>
          </a:xfrm>
          <a:prstGeom prst="rect">
            <a:avLst/>
          </a:prstGeom>
          <a:blipFill>
            <a:blip r:embed="rId67" cstate="print"/>
            <a:stretch>
              <a:fillRect/>
            </a:stretch>
          </a:blipFill>
        </p:spPr>
        <p:txBody>
          <a:bodyPr wrap="square" lIns="0" tIns="0" rIns="0" bIns="0" rtlCol="0"/>
          <a:lstStyle/>
          <a:p>
            <a:endParaRPr/>
          </a:p>
        </p:txBody>
      </p:sp>
      <p:sp>
        <p:nvSpPr>
          <p:cNvPr id="160" name="object 160"/>
          <p:cNvSpPr/>
          <p:nvPr/>
        </p:nvSpPr>
        <p:spPr>
          <a:xfrm>
            <a:off x="6831329" y="4102608"/>
            <a:ext cx="200025" cy="66040"/>
          </a:xfrm>
          <a:custGeom>
            <a:avLst/>
            <a:gdLst/>
            <a:ahLst/>
            <a:cxnLst/>
            <a:rect l="l" t="t" r="r" b="b"/>
            <a:pathLst>
              <a:path w="200025" h="66039">
                <a:moveTo>
                  <a:pt x="138463" y="53339"/>
                </a:moveTo>
                <a:lnTo>
                  <a:pt x="71628" y="1523"/>
                </a:lnTo>
                <a:lnTo>
                  <a:pt x="70866" y="761"/>
                </a:lnTo>
                <a:lnTo>
                  <a:pt x="69342" y="0"/>
                </a:lnTo>
                <a:lnTo>
                  <a:pt x="0" y="0"/>
                </a:lnTo>
                <a:lnTo>
                  <a:pt x="0" y="12954"/>
                </a:lnTo>
                <a:lnTo>
                  <a:pt x="64008" y="12953"/>
                </a:lnTo>
                <a:lnTo>
                  <a:pt x="64008" y="11429"/>
                </a:lnTo>
                <a:lnTo>
                  <a:pt x="67818" y="12953"/>
                </a:lnTo>
                <a:lnTo>
                  <a:pt x="67818" y="14383"/>
                </a:lnTo>
                <a:lnTo>
                  <a:pt x="131826" y="64007"/>
                </a:lnTo>
                <a:lnTo>
                  <a:pt x="133350" y="65531"/>
                </a:lnTo>
                <a:lnTo>
                  <a:pt x="135636" y="65531"/>
                </a:lnTo>
                <a:lnTo>
                  <a:pt x="135636" y="53339"/>
                </a:lnTo>
                <a:lnTo>
                  <a:pt x="138463" y="53339"/>
                </a:lnTo>
                <a:close/>
              </a:path>
              <a:path w="200025" h="66039">
                <a:moveTo>
                  <a:pt x="67818" y="12953"/>
                </a:moveTo>
                <a:lnTo>
                  <a:pt x="64008" y="11429"/>
                </a:lnTo>
                <a:lnTo>
                  <a:pt x="65973" y="12953"/>
                </a:lnTo>
                <a:lnTo>
                  <a:pt x="67818" y="12953"/>
                </a:lnTo>
                <a:close/>
              </a:path>
              <a:path w="200025" h="66039">
                <a:moveTo>
                  <a:pt x="65973" y="12953"/>
                </a:moveTo>
                <a:lnTo>
                  <a:pt x="64008" y="11429"/>
                </a:lnTo>
                <a:lnTo>
                  <a:pt x="64008" y="12953"/>
                </a:lnTo>
                <a:lnTo>
                  <a:pt x="65973" y="12953"/>
                </a:lnTo>
                <a:close/>
              </a:path>
              <a:path w="200025" h="66039">
                <a:moveTo>
                  <a:pt x="67818" y="14383"/>
                </a:moveTo>
                <a:lnTo>
                  <a:pt x="67818" y="12953"/>
                </a:lnTo>
                <a:lnTo>
                  <a:pt x="65973" y="12953"/>
                </a:lnTo>
                <a:lnTo>
                  <a:pt x="67818" y="14383"/>
                </a:lnTo>
                <a:close/>
              </a:path>
              <a:path w="200025" h="66039">
                <a:moveTo>
                  <a:pt x="139446" y="54101"/>
                </a:moveTo>
                <a:lnTo>
                  <a:pt x="138463" y="53339"/>
                </a:lnTo>
                <a:lnTo>
                  <a:pt x="135636" y="53339"/>
                </a:lnTo>
                <a:lnTo>
                  <a:pt x="139446" y="54101"/>
                </a:lnTo>
                <a:close/>
              </a:path>
              <a:path w="200025" h="66039">
                <a:moveTo>
                  <a:pt x="139446" y="65531"/>
                </a:moveTo>
                <a:lnTo>
                  <a:pt x="139446" y="54101"/>
                </a:lnTo>
                <a:lnTo>
                  <a:pt x="135636" y="53339"/>
                </a:lnTo>
                <a:lnTo>
                  <a:pt x="135636" y="65531"/>
                </a:lnTo>
                <a:lnTo>
                  <a:pt x="139446" y="65531"/>
                </a:lnTo>
                <a:close/>
              </a:path>
              <a:path w="200025" h="66039">
                <a:moveTo>
                  <a:pt x="199644" y="65531"/>
                </a:moveTo>
                <a:lnTo>
                  <a:pt x="199644" y="53339"/>
                </a:lnTo>
                <a:lnTo>
                  <a:pt x="138463" y="53339"/>
                </a:lnTo>
                <a:lnTo>
                  <a:pt x="139446" y="54101"/>
                </a:lnTo>
                <a:lnTo>
                  <a:pt x="139446" y="65531"/>
                </a:lnTo>
                <a:lnTo>
                  <a:pt x="199644" y="65531"/>
                </a:lnTo>
                <a:close/>
              </a:path>
            </a:pathLst>
          </a:custGeom>
          <a:solidFill>
            <a:srgbClr val="808080"/>
          </a:solidFill>
        </p:spPr>
        <p:txBody>
          <a:bodyPr wrap="square" lIns="0" tIns="0" rIns="0" bIns="0" rtlCol="0"/>
          <a:lstStyle/>
          <a:p>
            <a:endParaRPr/>
          </a:p>
        </p:txBody>
      </p:sp>
      <p:sp>
        <p:nvSpPr>
          <p:cNvPr id="161" name="object 161"/>
          <p:cNvSpPr/>
          <p:nvPr/>
        </p:nvSpPr>
        <p:spPr>
          <a:xfrm>
            <a:off x="6740652" y="4133088"/>
            <a:ext cx="9525" cy="81915"/>
          </a:xfrm>
          <a:custGeom>
            <a:avLst/>
            <a:gdLst/>
            <a:ahLst/>
            <a:cxnLst/>
            <a:rect l="l" t="t" r="r" b="b"/>
            <a:pathLst>
              <a:path w="9525" h="81914">
                <a:moveTo>
                  <a:pt x="0" y="0"/>
                </a:moveTo>
                <a:lnTo>
                  <a:pt x="0" y="81534"/>
                </a:lnTo>
                <a:lnTo>
                  <a:pt x="9144" y="81534"/>
                </a:lnTo>
                <a:lnTo>
                  <a:pt x="9144" y="0"/>
                </a:lnTo>
                <a:lnTo>
                  <a:pt x="0" y="0"/>
                </a:lnTo>
                <a:close/>
              </a:path>
            </a:pathLst>
          </a:custGeom>
          <a:solidFill>
            <a:srgbClr val="808080"/>
          </a:solidFill>
        </p:spPr>
        <p:txBody>
          <a:bodyPr wrap="square" lIns="0" tIns="0" rIns="0" bIns="0" rtlCol="0"/>
          <a:lstStyle/>
          <a:p>
            <a:endParaRPr/>
          </a:p>
        </p:txBody>
      </p:sp>
      <p:sp>
        <p:nvSpPr>
          <p:cNvPr id="162" name="object 162"/>
          <p:cNvSpPr/>
          <p:nvPr/>
        </p:nvSpPr>
        <p:spPr>
          <a:xfrm>
            <a:off x="7126224" y="4136135"/>
            <a:ext cx="10160" cy="80010"/>
          </a:xfrm>
          <a:custGeom>
            <a:avLst/>
            <a:gdLst/>
            <a:ahLst/>
            <a:cxnLst/>
            <a:rect l="l" t="t" r="r" b="b"/>
            <a:pathLst>
              <a:path w="10159" h="80010">
                <a:moveTo>
                  <a:pt x="0" y="0"/>
                </a:moveTo>
                <a:lnTo>
                  <a:pt x="0" y="80010"/>
                </a:lnTo>
                <a:lnTo>
                  <a:pt x="9906" y="80010"/>
                </a:lnTo>
                <a:lnTo>
                  <a:pt x="9906" y="0"/>
                </a:lnTo>
                <a:lnTo>
                  <a:pt x="0" y="0"/>
                </a:lnTo>
                <a:close/>
              </a:path>
            </a:pathLst>
          </a:custGeom>
          <a:solidFill>
            <a:srgbClr val="808080"/>
          </a:solidFill>
        </p:spPr>
        <p:txBody>
          <a:bodyPr wrap="square" lIns="0" tIns="0" rIns="0" bIns="0" rtlCol="0"/>
          <a:lstStyle/>
          <a:p>
            <a:endParaRPr/>
          </a:p>
        </p:txBody>
      </p:sp>
      <p:sp>
        <p:nvSpPr>
          <p:cNvPr id="163" name="object 163"/>
          <p:cNvSpPr/>
          <p:nvPr/>
        </p:nvSpPr>
        <p:spPr>
          <a:xfrm>
            <a:off x="7918703" y="5440679"/>
            <a:ext cx="380764" cy="115062"/>
          </a:xfrm>
          <a:prstGeom prst="rect">
            <a:avLst/>
          </a:prstGeom>
          <a:blipFill>
            <a:blip r:embed="rId68" cstate="print"/>
            <a:stretch>
              <a:fillRect/>
            </a:stretch>
          </a:blipFill>
        </p:spPr>
        <p:txBody>
          <a:bodyPr wrap="square" lIns="0" tIns="0" rIns="0" bIns="0" rtlCol="0"/>
          <a:lstStyle/>
          <a:p>
            <a:endParaRPr/>
          </a:p>
        </p:txBody>
      </p:sp>
      <p:sp>
        <p:nvSpPr>
          <p:cNvPr id="164" name="object 164"/>
          <p:cNvSpPr/>
          <p:nvPr/>
        </p:nvSpPr>
        <p:spPr>
          <a:xfrm>
            <a:off x="7853172" y="5474970"/>
            <a:ext cx="418338" cy="387858"/>
          </a:xfrm>
          <a:prstGeom prst="rect">
            <a:avLst/>
          </a:prstGeom>
          <a:blipFill>
            <a:blip r:embed="rId69" cstate="print"/>
            <a:stretch>
              <a:fillRect/>
            </a:stretch>
          </a:blipFill>
        </p:spPr>
        <p:txBody>
          <a:bodyPr wrap="square" lIns="0" tIns="0" rIns="0" bIns="0" rtlCol="0"/>
          <a:lstStyle/>
          <a:p>
            <a:endParaRPr/>
          </a:p>
        </p:txBody>
      </p:sp>
      <p:sp>
        <p:nvSpPr>
          <p:cNvPr id="165" name="object 165"/>
          <p:cNvSpPr/>
          <p:nvPr/>
        </p:nvSpPr>
        <p:spPr>
          <a:xfrm>
            <a:off x="6388608" y="3944111"/>
            <a:ext cx="340613" cy="99060"/>
          </a:xfrm>
          <a:prstGeom prst="rect">
            <a:avLst/>
          </a:prstGeom>
          <a:blipFill>
            <a:blip r:embed="rId70" cstate="print"/>
            <a:stretch>
              <a:fillRect/>
            </a:stretch>
          </a:blipFill>
        </p:spPr>
        <p:txBody>
          <a:bodyPr wrap="square" lIns="0" tIns="0" rIns="0" bIns="0" rtlCol="0"/>
          <a:lstStyle/>
          <a:p>
            <a:endParaRPr/>
          </a:p>
        </p:txBody>
      </p:sp>
      <p:sp>
        <p:nvSpPr>
          <p:cNvPr id="166" name="object 166"/>
          <p:cNvSpPr/>
          <p:nvPr/>
        </p:nvSpPr>
        <p:spPr>
          <a:xfrm>
            <a:off x="6330696" y="3974591"/>
            <a:ext cx="373379" cy="329184"/>
          </a:xfrm>
          <a:prstGeom prst="rect">
            <a:avLst/>
          </a:prstGeom>
          <a:blipFill>
            <a:blip r:embed="rId71" cstate="print"/>
            <a:stretch>
              <a:fillRect/>
            </a:stretch>
          </a:blipFill>
        </p:spPr>
        <p:txBody>
          <a:bodyPr wrap="square" lIns="0" tIns="0" rIns="0" bIns="0" rtlCol="0"/>
          <a:lstStyle/>
          <a:p>
            <a:endParaRPr/>
          </a:p>
        </p:txBody>
      </p:sp>
      <p:sp>
        <p:nvSpPr>
          <p:cNvPr id="167" name="object 167"/>
          <p:cNvSpPr/>
          <p:nvPr/>
        </p:nvSpPr>
        <p:spPr>
          <a:xfrm>
            <a:off x="8641841" y="5910834"/>
            <a:ext cx="86995" cy="16510"/>
          </a:xfrm>
          <a:custGeom>
            <a:avLst/>
            <a:gdLst/>
            <a:ahLst/>
            <a:cxnLst/>
            <a:rect l="l" t="t" r="r" b="b"/>
            <a:pathLst>
              <a:path w="86995" h="16510">
                <a:moveTo>
                  <a:pt x="86868" y="3047"/>
                </a:moveTo>
                <a:lnTo>
                  <a:pt x="761" y="0"/>
                </a:lnTo>
                <a:lnTo>
                  <a:pt x="0" y="12191"/>
                </a:lnTo>
                <a:lnTo>
                  <a:pt x="86106" y="16001"/>
                </a:lnTo>
                <a:lnTo>
                  <a:pt x="86868" y="3047"/>
                </a:lnTo>
                <a:close/>
              </a:path>
            </a:pathLst>
          </a:custGeom>
          <a:solidFill>
            <a:srgbClr val="808080"/>
          </a:solidFill>
        </p:spPr>
        <p:txBody>
          <a:bodyPr wrap="square" lIns="0" tIns="0" rIns="0" bIns="0" rtlCol="0"/>
          <a:lstStyle/>
          <a:p>
            <a:endParaRPr/>
          </a:p>
        </p:txBody>
      </p:sp>
      <p:sp>
        <p:nvSpPr>
          <p:cNvPr id="168" name="object 168"/>
          <p:cNvSpPr/>
          <p:nvPr/>
        </p:nvSpPr>
        <p:spPr>
          <a:xfrm>
            <a:off x="6537198" y="4971288"/>
            <a:ext cx="344424" cy="359663"/>
          </a:xfrm>
          <a:prstGeom prst="rect">
            <a:avLst/>
          </a:prstGeom>
          <a:blipFill>
            <a:blip r:embed="rId72" cstate="print"/>
            <a:stretch>
              <a:fillRect/>
            </a:stretch>
          </a:blipFill>
        </p:spPr>
        <p:txBody>
          <a:bodyPr wrap="square" lIns="0" tIns="0" rIns="0" bIns="0" rtlCol="0"/>
          <a:lstStyle/>
          <a:p>
            <a:endParaRPr/>
          </a:p>
        </p:txBody>
      </p:sp>
      <p:sp>
        <p:nvSpPr>
          <p:cNvPr id="169" name="object 169"/>
          <p:cNvSpPr/>
          <p:nvPr/>
        </p:nvSpPr>
        <p:spPr>
          <a:xfrm>
            <a:off x="6643878" y="5004815"/>
            <a:ext cx="195833" cy="171450"/>
          </a:xfrm>
          <a:prstGeom prst="rect">
            <a:avLst/>
          </a:prstGeom>
          <a:blipFill>
            <a:blip r:embed="rId73" cstate="print"/>
            <a:stretch>
              <a:fillRect/>
            </a:stretch>
          </a:blipFill>
        </p:spPr>
        <p:txBody>
          <a:bodyPr wrap="square" lIns="0" tIns="0" rIns="0" bIns="0" rtlCol="0"/>
          <a:lstStyle/>
          <a:p>
            <a:endParaRPr/>
          </a:p>
        </p:txBody>
      </p:sp>
      <p:sp>
        <p:nvSpPr>
          <p:cNvPr id="170" name="object 170"/>
          <p:cNvSpPr/>
          <p:nvPr/>
        </p:nvSpPr>
        <p:spPr>
          <a:xfrm>
            <a:off x="6226302" y="5389626"/>
            <a:ext cx="406145" cy="397001"/>
          </a:xfrm>
          <a:prstGeom prst="rect">
            <a:avLst/>
          </a:prstGeom>
          <a:blipFill>
            <a:blip r:embed="rId74" cstate="print"/>
            <a:stretch>
              <a:fillRect/>
            </a:stretch>
          </a:blipFill>
        </p:spPr>
        <p:txBody>
          <a:bodyPr wrap="square" lIns="0" tIns="0" rIns="0" bIns="0" rtlCol="0"/>
          <a:lstStyle/>
          <a:p>
            <a:endParaRPr/>
          </a:p>
        </p:txBody>
      </p:sp>
      <p:sp>
        <p:nvSpPr>
          <p:cNvPr id="171" name="object 171"/>
          <p:cNvSpPr/>
          <p:nvPr/>
        </p:nvSpPr>
        <p:spPr>
          <a:xfrm>
            <a:off x="6355841" y="5429250"/>
            <a:ext cx="227837" cy="185927"/>
          </a:xfrm>
          <a:prstGeom prst="rect">
            <a:avLst/>
          </a:prstGeom>
          <a:blipFill>
            <a:blip r:embed="rId75" cstate="print"/>
            <a:stretch>
              <a:fillRect/>
            </a:stretch>
          </a:blipFill>
        </p:spPr>
        <p:txBody>
          <a:bodyPr wrap="square" lIns="0" tIns="0" rIns="0" bIns="0" rtlCol="0"/>
          <a:lstStyle/>
          <a:p>
            <a:endParaRPr/>
          </a:p>
        </p:txBody>
      </p:sp>
      <p:sp>
        <p:nvSpPr>
          <p:cNvPr id="172" name="object 172"/>
          <p:cNvSpPr/>
          <p:nvPr/>
        </p:nvSpPr>
        <p:spPr>
          <a:xfrm>
            <a:off x="6694931" y="5691378"/>
            <a:ext cx="359663" cy="342900"/>
          </a:xfrm>
          <a:prstGeom prst="rect">
            <a:avLst/>
          </a:prstGeom>
          <a:blipFill>
            <a:blip r:embed="rId76" cstate="print"/>
            <a:stretch>
              <a:fillRect/>
            </a:stretch>
          </a:blipFill>
        </p:spPr>
        <p:txBody>
          <a:bodyPr wrap="square" lIns="0" tIns="0" rIns="0" bIns="0" rtlCol="0"/>
          <a:lstStyle/>
          <a:p>
            <a:endParaRPr/>
          </a:p>
        </p:txBody>
      </p:sp>
      <p:sp>
        <p:nvSpPr>
          <p:cNvPr id="173" name="object 173"/>
          <p:cNvSpPr/>
          <p:nvPr/>
        </p:nvSpPr>
        <p:spPr>
          <a:xfrm>
            <a:off x="6809993" y="5724905"/>
            <a:ext cx="201168" cy="160020"/>
          </a:xfrm>
          <a:prstGeom prst="rect">
            <a:avLst/>
          </a:prstGeom>
          <a:blipFill>
            <a:blip r:embed="rId77" cstate="print"/>
            <a:stretch>
              <a:fillRect/>
            </a:stretch>
          </a:blipFill>
        </p:spPr>
        <p:txBody>
          <a:bodyPr wrap="square" lIns="0" tIns="0" rIns="0" bIns="0" rtlCol="0"/>
          <a:lstStyle/>
          <a:p>
            <a:endParaRPr/>
          </a:p>
        </p:txBody>
      </p:sp>
      <p:sp>
        <p:nvSpPr>
          <p:cNvPr id="174" name="object 174"/>
          <p:cNvSpPr/>
          <p:nvPr/>
        </p:nvSpPr>
        <p:spPr>
          <a:xfrm>
            <a:off x="7242048" y="5673852"/>
            <a:ext cx="363474" cy="345186"/>
          </a:xfrm>
          <a:prstGeom prst="rect">
            <a:avLst/>
          </a:prstGeom>
          <a:blipFill>
            <a:blip r:embed="rId78" cstate="print"/>
            <a:stretch>
              <a:fillRect/>
            </a:stretch>
          </a:blipFill>
        </p:spPr>
        <p:txBody>
          <a:bodyPr wrap="square" lIns="0" tIns="0" rIns="0" bIns="0" rtlCol="0"/>
          <a:lstStyle/>
          <a:p>
            <a:endParaRPr/>
          </a:p>
        </p:txBody>
      </p:sp>
      <p:sp>
        <p:nvSpPr>
          <p:cNvPr id="175" name="object 175"/>
          <p:cNvSpPr/>
          <p:nvPr/>
        </p:nvSpPr>
        <p:spPr>
          <a:xfrm>
            <a:off x="7285481" y="5707379"/>
            <a:ext cx="201930" cy="160782"/>
          </a:xfrm>
          <a:prstGeom prst="rect">
            <a:avLst/>
          </a:prstGeom>
          <a:blipFill>
            <a:blip r:embed="rId79" cstate="print"/>
            <a:stretch>
              <a:fillRect/>
            </a:stretch>
          </a:blipFill>
        </p:spPr>
        <p:txBody>
          <a:bodyPr wrap="square" lIns="0" tIns="0" rIns="0" bIns="0" rtlCol="0"/>
          <a:lstStyle/>
          <a:p>
            <a:endParaRPr/>
          </a:p>
        </p:txBody>
      </p:sp>
      <p:sp>
        <p:nvSpPr>
          <p:cNvPr id="176" name="object 176"/>
          <p:cNvSpPr/>
          <p:nvPr/>
        </p:nvSpPr>
        <p:spPr>
          <a:xfrm>
            <a:off x="7034022" y="2159507"/>
            <a:ext cx="849629" cy="164592"/>
          </a:xfrm>
          <a:prstGeom prst="rect">
            <a:avLst/>
          </a:prstGeom>
          <a:blipFill>
            <a:blip r:embed="rId80" cstate="print"/>
            <a:stretch>
              <a:fillRect/>
            </a:stretch>
          </a:blipFill>
        </p:spPr>
        <p:txBody>
          <a:bodyPr wrap="square" lIns="0" tIns="0" rIns="0" bIns="0" rtlCol="0"/>
          <a:lstStyle/>
          <a:p>
            <a:endParaRPr/>
          </a:p>
        </p:txBody>
      </p:sp>
      <p:sp>
        <p:nvSpPr>
          <p:cNvPr id="177" name="object 177"/>
          <p:cNvSpPr/>
          <p:nvPr/>
        </p:nvSpPr>
        <p:spPr>
          <a:xfrm>
            <a:off x="6464808" y="2039111"/>
            <a:ext cx="137160" cy="328422"/>
          </a:xfrm>
          <a:prstGeom prst="rect">
            <a:avLst/>
          </a:prstGeom>
          <a:blipFill>
            <a:blip r:embed="rId81" cstate="print"/>
            <a:stretch>
              <a:fillRect/>
            </a:stretch>
          </a:blipFill>
        </p:spPr>
        <p:txBody>
          <a:bodyPr wrap="square" lIns="0" tIns="0" rIns="0" bIns="0" rtlCol="0"/>
          <a:lstStyle/>
          <a:p>
            <a:endParaRPr/>
          </a:p>
        </p:txBody>
      </p:sp>
      <p:sp>
        <p:nvSpPr>
          <p:cNvPr id="178" name="object 178"/>
          <p:cNvSpPr/>
          <p:nvPr/>
        </p:nvSpPr>
        <p:spPr>
          <a:xfrm>
            <a:off x="6305549" y="1981200"/>
            <a:ext cx="416051" cy="89153"/>
          </a:xfrm>
          <a:prstGeom prst="rect">
            <a:avLst/>
          </a:prstGeom>
          <a:blipFill>
            <a:blip r:embed="rId82" cstate="print"/>
            <a:stretch>
              <a:fillRect/>
            </a:stretch>
          </a:blipFill>
        </p:spPr>
        <p:txBody>
          <a:bodyPr wrap="square" lIns="0" tIns="0" rIns="0" bIns="0" rtlCol="0"/>
          <a:lstStyle/>
          <a:p>
            <a:endParaRPr/>
          </a:p>
        </p:txBody>
      </p:sp>
      <p:sp>
        <p:nvSpPr>
          <p:cNvPr id="179" name="object 179"/>
          <p:cNvSpPr/>
          <p:nvPr/>
        </p:nvSpPr>
        <p:spPr>
          <a:xfrm>
            <a:off x="8944355" y="5437632"/>
            <a:ext cx="213360" cy="459486"/>
          </a:xfrm>
          <a:prstGeom prst="rect">
            <a:avLst/>
          </a:prstGeom>
          <a:blipFill>
            <a:blip r:embed="rId83" cstate="print"/>
            <a:stretch>
              <a:fillRect/>
            </a:stretch>
          </a:blipFill>
        </p:spPr>
        <p:txBody>
          <a:bodyPr wrap="square" lIns="0" tIns="0" rIns="0" bIns="0" rtlCol="0"/>
          <a:lstStyle/>
          <a:p>
            <a:endParaRPr/>
          </a:p>
        </p:txBody>
      </p:sp>
      <p:sp>
        <p:nvSpPr>
          <p:cNvPr id="180" name="object 180"/>
          <p:cNvSpPr/>
          <p:nvPr/>
        </p:nvSpPr>
        <p:spPr>
          <a:xfrm>
            <a:off x="8944355" y="5494781"/>
            <a:ext cx="79375" cy="0"/>
          </a:xfrm>
          <a:custGeom>
            <a:avLst/>
            <a:gdLst/>
            <a:ahLst/>
            <a:cxnLst/>
            <a:rect l="l" t="t" r="r" b="b"/>
            <a:pathLst>
              <a:path w="79375">
                <a:moveTo>
                  <a:pt x="0" y="0"/>
                </a:moveTo>
                <a:lnTo>
                  <a:pt x="79248" y="0"/>
                </a:lnTo>
              </a:path>
            </a:pathLst>
          </a:custGeom>
          <a:ln w="9143">
            <a:solidFill>
              <a:srgbClr val="000000"/>
            </a:solidFill>
          </a:ln>
        </p:spPr>
        <p:txBody>
          <a:bodyPr wrap="square" lIns="0" tIns="0" rIns="0" bIns="0" rtlCol="0"/>
          <a:lstStyle/>
          <a:p>
            <a:endParaRPr/>
          </a:p>
        </p:txBody>
      </p:sp>
      <p:sp>
        <p:nvSpPr>
          <p:cNvPr id="181" name="object 181"/>
          <p:cNvSpPr/>
          <p:nvPr/>
        </p:nvSpPr>
        <p:spPr>
          <a:xfrm>
            <a:off x="8939022" y="5484876"/>
            <a:ext cx="105410" cy="19050"/>
          </a:xfrm>
          <a:custGeom>
            <a:avLst/>
            <a:gdLst/>
            <a:ahLst/>
            <a:cxnLst/>
            <a:rect l="l" t="t" r="r" b="b"/>
            <a:pathLst>
              <a:path w="105409" h="19050">
                <a:moveTo>
                  <a:pt x="105155" y="19050"/>
                </a:moveTo>
                <a:lnTo>
                  <a:pt x="105155" y="0"/>
                </a:lnTo>
                <a:lnTo>
                  <a:pt x="0" y="0"/>
                </a:lnTo>
                <a:lnTo>
                  <a:pt x="0" y="19050"/>
                </a:lnTo>
                <a:lnTo>
                  <a:pt x="5333" y="19050"/>
                </a:lnTo>
                <a:lnTo>
                  <a:pt x="5333" y="9906"/>
                </a:lnTo>
                <a:lnTo>
                  <a:pt x="9905" y="5334"/>
                </a:lnTo>
                <a:lnTo>
                  <a:pt x="9905" y="9906"/>
                </a:lnTo>
                <a:lnTo>
                  <a:pt x="95250" y="9906"/>
                </a:lnTo>
                <a:lnTo>
                  <a:pt x="95250" y="5334"/>
                </a:lnTo>
                <a:lnTo>
                  <a:pt x="100583" y="9906"/>
                </a:lnTo>
                <a:lnTo>
                  <a:pt x="100583" y="19050"/>
                </a:lnTo>
                <a:lnTo>
                  <a:pt x="105155" y="19050"/>
                </a:lnTo>
                <a:close/>
              </a:path>
              <a:path w="105409" h="19050">
                <a:moveTo>
                  <a:pt x="9905" y="9906"/>
                </a:moveTo>
                <a:lnTo>
                  <a:pt x="9905" y="5334"/>
                </a:lnTo>
                <a:lnTo>
                  <a:pt x="5333" y="9906"/>
                </a:lnTo>
                <a:lnTo>
                  <a:pt x="9905" y="9906"/>
                </a:lnTo>
                <a:close/>
              </a:path>
              <a:path w="105409" h="19050">
                <a:moveTo>
                  <a:pt x="100583" y="9906"/>
                </a:moveTo>
                <a:lnTo>
                  <a:pt x="5333" y="9906"/>
                </a:lnTo>
                <a:lnTo>
                  <a:pt x="9905" y="14477"/>
                </a:lnTo>
                <a:lnTo>
                  <a:pt x="9905" y="19050"/>
                </a:lnTo>
                <a:lnTo>
                  <a:pt x="95250" y="19050"/>
                </a:lnTo>
                <a:lnTo>
                  <a:pt x="95250" y="14477"/>
                </a:lnTo>
                <a:lnTo>
                  <a:pt x="100583" y="9906"/>
                </a:lnTo>
                <a:close/>
              </a:path>
              <a:path w="105409" h="19050">
                <a:moveTo>
                  <a:pt x="9905" y="19050"/>
                </a:moveTo>
                <a:lnTo>
                  <a:pt x="9905" y="14477"/>
                </a:lnTo>
                <a:lnTo>
                  <a:pt x="5333" y="9906"/>
                </a:lnTo>
                <a:lnTo>
                  <a:pt x="5333" y="19050"/>
                </a:lnTo>
                <a:lnTo>
                  <a:pt x="9905" y="19050"/>
                </a:lnTo>
                <a:close/>
              </a:path>
              <a:path w="105409" h="19050">
                <a:moveTo>
                  <a:pt x="100583" y="9906"/>
                </a:moveTo>
                <a:lnTo>
                  <a:pt x="95250" y="5334"/>
                </a:lnTo>
                <a:lnTo>
                  <a:pt x="95250" y="9906"/>
                </a:lnTo>
                <a:lnTo>
                  <a:pt x="100583" y="9906"/>
                </a:lnTo>
                <a:close/>
              </a:path>
              <a:path w="105409" h="19050">
                <a:moveTo>
                  <a:pt x="100583" y="19050"/>
                </a:moveTo>
                <a:lnTo>
                  <a:pt x="100583" y="9906"/>
                </a:lnTo>
                <a:lnTo>
                  <a:pt x="95250" y="14477"/>
                </a:lnTo>
                <a:lnTo>
                  <a:pt x="95250" y="19050"/>
                </a:lnTo>
                <a:lnTo>
                  <a:pt x="100583" y="19050"/>
                </a:lnTo>
                <a:close/>
              </a:path>
            </a:pathLst>
          </a:custGeom>
          <a:solidFill>
            <a:srgbClr val="000000"/>
          </a:solidFill>
        </p:spPr>
        <p:txBody>
          <a:bodyPr wrap="square" lIns="0" tIns="0" rIns="0" bIns="0" rtlCol="0"/>
          <a:lstStyle/>
          <a:p>
            <a:endParaRPr/>
          </a:p>
        </p:txBody>
      </p:sp>
      <p:sp>
        <p:nvSpPr>
          <p:cNvPr id="182" name="object 182"/>
          <p:cNvSpPr/>
          <p:nvPr/>
        </p:nvSpPr>
        <p:spPr>
          <a:xfrm>
            <a:off x="9029700" y="5484876"/>
            <a:ext cx="92710" cy="30480"/>
          </a:xfrm>
          <a:custGeom>
            <a:avLst/>
            <a:gdLst/>
            <a:ahLst/>
            <a:cxnLst/>
            <a:rect l="l" t="t" r="r" b="b"/>
            <a:pathLst>
              <a:path w="92709" h="30479">
                <a:moveTo>
                  <a:pt x="92202" y="23621"/>
                </a:moveTo>
                <a:lnTo>
                  <a:pt x="92202" y="6857"/>
                </a:lnTo>
                <a:lnTo>
                  <a:pt x="85344" y="0"/>
                </a:lnTo>
                <a:lnTo>
                  <a:pt x="6857" y="0"/>
                </a:lnTo>
                <a:lnTo>
                  <a:pt x="0" y="6857"/>
                </a:lnTo>
                <a:lnTo>
                  <a:pt x="0" y="23621"/>
                </a:lnTo>
                <a:lnTo>
                  <a:pt x="6858" y="30479"/>
                </a:lnTo>
                <a:lnTo>
                  <a:pt x="85344" y="30479"/>
                </a:lnTo>
                <a:lnTo>
                  <a:pt x="92202" y="23621"/>
                </a:lnTo>
                <a:close/>
              </a:path>
            </a:pathLst>
          </a:custGeom>
          <a:solidFill>
            <a:srgbClr val="000000"/>
          </a:solidFill>
        </p:spPr>
        <p:txBody>
          <a:bodyPr wrap="square" lIns="0" tIns="0" rIns="0" bIns="0" rtlCol="0"/>
          <a:lstStyle/>
          <a:p>
            <a:endParaRPr/>
          </a:p>
        </p:txBody>
      </p:sp>
      <p:sp>
        <p:nvSpPr>
          <p:cNvPr id="183" name="object 183"/>
          <p:cNvSpPr/>
          <p:nvPr/>
        </p:nvSpPr>
        <p:spPr>
          <a:xfrm>
            <a:off x="8945879" y="5561457"/>
            <a:ext cx="78105" cy="0"/>
          </a:xfrm>
          <a:custGeom>
            <a:avLst/>
            <a:gdLst/>
            <a:ahLst/>
            <a:cxnLst/>
            <a:rect l="l" t="t" r="r" b="b"/>
            <a:pathLst>
              <a:path w="78104">
                <a:moveTo>
                  <a:pt x="0" y="0"/>
                </a:moveTo>
                <a:lnTo>
                  <a:pt x="77724" y="0"/>
                </a:lnTo>
              </a:path>
            </a:pathLst>
          </a:custGeom>
          <a:ln w="9906">
            <a:solidFill>
              <a:srgbClr val="000000"/>
            </a:solidFill>
          </a:ln>
        </p:spPr>
        <p:txBody>
          <a:bodyPr wrap="square" lIns="0" tIns="0" rIns="0" bIns="0" rtlCol="0"/>
          <a:lstStyle/>
          <a:p>
            <a:endParaRPr/>
          </a:p>
        </p:txBody>
      </p:sp>
      <p:sp>
        <p:nvSpPr>
          <p:cNvPr id="184" name="object 184"/>
          <p:cNvSpPr/>
          <p:nvPr/>
        </p:nvSpPr>
        <p:spPr>
          <a:xfrm>
            <a:off x="8940546" y="5551932"/>
            <a:ext cx="105410" cy="19050"/>
          </a:xfrm>
          <a:custGeom>
            <a:avLst/>
            <a:gdLst/>
            <a:ahLst/>
            <a:cxnLst/>
            <a:rect l="l" t="t" r="r" b="b"/>
            <a:pathLst>
              <a:path w="105409" h="19050">
                <a:moveTo>
                  <a:pt x="105155" y="19050"/>
                </a:moveTo>
                <a:lnTo>
                  <a:pt x="105155" y="0"/>
                </a:lnTo>
                <a:lnTo>
                  <a:pt x="0" y="0"/>
                </a:lnTo>
                <a:lnTo>
                  <a:pt x="0" y="19050"/>
                </a:lnTo>
                <a:lnTo>
                  <a:pt x="5333" y="19050"/>
                </a:lnTo>
                <a:lnTo>
                  <a:pt x="5333" y="9143"/>
                </a:lnTo>
                <a:lnTo>
                  <a:pt x="9905" y="4571"/>
                </a:lnTo>
                <a:lnTo>
                  <a:pt x="9905" y="9143"/>
                </a:lnTo>
                <a:lnTo>
                  <a:pt x="95250" y="9143"/>
                </a:lnTo>
                <a:lnTo>
                  <a:pt x="95250" y="4571"/>
                </a:lnTo>
                <a:lnTo>
                  <a:pt x="100583" y="9143"/>
                </a:lnTo>
                <a:lnTo>
                  <a:pt x="100583" y="19050"/>
                </a:lnTo>
                <a:lnTo>
                  <a:pt x="105155" y="19050"/>
                </a:lnTo>
                <a:close/>
              </a:path>
              <a:path w="105409" h="19050">
                <a:moveTo>
                  <a:pt x="9905" y="9143"/>
                </a:moveTo>
                <a:lnTo>
                  <a:pt x="9905" y="4571"/>
                </a:lnTo>
                <a:lnTo>
                  <a:pt x="5333" y="9143"/>
                </a:lnTo>
                <a:lnTo>
                  <a:pt x="9905" y="9143"/>
                </a:lnTo>
                <a:close/>
              </a:path>
              <a:path w="105409" h="19050">
                <a:moveTo>
                  <a:pt x="100583" y="9143"/>
                </a:moveTo>
                <a:lnTo>
                  <a:pt x="5333" y="9143"/>
                </a:lnTo>
                <a:lnTo>
                  <a:pt x="9905" y="14477"/>
                </a:lnTo>
                <a:lnTo>
                  <a:pt x="9905" y="19050"/>
                </a:lnTo>
                <a:lnTo>
                  <a:pt x="95250" y="19050"/>
                </a:lnTo>
                <a:lnTo>
                  <a:pt x="95250" y="14477"/>
                </a:lnTo>
                <a:lnTo>
                  <a:pt x="100583" y="9143"/>
                </a:lnTo>
                <a:close/>
              </a:path>
              <a:path w="105409" h="19050">
                <a:moveTo>
                  <a:pt x="9905" y="19050"/>
                </a:moveTo>
                <a:lnTo>
                  <a:pt x="9905" y="14477"/>
                </a:lnTo>
                <a:lnTo>
                  <a:pt x="5333" y="9143"/>
                </a:lnTo>
                <a:lnTo>
                  <a:pt x="5333" y="19050"/>
                </a:lnTo>
                <a:lnTo>
                  <a:pt x="9905" y="19050"/>
                </a:lnTo>
                <a:close/>
              </a:path>
              <a:path w="105409" h="19050">
                <a:moveTo>
                  <a:pt x="100583" y="9143"/>
                </a:moveTo>
                <a:lnTo>
                  <a:pt x="95250" y="4571"/>
                </a:lnTo>
                <a:lnTo>
                  <a:pt x="95250" y="9143"/>
                </a:lnTo>
                <a:lnTo>
                  <a:pt x="100583" y="9143"/>
                </a:lnTo>
                <a:close/>
              </a:path>
              <a:path w="105409" h="19050">
                <a:moveTo>
                  <a:pt x="100583" y="19050"/>
                </a:moveTo>
                <a:lnTo>
                  <a:pt x="100583" y="9143"/>
                </a:lnTo>
                <a:lnTo>
                  <a:pt x="95250" y="14477"/>
                </a:lnTo>
                <a:lnTo>
                  <a:pt x="95250" y="19050"/>
                </a:lnTo>
                <a:lnTo>
                  <a:pt x="100583" y="19050"/>
                </a:lnTo>
                <a:close/>
              </a:path>
            </a:pathLst>
          </a:custGeom>
          <a:solidFill>
            <a:srgbClr val="000000"/>
          </a:solidFill>
        </p:spPr>
        <p:txBody>
          <a:bodyPr wrap="square" lIns="0" tIns="0" rIns="0" bIns="0" rtlCol="0"/>
          <a:lstStyle/>
          <a:p>
            <a:endParaRPr/>
          </a:p>
        </p:txBody>
      </p:sp>
      <p:sp>
        <p:nvSpPr>
          <p:cNvPr id="185" name="object 185"/>
          <p:cNvSpPr/>
          <p:nvPr/>
        </p:nvSpPr>
        <p:spPr>
          <a:xfrm>
            <a:off x="9029700" y="5550408"/>
            <a:ext cx="92710" cy="26670"/>
          </a:xfrm>
          <a:custGeom>
            <a:avLst/>
            <a:gdLst/>
            <a:ahLst/>
            <a:cxnLst/>
            <a:rect l="l" t="t" r="r" b="b"/>
            <a:pathLst>
              <a:path w="92709" h="26670">
                <a:moveTo>
                  <a:pt x="92202" y="20573"/>
                </a:moveTo>
                <a:lnTo>
                  <a:pt x="92202" y="6095"/>
                </a:lnTo>
                <a:lnTo>
                  <a:pt x="86106" y="0"/>
                </a:lnTo>
                <a:lnTo>
                  <a:pt x="6095" y="0"/>
                </a:lnTo>
                <a:lnTo>
                  <a:pt x="0" y="6095"/>
                </a:lnTo>
                <a:lnTo>
                  <a:pt x="0" y="20573"/>
                </a:lnTo>
                <a:lnTo>
                  <a:pt x="6096" y="26669"/>
                </a:lnTo>
                <a:lnTo>
                  <a:pt x="86106" y="26669"/>
                </a:lnTo>
                <a:lnTo>
                  <a:pt x="92202" y="20573"/>
                </a:lnTo>
                <a:close/>
              </a:path>
            </a:pathLst>
          </a:custGeom>
          <a:solidFill>
            <a:srgbClr val="000000"/>
          </a:solidFill>
        </p:spPr>
        <p:txBody>
          <a:bodyPr wrap="square" lIns="0" tIns="0" rIns="0" bIns="0" rtlCol="0"/>
          <a:lstStyle/>
          <a:p>
            <a:endParaRPr/>
          </a:p>
        </p:txBody>
      </p:sp>
      <p:sp>
        <p:nvSpPr>
          <p:cNvPr id="186" name="object 186"/>
          <p:cNvSpPr/>
          <p:nvPr/>
        </p:nvSpPr>
        <p:spPr>
          <a:xfrm>
            <a:off x="8945879" y="5628131"/>
            <a:ext cx="95250" cy="0"/>
          </a:xfrm>
          <a:custGeom>
            <a:avLst/>
            <a:gdLst/>
            <a:ahLst/>
            <a:cxnLst/>
            <a:rect l="l" t="t" r="r" b="b"/>
            <a:pathLst>
              <a:path w="95250">
                <a:moveTo>
                  <a:pt x="0" y="0"/>
                </a:moveTo>
                <a:lnTo>
                  <a:pt x="95250" y="0"/>
                </a:lnTo>
              </a:path>
            </a:pathLst>
          </a:custGeom>
          <a:ln w="9143">
            <a:solidFill>
              <a:srgbClr val="000000"/>
            </a:solidFill>
          </a:ln>
        </p:spPr>
        <p:txBody>
          <a:bodyPr wrap="square" lIns="0" tIns="0" rIns="0" bIns="0" rtlCol="0"/>
          <a:lstStyle/>
          <a:p>
            <a:endParaRPr/>
          </a:p>
        </p:txBody>
      </p:sp>
      <p:sp>
        <p:nvSpPr>
          <p:cNvPr id="187" name="object 187"/>
          <p:cNvSpPr/>
          <p:nvPr/>
        </p:nvSpPr>
        <p:spPr>
          <a:xfrm>
            <a:off x="8940546" y="5618226"/>
            <a:ext cx="105410" cy="19050"/>
          </a:xfrm>
          <a:custGeom>
            <a:avLst/>
            <a:gdLst/>
            <a:ahLst/>
            <a:cxnLst/>
            <a:rect l="l" t="t" r="r" b="b"/>
            <a:pathLst>
              <a:path w="105409" h="19050">
                <a:moveTo>
                  <a:pt x="105155" y="19050"/>
                </a:moveTo>
                <a:lnTo>
                  <a:pt x="105155" y="0"/>
                </a:lnTo>
                <a:lnTo>
                  <a:pt x="0" y="0"/>
                </a:lnTo>
                <a:lnTo>
                  <a:pt x="0" y="19050"/>
                </a:lnTo>
                <a:lnTo>
                  <a:pt x="5333" y="19050"/>
                </a:lnTo>
                <a:lnTo>
                  <a:pt x="5333" y="9906"/>
                </a:lnTo>
                <a:lnTo>
                  <a:pt x="9905" y="5334"/>
                </a:lnTo>
                <a:lnTo>
                  <a:pt x="9905" y="9906"/>
                </a:lnTo>
                <a:lnTo>
                  <a:pt x="95250" y="9906"/>
                </a:lnTo>
                <a:lnTo>
                  <a:pt x="95250" y="5334"/>
                </a:lnTo>
                <a:lnTo>
                  <a:pt x="100583" y="9906"/>
                </a:lnTo>
                <a:lnTo>
                  <a:pt x="100583" y="19050"/>
                </a:lnTo>
                <a:lnTo>
                  <a:pt x="105155" y="19050"/>
                </a:lnTo>
                <a:close/>
              </a:path>
              <a:path w="105409" h="19050">
                <a:moveTo>
                  <a:pt x="9905" y="9906"/>
                </a:moveTo>
                <a:lnTo>
                  <a:pt x="9905" y="5334"/>
                </a:lnTo>
                <a:lnTo>
                  <a:pt x="5333" y="9906"/>
                </a:lnTo>
                <a:lnTo>
                  <a:pt x="9905" y="9906"/>
                </a:lnTo>
                <a:close/>
              </a:path>
              <a:path w="105409" h="19050">
                <a:moveTo>
                  <a:pt x="100583" y="9906"/>
                </a:moveTo>
                <a:lnTo>
                  <a:pt x="5333" y="9906"/>
                </a:lnTo>
                <a:lnTo>
                  <a:pt x="9905" y="14477"/>
                </a:lnTo>
                <a:lnTo>
                  <a:pt x="9905" y="19050"/>
                </a:lnTo>
                <a:lnTo>
                  <a:pt x="95250" y="19050"/>
                </a:lnTo>
                <a:lnTo>
                  <a:pt x="95250" y="14477"/>
                </a:lnTo>
                <a:lnTo>
                  <a:pt x="100583" y="9906"/>
                </a:lnTo>
                <a:close/>
              </a:path>
              <a:path w="105409" h="19050">
                <a:moveTo>
                  <a:pt x="9905" y="19050"/>
                </a:moveTo>
                <a:lnTo>
                  <a:pt x="9905" y="14477"/>
                </a:lnTo>
                <a:lnTo>
                  <a:pt x="5333" y="9906"/>
                </a:lnTo>
                <a:lnTo>
                  <a:pt x="5333" y="19050"/>
                </a:lnTo>
                <a:lnTo>
                  <a:pt x="9905" y="19050"/>
                </a:lnTo>
                <a:close/>
              </a:path>
              <a:path w="105409" h="19050">
                <a:moveTo>
                  <a:pt x="100583" y="9906"/>
                </a:moveTo>
                <a:lnTo>
                  <a:pt x="95250" y="5334"/>
                </a:lnTo>
                <a:lnTo>
                  <a:pt x="95250" y="9906"/>
                </a:lnTo>
                <a:lnTo>
                  <a:pt x="100583" y="9906"/>
                </a:lnTo>
                <a:close/>
              </a:path>
              <a:path w="105409" h="19050">
                <a:moveTo>
                  <a:pt x="100583" y="19050"/>
                </a:moveTo>
                <a:lnTo>
                  <a:pt x="100583" y="9906"/>
                </a:lnTo>
                <a:lnTo>
                  <a:pt x="95250" y="14477"/>
                </a:lnTo>
                <a:lnTo>
                  <a:pt x="95250" y="19050"/>
                </a:lnTo>
                <a:lnTo>
                  <a:pt x="100583" y="19050"/>
                </a:lnTo>
                <a:close/>
              </a:path>
            </a:pathLst>
          </a:custGeom>
          <a:solidFill>
            <a:srgbClr val="000000"/>
          </a:solidFill>
        </p:spPr>
        <p:txBody>
          <a:bodyPr wrap="square" lIns="0" tIns="0" rIns="0" bIns="0" rtlCol="0"/>
          <a:lstStyle/>
          <a:p>
            <a:endParaRPr/>
          </a:p>
        </p:txBody>
      </p:sp>
      <p:sp>
        <p:nvSpPr>
          <p:cNvPr id="188" name="object 188"/>
          <p:cNvSpPr/>
          <p:nvPr/>
        </p:nvSpPr>
        <p:spPr>
          <a:xfrm>
            <a:off x="8947403" y="5688329"/>
            <a:ext cx="95250" cy="0"/>
          </a:xfrm>
          <a:custGeom>
            <a:avLst/>
            <a:gdLst/>
            <a:ahLst/>
            <a:cxnLst/>
            <a:rect l="l" t="t" r="r" b="b"/>
            <a:pathLst>
              <a:path w="95250">
                <a:moveTo>
                  <a:pt x="0" y="0"/>
                </a:moveTo>
                <a:lnTo>
                  <a:pt x="95250" y="0"/>
                </a:lnTo>
              </a:path>
            </a:pathLst>
          </a:custGeom>
          <a:ln w="9144">
            <a:solidFill>
              <a:srgbClr val="000000"/>
            </a:solidFill>
          </a:ln>
        </p:spPr>
        <p:txBody>
          <a:bodyPr wrap="square" lIns="0" tIns="0" rIns="0" bIns="0" rtlCol="0"/>
          <a:lstStyle/>
          <a:p>
            <a:endParaRPr/>
          </a:p>
        </p:txBody>
      </p:sp>
      <p:sp>
        <p:nvSpPr>
          <p:cNvPr id="189" name="object 189"/>
          <p:cNvSpPr/>
          <p:nvPr/>
        </p:nvSpPr>
        <p:spPr>
          <a:xfrm>
            <a:off x="8942831" y="5679185"/>
            <a:ext cx="104775" cy="19050"/>
          </a:xfrm>
          <a:custGeom>
            <a:avLst/>
            <a:gdLst/>
            <a:ahLst/>
            <a:cxnLst/>
            <a:rect l="l" t="t" r="r" b="b"/>
            <a:pathLst>
              <a:path w="104775" h="19050">
                <a:moveTo>
                  <a:pt x="104394" y="19050"/>
                </a:moveTo>
                <a:lnTo>
                  <a:pt x="104394" y="0"/>
                </a:lnTo>
                <a:lnTo>
                  <a:pt x="0" y="0"/>
                </a:lnTo>
                <a:lnTo>
                  <a:pt x="0" y="19050"/>
                </a:lnTo>
                <a:lnTo>
                  <a:pt x="4572" y="19050"/>
                </a:lnTo>
                <a:lnTo>
                  <a:pt x="4572" y="9143"/>
                </a:lnTo>
                <a:lnTo>
                  <a:pt x="9144" y="4572"/>
                </a:lnTo>
                <a:lnTo>
                  <a:pt x="9144" y="9143"/>
                </a:lnTo>
                <a:lnTo>
                  <a:pt x="95250" y="9143"/>
                </a:lnTo>
                <a:lnTo>
                  <a:pt x="95250" y="4572"/>
                </a:lnTo>
                <a:lnTo>
                  <a:pt x="99822" y="9143"/>
                </a:lnTo>
                <a:lnTo>
                  <a:pt x="99822" y="19050"/>
                </a:lnTo>
                <a:lnTo>
                  <a:pt x="104394" y="19050"/>
                </a:lnTo>
                <a:close/>
              </a:path>
              <a:path w="104775" h="19050">
                <a:moveTo>
                  <a:pt x="9144" y="9143"/>
                </a:moveTo>
                <a:lnTo>
                  <a:pt x="9144" y="4572"/>
                </a:lnTo>
                <a:lnTo>
                  <a:pt x="4572" y="9143"/>
                </a:lnTo>
                <a:lnTo>
                  <a:pt x="9144" y="9143"/>
                </a:lnTo>
                <a:close/>
              </a:path>
              <a:path w="104775" h="19050">
                <a:moveTo>
                  <a:pt x="99822" y="9143"/>
                </a:moveTo>
                <a:lnTo>
                  <a:pt x="4572" y="9143"/>
                </a:lnTo>
                <a:lnTo>
                  <a:pt x="9144" y="13715"/>
                </a:lnTo>
                <a:lnTo>
                  <a:pt x="9144" y="19050"/>
                </a:lnTo>
                <a:lnTo>
                  <a:pt x="95250" y="19050"/>
                </a:lnTo>
                <a:lnTo>
                  <a:pt x="95250" y="13715"/>
                </a:lnTo>
                <a:lnTo>
                  <a:pt x="99822" y="9143"/>
                </a:lnTo>
                <a:close/>
              </a:path>
              <a:path w="104775" h="19050">
                <a:moveTo>
                  <a:pt x="9144" y="19050"/>
                </a:moveTo>
                <a:lnTo>
                  <a:pt x="9144" y="13715"/>
                </a:lnTo>
                <a:lnTo>
                  <a:pt x="4572" y="9143"/>
                </a:lnTo>
                <a:lnTo>
                  <a:pt x="4572" y="19050"/>
                </a:lnTo>
                <a:lnTo>
                  <a:pt x="9144" y="19050"/>
                </a:lnTo>
                <a:close/>
              </a:path>
              <a:path w="104775" h="19050">
                <a:moveTo>
                  <a:pt x="99822" y="9143"/>
                </a:moveTo>
                <a:lnTo>
                  <a:pt x="95250" y="4572"/>
                </a:lnTo>
                <a:lnTo>
                  <a:pt x="95250" y="9143"/>
                </a:lnTo>
                <a:lnTo>
                  <a:pt x="99822" y="9143"/>
                </a:lnTo>
                <a:close/>
              </a:path>
              <a:path w="104775" h="19050">
                <a:moveTo>
                  <a:pt x="99822" y="19050"/>
                </a:moveTo>
                <a:lnTo>
                  <a:pt x="99822" y="9143"/>
                </a:lnTo>
                <a:lnTo>
                  <a:pt x="95250" y="13715"/>
                </a:lnTo>
                <a:lnTo>
                  <a:pt x="95250" y="19050"/>
                </a:lnTo>
                <a:lnTo>
                  <a:pt x="99822" y="19050"/>
                </a:lnTo>
                <a:close/>
              </a:path>
            </a:pathLst>
          </a:custGeom>
          <a:solidFill>
            <a:srgbClr val="000000"/>
          </a:solidFill>
        </p:spPr>
        <p:txBody>
          <a:bodyPr wrap="square" lIns="0" tIns="0" rIns="0" bIns="0" rtlCol="0"/>
          <a:lstStyle/>
          <a:p>
            <a:endParaRPr/>
          </a:p>
        </p:txBody>
      </p:sp>
      <p:sp>
        <p:nvSpPr>
          <p:cNvPr id="190" name="object 190"/>
          <p:cNvSpPr/>
          <p:nvPr/>
        </p:nvSpPr>
        <p:spPr>
          <a:xfrm>
            <a:off x="9028176" y="5623559"/>
            <a:ext cx="129540" cy="85343"/>
          </a:xfrm>
          <a:prstGeom prst="rect">
            <a:avLst/>
          </a:prstGeom>
          <a:blipFill>
            <a:blip r:embed="rId84" cstate="print"/>
            <a:stretch>
              <a:fillRect/>
            </a:stretch>
          </a:blipFill>
        </p:spPr>
        <p:txBody>
          <a:bodyPr wrap="square" lIns="0" tIns="0" rIns="0" bIns="0" rtlCol="0"/>
          <a:lstStyle/>
          <a:p>
            <a:endParaRPr/>
          </a:p>
        </p:txBody>
      </p:sp>
      <p:sp>
        <p:nvSpPr>
          <p:cNvPr id="191" name="object 191"/>
          <p:cNvSpPr/>
          <p:nvPr/>
        </p:nvSpPr>
        <p:spPr>
          <a:xfrm>
            <a:off x="9028176" y="5437632"/>
            <a:ext cx="93725" cy="458724"/>
          </a:xfrm>
          <a:prstGeom prst="rect">
            <a:avLst/>
          </a:prstGeom>
          <a:blipFill>
            <a:blip r:embed="rId85" cstate="print"/>
            <a:stretch>
              <a:fillRect/>
            </a:stretch>
          </a:blipFill>
        </p:spPr>
        <p:txBody>
          <a:bodyPr wrap="square" lIns="0" tIns="0" rIns="0" bIns="0" rtlCol="0"/>
          <a:lstStyle/>
          <a:p>
            <a:endParaRPr/>
          </a:p>
        </p:txBody>
      </p:sp>
      <p:sp>
        <p:nvSpPr>
          <p:cNvPr id="192" name="object 192"/>
          <p:cNvSpPr/>
          <p:nvPr/>
        </p:nvSpPr>
        <p:spPr>
          <a:xfrm>
            <a:off x="9104376" y="5433059"/>
            <a:ext cx="20955" cy="467995"/>
          </a:xfrm>
          <a:custGeom>
            <a:avLst/>
            <a:gdLst/>
            <a:ahLst/>
            <a:cxnLst/>
            <a:rect l="l" t="t" r="r" b="b"/>
            <a:pathLst>
              <a:path w="20954" h="467995">
                <a:moveTo>
                  <a:pt x="20575" y="467868"/>
                </a:moveTo>
                <a:lnTo>
                  <a:pt x="20575" y="0"/>
                </a:lnTo>
                <a:lnTo>
                  <a:pt x="0" y="0"/>
                </a:lnTo>
                <a:lnTo>
                  <a:pt x="0" y="467868"/>
                </a:lnTo>
                <a:lnTo>
                  <a:pt x="4572" y="467868"/>
                </a:lnTo>
                <a:lnTo>
                  <a:pt x="4572" y="9144"/>
                </a:lnTo>
                <a:lnTo>
                  <a:pt x="9144" y="4572"/>
                </a:lnTo>
                <a:lnTo>
                  <a:pt x="9144" y="9144"/>
                </a:lnTo>
                <a:lnTo>
                  <a:pt x="11429" y="9144"/>
                </a:lnTo>
                <a:lnTo>
                  <a:pt x="11429" y="4572"/>
                </a:lnTo>
                <a:lnTo>
                  <a:pt x="16001" y="9144"/>
                </a:lnTo>
                <a:lnTo>
                  <a:pt x="16001" y="467868"/>
                </a:lnTo>
                <a:lnTo>
                  <a:pt x="20575" y="467868"/>
                </a:lnTo>
                <a:close/>
              </a:path>
              <a:path w="20954" h="467995">
                <a:moveTo>
                  <a:pt x="9144" y="9144"/>
                </a:moveTo>
                <a:lnTo>
                  <a:pt x="9144" y="4572"/>
                </a:lnTo>
                <a:lnTo>
                  <a:pt x="4572" y="9144"/>
                </a:lnTo>
                <a:lnTo>
                  <a:pt x="9144" y="9144"/>
                </a:lnTo>
                <a:close/>
              </a:path>
              <a:path w="20954" h="467995">
                <a:moveTo>
                  <a:pt x="9144" y="458724"/>
                </a:moveTo>
                <a:lnTo>
                  <a:pt x="9144" y="9144"/>
                </a:lnTo>
                <a:lnTo>
                  <a:pt x="4572" y="9144"/>
                </a:lnTo>
                <a:lnTo>
                  <a:pt x="4572" y="458724"/>
                </a:lnTo>
                <a:lnTo>
                  <a:pt x="9144" y="458724"/>
                </a:lnTo>
                <a:close/>
              </a:path>
              <a:path w="20954" h="467995">
                <a:moveTo>
                  <a:pt x="16001" y="458724"/>
                </a:moveTo>
                <a:lnTo>
                  <a:pt x="4572" y="458724"/>
                </a:lnTo>
                <a:lnTo>
                  <a:pt x="9144" y="463296"/>
                </a:lnTo>
                <a:lnTo>
                  <a:pt x="9144" y="467868"/>
                </a:lnTo>
                <a:lnTo>
                  <a:pt x="11429" y="467868"/>
                </a:lnTo>
                <a:lnTo>
                  <a:pt x="11429" y="463296"/>
                </a:lnTo>
                <a:lnTo>
                  <a:pt x="16001" y="458724"/>
                </a:lnTo>
                <a:close/>
              </a:path>
              <a:path w="20954" h="467995">
                <a:moveTo>
                  <a:pt x="9144" y="467868"/>
                </a:moveTo>
                <a:lnTo>
                  <a:pt x="9144" y="463296"/>
                </a:lnTo>
                <a:lnTo>
                  <a:pt x="4572" y="458724"/>
                </a:lnTo>
                <a:lnTo>
                  <a:pt x="4572" y="467868"/>
                </a:lnTo>
                <a:lnTo>
                  <a:pt x="9144" y="467868"/>
                </a:lnTo>
                <a:close/>
              </a:path>
              <a:path w="20954" h="467995">
                <a:moveTo>
                  <a:pt x="16001" y="9144"/>
                </a:moveTo>
                <a:lnTo>
                  <a:pt x="11429" y="4572"/>
                </a:lnTo>
                <a:lnTo>
                  <a:pt x="11429" y="9144"/>
                </a:lnTo>
                <a:lnTo>
                  <a:pt x="16001" y="9144"/>
                </a:lnTo>
                <a:close/>
              </a:path>
              <a:path w="20954" h="467995">
                <a:moveTo>
                  <a:pt x="16001" y="458724"/>
                </a:moveTo>
                <a:lnTo>
                  <a:pt x="16001" y="9144"/>
                </a:lnTo>
                <a:lnTo>
                  <a:pt x="11429" y="9144"/>
                </a:lnTo>
                <a:lnTo>
                  <a:pt x="11429" y="458724"/>
                </a:lnTo>
                <a:lnTo>
                  <a:pt x="16001" y="458724"/>
                </a:lnTo>
                <a:close/>
              </a:path>
              <a:path w="20954" h="467995">
                <a:moveTo>
                  <a:pt x="16001" y="467868"/>
                </a:moveTo>
                <a:lnTo>
                  <a:pt x="16001" y="458724"/>
                </a:lnTo>
                <a:lnTo>
                  <a:pt x="11429" y="463296"/>
                </a:lnTo>
                <a:lnTo>
                  <a:pt x="11429" y="467868"/>
                </a:lnTo>
                <a:lnTo>
                  <a:pt x="16001" y="467868"/>
                </a:lnTo>
                <a:close/>
              </a:path>
            </a:pathLst>
          </a:custGeom>
          <a:solidFill>
            <a:srgbClr val="000000"/>
          </a:solidFill>
        </p:spPr>
        <p:txBody>
          <a:bodyPr wrap="square" lIns="0" tIns="0" rIns="0" bIns="0" rtlCol="0"/>
          <a:lstStyle/>
          <a:p>
            <a:endParaRPr/>
          </a:p>
        </p:txBody>
      </p:sp>
      <p:sp>
        <p:nvSpPr>
          <p:cNvPr id="193" name="object 193"/>
          <p:cNvSpPr/>
          <p:nvPr/>
        </p:nvSpPr>
        <p:spPr>
          <a:xfrm>
            <a:off x="9119615" y="5487923"/>
            <a:ext cx="39624" cy="108203"/>
          </a:xfrm>
          <a:prstGeom prst="rect">
            <a:avLst/>
          </a:prstGeom>
          <a:blipFill>
            <a:blip r:embed="rId86" cstate="print"/>
            <a:stretch>
              <a:fillRect/>
            </a:stretch>
          </a:blipFill>
        </p:spPr>
        <p:txBody>
          <a:bodyPr wrap="square" lIns="0" tIns="0" rIns="0" bIns="0" rtlCol="0"/>
          <a:lstStyle/>
          <a:p>
            <a:endParaRPr/>
          </a:p>
        </p:txBody>
      </p:sp>
      <p:sp>
        <p:nvSpPr>
          <p:cNvPr id="194" name="object 194"/>
          <p:cNvSpPr/>
          <p:nvPr/>
        </p:nvSpPr>
        <p:spPr>
          <a:xfrm>
            <a:off x="8928353" y="5875782"/>
            <a:ext cx="231648" cy="47243"/>
          </a:xfrm>
          <a:prstGeom prst="rect">
            <a:avLst/>
          </a:prstGeom>
          <a:blipFill>
            <a:blip r:embed="rId87" cstate="print"/>
            <a:stretch>
              <a:fillRect/>
            </a:stretch>
          </a:blipFill>
        </p:spPr>
        <p:txBody>
          <a:bodyPr wrap="square" lIns="0" tIns="0" rIns="0" bIns="0" rtlCol="0"/>
          <a:lstStyle/>
          <a:p>
            <a:endParaRPr/>
          </a:p>
        </p:txBody>
      </p:sp>
      <p:sp>
        <p:nvSpPr>
          <p:cNvPr id="195" name="object 195"/>
          <p:cNvSpPr/>
          <p:nvPr/>
        </p:nvSpPr>
        <p:spPr>
          <a:xfrm>
            <a:off x="8939022" y="5891784"/>
            <a:ext cx="180340" cy="25400"/>
          </a:xfrm>
          <a:custGeom>
            <a:avLst/>
            <a:gdLst/>
            <a:ahLst/>
            <a:cxnLst/>
            <a:rect l="l" t="t" r="r" b="b"/>
            <a:pathLst>
              <a:path w="180340" h="25400">
                <a:moveTo>
                  <a:pt x="762" y="14477"/>
                </a:moveTo>
                <a:lnTo>
                  <a:pt x="761" y="10667"/>
                </a:lnTo>
                <a:lnTo>
                  <a:pt x="0" y="12191"/>
                </a:lnTo>
                <a:lnTo>
                  <a:pt x="0" y="12953"/>
                </a:lnTo>
                <a:lnTo>
                  <a:pt x="762" y="14477"/>
                </a:lnTo>
                <a:close/>
              </a:path>
              <a:path w="180340" h="25400">
                <a:moveTo>
                  <a:pt x="1524" y="17525"/>
                </a:moveTo>
                <a:lnTo>
                  <a:pt x="1523" y="7619"/>
                </a:lnTo>
                <a:lnTo>
                  <a:pt x="761" y="7619"/>
                </a:lnTo>
                <a:lnTo>
                  <a:pt x="762" y="16763"/>
                </a:lnTo>
                <a:lnTo>
                  <a:pt x="1524" y="17525"/>
                </a:lnTo>
                <a:close/>
              </a:path>
              <a:path w="180340" h="25400">
                <a:moveTo>
                  <a:pt x="178308" y="18287"/>
                </a:moveTo>
                <a:lnTo>
                  <a:pt x="178308" y="6857"/>
                </a:lnTo>
                <a:lnTo>
                  <a:pt x="176784" y="4571"/>
                </a:lnTo>
                <a:lnTo>
                  <a:pt x="176022" y="3809"/>
                </a:lnTo>
                <a:lnTo>
                  <a:pt x="176022" y="3047"/>
                </a:lnTo>
                <a:lnTo>
                  <a:pt x="175260" y="3047"/>
                </a:lnTo>
                <a:lnTo>
                  <a:pt x="172974" y="1523"/>
                </a:lnTo>
                <a:lnTo>
                  <a:pt x="172212" y="761"/>
                </a:lnTo>
                <a:lnTo>
                  <a:pt x="171450" y="761"/>
                </a:lnTo>
                <a:lnTo>
                  <a:pt x="169926" y="0"/>
                </a:lnTo>
                <a:lnTo>
                  <a:pt x="9905" y="0"/>
                </a:lnTo>
                <a:lnTo>
                  <a:pt x="8381" y="761"/>
                </a:lnTo>
                <a:lnTo>
                  <a:pt x="7619" y="761"/>
                </a:lnTo>
                <a:lnTo>
                  <a:pt x="6858" y="1523"/>
                </a:lnTo>
                <a:lnTo>
                  <a:pt x="4571" y="3047"/>
                </a:lnTo>
                <a:lnTo>
                  <a:pt x="3809" y="3809"/>
                </a:lnTo>
                <a:lnTo>
                  <a:pt x="3047" y="3809"/>
                </a:lnTo>
                <a:lnTo>
                  <a:pt x="1523" y="6857"/>
                </a:lnTo>
                <a:lnTo>
                  <a:pt x="1524" y="18287"/>
                </a:lnTo>
                <a:lnTo>
                  <a:pt x="3048" y="20573"/>
                </a:lnTo>
                <a:lnTo>
                  <a:pt x="3810" y="21335"/>
                </a:lnTo>
                <a:lnTo>
                  <a:pt x="4572" y="21335"/>
                </a:lnTo>
                <a:lnTo>
                  <a:pt x="4572" y="22097"/>
                </a:lnTo>
                <a:lnTo>
                  <a:pt x="7620" y="23621"/>
                </a:lnTo>
                <a:lnTo>
                  <a:pt x="8382" y="24383"/>
                </a:lnTo>
                <a:lnTo>
                  <a:pt x="9906" y="24383"/>
                </a:lnTo>
                <a:lnTo>
                  <a:pt x="9906" y="10667"/>
                </a:lnTo>
                <a:lnTo>
                  <a:pt x="11430" y="9143"/>
                </a:lnTo>
                <a:lnTo>
                  <a:pt x="168402" y="9143"/>
                </a:lnTo>
                <a:lnTo>
                  <a:pt x="169926" y="10667"/>
                </a:lnTo>
                <a:lnTo>
                  <a:pt x="169926" y="24383"/>
                </a:lnTo>
                <a:lnTo>
                  <a:pt x="172212" y="24383"/>
                </a:lnTo>
                <a:lnTo>
                  <a:pt x="172212" y="23621"/>
                </a:lnTo>
                <a:lnTo>
                  <a:pt x="172974" y="23621"/>
                </a:lnTo>
                <a:lnTo>
                  <a:pt x="175260" y="22097"/>
                </a:lnTo>
                <a:lnTo>
                  <a:pt x="176784" y="20573"/>
                </a:lnTo>
                <a:lnTo>
                  <a:pt x="178308" y="18287"/>
                </a:lnTo>
                <a:close/>
              </a:path>
              <a:path w="180340" h="25400">
                <a:moveTo>
                  <a:pt x="11430" y="9143"/>
                </a:moveTo>
                <a:lnTo>
                  <a:pt x="9906" y="10667"/>
                </a:lnTo>
                <a:lnTo>
                  <a:pt x="11049" y="9905"/>
                </a:lnTo>
                <a:lnTo>
                  <a:pt x="11430" y="9143"/>
                </a:lnTo>
                <a:close/>
              </a:path>
              <a:path w="180340" h="25400">
                <a:moveTo>
                  <a:pt x="11049" y="9905"/>
                </a:moveTo>
                <a:lnTo>
                  <a:pt x="9906" y="10667"/>
                </a:lnTo>
                <a:lnTo>
                  <a:pt x="9906" y="12191"/>
                </a:lnTo>
                <a:lnTo>
                  <a:pt x="11049" y="9905"/>
                </a:lnTo>
                <a:close/>
              </a:path>
              <a:path w="180340" h="25400">
                <a:moveTo>
                  <a:pt x="11430" y="15239"/>
                </a:moveTo>
                <a:lnTo>
                  <a:pt x="9906" y="12953"/>
                </a:lnTo>
                <a:lnTo>
                  <a:pt x="9906" y="13715"/>
                </a:lnTo>
                <a:lnTo>
                  <a:pt x="11430" y="15239"/>
                </a:lnTo>
                <a:close/>
              </a:path>
              <a:path w="180340" h="25400">
                <a:moveTo>
                  <a:pt x="12192" y="25145"/>
                </a:moveTo>
                <a:lnTo>
                  <a:pt x="12191" y="16001"/>
                </a:lnTo>
                <a:lnTo>
                  <a:pt x="9906" y="13715"/>
                </a:lnTo>
                <a:lnTo>
                  <a:pt x="9905" y="25145"/>
                </a:lnTo>
                <a:lnTo>
                  <a:pt x="12192" y="25145"/>
                </a:lnTo>
                <a:close/>
              </a:path>
              <a:path w="180340" h="25400">
                <a:moveTo>
                  <a:pt x="12191" y="9143"/>
                </a:moveTo>
                <a:lnTo>
                  <a:pt x="11430" y="9143"/>
                </a:lnTo>
                <a:lnTo>
                  <a:pt x="11049" y="9905"/>
                </a:lnTo>
                <a:lnTo>
                  <a:pt x="12191" y="9143"/>
                </a:lnTo>
                <a:close/>
              </a:path>
              <a:path w="180340" h="25400">
                <a:moveTo>
                  <a:pt x="12953" y="9143"/>
                </a:moveTo>
                <a:lnTo>
                  <a:pt x="12191" y="9143"/>
                </a:lnTo>
                <a:lnTo>
                  <a:pt x="11430" y="9905"/>
                </a:lnTo>
                <a:lnTo>
                  <a:pt x="12953" y="9143"/>
                </a:lnTo>
                <a:close/>
              </a:path>
              <a:path w="180340" h="25400">
                <a:moveTo>
                  <a:pt x="168402" y="15239"/>
                </a:moveTo>
                <a:lnTo>
                  <a:pt x="11430" y="15239"/>
                </a:lnTo>
                <a:lnTo>
                  <a:pt x="12953" y="16001"/>
                </a:lnTo>
                <a:lnTo>
                  <a:pt x="12953" y="25145"/>
                </a:lnTo>
                <a:lnTo>
                  <a:pt x="166878" y="25145"/>
                </a:lnTo>
                <a:lnTo>
                  <a:pt x="166878" y="16001"/>
                </a:lnTo>
                <a:lnTo>
                  <a:pt x="168402" y="15239"/>
                </a:lnTo>
                <a:close/>
              </a:path>
              <a:path w="180340" h="25400">
                <a:moveTo>
                  <a:pt x="12953" y="25145"/>
                </a:moveTo>
                <a:lnTo>
                  <a:pt x="12953" y="16001"/>
                </a:lnTo>
                <a:lnTo>
                  <a:pt x="11430" y="15239"/>
                </a:lnTo>
                <a:lnTo>
                  <a:pt x="12191" y="16001"/>
                </a:lnTo>
                <a:lnTo>
                  <a:pt x="12192" y="25145"/>
                </a:lnTo>
                <a:lnTo>
                  <a:pt x="12953" y="25145"/>
                </a:lnTo>
                <a:close/>
              </a:path>
              <a:path w="180340" h="25400">
                <a:moveTo>
                  <a:pt x="168402" y="9905"/>
                </a:moveTo>
                <a:lnTo>
                  <a:pt x="167640" y="9143"/>
                </a:lnTo>
                <a:lnTo>
                  <a:pt x="166878" y="9143"/>
                </a:lnTo>
                <a:lnTo>
                  <a:pt x="168402" y="9905"/>
                </a:lnTo>
                <a:close/>
              </a:path>
              <a:path w="180340" h="25400">
                <a:moveTo>
                  <a:pt x="168402" y="15239"/>
                </a:moveTo>
                <a:lnTo>
                  <a:pt x="166878" y="16001"/>
                </a:lnTo>
                <a:lnTo>
                  <a:pt x="166878" y="25145"/>
                </a:lnTo>
                <a:lnTo>
                  <a:pt x="167640" y="25145"/>
                </a:lnTo>
                <a:lnTo>
                  <a:pt x="167640" y="16001"/>
                </a:lnTo>
                <a:lnTo>
                  <a:pt x="168402" y="15239"/>
                </a:lnTo>
                <a:close/>
              </a:path>
              <a:path w="180340" h="25400">
                <a:moveTo>
                  <a:pt x="168783" y="9905"/>
                </a:moveTo>
                <a:lnTo>
                  <a:pt x="168402" y="9143"/>
                </a:lnTo>
                <a:lnTo>
                  <a:pt x="167640" y="9143"/>
                </a:lnTo>
                <a:lnTo>
                  <a:pt x="168783" y="9905"/>
                </a:lnTo>
                <a:close/>
              </a:path>
              <a:path w="180340" h="25400">
                <a:moveTo>
                  <a:pt x="169926" y="25145"/>
                </a:moveTo>
                <a:lnTo>
                  <a:pt x="169926" y="13715"/>
                </a:lnTo>
                <a:lnTo>
                  <a:pt x="167640" y="16001"/>
                </a:lnTo>
                <a:lnTo>
                  <a:pt x="167640" y="25145"/>
                </a:lnTo>
                <a:lnTo>
                  <a:pt x="169926" y="25145"/>
                </a:lnTo>
                <a:close/>
              </a:path>
              <a:path w="180340" h="25400">
                <a:moveTo>
                  <a:pt x="169926" y="10667"/>
                </a:moveTo>
                <a:lnTo>
                  <a:pt x="168402" y="9143"/>
                </a:lnTo>
                <a:lnTo>
                  <a:pt x="168783" y="9905"/>
                </a:lnTo>
                <a:lnTo>
                  <a:pt x="169926" y="10667"/>
                </a:lnTo>
                <a:close/>
              </a:path>
              <a:path w="180340" h="25400">
                <a:moveTo>
                  <a:pt x="169926" y="13715"/>
                </a:moveTo>
                <a:lnTo>
                  <a:pt x="169926" y="12953"/>
                </a:lnTo>
                <a:lnTo>
                  <a:pt x="168402" y="15239"/>
                </a:lnTo>
                <a:lnTo>
                  <a:pt x="169926" y="13715"/>
                </a:lnTo>
                <a:close/>
              </a:path>
              <a:path w="180340" h="25400">
                <a:moveTo>
                  <a:pt x="169926" y="12191"/>
                </a:moveTo>
                <a:lnTo>
                  <a:pt x="169926" y="10667"/>
                </a:lnTo>
                <a:lnTo>
                  <a:pt x="168783" y="9905"/>
                </a:lnTo>
                <a:lnTo>
                  <a:pt x="169926" y="12191"/>
                </a:lnTo>
                <a:close/>
              </a:path>
              <a:path w="180340" h="25400">
                <a:moveTo>
                  <a:pt x="179070" y="16763"/>
                </a:moveTo>
                <a:lnTo>
                  <a:pt x="179070" y="7619"/>
                </a:lnTo>
                <a:lnTo>
                  <a:pt x="178308" y="7619"/>
                </a:lnTo>
                <a:lnTo>
                  <a:pt x="178308" y="17525"/>
                </a:lnTo>
                <a:lnTo>
                  <a:pt x="179070" y="16763"/>
                </a:lnTo>
                <a:close/>
              </a:path>
              <a:path w="180340" h="25400">
                <a:moveTo>
                  <a:pt x="179832" y="14477"/>
                </a:moveTo>
                <a:lnTo>
                  <a:pt x="179832" y="10667"/>
                </a:lnTo>
                <a:lnTo>
                  <a:pt x="179070" y="9905"/>
                </a:lnTo>
                <a:lnTo>
                  <a:pt x="179070" y="14477"/>
                </a:lnTo>
                <a:lnTo>
                  <a:pt x="179832" y="14477"/>
                </a:lnTo>
                <a:close/>
              </a:path>
            </a:pathLst>
          </a:custGeom>
          <a:solidFill>
            <a:srgbClr val="000000"/>
          </a:solidFill>
        </p:spPr>
        <p:txBody>
          <a:bodyPr wrap="square" lIns="0" tIns="0" rIns="0" bIns="0" rtlCol="0"/>
          <a:lstStyle/>
          <a:p>
            <a:endParaRPr/>
          </a:p>
        </p:txBody>
      </p:sp>
      <p:sp>
        <p:nvSpPr>
          <p:cNvPr id="196" name="object 196"/>
          <p:cNvSpPr/>
          <p:nvPr/>
        </p:nvSpPr>
        <p:spPr>
          <a:xfrm>
            <a:off x="8959596" y="5829300"/>
            <a:ext cx="26034" cy="29209"/>
          </a:xfrm>
          <a:custGeom>
            <a:avLst/>
            <a:gdLst/>
            <a:ahLst/>
            <a:cxnLst/>
            <a:rect l="l" t="t" r="r" b="b"/>
            <a:pathLst>
              <a:path w="26034" h="29210">
                <a:moveTo>
                  <a:pt x="25908" y="22097"/>
                </a:moveTo>
                <a:lnTo>
                  <a:pt x="25908" y="6857"/>
                </a:lnTo>
                <a:lnTo>
                  <a:pt x="19812" y="0"/>
                </a:lnTo>
                <a:lnTo>
                  <a:pt x="6095" y="0"/>
                </a:lnTo>
                <a:lnTo>
                  <a:pt x="0" y="6857"/>
                </a:lnTo>
                <a:lnTo>
                  <a:pt x="0" y="22097"/>
                </a:lnTo>
                <a:lnTo>
                  <a:pt x="6096" y="28955"/>
                </a:lnTo>
                <a:lnTo>
                  <a:pt x="19812" y="28955"/>
                </a:lnTo>
                <a:lnTo>
                  <a:pt x="25908" y="22097"/>
                </a:lnTo>
                <a:close/>
              </a:path>
            </a:pathLst>
          </a:custGeom>
          <a:solidFill>
            <a:srgbClr val="33CC33"/>
          </a:solidFill>
        </p:spPr>
        <p:txBody>
          <a:bodyPr wrap="square" lIns="0" tIns="0" rIns="0" bIns="0" rtlCol="0"/>
          <a:lstStyle/>
          <a:p>
            <a:endParaRPr/>
          </a:p>
        </p:txBody>
      </p:sp>
      <p:sp>
        <p:nvSpPr>
          <p:cNvPr id="197" name="object 197"/>
          <p:cNvSpPr/>
          <p:nvPr/>
        </p:nvSpPr>
        <p:spPr>
          <a:xfrm>
            <a:off x="8988551" y="5829300"/>
            <a:ext cx="25400" cy="29209"/>
          </a:xfrm>
          <a:custGeom>
            <a:avLst/>
            <a:gdLst/>
            <a:ahLst/>
            <a:cxnLst/>
            <a:rect l="l" t="t" r="r" b="b"/>
            <a:pathLst>
              <a:path w="25400" h="29210">
                <a:moveTo>
                  <a:pt x="25146" y="22097"/>
                </a:moveTo>
                <a:lnTo>
                  <a:pt x="25146" y="6857"/>
                </a:lnTo>
                <a:lnTo>
                  <a:pt x="19812" y="0"/>
                </a:lnTo>
                <a:lnTo>
                  <a:pt x="5333" y="0"/>
                </a:lnTo>
                <a:lnTo>
                  <a:pt x="0" y="6857"/>
                </a:lnTo>
                <a:lnTo>
                  <a:pt x="0" y="22097"/>
                </a:lnTo>
                <a:lnTo>
                  <a:pt x="5334" y="28955"/>
                </a:lnTo>
                <a:lnTo>
                  <a:pt x="19812" y="28955"/>
                </a:lnTo>
                <a:lnTo>
                  <a:pt x="25146" y="22097"/>
                </a:lnTo>
                <a:close/>
              </a:path>
            </a:pathLst>
          </a:custGeom>
          <a:solidFill>
            <a:srgbClr val="FF0000"/>
          </a:solidFill>
        </p:spPr>
        <p:txBody>
          <a:bodyPr wrap="square" lIns="0" tIns="0" rIns="0" bIns="0" rtlCol="0"/>
          <a:lstStyle/>
          <a:p>
            <a:endParaRPr/>
          </a:p>
        </p:txBody>
      </p:sp>
      <p:sp>
        <p:nvSpPr>
          <p:cNvPr id="198" name="object 198"/>
          <p:cNvSpPr/>
          <p:nvPr/>
        </p:nvSpPr>
        <p:spPr>
          <a:xfrm>
            <a:off x="9015222" y="5829300"/>
            <a:ext cx="26034" cy="29209"/>
          </a:xfrm>
          <a:custGeom>
            <a:avLst/>
            <a:gdLst/>
            <a:ahLst/>
            <a:cxnLst/>
            <a:rect l="l" t="t" r="r" b="b"/>
            <a:pathLst>
              <a:path w="26034" h="29210">
                <a:moveTo>
                  <a:pt x="25908" y="22097"/>
                </a:moveTo>
                <a:lnTo>
                  <a:pt x="25908" y="6857"/>
                </a:lnTo>
                <a:lnTo>
                  <a:pt x="19812" y="0"/>
                </a:lnTo>
                <a:lnTo>
                  <a:pt x="6095" y="0"/>
                </a:lnTo>
                <a:lnTo>
                  <a:pt x="0" y="6857"/>
                </a:lnTo>
                <a:lnTo>
                  <a:pt x="0" y="22097"/>
                </a:lnTo>
                <a:lnTo>
                  <a:pt x="6096" y="28955"/>
                </a:lnTo>
                <a:lnTo>
                  <a:pt x="19812" y="28955"/>
                </a:lnTo>
                <a:lnTo>
                  <a:pt x="25908" y="22097"/>
                </a:lnTo>
                <a:close/>
              </a:path>
            </a:pathLst>
          </a:custGeom>
          <a:solidFill>
            <a:srgbClr val="33CC33"/>
          </a:solidFill>
        </p:spPr>
        <p:txBody>
          <a:bodyPr wrap="square" lIns="0" tIns="0" rIns="0" bIns="0" rtlCol="0"/>
          <a:lstStyle/>
          <a:p>
            <a:endParaRPr/>
          </a:p>
        </p:txBody>
      </p:sp>
      <p:sp>
        <p:nvSpPr>
          <p:cNvPr id="199" name="object 199"/>
          <p:cNvSpPr/>
          <p:nvPr/>
        </p:nvSpPr>
        <p:spPr>
          <a:xfrm>
            <a:off x="9086850" y="5720334"/>
            <a:ext cx="0" cy="152400"/>
          </a:xfrm>
          <a:custGeom>
            <a:avLst/>
            <a:gdLst/>
            <a:ahLst/>
            <a:cxnLst/>
            <a:rect l="l" t="t" r="r" b="b"/>
            <a:pathLst>
              <a:path h="152400">
                <a:moveTo>
                  <a:pt x="0" y="0"/>
                </a:moveTo>
                <a:lnTo>
                  <a:pt x="0" y="152400"/>
                </a:lnTo>
              </a:path>
            </a:pathLst>
          </a:custGeom>
          <a:ln w="12192">
            <a:solidFill>
              <a:srgbClr val="292929"/>
            </a:solidFill>
          </a:ln>
        </p:spPr>
        <p:txBody>
          <a:bodyPr wrap="square" lIns="0" tIns="0" rIns="0" bIns="0" rtlCol="0"/>
          <a:lstStyle/>
          <a:p>
            <a:endParaRPr/>
          </a:p>
        </p:txBody>
      </p:sp>
      <p:sp>
        <p:nvSpPr>
          <p:cNvPr id="200" name="object 200"/>
          <p:cNvSpPr/>
          <p:nvPr/>
        </p:nvSpPr>
        <p:spPr>
          <a:xfrm>
            <a:off x="9076181" y="5715761"/>
            <a:ext cx="22225" cy="161925"/>
          </a:xfrm>
          <a:custGeom>
            <a:avLst/>
            <a:gdLst/>
            <a:ahLst/>
            <a:cxnLst/>
            <a:rect l="l" t="t" r="r" b="b"/>
            <a:pathLst>
              <a:path w="22225" h="161925">
                <a:moveTo>
                  <a:pt x="22099" y="161544"/>
                </a:moveTo>
                <a:lnTo>
                  <a:pt x="22099" y="0"/>
                </a:lnTo>
                <a:lnTo>
                  <a:pt x="0" y="0"/>
                </a:lnTo>
                <a:lnTo>
                  <a:pt x="0" y="161544"/>
                </a:lnTo>
                <a:lnTo>
                  <a:pt x="4572" y="161544"/>
                </a:lnTo>
                <a:lnTo>
                  <a:pt x="4572" y="9144"/>
                </a:lnTo>
                <a:lnTo>
                  <a:pt x="9144" y="4572"/>
                </a:lnTo>
                <a:lnTo>
                  <a:pt x="9144" y="9144"/>
                </a:lnTo>
                <a:lnTo>
                  <a:pt x="12192" y="9144"/>
                </a:lnTo>
                <a:lnTo>
                  <a:pt x="12192" y="4572"/>
                </a:lnTo>
                <a:lnTo>
                  <a:pt x="16764" y="9144"/>
                </a:lnTo>
                <a:lnTo>
                  <a:pt x="16764" y="161544"/>
                </a:lnTo>
                <a:lnTo>
                  <a:pt x="22099" y="161544"/>
                </a:lnTo>
                <a:close/>
              </a:path>
              <a:path w="22225" h="161925">
                <a:moveTo>
                  <a:pt x="9144" y="9144"/>
                </a:moveTo>
                <a:lnTo>
                  <a:pt x="9144" y="4572"/>
                </a:lnTo>
                <a:lnTo>
                  <a:pt x="4572" y="9144"/>
                </a:lnTo>
                <a:lnTo>
                  <a:pt x="9144" y="9144"/>
                </a:lnTo>
                <a:close/>
              </a:path>
              <a:path w="22225" h="161925">
                <a:moveTo>
                  <a:pt x="9144" y="152400"/>
                </a:moveTo>
                <a:lnTo>
                  <a:pt x="9144" y="9144"/>
                </a:lnTo>
                <a:lnTo>
                  <a:pt x="4572" y="9144"/>
                </a:lnTo>
                <a:lnTo>
                  <a:pt x="4572" y="152400"/>
                </a:lnTo>
                <a:lnTo>
                  <a:pt x="9144" y="152400"/>
                </a:lnTo>
                <a:close/>
              </a:path>
              <a:path w="22225" h="161925">
                <a:moveTo>
                  <a:pt x="16764" y="152400"/>
                </a:moveTo>
                <a:lnTo>
                  <a:pt x="4572" y="152400"/>
                </a:lnTo>
                <a:lnTo>
                  <a:pt x="9144" y="156972"/>
                </a:lnTo>
                <a:lnTo>
                  <a:pt x="9144" y="161544"/>
                </a:lnTo>
                <a:lnTo>
                  <a:pt x="12192" y="161544"/>
                </a:lnTo>
                <a:lnTo>
                  <a:pt x="12192" y="156972"/>
                </a:lnTo>
                <a:lnTo>
                  <a:pt x="16764" y="152400"/>
                </a:lnTo>
                <a:close/>
              </a:path>
              <a:path w="22225" h="161925">
                <a:moveTo>
                  <a:pt x="9144" y="161544"/>
                </a:moveTo>
                <a:lnTo>
                  <a:pt x="9144" y="156972"/>
                </a:lnTo>
                <a:lnTo>
                  <a:pt x="4572" y="152400"/>
                </a:lnTo>
                <a:lnTo>
                  <a:pt x="4572" y="161544"/>
                </a:lnTo>
                <a:lnTo>
                  <a:pt x="9144" y="161544"/>
                </a:lnTo>
                <a:close/>
              </a:path>
              <a:path w="22225" h="161925">
                <a:moveTo>
                  <a:pt x="16764" y="9144"/>
                </a:moveTo>
                <a:lnTo>
                  <a:pt x="12192" y="4572"/>
                </a:lnTo>
                <a:lnTo>
                  <a:pt x="12192" y="9144"/>
                </a:lnTo>
                <a:lnTo>
                  <a:pt x="16764" y="9144"/>
                </a:lnTo>
                <a:close/>
              </a:path>
              <a:path w="22225" h="161925">
                <a:moveTo>
                  <a:pt x="16764" y="152400"/>
                </a:moveTo>
                <a:lnTo>
                  <a:pt x="16764" y="9144"/>
                </a:lnTo>
                <a:lnTo>
                  <a:pt x="12192" y="9144"/>
                </a:lnTo>
                <a:lnTo>
                  <a:pt x="12192" y="152400"/>
                </a:lnTo>
                <a:lnTo>
                  <a:pt x="16764" y="152400"/>
                </a:lnTo>
                <a:close/>
              </a:path>
              <a:path w="22225" h="161925">
                <a:moveTo>
                  <a:pt x="16764" y="161544"/>
                </a:moveTo>
                <a:lnTo>
                  <a:pt x="16764" y="152400"/>
                </a:lnTo>
                <a:lnTo>
                  <a:pt x="12192" y="156972"/>
                </a:lnTo>
                <a:lnTo>
                  <a:pt x="12192" y="161544"/>
                </a:lnTo>
                <a:lnTo>
                  <a:pt x="16764" y="161544"/>
                </a:lnTo>
                <a:close/>
              </a:path>
            </a:pathLst>
          </a:custGeom>
          <a:solidFill>
            <a:srgbClr val="000000"/>
          </a:solidFill>
        </p:spPr>
        <p:txBody>
          <a:bodyPr wrap="square" lIns="0" tIns="0" rIns="0" bIns="0" rtlCol="0"/>
          <a:lstStyle/>
          <a:p>
            <a:endParaRPr/>
          </a:p>
        </p:txBody>
      </p:sp>
      <p:sp>
        <p:nvSpPr>
          <p:cNvPr id="201" name="object 201"/>
          <p:cNvSpPr/>
          <p:nvPr/>
        </p:nvSpPr>
        <p:spPr>
          <a:xfrm>
            <a:off x="8628126" y="5739384"/>
            <a:ext cx="213360" cy="459486"/>
          </a:xfrm>
          <a:prstGeom prst="rect">
            <a:avLst/>
          </a:prstGeom>
          <a:blipFill>
            <a:blip r:embed="rId88" cstate="print"/>
            <a:stretch>
              <a:fillRect/>
            </a:stretch>
          </a:blipFill>
        </p:spPr>
        <p:txBody>
          <a:bodyPr wrap="square" lIns="0" tIns="0" rIns="0" bIns="0" rtlCol="0"/>
          <a:lstStyle/>
          <a:p>
            <a:endParaRPr/>
          </a:p>
        </p:txBody>
      </p:sp>
      <p:sp>
        <p:nvSpPr>
          <p:cNvPr id="202" name="object 202"/>
          <p:cNvSpPr/>
          <p:nvPr/>
        </p:nvSpPr>
        <p:spPr>
          <a:xfrm>
            <a:off x="8628126" y="5796153"/>
            <a:ext cx="95250" cy="0"/>
          </a:xfrm>
          <a:custGeom>
            <a:avLst/>
            <a:gdLst/>
            <a:ahLst/>
            <a:cxnLst/>
            <a:rect l="l" t="t" r="r" b="b"/>
            <a:pathLst>
              <a:path w="95250">
                <a:moveTo>
                  <a:pt x="0" y="0"/>
                </a:moveTo>
                <a:lnTo>
                  <a:pt x="95250" y="0"/>
                </a:lnTo>
              </a:path>
            </a:pathLst>
          </a:custGeom>
          <a:ln w="9905">
            <a:solidFill>
              <a:srgbClr val="000000"/>
            </a:solidFill>
          </a:ln>
        </p:spPr>
        <p:txBody>
          <a:bodyPr wrap="square" lIns="0" tIns="0" rIns="0" bIns="0" rtlCol="0"/>
          <a:lstStyle/>
          <a:p>
            <a:endParaRPr/>
          </a:p>
        </p:txBody>
      </p:sp>
      <p:sp>
        <p:nvSpPr>
          <p:cNvPr id="203" name="object 203"/>
          <p:cNvSpPr/>
          <p:nvPr/>
        </p:nvSpPr>
        <p:spPr>
          <a:xfrm>
            <a:off x="8623553" y="5786628"/>
            <a:ext cx="104775" cy="19050"/>
          </a:xfrm>
          <a:custGeom>
            <a:avLst/>
            <a:gdLst/>
            <a:ahLst/>
            <a:cxnLst/>
            <a:rect l="l" t="t" r="r" b="b"/>
            <a:pathLst>
              <a:path w="104775" h="19050">
                <a:moveTo>
                  <a:pt x="104394" y="19050"/>
                </a:moveTo>
                <a:lnTo>
                  <a:pt x="104394" y="0"/>
                </a:lnTo>
                <a:lnTo>
                  <a:pt x="0" y="0"/>
                </a:lnTo>
                <a:lnTo>
                  <a:pt x="0" y="19050"/>
                </a:lnTo>
                <a:lnTo>
                  <a:pt x="4572" y="19050"/>
                </a:lnTo>
                <a:lnTo>
                  <a:pt x="4572" y="9906"/>
                </a:lnTo>
                <a:lnTo>
                  <a:pt x="9144" y="4572"/>
                </a:lnTo>
                <a:lnTo>
                  <a:pt x="9144" y="9906"/>
                </a:lnTo>
                <a:lnTo>
                  <a:pt x="95250" y="9906"/>
                </a:lnTo>
                <a:lnTo>
                  <a:pt x="95250" y="4572"/>
                </a:lnTo>
                <a:lnTo>
                  <a:pt x="99822" y="9906"/>
                </a:lnTo>
                <a:lnTo>
                  <a:pt x="99822" y="19050"/>
                </a:lnTo>
                <a:lnTo>
                  <a:pt x="104394" y="19050"/>
                </a:lnTo>
                <a:close/>
              </a:path>
              <a:path w="104775" h="19050">
                <a:moveTo>
                  <a:pt x="9144" y="9906"/>
                </a:moveTo>
                <a:lnTo>
                  <a:pt x="9144" y="4572"/>
                </a:lnTo>
                <a:lnTo>
                  <a:pt x="4572" y="9906"/>
                </a:lnTo>
                <a:lnTo>
                  <a:pt x="9144" y="9906"/>
                </a:lnTo>
                <a:close/>
              </a:path>
              <a:path w="104775" h="19050">
                <a:moveTo>
                  <a:pt x="99822" y="9906"/>
                </a:moveTo>
                <a:lnTo>
                  <a:pt x="4572" y="9906"/>
                </a:lnTo>
                <a:lnTo>
                  <a:pt x="9144" y="14477"/>
                </a:lnTo>
                <a:lnTo>
                  <a:pt x="9144" y="19050"/>
                </a:lnTo>
                <a:lnTo>
                  <a:pt x="95250" y="19050"/>
                </a:lnTo>
                <a:lnTo>
                  <a:pt x="95250" y="14477"/>
                </a:lnTo>
                <a:lnTo>
                  <a:pt x="99822" y="9906"/>
                </a:lnTo>
                <a:close/>
              </a:path>
              <a:path w="104775" h="19050">
                <a:moveTo>
                  <a:pt x="9144" y="19050"/>
                </a:moveTo>
                <a:lnTo>
                  <a:pt x="9144" y="14477"/>
                </a:lnTo>
                <a:lnTo>
                  <a:pt x="4572" y="9906"/>
                </a:lnTo>
                <a:lnTo>
                  <a:pt x="4572" y="19050"/>
                </a:lnTo>
                <a:lnTo>
                  <a:pt x="9144" y="19050"/>
                </a:lnTo>
                <a:close/>
              </a:path>
              <a:path w="104775" h="19050">
                <a:moveTo>
                  <a:pt x="99822" y="9906"/>
                </a:moveTo>
                <a:lnTo>
                  <a:pt x="95250" y="4572"/>
                </a:lnTo>
                <a:lnTo>
                  <a:pt x="95250" y="9906"/>
                </a:lnTo>
                <a:lnTo>
                  <a:pt x="99822" y="9906"/>
                </a:lnTo>
                <a:close/>
              </a:path>
              <a:path w="104775" h="19050">
                <a:moveTo>
                  <a:pt x="99822" y="19050"/>
                </a:moveTo>
                <a:lnTo>
                  <a:pt x="99822" y="9906"/>
                </a:lnTo>
                <a:lnTo>
                  <a:pt x="95250" y="14477"/>
                </a:lnTo>
                <a:lnTo>
                  <a:pt x="95250" y="19050"/>
                </a:lnTo>
                <a:lnTo>
                  <a:pt x="99822" y="19050"/>
                </a:lnTo>
                <a:close/>
              </a:path>
            </a:pathLst>
          </a:custGeom>
          <a:solidFill>
            <a:srgbClr val="000000"/>
          </a:solidFill>
        </p:spPr>
        <p:txBody>
          <a:bodyPr wrap="square" lIns="0" tIns="0" rIns="0" bIns="0" rtlCol="0"/>
          <a:lstStyle/>
          <a:p>
            <a:endParaRPr/>
          </a:p>
        </p:txBody>
      </p:sp>
      <p:sp>
        <p:nvSpPr>
          <p:cNvPr id="204" name="object 204"/>
          <p:cNvSpPr/>
          <p:nvPr/>
        </p:nvSpPr>
        <p:spPr>
          <a:xfrm>
            <a:off x="8714231" y="5786628"/>
            <a:ext cx="91440" cy="30480"/>
          </a:xfrm>
          <a:custGeom>
            <a:avLst/>
            <a:gdLst/>
            <a:ahLst/>
            <a:cxnLst/>
            <a:rect l="l" t="t" r="r" b="b"/>
            <a:pathLst>
              <a:path w="91440" h="30479">
                <a:moveTo>
                  <a:pt x="91440" y="23621"/>
                </a:moveTo>
                <a:lnTo>
                  <a:pt x="91440" y="6857"/>
                </a:lnTo>
                <a:lnTo>
                  <a:pt x="84582" y="0"/>
                </a:lnTo>
                <a:lnTo>
                  <a:pt x="6095" y="0"/>
                </a:lnTo>
                <a:lnTo>
                  <a:pt x="0" y="6857"/>
                </a:lnTo>
                <a:lnTo>
                  <a:pt x="0" y="23621"/>
                </a:lnTo>
                <a:lnTo>
                  <a:pt x="6096" y="30479"/>
                </a:lnTo>
                <a:lnTo>
                  <a:pt x="84582" y="30479"/>
                </a:lnTo>
                <a:lnTo>
                  <a:pt x="91440" y="23621"/>
                </a:lnTo>
                <a:close/>
              </a:path>
            </a:pathLst>
          </a:custGeom>
          <a:solidFill>
            <a:srgbClr val="000000"/>
          </a:solidFill>
        </p:spPr>
        <p:txBody>
          <a:bodyPr wrap="square" lIns="0" tIns="0" rIns="0" bIns="0" rtlCol="0"/>
          <a:lstStyle/>
          <a:p>
            <a:endParaRPr/>
          </a:p>
        </p:txBody>
      </p:sp>
      <p:sp>
        <p:nvSpPr>
          <p:cNvPr id="205" name="object 205"/>
          <p:cNvSpPr/>
          <p:nvPr/>
        </p:nvSpPr>
        <p:spPr>
          <a:xfrm>
            <a:off x="8629650" y="5862828"/>
            <a:ext cx="95250" cy="0"/>
          </a:xfrm>
          <a:custGeom>
            <a:avLst/>
            <a:gdLst/>
            <a:ahLst/>
            <a:cxnLst/>
            <a:rect l="l" t="t" r="r" b="b"/>
            <a:pathLst>
              <a:path w="95250">
                <a:moveTo>
                  <a:pt x="0" y="0"/>
                </a:moveTo>
                <a:lnTo>
                  <a:pt x="95251" y="0"/>
                </a:lnTo>
              </a:path>
            </a:pathLst>
          </a:custGeom>
          <a:ln w="9144">
            <a:solidFill>
              <a:srgbClr val="000000"/>
            </a:solidFill>
          </a:ln>
        </p:spPr>
        <p:txBody>
          <a:bodyPr wrap="square" lIns="0" tIns="0" rIns="0" bIns="0" rtlCol="0"/>
          <a:lstStyle/>
          <a:p>
            <a:endParaRPr/>
          </a:p>
        </p:txBody>
      </p:sp>
      <p:sp>
        <p:nvSpPr>
          <p:cNvPr id="206" name="object 206"/>
          <p:cNvSpPr/>
          <p:nvPr/>
        </p:nvSpPr>
        <p:spPr>
          <a:xfrm>
            <a:off x="8625077" y="5853684"/>
            <a:ext cx="104775" cy="19050"/>
          </a:xfrm>
          <a:custGeom>
            <a:avLst/>
            <a:gdLst/>
            <a:ahLst/>
            <a:cxnLst/>
            <a:rect l="l" t="t" r="r" b="b"/>
            <a:pathLst>
              <a:path w="104775" h="19050">
                <a:moveTo>
                  <a:pt x="104394" y="19050"/>
                </a:moveTo>
                <a:lnTo>
                  <a:pt x="104394" y="0"/>
                </a:lnTo>
                <a:lnTo>
                  <a:pt x="0" y="0"/>
                </a:lnTo>
                <a:lnTo>
                  <a:pt x="0" y="19050"/>
                </a:lnTo>
                <a:lnTo>
                  <a:pt x="4572" y="19050"/>
                </a:lnTo>
                <a:lnTo>
                  <a:pt x="4572" y="9143"/>
                </a:lnTo>
                <a:lnTo>
                  <a:pt x="9144" y="4571"/>
                </a:lnTo>
                <a:lnTo>
                  <a:pt x="9144" y="9143"/>
                </a:lnTo>
                <a:lnTo>
                  <a:pt x="95250" y="9143"/>
                </a:lnTo>
                <a:lnTo>
                  <a:pt x="95250" y="4571"/>
                </a:lnTo>
                <a:lnTo>
                  <a:pt x="99822" y="9143"/>
                </a:lnTo>
                <a:lnTo>
                  <a:pt x="99822" y="19050"/>
                </a:lnTo>
                <a:lnTo>
                  <a:pt x="104394" y="19050"/>
                </a:lnTo>
                <a:close/>
              </a:path>
              <a:path w="104775" h="19050">
                <a:moveTo>
                  <a:pt x="9144" y="9143"/>
                </a:moveTo>
                <a:lnTo>
                  <a:pt x="9144" y="4571"/>
                </a:lnTo>
                <a:lnTo>
                  <a:pt x="4572" y="9143"/>
                </a:lnTo>
                <a:lnTo>
                  <a:pt x="9144" y="9143"/>
                </a:lnTo>
                <a:close/>
              </a:path>
              <a:path w="104775" h="19050">
                <a:moveTo>
                  <a:pt x="99822" y="9143"/>
                </a:moveTo>
                <a:lnTo>
                  <a:pt x="4572" y="9143"/>
                </a:lnTo>
                <a:lnTo>
                  <a:pt x="9144" y="13715"/>
                </a:lnTo>
                <a:lnTo>
                  <a:pt x="9144" y="19050"/>
                </a:lnTo>
                <a:lnTo>
                  <a:pt x="95250" y="19050"/>
                </a:lnTo>
                <a:lnTo>
                  <a:pt x="95250" y="13715"/>
                </a:lnTo>
                <a:lnTo>
                  <a:pt x="99822" y="9143"/>
                </a:lnTo>
                <a:close/>
              </a:path>
              <a:path w="104775" h="19050">
                <a:moveTo>
                  <a:pt x="9144" y="19050"/>
                </a:moveTo>
                <a:lnTo>
                  <a:pt x="9144" y="13715"/>
                </a:lnTo>
                <a:lnTo>
                  <a:pt x="4572" y="9143"/>
                </a:lnTo>
                <a:lnTo>
                  <a:pt x="4572" y="19050"/>
                </a:lnTo>
                <a:lnTo>
                  <a:pt x="9144" y="19050"/>
                </a:lnTo>
                <a:close/>
              </a:path>
              <a:path w="104775" h="19050">
                <a:moveTo>
                  <a:pt x="99822" y="9143"/>
                </a:moveTo>
                <a:lnTo>
                  <a:pt x="95250" y="4571"/>
                </a:lnTo>
                <a:lnTo>
                  <a:pt x="95250" y="9143"/>
                </a:lnTo>
                <a:lnTo>
                  <a:pt x="99822" y="9143"/>
                </a:lnTo>
                <a:close/>
              </a:path>
              <a:path w="104775" h="19050">
                <a:moveTo>
                  <a:pt x="99822" y="19050"/>
                </a:moveTo>
                <a:lnTo>
                  <a:pt x="99822" y="9143"/>
                </a:lnTo>
                <a:lnTo>
                  <a:pt x="95250" y="13715"/>
                </a:lnTo>
                <a:lnTo>
                  <a:pt x="95250" y="19050"/>
                </a:lnTo>
                <a:lnTo>
                  <a:pt x="99822" y="19050"/>
                </a:lnTo>
                <a:close/>
              </a:path>
            </a:pathLst>
          </a:custGeom>
          <a:solidFill>
            <a:srgbClr val="000000"/>
          </a:solidFill>
        </p:spPr>
        <p:txBody>
          <a:bodyPr wrap="square" lIns="0" tIns="0" rIns="0" bIns="0" rtlCol="0"/>
          <a:lstStyle/>
          <a:p>
            <a:endParaRPr/>
          </a:p>
        </p:txBody>
      </p:sp>
      <p:sp>
        <p:nvSpPr>
          <p:cNvPr id="207" name="object 207"/>
          <p:cNvSpPr/>
          <p:nvPr/>
        </p:nvSpPr>
        <p:spPr>
          <a:xfrm>
            <a:off x="8713470" y="5852159"/>
            <a:ext cx="92710" cy="26670"/>
          </a:xfrm>
          <a:custGeom>
            <a:avLst/>
            <a:gdLst/>
            <a:ahLst/>
            <a:cxnLst/>
            <a:rect l="l" t="t" r="r" b="b"/>
            <a:pathLst>
              <a:path w="92709" h="26670">
                <a:moveTo>
                  <a:pt x="92202" y="20573"/>
                </a:moveTo>
                <a:lnTo>
                  <a:pt x="92202" y="5333"/>
                </a:lnTo>
                <a:lnTo>
                  <a:pt x="86106" y="0"/>
                </a:lnTo>
                <a:lnTo>
                  <a:pt x="6095" y="0"/>
                </a:lnTo>
                <a:lnTo>
                  <a:pt x="0" y="5333"/>
                </a:lnTo>
                <a:lnTo>
                  <a:pt x="0" y="20573"/>
                </a:lnTo>
                <a:lnTo>
                  <a:pt x="6096" y="26669"/>
                </a:lnTo>
                <a:lnTo>
                  <a:pt x="86106" y="26669"/>
                </a:lnTo>
                <a:lnTo>
                  <a:pt x="92202" y="20573"/>
                </a:lnTo>
                <a:close/>
              </a:path>
            </a:pathLst>
          </a:custGeom>
          <a:solidFill>
            <a:srgbClr val="000000"/>
          </a:solidFill>
        </p:spPr>
        <p:txBody>
          <a:bodyPr wrap="square" lIns="0" tIns="0" rIns="0" bIns="0" rtlCol="0"/>
          <a:lstStyle/>
          <a:p>
            <a:endParaRPr/>
          </a:p>
        </p:txBody>
      </p:sp>
      <p:sp>
        <p:nvSpPr>
          <p:cNvPr id="208" name="object 208"/>
          <p:cNvSpPr/>
          <p:nvPr/>
        </p:nvSpPr>
        <p:spPr>
          <a:xfrm>
            <a:off x="8629650" y="5929503"/>
            <a:ext cx="95250" cy="0"/>
          </a:xfrm>
          <a:custGeom>
            <a:avLst/>
            <a:gdLst/>
            <a:ahLst/>
            <a:cxnLst/>
            <a:rect l="l" t="t" r="r" b="b"/>
            <a:pathLst>
              <a:path w="95250">
                <a:moveTo>
                  <a:pt x="0" y="0"/>
                </a:moveTo>
                <a:lnTo>
                  <a:pt x="95251" y="0"/>
                </a:lnTo>
              </a:path>
            </a:pathLst>
          </a:custGeom>
          <a:ln w="9905">
            <a:solidFill>
              <a:srgbClr val="000000"/>
            </a:solidFill>
          </a:ln>
        </p:spPr>
        <p:txBody>
          <a:bodyPr wrap="square" lIns="0" tIns="0" rIns="0" bIns="0" rtlCol="0"/>
          <a:lstStyle/>
          <a:p>
            <a:endParaRPr/>
          </a:p>
        </p:txBody>
      </p:sp>
      <p:sp>
        <p:nvSpPr>
          <p:cNvPr id="209" name="object 209"/>
          <p:cNvSpPr/>
          <p:nvPr/>
        </p:nvSpPr>
        <p:spPr>
          <a:xfrm>
            <a:off x="8625077" y="5919978"/>
            <a:ext cx="104775" cy="19050"/>
          </a:xfrm>
          <a:custGeom>
            <a:avLst/>
            <a:gdLst/>
            <a:ahLst/>
            <a:cxnLst/>
            <a:rect l="l" t="t" r="r" b="b"/>
            <a:pathLst>
              <a:path w="104775" h="19050">
                <a:moveTo>
                  <a:pt x="104394" y="19050"/>
                </a:moveTo>
                <a:lnTo>
                  <a:pt x="104394" y="0"/>
                </a:lnTo>
                <a:lnTo>
                  <a:pt x="0" y="0"/>
                </a:lnTo>
                <a:lnTo>
                  <a:pt x="0" y="19050"/>
                </a:lnTo>
                <a:lnTo>
                  <a:pt x="4572" y="19050"/>
                </a:lnTo>
                <a:lnTo>
                  <a:pt x="4572" y="9906"/>
                </a:lnTo>
                <a:lnTo>
                  <a:pt x="9144" y="4572"/>
                </a:lnTo>
                <a:lnTo>
                  <a:pt x="9144" y="9906"/>
                </a:lnTo>
                <a:lnTo>
                  <a:pt x="95250" y="9906"/>
                </a:lnTo>
                <a:lnTo>
                  <a:pt x="95250" y="4572"/>
                </a:lnTo>
                <a:lnTo>
                  <a:pt x="99822" y="9906"/>
                </a:lnTo>
                <a:lnTo>
                  <a:pt x="99822" y="19050"/>
                </a:lnTo>
                <a:lnTo>
                  <a:pt x="104394" y="19050"/>
                </a:lnTo>
                <a:close/>
              </a:path>
              <a:path w="104775" h="19050">
                <a:moveTo>
                  <a:pt x="9144" y="9906"/>
                </a:moveTo>
                <a:lnTo>
                  <a:pt x="9144" y="4572"/>
                </a:lnTo>
                <a:lnTo>
                  <a:pt x="4572" y="9906"/>
                </a:lnTo>
                <a:lnTo>
                  <a:pt x="9144" y="9906"/>
                </a:lnTo>
                <a:close/>
              </a:path>
              <a:path w="104775" h="19050">
                <a:moveTo>
                  <a:pt x="99822" y="9906"/>
                </a:moveTo>
                <a:lnTo>
                  <a:pt x="4572" y="9906"/>
                </a:lnTo>
                <a:lnTo>
                  <a:pt x="9144" y="14477"/>
                </a:lnTo>
                <a:lnTo>
                  <a:pt x="9144" y="19050"/>
                </a:lnTo>
                <a:lnTo>
                  <a:pt x="95250" y="19050"/>
                </a:lnTo>
                <a:lnTo>
                  <a:pt x="95250" y="14477"/>
                </a:lnTo>
                <a:lnTo>
                  <a:pt x="99822" y="9906"/>
                </a:lnTo>
                <a:close/>
              </a:path>
              <a:path w="104775" h="19050">
                <a:moveTo>
                  <a:pt x="9144" y="19050"/>
                </a:moveTo>
                <a:lnTo>
                  <a:pt x="9144" y="14477"/>
                </a:lnTo>
                <a:lnTo>
                  <a:pt x="4572" y="9906"/>
                </a:lnTo>
                <a:lnTo>
                  <a:pt x="4572" y="19050"/>
                </a:lnTo>
                <a:lnTo>
                  <a:pt x="9144" y="19050"/>
                </a:lnTo>
                <a:close/>
              </a:path>
              <a:path w="104775" h="19050">
                <a:moveTo>
                  <a:pt x="99822" y="9906"/>
                </a:moveTo>
                <a:lnTo>
                  <a:pt x="95250" y="4572"/>
                </a:lnTo>
                <a:lnTo>
                  <a:pt x="95250" y="9906"/>
                </a:lnTo>
                <a:lnTo>
                  <a:pt x="99822" y="9906"/>
                </a:lnTo>
                <a:close/>
              </a:path>
              <a:path w="104775" h="19050">
                <a:moveTo>
                  <a:pt x="99822" y="19050"/>
                </a:moveTo>
                <a:lnTo>
                  <a:pt x="99822" y="9906"/>
                </a:lnTo>
                <a:lnTo>
                  <a:pt x="95250" y="14477"/>
                </a:lnTo>
                <a:lnTo>
                  <a:pt x="95250" y="19050"/>
                </a:lnTo>
                <a:lnTo>
                  <a:pt x="99822" y="19050"/>
                </a:lnTo>
                <a:close/>
              </a:path>
            </a:pathLst>
          </a:custGeom>
          <a:solidFill>
            <a:srgbClr val="000000"/>
          </a:solidFill>
        </p:spPr>
        <p:txBody>
          <a:bodyPr wrap="square" lIns="0" tIns="0" rIns="0" bIns="0" rtlCol="0"/>
          <a:lstStyle/>
          <a:p>
            <a:endParaRPr/>
          </a:p>
        </p:txBody>
      </p:sp>
      <p:sp>
        <p:nvSpPr>
          <p:cNvPr id="210" name="object 210"/>
          <p:cNvSpPr/>
          <p:nvPr/>
        </p:nvSpPr>
        <p:spPr>
          <a:xfrm>
            <a:off x="8631174" y="5990081"/>
            <a:ext cx="95250" cy="0"/>
          </a:xfrm>
          <a:custGeom>
            <a:avLst/>
            <a:gdLst/>
            <a:ahLst/>
            <a:cxnLst/>
            <a:rect l="l" t="t" r="r" b="b"/>
            <a:pathLst>
              <a:path w="95250">
                <a:moveTo>
                  <a:pt x="0" y="0"/>
                </a:moveTo>
                <a:lnTo>
                  <a:pt x="95251" y="0"/>
                </a:lnTo>
              </a:path>
            </a:pathLst>
          </a:custGeom>
          <a:ln w="9143">
            <a:solidFill>
              <a:srgbClr val="000000"/>
            </a:solidFill>
          </a:ln>
        </p:spPr>
        <p:txBody>
          <a:bodyPr wrap="square" lIns="0" tIns="0" rIns="0" bIns="0" rtlCol="0"/>
          <a:lstStyle/>
          <a:p>
            <a:endParaRPr/>
          </a:p>
        </p:txBody>
      </p:sp>
      <p:sp>
        <p:nvSpPr>
          <p:cNvPr id="211" name="object 211"/>
          <p:cNvSpPr/>
          <p:nvPr/>
        </p:nvSpPr>
        <p:spPr>
          <a:xfrm>
            <a:off x="8626601" y="5980176"/>
            <a:ext cx="104775" cy="19050"/>
          </a:xfrm>
          <a:custGeom>
            <a:avLst/>
            <a:gdLst/>
            <a:ahLst/>
            <a:cxnLst/>
            <a:rect l="l" t="t" r="r" b="b"/>
            <a:pathLst>
              <a:path w="104775" h="19050">
                <a:moveTo>
                  <a:pt x="104394" y="19050"/>
                </a:moveTo>
                <a:lnTo>
                  <a:pt x="104394" y="0"/>
                </a:lnTo>
                <a:lnTo>
                  <a:pt x="0" y="0"/>
                </a:lnTo>
                <a:lnTo>
                  <a:pt x="0" y="19050"/>
                </a:lnTo>
                <a:lnTo>
                  <a:pt x="4572" y="19050"/>
                </a:lnTo>
                <a:lnTo>
                  <a:pt x="4572" y="9906"/>
                </a:lnTo>
                <a:lnTo>
                  <a:pt x="9144" y="5334"/>
                </a:lnTo>
                <a:lnTo>
                  <a:pt x="9144" y="9906"/>
                </a:lnTo>
                <a:lnTo>
                  <a:pt x="95250" y="9906"/>
                </a:lnTo>
                <a:lnTo>
                  <a:pt x="95250" y="5334"/>
                </a:lnTo>
                <a:lnTo>
                  <a:pt x="99822" y="9906"/>
                </a:lnTo>
                <a:lnTo>
                  <a:pt x="99822" y="19050"/>
                </a:lnTo>
                <a:lnTo>
                  <a:pt x="104394" y="19050"/>
                </a:lnTo>
                <a:close/>
              </a:path>
              <a:path w="104775" h="19050">
                <a:moveTo>
                  <a:pt x="9144" y="9906"/>
                </a:moveTo>
                <a:lnTo>
                  <a:pt x="9144" y="5334"/>
                </a:lnTo>
                <a:lnTo>
                  <a:pt x="4572" y="9906"/>
                </a:lnTo>
                <a:lnTo>
                  <a:pt x="9144" y="9906"/>
                </a:lnTo>
                <a:close/>
              </a:path>
              <a:path w="104775" h="19050">
                <a:moveTo>
                  <a:pt x="99822" y="9906"/>
                </a:moveTo>
                <a:lnTo>
                  <a:pt x="4572" y="9906"/>
                </a:lnTo>
                <a:lnTo>
                  <a:pt x="9144" y="14477"/>
                </a:lnTo>
                <a:lnTo>
                  <a:pt x="9144" y="19050"/>
                </a:lnTo>
                <a:lnTo>
                  <a:pt x="95250" y="19050"/>
                </a:lnTo>
                <a:lnTo>
                  <a:pt x="95250" y="14477"/>
                </a:lnTo>
                <a:lnTo>
                  <a:pt x="99822" y="9906"/>
                </a:lnTo>
                <a:close/>
              </a:path>
              <a:path w="104775" h="19050">
                <a:moveTo>
                  <a:pt x="9144" y="19050"/>
                </a:moveTo>
                <a:lnTo>
                  <a:pt x="9144" y="14477"/>
                </a:lnTo>
                <a:lnTo>
                  <a:pt x="4572" y="9906"/>
                </a:lnTo>
                <a:lnTo>
                  <a:pt x="4572" y="19050"/>
                </a:lnTo>
                <a:lnTo>
                  <a:pt x="9144" y="19050"/>
                </a:lnTo>
                <a:close/>
              </a:path>
              <a:path w="104775" h="19050">
                <a:moveTo>
                  <a:pt x="99822" y="9906"/>
                </a:moveTo>
                <a:lnTo>
                  <a:pt x="95250" y="5334"/>
                </a:lnTo>
                <a:lnTo>
                  <a:pt x="95250" y="9906"/>
                </a:lnTo>
                <a:lnTo>
                  <a:pt x="99822" y="9906"/>
                </a:lnTo>
                <a:close/>
              </a:path>
              <a:path w="104775" h="19050">
                <a:moveTo>
                  <a:pt x="99822" y="19050"/>
                </a:moveTo>
                <a:lnTo>
                  <a:pt x="99822" y="9906"/>
                </a:lnTo>
                <a:lnTo>
                  <a:pt x="95250" y="14477"/>
                </a:lnTo>
                <a:lnTo>
                  <a:pt x="95250" y="19050"/>
                </a:lnTo>
                <a:lnTo>
                  <a:pt x="99822" y="19050"/>
                </a:lnTo>
                <a:close/>
              </a:path>
            </a:pathLst>
          </a:custGeom>
          <a:solidFill>
            <a:srgbClr val="000000"/>
          </a:solidFill>
        </p:spPr>
        <p:txBody>
          <a:bodyPr wrap="square" lIns="0" tIns="0" rIns="0" bIns="0" rtlCol="0"/>
          <a:lstStyle/>
          <a:p>
            <a:endParaRPr/>
          </a:p>
        </p:txBody>
      </p:sp>
      <p:sp>
        <p:nvSpPr>
          <p:cNvPr id="212" name="object 212"/>
          <p:cNvSpPr/>
          <p:nvPr/>
        </p:nvSpPr>
        <p:spPr>
          <a:xfrm>
            <a:off x="8711946" y="5924550"/>
            <a:ext cx="129540" cy="86106"/>
          </a:xfrm>
          <a:prstGeom prst="rect">
            <a:avLst/>
          </a:prstGeom>
          <a:blipFill>
            <a:blip r:embed="rId89" cstate="print"/>
            <a:stretch>
              <a:fillRect/>
            </a:stretch>
          </a:blipFill>
        </p:spPr>
        <p:txBody>
          <a:bodyPr wrap="square" lIns="0" tIns="0" rIns="0" bIns="0" rtlCol="0"/>
          <a:lstStyle/>
          <a:p>
            <a:endParaRPr/>
          </a:p>
        </p:txBody>
      </p:sp>
      <p:sp>
        <p:nvSpPr>
          <p:cNvPr id="213" name="object 213"/>
          <p:cNvSpPr/>
          <p:nvPr/>
        </p:nvSpPr>
        <p:spPr>
          <a:xfrm>
            <a:off x="8711946" y="5739384"/>
            <a:ext cx="93725" cy="458724"/>
          </a:xfrm>
          <a:prstGeom prst="rect">
            <a:avLst/>
          </a:prstGeom>
          <a:blipFill>
            <a:blip r:embed="rId90" cstate="print"/>
            <a:stretch>
              <a:fillRect/>
            </a:stretch>
          </a:blipFill>
        </p:spPr>
        <p:txBody>
          <a:bodyPr wrap="square" lIns="0" tIns="0" rIns="0" bIns="0" rtlCol="0"/>
          <a:lstStyle/>
          <a:p>
            <a:endParaRPr/>
          </a:p>
        </p:txBody>
      </p:sp>
      <p:sp>
        <p:nvSpPr>
          <p:cNvPr id="214" name="object 214"/>
          <p:cNvSpPr/>
          <p:nvPr/>
        </p:nvSpPr>
        <p:spPr>
          <a:xfrm>
            <a:off x="8788146" y="5734050"/>
            <a:ext cx="20955" cy="468630"/>
          </a:xfrm>
          <a:custGeom>
            <a:avLst/>
            <a:gdLst/>
            <a:ahLst/>
            <a:cxnLst/>
            <a:rect l="l" t="t" r="r" b="b"/>
            <a:pathLst>
              <a:path w="20954" h="468629">
                <a:moveTo>
                  <a:pt x="20574" y="468629"/>
                </a:moveTo>
                <a:lnTo>
                  <a:pt x="20574" y="0"/>
                </a:lnTo>
                <a:lnTo>
                  <a:pt x="0" y="0"/>
                </a:lnTo>
                <a:lnTo>
                  <a:pt x="0" y="468629"/>
                </a:lnTo>
                <a:lnTo>
                  <a:pt x="5333" y="468629"/>
                </a:lnTo>
                <a:lnTo>
                  <a:pt x="5333" y="9905"/>
                </a:lnTo>
                <a:lnTo>
                  <a:pt x="9905" y="5334"/>
                </a:lnTo>
                <a:lnTo>
                  <a:pt x="9905" y="9905"/>
                </a:lnTo>
                <a:lnTo>
                  <a:pt x="11429" y="9905"/>
                </a:lnTo>
                <a:lnTo>
                  <a:pt x="11429" y="5334"/>
                </a:lnTo>
                <a:lnTo>
                  <a:pt x="16001" y="9905"/>
                </a:lnTo>
                <a:lnTo>
                  <a:pt x="16001" y="468629"/>
                </a:lnTo>
                <a:lnTo>
                  <a:pt x="20574" y="468629"/>
                </a:lnTo>
                <a:close/>
              </a:path>
              <a:path w="20954" h="468629">
                <a:moveTo>
                  <a:pt x="9905" y="9905"/>
                </a:moveTo>
                <a:lnTo>
                  <a:pt x="9905" y="5334"/>
                </a:lnTo>
                <a:lnTo>
                  <a:pt x="5333" y="9905"/>
                </a:lnTo>
                <a:lnTo>
                  <a:pt x="9905" y="9905"/>
                </a:lnTo>
                <a:close/>
              </a:path>
              <a:path w="20954" h="468629">
                <a:moveTo>
                  <a:pt x="9905" y="458724"/>
                </a:moveTo>
                <a:lnTo>
                  <a:pt x="9905" y="9905"/>
                </a:lnTo>
                <a:lnTo>
                  <a:pt x="5333" y="9905"/>
                </a:lnTo>
                <a:lnTo>
                  <a:pt x="5333" y="458724"/>
                </a:lnTo>
                <a:lnTo>
                  <a:pt x="9905" y="458724"/>
                </a:lnTo>
                <a:close/>
              </a:path>
              <a:path w="20954" h="468629">
                <a:moveTo>
                  <a:pt x="16001" y="458724"/>
                </a:moveTo>
                <a:lnTo>
                  <a:pt x="5333" y="458724"/>
                </a:lnTo>
                <a:lnTo>
                  <a:pt x="9905" y="464058"/>
                </a:lnTo>
                <a:lnTo>
                  <a:pt x="9905" y="468629"/>
                </a:lnTo>
                <a:lnTo>
                  <a:pt x="11429" y="468629"/>
                </a:lnTo>
                <a:lnTo>
                  <a:pt x="11429" y="464058"/>
                </a:lnTo>
                <a:lnTo>
                  <a:pt x="16001" y="458724"/>
                </a:lnTo>
                <a:close/>
              </a:path>
              <a:path w="20954" h="468629">
                <a:moveTo>
                  <a:pt x="9905" y="468629"/>
                </a:moveTo>
                <a:lnTo>
                  <a:pt x="9905" y="464058"/>
                </a:lnTo>
                <a:lnTo>
                  <a:pt x="5333" y="458724"/>
                </a:lnTo>
                <a:lnTo>
                  <a:pt x="5333" y="468629"/>
                </a:lnTo>
                <a:lnTo>
                  <a:pt x="9905" y="468629"/>
                </a:lnTo>
                <a:close/>
              </a:path>
              <a:path w="20954" h="468629">
                <a:moveTo>
                  <a:pt x="16001" y="9905"/>
                </a:moveTo>
                <a:lnTo>
                  <a:pt x="11429" y="5334"/>
                </a:lnTo>
                <a:lnTo>
                  <a:pt x="11429" y="9905"/>
                </a:lnTo>
                <a:lnTo>
                  <a:pt x="16001" y="9905"/>
                </a:lnTo>
                <a:close/>
              </a:path>
              <a:path w="20954" h="468629">
                <a:moveTo>
                  <a:pt x="16001" y="458724"/>
                </a:moveTo>
                <a:lnTo>
                  <a:pt x="16001" y="9905"/>
                </a:lnTo>
                <a:lnTo>
                  <a:pt x="11429" y="9905"/>
                </a:lnTo>
                <a:lnTo>
                  <a:pt x="11429" y="458724"/>
                </a:lnTo>
                <a:lnTo>
                  <a:pt x="16001" y="458724"/>
                </a:lnTo>
                <a:close/>
              </a:path>
              <a:path w="20954" h="468629">
                <a:moveTo>
                  <a:pt x="16001" y="468629"/>
                </a:moveTo>
                <a:lnTo>
                  <a:pt x="16001" y="458724"/>
                </a:lnTo>
                <a:lnTo>
                  <a:pt x="11429" y="464058"/>
                </a:lnTo>
                <a:lnTo>
                  <a:pt x="11429" y="468629"/>
                </a:lnTo>
                <a:lnTo>
                  <a:pt x="16001" y="468629"/>
                </a:lnTo>
                <a:close/>
              </a:path>
            </a:pathLst>
          </a:custGeom>
          <a:solidFill>
            <a:srgbClr val="000000"/>
          </a:solidFill>
        </p:spPr>
        <p:txBody>
          <a:bodyPr wrap="square" lIns="0" tIns="0" rIns="0" bIns="0" rtlCol="0"/>
          <a:lstStyle/>
          <a:p>
            <a:endParaRPr/>
          </a:p>
        </p:txBody>
      </p:sp>
      <p:sp>
        <p:nvSpPr>
          <p:cNvPr id="215" name="object 215"/>
          <p:cNvSpPr/>
          <p:nvPr/>
        </p:nvSpPr>
        <p:spPr>
          <a:xfrm>
            <a:off x="8803386" y="5789676"/>
            <a:ext cx="39624" cy="108203"/>
          </a:xfrm>
          <a:prstGeom prst="rect">
            <a:avLst/>
          </a:prstGeom>
          <a:blipFill>
            <a:blip r:embed="rId86" cstate="print"/>
            <a:stretch>
              <a:fillRect/>
            </a:stretch>
          </a:blipFill>
        </p:spPr>
        <p:txBody>
          <a:bodyPr wrap="square" lIns="0" tIns="0" rIns="0" bIns="0" rtlCol="0"/>
          <a:lstStyle/>
          <a:p>
            <a:endParaRPr/>
          </a:p>
        </p:txBody>
      </p:sp>
      <p:sp>
        <p:nvSpPr>
          <p:cNvPr id="216" name="object 216"/>
          <p:cNvSpPr/>
          <p:nvPr/>
        </p:nvSpPr>
        <p:spPr>
          <a:xfrm>
            <a:off x="8612124" y="6177534"/>
            <a:ext cx="231648" cy="47243"/>
          </a:xfrm>
          <a:prstGeom prst="rect">
            <a:avLst/>
          </a:prstGeom>
          <a:blipFill>
            <a:blip r:embed="rId91" cstate="print"/>
            <a:stretch>
              <a:fillRect/>
            </a:stretch>
          </a:blipFill>
        </p:spPr>
        <p:txBody>
          <a:bodyPr wrap="square" lIns="0" tIns="0" rIns="0" bIns="0" rtlCol="0"/>
          <a:lstStyle/>
          <a:p>
            <a:endParaRPr/>
          </a:p>
        </p:txBody>
      </p:sp>
      <p:sp>
        <p:nvSpPr>
          <p:cNvPr id="217" name="object 217"/>
          <p:cNvSpPr/>
          <p:nvPr/>
        </p:nvSpPr>
        <p:spPr>
          <a:xfrm>
            <a:off x="8623553" y="6192773"/>
            <a:ext cx="179070" cy="26034"/>
          </a:xfrm>
          <a:custGeom>
            <a:avLst/>
            <a:gdLst/>
            <a:ahLst/>
            <a:cxnLst/>
            <a:rect l="l" t="t" r="r" b="b"/>
            <a:pathLst>
              <a:path w="179070" h="26035">
                <a:moveTo>
                  <a:pt x="762" y="17525"/>
                </a:moveTo>
                <a:lnTo>
                  <a:pt x="761" y="8381"/>
                </a:lnTo>
                <a:lnTo>
                  <a:pt x="0" y="9905"/>
                </a:lnTo>
                <a:lnTo>
                  <a:pt x="0" y="16001"/>
                </a:lnTo>
                <a:lnTo>
                  <a:pt x="762" y="17525"/>
                </a:lnTo>
                <a:close/>
              </a:path>
              <a:path w="179070" h="26035">
                <a:moveTo>
                  <a:pt x="178308" y="18287"/>
                </a:moveTo>
                <a:lnTo>
                  <a:pt x="178308" y="7619"/>
                </a:lnTo>
                <a:lnTo>
                  <a:pt x="177546" y="7619"/>
                </a:lnTo>
                <a:lnTo>
                  <a:pt x="176022" y="4571"/>
                </a:lnTo>
                <a:lnTo>
                  <a:pt x="175260" y="3809"/>
                </a:lnTo>
                <a:lnTo>
                  <a:pt x="174498" y="3809"/>
                </a:lnTo>
                <a:lnTo>
                  <a:pt x="172212" y="1523"/>
                </a:lnTo>
                <a:lnTo>
                  <a:pt x="171450" y="1523"/>
                </a:lnTo>
                <a:lnTo>
                  <a:pt x="169926" y="761"/>
                </a:lnTo>
                <a:lnTo>
                  <a:pt x="168402" y="761"/>
                </a:lnTo>
                <a:lnTo>
                  <a:pt x="166878" y="0"/>
                </a:lnTo>
                <a:lnTo>
                  <a:pt x="12191" y="761"/>
                </a:lnTo>
                <a:lnTo>
                  <a:pt x="9143" y="761"/>
                </a:lnTo>
                <a:lnTo>
                  <a:pt x="7619" y="1523"/>
                </a:lnTo>
                <a:lnTo>
                  <a:pt x="6857" y="1523"/>
                </a:lnTo>
                <a:lnTo>
                  <a:pt x="4571" y="3809"/>
                </a:lnTo>
                <a:lnTo>
                  <a:pt x="3809" y="3809"/>
                </a:lnTo>
                <a:lnTo>
                  <a:pt x="3047" y="4571"/>
                </a:lnTo>
                <a:lnTo>
                  <a:pt x="1523" y="7619"/>
                </a:lnTo>
                <a:lnTo>
                  <a:pt x="761" y="7619"/>
                </a:lnTo>
                <a:lnTo>
                  <a:pt x="762" y="18287"/>
                </a:lnTo>
                <a:lnTo>
                  <a:pt x="1524" y="19049"/>
                </a:lnTo>
                <a:lnTo>
                  <a:pt x="3048" y="21335"/>
                </a:lnTo>
                <a:lnTo>
                  <a:pt x="3048" y="22097"/>
                </a:lnTo>
                <a:lnTo>
                  <a:pt x="3810" y="22097"/>
                </a:lnTo>
                <a:lnTo>
                  <a:pt x="4572" y="22859"/>
                </a:lnTo>
                <a:lnTo>
                  <a:pt x="6858" y="24383"/>
                </a:lnTo>
                <a:lnTo>
                  <a:pt x="7620" y="25145"/>
                </a:lnTo>
                <a:lnTo>
                  <a:pt x="9144" y="25145"/>
                </a:lnTo>
                <a:lnTo>
                  <a:pt x="9144" y="12953"/>
                </a:lnTo>
                <a:lnTo>
                  <a:pt x="10668" y="9905"/>
                </a:lnTo>
                <a:lnTo>
                  <a:pt x="168402" y="9905"/>
                </a:lnTo>
                <a:lnTo>
                  <a:pt x="169926" y="12953"/>
                </a:lnTo>
                <a:lnTo>
                  <a:pt x="169926" y="25145"/>
                </a:lnTo>
                <a:lnTo>
                  <a:pt x="171450" y="25145"/>
                </a:lnTo>
                <a:lnTo>
                  <a:pt x="172212" y="24383"/>
                </a:lnTo>
                <a:lnTo>
                  <a:pt x="174498" y="22859"/>
                </a:lnTo>
                <a:lnTo>
                  <a:pt x="175260" y="22097"/>
                </a:lnTo>
                <a:lnTo>
                  <a:pt x="176022" y="22097"/>
                </a:lnTo>
                <a:lnTo>
                  <a:pt x="176022" y="21335"/>
                </a:lnTo>
                <a:lnTo>
                  <a:pt x="177546" y="19049"/>
                </a:lnTo>
                <a:lnTo>
                  <a:pt x="178308" y="18287"/>
                </a:lnTo>
                <a:close/>
              </a:path>
              <a:path w="179070" h="26035">
                <a:moveTo>
                  <a:pt x="9905" y="14477"/>
                </a:moveTo>
                <a:lnTo>
                  <a:pt x="9144" y="12953"/>
                </a:lnTo>
                <a:lnTo>
                  <a:pt x="9144" y="13715"/>
                </a:lnTo>
                <a:lnTo>
                  <a:pt x="9905" y="14477"/>
                </a:lnTo>
                <a:close/>
              </a:path>
              <a:path w="179070" h="26035">
                <a:moveTo>
                  <a:pt x="12192" y="25907"/>
                </a:moveTo>
                <a:lnTo>
                  <a:pt x="12192" y="16763"/>
                </a:lnTo>
                <a:lnTo>
                  <a:pt x="10668" y="16001"/>
                </a:lnTo>
                <a:lnTo>
                  <a:pt x="9144" y="13715"/>
                </a:lnTo>
                <a:lnTo>
                  <a:pt x="9144" y="25145"/>
                </a:lnTo>
                <a:lnTo>
                  <a:pt x="9905" y="25145"/>
                </a:lnTo>
                <a:lnTo>
                  <a:pt x="9905" y="25907"/>
                </a:lnTo>
                <a:lnTo>
                  <a:pt x="12192" y="25907"/>
                </a:lnTo>
                <a:close/>
              </a:path>
              <a:path w="179070" h="26035">
                <a:moveTo>
                  <a:pt x="12192" y="9905"/>
                </a:moveTo>
                <a:lnTo>
                  <a:pt x="10668" y="9905"/>
                </a:lnTo>
                <a:lnTo>
                  <a:pt x="9905" y="11429"/>
                </a:lnTo>
                <a:lnTo>
                  <a:pt x="12192" y="9905"/>
                </a:lnTo>
                <a:close/>
              </a:path>
              <a:path w="179070" h="26035">
                <a:moveTo>
                  <a:pt x="11430" y="16001"/>
                </a:moveTo>
                <a:lnTo>
                  <a:pt x="9905" y="14477"/>
                </a:lnTo>
                <a:lnTo>
                  <a:pt x="10668" y="16001"/>
                </a:lnTo>
                <a:lnTo>
                  <a:pt x="11430" y="16001"/>
                </a:lnTo>
                <a:close/>
              </a:path>
              <a:path w="179070" h="26035">
                <a:moveTo>
                  <a:pt x="12192" y="16763"/>
                </a:moveTo>
                <a:lnTo>
                  <a:pt x="11430" y="16001"/>
                </a:lnTo>
                <a:lnTo>
                  <a:pt x="10668" y="16001"/>
                </a:lnTo>
                <a:lnTo>
                  <a:pt x="12192" y="16763"/>
                </a:lnTo>
                <a:close/>
              </a:path>
              <a:path w="179070" h="26035">
                <a:moveTo>
                  <a:pt x="167640" y="16001"/>
                </a:moveTo>
                <a:lnTo>
                  <a:pt x="11430" y="16001"/>
                </a:lnTo>
                <a:lnTo>
                  <a:pt x="12192" y="16763"/>
                </a:lnTo>
                <a:lnTo>
                  <a:pt x="12192" y="25907"/>
                </a:lnTo>
                <a:lnTo>
                  <a:pt x="166878" y="25907"/>
                </a:lnTo>
                <a:lnTo>
                  <a:pt x="166878" y="16763"/>
                </a:lnTo>
                <a:lnTo>
                  <a:pt x="167640" y="16001"/>
                </a:lnTo>
                <a:close/>
              </a:path>
              <a:path w="179070" h="26035">
                <a:moveTo>
                  <a:pt x="169164" y="11429"/>
                </a:moveTo>
                <a:lnTo>
                  <a:pt x="168402" y="9905"/>
                </a:lnTo>
                <a:lnTo>
                  <a:pt x="166878" y="9905"/>
                </a:lnTo>
                <a:lnTo>
                  <a:pt x="169164" y="11429"/>
                </a:lnTo>
                <a:close/>
              </a:path>
              <a:path w="179070" h="26035">
                <a:moveTo>
                  <a:pt x="168402" y="16001"/>
                </a:moveTo>
                <a:lnTo>
                  <a:pt x="167640" y="16001"/>
                </a:lnTo>
                <a:lnTo>
                  <a:pt x="166878" y="16763"/>
                </a:lnTo>
                <a:lnTo>
                  <a:pt x="168402" y="16001"/>
                </a:lnTo>
                <a:close/>
              </a:path>
              <a:path w="179070" h="26035">
                <a:moveTo>
                  <a:pt x="169926" y="25145"/>
                </a:moveTo>
                <a:lnTo>
                  <a:pt x="169926" y="13715"/>
                </a:lnTo>
                <a:lnTo>
                  <a:pt x="168402" y="16001"/>
                </a:lnTo>
                <a:lnTo>
                  <a:pt x="166878" y="16763"/>
                </a:lnTo>
                <a:lnTo>
                  <a:pt x="166878" y="25907"/>
                </a:lnTo>
                <a:lnTo>
                  <a:pt x="169164" y="25907"/>
                </a:lnTo>
                <a:lnTo>
                  <a:pt x="169164" y="25145"/>
                </a:lnTo>
                <a:lnTo>
                  <a:pt x="169926" y="25145"/>
                </a:lnTo>
                <a:close/>
              </a:path>
              <a:path w="179070" h="26035">
                <a:moveTo>
                  <a:pt x="169164" y="14477"/>
                </a:moveTo>
                <a:lnTo>
                  <a:pt x="167640" y="16001"/>
                </a:lnTo>
                <a:lnTo>
                  <a:pt x="168402" y="16001"/>
                </a:lnTo>
                <a:lnTo>
                  <a:pt x="169164" y="14477"/>
                </a:lnTo>
                <a:close/>
              </a:path>
              <a:path w="179070" h="26035">
                <a:moveTo>
                  <a:pt x="169926" y="12953"/>
                </a:moveTo>
                <a:lnTo>
                  <a:pt x="169164" y="12191"/>
                </a:lnTo>
                <a:lnTo>
                  <a:pt x="169735" y="13334"/>
                </a:lnTo>
                <a:lnTo>
                  <a:pt x="169926" y="12953"/>
                </a:lnTo>
                <a:close/>
              </a:path>
              <a:path w="179070" h="26035">
                <a:moveTo>
                  <a:pt x="169926" y="13715"/>
                </a:moveTo>
                <a:lnTo>
                  <a:pt x="169735" y="13334"/>
                </a:lnTo>
                <a:lnTo>
                  <a:pt x="169164" y="14477"/>
                </a:lnTo>
                <a:lnTo>
                  <a:pt x="169926" y="13715"/>
                </a:lnTo>
                <a:close/>
              </a:path>
              <a:path w="179070" h="26035">
                <a:moveTo>
                  <a:pt x="169926" y="13715"/>
                </a:moveTo>
                <a:lnTo>
                  <a:pt x="169926" y="12953"/>
                </a:lnTo>
                <a:lnTo>
                  <a:pt x="169735" y="13334"/>
                </a:lnTo>
                <a:lnTo>
                  <a:pt x="169926" y="13715"/>
                </a:lnTo>
                <a:close/>
              </a:path>
              <a:path w="179070" h="26035">
                <a:moveTo>
                  <a:pt x="179070" y="16001"/>
                </a:moveTo>
                <a:lnTo>
                  <a:pt x="179070" y="9905"/>
                </a:lnTo>
                <a:lnTo>
                  <a:pt x="178308" y="8381"/>
                </a:lnTo>
                <a:lnTo>
                  <a:pt x="178308" y="17525"/>
                </a:lnTo>
                <a:lnTo>
                  <a:pt x="179070" y="16001"/>
                </a:lnTo>
                <a:close/>
              </a:path>
            </a:pathLst>
          </a:custGeom>
          <a:solidFill>
            <a:srgbClr val="000000"/>
          </a:solidFill>
        </p:spPr>
        <p:txBody>
          <a:bodyPr wrap="square" lIns="0" tIns="0" rIns="0" bIns="0" rtlCol="0"/>
          <a:lstStyle/>
          <a:p>
            <a:endParaRPr/>
          </a:p>
        </p:txBody>
      </p:sp>
      <p:sp>
        <p:nvSpPr>
          <p:cNvPr id="218" name="object 218"/>
          <p:cNvSpPr/>
          <p:nvPr/>
        </p:nvSpPr>
        <p:spPr>
          <a:xfrm>
            <a:off x="8644127" y="6131052"/>
            <a:ext cx="25400" cy="29209"/>
          </a:xfrm>
          <a:custGeom>
            <a:avLst/>
            <a:gdLst/>
            <a:ahLst/>
            <a:cxnLst/>
            <a:rect l="l" t="t" r="r" b="b"/>
            <a:pathLst>
              <a:path w="25400" h="29210">
                <a:moveTo>
                  <a:pt x="25146" y="22097"/>
                </a:moveTo>
                <a:lnTo>
                  <a:pt x="25146" y="6857"/>
                </a:lnTo>
                <a:lnTo>
                  <a:pt x="19812" y="0"/>
                </a:lnTo>
                <a:lnTo>
                  <a:pt x="5333" y="0"/>
                </a:lnTo>
                <a:lnTo>
                  <a:pt x="0" y="6857"/>
                </a:lnTo>
                <a:lnTo>
                  <a:pt x="0" y="22097"/>
                </a:lnTo>
                <a:lnTo>
                  <a:pt x="5334" y="28955"/>
                </a:lnTo>
                <a:lnTo>
                  <a:pt x="19812" y="28955"/>
                </a:lnTo>
                <a:lnTo>
                  <a:pt x="25146" y="22097"/>
                </a:lnTo>
                <a:close/>
              </a:path>
            </a:pathLst>
          </a:custGeom>
          <a:solidFill>
            <a:srgbClr val="33CC33"/>
          </a:solidFill>
        </p:spPr>
        <p:txBody>
          <a:bodyPr wrap="square" lIns="0" tIns="0" rIns="0" bIns="0" rtlCol="0"/>
          <a:lstStyle/>
          <a:p>
            <a:endParaRPr/>
          </a:p>
        </p:txBody>
      </p:sp>
      <p:sp>
        <p:nvSpPr>
          <p:cNvPr id="219" name="object 219"/>
          <p:cNvSpPr/>
          <p:nvPr/>
        </p:nvSpPr>
        <p:spPr>
          <a:xfrm>
            <a:off x="8672322" y="6131052"/>
            <a:ext cx="26034" cy="29209"/>
          </a:xfrm>
          <a:custGeom>
            <a:avLst/>
            <a:gdLst/>
            <a:ahLst/>
            <a:cxnLst/>
            <a:rect l="l" t="t" r="r" b="b"/>
            <a:pathLst>
              <a:path w="26034" h="29210">
                <a:moveTo>
                  <a:pt x="25908" y="22097"/>
                </a:moveTo>
                <a:lnTo>
                  <a:pt x="25908" y="6857"/>
                </a:lnTo>
                <a:lnTo>
                  <a:pt x="19812" y="0"/>
                </a:lnTo>
                <a:lnTo>
                  <a:pt x="6095" y="0"/>
                </a:lnTo>
                <a:lnTo>
                  <a:pt x="0" y="6857"/>
                </a:lnTo>
                <a:lnTo>
                  <a:pt x="0" y="22097"/>
                </a:lnTo>
                <a:lnTo>
                  <a:pt x="6096" y="28955"/>
                </a:lnTo>
                <a:lnTo>
                  <a:pt x="19812" y="28955"/>
                </a:lnTo>
                <a:lnTo>
                  <a:pt x="25908" y="22097"/>
                </a:lnTo>
                <a:close/>
              </a:path>
            </a:pathLst>
          </a:custGeom>
          <a:solidFill>
            <a:srgbClr val="FF0000"/>
          </a:solidFill>
        </p:spPr>
        <p:txBody>
          <a:bodyPr wrap="square" lIns="0" tIns="0" rIns="0" bIns="0" rtlCol="0"/>
          <a:lstStyle/>
          <a:p>
            <a:endParaRPr/>
          </a:p>
        </p:txBody>
      </p:sp>
      <p:sp>
        <p:nvSpPr>
          <p:cNvPr id="220" name="object 220"/>
          <p:cNvSpPr/>
          <p:nvPr/>
        </p:nvSpPr>
        <p:spPr>
          <a:xfrm>
            <a:off x="8699753" y="6131052"/>
            <a:ext cx="25400" cy="29209"/>
          </a:xfrm>
          <a:custGeom>
            <a:avLst/>
            <a:gdLst/>
            <a:ahLst/>
            <a:cxnLst/>
            <a:rect l="l" t="t" r="r" b="b"/>
            <a:pathLst>
              <a:path w="25400" h="29210">
                <a:moveTo>
                  <a:pt x="25146" y="22097"/>
                </a:moveTo>
                <a:lnTo>
                  <a:pt x="25146" y="6857"/>
                </a:lnTo>
                <a:lnTo>
                  <a:pt x="19050" y="0"/>
                </a:lnTo>
                <a:lnTo>
                  <a:pt x="5333" y="0"/>
                </a:lnTo>
                <a:lnTo>
                  <a:pt x="0" y="6857"/>
                </a:lnTo>
                <a:lnTo>
                  <a:pt x="0" y="22097"/>
                </a:lnTo>
                <a:lnTo>
                  <a:pt x="5334" y="28955"/>
                </a:lnTo>
                <a:lnTo>
                  <a:pt x="19050" y="28955"/>
                </a:lnTo>
                <a:lnTo>
                  <a:pt x="25146" y="22097"/>
                </a:lnTo>
                <a:close/>
              </a:path>
            </a:pathLst>
          </a:custGeom>
          <a:solidFill>
            <a:srgbClr val="33CC33"/>
          </a:solidFill>
        </p:spPr>
        <p:txBody>
          <a:bodyPr wrap="square" lIns="0" tIns="0" rIns="0" bIns="0" rtlCol="0"/>
          <a:lstStyle/>
          <a:p>
            <a:endParaRPr/>
          </a:p>
        </p:txBody>
      </p:sp>
      <p:sp>
        <p:nvSpPr>
          <p:cNvPr id="221" name="object 221"/>
          <p:cNvSpPr/>
          <p:nvPr/>
        </p:nvSpPr>
        <p:spPr>
          <a:xfrm>
            <a:off x="8771001" y="6022085"/>
            <a:ext cx="0" cy="152400"/>
          </a:xfrm>
          <a:custGeom>
            <a:avLst/>
            <a:gdLst/>
            <a:ahLst/>
            <a:cxnLst/>
            <a:rect l="l" t="t" r="r" b="b"/>
            <a:pathLst>
              <a:path h="152400">
                <a:moveTo>
                  <a:pt x="0" y="0"/>
                </a:moveTo>
                <a:lnTo>
                  <a:pt x="0" y="152400"/>
                </a:lnTo>
              </a:path>
            </a:pathLst>
          </a:custGeom>
          <a:ln w="12953">
            <a:solidFill>
              <a:srgbClr val="292929"/>
            </a:solidFill>
          </a:ln>
        </p:spPr>
        <p:txBody>
          <a:bodyPr wrap="square" lIns="0" tIns="0" rIns="0" bIns="0" rtlCol="0"/>
          <a:lstStyle/>
          <a:p>
            <a:endParaRPr/>
          </a:p>
        </p:txBody>
      </p:sp>
      <p:sp>
        <p:nvSpPr>
          <p:cNvPr id="222" name="object 222"/>
          <p:cNvSpPr/>
          <p:nvPr/>
        </p:nvSpPr>
        <p:spPr>
          <a:xfrm>
            <a:off x="8759951" y="6016752"/>
            <a:ext cx="22225" cy="162560"/>
          </a:xfrm>
          <a:custGeom>
            <a:avLst/>
            <a:gdLst/>
            <a:ahLst/>
            <a:cxnLst/>
            <a:rect l="l" t="t" r="r" b="b"/>
            <a:pathLst>
              <a:path w="22225" h="162560">
                <a:moveTo>
                  <a:pt x="22099" y="162305"/>
                </a:moveTo>
                <a:lnTo>
                  <a:pt x="22099" y="0"/>
                </a:lnTo>
                <a:lnTo>
                  <a:pt x="0" y="0"/>
                </a:lnTo>
                <a:lnTo>
                  <a:pt x="0" y="162305"/>
                </a:lnTo>
                <a:lnTo>
                  <a:pt x="4572" y="162305"/>
                </a:lnTo>
                <a:lnTo>
                  <a:pt x="4572" y="9905"/>
                </a:lnTo>
                <a:lnTo>
                  <a:pt x="9144" y="5333"/>
                </a:lnTo>
                <a:lnTo>
                  <a:pt x="9144" y="9905"/>
                </a:lnTo>
                <a:lnTo>
                  <a:pt x="12953" y="9905"/>
                </a:lnTo>
                <a:lnTo>
                  <a:pt x="12953" y="5333"/>
                </a:lnTo>
                <a:lnTo>
                  <a:pt x="17525" y="9905"/>
                </a:lnTo>
                <a:lnTo>
                  <a:pt x="17525" y="162305"/>
                </a:lnTo>
                <a:lnTo>
                  <a:pt x="22099" y="162305"/>
                </a:lnTo>
                <a:close/>
              </a:path>
              <a:path w="22225" h="162560">
                <a:moveTo>
                  <a:pt x="9144" y="9905"/>
                </a:moveTo>
                <a:lnTo>
                  <a:pt x="9144" y="5333"/>
                </a:lnTo>
                <a:lnTo>
                  <a:pt x="4572" y="9905"/>
                </a:lnTo>
                <a:lnTo>
                  <a:pt x="9144" y="9905"/>
                </a:lnTo>
                <a:close/>
              </a:path>
              <a:path w="22225" h="162560">
                <a:moveTo>
                  <a:pt x="9144" y="152399"/>
                </a:moveTo>
                <a:lnTo>
                  <a:pt x="9144" y="9905"/>
                </a:lnTo>
                <a:lnTo>
                  <a:pt x="4572" y="9905"/>
                </a:lnTo>
                <a:lnTo>
                  <a:pt x="4572" y="152399"/>
                </a:lnTo>
                <a:lnTo>
                  <a:pt x="9144" y="152399"/>
                </a:lnTo>
                <a:close/>
              </a:path>
              <a:path w="22225" h="162560">
                <a:moveTo>
                  <a:pt x="17525" y="152399"/>
                </a:moveTo>
                <a:lnTo>
                  <a:pt x="4572" y="152399"/>
                </a:lnTo>
                <a:lnTo>
                  <a:pt x="9144" y="157733"/>
                </a:lnTo>
                <a:lnTo>
                  <a:pt x="9144" y="162305"/>
                </a:lnTo>
                <a:lnTo>
                  <a:pt x="12953" y="162305"/>
                </a:lnTo>
                <a:lnTo>
                  <a:pt x="12953" y="157733"/>
                </a:lnTo>
                <a:lnTo>
                  <a:pt x="17525" y="152399"/>
                </a:lnTo>
                <a:close/>
              </a:path>
              <a:path w="22225" h="162560">
                <a:moveTo>
                  <a:pt x="9144" y="162305"/>
                </a:moveTo>
                <a:lnTo>
                  <a:pt x="9144" y="157733"/>
                </a:lnTo>
                <a:lnTo>
                  <a:pt x="4572" y="152399"/>
                </a:lnTo>
                <a:lnTo>
                  <a:pt x="4572" y="162305"/>
                </a:lnTo>
                <a:lnTo>
                  <a:pt x="9144" y="162305"/>
                </a:lnTo>
                <a:close/>
              </a:path>
              <a:path w="22225" h="162560">
                <a:moveTo>
                  <a:pt x="17525" y="9905"/>
                </a:moveTo>
                <a:lnTo>
                  <a:pt x="12953" y="5333"/>
                </a:lnTo>
                <a:lnTo>
                  <a:pt x="12953" y="9905"/>
                </a:lnTo>
                <a:lnTo>
                  <a:pt x="17525" y="9905"/>
                </a:lnTo>
                <a:close/>
              </a:path>
              <a:path w="22225" h="162560">
                <a:moveTo>
                  <a:pt x="17525" y="152399"/>
                </a:moveTo>
                <a:lnTo>
                  <a:pt x="17525" y="9905"/>
                </a:lnTo>
                <a:lnTo>
                  <a:pt x="12953" y="9905"/>
                </a:lnTo>
                <a:lnTo>
                  <a:pt x="12953" y="152399"/>
                </a:lnTo>
                <a:lnTo>
                  <a:pt x="17525" y="152399"/>
                </a:lnTo>
                <a:close/>
              </a:path>
              <a:path w="22225" h="162560">
                <a:moveTo>
                  <a:pt x="17525" y="162305"/>
                </a:moveTo>
                <a:lnTo>
                  <a:pt x="17525" y="152399"/>
                </a:lnTo>
                <a:lnTo>
                  <a:pt x="12953" y="157733"/>
                </a:lnTo>
                <a:lnTo>
                  <a:pt x="12953" y="162305"/>
                </a:lnTo>
                <a:lnTo>
                  <a:pt x="17525" y="162305"/>
                </a:lnTo>
                <a:close/>
              </a:path>
            </a:pathLst>
          </a:custGeom>
          <a:solidFill>
            <a:srgbClr val="000000"/>
          </a:solidFill>
        </p:spPr>
        <p:txBody>
          <a:bodyPr wrap="square" lIns="0" tIns="0" rIns="0" bIns="0" rtlCol="0"/>
          <a:lstStyle/>
          <a:p>
            <a:endParaRPr/>
          </a:p>
        </p:txBody>
      </p:sp>
      <p:sp>
        <p:nvSpPr>
          <p:cNvPr id="223" name="object 223"/>
          <p:cNvSpPr/>
          <p:nvPr/>
        </p:nvSpPr>
        <p:spPr>
          <a:xfrm>
            <a:off x="5994654" y="2478785"/>
            <a:ext cx="425957" cy="97536"/>
          </a:xfrm>
          <a:prstGeom prst="rect">
            <a:avLst/>
          </a:prstGeom>
          <a:blipFill>
            <a:blip r:embed="rId92" cstate="print"/>
            <a:stretch>
              <a:fillRect/>
            </a:stretch>
          </a:blipFill>
        </p:spPr>
        <p:txBody>
          <a:bodyPr wrap="square" lIns="0" tIns="0" rIns="0" bIns="0" rtlCol="0"/>
          <a:lstStyle/>
          <a:p>
            <a:endParaRPr/>
          </a:p>
        </p:txBody>
      </p:sp>
      <p:sp>
        <p:nvSpPr>
          <p:cNvPr id="224" name="object 224"/>
          <p:cNvSpPr/>
          <p:nvPr/>
        </p:nvSpPr>
        <p:spPr>
          <a:xfrm>
            <a:off x="6017514" y="2720339"/>
            <a:ext cx="441959" cy="171450"/>
          </a:xfrm>
          <a:prstGeom prst="rect">
            <a:avLst/>
          </a:prstGeom>
          <a:blipFill>
            <a:blip r:embed="rId93" cstate="print"/>
            <a:stretch>
              <a:fillRect/>
            </a:stretch>
          </a:blipFill>
        </p:spPr>
        <p:txBody>
          <a:bodyPr wrap="square" lIns="0" tIns="0" rIns="0" bIns="0" rtlCol="0"/>
          <a:lstStyle/>
          <a:p>
            <a:endParaRPr/>
          </a:p>
        </p:txBody>
      </p:sp>
      <p:sp>
        <p:nvSpPr>
          <p:cNvPr id="225" name="object 225"/>
          <p:cNvSpPr/>
          <p:nvPr/>
        </p:nvSpPr>
        <p:spPr>
          <a:xfrm>
            <a:off x="6160008" y="2565654"/>
            <a:ext cx="367284" cy="219455"/>
          </a:xfrm>
          <a:prstGeom prst="rect">
            <a:avLst/>
          </a:prstGeom>
          <a:blipFill>
            <a:blip r:embed="rId94" cstate="print"/>
            <a:stretch>
              <a:fillRect/>
            </a:stretch>
          </a:blipFill>
        </p:spPr>
        <p:txBody>
          <a:bodyPr wrap="square" lIns="0" tIns="0" rIns="0" bIns="0" rtlCol="0"/>
          <a:lstStyle/>
          <a:p>
            <a:endParaRPr/>
          </a:p>
        </p:txBody>
      </p:sp>
      <p:sp>
        <p:nvSpPr>
          <p:cNvPr id="226" name="object 226"/>
          <p:cNvSpPr/>
          <p:nvPr/>
        </p:nvSpPr>
        <p:spPr>
          <a:xfrm>
            <a:off x="6160770" y="2565654"/>
            <a:ext cx="364236" cy="215646"/>
          </a:xfrm>
          <a:prstGeom prst="rect">
            <a:avLst/>
          </a:prstGeom>
          <a:blipFill>
            <a:blip r:embed="rId95" cstate="print"/>
            <a:stretch>
              <a:fillRect/>
            </a:stretch>
          </a:blipFill>
        </p:spPr>
        <p:txBody>
          <a:bodyPr wrap="square" lIns="0" tIns="0" rIns="0" bIns="0" rtlCol="0"/>
          <a:lstStyle/>
          <a:p>
            <a:endParaRPr/>
          </a:p>
        </p:txBody>
      </p:sp>
      <p:sp>
        <p:nvSpPr>
          <p:cNvPr id="227" name="object 227"/>
          <p:cNvSpPr/>
          <p:nvPr/>
        </p:nvSpPr>
        <p:spPr>
          <a:xfrm>
            <a:off x="6445758" y="2596133"/>
            <a:ext cx="83820" cy="186690"/>
          </a:xfrm>
          <a:custGeom>
            <a:avLst/>
            <a:gdLst/>
            <a:ahLst/>
            <a:cxnLst/>
            <a:rect l="l" t="t" r="r" b="b"/>
            <a:pathLst>
              <a:path w="83820" h="186689">
                <a:moveTo>
                  <a:pt x="83820" y="0"/>
                </a:moveTo>
                <a:lnTo>
                  <a:pt x="80772" y="0"/>
                </a:lnTo>
                <a:lnTo>
                  <a:pt x="0" y="185166"/>
                </a:lnTo>
                <a:lnTo>
                  <a:pt x="9144" y="186690"/>
                </a:lnTo>
                <a:lnTo>
                  <a:pt x="83820" y="0"/>
                </a:lnTo>
                <a:close/>
              </a:path>
            </a:pathLst>
          </a:custGeom>
          <a:solidFill>
            <a:srgbClr val="4D4D4D"/>
          </a:solidFill>
        </p:spPr>
        <p:txBody>
          <a:bodyPr wrap="square" lIns="0" tIns="0" rIns="0" bIns="0" rtlCol="0"/>
          <a:lstStyle/>
          <a:p>
            <a:endParaRPr/>
          </a:p>
        </p:txBody>
      </p:sp>
      <p:sp>
        <p:nvSpPr>
          <p:cNvPr id="228" name="object 228"/>
          <p:cNvSpPr/>
          <p:nvPr/>
        </p:nvSpPr>
        <p:spPr>
          <a:xfrm>
            <a:off x="6156198" y="2793492"/>
            <a:ext cx="99060" cy="36830"/>
          </a:xfrm>
          <a:custGeom>
            <a:avLst/>
            <a:gdLst/>
            <a:ahLst/>
            <a:cxnLst/>
            <a:rect l="l" t="t" r="r" b="b"/>
            <a:pathLst>
              <a:path w="99060" h="36830">
                <a:moveTo>
                  <a:pt x="99060" y="13715"/>
                </a:moveTo>
                <a:lnTo>
                  <a:pt x="38862" y="0"/>
                </a:lnTo>
                <a:lnTo>
                  <a:pt x="0" y="20574"/>
                </a:lnTo>
                <a:lnTo>
                  <a:pt x="61722" y="36576"/>
                </a:lnTo>
                <a:lnTo>
                  <a:pt x="99060" y="13715"/>
                </a:lnTo>
                <a:close/>
              </a:path>
            </a:pathLst>
          </a:custGeom>
          <a:solidFill>
            <a:srgbClr val="000099"/>
          </a:solidFill>
        </p:spPr>
        <p:txBody>
          <a:bodyPr wrap="square" lIns="0" tIns="0" rIns="0" bIns="0" rtlCol="0"/>
          <a:lstStyle/>
          <a:p>
            <a:endParaRPr/>
          </a:p>
        </p:txBody>
      </p:sp>
      <p:sp>
        <p:nvSpPr>
          <p:cNvPr id="229" name="object 229"/>
          <p:cNvSpPr/>
          <p:nvPr/>
        </p:nvSpPr>
        <p:spPr>
          <a:xfrm>
            <a:off x="6158484" y="2727198"/>
            <a:ext cx="294132" cy="102107"/>
          </a:xfrm>
          <a:prstGeom prst="rect">
            <a:avLst/>
          </a:prstGeom>
          <a:blipFill>
            <a:blip r:embed="rId96" cstate="print"/>
            <a:stretch>
              <a:fillRect/>
            </a:stretch>
          </a:blipFill>
        </p:spPr>
        <p:txBody>
          <a:bodyPr wrap="square" lIns="0" tIns="0" rIns="0" bIns="0" rtlCol="0"/>
          <a:lstStyle/>
          <a:p>
            <a:endParaRPr/>
          </a:p>
        </p:txBody>
      </p:sp>
      <p:sp>
        <p:nvSpPr>
          <p:cNvPr id="230" name="object 230"/>
          <p:cNvSpPr/>
          <p:nvPr/>
        </p:nvSpPr>
        <p:spPr>
          <a:xfrm>
            <a:off x="6165341" y="2807970"/>
            <a:ext cx="34290" cy="11430"/>
          </a:xfrm>
          <a:custGeom>
            <a:avLst/>
            <a:gdLst/>
            <a:ahLst/>
            <a:cxnLst/>
            <a:rect l="l" t="t" r="r" b="b"/>
            <a:pathLst>
              <a:path w="34289" h="11430">
                <a:moveTo>
                  <a:pt x="34290" y="5334"/>
                </a:moveTo>
                <a:lnTo>
                  <a:pt x="9906" y="0"/>
                </a:lnTo>
                <a:lnTo>
                  <a:pt x="0" y="4572"/>
                </a:lnTo>
                <a:lnTo>
                  <a:pt x="24384" y="11430"/>
                </a:lnTo>
                <a:lnTo>
                  <a:pt x="34290" y="5334"/>
                </a:lnTo>
                <a:close/>
              </a:path>
            </a:pathLst>
          </a:custGeom>
          <a:solidFill>
            <a:srgbClr val="00CC99"/>
          </a:solidFill>
        </p:spPr>
        <p:txBody>
          <a:bodyPr wrap="square" lIns="0" tIns="0" rIns="0" bIns="0" rtlCol="0"/>
          <a:lstStyle/>
          <a:p>
            <a:endParaRPr/>
          </a:p>
        </p:txBody>
      </p:sp>
      <p:sp>
        <p:nvSpPr>
          <p:cNvPr id="231" name="object 231"/>
          <p:cNvSpPr/>
          <p:nvPr/>
        </p:nvSpPr>
        <p:spPr>
          <a:xfrm>
            <a:off x="6164579" y="2813304"/>
            <a:ext cx="25400" cy="6985"/>
          </a:xfrm>
          <a:custGeom>
            <a:avLst/>
            <a:gdLst/>
            <a:ahLst/>
            <a:cxnLst/>
            <a:rect l="l" t="t" r="r" b="b"/>
            <a:pathLst>
              <a:path w="25400" h="6985">
                <a:moveTo>
                  <a:pt x="25146" y="5333"/>
                </a:moveTo>
                <a:lnTo>
                  <a:pt x="1524" y="0"/>
                </a:lnTo>
                <a:lnTo>
                  <a:pt x="0" y="762"/>
                </a:lnTo>
                <a:lnTo>
                  <a:pt x="23622" y="6857"/>
                </a:lnTo>
                <a:lnTo>
                  <a:pt x="25146" y="5333"/>
                </a:lnTo>
                <a:close/>
              </a:path>
            </a:pathLst>
          </a:custGeom>
          <a:solidFill>
            <a:srgbClr val="000099"/>
          </a:solidFill>
        </p:spPr>
        <p:txBody>
          <a:bodyPr wrap="square" lIns="0" tIns="0" rIns="0" bIns="0" rtlCol="0"/>
          <a:lstStyle/>
          <a:p>
            <a:endParaRPr/>
          </a:p>
        </p:txBody>
      </p:sp>
      <p:sp>
        <p:nvSpPr>
          <p:cNvPr id="232" name="object 232"/>
          <p:cNvSpPr/>
          <p:nvPr/>
        </p:nvSpPr>
        <p:spPr>
          <a:xfrm>
            <a:off x="6193535" y="2814827"/>
            <a:ext cx="33655" cy="11430"/>
          </a:xfrm>
          <a:custGeom>
            <a:avLst/>
            <a:gdLst/>
            <a:ahLst/>
            <a:cxnLst/>
            <a:rect l="l" t="t" r="r" b="b"/>
            <a:pathLst>
              <a:path w="33654" h="11430">
                <a:moveTo>
                  <a:pt x="33528" y="6096"/>
                </a:moveTo>
                <a:lnTo>
                  <a:pt x="9144" y="0"/>
                </a:lnTo>
                <a:lnTo>
                  <a:pt x="0" y="5334"/>
                </a:lnTo>
                <a:lnTo>
                  <a:pt x="23622" y="11430"/>
                </a:lnTo>
                <a:lnTo>
                  <a:pt x="33528" y="6096"/>
                </a:lnTo>
                <a:close/>
              </a:path>
            </a:pathLst>
          </a:custGeom>
          <a:solidFill>
            <a:srgbClr val="00CC99"/>
          </a:solidFill>
        </p:spPr>
        <p:txBody>
          <a:bodyPr wrap="square" lIns="0" tIns="0" rIns="0" bIns="0" rtlCol="0"/>
          <a:lstStyle/>
          <a:p>
            <a:endParaRPr/>
          </a:p>
        </p:txBody>
      </p:sp>
      <p:sp>
        <p:nvSpPr>
          <p:cNvPr id="233" name="object 233"/>
          <p:cNvSpPr/>
          <p:nvPr/>
        </p:nvSpPr>
        <p:spPr>
          <a:xfrm>
            <a:off x="6192011" y="2820161"/>
            <a:ext cx="25400" cy="7620"/>
          </a:xfrm>
          <a:custGeom>
            <a:avLst/>
            <a:gdLst/>
            <a:ahLst/>
            <a:cxnLst/>
            <a:rect l="l" t="t" r="r" b="b"/>
            <a:pathLst>
              <a:path w="25400" h="7619">
                <a:moveTo>
                  <a:pt x="25146" y="6095"/>
                </a:moveTo>
                <a:lnTo>
                  <a:pt x="1524" y="0"/>
                </a:lnTo>
                <a:lnTo>
                  <a:pt x="0" y="1524"/>
                </a:lnTo>
                <a:lnTo>
                  <a:pt x="23622" y="7619"/>
                </a:lnTo>
                <a:lnTo>
                  <a:pt x="25146" y="6095"/>
                </a:lnTo>
                <a:close/>
              </a:path>
            </a:pathLst>
          </a:custGeom>
          <a:solidFill>
            <a:srgbClr val="000099"/>
          </a:solidFill>
        </p:spPr>
        <p:txBody>
          <a:bodyPr wrap="square" lIns="0" tIns="0" rIns="0" bIns="0" rtlCol="0"/>
          <a:lstStyle/>
          <a:p>
            <a:endParaRPr/>
          </a:p>
        </p:txBody>
      </p:sp>
      <p:sp>
        <p:nvSpPr>
          <p:cNvPr id="234" name="object 234"/>
          <p:cNvSpPr/>
          <p:nvPr/>
        </p:nvSpPr>
        <p:spPr>
          <a:xfrm>
            <a:off x="6325361" y="2798826"/>
            <a:ext cx="120014" cy="81280"/>
          </a:xfrm>
          <a:custGeom>
            <a:avLst/>
            <a:gdLst/>
            <a:ahLst/>
            <a:cxnLst/>
            <a:rect l="l" t="t" r="r" b="b"/>
            <a:pathLst>
              <a:path w="120014" h="81280">
                <a:moveTo>
                  <a:pt x="119634" y="6095"/>
                </a:moveTo>
                <a:lnTo>
                  <a:pt x="119634" y="0"/>
                </a:lnTo>
                <a:lnTo>
                  <a:pt x="762" y="75437"/>
                </a:lnTo>
                <a:lnTo>
                  <a:pt x="0" y="80771"/>
                </a:lnTo>
                <a:lnTo>
                  <a:pt x="119634" y="6095"/>
                </a:lnTo>
                <a:close/>
              </a:path>
            </a:pathLst>
          </a:custGeom>
          <a:solidFill>
            <a:srgbClr val="000099"/>
          </a:solidFill>
        </p:spPr>
        <p:txBody>
          <a:bodyPr wrap="square" lIns="0" tIns="0" rIns="0" bIns="0" rtlCol="0"/>
          <a:lstStyle/>
          <a:p>
            <a:endParaRPr/>
          </a:p>
        </p:txBody>
      </p:sp>
      <p:sp>
        <p:nvSpPr>
          <p:cNvPr id="235" name="object 235"/>
          <p:cNvSpPr/>
          <p:nvPr/>
        </p:nvSpPr>
        <p:spPr>
          <a:xfrm>
            <a:off x="6020561" y="2805683"/>
            <a:ext cx="306070" cy="73660"/>
          </a:xfrm>
          <a:custGeom>
            <a:avLst/>
            <a:gdLst/>
            <a:ahLst/>
            <a:cxnLst/>
            <a:rect l="l" t="t" r="r" b="b"/>
            <a:pathLst>
              <a:path w="306070" h="73660">
                <a:moveTo>
                  <a:pt x="305562" y="73151"/>
                </a:moveTo>
                <a:lnTo>
                  <a:pt x="305562" y="68579"/>
                </a:lnTo>
                <a:lnTo>
                  <a:pt x="3810" y="0"/>
                </a:lnTo>
                <a:lnTo>
                  <a:pt x="762" y="0"/>
                </a:lnTo>
                <a:lnTo>
                  <a:pt x="0" y="2286"/>
                </a:lnTo>
                <a:lnTo>
                  <a:pt x="305562" y="73151"/>
                </a:lnTo>
                <a:close/>
              </a:path>
            </a:pathLst>
          </a:custGeom>
          <a:solidFill>
            <a:srgbClr val="000099"/>
          </a:solidFill>
        </p:spPr>
        <p:txBody>
          <a:bodyPr wrap="square" lIns="0" tIns="0" rIns="0" bIns="0" rtlCol="0"/>
          <a:lstStyle/>
          <a:p>
            <a:endParaRPr/>
          </a:p>
        </p:txBody>
      </p:sp>
      <p:sp>
        <p:nvSpPr>
          <p:cNvPr id="236" name="object 236"/>
          <p:cNvSpPr/>
          <p:nvPr/>
        </p:nvSpPr>
        <p:spPr>
          <a:xfrm>
            <a:off x="6020561" y="2731007"/>
            <a:ext cx="142494" cy="75437"/>
          </a:xfrm>
          <a:prstGeom prst="rect">
            <a:avLst/>
          </a:prstGeom>
          <a:blipFill>
            <a:blip r:embed="rId97" cstate="print"/>
            <a:stretch>
              <a:fillRect/>
            </a:stretch>
          </a:blipFill>
        </p:spPr>
        <p:txBody>
          <a:bodyPr wrap="square" lIns="0" tIns="0" rIns="0" bIns="0" rtlCol="0"/>
          <a:lstStyle/>
          <a:p>
            <a:endParaRPr/>
          </a:p>
        </p:txBody>
      </p:sp>
      <p:sp>
        <p:nvSpPr>
          <p:cNvPr id="237" name="object 237"/>
          <p:cNvSpPr/>
          <p:nvPr/>
        </p:nvSpPr>
        <p:spPr>
          <a:xfrm>
            <a:off x="6030467" y="2795016"/>
            <a:ext cx="290830" cy="71120"/>
          </a:xfrm>
          <a:custGeom>
            <a:avLst/>
            <a:gdLst/>
            <a:ahLst/>
            <a:cxnLst/>
            <a:rect l="l" t="t" r="r" b="b"/>
            <a:pathLst>
              <a:path w="290829" h="71119">
                <a:moveTo>
                  <a:pt x="290322" y="66293"/>
                </a:moveTo>
                <a:lnTo>
                  <a:pt x="3810" y="0"/>
                </a:lnTo>
                <a:lnTo>
                  <a:pt x="762" y="0"/>
                </a:lnTo>
                <a:lnTo>
                  <a:pt x="0" y="2286"/>
                </a:lnTo>
                <a:lnTo>
                  <a:pt x="289560" y="70865"/>
                </a:lnTo>
                <a:lnTo>
                  <a:pt x="290322" y="66293"/>
                </a:lnTo>
                <a:close/>
              </a:path>
            </a:pathLst>
          </a:custGeom>
          <a:solidFill>
            <a:srgbClr val="000099"/>
          </a:solidFill>
        </p:spPr>
        <p:txBody>
          <a:bodyPr wrap="square" lIns="0" tIns="0" rIns="0" bIns="0" rtlCol="0"/>
          <a:lstStyle/>
          <a:p>
            <a:endParaRPr/>
          </a:p>
        </p:txBody>
      </p:sp>
      <p:sp>
        <p:nvSpPr>
          <p:cNvPr id="238" name="object 238"/>
          <p:cNvSpPr/>
          <p:nvPr/>
        </p:nvSpPr>
        <p:spPr>
          <a:xfrm>
            <a:off x="6320028" y="2789682"/>
            <a:ext cx="118110" cy="74295"/>
          </a:xfrm>
          <a:custGeom>
            <a:avLst/>
            <a:gdLst/>
            <a:ahLst/>
            <a:cxnLst/>
            <a:rect l="l" t="t" r="r" b="b"/>
            <a:pathLst>
              <a:path w="118110" h="74294">
                <a:moveTo>
                  <a:pt x="118110" y="4571"/>
                </a:moveTo>
                <a:lnTo>
                  <a:pt x="118110" y="0"/>
                </a:lnTo>
                <a:lnTo>
                  <a:pt x="0" y="71627"/>
                </a:lnTo>
                <a:lnTo>
                  <a:pt x="0" y="73913"/>
                </a:lnTo>
                <a:lnTo>
                  <a:pt x="1524" y="73913"/>
                </a:lnTo>
                <a:lnTo>
                  <a:pt x="118110" y="4571"/>
                </a:lnTo>
                <a:close/>
              </a:path>
            </a:pathLst>
          </a:custGeom>
          <a:solidFill>
            <a:srgbClr val="000099"/>
          </a:solidFill>
        </p:spPr>
        <p:txBody>
          <a:bodyPr wrap="square" lIns="0" tIns="0" rIns="0" bIns="0" rtlCol="0"/>
          <a:lstStyle/>
          <a:p>
            <a:endParaRPr/>
          </a:p>
        </p:txBody>
      </p:sp>
      <p:sp>
        <p:nvSpPr>
          <p:cNvPr id="239" name="object 239"/>
          <p:cNvSpPr/>
          <p:nvPr/>
        </p:nvSpPr>
        <p:spPr>
          <a:xfrm>
            <a:off x="7564374" y="5921502"/>
            <a:ext cx="370332" cy="99060"/>
          </a:xfrm>
          <a:prstGeom prst="rect">
            <a:avLst/>
          </a:prstGeom>
          <a:blipFill>
            <a:blip r:embed="rId98" cstate="print"/>
            <a:stretch>
              <a:fillRect/>
            </a:stretch>
          </a:blipFill>
        </p:spPr>
        <p:txBody>
          <a:bodyPr wrap="square" lIns="0" tIns="0" rIns="0" bIns="0" rtlCol="0"/>
          <a:lstStyle/>
          <a:p>
            <a:endParaRPr/>
          </a:p>
        </p:txBody>
      </p:sp>
      <p:sp>
        <p:nvSpPr>
          <p:cNvPr id="240" name="object 240"/>
          <p:cNvSpPr/>
          <p:nvPr/>
        </p:nvSpPr>
        <p:spPr>
          <a:xfrm>
            <a:off x="7710677" y="6009132"/>
            <a:ext cx="326897" cy="219455"/>
          </a:xfrm>
          <a:prstGeom prst="rect">
            <a:avLst/>
          </a:prstGeom>
          <a:blipFill>
            <a:blip r:embed="rId99" cstate="print"/>
            <a:stretch>
              <a:fillRect/>
            </a:stretch>
          </a:blipFill>
        </p:spPr>
        <p:txBody>
          <a:bodyPr wrap="square" lIns="0" tIns="0" rIns="0" bIns="0" rtlCol="0"/>
          <a:lstStyle/>
          <a:p>
            <a:endParaRPr/>
          </a:p>
        </p:txBody>
      </p:sp>
      <p:sp>
        <p:nvSpPr>
          <p:cNvPr id="241" name="object 241"/>
          <p:cNvSpPr/>
          <p:nvPr/>
        </p:nvSpPr>
        <p:spPr>
          <a:xfrm>
            <a:off x="7712201" y="6009132"/>
            <a:ext cx="323088" cy="215645"/>
          </a:xfrm>
          <a:prstGeom prst="rect">
            <a:avLst/>
          </a:prstGeom>
          <a:blipFill>
            <a:blip r:embed="rId100" cstate="print"/>
            <a:stretch>
              <a:fillRect/>
            </a:stretch>
          </a:blipFill>
        </p:spPr>
        <p:txBody>
          <a:bodyPr wrap="square" lIns="0" tIns="0" rIns="0" bIns="0" rtlCol="0"/>
          <a:lstStyle/>
          <a:p>
            <a:endParaRPr/>
          </a:p>
        </p:txBody>
      </p:sp>
      <p:sp>
        <p:nvSpPr>
          <p:cNvPr id="242" name="object 242"/>
          <p:cNvSpPr/>
          <p:nvPr/>
        </p:nvSpPr>
        <p:spPr>
          <a:xfrm>
            <a:off x="7965186" y="6039611"/>
            <a:ext cx="74295" cy="186690"/>
          </a:xfrm>
          <a:custGeom>
            <a:avLst/>
            <a:gdLst/>
            <a:ahLst/>
            <a:cxnLst/>
            <a:rect l="l" t="t" r="r" b="b"/>
            <a:pathLst>
              <a:path w="74295" h="186689">
                <a:moveTo>
                  <a:pt x="73913" y="0"/>
                </a:moveTo>
                <a:lnTo>
                  <a:pt x="71627" y="0"/>
                </a:lnTo>
                <a:lnTo>
                  <a:pt x="0" y="185166"/>
                </a:lnTo>
                <a:lnTo>
                  <a:pt x="7619" y="186690"/>
                </a:lnTo>
                <a:lnTo>
                  <a:pt x="73913" y="0"/>
                </a:lnTo>
                <a:close/>
              </a:path>
            </a:pathLst>
          </a:custGeom>
          <a:solidFill>
            <a:srgbClr val="4D4D4D"/>
          </a:solidFill>
        </p:spPr>
        <p:txBody>
          <a:bodyPr wrap="square" lIns="0" tIns="0" rIns="0" bIns="0" rtlCol="0"/>
          <a:lstStyle/>
          <a:p>
            <a:endParaRPr/>
          </a:p>
        </p:txBody>
      </p:sp>
      <p:sp>
        <p:nvSpPr>
          <p:cNvPr id="243" name="object 243"/>
          <p:cNvSpPr/>
          <p:nvPr/>
        </p:nvSpPr>
        <p:spPr>
          <a:xfrm>
            <a:off x="7708391" y="6236970"/>
            <a:ext cx="87630" cy="36830"/>
          </a:xfrm>
          <a:custGeom>
            <a:avLst/>
            <a:gdLst/>
            <a:ahLst/>
            <a:cxnLst/>
            <a:rect l="l" t="t" r="r" b="b"/>
            <a:pathLst>
              <a:path w="87629" h="36829">
                <a:moveTo>
                  <a:pt x="87630" y="13715"/>
                </a:moveTo>
                <a:lnTo>
                  <a:pt x="34290" y="0"/>
                </a:lnTo>
                <a:lnTo>
                  <a:pt x="0" y="20574"/>
                </a:lnTo>
                <a:lnTo>
                  <a:pt x="54864" y="36576"/>
                </a:lnTo>
                <a:lnTo>
                  <a:pt x="87630" y="13715"/>
                </a:lnTo>
                <a:close/>
              </a:path>
            </a:pathLst>
          </a:custGeom>
          <a:solidFill>
            <a:srgbClr val="000099"/>
          </a:solidFill>
        </p:spPr>
        <p:txBody>
          <a:bodyPr wrap="square" lIns="0" tIns="0" rIns="0" bIns="0" rtlCol="0"/>
          <a:lstStyle/>
          <a:p>
            <a:endParaRPr/>
          </a:p>
        </p:txBody>
      </p:sp>
      <p:sp>
        <p:nvSpPr>
          <p:cNvPr id="244" name="object 244"/>
          <p:cNvSpPr/>
          <p:nvPr/>
        </p:nvSpPr>
        <p:spPr>
          <a:xfrm>
            <a:off x="7709915" y="6170676"/>
            <a:ext cx="260603" cy="102108"/>
          </a:xfrm>
          <a:prstGeom prst="rect">
            <a:avLst/>
          </a:prstGeom>
          <a:blipFill>
            <a:blip r:embed="rId101" cstate="print"/>
            <a:stretch>
              <a:fillRect/>
            </a:stretch>
          </a:blipFill>
        </p:spPr>
        <p:txBody>
          <a:bodyPr wrap="square" lIns="0" tIns="0" rIns="0" bIns="0" rtlCol="0"/>
          <a:lstStyle/>
          <a:p>
            <a:endParaRPr/>
          </a:p>
        </p:txBody>
      </p:sp>
      <p:sp>
        <p:nvSpPr>
          <p:cNvPr id="245" name="object 245"/>
          <p:cNvSpPr/>
          <p:nvPr/>
        </p:nvSpPr>
        <p:spPr>
          <a:xfrm>
            <a:off x="7716012" y="6251447"/>
            <a:ext cx="30480" cy="10795"/>
          </a:xfrm>
          <a:custGeom>
            <a:avLst/>
            <a:gdLst/>
            <a:ahLst/>
            <a:cxnLst/>
            <a:rect l="l" t="t" r="r" b="b"/>
            <a:pathLst>
              <a:path w="30479" h="10795">
                <a:moveTo>
                  <a:pt x="30480" y="5334"/>
                </a:moveTo>
                <a:lnTo>
                  <a:pt x="9144" y="0"/>
                </a:lnTo>
                <a:lnTo>
                  <a:pt x="0" y="4572"/>
                </a:lnTo>
                <a:lnTo>
                  <a:pt x="21336" y="10668"/>
                </a:lnTo>
                <a:lnTo>
                  <a:pt x="30480" y="5334"/>
                </a:lnTo>
                <a:close/>
              </a:path>
            </a:pathLst>
          </a:custGeom>
          <a:solidFill>
            <a:srgbClr val="00CC99"/>
          </a:solidFill>
        </p:spPr>
        <p:txBody>
          <a:bodyPr wrap="square" lIns="0" tIns="0" rIns="0" bIns="0" rtlCol="0"/>
          <a:lstStyle/>
          <a:p>
            <a:endParaRPr/>
          </a:p>
        </p:txBody>
      </p:sp>
      <p:sp>
        <p:nvSpPr>
          <p:cNvPr id="246" name="object 246"/>
          <p:cNvSpPr/>
          <p:nvPr/>
        </p:nvSpPr>
        <p:spPr>
          <a:xfrm>
            <a:off x="7715250" y="6256020"/>
            <a:ext cx="22225" cy="7620"/>
          </a:xfrm>
          <a:custGeom>
            <a:avLst/>
            <a:gdLst/>
            <a:ahLst/>
            <a:cxnLst/>
            <a:rect l="l" t="t" r="r" b="b"/>
            <a:pathLst>
              <a:path w="22225" h="7620">
                <a:moveTo>
                  <a:pt x="22098" y="6095"/>
                </a:moveTo>
                <a:lnTo>
                  <a:pt x="1524" y="0"/>
                </a:lnTo>
                <a:lnTo>
                  <a:pt x="0" y="1524"/>
                </a:lnTo>
                <a:lnTo>
                  <a:pt x="20574" y="7619"/>
                </a:lnTo>
                <a:lnTo>
                  <a:pt x="22098" y="6095"/>
                </a:lnTo>
                <a:close/>
              </a:path>
            </a:pathLst>
          </a:custGeom>
          <a:solidFill>
            <a:srgbClr val="000099"/>
          </a:solidFill>
        </p:spPr>
        <p:txBody>
          <a:bodyPr wrap="square" lIns="0" tIns="0" rIns="0" bIns="0" rtlCol="0"/>
          <a:lstStyle/>
          <a:p>
            <a:endParaRPr/>
          </a:p>
        </p:txBody>
      </p:sp>
      <p:sp>
        <p:nvSpPr>
          <p:cNvPr id="247" name="object 247"/>
          <p:cNvSpPr/>
          <p:nvPr/>
        </p:nvSpPr>
        <p:spPr>
          <a:xfrm>
            <a:off x="7741158" y="6258305"/>
            <a:ext cx="29845" cy="11430"/>
          </a:xfrm>
          <a:custGeom>
            <a:avLst/>
            <a:gdLst/>
            <a:ahLst/>
            <a:cxnLst/>
            <a:rect l="l" t="t" r="r" b="b"/>
            <a:pathLst>
              <a:path w="29845" h="11429">
                <a:moveTo>
                  <a:pt x="29718" y="6096"/>
                </a:moveTo>
                <a:lnTo>
                  <a:pt x="7620" y="0"/>
                </a:lnTo>
                <a:lnTo>
                  <a:pt x="0" y="5334"/>
                </a:lnTo>
                <a:lnTo>
                  <a:pt x="21336" y="11430"/>
                </a:lnTo>
                <a:lnTo>
                  <a:pt x="29718" y="6096"/>
                </a:lnTo>
                <a:close/>
              </a:path>
            </a:pathLst>
          </a:custGeom>
          <a:solidFill>
            <a:srgbClr val="00CC99"/>
          </a:solidFill>
        </p:spPr>
        <p:txBody>
          <a:bodyPr wrap="square" lIns="0" tIns="0" rIns="0" bIns="0" rtlCol="0"/>
          <a:lstStyle/>
          <a:p>
            <a:endParaRPr/>
          </a:p>
        </p:txBody>
      </p:sp>
      <p:sp>
        <p:nvSpPr>
          <p:cNvPr id="248" name="object 248"/>
          <p:cNvSpPr/>
          <p:nvPr/>
        </p:nvSpPr>
        <p:spPr>
          <a:xfrm>
            <a:off x="7739634" y="6263640"/>
            <a:ext cx="22860" cy="6985"/>
          </a:xfrm>
          <a:custGeom>
            <a:avLst/>
            <a:gdLst/>
            <a:ahLst/>
            <a:cxnLst/>
            <a:rect l="l" t="t" r="r" b="b"/>
            <a:pathLst>
              <a:path w="22859" h="6985">
                <a:moveTo>
                  <a:pt x="22860" y="6095"/>
                </a:moveTo>
                <a:lnTo>
                  <a:pt x="1524" y="0"/>
                </a:lnTo>
                <a:lnTo>
                  <a:pt x="0" y="762"/>
                </a:lnTo>
                <a:lnTo>
                  <a:pt x="21336" y="6857"/>
                </a:lnTo>
                <a:lnTo>
                  <a:pt x="22860" y="6095"/>
                </a:lnTo>
                <a:close/>
              </a:path>
            </a:pathLst>
          </a:custGeom>
          <a:solidFill>
            <a:srgbClr val="000099"/>
          </a:solidFill>
        </p:spPr>
        <p:txBody>
          <a:bodyPr wrap="square" lIns="0" tIns="0" rIns="0" bIns="0" rtlCol="0"/>
          <a:lstStyle/>
          <a:p>
            <a:endParaRPr/>
          </a:p>
        </p:txBody>
      </p:sp>
      <p:sp>
        <p:nvSpPr>
          <p:cNvPr id="249" name="object 249"/>
          <p:cNvSpPr/>
          <p:nvPr/>
        </p:nvSpPr>
        <p:spPr>
          <a:xfrm>
            <a:off x="7858505" y="6242303"/>
            <a:ext cx="106045" cy="81280"/>
          </a:xfrm>
          <a:custGeom>
            <a:avLst/>
            <a:gdLst/>
            <a:ahLst/>
            <a:cxnLst/>
            <a:rect l="l" t="t" r="r" b="b"/>
            <a:pathLst>
              <a:path w="106045" h="81279">
                <a:moveTo>
                  <a:pt x="105918" y="0"/>
                </a:moveTo>
                <a:lnTo>
                  <a:pt x="0" y="75437"/>
                </a:lnTo>
                <a:lnTo>
                  <a:pt x="0" y="80771"/>
                </a:lnTo>
                <a:lnTo>
                  <a:pt x="105155" y="6095"/>
                </a:lnTo>
                <a:lnTo>
                  <a:pt x="105918" y="0"/>
                </a:lnTo>
                <a:close/>
              </a:path>
            </a:pathLst>
          </a:custGeom>
          <a:solidFill>
            <a:srgbClr val="000099"/>
          </a:solidFill>
        </p:spPr>
        <p:txBody>
          <a:bodyPr wrap="square" lIns="0" tIns="0" rIns="0" bIns="0" rtlCol="0"/>
          <a:lstStyle/>
          <a:p>
            <a:endParaRPr/>
          </a:p>
        </p:txBody>
      </p:sp>
      <p:sp>
        <p:nvSpPr>
          <p:cNvPr id="250" name="object 250"/>
          <p:cNvSpPr/>
          <p:nvPr/>
        </p:nvSpPr>
        <p:spPr>
          <a:xfrm>
            <a:off x="7587234" y="6248400"/>
            <a:ext cx="272415" cy="74295"/>
          </a:xfrm>
          <a:custGeom>
            <a:avLst/>
            <a:gdLst/>
            <a:ahLst/>
            <a:cxnLst/>
            <a:rect l="l" t="t" r="r" b="b"/>
            <a:pathLst>
              <a:path w="272415" h="74295">
                <a:moveTo>
                  <a:pt x="272033" y="69341"/>
                </a:moveTo>
                <a:lnTo>
                  <a:pt x="3809" y="0"/>
                </a:lnTo>
                <a:lnTo>
                  <a:pt x="761" y="0"/>
                </a:lnTo>
                <a:lnTo>
                  <a:pt x="0" y="3048"/>
                </a:lnTo>
                <a:lnTo>
                  <a:pt x="271271" y="73913"/>
                </a:lnTo>
                <a:lnTo>
                  <a:pt x="272033" y="69341"/>
                </a:lnTo>
                <a:close/>
              </a:path>
            </a:pathLst>
          </a:custGeom>
          <a:solidFill>
            <a:srgbClr val="000099"/>
          </a:solidFill>
        </p:spPr>
        <p:txBody>
          <a:bodyPr wrap="square" lIns="0" tIns="0" rIns="0" bIns="0" rtlCol="0"/>
          <a:lstStyle/>
          <a:p>
            <a:endParaRPr/>
          </a:p>
        </p:txBody>
      </p:sp>
      <p:sp>
        <p:nvSpPr>
          <p:cNvPr id="251" name="object 251"/>
          <p:cNvSpPr/>
          <p:nvPr/>
        </p:nvSpPr>
        <p:spPr>
          <a:xfrm>
            <a:off x="7587996" y="6174485"/>
            <a:ext cx="125729" cy="75438"/>
          </a:xfrm>
          <a:prstGeom prst="rect">
            <a:avLst/>
          </a:prstGeom>
          <a:blipFill>
            <a:blip r:embed="rId102" cstate="print"/>
            <a:stretch>
              <a:fillRect/>
            </a:stretch>
          </a:blipFill>
        </p:spPr>
        <p:txBody>
          <a:bodyPr wrap="square" lIns="0" tIns="0" rIns="0" bIns="0" rtlCol="0"/>
          <a:lstStyle/>
          <a:p>
            <a:endParaRPr/>
          </a:p>
        </p:txBody>
      </p:sp>
      <p:sp>
        <p:nvSpPr>
          <p:cNvPr id="252" name="object 252"/>
          <p:cNvSpPr/>
          <p:nvPr/>
        </p:nvSpPr>
        <p:spPr>
          <a:xfrm>
            <a:off x="7596377" y="6238494"/>
            <a:ext cx="257810" cy="71120"/>
          </a:xfrm>
          <a:custGeom>
            <a:avLst/>
            <a:gdLst/>
            <a:ahLst/>
            <a:cxnLst/>
            <a:rect l="l" t="t" r="r" b="b"/>
            <a:pathLst>
              <a:path w="257809" h="71120">
                <a:moveTo>
                  <a:pt x="257555" y="66293"/>
                </a:moveTo>
                <a:lnTo>
                  <a:pt x="3809" y="0"/>
                </a:lnTo>
                <a:lnTo>
                  <a:pt x="761" y="0"/>
                </a:lnTo>
                <a:lnTo>
                  <a:pt x="0" y="2286"/>
                </a:lnTo>
                <a:lnTo>
                  <a:pt x="256793" y="70865"/>
                </a:lnTo>
                <a:lnTo>
                  <a:pt x="257555" y="66293"/>
                </a:lnTo>
                <a:close/>
              </a:path>
            </a:pathLst>
          </a:custGeom>
          <a:solidFill>
            <a:srgbClr val="000099"/>
          </a:solidFill>
        </p:spPr>
        <p:txBody>
          <a:bodyPr wrap="square" lIns="0" tIns="0" rIns="0" bIns="0" rtlCol="0"/>
          <a:lstStyle/>
          <a:p>
            <a:endParaRPr/>
          </a:p>
        </p:txBody>
      </p:sp>
      <p:sp>
        <p:nvSpPr>
          <p:cNvPr id="253" name="object 253"/>
          <p:cNvSpPr/>
          <p:nvPr/>
        </p:nvSpPr>
        <p:spPr>
          <a:xfrm>
            <a:off x="7853172" y="6233159"/>
            <a:ext cx="105410" cy="74295"/>
          </a:xfrm>
          <a:custGeom>
            <a:avLst/>
            <a:gdLst/>
            <a:ahLst/>
            <a:cxnLst/>
            <a:rect l="l" t="t" r="r" b="b"/>
            <a:pathLst>
              <a:path w="105409" h="74295">
                <a:moveTo>
                  <a:pt x="105155" y="4571"/>
                </a:moveTo>
                <a:lnTo>
                  <a:pt x="105155" y="0"/>
                </a:lnTo>
                <a:lnTo>
                  <a:pt x="0" y="70865"/>
                </a:lnTo>
                <a:lnTo>
                  <a:pt x="761" y="73913"/>
                </a:lnTo>
                <a:lnTo>
                  <a:pt x="1523" y="73913"/>
                </a:lnTo>
                <a:lnTo>
                  <a:pt x="105155" y="4571"/>
                </a:lnTo>
                <a:close/>
              </a:path>
            </a:pathLst>
          </a:custGeom>
          <a:solidFill>
            <a:srgbClr val="000099"/>
          </a:solidFill>
        </p:spPr>
        <p:txBody>
          <a:bodyPr wrap="square" lIns="0" tIns="0" rIns="0" bIns="0" rtlCol="0"/>
          <a:lstStyle/>
          <a:p>
            <a:endParaRPr/>
          </a:p>
        </p:txBody>
      </p:sp>
      <p:sp>
        <p:nvSpPr>
          <p:cNvPr id="254" name="object 254"/>
          <p:cNvSpPr/>
          <p:nvPr/>
        </p:nvSpPr>
        <p:spPr>
          <a:xfrm>
            <a:off x="6252972" y="3477005"/>
            <a:ext cx="358140" cy="97536"/>
          </a:xfrm>
          <a:prstGeom prst="rect">
            <a:avLst/>
          </a:prstGeom>
          <a:blipFill>
            <a:blip r:embed="rId103" cstate="print"/>
            <a:stretch>
              <a:fillRect/>
            </a:stretch>
          </a:blipFill>
        </p:spPr>
        <p:txBody>
          <a:bodyPr wrap="square" lIns="0" tIns="0" rIns="0" bIns="0" rtlCol="0"/>
          <a:lstStyle/>
          <a:p>
            <a:endParaRPr/>
          </a:p>
        </p:txBody>
      </p:sp>
      <p:sp>
        <p:nvSpPr>
          <p:cNvPr id="255" name="object 255"/>
          <p:cNvSpPr/>
          <p:nvPr/>
        </p:nvSpPr>
        <p:spPr>
          <a:xfrm>
            <a:off x="6390131" y="3564635"/>
            <a:ext cx="305562" cy="219455"/>
          </a:xfrm>
          <a:prstGeom prst="rect">
            <a:avLst/>
          </a:prstGeom>
          <a:blipFill>
            <a:blip r:embed="rId104" cstate="print"/>
            <a:stretch>
              <a:fillRect/>
            </a:stretch>
          </a:blipFill>
        </p:spPr>
        <p:txBody>
          <a:bodyPr wrap="square" lIns="0" tIns="0" rIns="0" bIns="0" rtlCol="0"/>
          <a:lstStyle/>
          <a:p>
            <a:endParaRPr/>
          </a:p>
        </p:txBody>
      </p:sp>
      <p:sp>
        <p:nvSpPr>
          <p:cNvPr id="256" name="object 256"/>
          <p:cNvSpPr/>
          <p:nvPr/>
        </p:nvSpPr>
        <p:spPr>
          <a:xfrm>
            <a:off x="6391655" y="3563873"/>
            <a:ext cx="302513" cy="216408"/>
          </a:xfrm>
          <a:prstGeom prst="rect">
            <a:avLst/>
          </a:prstGeom>
          <a:blipFill>
            <a:blip r:embed="rId105" cstate="print"/>
            <a:stretch>
              <a:fillRect/>
            </a:stretch>
          </a:blipFill>
        </p:spPr>
        <p:txBody>
          <a:bodyPr wrap="square" lIns="0" tIns="0" rIns="0" bIns="0" rtlCol="0"/>
          <a:lstStyle/>
          <a:p>
            <a:endParaRPr/>
          </a:p>
        </p:txBody>
      </p:sp>
      <p:sp>
        <p:nvSpPr>
          <p:cNvPr id="257" name="object 257"/>
          <p:cNvSpPr/>
          <p:nvPr/>
        </p:nvSpPr>
        <p:spPr>
          <a:xfrm>
            <a:off x="6628637" y="3594353"/>
            <a:ext cx="69850" cy="187960"/>
          </a:xfrm>
          <a:custGeom>
            <a:avLst/>
            <a:gdLst/>
            <a:ahLst/>
            <a:cxnLst/>
            <a:rect l="l" t="t" r="r" b="b"/>
            <a:pathLst>
              <a:path w="69850" h="187960">
                <a:moveTo>
                  <a:pt x="69341" y="0"/>
                </a:moveTo>
                <a:lnTo>
                  <a:pt x="66293" y="0"/>
                </a:lnTo>
                <a:lnTo>
                  <a:pt x="0" y="185928"/>
                </a:lnTo>
                <a:lnTo>
                  <a:pt x="6857" y="187452"/>
                </a:lnTo>
                <a:lnTo>
                  <a:pt x="69341" y="0"/>
                </a:lnTo>
                <a:close/>
              </a:path>
            </a:pathLst>
          </a:custGeom>
          <a:solidFill>
            <a:srgbClr val="4D4D4D"/>
          </a:solidFill>
        </p:spPr>
        <p:txBody>
          <a:bodyPr wrap="square" lIns="0" tIns="0" rIns="0" bIns="0" rtlCol="0"/>
          <a:lstStyle/>
          <a:p>
            <a:endParaRPr/>
          </a:p>
        </p:txBody>
      </p:sp>
      <p:sp>
        <p:nvSpPr>
          <p:cNvPr id="258" name="object 258"/>
          <p:cNvSpPr/>
          <p:nvPr/>
        </p:nvSpPr>
        <p:spPr>
          <a:xfrm>
            <a:off x="6387846" y="3791711"/>
            <a:ext cx="82550" cy="37465"/>
          </a:xfrm>
          <a:custGeom>
            <a:avLst/>
            <a:gdLst/>
            <a:ahLst/>
            <a:cxnLst/>
            <a:rect l="l" t="t" r="r" b="b"/>
            <a:pathLst>
              <a:path w="82550" h="37464">
                <a:moveTo>
                  <a:pt x="82295" y="14477"/>
                </a:moveTo>
                <a:lnTo>
                  <a:pt x="32003" y="0"/>
                </a:lnTo>
                <a:lnTo>
                  <a:pt x="0" y="20574"/>
                </a:lnTo>
                <a:lnTo>
                  <a:pt x="51053" y="37338"/>
                </a:lnTo>
                <a:lnTo>
                  <a:pt x="82295" y="14477"/>
                </a:lnTo>
                <a:close/>
              </a:path>
            </a:pathLst>
          </a:custGeom>
          <a:solidFill>
            <a:srgbClr val="000099"/>
          </a:solidFill>
        </p:spPr>
        <p:txBody>
          <a:bodyPr wrap="square" lIns="0" tIns="0" rIns="0" bIns="0" rtlCol="0"/>
          <a:lstStyle/>
          <a:p>
            <a:endParaRPr/>
          </a:p>
        </p:txBody>
      </p:sp>
      <p:sp>
        <p:nvSpPr>
          <p:cNvPr id="259" name="object 259"/>
          <p:cNvSpPr/>
          <p:nvPr/>
        </p:nvSpPr>
        <p:spPr>
          <a:xfrm>
            <a:off x="6389370" y="3725417"/>
            <a:ext cx="244601" cy="102108"/>
          </a:xfrm>
          <a:prstGeom prst="rect">
            <a:avLst/>
          </a:prstGeom>
          <a:blipFill>
            <a:blip r:embed="rId106" cstate="print"/>
            <a:stretch>
              <a:fillRect/>
            </a:stretch>
          </a:blipFill>
        </p:spPr>
        <p:txBody>
          <a:bodyPr wrap="square" lIns="0" tIns="0" rIns="0" bIns="0" rtlCol="0"/>
          <a:lstStyle/>
          <a:p>
            <a:endParaRPr/>
          </a:p>
        </p:txBody>
      </p:sp>
      <p:sp>
        <p:nvSpPr>
          <p:cNvPr id="260" name="object 260"/>
          <p:cNvSpPr/>
          <p:nvPr/>
        </p:nvSpPr>
        <p:spPr>
          <a:xfrm>
            <a:off x="6395466" y="3806190"/>
            <a:ext cx="28575" cy="11430"/>
          </a:xfrm>
          <a:custGeom>
            <a:avLst/>
            <a:gdLst/>
            <a:ahLst/>
            <a:cxnLst/>
            <a:rect l="l" t="t" r="r" b="b"/>
            <a:pathLst>
              <a:path w="28575" h="11429">
                <a:moveTo>
                  <a:pt x="28194" y="6096"/>
                </a:moveTo>
                <a:lnTo>
                  <a:pt x="7620" y="0"/>
                </a:lnTo>
                <a:lnTo>
                  <a:pt x="0" y="5334"/>
                </a:lnTo>
                <a:lnTo>
                  <a:pt x="19812" y="11430"/>
                </a:lnTo>
                <a:lnTo>
                  <a:pt x="28194" y="6096"/>
                </a:lnTo>
                <a:close/>
              </a:path>
            </a:pathLst>
          </a:custGeom>
          <a:solidFill>
            <a:srgbClr val="00CC99"/>
          </a:solidFill>
        </p:spPr>
        <p:txBody>
          <a:bodyPr wrap="square" lIns="0" tIns="0" rIns="0" bIns="0" rtlCol="0"/>
          <a:lstStyle/>
          <a:p>
            <a:endParaRPr/>
          </a:p>
        </p:txBody>
      </p:sp>
      <p:sp>
        <p:nvSpPr>
          <p:cNvPr id="261" name="object 261"/>
          <p:cNvSpPr/>
          <p:nvPr/>
        </p:nvSpPr>
        <p:spPr>
          <a:xfrm>
            <a:off x="6393941" y="3811523"/>
            <a:ext cx="21590" cy="6985"/>
          </a:xfrm>
          <a:custGeom>
            <a:avLst/>
            <a:gdLst/>
            <a:ahLst/>
            <a:cxnLst/>
            <a:rect l="l" t="t" r="r" b="b"/>
            <a:pathLst>
              <a:path w="21589" h="6985">
                <a:moveTo>
                  <a:pt x="21336" y="6095"/>
                </a:moveTo>
                <a:lnTo>
                  <a:pt x="1524" y="0"/>
                </a:lnTo>
                <a:lnTo>
                  <a:pt x="0" y="762"/>
                </a:lnTo>
                <a:lnTo>
                  <a:pt x="19812" y="6857"/>
                </a:lnTo>
                <a:lnTo>
                  <a:pt x="21336" y="6095"/>
                </a:lnTo>
                <a:close/>
              </a:path>
            </a:pathLst>
          </a:custGeom>
          <a:solidFill>
            <a:srgbClr val="000099"/>
          </a:solidFill>
        </p:spPr>
        <p:txBody>
          <a:bodyPr wrap="square" lIns="0" tIns="0" rIns="0" bIns="0" rtlCol="0"/>
          <a:lstStyle/>
          <a:p>
            <a:endParaRPr/>
          </a:p>
        </p:txBody>
      </p:sp>
      <p:sp>
        <p:nvSpPr>
          <p:cNvPr id="262" name="object 262"/>
          <p:cNvSpPr/>
          <p:nvPr/>
        </p:nvSpPr>
        <p:spPr>
          <a:xfrm>
            <a:off x="6418325" y="3813809"/>
            <a:ext cx="28575" cy="11430"/>
          </a:xfrm>
          <a:custGeom>
            <a:avLst/>
            <a:gdLst/>
            <a:ahLst/>
            <a:cxnLst/>
            <a:rect l="l" t="t" r="r" b="b"/>
            <a:pathLst>
              <a:path w="28575" h="11429">
                <a:moveTo>
                  <a:pt x="28194" y="5334"/>
                </a:moveTo>
                <a:lnTo>
                  <a:pt x="7620" y="0"/>
                </a:lnTo>
                <a:lnTo>
                  <a:pt x="0" y="4572"/>
                </a:lnTo>
                <a:lnTo>
                  <a:pt x="19812" y="11430"/>
                </a:lnTo>
                <a:lnTo>
                  <a:pt x="28194" y="5334"/>
                </a:lnTo>
                <a:close/>
              </a:path>
            </a:pathLst>
          </a:custGeom>
          <a:solidFill>
            <a:srgbClr val="00CC99"/>
          </a:solidFill>
        </p:spPr>
        <p:txBody>
          <a:bodyPr wrap="square" lIns="0" tIns="0" rIns="0" bIns="0" rtlCol="0"/>
          <a:lstStyle/>
          <a:p>
            <a:endParaRPr/>
          </a:p>
        </p:txBody>
      </p:sp>
      <p:sp>
        <p:nvSpPr>
          <p:cNvPr id="263" name="object 263"/>
          <p:cNvSpPr/>
          <p:nvPr/>
        </p:nvSpPr>
        <p:spPr>
          <a:xfrm>
            <a:off x="6417564" y="3819144"/>
            <a:ext cx="21590" cy="6985"/>
          </a:xfrm>
          <a:custGeom>
            <a:avLst/>
            <a:gdLst/>
            <a:ahLst/>
            <a:cxnLst/>
            <a:rect l="l" t="t" r="r" b="b"/>
            <a:pathLst>
              <a:path w="21589" h="6985">
                <a:moveTo>
                  <a:pt x="21336" y="6095"/>
                </a:moveTo>
                <a:lnTo>
                  <a:pt x="762" y="0"/>
                </a:lnTo>
                <a:lnTo>
                  <a:pt x="0" y="762"/>
                </a:lnTo>
                <a:lnTo>
                  <a:pt x="19812" y="6857"/>
                </a:lnTo>
                <a:lnTo>
                  <a:pt x="21336" y="6095"/>
                </a:lnTo>
                <a:close/>
              </a:path>
            </a:pathLst>
          </a:custGeom>
          <a:solidFill>
            <a:srgbClr val="000099"/>
          </a:solidFill>
        </p:spPr>
        <p:txBody>
          <a:bodyPr wrap="square" lIns="0" tIns="0" rIns="0" bIns="0" rtlCol="0"/>
          <a:lstStyle/>
          <a:p>
            <a:endParaRPr/>
          </a:p>
        </p:txBody>
      </p:sp>
      <p:sp>
        <p:nvSpPr>
          <p:cNvPr id="264" name="object 264"/>
          <p:cNvSpPr/>
          <p:nvPr/>
        </p:nvSpPr>
        <p:spPr>
          <a:xfrm>
            <a:off x="6528054" y="3797046"/>
            <a:ext cx="100330" cy="81915"/>
          </a:xfrm>
          <a:custGeom>
            <a:avLst/>
            <a:gdLst/>
            <a:ahLst/>
            <a:cxnLst/>
            <a:rect l="l" t="t" r="r" b="b"/>
            <a:pathLst>
              <a:path w="100329" h="81914">
                <a:moveTo>
                  <a:pt x="99822" y="0"/>
                </a:moveTo>
                <a:lnTo>
                  <a:pt x="762" y="75437"/>
                </a:lnTo>
                <a:lnTo>
                  <a:pt x="0" y="81533"/>
                </a:lnTo>
                <a:lnTo>
                  <a:pt x="99060" y="6857"/>
                </a:lnTo>
                <a:lnTo>
                  <a:pt x="99822" y="0"/>
                </a:lnTo>
                <a:close/>
              </a:path>
            </a:pathLst>
          </a:custGeom>
          <a:solidFill>
            <a:srgbClr val="000099"/>
          </a:solidFill>
        </p:spPr>
        <p:txBody>
          <a:bodyPr wrap="square" lIns="0" tIns="0" rIns="0" bIns="0" rtlCol="0"/>
          <a:lstStyle/>
          <a:p>
            <a:endParaRPr/>
          </a:p>
        </p:txBody>
      </p:sp>
      <p:sp>
        <p:nvSpPr>
          <p:cNvPr id="265" name="object 265"/>
          <p:cNvSpPr/>
          <p:nvPr/>
        </p:nvSpPr>
        <p:spPr>
          <a:xfrm>
            <a:off x="6275070" y="3803903"/>
            <a:ext cx="254000" cy="74295"/>
          </a:xfrm>
          <a:custGeom>
            <a:avLst/>
            <a:gdLst/>
            <a:ahLst/>
            <a:cxnLst/>
            <a:rect l="l" t="t" r="r" b="b"/>
            <a:pathLst>
              <a:path w="254000" h="74295">
                <a:moveTo>
                  <a:pt x="253746" y="73913"/>
                </a:moveTo>
                <a:lnTo>
                  <a:pt x="253746" y="69341"/>
                </a:lnTo>
                <a:lnTo>
                  <a:pt x="3048" y="0"/>
                </a:lnTo>
                <a:lnTo>
                  <a:pt x="0" y="0"/>
                </a:lnTo>
                <a:lnTo>
                  <a:pt x="0" y="2285"/>
                </a:lnTo>
                <a:lnTo>
                  <a:pt x="253746" y="73913"/>
                </a:lnTo>
                <a:close/>
              </a:path>
            </a:pathLst>
          </a:custGeom>
          <a:solidFill>
            <a:srgbClr val="000099"/>
          </a:solidFill>
        </p:spPr>
        <p:txBody>
          <a:bodyPr wrap="square" lIns="0" tIns="0" rIns="0" bIns="0" rtlCol="0"/>
          <a:lstStyle/>
          <a:p>
            <a:endParaRPr/>
          </a:p>
        </p:txBody>
      </p:sp>
      <p:sp>
        <p:nvSpPr>
          <p:cNvPr id="266" name="object 266"/>
          <p:cNvSpPr/>
          <p:nvPr/>
        </p:nvSpPr>
        <p:spPr>
          <a:xfrm>
            <a:off x="6275070" y="3729228"/>
            <a:ext cx="118110" cy="62230"/>
          </a:xfrm>
          <a:custGeom>
            <a:avLst/>
            <a:gdLst/>
            <a:ahLst/>
            <a:cxnLst/>
            <a:rect l="l" t="t" r="r" b="b"/>
            <a:pathLst>
              <a:path w="118110" h="62229">
                <a:moveTo>
                  <a:pt x="118110" y="2285"/>
                </a:moveTo>
                <a:lnTo>
                  <a:pt x="117348" y="0"/>
                </a:lnTo>
                <a:lnTo>
                  <a:pt x="0" y="60960"/>
                </a:lnTo>
                <a:lnTo>
                  <a:pt x="3048" y="61722"/>
                </a:lnTo>
                <a:lnTo>
                  <a:pt x="118110" y="2285"/>
                </a:lnTo>
                <a:close/>
              </a:path>
            </a:pathLst>
          </a:custGeom>
          <a:solidFill>
            <a:srgbClr val="000099"/>
          </a:solidFill>
        </p:spPr>
        <p:txBody>
          <a:bodyPr wrap="square" lIns="0" tIns="0" rIns="0" bIns="0" rtlCol="0"/>
          <a:lstStyle/>
          <a:p>
            <a:endParaRPr/>
          </a:p>
        </p:txBody>
      </p:sp>
      <p:sp>
        <p:nvSpPr>
          <p:cNvPr id="267" name="object 267"/>
          <p:cNvSpPr/>
          <p:nvPr/>
        </p:nvSpPr>
        <p:spPr>
          <a:xfrm>
            <a:off x="6282690" y="3793235"/>
            <a:ext cx="241935" cy="71755"/>
          </a:xfrm>
          <a:custGeom>
            <a:avLst/>
            <a:gdLst/>
            <a:ahLst/>
            <a:cxnLst/>
            <a:rect l="l" t="t" r="r" b="b"/>
            <a:pathLst>
              <a:path w="241935" h="71754">
                <a:moveTo>
                  <a:pt x="241554" y="67055"/>
                </a:moveTo>
                <a:lnTo>
                  <a:pt x="3810" y="0"/>
                </a:lnTo>
                <a:lnTo>
                  <a:pt x="762" y="0"/>
                </a:lnTo>
                <a:lnTo>
                  <a:pt x="0" y="2286"/>
                </a:lnTo>
                <a:lnTo>
                  <a:pt x="240792" y="71627"/>
                </a:lnTo>
                <a:lnTo>
                  <a:pt x="241554" y="67055"/>
                </a:lnTo>
                <a:close/>
              </a:path>
            </a:pathLst>
          </a:custGeom>
          <a:solidFill>
            <a:srgbClr val="000099"/>
          </a:solidFill>
        </p:spPr>
        <p:txBody>
          <a:bodyPr wrap="square" lIns="0" tIns="0" rIns="0" bIns="0" rtlCol="0"/>
          <a:lstStyle/>
          <a:p>
            <a:endParaRPr/>
          </a:p>
        </p:txBody>
      </p:sp>
      <p:sp>
        <p:nvSpPr>
          <p:cNvPr id="268" name="object 268"/>
          <p:cNvSpPr/>
          <p:nvPr/>
        </p:nvSpPr>
        <p:spPr>
          <a:xfrm>
            <a:off x="6523481" y="3788664"/>
            <a:ext cx="98425" cy="73660"/>
          </a:xfrm>
          <a:custGeom>
            <a:avLst/>
            <a:gdLst/>
            <a:ahLst/>
            <a:cxnLst/>
            <a:rect l="l" t="t" r="r" b="b"/>
            <a:pathLst>
              <a:path w="98425" h="73660">
                <a:moveTo>
                  <a:pt x="98298" y="4571"/>
                </a:moveTo>
                <a:lnTo>
                  <a:pt x="98298" y="0"/>
                </a:lnTo>
                <a:lnTo>
                  <a:pt x="0" y="70865"/>
                </a:lnTo>
                <a:lnTo>
                  <a:pt x="762" y="73151"/>
                </a:lnTo>
                <a:lnTo>
                  <a:pt x="1524" y="73151"/>
                </a:lnTo>
                <a:lnTo>
                  <a:pt x="98298" y="4571"/>
                </a:lnTo>
                <a:close/>
              </a:path>
            </a:pathLst>
          </a:custGeom>
          <a:solidFill>
            <a:srgbClr val="000099"/>
          </a:solidFill>
        </p:spPr>
        <p:txBody>
          <a:bodyPr wrap="square" lIns="0" tIns="0" rIns="0" bIns="0" rtlCol="0"/>
          <a:lstStyle/>
          <a:p>
            <a:endParaRPr/>
          </a:p>
        </p:txBody>
      </p:sp>
      <p:sp>
        <p:nvSpPr>
          <p:cNvPr id="269" name="object 269"/>
          <p:cNvSpPr/>
          <p:nvPr/>
        </p:nvSpPr>
        <p:spPr>
          <a:xfrm>
            <a:off x="6701028" y="3660647"/>
            <a:ext cx="345947" cy="355854"/>
          </a:xfrm>
          <a:prstGeom prst="rect">
            <a:avLst/>
          </a:prstGeom>
          <a:blipFill>
            <a:blip r:embed="rId107" cstate="print"/>
            <a:stretch>
              <a:fillRect/>
            </a:stretch>
          </a:blipFill>
        </p:spPr>
        <p:txBody>
          <a:bodyPr wrap="square" lIns="0" tIns="0" rIns="0" bIns="0" rtlCol="0"/>
          <a:lstStyle/>
          <a:p>
            <a:endParaRPr/>
          </a:p>
        </p:txBody>
      </p:sp>
      <p:sp>
        <p:nvSpPr>
          <p:cNvPr id="270" name="object 270"/>
          <p:cNvSpPr/>
          <p:nvPr/>
        </p:nvSpPr>
        <p:spPr>
          <a:xfrm>
            <a:off x="6809231" y="3693414"/>
            <a:ext cx="195834" cy="171450"/>
          </a:xfrm>
          <a:prstGeom prst="rect">
            <a:avLst/>
          </a:prstGeom>
          <a:blipFill>
            <a:blip r:embed="rId108" cstate="print"/>
            <a:stretch>
              <a:fillRect/>
            </a:stretch>
          </a:blipFill>
        </p:spPr>
        <p:txBody>
          <a:bodyPr wrap="square" lIns="0" tIns="0" rIns="0" bIns="0" rtlCol="0"/>
          <a:lstStyle/>
          <a:p>
            <a:endParaRPr/>
          </a:p>
        </p:txBody>
      </p:sp>
      <p:sp>
        <p:nvSpPr>
          <p:cNvPr id="271" name="object 271"/>
          <p:cNvSpPr/>
          <p:nvPr/>
        </p:nvSpPr>
        <p:spPr>
          <a:xfrm>
            <a:off x="7999476" y="5858255"/>
            <a:ext cx="369569" cy="97536"/>
          </a:xfrm>
          <a:prstGeom prst="rect">
            <a:avLst/>
          </a:prstGeom>
          <a:blipFill>
            <a:blip r:embed="rId109" cstate="print"/>
            <a:stretch>
              <a:fillRect/>
            </a:stretch>
          </a:blipFill>
        </p:spPr>
        <p:txBody>
          <a:bodyPr wrap="square" lIns="0" tIns="0" rIns="0" bIns="0" rtlCol="0"/>
          <a:lstStyle/>
          <a:p>
            <a:endParaRPr/>
          </a:p>
        </p:txBody>
      </p:sp>
      <p:sp>
        <p:nvSpPr>
          <p:cNvPr id="272" name="object 272"/>
          <p:cNvSpPr/>
          <p:nvPr/>
        </p:nvSpPr>
        <p:spPr>
          <a:xfrm>
            <a:off x="8145779" y="5945885"/>
            <a:ext cx="326135" cy="219455"/>
          </a:xfrm>
          <a:prstGeom prst="rect">
            <a:avLst/>
          </a:prstGeom>
          <a:blipFill>
            <a:blip r:embed="rId110" cstate="print"/>
            <a:stretch>
              <a:fillRect/>
            </a:stretch>
          </a:blipFill>
        </p:spPr>
        <p:txBody>
          <a:bodyPr wrap="square" lIns="0" tIns="0" rIns="0" bIns="0" rtlCol="0"/>
          <a:lstStyle/>
          <a:p>
            <a:endParaRPr/>
          </a:p>
        </p:txBody>
      </p:sp>
      <p:sp>
        <p:nvSpPr>
          <p:cNvPr id="273" name="object 273"/>
          <p:cNvSpPr/>
          <p:nvPr/>
        </p:nvSpPr>
        <p:spPr>
          <a:xfrm>
            <a:off x="8147303" y="5945123"/>
            <a:ext cx="323088" cy="216408"/>
          </a:xfrm>
          <a:prstGeom prst="rect">
            <a:avLst/>
          </a:prstGeom>
          <a:blipFill>
            <a:blip r:embed="rId111" cstate="print"/>
            <a:stretch>
              <a:fillRect/>
            </a:stretch>
          </a:blipFill>
        </p:spPr>
        <p:txBody>
          <a:bodyPr wrap="square" lIns="0" tIns="0" rIns="0" bIns="0" rtlCol="0"/>
          <a:lstStyle/>
          <a:p>
            <a:endParaRPr/>
          </a:p>
        </p:txBody>
      </p:sp>
      <p:sp>
        <p:nvSpPr>
          <p:cNvPr id="274" name="object 274"/>
          <p:cNvSpPr/>
          <p:nvPr/>
        </p:nvSpPr>
        <p:spPr>
          <a:xfrm>
            <a:off x="8400288" y="5975603"/>
            <a:ext cx="74295" cy="187960"/>
          </a:xfrm>
          <a:custGeom>
            <a:avLst/>
            <a:gdLst/>
            <a:ahLst/>
            <a:cxnLst/>
            <a:rect l="l" t="t" r="r" b="b"/>
            <a:pathLst>
              <a:path w="74295" h="187960">
                <a:moveTo>
                  <a:pt x="73913" y="0"/>
                </a:moveTo>
                <a:lnTo>
                  <a:pt x="71627" y="0"/>
                </a:lnTo>
                <a:lnTo>
                  <a:pt x="0" y="185928"/>
                </a:lnTo>
                <a:lnTo>
                  <a:pt x="7619" y="187452"/>
                </a:lnTo>
                <a:lnTo>
                  <a:pt x="73913" y="0"/>
                </a:lnTo>
                <a:close/>
              </a:path>
            </a:pathLst>
          </a:custGeom>
          <a:solidFill>
            <a:srgbClr val="4D4D4D"/>
          </a:solidFill>
        </p:spPr>
        <p:txBody>
          <a:bodyPr wrap="square" lIns="0" tIns="0" rIns="0" bIns="0" rtlCol="0"/>
          <a:lstStyle/>
          <a:p>
            <a:endParaRPr/>
          </a:p>
        </p:txBody>
      </p:sp>
      <p:sp>
        <p:nvSpPr>
          <p:cNvPr id="275" name="object 275"/>
          <p:cNvSpPr/>
          <p:nvPr/>
        </p:nvSpPr>
        <p:spPr>
          <a:xfrm>
            <a:off x="8143493" y="6172961"/>
            <a:ext cx="87630" cy="37465"/>
          </a:xfrm>
          <a:custGeom>
            <a:avLst/>
            <a:gdLst/>
            <a:ahLst/>
            <a:cxnLst/>
            <a:rect l="l" t="t" r="r" b="b"/>
            <a:pathLst>
              <a:path w="87629" h="37464">
                <a:moveTo>
                  <a:pt x="87629" y="14477"/>
                </a:moveTo>
                <a:lnTo>
                  <a:pt x="33527" y="0"/>
                </a:lnTo>
                <a:lnTo>
                  <a:pt x="0" y="20574"/>
                </a:lnTo>
                <a:lnTo>
                  <a:pt x="54101" y="37338"/>
                </a:lnTo>
                <a:lnTo>
                  <a:pt x="87629" y="14477"/>
                </a:lnTo>
                <a:close/>
              </a:path>
            </a:pathLst>
          </a:custGeom>
          <a:solidFill>
            <a:srgbClr val="000099"/>
          </a:solidFill>
        </p:spPr>
        <p:txBody>
          <a:bodyPr wrap="square" lIns="0" tIns="0" rIns="0" bIns="0" rtlCol="0"/>
          <a:lstStyle/>
          <a:p>
            <a:endParaRPr/>
          </a:p>
        </p:txBody>
      </p:sp>
      <p:sp>
        <p:nvSpPr>
          <p:cNvPr id="276" name="object 276"/>
          <p:cNvSpPr/>
          <p:nvPr/>
        </p:nvSpPr>
        <p:spPr>
          <a:xfrm>
            <a:off x="8145017" y="6106667"/>
            <a:ext cx="260603" cy="102108"/>
          </a:xfrm>
          <a:prstGeom prst="rect">
            <a:avLst/>
          </a:prstGeom>
          <a:blipFill>
            <a:blip r:embed="rId112" cstate="print"/>
            <a:stretch>
              <a:fillRect/>
            </a:stretch>
          </a:blipFill>
        </p:spPr>
        <p:txBody>
          <a:bodyPr wrap="square" lIns="0" tIns="0" rIns="0" bIns="0" rtlCol="0"/>
          <a:lstStyle/>
          <a:p>
            <a:endParaRPr/>
          </a:p>
        </p:txBody>
      </p:sp>
      <p:sp>
        <p:nvSpPr>
          <p:cNvPr id="277" name="object 277"/>
          <p:cNvSpPr/>
          <p:nvPr/>
        </p:nvSpPr>
        <p:spPr>
          <a:xfrm>
            <a:off x="8151113" y="6187440"/>
            <a:ext cx="29845" cy="11430"/>
          </a:xfrm>
          <a:custGeom>
            <a:avLst/>
            <a:gdLst/>
            <a:ahLst/>
            <a:cxnLst/>
            <a:rect l="l" t="t" r="r" b="b"/>
            <a:pathLst>
              <a:path w="29845" h="11429">
                <a:moveTo>
                  <a:pt x="29718" y="6096"/>
                </a:moveTo>
                <a:lnTo>
                  <a:pt x="8382" y="0"/>
                </a:lnTo>
                <a:lnTo>
                  <a:pt x="0" y="5334"/>
                </a:lnTo>
                <a:lnTo>
                  <a:pt x="21336" y="11430"/>
                </a:lnTo>
                <a:lnTo>
                  <a:pt x="29718" y="6096"/>
                </a:lnTo>
                <a:close/>
              </a:path>
            </a:pathLst>
          </a:custGeom>
          <a:solidFill>
            <a:srgbClr val="00CC99"/>
          </a:solidFill>
        </p:spPr>
        <p:txBody>
          <a:bodyPr wrap="square" lIns="0" tIns="0" rIns="0" bIns="0" rtlCol="0"/>
          <a:lstStyle/>
          <a:p>
            <a:endParaRPr/>
          </a:p>
        </p:txBody>
      </p:sp>
      <p:sp>
        <p:nvSpPr>
          <p:cNvPr id="278" name="object 278"/>
          <p:cNvSpPr/>
          <p:nvPr/>
        </p:nvSpPr>
        <p:spPr>
          <a:xfrm>
            <a:off x="8150351" y="6192773"/>
            <a:ext cx="22225" cy="6985"/>
          </a:xfrm>
          <a:custGeom>
            <a:avLst/>
            <a:gdLst/>
            <a:ahLst/>
            <a:cxnLst/>
            <a:rect l="l" t="t" r="r" b="b"/>
            <a:pathLst>
              <a:path w="22225" h="6985">
                <a:moveTo>
                  <a:pt x="22097" y="6095"/>
                </a:moveTo>
                <a:lnTo>
                  <a:pt x="761" y="0"/>
                </a:lnTo>
                <a:lnTo>
                  <a:pt x="0" y="762"/>
                </a:lnTo>
                <a:lnTo>
                  <a:pt x="20573" y="6857"/>
                </a:lnTo>
                <a:lnTo>
                  <a:pt x="22097" y="6095"/>
                </a:lnTo>
                <a:close/>
              </a:path>
            </a:pathLst>
          </a:custGeom>
          <a:solidFill>
            <a:srgbClr val="000099"/>
          </a:solidFill>
        </p:spPr>
        <p:txBody>
          <a:bodyPr wrap="square" lIns="0" tIns="0" rIns="0" bIns="0" rtlCol="0"/>
          <a:lstStyle/>
          <a:p>
            <a:endParaRPr/>
          </a:p>
        </p:txBody>
      </p:sp>
      <p:sp>
        <p:nvSpPr>
          <p:cNvPr id="279" name="object 279"/>
          <p:cNvSpPr/>
          <p:nvPr/>
        </p:nvSpPr>
        <p:spPr>
          <a:xfrm>
            <a:off x="8175498" y="6195059"/>
            <a:ext cx="30480" cy="11430"/>
          </a:xfrm>
          <a:custGeom>
            <a:avLst/>
            <a:gdLst/>
            <a:ahLst/>
            <a:cxnLst/>
            <a:rect l="l" t="t" r="r" b="b"/>
            <a:pathLst>
              <a:path w="30479" h="11429">
                <a:moveTo>
                  <a:pt x="30480" y="5334"/>
                </a:moveTo>
                <a:lnTo>
                  <a:pt x="8382" y="0"/>
                </a:lnTo>
                <a:lnTo>
                  <a:pt x="0" y="4572"/>
                </a:lnTo>
                <a:lnTo>
                  <a:pt x="21336" y="11430"/>
                </a:lnTo>
                <a:lnTo>
                  <a:pt x="30480" y="5334"/>
                </a:lnTo>
                <a:close/>
              </a:path>
            </a:pathLst>
          </a:custGeom>
          <a:solidFill>
            <a:srgbClr val="00CC99"/>
          </a:solidFill>
        </p:spPr>
        <p:txBody>
          <a:bodyPr wrap="square" lIns="0" tIns="0" rIns="0" bIns="0" rtlCol="0"/>
          <a:lstStyle/>
          <a:p>
            <a:endParaRPr/>
          </a:p>
        </p:txBody>
      </p:sp>
      <p:sp>
        <p:nvSpPr>
          <p:cNvPr id="280" name="object 280"/>
          <p:cNvSpPr/>
          <p:nvPr/>
        </p:nvSpPr>
        <p:spPr>
          <a:xfrm>
            <a:off x="8174736" y="6200394"/>
            <a:ext cx="22860" cy="6985"/>
          </a:xfrm>
          <a:custGeom>
            <a:avLst/>
            <a:gdLst/>
            <a:ahLst/>
            <a:cxnLst/>
            <a:rect l="l" t="t" r="r" b="b"/>
            <a:pathLst>
              <a:path w="22859" h="6985">
                <a:moveTo>
                  <a:pt x="22860" y="6095"/>
                </a:moveTo>
                <a:lnTo>
                  <a:pt x="1524" y="0"/>
                </a:lnTo>
                <a:lnTo>
                  <a:pt x="0" y="762"/>
                </a:lnTo>
                <a:lnTo>
                  <a:pt x="21336" y="6857"/>
                </a:lnTo>
                <a:lnTo>
                  <a:pt x="22860" y="6095"/>
                </a:lnTo>
                <a:close/>
              </a:path>
            </a:pathLst>
          </a:custGeom>
          <a:solidFill>
            <a:srgbClr val="000099"/>
          </a:solidFill>
        </p:spPr>
        <p:txBody>
          <a:bodyPr wrap="square" lIns="0" tIns="0" rIns="0" bIns="0" rtlCol="0"/>
          <a:lstStyle/>
          <a:p>
            <a:endParaRPr/>
          </a:p>
        </p:txBody>
      </p:sp>
      <p:sp>
        <p:nvSpPr>
          <p:cNvPr id="281" name="object 281"/>
          <p:cNvSpPr/>
          <p:nvPr/>
        </p:nvSpPr>
        <p:spPr>
          <a:xfrm>
            <a:off x="8292846" y="6178296"/>
            <a:ext cx="106680" cy="81915"/>
          </a:xfrm>
          <a:custGeom>
            <a:avLst/>
            <a:gdLst/>
            <a:ahLst/>
            <a:cxnLst/>
            <a:rect l="l" t="t" r="r" b="b"/>
            <a:pathLst>
              <a:path w="106679" h="81914">
                <a:moveTo>
                  <a:pt x="106679" y="0"/>
                </a:moveTo>
                <a:lnTo>
                  <a:pt x="761" y="75437"/>
                </a:lnTo>
                <a:lnTo>
                  <a:pt x="0" y="81533"/>
                </a:lnTo>
                <a:lnTo>
                  <a:pt x="105917" y="6857"/>
                </a:lnTo>
                <a:lnTo>
                  <a:pt x="106679" y="0"/>
                </a:lnTo>
                <a:close/>
              </a:path>
            </a:pathLst>
          </a:custGeom>
          <a:solidFill>
            <a:srgbClr val="000099"/>
          </a:solidFill>
        </p:spPr>
        <p:txBody>
          <a:bodyPr wrap="square" lIns="0" tIns="0" rIns="0" bIns="0" rtlCol="0"/>
          <a:lstStyle/>
          <a:p>
            <a:endParaRPr/>
          </a:p>
        </p:txBody>
      </p:sp>
      <p:sp>
        <p:nvSpPr>
          <p:cNvPr id="282" name="object 282"/>
          <p:cNvSpPr/>
          <p:nvPr/>
        </p:nvSpPr>
        <p:spPr>
          <a:xfrm>
            <a:off x="8022336" y="6185153"/>
            <a:ext cx="271780" cy="74295"/>
          </a:xfrm>
          <a:custGeom>
            <a:avLst/>
            <a:gdLst/>
            <a:ahLst/>
            <a:cxnLst/>
            <a:rect l="l" t="t" r="r" b="b"/>
            <a:pathLst>
              <a:path w="271779" h="74295">
                <a:moveTo>
                  <a:pt x="271271" y="73913"/>
                </a:moveTo>
                <a:lnTo>
                  <a:pt x="271271" y="69341"/>
                </a:lnTo>
                <a:lnTo>
                  <a:pt x="3809" y="0"/>
                </a:lnTo>
                <a:lnTo>
                  <a:pt x="761" y="0"/>
                </a:lnTo>
                <a:lnTo>
                  <a:pt x="0" y="2286"/>
                </a:lnTo>
                <a:lnTo>
                  <a:pt x="271271" y="73913"/>
                </a:lnTo>
                <a:close/>
              </a:path>
            </a:pathLst>
          </a:custGeom>
          <a:solidFill>
            <a:srgbClr val="000099"/>
          </a:solidFill>
        </p:spPr>
        <p:txBody>
          <a:bodyPr wrap="square" lIns="0" tIns="0" rIns="0" bIns="0" rtlCol="0"/>
          <a:lstStyle/>
          <a:p>
            <a:endParaRPr/>
          </a:p>
        </p:txBody>
      </p:sp>
      <p:sp>
        <p:nvSpPr>
          <p:cNvPr id="283" name="object 283"/>
          <p:cNvSpPr/>
          <p:nvPr/>
        </p:nvSpPr>
        <p:spPr>
          <a:xfrm>
            <a:off x="8022336" y="6110478"/>
            <a:ext cx="126491" cy="76200"/>
          </a:xfrm>
          <a:prstGeom prst="rect">
            <a:avLst/>
          </a:prstGeom>
          <a:blipFill>
            <a:blip r:embed="rId113" cstate="print"/>
            <a:stretch>
              <a:fillRect/>
            </a:stretch>
          </a:blipFill>
        </p:spPr>
        <p:txBody>
          <a:bodyPr wrap="square" lIns="0" tIns="0" rIns="0" bIns="0" rtlCol="0"/>
          <a:lstStyle/>
          <a:p>
            <a:endParaRPr/>
          </a:p>
        </p:txBody>
      </p:sp>
      <p:sp>
        <p:nvSpPr>
          <p:cNvPr id="284" name="object 284"/>
          <p:cNvSpPr/>
          <p:nvPr/>
        </p:nvSpPr>
        <p:spPr>
          <a:xfrm>
            <a:off x="8031479" y="6174485"/>
            <a:ext cx="257810" cy="71755"/>
          </a:xfrm>
          <a:custGeom>
            <a:avLst/>
            <a:gdLst/>
            <a:ahLst/>
            <a:cxnLst/>
            <a:rect l="l" t="t" r="r" b="b"/>
            <a:pathLst>
              <a:path w="257809" h="71754">
                <a:moveTo>
                  <a:pt x="257556" y="67055"/>
                </a:moveTo>
                <a:lnTo>
                  <a:pt x="3048" y="0"/>
                </a:lnTo>
                <a:lnTo>
                  <a:pt x="0" y="0"/>
                </a:lnTo>
                <a:lnTo>
                  <a:pt x="0" y="2285"/>
                </a:lnTo>
                <a:lnTo>
                  <a:pt x="256794" y="71627"/>
                </a:lnTo>
                <a:lnTo>
                  <a:pt x="257556" y="67055"/>
                </a:lnTo>
                <a:close/>
              </a:path>
            </a:pathLst>
          </a:custGeom>
          <a:solidFill>
            <a:srgbClr val="000099"/>
          </a:solidFill>
        </p:spPr>
        <p:txBody>
          <a:bodyPr wrap="square" lIns="0" tIns="0" rIns="0" bIns="0" rtlCol="0"/>
          <a:lstStyle/>
          <a:p>
            <a:endParaRPr/>
          </a:p>
        </p:txBody>
      </p:sp>
      <p:sp>
        <p:nvSpPr>
          <p:cNvPr id="285" name="object 285"/>
          <p:cNvSpPr/>
          <p:nvPr/>
        </p:nvSpPr>
        <p:spPr>
          <a:xfrm>
            <a:off x="8288274" y="6169914"/>
            <a:ext cx="105410" cy="73660"/>
          </a:xfrm>
          <a:custGeom>
            <a:avLst/>
            <a:gdLst/>
            <a:ahLst/>
            <a:cxnLst/>
            <a:rect l="l" t="t" r="r" b="b"/>
            <a:pathLst>
              <a:path w="105409" h="73660">
                <a:moveTo>
                  <a:pt x="105155" y="4571"/>
                </a:moveTo>
                <a:lnTo>
                  <a:pt x="105155" y="0"/>
                </a:lnTo>
                <a:lnTo>
                  <a:pt x="0" y="70865"/>
                </a:lnTo>
                <a:lnTo>
                  <a:pt x="0" y="73151"/>
                </a:lnTo>
                <a:lnTo>
                  <a:pt x="1524" y="73151"/>
                </a:lnTo>
                <a:lnTo>
                  <a:pt x="105155" y="4571"/>
                </a:lnTo>
                <a:close/>
              </a:path>
            </a:pathLst>
          </a:custGeom>
          <a:solidFill>
            <a:srgbClr val="000099"/>
          </a:solidFill>
        </p:spPr>
        <p:txBody>
          <a:bodyPr wrap="square" lIns="0" tIns="0" rIns="0" bIns="0" rtlCol="0"/>
          <a:lstStyle/>
          <a:p>
            <a:endParaRPr/>
          </a:p>
        </p:txBody>
      </p:sp>
      <p:sp>
        <p:nvSpPr>
          <p:cNvPr id="286" name="object 286"/>
          <p:cNvSpPr txBox="1"/>
          <p:nvPr/>
        </p:nvSpPr>
        <p:spPr>
          <a:xfrm>
            <a:off x="492802" y="1826512"/>
            <a:ext cx="5176774" cy="4614084"/>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en-US" sz="2400" spc="-5" dirty="0" err="1">
                <a:latin typeface="Arial"/>
                <a:cs typeface="Arial"/>
              </a:rPr>
              <a:t>Giao</a:t>
            </a:r>
            <a:r>
              <a:rPr lang="en-US" sz="2400" spc="-5" dirty="0">
                <a:latin typeface="Arial"/>
                <a:cs typeface="Arial"/>
              </a:rPr>
              <a:t> </a:t>
            </a:r>
            <a:r>
              <a:rPr lang="en-US" sz="2400" spc="-5" dirty="0" err="1">
                <a:latin typeface="Arial"/>
                <a:cs typeface="Arial"/>
              </a:rPr>
              <a:t>thức</a:t>
            </a:r>
            <a:r>
              <a:rPr lang="en-US" sz="2400" spc="-5" dirty="0">
                <a:latin typeface="Arial"/>
                <a:cs typeface="Arial"/>
              </a:rPr>
              <a:t> </a:t>
            </a:r>
            <a:r>
              <a:rPr lang="en-US" sz="2400" spc="-5" dirty="0" err="1">
                <a:latin typeface="Arial"/>
                <a:cs typeface="Arial"/>
              </a:rPr>
              <a:t>tầng</a:t>
            </a:r>
            <a:r>
              <a:rPr lang="en-US" sz="2400" spc="-5" dirty="0">
                <a:latin typeface="Arial"/>
                <a:cs typeface="Arial"/>
              </a:rPr>
              <a:t> </a:t>
            </a:r>
            <a:r>
              <a:rPr lang="en-US" sz="2400" spc="-5" dirty="0" err="1">
                <a:latin typeface="Arial"/>
                <a:cs typeface="Arial"/>
              </a:rPr>
              <a:t>giao</a:t>
            </a:r>
            <a:r>
              <a:rPr lang="en-US" sz="2400" spc="-5" dirty="0">
                <a:latin typeface="Arial"/>
                <a:cs typeface="Arial"/>
              </a:rPr>
              <a:t> </a:t>
            </a:r>
            <a:r>
              <a:rPr lang="en-US" sz="2400" spc="-5" dirty="0" err="1">
                <a:latin typeface="Arial"/>
                <a:cs typeface="Arial"/>
              </a:rPr>
              <a:t>vận</a:t>
            </a:r>
            <a:r>
              <a:rPr lang="en-US" sz="2400" spc="-5" dirty="0">
                <a:latin typeface="Arial"/>
                <a:cs typeface="Arial"/>
              </a:rPr>
              <a:t> </a:t>
            </a:r>
            <a:r>
              <a:rPr lang="en-US" sz="2400" spc="-5" dirty="0" err="1">
                <a:latin typeface="Arial"/>
                <a:cs typeface="Arial"/>
              </a:rPr>
              <a:t>của</a:t>
            </a:r>
            <a:r>
              <a:rPr lang="en-US" sz="2400" spc="-5" dirty="0">
                <a:latin typeface="Arial"/>
                <a:cs typeface="Arial"/>
              </a:rPr>
              <a:t> Internet</a:t>
            </a:r>
          </a:p>
          <a:p>
            <a:pPr marL="755650" marR="5080" lvl="1" indent="-285750">
              <a:spcBef>
                <a:spcPts val="480"/>
              </a:spcBef>
              <a:buClr>
                <a:srgbClr val="3333CC"/>
              </a:buClr>
              <a:buSzPct val="75000"/>
              <a:buFont typeface="Wingdings"/>
              <a:buChar char=""/>
              <a:tabLst>
                <a:tab pos="755650" algn="l"/>
              </a:tabLst>
            </a:pPr>
            <a:r>
              <a:rPr lang="en-US" sz="2000" spc="-5" dirty="0">
                <a:latin typeface="Arial"/>
                <a:cs typeface="Arial"/>
              </a:rPr>
              <a:t>TCP (Transmission Control Protocol)</a:t>
            </a:r>
          </a:p>
          <a:p>
            <a:pPr marL="755650" marR="5080" lvl="1" indent="-285750">
              <a:spcBef>
                <a:spcPts val="480"/>
              </a:spcBef>
              <a:buClr>
                <a:srgbClr val="3333CC"/>
              </a:buClr>
              <a:buSzPct val="75000"/>
              <a:buFont typeface="Wingdings"/>
              <a:buChar char=""/>
              <a:tabLst>
                <a:tab pos="755650" algn="l"/>
              </a:tabLst>
            </a:pPr>
            <a:r>
              <a:rPr lang="en-US" sz="2000" spc="-5" dirty="0">
                <a:latin typeface="Arial"/>
                <a:cs typeface="Arial"/>
              </a:rPr>
              <a:t>UDP( User Datagram Protocol)</a:t>
            </a:r>
          </a:p>
          <a:p>
            <a:pPr marL="355600" marR="180340" indent="-342900">
              <a:lnSpc>
                <a:spcPct val="100000"/>
              </a:lnSpc>
              <a:spcBef>
                <a:spcPts val="565"/>
              </a:spcBef>
              <a:buClr>
                <a:srgbClr val="3333CC"/>
              </a:buClr>
              <a:buSzPct val="83333"/>
              <a:buFont typeface="Wingdings"/>
              <a:buChar char=""/>
              <a:tabLst>
                <a:tab pos="355600" algn="l"/>
              </a:tabLst>
            </a:pPr>
            <a:r>
              <a:rPr lang="en-US" sz="2400" spc="-5" dirty="0" err="1">
                <a:latin typeface="Arial"/>
                <a:cs typeface="Arial"/>
              </a:rPr>
              <a:t>Hai</a:t>
            </a:r>
            <a:r>
              <a:rPr lang="en-US" sz="2400" spc="-5" dirty="0">
                <a:latin typeface="Arial"/>
                <a:cs typeface="Arial"/>
              </a:rPr>
              <a:t> </a:t>
            </a:r>
            <a:r>
              <a:rPr lang="en-US" sz="2400" spc="-5" dirty="0" err="1">
                <a:latin typeface="Arial"/>
                <a:cs typeface="Arial"/>
              </a:rPr>
              <a:t>dạng</a:t>
            </a:r>
            <a:r>
              <a:rPr lang="en-US" sz="2400" spc="-5" dirty="0">
                <a:latin typeface="Arial"/>
                <a:cs typeface="Arial"/>
              </a:rPr>
              <a:t> </a:t>
            </a:r>
            <a:r>
              <a:rPr lang="en-US" sz="2400" spc="-5" dirty="0" err="1">
                <a:latin typeface="Arial"/>
                <a:cs typeface="Arial"/>
              </a:rPr>
              <a:t>dịch</a:t>
            </a:r>
            <a:r>
              <a:rPr lang="en-US" sz="2400" spc="-5" dirty="0">
                <a:latin typeface="Arial"/>
                <a:cs typeface="Arial"/>
              </a:rPr>
              <a:t> </a:t>
            </a:r>
            <a:r>
              <a:rPr lang="en-US" sz="2400" spc="-5" dirty="0" err="1">
                <a:latin typeface="Arial"/>
                <a:cs typeface="Arial"/>
              </a:rPr>
              <a:t>vụ</a:t>
            </a:r>
            <a:r>
              <a:rPr lang="en-US" sz="2400" spc="-5" dirty="0">
                <a:latin typeface="Arial"/>
                <a:cs typeface="Arial"/>
              </a:rPr>
              <a:t> </a:t>
            </a:r>
            <a:r>
              <a:rPr lang="en-US" sz="2400" spc="-5" dirty="0" err="1">
                <a:latin typeface="Arial"/>
                <a:cs typeface="Arial"/>
              </a:rPr>
              <a:t>giao</a:t>
            </a:r>
            <a:r>
              <a:rPr lang="en-US" sz="2400" spc="-5" dirty="0">
                <a:latin typeface="Arial"/>
                <a:cs typeface="Arial"/>
              </a:rPr>
              <a:t> </a:t>
            </a:r>
            <a:r>
              <a:rPr lang="en-US" sz="2400" spc="-5" dirty="0" err="1">
                <a:latin typeface="Arial"/>
                <a:cs typeface="Arial"/>
              </a:rPr>
              <a:t>vận</a:t>
            </a:r>
            <a:r>
              <a:rPr lang="en-US" sz="2400" spc="-5" dirty="0">
                <a:latin typeface="Arial"/>
                <a:cs typeface="Arial"/>
              </a:rPr>
              <a:t> </a:t>
            </a:r>
            <a:r>
              <a:rPr lang="en-US" sz="2400" spc="-5" dirty="0" err="1">
                <a:latin typeface="Arial"/>
                <a:cs typeface="Arial"/>
              </a:rPr>
              <a:t>của</a:t>
            </a:r>
            <a:r>
              <a:rPr lang="en-US" sz="2400" spc="-5" dirty="0">
                <a:latin typeface="Arial"/>
                <a:cs typeface="Arial"/>
              </a:rPr>
              <a:t> Internet</a:t>
            </a:r>
          </a:p>
          <a:p>
            <a:pPr marL="755650" lvl="1" indent="-285750">
              <a:lnSpc>
                <a:spcPct val="100000"/>
              </a:lnSpc>
              <a:spcBef>
                <a:spcPts val="489"/>
              </a:spcBef>
              <a:buClr>
                <a:srgbClr val="3333CC"/>
              </a:buClr>
              <a:buSzPct val="75000"/>
              <a:buFont typeface="Wingdings"/>
              <a:buChar char=""/>
              <a:tabLst>
                <a:tab pos="755650" algn="l"/>
              </a:tabLst>
            </a:pPr>
            <a:r>
              <a:rPr lang="en-US" sz="2000" spc="-5" dirty="0" err="1">
                <a:latin typeface="Arial"/>
                <a:cs typeface="Arial"/>
              </a:rPr>
              <a:t>Truyền</a:t>
            </a:r>
            <a:r>
              <a:rPr lang="en-US" sz="2000" spc="-5" dirty="0">
                <a:latin typeface="Arial"/>
                <a:cs typeface="Arial"/>
              </a:rPr>
              <a:t> </a:t>
            </a:r>
            <a:r>
              <a:rPr lang="en-US" sz="2000" spc="-5" dirty="0" err="1">
                <a:latin typeface="Arial"/>
                <a:cs typeface="Arial"/>
              </a:rPr>
              <a:t>dữ</a:t>
            </a:r>
            <a:r>
              <a:rPr lang="en-US" sz="2000" spc="-5" dirty="0">
                <a:latin typeface="Arial"/>
                <a:cs typeface="Arial"/>
              </a:rPr>
              <a:t> </a:t>
            </a:r>
            <a:r>
              <a:rPr lang="en-US" sz="2000" spc="-5" dirty="0" err="1">
                <a:latin typeface="Arial"/>
                <a:cs typeface="Arial"/>
              </a:rPr>
              <a:t>liệu</a:t>
            </a:r>
            <a:r>
              <a:rPr lang="en-US" sz="2000" spc="-5" dirty="0">
                <a:latin typeface="Arial"/>
                <a:cs typeface="Arial"/>
              </a:rPr>
              <a:t> tin </a:t>
            </a:r>
            <a:r>
              <a:rPr lang="en-US" sz="2000" spc="-5" dirty="0" err="1">
                <a:latin typeface="Arial"/>
                <a:cs typeface="Arial"/>
              </a:rPr>
              <a:t>cậy</a:t>
            </a:r>
            <a:r>
              <a:rPr lang="en-US" sz="2000" spc="-5" dirty="0">
                <a:latin typeface="Arial"/>
                <a:cs typeface="Arial"/>
              </a:rPr>
              <a:t>: TCP</a:t>
            </a:r>
          </a:p>
          <a:p>
            <a:pPr marL="755650" lvl="1" indent="-285750">
              <a:lnSpc>
                <a:spcPct val="100000"/>
              </a:lnSpc>
              <a:spcBef>
                <a:spcPts val="489"/>
              </a:spcBef>
              <a:buClr>
                <a:srgbClr val="3333CC"/>
              </a:buClr>
              <a:buSzPct val="75000"/>
              <a:buFont typeface="Wingdings"/>
              <a:buChar char=""/>
              <a:tabLst>
                <a:tab pos="755650" algn="l"/>
              </a:tabLst>
            </a:pPr>
            <a:r>
              <a:rPr lang="en-US" sz="2000" spc="-5" dirty="0" err="1">
                <a:latin typeface="Arial"/>
                <a:cs typeface="Arial"/>
              </a:rPr>
              <a:t>Truyền</a:t>
            </a:r>
            <a:r>
              <a:rPr lang="en-US" sz="2000" spc="-5" dirty="0">
                <a:latin typeface="Arial"/>
                <a:cs typeface="Arial"/>
              </a:rPr>
              <a:t> </a:t>
            </a:r>
            <a:r>
              <a:rPr lang="en-US" sz="2000" spc="-5" dirty="0" err="1">
                <a:latin typeface="Arial"/>
                <a:cs typeface="Arial"/>
              </a:rPr>
              <a:t>dữ</a:t>
            </a:r>
            <a:r>
              <a:rPr lang="en-US" sz="2000" spc="-5" dirty="0">
                <a:latin typeface="Arial"/>
                <a:cs typeface="Arial"/>
              </a:rPr>
              <a:t> </a:t>
            </a:r>
            <a:r>
              <a:rPr lang="en-US" sz="2000" spc="-5" dirty="0" err="1">
                <a:latin typeface="Arial"/>
                <a:cs typeface="Arial"/>
              </a:rPr>
              <a:t>liệu</a:t>
            </a:r>
            <a:r>
              <a:rPr lang="en-US" sz="2000" spc="-5" dirty="0">
                <a:latin typeface="Arial"/>
                <a:cs typeface="Arial"/>
              </a:rPr>
              <a:t> </a:t>
            </a:r>
            <a:r>
              <a:rPr lang="en-US" sz="2000" spc="-5" dirty="0" err="1">
                <a:latin typeface="Arial"/>
                <a:cs typeface="Arial"/>
              </a:rPr>
              <a:t>không</a:t>
            </a:r>
            <a:r>
              <a:rPr lang="en-US" sz="2000" spc="-5" dirty="0">
                <a:latin typeface="Arial"/>
                <a:cs typeface="Arial"/>
              </a:rPr>
              <a:t> tin </a:t>
            </a:r>
            <a:r>
              <a:rPr lang="en-US" sz="2000" spc="-5" dirty="0" err="1">
                <a:latin typeface="Arial"/>
                <a:cs typeface="Arial"/>
              </a:rPr>
              <a:t>cậy</a:t>
            </a:r>
            <a:r>
              <a:rPr lang="en-US" sz="2000" spc="-5" dirty="0">
                <a:latin typeface="Arial"/>
                <a:cs typeface="Arial"/>
              </a:rPr>
              <a:t>: UDP</a:t>
            </a:r>
          </a:p>
          <a:p>
            <a:pPr marL="355600" marR="99695" indent="-342900">
              <a:lnSpc>
                <a:spcPct val="100000"/>
              </a:lnSpc>
              <a:spcBef>
                <a:spcPts val="575"/>
              </a:spcBef>
              <a:buClr>
                <a:srgbClr val="3333CC"/>
              </a:buClr>
              <a:buSzPct val="83333"/>
              <a:buFont typeface="Wingdings"/>
              <a:buChar char=""/>
              <a:tabLst>
                <a:tab pos="355600" algn="l"/>
              </a:tabLst>
            </a:pPr>
            <a:r>
              <a:rPr lang="en-US" sz="2400" dirty="0" err="1">
                <a:latin typeface="Arial"/>
                <a:cs typeface="Arial"/>
              </a:rPr>
              <a:t>Tầng</a:t>
            </a:r>
            <a:r>
              <a:rPr lang="en-US" sz="2400" dirty="0">
                <a:latin typeface="Arial"/>
                <a:cs typeface="Arial"/>
              </a:rPr>
              <a:t> </a:t>
            </a:r>
            <a:r>
              <a:rPr lang="en-US" sz="2400" dirty="0" err="1">
                <a:latin typeface="Arial"/>
                <a:cs typeface="Arial"/>
              </a:rPr>
              <a:t>giao</a:t>
            </a:r>
            <a:r>
              <a:rPr lang="en-US" sz="2400" dirty="0">
                <a:latin typeface="Arial"/>
                <a:cs typeface="Arial"/>
              </a:rPr>
              <a:t> </a:t>
            </a:r>
            <a:r>
              <a:rPr lang="en-US" sz="2400" dirty="0" err="1">
                <a:latin typeface="Arial"/>
                <a:cs typeface="Arial"/>
              </a:rPr>
              <a:t>vận</a:t>
            </a:r>
            <a:r>
              <a:rPr lang="en-US" sz="2400" dirty="0">
                <a:latin typeface="Arial"/>
                <a:cs typeface="Arial"/>
              </a:rPr>
              <a:t> Internet </a:t>
            </a:r>
            <a:r>
              <a:rPr lang="en-US" sz="2400" dirty="0" err="1">
                <a:latin typeface="Arial"/>
                <a:cs typeface="Arial"/>
              </a:rPr>
              <a:t>không</a:t>
            </a:r>
            <a:r>
              <a:rPr lang="en-US" sz="2400" dirty="0">
                <a:latin typeface="Arial"/>
                <a:cs typeface="Arial"/>
              </a:rPr>
              <a:t> </a:t>
            </a:r>
            <a:r>
              <a:rPr lang="en-US" sz="2400" dirty="0" err="1">
                <a:latin typeface="Arial"/>
                <a:cs typeface="Arial"/>
              </a:rPr>
              <a:t>cung</a:t>
            </a:r>
            <a:r>
              <a:rPr lang="en-US" sz="2400" dirty="0">
                <a:latin typeface="Arial"/>
                <a:cs typeface="Arial"/>
              </a:rPr>
              <a:t> </a:t>
            </a:r>
            <a:r>
              <a:rPr lang="en-US" sz="2400" dirty="0" err="1">
                <a:latin typeface="Arial"/>
                <a:cs typeface="Arial"/>
              </a:rPr>
              <a:t>cấp</a:t>
            </a:r>
            <a:r>
              <a:rPr lang="en-US" sz="2400" dirty="0">
                <a:latin typeface="Arial"/>
                <a:cs typeface="Arial"/>
              </a:rPr>
              <a:t> </a:t>
            </a:r>
            <a:r>
              <a:rPr lang="en-US" sz="2400" dirty="0" err="1">
                <a:latin typeface="Arial"/>
                <a:cs typeface="Arial"/>
              </a:rPr>
              <a:t>các</a:t>
            </a:r>
            <a:r>
              <a:rPr lang="en-US" sz="2400" dirty="0">
                <a:latin typeface="Arial"/>
                <a:cs typeface="Arial"/>
              </a:rPr>
              <a:t> </a:t>
            </a:r>
            <a:r>
              <a:rPr lang="en-US" sz="2400" dirty="0" err="1">
                <a:latin typeface="Arial"/>
                <a:cs typeface="Arial"/>
              </a:rPr>
              <a:t>dịch</a:t>
            </a:r>
            <a:r>
              <a:rPr lang="en-US" sz="2400" dirty="0">
                <a:latin typeface="Arial"/>
                <a:cs typeface="Arial"/>
              </a:rPr>
              <a:t> </a:t>
            </a:r>
            <a:r>
              <a:rPr lang="en-US" sz="2400" dirty="0" err="1">
                <a:latin typeface="Arial"/>
                <a:cs typeface="Arial"/>
              </a:rPr>
              <a:t>vụ</a:t>
            </a:r>
            <a:r>
              <a:rPr sz="2400" spc="-5" dirty="0">
                <a:latin typeface="Arial"/>
                <a:cs typeface="Arial"/>
              </a:rPr>
              <a:t>:</a:t>
            </a:r>
            <a:endParaRPr sz="2400" dirty="0">
              <a:latin typeface="Arial"/>
              <a:cs typeface="Arial"/>
            </a:endParaRPr>
          </a:p>
          <a:p>
            <a:pPr marL="755650" lvl="1" indent="-285750">
              <a:lnSpc>
                <a:spcPct val="100000"/>
              </a:lnSpc>
              <a:spcBef>
                <a:spcPts val="490"/>
              </a:spcBef>
              <a:buClr>
                <a:srgbClr val="3333CC"/>
              </a:buClr>
              <a:buSzPct val="75000"/>
              <a:buFont typeface="Wingdings"/>
              <a:buChar char=""/>
              <a:tabLst>
                <a:tab pos="755650" algn="l"/>
              </a:tabLst>
            </a:pPr>
            <a:r>
              <a:rPr sz="2000" spc="-5" dirty="0">
                <a:latin typeface="Arial"/>
                <a:cs typeface="Arial"/>
              </a:rPr>
              <a:t>đảm bảo độ</a:t>
            </a:r>
            <a:r>
              <a:rPr sz="2000" spc="-20" dirty="0">
                <a:latin typeface="Arial"/>
                <a:cs typeface="Arial"/>
              </a:rPr>
              <a:t> </a:t>
            </a:r>
            <a:r>
              <a:rPr sz="2000" spc="-10" dirty="0">
                <a:latin typeface="Arial"/>
                <a:cs typeface="Arial"/>
              </a:rPr>
              <a:t>trễ</a:t>
            </a:r>
            <a:endParaRPr sz="2000" dirty="0">
              <a:latin typeface="Arial"/>
              <a:cs typeface="Arial"/>
            </a:endParaRPr>
          </a:p>
          <a:p>
            <a:pPr marL="755650" lvl="1" indent="-285750">
              <a:lnSpc>
                <a:spcPct val="100000"/>
              </a:lnSpc>
              <a:spcBef>
                <a:spcPts val="480"/>
              </a:spcBef>
              <a:buClr>
                <a:srgbClr val="3333CC"/>
              </a:buClr>
              <a:buSzPct val="75000"/>
              <a:buFont typeface="Wingdings"/>
              <a:buChar char=""/>
              <a:tabLst>
                <a:tab pos="755650" algn="l"/>
              </a:tabLst>
            </a:pPr>
            <a:r>
              <a:rPr sz="2000" spc="-5" dirty="0">
                <a:latin typeface="Arial"/>
                <a:cs typeface="Arial"/>
              </a:rPr>
              <a:t>đảm </a:t>
            </a:r>
            <a:r>
              <a:rPr sz="2000" spc="-5" dirty="0" err="1">
                <a:latin typeface="Arial"/>
                <a:cs typeface="Arial"/>
              </a:rPr>
              <a:t>bảo</a:t>
            </a:r>
            <a:r>
              <a:rPr sz="2000" spc="-5" dirty="0">
                <a:latin typeface="Arial"/>
                <a:cs typeface="Arial"/>
              </a:rPr>
              <a:t> </a:t>
            </a:r>
            <a:r>
              <a:rPr lang="en-US" sz="2000" spc="-5" dirty="0" err="1">
                <a:latin typeface="Arial"/>
                <a:cs typeface="Arial"/>
              </a:rPr>
              <a:t>thông</a:t>
            </a:r>
            <a:r>
              <a:rPr lang="en-US" sz="2000" spc="-5" dirty="0">
                <a:latin typeface="Arial"/>
                <a:cs typeface="Arial"/>
              </a:rPr>
              <a:t> </a:t>
            </a:r>
            <a:r>
              <a:rPr lang="en-US" sz="2000" spc="-5" dirty="0" err="1">
                <a:latin typeface="Arial"/>
                <a:cs typeface="Arial"/>
              </a:rPr>
              <a:t>lượng</a:t>
            </a:r>
            <a:endParaRPr sz="2000" dirty="0">
              <a:latin typeface="Arial"/>
              <a:cs typeface="Arial"/>
            </a:endParaRPr>
          </a:p>
        </p:txBody>
      </p:sp>
      <p:sp>
        <p:nvSpPr>
          <p:cNvPr id="287" name="object 287"/>
          <p:cNvSpPr/>
          <p:nvPr/>
        </p:nvSpPr>
        <p:spPr>
          <a:xfrm>
            <a:off x="7539227" y="2950082"/>
            <a:ext cx="106045" cy="0"/>
          </a:xfrm>
          <a:custGeom>
            <a:avLst/>
            <a:gdLst/>
            <a:ahLst/>
            <a:cxnLst/>
            <a:rect l="l" t="t" r="r" b="b"/>
            <a:pathLst>
              <a:path w="106045">
                <a:moveTo>
                  <a:pt x="0" y="0"/>
                </a:moveTo>
                <a:lnTo>
                  <a:pt x="105918" y="0"/>
                </a:lnTo>
              </a:path>
            </a:pathLst>
          </a:custGeom>
          <a:ln w="12953">
            <a:solidFill>
              <a:srgbClr val="808080"/>
            </a:solidFill>
          </a:ln>
        </p:spPr>
        <p:txBody>
          <a:bodyPr wrap="square" lIns="0" tIns="0" rIns="0" bIns="0" rtlCol="0"/>
          <a:lstStyle/>
          <a:p>
            <a:endParaRPr/>
          </a:p>
        </p:txBody>
      </p:sp>
      <p:sp>
        <p:nvSpPr>
          <p:cNvPr id="288" name="object 288"/>
          <p:cNvSpPr/>
          <p:nvPr/>
        </p:nvSpPr>
        <p:spPr>
          <a:xfrm>
            <a:off x="7935467" y="5053584"/>
            <a:ext cx="394970" cy="193040"/>
          </a:xfrm>
          <a:custGeom>
            <a:avLst/>
            <a:gdLst/>
            <a:ahLst/>
            <a:cxnLst/>
            <a:rect l="l" t="t" r="r" b="b"/>
            <a:pathLst>
              <a:path w="394970" h="193039">
                <a:moveTo>
                  <a:pt x="394715" y="184403"/>
                </a:moveTo>
                <a:lnTo>
                  <a:pt x="3809" y="0"/>
                </a:lnTo>
                <a:lnTo>
                  <a:pt x="0" y="9144"/>
                </a:lnTo>
                <a:lnTo>
                  <a:pt x="390905" y="192785"/>
                </a:lnTo>
                <a:lnTo>
                  <a:pt x="394715" y="184403"/>
                </a:lnTo>
                <a:close/>
              </a:path>
            </a:pathLst>
          </a:custGeom>
          <a:solidFill>
            <a:srgbClr val="808080"/>
          </a:solidFill>
        </p:spPr>
        <p:txBody>
          <a:bodyPr wrap="square" lIns="0" tIns="0" rIns="0" bIns="0" rtlCol="0"/>
          <a:lstStyle/>
          <a:p>
            <a:endParaRPr/>
          </a:p>
        </p:txBody>
      </p:sp>
      <p:sp>
        <p:nvSpPr>
          <p:cNvPr id="289" name="object 289"/>
          <p:cNvSpPr/>
          <p:nvPr/>
        </p:nvSpPr>
        <p:spPr>
          <a:xfrm>
            <a:off x="7314438" y="5041391"/>
            <a:ext cx="327025" cy="207010"/>
          </a:xfrm>
          <a:custGeom>
            <a:avLst/>
            <a:gdLst/>
            <a:ahLst/>
            <a:cxnLst/>
            <a:rect l="l" t="t" r="r" b="b"/>
            <a:pathLst>
              <a:path w="327025" h="207010">
                <a:moveTo>
                  <a:pt x="326898" y="8381"/>
                </a:moveTo>
                <a:lnTo>
                  <a:pt x="322326" y="0"/>
                </a:lnTo>
                <a:lnTo>
                  <a:pt x="0" y="198119"/>
                </a:lnTo>
                <a:lnTo>
                  <a:pt x="4572" y="206501"/>
                </a:lnTo>
                <a:lnTo>
                  <a:pt x="326898" y="8381"/>
                </a:lnTo>
                <a:close/>
              </a:path>
            </a:pathLst>
          </a:custGeom>
          <a:solidFill>
            <a:srgbClr val="808080"/>
          </a:solidFill>
        </p:spPr>
        <p:txBody>
          <a:bodyPr wrap="square" lIns="0" tIns="0" rIns="0" bIns="0" rtlCol="0"/>
          <a:lstStyle/>
          <a:p>
            <a:endParaRPr/>
          </a:p>
        </p:txBody>
      </p:sp>
      <p:sp>
        <p:nvSpPr>
          <p:cNvPr id="290" name="object 290"/>
          <p:cNvSpPr/>
          <p:nvPr/>
        </p:nvSpPr>
        <p:spPr>
          <a:xfrm>
            <a:off x="7870698" y="3294126"/>
            <a:ext cx="108585" cy="706120"/>
          </a:xfrm>
          <a:custGeom>
            <a:avLst/>
            <a:gdLst/>
            <a:ahLst/>
            <a:cxnLst/>
            <a:rect l="l" t="t" r="r" b="b"/>
            <a:pathLst>
              <a:path w="108584" h="706120">
                <a:moveTo>
                  <a:pt x="108204" y="762"/>
                </a:moveTo>
                <a:lnTo>
                  <a:pt x="98298" y="0"/>
                </a:lnTo>
                <a:lnTo>
                  <a:pt x="0" y="704850"/>
                </a:lnTo>
                <a:lnTo>
                  <a:pt x="9906" y="705612"/>
                </a:lnTo>
                <a:lnTo>
                  <a:pt x="108204" y="762"/>
                </a:lnTo>
                <a:close/>
              </a:path>
            </a:pathLst>
          </a:custGeom>
          <a:solidFill>
            <a:srgbClr val="808080"/>
          </a:solidFill>
        </p:spPr>
        <p:txBody>
          <a:bodyPr wrap="square" lIns="0" tIns="0" rIns="0" bIns="0" rtlCol="0"/>
          <a:lstStyle/>
          <a:p>
            <a:endParaRPr/>
          </a:p>
        </p:txBody>
      </p:sp>
      <p:sp>
        <p:nvSpPr>
          <p:cNvPr id="291" name="object 291"/>
          <p:cNvSpPr/>
          <p:nvPr/>
        </p:nvSpPr>
        <p:spPr>
          <a:xfrm>
            <a:off x="7791450" y="2948177"/>
            <a:ext cx="381000" cy="96774"/>
          </a:xfrm>
          <a:prstGeom prst="rect">
            <a:avLst/>
          </a:prstGeom>
          <a:blipFill>
            <a:blip r:embed="rId114" cstate="print"/>
            <a:stretch>
              <a:fillRect/>
            </a:stretch>
          </a:blipFill>
        </p:spPr>
        <p:txBody>
          <a:bodyPr wrap="square" lIns="0" tIns="0" rIns="0" bIns="0" rtlCol="0"/>
          <a:lstStyle/>
          <a:p>
            <a:endParaRPr/>
          </a:p>
        </p:txBody>
      </p:sp>
      <p:sp>
        <p:nvSpPr>
          <p:cNvPr id="292" name="object 292"/>
          <p:cNvSpPr/>
          <p:nvPr/>
        </p:nvSpPr>
        <p:spPr>
          <a:xfrm>
            <a:off x="7786877" y="2939033"/>
            <a:ext cx="390144" cy="110913"/>
          </a:xfrm>
          <a:prstGeom prst="rect">
            <a:avLst/>
          </a:prstGeom>
          <a:blipFill>
            <a:blip r:embed="rId115" cstate="print"/>
            <a:stretch>
              <a:fillRect/>
            </a:stretch>
          </a:blipFill>
        </p:spPr>
        <p:txBody>
          <a:bodyPr wrap="square" lIns="0" tIns="0" rIns="0" bIns="0" rtlCol="0"/>
          <a:lstStyle/>
          <a:p>
            <a:endParaRPr/>
          </a:p>
        </p:txBody>
      </p:sp>
      <p:sp>
        <p:nvSpPr>
          <p:cNvPr id="293" name="object 293"/>
          <p:cNvSpPr/>
          <p:nvPr/>
        </p:nvSpPr>
        <p:spPr>
          <a:xfrm>
            <a:off x="7791450" y="2873501"/>
            <a:ext cx="381000" cy="112775"/>
          </a:xfrm>
          <a:prstGeom prst="rect">
            <a:avLst/>
          </a:prstGeom>
          <a:blipFill>
            <a:blip r:embed="rId116" cstate="print"/>
            <a:stretch>
              <a:fillRect/>
            </a:stretch>
          </a:blipFill>
        </p:spPr>
        <p:txBody>
          <a:bodyPr wrap="square" lIns="0" tIns="0" rIns="0" bIns="0" rtlCol="0"/>
          <a:lstStyle/>
          <a:p>
            <a:endParaRPr/>
          </a:p>
        </p:txBody>
      </p:sp>
      <p:sp>
        <p:nvSpPr>
          <p:cNvPr id="294" name="object 294"/>
          <p:cNvSpPr/>
          <p:nvPr/>
        </p:nvSpPr>
        <p:spPr>
          <a:xfrm>
            <a:off x="7786877" y="2868929"/>
            <a:ext cx="390525" cy="121920"/>
          </a:xfrm>
          <a:custGeom>
            <a:avLst/>
            <a:gdLst/>
            <a:ahLst/>
            <a:cxnLst/>
            <a:rect l="l" t="t" r="r" b="b"/>
            <a:pathLst>
              <a:path w="390525" h="121919">
                <a:moveTo>
                  <a:pt x="390144" y="65532"/>
                </a:moveTo>
                <a:lnTo>
                  <a:pt x="390144" y="57150"/>
                </a:lnTo>
                <a:lnTo>
                  <a:pt x="362377" y="28644"/>
                </a:lnTo>
                <a:lnTo>
                  <a:pt x="309876" y="11425"/>
                </a:lnTo>
                <a:lnTo>
                  <a:pt x="253694" y="2780"/>
                </a:lnTo>
                <a:lnTo>
                  <a:pt x="214884" y="0"/>
                </a:lnTo>
                <a:lnTo>
                  <a:pt x="175260" y="0"/>
                </a:lnTo>
                <a:lnTo>
                  <a:pt x="135924" y="2866"/>
                </a:lnTo>
                <a:lnTo>
                  <a:pt x="80276" y="11339"/>
                </a:lnTo>
                <a:lnTo>
                  <a:pt x="28305" y="28430"/>
                </a:lnTo>
                <a:lnTo>
                  <a:pt x="0" y="57150"/>
                </a:lnTo>
                <a:lnTo>
                  <a:pt x="0" y="65532"/>
                </a:lnTo>
                <a:lnTo>
                  <a:pt x="1524" y="68580"/>
                </a:lnTo>
                <a:lnTo>
                  <a:pt x="2286" y="71628"/>
                </a:lnTo>
                <a:lnTo>
                  <a:pt x="2286" y="72390"/>
                </a:lnTo>
                <a:lnTo>
                  <a:pt x="3048" y="72390"/>
                </a:lnTo>
                <a:lnTo>
                  <a:pt x="4572" y="75438"/>
                </a:lnTo>
                <a:lnTo>
                  <a:pt x="6858" y="78486"/>
                </a:lnTo>
                <a:lnTo>
                  <a:pt x="9143" y="79773"/>
                </a:lnTo>
                <a:lnTo>
                  <a:pt x="9144" y="59436"/>
                </a:lnTo>
                <a:lnTo>
                  <a:pt x="9906" y="56388"/>
                </a:lnTo>
                <a:lnTo>
                  <a:pt x="66887" y="24135"/>
                </a:lnTo>
                <a:lnTo>
                  <a:pt x="114082" y="14938"/>
                </a:lnTo>
                <a:lnTo>
                  <a:pt x="166854" y="10452"/>
                </a:lnTo>
                <a:lnTo>
                  <a:pt x="223747" y="10431"/>
                </a:lnTo>
                <a:lnTo>
                  <a:pt x="277365" y="15135"/>
                </a:lnTo>
                <a:lnTo>
                  <a:pt x="324270" y="24485"/>
                </a:lnTo>
                <a:lnTo>
                  <a:pt x="360036" y="38488"/>
                </a:lnTo>
                <a:lnTo>
                  <a:pt x="380238" y="57150"/>
                </a:lnTo>
                <a:lnTo>
                  <a:pt x="381000" y="59436"/>
                </a:lnTo>
                <a:lnTo>
                  <a:pt x="381000" y="80389"/>
                </a:lnTo>
                <a:lnTo>
                  <a:pt x="382110" y="79359"/>
                </a:lnTo>
                <a:lnTo>
                  <a:pt x="387858" y="72390"/>
                </a:lnTo>
                <a:lnTo>
                  <a:pt x="387858" y="71628"/>
                </a:lnTo>
                <a:lnTo>
                  <a:pt x="389382" y="67818"/>
                </a:lnTo>
                <a:lnTo>
                  <a:pt x="390144" y="65532"/>
                </a:lnTo>
                <a:close/>
              </a:path>
              <a:path w="390525" h="121919">
                <a:moveTo>
                  <a:pt x="9906" y="58674"/>
                </a:moveTo>
                <a:lnTo>
                  <a:pt x="9144" y="59436"/>
                </a:lnTo>
                <a:lnTo>
                  <a:pt x="9144" y="60960"/>
                </a:lnTo>
                <a:lnTo>
                  <a:pt x="9239" y="61341"/>
                </a:lnTo>
                <a:lnTo>
                  <a:pt x="9906" y="58674"/>
                </a:lnTo>
                <a:close/>
              </a:path>
              <a:path w="390525" h="121919">
                <a:moveTo>
                  <a:pt x="9239" y="61341"/>
                </a:moveTo>
                <a:lnTo>
                  <a:pt x="9144" y="60960"/>
                </a:lnTo>
                <a:lnTo>
                  <a:pt x="9144" y="61722"/>
                </a:lnTo>
                <a:lnTo>
                  <a:pt x="9239" y="61341"/>
                </a:lnTo>
                <a:close/>
              </a:path>
              <a:path w="390525" h="121919">
                <a:moveTo>
                  <a:pt x="9906" y="64008"/>
                </a:moveTo>
                <a:lnTo>
                  <a:pt x="9239" y="61341"/>
                </a:lnTo>
                <a:lnTo>
                  <a:pt x="9144" y="61722"/>
                </a:lnTo>
                <a:lnTo>
                  <a:pt x="9144" y="63246"/>
                </a:lnTo>
                <a:lnTo>
                  <a:pt x="9906" y="64008"/>
                </a:lnTo>
                <a:close/>
              </a:path>
              <a:path w="390525" h="121919">
                <a:moveTo>
                  <a:pt x="11430" y="67818"/>
                </a:moveTo>
                <a:lnTo>
                  <a:pt x="9144" y="63246"/>
                </a:lnTo>
                <a:lnTo>
                  <a:pt x="9143" y="79773"/>
                </a:lnTo>
                <a:lnTo>
                  <a:pt x="10667" y="80632"/>
                </a:lnTo>
                <a:lnTo>
                  <a:pt x="10668" y="67056"/>
                </a:lnTo>
                <a:lnTo>
                  <a:pt x="11430" y="67818"/>
                </a:lnTo>
                <a:close/>
              </a:path>
              <a:path w="390525" h="121919">
                <a:moveTo>
                  <a:pt x="379476" y="81802"/>
                </a:moveTo>
                <a:lnTo>
                  <a:pt x="379476" y="67056"/>
                </a:lnTo>
                <a:lnTo>
                  <a:pt x="377952" y="70104"/>
                </a:lnTo>
                <a:lnTo>
                  <a:pt x="350276" y="88801"/>
                </a:lnTo>
                <a:lnTo>
                  <a:pt x="306816" y="102121"/>
                </a:lnTo>
                <a:lnTo>
                  <a:pt x="252886" y="110066"/>
                </a:lnTo>
                <a:lnTo>
                  <a:pt x="193800" y="112642"/>
                </a:lnTo>
                <a:lnTo>
                  <a:pt x="134873" y="109853"/>
                </a:lnTo>
                <a:lnTo>
                  <a:pt x="81420" y="101704"/>
                </a:lnTo>
                <a:lnTo>
                  <a:pt x="38754" y="88198"/>
                </a:lnTo>
                <a:lnTo>
                  <a:pt x="12192" y="69342"/>
                </a:lnTo>
                <a:lnTo>
                  <a:pt x="10668" y="67056"/>
                </a:lnTo>
                <a:lnTo>
                  <a:pt x="10667" y="80632"/>
                </a:lnTo>
                <a:lnTo>
                  <a:pt x="49565" y="102547"/>
                </a:lnTo>
                <a:lnTo>
                  <a:pt x="107322" y="115990"/>
                </a:lnTo>
                <a:lnTo>
                  <a:pt x="166854" y="121539"/>
                </a:lnTo>
                <a:lnTo>
                  <a:pt x="214884" y="121920"/>
                </a:lnTo>
                <a:lnTo>
                  <a:pt x="233934" y="121158"/>
                </a:lnTo>
                <a:lnTo>
                  <a:pt x="290071" y="114665"/>
                </a:lnTo>
                <a:lnTo>
                  <a:pt x="330334" y="105947"/>
                </a:lnTo>
                <a:lnTo>
                  <a:pt x="368530" y="90297"/>
                </a:lnTo>
                <a:lnTo>
                  <a:pt x="375713" y="85291"/>
                </a:lnTo>
                <a:lnTo>
                  <a:pt x="379476" y="81802"/>
                </a:lnTo>
                <a:close/>
              </a:path>
              <a:path w="390525" h="121919">
                <a:moveTo>
                  <a:pt x="381000" y="80389"/>
                </a:moveTo>
                <a:lnTo>
                  <a:pt x="381000" y="63246"/>
                </a:lnTo>
                <a:lnTo>
                  <a:pt x="380238" y="65532"/>
                </a:lnTo>
                <a:lnTo>
                  <a:pt x="378714" y="67818"/>
                </a:lnTo>
                <a:lnTo>
                  <a:pt x="379476" y="67056"/>
                </a:lnTo>
                <a:lnTo>
                  <a:pt x="379476" y="81802"/>
                </a:lnTo>
                <a:lnTo>
                  <a:pt x="381000" y="80389"/>
                </a:lnTo>
                <a:close/>
              </a:path>
            </a:pathLst>
          </a:custGeom>
          <a:solidFill>
            <a:srgbClr val="808080"/>
          </a:solidFill>
        </p:spPr>
        <p:txBody>
          <a:bodyPr wrap="square" lIns="0" tIns="0" rIns="0" bIns="0" rtlCol="0"/>
          <a:lstStyle/>
          <a:p>
            <a:endParaRPr/>
          </a:p>
        </p:txBody>
      </p:sp>
      <p:sp>
        <p:nvSpPr>
          <p:cNvPr id="295" name="object 295"/>
          <p:cNvSpPr/>
          <p:nvPr/>
        </p:nvSpPr>
        <p:spPr>
          <a:xfrm>
            <a:off x="7869174" y="2895600"/>
            <a:ext cx="212598" cy="65532"/>
          </a:xfrm>
          <a:prstGeom prst="rect">
            <a:avLst/>
          </a:prstGeom>
          <a:blipFill>
            <a:blip r:embed="rId117" cstate="print"/>
            <a:stretch>
              <a:fillRect/>
            </a:stretch>
          </a:blipFill>
        </p:spPr>
        <p:txBody>
          <a:bodyPr wrap="square" lIns="0" tIns="0" rIns="0" bIns="0" rtlCol="0"/>
          <a:lstStyle/>
          <a:p>
            <a:endParaRPr/>
          </a:p>
        </p:txBody>
      </p:sp>
      <p:sp>
        <p:nvSpPr>
          <p:cNvPr id="296" name="object 296"/>
          <p:cNvSpPr/>
          <p:nvPr/>
        </p:nvSpPr>
        <p:spPr>
          <a:xfrm>
            <a:off x="7816596" y="3192779"/>
            <a:ext cx="381000" cy="96773"/>
          </a:xfrm>
          <a:prstGeom prst="rect">
            <a:avLst/>
          </a:prstGeom>
          <a:blipFill>
            <a:blip r:embed="rId118" cstate="print"/>
            <a:stretch>
              <a:fillRect/>
            </a:stretch>
          </a:blipFill>
        </p:spPr>
        <p:txBody>
          <a:bodyPr wrap="square" lIns="0" tIns="0" rIns="0" bIns="0" rtlCol="0"/>
          <a:lstStyle/>
          <a:p>
            <a:endParaRPr/>
          </a:p>
        </p:txBody>
      </p:sp>
      <p:sp>
        <p:nvSpPr>
          <p:cNvPr id="297" name="object 297"/>
          <p:cNvSpPr/>
          <p:nvPr/>
        </p:nvSpPr>
        <p:spPr>
          <a:xfrm>
            <a:off x="7812024" y="3183635"/>
            <a:ext cx="390905" cy="110490"/>
          </a:xfrm>
          <a:prstGeom prst="rect">
            <a:avLst/>
          </a:prstGeom>
          <a:blipFill>
            <a:blip r:embed="rId119" cstate="print"/>
            <a:stretch>
              <a:fillRect/>
            </a:stretch>
          </a:blipFill>
        </p:spPr>
        <p:txBody>
          <a:bodyPr wrap="square" lIns="0" tIns="0" rIns="0" bIns="0" rtlCol="0"/>
          <a:lstStyle/>
          <a:p>
            <a:endParaRPr/>
          </a:p>
        </p:txBody>
      </p:sp>
      <p:sp>
        <p:nvSpPr>
          <p:cNvPr id="298" name="object 298"/>
          <p:cNvSpPr/>
          <p:nvPr/>
        </p:nvSpPr>
        <p:spPr>
          <a:xfrm>
            <a:off x="7816596" y="3118104"/>
            <a:ext cx="381000" cy="112775"/>
          </a:xfrm>
          <a:prstGeom prst="rect">
            <a:avLst/>
          </a:prstGeom>
          <a:blipFill>
            <a:blip r:embed="rId120" cstate="print"/>
            <a:stretch>
              <a:fillRect/>
            </a:stretch>
          </a:blipFill>
        </p:spPr>
        <p:txBody>
          <a:bodyPr wrap="square" lIns="0" tIns="0" rIns="0" bIns="0" rtlCol="0"/>
          <a:lstStyle/>
          <a:p>
            <a:endParaRPr/>
          </a:p>
        </p:txBody>
      </p:sp>
      <p:sp>
        <p:nvSpPr>
          <p:cNvPr id="299" name="object 299"/>
          <p:cNvSpPr/>
          <p:nvPr/>
        </p:nvSpPr>
        <p:spPr>
          <a:xfrm>
            <a:off x="7812024" y="3113574"/>
            <a:ext cx="391160" cy="121920"/>
          </a:xfrm>
          <a:custGeom>
            <a:avLst/>
            <a:gdLst/>
            <a:ahLst/>
            <a:cxnLst/>
            <a:rect l="l" t="t" r="r" b="b"/>
            <a:pathLst>
              <a:path w="391159" h="121919">
                <a:moveTo>
                  <a:pt x="390144" y="65489"/>
                </a:moveTo>
                <a:lnTo>
                  <a:pt x="390144" y="57107"/>
                </a:lnTo>
                <a:lnTo>
                  <a:pt x="389382" y="53297"/>
                </a:lnTo>
                <a:lnTo>
                  <a:pt x="340065" y="19152"/>
                </a:lnTo>
                <a:lnTo>
                  <a:pt x="297403" y="8485"/>
                </a:lnTo>
                <a:lnTo>
                  <a:pt x="247579" y="2099"/>
                </a:lnTo>
                <a:lnTo>
                  <a:pt x="194224" y="0"/>
                </a:lnTo>
                <a:lnTo>
                  <a:pt x="140966" y="2194"/>
                </a:lnTo>
                <a:lnTo>
                  <a:pt x="91438" y="8691"/>
                </a:lnTo>
                <a:lnTo>
                  <a:pt x="49267" y="19496"/>
                </a:lnTo>
                <a:lnTo>
                  <a:pt x="1523" y="54059"/>
                </a:lnTo>
                <a:lnTo>
                  <a:pt x="761" y="57107"/>
                </a:lnTo>
                <a:lnTo>
                  <a:pt x="0" y="57107"/>
                </a:lnTo>
                <a:lnTo>
                  <a:pt x="0" y="64727"/>
                </a:lnTo>
                <a:lnTo>
                  <a:pt x="762" y="64727"/>
                </a:lnTo>
                <a:lnTo>
                  <a:pt x="762" y="65489"/>
                </a:lnTo>
                <a:lnTo>
                  <a:pt x="1524" y="68537"/>
                </a:lnTo>
                <a:lnTo>
                  <a:pt x="3048" y="71585"/>
                </a:lnTo>
                <a:lnTo>
                  <a:pt x="3048" y="72347"/>
                </a:lnTo>
                <a:lnTo>
                  <a:pt x="5334" y="75395"/>
                </a:lnTo>
                <a:lnTo>
                  <a:pt x="9905" y="78925"/>
                </a:lnTo>
                <a:lnTo>
                  <a:pt x="9906" y="59393"/>
                </a:lnTo>
                <a:lnTo>
                  <a:pt x="10668" y="56345"/>
                </a:lnTo>
                <a:lnTo>
                  <a:pt x="30541" y="37941"/>
                </a:lnTo>
                <a:lnTo>
                  <a:pt x="66393" y="24119"/>
                </a:lnTo>
                <a:lnTo>
                  <a:pt x="113645" y="14895"/>
                </a:lnTo>
                <a:lnTo>
                  <a:pt x="167720" y="10287"/>
                </a:lnTo>
                <a:lnTo>
                  <a:pt x="224041" y="10313"/>
                </a:lnTo>
                <a:lnTo>
                  <a:pt x="278031" y="14991"/>
                </a:lnTo>
                <a:lnTo>
                  <a:pt x="325112" y="24337"/>
                </a:lnTo>
                <a:lnTo>
                  <a:pt x="360706" y="38370"/>
                </a:lnTo>
                <a:lnTo>
                  <a:pt x="381000" y="59393"/>
                </a:lnTo>
                <a:lnTo>
                  <a:pt x="381000" y="78791"/>
                </a:lnTo>
                <a:lnTo>
                  <a:pt x="386334" y="74633"/>
                </a:lnTo>
                <a:lnTo>
                  <a:pt x="387858" y="72347"/>
                </a:lnTo>
                <a:lnTo>
                  <a:pt x="387858" y="71585"/>
                </a:lnTo>
                <a:lnTo>
                  <a:pt x="389382" y="67775"/>
                </a:lnTo>
                <a:lnTo>
                  <a:pt x="390144" y="65489"/>
                </a:lnTo>
                <a:close/>
              </a:path>
              <a:path w="391159" h="121919">
                <a:moveTo>
                  <a:pt x="381000" y="78791"/>
                </a:moveTo>
                <a:lnTo>
                  <a:pt x="381000" y="62441"/>
                </a:lnTo>
                <a:lnTo>
                  <a:pt x="380238" y="65489"/>
                </a:lnTo>
                <a:lnTo>
                  <a:pt x="379476" y="67775"/>
                </a:lnTo>
                <a:lnTo>
                  <a:pt x="379476" y="67013"/>
                </a:lnTo>
                <a:lnTo>
                  <a:pt x="377952" y="70061"/>
                </a:lnTo>
                <a:lnTo>
                  <a:pt x="350583" y="88549"/>
                </a:lnTo>
                <a:lnTo>
                  <a:pt x="307318" y="101776"/>
                </a:lnTo>
                <a:lnTo>
                  <a:pt x="253483" y="109716"/>
                </a:lnTo>
                <a:lnTo>
                  <a:pt x="194405" y="112347"/>
                </a:lnTo>
                <a:lnTo>
                  <a:pt x="135410" y="109644"/>
                </a:lnTo>
                <a:lnTo>
                  <a:pt x="81825" y="101584"/>
                </a:lnTo>
                <a:lnTo>
                  <a:pt x="38977" y="88144"/>
                </a:lnTo>
                <a:lnTo>
                  <a:pt x="12192" y="69299"/>
                </a:lnTo>
                <a:lnTo>
                  <a:pt x="11430" y="67013"/>
                </a:lnTo>
                <a:lnTo>
                  <a:pt x="11430" y="67775"/>
                </a:lnTo>
                <a:lnTo>
                  <a:pt x="9906" y="64727"/>
                </a:lnTo>
                <a:lnTo>
                  <a:pt x="9905" y="78925"/>
                </a:lnTo>
                <a:lnTo>
                  <a:pt x="29128" y="93766"/>
                </a:lnTo>
                <a:lnTo>
                  <a:pt x="66765" y="107574"/>
                </a:lnTo>
                <a:lnTo>
                  <a:pt x="114300" y="116797"/>
                </a:lnTo>
                <a:lnTo>
                  <a:pt x="167720" y="121407"/>
                </a:lnTo>
                <a:lnTo>
                  <a:pt x="224041" y="121333"/>
                </a:lnTo>
                <a:lnTo>
                  <a:pt x="276817" y="116737"/>
                </a:lnTo>
                <a:lnTo>
                  <a:pt x="324474" y="107403"/>
                </a:lnTo>
                <a:lnTo>
                  <a:pt x="362294" y="93375"/>
                </a:lnTo>
                <a:lnTo>
                  <a:pt x="381000" y="78791"/>
                </a:lnTo>
                <a:close/>
              </a:path>
              <a:path w="391159" h="121919">
                <a:moveTo>
                  <a:pt x="390906" y="61679"/>
                </a:moveTo>
                <a:lnTo>
                  <a:pt x="390906" y="60917"/>
                </a:lnTo>
                <a:lnTo>
                  <a:pt x="390144" y="57869"/>
                </a:lnTo>
                <a:lnTo>
                  <a:pt x="390144" y="63965"/>
                </a:lnTo>
                <a:lnTo>
                  <a:pt x="390906" y="61679"/>
                </a:lnTo>
                <a:close/>
              </a:path>
            </a:pathLst>
          </a:custGeom>
          <a:solidFill>
            <a:srgbClr val="808080"/>
          </a:solidFill>
        </p:spPr>
        <p:txBody>
          <a:bodyPr wrap="square" lIns="0" tIns="0" rIns="0" bIns="0" rtlCol="0"/>
          <a:lstStyle/>
          <a:p>
            <a:endParaRPr/>
          </a:p>
        </p:txBody>
      </p:sp>
      <p:sp>
        <p:nvSpPr>
          <p:cNvPr id="300" name="object 300"/>
          <p:cNvSpPr/>
          <p:nvPr/>
        </p:nvSpPr>
        <p:spPr>
          <a:xfrm>
            <a:off x="7894320" y="3140201"/>
            <a:ext cx="213359" cy="65532"/>
          </a:xfrm>
          <a:prstGeom prst="rect">
            <a:avLst/>
          </a:prstGeom>
          <a:blipFill>
            <a:blip r:embed="rId121" cstate="print"/>
            <a:stretch>
              <a:fillRect/>
            </a:stretch>
          </a:blipFill>
        </p:spPr>
        <p:txBody>
          <a:bodyPr wrap="square" lIns="0" tIns="0" rIns="0" bIns="0" rtlCol="0"/>
          <a:lstStyle/>
          <a:p>
            <a:endParaRPr/>
          </a:p>
        </p:txBody>
      </p:sp>
      <p:sp>
        <p:nvSpPr>
          <p:cNvPr id="301" name="object 301"/>
          <p:cNvSpPr/>
          <p:nvPr/>
        </p:nvSpPr>
        <p:spPr>
          <a:xfrm>
            <a:off x="7672577" y="4092702"/>
            <a:ext cx="467868" cy="100584"/>
          </a:xfrm>
          <a:prstGeom prst="rect">
            <a:avLst/>
          </a:prstGeom>
          <a:blipFill>
            <a:blip r:embed="rId122" cstate="print"/>
            <a:stretch>
              <a:fillRect/>
            </a:stretch>
          </a:blipFill>
        </p:spPr>
        <p:txBody>
          <a:bodyPr wrap="square" lIns="0" tIns="0" rIns="0" bIns="0" rtlCol="0"/>
          <a:lstStyle/>
          <a:p>
            <a:endParaRPr/>
          </a:p>
        </p:txBody>
      </p:sp>
      <p:sp>
        <p:nvSpPr>
          <p:cNvPr id="302" name="object 302"/>
          <p:cNvSpPr/>
          <p:nvPr/>
        </p:nvSpPr>
        <p:spPr>
          <a:xfrm>
            <a:off x="7668005" y="4082796"/>
            <a:ext cx="434340" cy="114566"/>
          </a:xfrm>
          <a:prstGeom prst="rect">
            <a:avLst/>
          </a:prstGeom>
          <a:blipFill>
            <a:blip r:embed="rId123" cstate="print"/>
            <a:stretch>
              <a:fillRect/>
            </a:stretch>
          </a:blipFill>
        </p:spPr>
        <p:txBody>
          <a:bodyPr wrap="square" lIns="0" tIns="0" rIns="0" bIns="0" rtlCol="0"/>
          <a:lstStyle/>
          <a:p>
            <a:endParaRPr/>
          </a:p>
        </p:txBody>
      </p:sp>
      <p:sp>
        <p:nvSpPr>
          <p:cNvPr id="303" name="object 303"/>
          <p:cNvSpPr/>
          <p:nvPr/>
        </p:nvSpPr>
        <p:spPr>
          <a:xfrm>
            <a:off x="7672577" y="4014978"/>
            <a:ext cx="425196" cy="117348"/>
          </a:xfrm>
          <a:prstGeom prst="rect">
            <a:avLst/>
          </a:prstGeom>
          <a:blipFill>
            <a:blip r:embed="rId124" cstate="print"/>
            <a:stretch>
              <a:fillRect/>
            </a:stretch>
          </a:blipFill>
        </p:spPr>
        <p:txBody>
          <a:bodyPr wrap="square" lIns="0" tIns="0" rIns="0" bIns="0" rtlCol="0"/>
          <a:lstStyle/>
          <a:p>
            <a:endParaRPr/>
          </a:p>
        </p:txBody>
      </p:sp>
      <p:sp>
        <p:nvSpPr>
          <p:cNvPr id="304" name="object 304"/>
          <p:cNvSpPr/>
          <p:nvPr/>
        </p:nvSpPr>
        <p:spPr>
          <a:xfrm>
            <a:off x="7668005" y="4010486"/>
            <a:ext cx="434340" cy="126364"/>
          </a:xfrm>
          <a:custGeom>
            <a:avLst/>
            <a:gdLst/>
            <a:ahLst/>
            <a:cxnLst/>
            <a:rect l="l" t="t" r="r" b="b"/>
            <a:pathLst>
              <a:path w="434340" h="126364">
                <a:moveTo>
                  <a:pt x="3048" y="73833"/>
                </a:moveTo>
                <a:lnTo>
                  <a:pt x="3047" y="52497"/>
                </a:lnTo>
                <a:lnTo>
                  <a:pt x="1523" y="54783"/>
                </a:lnTo>
                <a:lnTo>
                  <a:pt x="1523" y="55545"/>
                </a:lnTo>
                <a:lnTo>
                  <a:pt x="761" y="55545"/>
                </a:lnTo>
                <a:lnTo>
                  <a:pt x="0" y="58593"/>
                </a:lnTo>
                <a:lnTo>
                  <a:pt x="0" y="67737"/>
                </a:lnTo>
                <a:lnTo>
                  <a:pt x="762" y="70023"/>
                </a:lnTo>
                <a:lnTo>
                  <a:pt x="1524" y="70785"/>
                </a:lnTo>
                <a:lnTo>
                  <a:pt x="3048" y="73833"/>
                </a:lnTo>
                <a:close/>
              </a:path>
              <a:path w="434340" h="126364">
                <a:moveTo>
                  <a:pt x="432054" y="74595"/>
                </a:moveTo>
                <a:lnTo>
                  <a:pt x="432054" y="51735"/>
                </a:lnTo>
                <a:lnTo>
                  <a:pt x="431292" y="51735"/>
                </a:lnTo>
                <a:lnTo>
                  <a:pt x="429006" y="48687"/>
                </a:lnTo>
                <a:lnTo>
                  <a:pt x="371090" y="17576"/>
                </a:lnTo>
                <a:lnTo>
                  <a:pt x="325492" y="7833"/>
                </a:lnTo>
                <a:lnTo>
                  <a:pt x="273223" y="1972"/>
                </a:lnTo>
                <a:lnTo>
                  <a:pt x="217603" y="0"/>
                </a:lnTo>
                <a:lnTo>
                  <a:pt x="161948" y="1922"/>
                </a:lnTo>
                <a:lnTo>
                  <a:pt x="109575" y="7746"/>
                </a:lnTo>
                <a:lnTo>
                  <a:pt x="63804" y="17477"/>
                </a:lnTo>
                <a:lnTo>
                  <a:pt x="27951" y="31122"/>
                </a:lnTo>
                <a:lnTo>
                  <a:pt x="3047" y="51735"/>
                </a:lnTo>
                <a:lnTo>
                  <a:pt x="3048" y="74595"/>
                </a:lnTo>
                <a:lnTo>
                  <a:pt x="5334" y="77643"/>
                </a:lnTo>
                <a:lnTo>
                  <a:pt x="9143" y="80578"/>
                </a:lnTo>
                <a:lnTo>
                  <a:pt x="9144" y="61641"/>
                </a:lnTo>
                <a:lnTo>
                  <a:pt x="9906" y="60117"/>
                </a:lnTo>
                <a:lnTo>
                  <a:pt x="9906" y="59355"/>
                </a:lnTo>
                <a:lnTo>
                  <a:pt x="10668" y="57831"/>
                </a:lnTo>
                <a:lnTo>
                  <a:pt x="10668" y="57069"/>
                </a:lnTo>
                <a:lnTo>
                  <a:pt x="79894" y="23226"/>
                </a:lnTo>
                <a:lnTo>
                  <a:pt x="131120" y="14450"/>
                </a:lnTo>
                <a:lnTo>
                  <a:pt x="188576" y="10095"/>
                </a:lnTo>
                <a:lnTo>
                  <a:pt x="248058" y="10165"/>
                </a:lnTo>
                <a:lnTo>
                  <a:pt x="305361" y="14665"/>
                </a:lnTo>
                <a:lnTo>
                  <a:pt x="356280" y="23598"/>
                </a:lnTo>
                <a:lnTo>
                  <a:pt x="396611" y="36969"/>
                </a:lnTo>
                <a:lnTo>
                  <a:pt x="423672" y="57069"/>
                </a:lnTo>
                <a:lnTo>
                  <a:pt x="423672" y="57831"/>
                </a:lnTo>
                <a:lnTo>
                  <a:pt x="424434" y="59355"/>
                </a:lnTo>
                <a:lnTo>
                  <a:pt x="424434" y="58593"/>
                </a:lnTo>
                <a:lnTo>
                  <a:pt x="425195" y="61641"/>
                </a:lnTo>
                <a:lnTo>
                  <a:pt x="425195" y="81084"/>
                </a:lnTo>
                <a:lnTo>
                  <a:pt x="429768" y="77643"/>
                </a:lnTo>
                <a:lnTo>
                  <a:pt x="431292" y="74595"/>
                </a:lnTo>
                <a:lnTo>
                  <a:pt x="432054" y="74595"/>
                </a:lnTo>
                <a:close/>
              </a:path>
              <a:path w="434340" h="126364">
                <a:moveTo>
                  <a:pt x="9906" y="60879"/>
                </a:moveTo>
                <a:lnTo>
                  <a:pt x="9144" y="61641"/>
                </a:lnTo>
                <a:lnTo>
                  <a:pt x="9144" y="62403"/>
                </a:lnTo>
                <a:lnTo>
                  <a:pt x="9334" y="63165"/>
                </a:lnTo>
                <a:lnTo>
                  <a:pt x="9906" y="60879"/>
                </a:lnTo>
                <a:close/>
              </a:path>
              <a:path w="434340" h="126364">
                <a:moveTo>
                  <a:pt x="9334" y="63165"/>
                </a:moveTo>
                <a:lnTo>
                  <a:pt x="9144" y="62403"/>
                </a:lnTo>
                <a:lnTo>
                  <a:pt x="9144" y="63927"/>
                </a:lnTo>
                <a:lnTo>
                  <a:pt x="9334" y="63165"/>
                </a:lnTo>
                <a:close/>
              </a:path>
              <a:path w="434340" h="126364">
                <a:moveTo>
                  <a:pt x="9906" y="65451"/>
                </a:moveTo>
                <a:lnTo>
                  <a:pt x="9334" y="63165"/>
                </a:lnTo>
                <a:lnTo>
                  <a:pt x="9144" y="63927"/>
                </a:lnTo>
                <a:lnTo>
                  <a:pt x="9144" y="64689"/>
                </a:lnTo>
                <a:lnTo>
                  <a:pt x="9906" y="65451"/>
                </a:lnTo>
                <a:close/>
              </a:path>
              <a:path w="434340" h="126364">
                <a:moveTo>
                  <a:pt x="10668" y="67737"/>
                </a:moveTo>
                <a:lnTo>
                  <a:pt x="9144" y="64689"/>
                </a:lnTo>
                <a:lnTo>
                  <a:pt x="9143" y="80578"/>
                </a:lnTo>
                <a:lnTo>
                  <a:pt x="9906" y="81165"/>
                </a:lnTo>
                <a:lnTo>
                  <a:pt x="9906" y="66975"/>
                </a:lnTo>
                <a:lnTo>
                  <a:pt x="10668" y="67737"/>
                </a:lnTo>
                <a:close/>
              </a:path>
              <a:path w="434340" h="126364">
                <a:moveTo>
                  <a:pt x="10668" y="58593"/>
                </a:moveTo>
                <a:lnTo>
                  <a:pt x="9906" y="59355"/>
                </a:lnTo>
                <a:lnTo>
                  <a:pt x="9906" y="60117"/>
                </a:lnTo>
                <a:lnTo>
                  <a:pt x="10668" y="58593"/>
                </a:lnTo>
                <a:close/>
              </a:path>
              <a:path w="434340" h="126364">
                <a:moveTo>
                  <a:pt x="11430" y="70023"/>
                </a:moveTo>
                <a:lnTo>
                  <a:pt x="9906" y="66975"/>
                </a:lnTo>
                <a:lnTo>
                  <a:pt x="9906" y="81165"/>
                </a:lnTo>
                <a:lnTo>
                  <a:pt x="10667" y="81752"/>
                </a:lnTo>
                <a:lnTo>
                  <a:pt x="10668" y="69261"/>
                </a:lnTo>
                <a:lnTo>
                  <a:pt x="11430" y="70023"/>
                </a:lnTo>
                <a:close/>
              </a:path>
              <a:path w="434340" h="126364">
                <a:moveTo>
                  <a:pt x="11430" y="56307"/>
                </a:moveTo>
                <a:lnTo>
                  <a:pt x="10668" y="57069"/>
                </a:lnTo>
                <a:lnTo>
                  <a:pt x="10668" y="57831"/>
                </a:lnTo>
                <a:lnTo>
                  <a:pt x="11430" y="56307"/>
                </a:lnTo>
                <a:close/>
              </a:path>
              <a:path w="434340" h="126364">
                <a:moveTo>
                  <a:pt x="423672" y="82232"/>
                </a:moveTo>
                <a:lnTo>
                  <a:pt x="423672" y="69261"/>
                </a:lnTo>
                <a:lnTo>
                  <a:pt x="421386" y="72309"/>
                </a:lnTo>
                <a:lnTo>
                  <a:pt x="419862" y="74595"/>
                </a:lnTo>
                <a:lnTo>
                  <a:pt x="382440" y="94932"/>
                </a:lnTo>
                <a:lnTo>
                  <a:pt x="331960" y="107413"/>
                </a:lnTo>
                <a:lnTo>
                  <a:pt x="280092" y="113962"/>
                </a:lnTo>
                <a:lnTo>
                  <a:pt x="238506" y="116505"/>
                </a:lnTo>
                <a:lnTo>
                  <a:pt x="195834" y="116505"/>
                </a:lnTo>
                <a:lnTo>
                  <a:pt x="154099" y="113933"/>
                </a:lnTo>
                <a:lnTo>
                  <a:pt x="102384" y="107422"/>
                </a:lnTo>
                <a:lnTo>
                  <a:pt x="52055" y="94975"/>
                </a:lnTo>
                <a:lnTo>
                  <a:pt x="14478" y="74595"/>
                </a:lnTo>
                <a:lnTo>
                  <a:pt x="12954" y="71547"/>
                </a:lnTo>
                <a:lnTo>
                  <a:pt x="10668" y="69261"/>
                </a:lnTo>
                <a:lnTo>
                  <a:pt x="63828" y="108767"/>
                </a:lnTo>
                <a:lnTo>
                  <a:pt x="109380" y="118485"/>
                </a:lnTo>
                <a:lnTo>
                  <a:pt x="161475" y="124310"/>
                </a:lnTo>
                <a:lnTo>
                  <a:pt x="216869" y="126244"/>
                </a:lnTo>
                <a:lnTo>
                  <a:pt x="272318" y="124290"/>
                </a:lnTo>
                <a:lnTo>
                  <a:pt x="324577" y="118450"/>
                </a:lnTo>
                <a:lnTo>
                  <a:pt x="370401" y="108727"/>
                </a:lnTo>
                <a:lnTo>
                  <a:pt x="406546" y="95124"/>
                </a:lnTo>
                <a:lnTo>
                  <a:pt x="423672" y="82232"/>
                </a:lnTo>
                <a:close/>
              </a:path>
              <a:path w="434340" h="126364">
                <a:moveTo>
                  <a:pt x="423672" y="57831"/>
                </a:moveTo>
                <a:lnTo>
                  <a:pt x="423672" y="57069"/>
                </a:lnTo>
                <a:lnTo>
                  <a:pt x="422909" y="56307"/>
                </a:lnTo>
                <a:lnTo>
                  <a:pt x="423672" y="57831"/>
                </a:lnTo>
                <a:close/>
              </a:path>
              <a:path w="434340" h="126364">
                <a:moveTo>
                  <a:pt x="425195" y="81084"/>
                </a:moveTo>
                <a:lnTo>
                  <a:pt x="425195" y="64689"/>
                </a:lnTo>
                <a:lnTo>
                  <a:pt x="424434" y="67737"/>
                </a:lnTo>
                <a:lnTo>
                  <a:pt x="424434" y="66975"/>
                </a:lnTo>
                <a:lnTo>
                  <a:pt x="422909" y="70023"/>
                </a:lnTo>
                <a:lnTo>
                  <a:pt x="423672" y="69261"/>
                </a:lnTo>
                <a:lnTo>
                  <a:pt x="423672" y="82232"/>
                </a:lnTo>
                <a:lnTo>
                  <a:pt x="425195" y="81084"/>
                </a:lnTo>
                <a:close/>
              </a:path>
              <a:path w="434340" h="126364">
                <a:moveTo>
                  <a:pt x="434340" y="67737"/>
                </a:moveTo>
                <a:lnTo>
                  <a:pt x="434340" y="58593"/>
                </a:lnTo>
                <a:lnTo>
                  <a:pt x="433578" y="55545"/>
                </a:lnTo>
                <a:lnTo>
                  <a:pt x="432816" y="54783"/>
                </a:lnTo>
                <a:lnTo>
                  <a:pt x="432054" y="52497"/>
                </a:lnTo>
                <a:lnTo>
                  <a:pt x="432054" y="73833"/>
                </a:lnTo>
                <a:lnTo>
                  <a:pt x="432816" y="70785"/>
                </a:lnTo>
                <a:lnTo>
                  <a:pt x="433578" y="70785"/>
                </a:lnTo>
                <a:lnTo>
                  <a:pt x="433578" y="70023"/>
                </a:lnTo>
                <a:lnTo>
                  <a:pt x="434340" y="67737"/>
                </a:lnTo>
                <a:close/>
              </a:path>
            </a:pathLst>
          </a:custGeom>
          <a:solidFill>
            <a:srgbClr val="808080"/>
          </a:solidFill>
        </p:spPr>
        <p:txBody>
          <a:bodyPr wrap="square" lIns="0" tIns="0" rIns="0" bIns="0" rtlCol="0"/>
          <a:lstStyle/>
          <a:p>
            <a:endParaRPr/>
          </a:p>
        </p:txBody>
      </p:sp>
      <p:sp>
        <p:nvSpPr>
          <p:cNvPr id="305" name="object 305"/>
          <p:cNvSpPr/>
          <p:nvPr/>
        </p:nvSpPr>
        <p:spPr>
          <a:xfrm>
            <a:off x="7759446" y="4038600"/>
            <a:ext cx="237744" cy="67055"/>
          </a:xfrm>
          <a:prstGeom prst="rect">
            <a:avLst/>
          </a:prstGeom>
          <a:blipFill>
            <a:blip r:embed="rId125" cstate="print"/>
            <a:stretch>
              <a:fillRect/>
            </a:stretch>
          </a:blipFill>
        </p:spPr>
        <p:txBody>
          <a:bodyPr wrap="square" lIns="0" tIns="0" rIns="0" bIns="0" rtlCol="0"/>
          <a:lstStyle/>
          <a:p>
            <a:endParaRPr/>
          </a:p>
        </p:txBody>
      </p:sp>
      <p:sp>
        <p:nvSpPr>
          <p:cNvPr id="306" name="object 306"/>
          <p:cNvSpPr/>
          <p:nvPr/>
        </p:nvSpPr>
        <p:spPr>
          <a:xfrm>
            <a:off x="7996427" y="4348734"/>
            <a:ext cx="482346" cy="111251"/>
          </a:xfrm>
          <a:prstGeom prst="rect">
            <a:avLst/>
          </a:prstGeom>
          <a:blipFill>
            <a:blip r:embed="rId126" cstate="print"/>
            <a:stretch>
              <a:fillRect/>
            </a:stretch>
          </a:blipFill>
        </p:spPr>
        <p:txBody>
          <a:bodyPr wrap="square" lIns="0" tIns="0" rIns="0" bIns="0" rtlCol="0"/>
          <a:lstStyle/>
          <a:p>
            <a:endParaRPr/>
          </a:p>
        </p:txBody>
      </p:sp>
      <p:sp>
        <p:nvSpPr>
          <p:cNvPr id="307" name="object 307"/>
          <p:cNvSpPr/>
          <p:nvPr/>
        </p:nvSpPr>
        <p:spPr>
          <a:xfrm>
            <a:off x="7991855" y="4337303"/>
            <a:ext cx="491490" cy="127039"/>
          </a:xfrm>
          <a:prstGeom prst="rect">
            <a:avLst/>
          </a:prstGeom>
          <a:blipFill>
            <a:blip r:embed="rId127" cstate="print"/>
            <a:stretch>
              <a:fillRect/>
            </a:stretch>
          </a:blipFill>
        </p:spPr>
        <p:txBody>
          <a:bodyPr wrap="square" lIns="0" tIns="0" rIns="0" bIns="0" rtlCol="0"/>
          <a:lstStyle/>
          <a:p>
            <a:endParaRPr/>
          </a:p>
        </p:txBody>
      </p:sp>
      <p:sp>
        <p:nvSpPr>
          <p:cNvPr id="308" name="object 308"/>
          <p:cNvSpPr/>
          <p:nvPr/>
        </p:nvSpPr>
        <p:spPr>
          <a:xfrm>
            <a:off x="7996427" y="4262628"/>
            <a:ext cx="482346" cy="129539"/>
          </a:xfrm>
          <a:prstGeom prst="rect">
            <a:avLst/>
          </a:prstGeom>
          <a:blipFill>
            <a:blip r:embed="rId128" cstate="print"/>
            <a:stretch>
              <a:fillRect/>
            </a:stretch>
          </a:blipFill>
        </p:spPr>
        <p:txBody>
          <a:bodyPr wrap="square" lIns="0" tIns="0" rIns="0" bIns="0" rtlCol="0"/>
          <a:lstStyle/>
          <a:p>
            <a:endParaRPr/>
          </a:p>
        </p:txBody>
      </p:sp>
      <p:sp>
        <p:nvSpPr>
          <p:cNvPr id="309" name="object 309"/>
          <p:cNvSpPr/>
          <p:nvPr/>
        </p:nvSpPr>
        <p:spPr>
          <a:xfrm>
            <a:off x="7991855" y="4258652"/>
            <a:ext cx="491490" cy="138430"/>
          </a:xfrm>
          <a:custGeom>
            <a:avLst/>
            <a:gdLst/>
            <a:ahLst/>
            <a:cxnLst/>
            <a:rect l="l" t="t" r="r" b="b"/>
            <a:pathLst>
              <a:path w="491490" h="138429">
                <a:moveTo>
                  <a:pt x="762" y="72555"/>
                </a:moveTo>
                <a:lnTo>
                  <a:pt x="761" y="64935"/>
                </a:lnTo>
                <a:lnTo>
                  <a:pt x="0" y="68745"/>
                </a:lnTo>
                <a:lnTo>
                  <a:pt x="0" y="69507"/>
                </a:lnTo>
                <a:lnTo>
                  <a:pt x="762" y="72555"/>
                </a:lnTo>
                <a:close/>
              </a:path>
              <a:path w="491490" h="138429">
                <a:moveTo>
                  <a:pt x="1524" y="77127"/>
                </a:moveTo>
                <a:lnTo>
                  <a:pt x="1523" y="61125"/>
                </a:lnTo>
                <a:lnTo>
                  <a:pt x="761" y="64173"/>
                </a:lnTo>
                <a:lnTo>
                  <a:pt x="762" y="73317"/>
                </a:lnTo>
                <a:lnTo>
                  <a:pt x="1524" y="77127"/>
                </a:lnTo>
                <a:close/>
              </a:path>
              <a:path w="491490" h="138429">
                <a:moveTo>
                  <a:pt x="488442" y="81699"/>
                </a:moveTo>
                <a:lnTo>
                  <a:pt x="488442" y="56553"/>
                </a:lnTo>
                <a:lnTo>
                  <a:pt x="485394" y="52743"/>
                </a:lnTo>
                <a:lnTo>
                  <a:pt x="427340" y="21093"/>
                </a:lnTo>
                <a:lnTo>
                  <a:pt x="382242" y="10534"/>
                </a:lnTo>
                <a:lnTo>
                  <a:pt x="330170" y="3496"/>
                </a:lnTo>
                <a:lnTo>
                  <a:pt x="274116" y="0"/>
                </a:lnTo>
                <a:lnTo>
                  <a:pt x="216330" y="17"/>
                </a:lnTo>
                <a:lnTo>
                  <a:pt x="160173" y="3591"/>
                </a:lnTo>
                <a:lnTo>
                  <a:pt x="108265" y="10719"/>
                </a:lnTo>
                <a:lnTo>
                  <a:pt x="63412" y="21409"/>
                </a:lnTo>
                <a:lnTo>
                  <a:pt x="6095" y="53505"/>
                </a:lnTo>
                <a:lnTo>
                  <a:pt x="3809" y="56553"/>
                </a:lnTo>
                <a:lnTo>
                  <a:pt x="3047" y="56553"/>
                </a:lnTo>
                <a:lnTo>
                  <a:pt x="3047" y="57315"/>
                </a:lnTo>
                <a:lnTo>
                  <a:pt x="1523" y="60363"/>
                </a:lnTo>
                <a:lnTo>
                  <a:pt x="1524" y="77889"/>
                </a:lnTo>
                <a:lnTo>
                  <a:pt x="3048" y="80937"/>
                </a:lnTo>
                <a:lnTo>
                  <a:pt x="3810" y="80937"/>
                </a:lnTo>
                <a:lnTo>
                  <a:pt x="3810" y="81699"/>
                </a:lnTo>
                <a:lnTo>
                  <a:pt x="6096" y="84747"/>
                </a:lnTo>
                <a:lnTo>
                  <a:pt x="9906" y="87640"/>
                </a:lnTo>
                <a:lnTo>
                  <a:pt x="9906" y="66459"/>
                </a:lnTo>
                <a:lnTo>
                  <a:pt x="10668" y="63411"/>
                </a:lnTo>
                <a:lnTo>
                  <a:pt x="10668" y="64173"/>
                </a:lnTo>
                <a:lnTo>
                  <a:pt x="11430" y="62649"/>
                </a:lnTo>
                <a:lnTo>
                  <a:pt x="11430" y="61887"/>
                </a:lnTo>
                <a:lnTo>
                  <a:pt x="13716" y="58839"/>
                </a:lnTo>
                <a:lnTo>
                  <a:pt x="78540" y="27007"/>
                </a:lnTo>
                <a:lnTo>
                  <a:pt x="128398" y="17052"/>
                </a:lnTo>
                <a:lnTo>
                  <a:pt x="185251" y="11074"/>
                </a:lnTo>
                <a:lnTo>
                  <a:pt x="245621" y="9075"/>
                </a:lnTo>
                <a:lnTo>
                  <a:pt x="306031" y="11058"/>
                </a:lnTo>
                <a:lnTo>
                  <a:pt x="363004" y="17023"/>
                </a:lnTo>
                <a:lnTo>
                  <a:pt x="413064" y="26974"/>
                </a:lnTo>
                <a:lnTo>
                  <a:pt x="452734" y="40911"/>
                </a:lnTo>
                <a:lnTo>
                  <a:pt x="480059" y="61887"/>
                </a:lnTo>
                <a:lnTo>
                  <a:pt x="480059" y="61125"/>
                </a:lnTo>
                <a:lnTo>
                  <a:pt x="481584" y="64173"/>
                </a:lnTo>
                <a:lnTo>
                  <a:pt x="481584" y="63411"/>
                </a:lnTo>
                <a:lnTo>
                  <a:pt x="482345" y="66459"/>
                </a:lnTo>
                <a:lnTo>
                  <a:pt x="482345" y="87601"/>
                </a:lnTo>
                <a:lnTo>
                  <a:pt x="486156" y="84747"/>
                </a:lnTo>
                <a:lnTo>
                  <a:pt x="488442" y="81699"/>
                </a:lnTo>
                <a:close/>
              </a:path>
              <a:path w="491490" h="138429">
                <a:moveTo>
                  <a:pt x="12192" y="76365"/>
                </a:moveTo>
                <a:lnTo>
                  <a:pt x="10668" y="73317"/>
                </a:lnTo>
                <a:lnTo>
                  <a:pt x="10668" y="74079"/>
                </a:lnTo>
                <a:lnTo>
                  <a:pt x="9906" y="71031"/>
                </a:lnTo>
                <a:lnTo>
                  <a:pt x="9906" y="87640"/>
                </a:lnTo>
                <a:lnTo>
                  <a:pt x="11430" y="88798"/>
                </a:lnTo>
                <a:lnTo>
                  <a:pt x="11430" y="76365"/>
                </a:lnTo>
                <a:lnTo>
                  <a:pt x="12192" y="76365"/>
                </a:lnTo>
                <a:close/>
              </a:path>
              <a:path w="491490" h="138429">
                <a:moveTo>
                  <a:pt x="12192" y="61125"/>
                </a:moveTo>
                <a:lnTo>
                  <a:pt x="11430" y="61887"/>
                </a:lnTo>
                <a:lnTo>
                  <a:pt x="11430" y="62649"/>
                </a:lnTo>
                <a:lnTo>
                  <a:pt x="12192" y="61125"/>
                </a:lnTo>
                <a:close/>
              </a:path>
              <a:path w="491490" h="138429">
                <a:moveTo>
                  <a:pt x="482345" y="87601"/>
                </a:moveTo>
                <a:lnTo>
                  <a:pt x="482345" y="71031"/>
                </a:lnTo>
                <a:lnTo>
                  <a:pt x="481584" y="74079"/>
                </a:lnTo>
                <a:lnTo>
                  <a:pt x="481584" y="73317"/>
                </a:lnTo>
                <a:lnTo>
                  <a:pt x="417194" y="109694"/>
                </a:lnTo>
                <a:lnTo>
                  <a:pt x="367144" y="120109"/>
                </a:lnTo>
                <a:lnTo>
                  <a:pt x="309604" y="126390"/>
                </a:lnTo>
                <a:lnTo>
                  <a:pt x="248264" y="128562"/>
                </a:lnTo>
                <a:lnTo>
                  <a:pt x="186813" y="126649"/>
                </a:lnTo>
                <a:lnTo>
                  <a:pt x="128943" y="120677"/>
                </a:lnTo>
                <a:lnTo>
                  <a:pt x="78343" y="110670"/>
                </a:lnTo>
                <a:lnTo>
                  <a:pt x="38704" y="96653"/>
                </a:lnTo>
                <a:lnTo>
                  <a:pt x="11430" y="76365"/>
                </a:lnTo>
                <a:lnTo>
                  <a:pt x="11430" y="88798"/>
                </a:lnTo>
                <a:lnTo>
                  <a:pt x="64861" y="116640"/>
                </a:lnTo>
                <a:lnTo>
                  <a:pt x="109737" y="127280"/>
                </a:lnTo>
                <a:lnTo>
                  <a:pt x="161361" y="134378"/>
                </a:lnTo>
                <a:lnTo>
                  <a:pt x="216330" y="137888"/>
                </a:lnTo>
                <a:lnTo>
                  <a:pt x="274116" y="137944"/>
                </a:lnTo>
                <a:lnTo>
                  <a:pt x="329876" y="134407"/>
                </a:lnTo>
                <a:lnTo>
                  <a:pt x="381645" y="127321"/>
                </a:lnTo>
                <a:lnTo>
                  <a:pt x="426738" y="116683"/>
                </a:lnTo>
                <a:lnTo>
                  <a:pt x="462470" y="102493"/>
                </a:lnTo>
                <a:lnTo>
                  <a:pt x="482345" y="87601"/>
                </a:lnTo>
                <a:close/>
              </a:path>
              <a:path w="491490" h="138429">
                <a:moveTo>
                  <a:pt x="491490" y="73317"/>
                </a:moveTo>
                <a:lnTo>
                  <a:pt x="491490" y="64173"/>
                </a:lnTo>
                <a:lnTo>
                  <a:pt x="490728" y="61125"/>
                </a:lnTo>
                <a:lnTo>
                  <a:pt x="489966" y="60363"/>
                </a:lnTo>
                <a:lnTo>
                  <a:pt x="488442" y="57315"/>
                </a:lnTo>
                <a:lnTo>
                  <a:pt x="488442" y="80937"/>
                </a:lnTo>
                <a:lnTo>
                  <a:pt x="489966" y="77889"/>
                </a:lnTo>
                <a:lnTo>
                  <a:pt x="489966" y="77127"/>
                </a:lnTo>
                <a:lnTo>
                  <a:pt x="490728" y="77127"/>
                </a:lnTo>
                <a:lnTo>
                  <a:pt x="491490" y="73317"/>
                </a:lnTo>
                <a:close/>
              </a:path>
            </a:pathLst>
          </a:custGeom>
          <a:solidFill>
            <a:srgbClr val="808080"/>
          </a:solidFill>
        </p:spPr>
        <p:txBody>
          <a:bodyPr wrap="square" lIns="0" tIns="0" rIns="0" bIns="0" rtlCol="0"/>
          <a:lstStyle/>
          <a:p>
            <a:endParaRPr/>
          </a:p>
        </p:txBody>
      </p:sp>
      <p:sp>
        <p:nvSpPr>
          <p:cNvPr id="310" name="object 310"/>
          <p:cNvSpPr/>
          <p:nvPr/>
        </p:nvSpPr>
        <p:spPr>
          <a:xfrm>
            <a:off x="8095488" y="4289297"/>
            <a:ext cx="269240" cy="73660"/>
          </a:xfrm>
          <a:custGeom>
            <a:avLst/>
            <a:gdLst/>
            <a:ahLst/>
            <a:cxnLst/>
            <a:rect l="l" t="t" r="r" b="b"/>
            <a:pathLst>
              <a:path w="269240" h="73660">
                <a:moveTo>
                  <a:pt x="80312" y="60198"/>
                </a:moveTo>
                <a:lnTo>
                  <a:pt x="0" y="60198"/>
                </a:lnTo>
                <a:lnTo>
                  <a:pt x="0" y="73152"/>
                </a:lnTo>
                <a:lnTo>
                  <a:pt x="79248" y="73152"/>
                </a:lnTo>
                <a:lnTo>
                  <a:pt x="79248" y="60960"/>
                </a:lnTo>
                <a:lnTo>
                  <a:pt x="80312" y="60198"/>
                </a:lnTo>
                <a:close/>
              </a:path>
              <a:path w="269240" h="73660">
                <a:moveTo>
                  <a:pt x="83058" y="60198"/>
                </a:moveTo>
                <a:lnTo>
                  <a:pt x="80312" y="60198"/>
                </a:lnTo>
                <a:lnTo>
                  <a:pt x="79248" y="60960"/>
                </a:lnTo>
                <a:lnTo>
                  <a:pt x="83058" y="60198"/>
                </a:lnTo>
                <a:close/>
              </a:path>
              <a:path w="269240" h="73660">
                <a:moveTo>
                  <a:pt x="83058" y="73152"/>
                </a:moveTo>
                <a:lnTo>
                  <a:pt x="83058" y="60198"/>
                </a:lnTo>
                <a:lnTo>
                  <a:pt x="79248" y="60960"/>
                </a:lnTo>
                <a:lnTo>
                  <a:pt x="79248" y="73152"/>
                </a:lnTo>
                <a:lnTo>
                  <a:pt x="83058" y="73152"/>
                </a:lnTo>
                <a:close/>
              </a:path>
              <a:path w="269240" h="73660">
                <a:moveTo>
                  <a:pt x="268986" y="12954"/>
                </a:moveTo>
                <a:lnTo>
                  <a:pt x="268986" y="0"/>
                </a:lnTo>
                <a:lnTo>
                  <a:pt x="163830" y="0"/>
                </a:lnTo>
                <a:lnTo>
                  <a:pt x="162306" y="1524"/>
                </a:lnTo>
                <a:lnTo>
                  <a:pt x="80312" y="60198"/>
                </a:lnTo>
                <a:lnTo>
                  <a:pt x="83058" y="60198"/>
                </a:lnTo>
                <a:lnTo>
                  <a:pt x="83058" y="73152"/>
                </a:lnTo>
                <a:lnTo>
                  <a:pt x="84582" y="73152"/>
                </a:lnTo>
                <a:lnTo>
                  <a:pt x="85344" y="72390"/>
                </a:lnTo>
                <a:lnTo>
                  <a:pt x="86868" y="71628"/>
                </a:lnTo>
                <a:lnTo>
                  <a:pt x="166116" y="14191"/>
                </a:lnTo>
                <a:lnTo>
                  <a:pt x="166116" y="12954"/>
                </a:lnTo>
                <a:lnTo>
                  <a:pt x="169926" y="11430"/>
                </a:lnTo>
                <a:lnTo>
                  <a:pt x="169926" y="12954"/>
                </a:lnTo>
                <a:lnTo>
                  <a:pt x="268986" y="12954"/>
                </a:lnTo>
                <a:close/>
              </a:path>
              <a:path w="269240" h="73660">
                <a:moveTo>
                  <a:pt x="169926" y="11430"/>
                </a:moveTo>
                <a:lnTo>
                  <a:pt x="166116" y="12954"/>
                </a:lnTo>
                <a:lnTo>
                  <a:pt x="167823" y="12954"/>
                </a:lnTo>
                <a:lnTo>
                  <a:pt x="169926" y="11430"/>
                </a:lnTo>
                <a:close/>
              </a:path>
              <a:path w="269240" h="73660">
                <a:moveTo>
                  <a:pt x="167823" y="12954"/>
                </a:moveTo>
                <a:lnTo>
                  <a:pt x="166116" y="12954"/>
                </a:lnTo>
                <a:lnTo>
                  <a:pt x="166116" y="14191"/>
                </a:lnTo>
                <a:lnTo>
                  <a:pt x="167823" y="12954"/>
                </a:lnTo>
                <a:close/>
              </a:path>
              <a:path w="269240" h="73660">
                <a:moveTo>
                  <a:pt x="169926" y="12954"/>
                </a:moveTo>
                <a:lnTo>
                  <a:pt x="169926" y="11430"/>
                </a:lnTo>
                <a:lnTo>
                  <a:pt x="167823" y="12954"/>
                </a:lnTo>
                <a:lnTo>
                  <a:pt x="169926" y="12954"/>
                </a:lnTo>
                <a:close/>
              </a:path>
            </a:pathLst>
          </a:custGeom>
          <a:solidFill>
            <a:srgbClr val="808080"/>
          </a:solidFill>
        </p:spPr>
        <p:txBody>
          <a:bodyPr wrap="square" lIns="0" tIns="0" rIns="0" bIns="0" rtlCol="0"/>
          <a:lstStyle/>
          <a:p>
            <a:endParaRPr/>
          </a:p>
        </p:txBody>
      </p:sp>
      <p:sp>
        <p:nvSpPr>
          <p:cNvPr id="311" name="object 311"/>
          <p:cNvSpPr/>
          <p:nvPr/>
        </p:nvSpPr>
        <p:spPr>
          <a:xfrm>
            <a:off x="8107679" y="4289297"/>
            <a:ext cx="244601" cy="73151"/>
          </a:xfrm>
          <a:prstGeom prst="rect">
            <a:avLst/>
          </a:prstGeom>
          <a:blipFill>
            <a:blip r:embed="rId129" cstate="print"/>
            <a:stretch>
              <a:fillRect/>
            </a:stretch>
          </a:blipFill>
        </p:spPr>
        <p:txBody>
          <a:bodyPr wrap="square" lIns="0" tIns="0" rIns="0" bIns="0" rtlCol="0"/>
          <a:lstStyle/>
          <a:p>
            <a:endParaRPr/>
          </a:p>
        </p:txBody>
      </p:sp>
      <p:sp>
        <p:nvSpPr>
          <p:cNvPr id="312" name="object 312"/>
          <p:cNvSpPr/>
          <p:nvPr/>
        </p:nvSpPr>
        <p:spPr>
          <a:xfrm>
            <a:off x="7991855" y="4325111"/>
            <a:ext cx="10160" cy="85725"/>
          </a:xfrm>
          <a:custGeom>
            <a:avLst/>
            <a:gdLst/>
            <a:ahLst/>
            <a:cxnLst/>
            <a:rect l="l" t="t" r="r" b="b"/>
            <a:pathLst>
              <a:path w="10159" h="85725">
                <a:moveTo>
                  <a:pt x="0" y="0"/>
                </a:moveTo>
                <a:lnTo>
                  <a:pt x="0" y="85344"/>
                </a:lnTo>
                <a:lnTo>
                  <a:pt x="9905" y="85344"/>
                </a:lnTo>
                <a:lnTo>
                  <a:pt x="9905" y="0"/>
                </a:lnTo>
                <a:lnTo>
                  <a:pt x="0" y="0"/>
                </a:lnTo>
                <a:close/>
              </a:path>
            </a:pathLst>
          </a:custGeom>
          <a:solidFill>
            <a:srgbClr val="808080"/>
          </a:solidFill>
        </p:spPr>
        <p:txBody>
          <a:bodyPr wrap="square" lIns="0" tIns="0" rIns="0" bIns="0" rtlCol="0"/>
          <a:lstStyle/>
          <a:p>
            <a:endParaRPr/>
          </a:p>
        </p:txBody>
      </p:sp>
      <p:sp>
        <p:nvSpPr>
          <p:cNvPr id="313" name="object 313"/>
          <p:cNvSpPr/>
          <p:nvPr/>
        </p:nvSpPr>
        <p:spPr>
          <a:xfrm>
            <a:off x="7847838" y="4433315"/>
            <a:ext cx="235585" cy="441325"/>
          </a:xfrm>
          <a:custGeom>
            <a:avLst/>
            <a:gdLst/>
            <a:ahLst/>
            <a:cxnLst/>
            <a:rect l="l" t="t" r="r" b="b"/>
            <a:pathLst>
              <a:path w="235584" h="441325">
                <a:moveTo>
                  <a:pt x="235457" y="4572"/>
                </a:moveTo>
                <a:lnTo>
                  <a:pt x="227075" y="0"/>
                </a:lnTo>
                <a:lnTo>
                  <a:pt x="0" y="436626"/>
                </a:lnTo>
                <a:lnTo>
                  <a:pt x="8381" y="441198"/>
                </a:lnTo>
                <a:lnTo>
                  <a:pt x="235457" y="4572"/>
                </a:lnTo>
                <a:close/>
              </a:path>
            </a:pathLst>
          </a:custGeom>
          <a:solidFill>
            <a:srgbClr val="808080"/>
          </a:solidFill>
        </p:spPr>
        <p:txBody>
          <a:bodyPr wrap="square" lIns="0" tIns="0" rIns="0" bIns="0" rtlCol="0"/>
          <a:lstStyle/>
          <a:p>
            <a:endParaRPr/>
          </a:p>
        </p:txBody>
      </p:sp>
      <p:sp>
        <p:nvSpPr>
          <p:cNvPr id="314" name="object 314"/>
          <p:cNvSpPr/>
          <p:nvPr/>
        </p:nvSpPr>
        <p:spPr>
          <a:xfrm>
            <a:off x="7501889" y="4977384"/>
            <a:ext cx="614933" cy="136398"/>
          </a:xfrm>
          <a:prstGeom prst="rect">
            <a:avLst/>
          </a:prstGeom>
          <a:blipFill>
            <a:blip r:embed="rId130" cstate="print"/>
            <a:stretch>
              <a:fillRect/>
            </a:stretch>
          </a:blipFill>
        </p:spPr>
        <p:txBody>
          <a:bodyPr wrap="square" lIns="0" tIns="0" rIns="0" bIns="0" rtlCol="0"/>
          <a:lstStyle/>
          <a:p>
            <a:endParaRPr/>
          </a:p>
        </p:txBody>
      </p:sp>
      <p:sp>
        <p:nvSpPr>
          <p:cNvPr id="315" name="object 315"/>
          <p:cNvSpPr/>
          <p:nvPr/>
        </p:nvSpPr>
        <p:spPr>
          <a:xfrm>
            <a:off x="7497317" y="4973146"/>
            <a:ext cx="624205" cy="144780"/>
          </a:xfrm>
          <a:custGeom>
            <a:avLst/>
            <a:gdLst/>
            <a:ahLst/>
            <a:cxnLst/>
            <a:rect l="l" t="t" r="r" b="b"/>
            <a:pathLst>
              <a:path w="624204" h="144779">
                <a:moveTo>
                  <a:pt x="2286" y="81199"/>
                </a:moveTo>
                <a:lnTo>
                  <a:pt x="2285" y="63673"/>
                </a:lnTo>
                <a:lnTo>
                  <a:pt x="1523" y="63673"/>
                </a:lnTo>
                <a:lnTo>
                  <a:pt x="761" y="67483"/>
                </a:lnTo>
                <a:lnTo>
                  <a:pt x="0" y="68245"/>
                </a:lnTo>
                <a:lnTo>
                  <a:pt x="0" y="76627"/>
                </a:lnTo>
                <a:lnTo>
                  <a:pt x="762" y="77389"/>
                </a:lnTo>
                <a:lnTo>
                  <a:pt x="1524" y="81199"/>
                </a:lnTo>
                <a:lnTo>
                  <a:pt x="2286" y="81199"/>
                </a:lnTo>
                <a:close/>
              </a:path>
              <a:path w="624204" h="144779">
                <a:moveTo>
                  <a:pt x="620268" y="85771"/>
                </a:moveTo>
                <a:lnTo>
                  <a:pt x="620268" y="59101"/>
                </a:lnTo>
                <a:lnTo>
                  <a:pt x="619506" y="59101"/>
                </a:lnTo>
                <a:lnTo>
                  <a:pt x="616458" y="55291"/>
                </a:lnTo>
                <a:lnTo>
                  <a:pt x="557231" y="26305"/>
                </a:lnTo>
                <a:lnTo>
                  <a:pt x="512383" y="15761"/>
                </a:lnTo>
                <a:lnTo>
                  <a:pt x="460185" y="7854"/>
                </a:lnTo>
                <a:lnTo>
                  <a:pt x="402742" y="2590"/>
                </a:lnTo>
                <a:lnTo>
                  <a:pt x="342813" y="0"/>
                </a:lnTo>
                <a:lnTo>
                  <a:pt x="280534" y="2"/>
                </a:lnTo>
                <a:lnTo>
                  <a:pt x="219978" y="2687"/>
                </a:lnTo>
                <a:lnTo>
                  <a:pt x="162594" y="8029"/>
                </a:lnTo>
                <a:lnTo>
                  <a:pt x="110486" y="16033"/>
                </a:lnTo>
                <a:lnTo>
                  <a:pt x="65757" y="26702"/>
                </a:lnTo>
                <a:lnTo>
                  <a:pt x="6857" y="56053"/>
                </a:lnTo>
                <a:lnTo>
                  <a:pt x="4571" y="59101"/>
                </a:lnTo>
                <a:lnTo>
                  <a:pt x="3809" y="59101"/>
                </a:lnTo>
                <a:lnTo>
                  <a:pt x="3809" y="59863"/>
                </a:lnTo>
                <a:lnTo>
                  <a:pt x="2285" y="62911"/>
                </a:lnTo>
                <a:lnTo>
                  <a:pt x="2286" y="81961"/>
                </a:lnTo>
                <a:lnTo>
                  <a:pt x="3810" y="85009"/>
                </a:lnTo>
                <a:lnTo>
                  <a:pt x="9144" y="89186"/>
                </a:lnTo>
                <a:lnTo>
                  <a:pt x="9144" y="70531"/>
                </a:lnTo>
                <a:lnTo>
                  <a:pt x="10668" y="66721"/>
                </a:lnTo>
                <a:lnTo>
                  <a:pt x="10668" y="67483"/>
                </a:lnTo>
                <a:lnTo>
                  <a:pt x="12192" y="64435"/>
                </a:lnTo>
                <a:lnTo>
                  <a:pt x="12192" y="65197"/>
                </a:lnTo>
                <a:lnTo>
                  <a:pt x="74682" y="34087"/>
                </a:lnTo>
                <a:lnTo>
                  <a:pt x="118726" y="24149"/>
                </a:lnTo>
                <a:lnTo>
                  <a:pt x="169491" y="16694"/>
                </a:lnTo>
                <a:lnTo>
                  <a:pt x="225048" y="11725"/>
                </a:lnTo>
                <a:lnTo>
                  <a:pt x="280534" y="9373"/>
                </a:lnTo>
                <a:lnTo>
                  <a:pt x="342813" y="9270"/>
                </a:lnTo>
                <a:lnTo>
                  <a:pt x="399352" y="11716"/>
                </a:lnTo>
                <a:lnTo>
                  <a:pt x="456582" y="16827"/>
                </a:lnTo>
                <a:lnTo>
                  <a:pt x="507141" y="24374"/>
                </a:lnTo>
                <a:lnTo>
                  <a:pt x="550911" y="34439"/>
                </a:lnTo>
                <a:lnTo>
                  <a:pt x="610362" y="62149"/>
                </a:lnTo>
                <a:lnTo>
                  <a:pt x="612648" y="65197"/>
                </a:lnTo>
                <a:lnTo>
                  <a:pt x="612648" y="65451"/>
                </a:lnTo>
                <a:lnTo>
                  <a:pt x="614172" y="67483"/>
                </a:lnTo>
                <a:lnTo>
                  <a:pt x="614172" y="68626"/>
                </a:lnTo>
                <a:lnTo>
                  <a:pt x="614934" y="70531"/>
                </a:lnTo>
                <a:lnTo>
                  <a:pt x="614934" y="90400"/>
                </a:lnTo>
                <a:lnTo>
                  <a:pt x="617220" y="88819"/>
                </a:lnTo>
                <a:lnTo>
                  <a:pt x="619506" y="85771"/>
                </a:lnTo>
                <a:lnTo>
                  <a:pt x="620268" y="85771"/>
                </a:lnTo>
                <a:close/>
              </a:path>
              <a:path w="624204" h="144779">
                <a:moveTo>
                  <a:pt x="9906" y="69769"/>
                </a:moveTo>
                <a:lnTo>
                  <a:pt x="9144" y="70531"/>
                </a:lnTo>
                <a:lnTo>
                  <a:pt x="9144" y="72055"/>
                </a:lnTo>
                <a:lnTo>
                  <a:pt x="9239" y="72436"/>
                </a:lnTo>
                <a:lnTo>
                  <a:pt x="9906" y="69769"/>
                </a:lnTo>
                <a:close/>
              </a:path>
              <a:path w="624204" h="144779">
                <a:moveTo>
                  <a:pt x="9239" y="72436"/>
                </a:moveTo>
                <a:lnTo>
                  <a:pt x="9144" y="72055"/>
                </a:lnTo>
                <a:lnTo>
                  <a:pt x="9144" y="72817"/>
                </a:lnTo>
                <a:lnTo>
                  <a:pt x="9239" y="72436"/>
                </a:lnTo>
                <a:close/>
              </a:path>
              <a:path w="624204" h="144779">
                <a:moveTo>
                  <a:pt x="9906" y="75103"/>
                </a:moveTo>
                <a:lnTo>
                  <a:pt x="9239" y="72436"/>
                </a:lnTo>
                <a:lnTo>
                  <a:pt x="9144" y="72817"/>
                </a:lnTo>
                <a:lnTo>
                  <a:pt x="9144" y="74341"/>
                </a:lnTo>
                <a:lnTo>
                  <a:pt x="9906" y="75103"/>
                </a:lnTo>
                <a:close/>
              </a:path>
              <a:path w="624204" h="144779">
                <a:moveTo>
                  <a:pt x="612648" y="91982"/>
                </a:moveTo>
                <a:lnTo>
                  <a:pt x="612648" y="79675"/>
                </a:lnTo>
                <a:lnTo>
                  <a:pt x="609600" y="83485"/>
                </a:lnTo>
                <a:lnTo>
                  <a:pt x="584916" y="98343"/>
                </a:lnTo>
                <a:lnTo>
                  <a:pt x="505624" y="120669"/>
                </a:lnTo>
                <a:lnTo>
                  <a:pt x="454892" y="128123"/>
                </a:lnTo>
                <a:lnTo>
                  <a:pt x="399352" y="133096"/>
                </a:lnTo>
                <a:lnTo>
                  <a:pt x="342813" y="135500"/>
                </a:lnTo>
                <a:lnTo>
                  <a:pt x="280534" y="135523"/>
                </a:lnTo>
                <a:lnTo>
                  <a:pt x="223264" y="133055"/>
                </a:lnTo>
                <a:lnTo>
                  <a:pt x="167870" y="128033"/>
                </a:lnTo>
                <a:lnTo>
                  <a:pt x="117357" y="120496"/>
                </a:lnTo>
                <a:lnTo>
                  <a:pt x="73662" y="110436"/>
                </a:lnTo>
                <a:lnTo>
                  <a:pt x="14478" y="82723"/>
                </a:lnTo>
                <a:lnTo>
                  <a:pt x="12192" y="79675"/>
                </a:lnTo>
                <a:lnTo>
                  <a:pt x="12192" y="80437"/>
                </a:lnTo>
                <a:lnTo>
                  <a:pt x="10668" y="76627"/>
                </a:lnTo>
                <a:lnTo>
                  <a:pt x="10668" y="78151"/>
                </a:lnTo>
                <a:lnTo>
                  <a:pt x="9144" y="74341"/>
                </a:lnTo>
                <a:lnTo>
                  <a:pt x="59979" y="116345"/>
                </a:lnTo>
                <a:lnTo>
                  <a:pt x="104505" y="127695"/>
                </a:lnTo>
                <a:lnTo>
                  <a:pt x="156998" y="136198"/>
                </a:lnTo>
                <a:lnTo>
                  <a:pt x="215210" y="141882"/>
                </a:lnTo>
                <a:lnTo>
                  <a:pt x="276895" y="144770"/>
                </a:lnTo>
                <a:lnTo>
                  <a:pt x="342813" y="144760"/>
                </a:lnTo>
                <a:lnTo>
                  <a:pt x="401698" y="142260"/>
                </a:lnTo>
                <a:lnTo>
                  <a:pt x="460322" y="136912"/>
                </a:lnTo>
                <a:lnTo>
                  <a:pt x="513433" y="128868"/>
                </a:lnTo>
                <a:lnTo>
                  <a:pt x="558784" y="118155"/>
                </a:lnTo>
                <a:lnTo>
                  <a:pt x="594128" y="104797"/>
                </a:lnTo>
                <a:lnTo>
                  <a:pt x="612648" y="91982"/>
                </a:lnTo>
                <a:close/>
              </a:path>
              <a:path w="624204" h="144779">
                <a:moveTo>
                  <a:pt x="612648" y="65451"/>
                </a:moveTo>
                <a:lnTo>
                  <a:pt x="612648" y="65197"/>
                </a:lnTo>
                <a:lnTo>
                  <a:pt x="611886" y="64435"/>
                </a:lnTo>
                <a:lnTo>
                  <a:pt x="612648" y="65451"/>
                </a:lnTo>
                <a:close/>
              </a:path>
              <a:path w="624204" h="144779">
                <a:moveTo>
                  <a:pt x="613714" y="77389"/>
                </a:moveTo>
                <a:lnTo>
                  <a:pt x="611886" y="80437"/>
                </a:lnTo>
                <a:lnTo>
                  <a:pt x="612648" y="79675"/>
                </a:lnTo>
                <a:lnTo>
                  <a:pt x="612648" y="91982"/>
                </a:lnTo>
                <a:lnTo>
                  <a:pt x="613410" y="91455"/>
                </a:lnTo>
                <a:lnTo>
                  <a:pt x="613410" y="78151"/>
                </a:lnTo>
                <a:lnTo>
                  <a:pt x="613714" y="77389"/>
                </a:lnTo>
                <a:close/>
              </a:path>
              <a:path w="624204" h="144779">
                <a:moveTo>
                  <a:pt x="614172" y="68626"/>
                </a:moveTo>
                <a:lnTo>
                  <a:pt x="614172" y="67483"/>
                </a:lnTo>
                <a:lnTo>
                  <a:pt x="613410" y="66721"/>
                </a:lnTo>
                <a:lnTo>
                  <a:pt x="614172" y="68626"/>
                </a:lnTo>
                <a:close/>
              </a:path>
              <a:path w="624204" h="144779">
                <a:moveTo>
                  <a:pt x="614172" y="76627"/>
                </a:moveTo>
                <a:lnTo>
                  <a:pt x="613714" y="77389"/>
                </a:lnTo>
                <a:lnTo>
                  <a:pt x="613410" y="78151"/>
                </a:lnTo>
                <a:lnTo>
                  <a:pt x="614172" y="76627"/>
                </a:lnTo>
                <a:close/>
              </a:path>
              <a:path w="624204" h="144779">
                <a:moveTo>
                  <a:pt x="614172" y="90928"/>
                </a:moveTo>
                <a:lnTo>
                  <a:pt x="614172" y="76627"/>
                </a:lnTo>
                <a:lnTo>
                  <a:pt x="613410" y="78151"/>
                </a:lnTo>
                <a:lnTo>
                  <a:pt x="613410" y="91455"/>
                </a:lnTo>
                <a:lnTo>
                  <a:pt x="614172" y="90928"/>
                </a:lnTo>
                <a:close/>
              </a:path>
              <a:path w="624204" h="144779">
                <a:moveTo>
                  <a:pt x="614934" y="90400"/>
                </a:moveTo>
                <a:lnTo>
                  <a:pt x="614934" y="74341"/>
                </a:lnTo>
                <a:lnTo>
                  <a:pt x="613714" y="77389"/>
                </a:lnTo>
                <a:lnTo>
                  <a:pt x="614172" y="76627"/>
                </a:lnTo>
                <a:lnTo>
                  <a:pt x="614172" y="90928"/>
                </a:lnTo>
                <a:lnTo>
                  <a:pt x="614934" y="90400"/>
                </a:lnTo>
                <a:close/>
              </a:path>
              <a:path w="624204" h="144779">
                <a:moveTo>
                  <a:pt x="614934" y="72055"/>
                </a:moveTo>
                <a:lnTo>
                  <a:pt x="614934" y="70531"/>
                </a:lnTo>
                <a:lnTo>
                  <a:pt x="614172" y="69769"/>
                </a:lnTo>
                <a:lnTo>
                  <a:pt x="614838" y="72436"/>
                </a:lnTo>
                <a:lnTo>
                  <a:pt x="614934" y="72055"/>
                </a:lnTo>
                <a:close/>
              </a:path>
              <a:path w="624204" h="144779">
                <a:moveTo>
                  <a:pt x="614934" y="74341"/>
                </a:moveTo>
                <a:lnTo>
                  <a:pt x="614934" y="72817"/>
                </a:lnTo>
                <a:lnTo>
                  <a:pt x="614838" y="72436"/>
                </a:lnTo>
                <a:lnTo>
                  <a:pt x="614172" y="75103"/>
                </a:lnTo>
                <a:lnTo>
                  <a:pt x="614934" y="74341"/>
                </a:lnTo>
                <a:close/>
              </a:path>
              <a:path w="624204" h="144779">
                <a:moveTo>
                  <a:pt x="614934" y="72817"/>
                </a:moveTo>
                <a:lnTo>
                  <a:pt x="614934" y="72055"/>
                </a:lnTo>
                <a:lnTo>
                  <a:pt x="614838" y="72436"/>
                </a:lnTo>
                <a:lnTo>
                  <a:pt x="614934" y="72817"/>
                </a:lnTo>
                <a:close/>
              </a:path>
              <a:path w="624204" h="144779">
                <a:moveTo>
                  <a:pt x="622554" y="81961"/>
                </a:moveTo>
                <a:lnTo>
                  <a:pt x="622554" y="62911"/>
                </a:lnTo>
                <a:lnTo>
                  <a:pt x="620268" y="59863"/>
                </a:lnTo>
                <a:lnTo>
                  <a:pt x="620268" y="85009"/>
                </a:lnTo>
                <a:lnTo>
                  <a:pt x="622554" y="81961"/>
                </a:lnTo>
                <a:close/>
              </a:path>
              <a:path w="624204" h="144779">
                <a:moveTo>
                  <a:pt x="624078" y="77389"/>
                </a:moveTo>
                <a:lnTo>
                  <a:pt x="624078" y="67483"/>
                </a:lnTo>
                <a:lnTo>
                  <a:pt x="622554" y="63673"/>
                </a:lnTo>
                <a:lnTo>
                  <a:pt x="622554" y="81199"/>
                </a:lnTo>
                <a:lnTo>
                  <a:pt x="624078" y="77389"/>
                </a:lnTo>
                <a:close/>
              </a:path>
            </a:pathLst>
          </a:custGeom>
          <a:solidFill>
            <a:srgbClr val="808080"/>
          </a:solidFill>
        </p:spPr>
        <p:txBody>
          <a:bodyPr wrap="square" lIns="0" tIns="0" rIns="0" bIns="0" rtlCol="0"/>
          <a:lstStyle/>
          <a:p>
            <a:endParaRPr/>
          </a:p>
        </p:txBody>
      </p:sp>
      <p:sp>
        <p:nvSpPr>
          <p:cNvPr id="316" name="object 316"/>
          <p:cNvSpPr/>
          <p:nvPr/>
        </p:nvSpPr>
        <p:spPr>
          <a:xfrm>
            <a:off x="7499603" y="4963667"/>
            <a:ext cx="617220" cy="83058"/>
          </a:xfrm>
          <a:prstGeom prst="rect">
            <a:avLst/>
          </a:prstGeom>
          <a:blipFill>
            <a:blip r:embed="rId131" cstate="print"/>
            <a:stretch>
              <a:fillRect/>
            </a:stretch>
          </a:blipFill>
        </p:spPr>
        <p:txBody>
          <a:bodyPr wrap="square" lIns="0" tIns="0" rIns="0" bIns="0" rtlCol="0"/>
          <a:lstStyle/>
          <a:p>
            <a:endParaRPr/>
          </a:p>
        </p:txBody>
      </p:sp>
      <p:sp>
        <p:nvSpPr>
          <p:cNvPr id="317" name="object 317"/>
          <p:cNvSpPr/>
          <p:nvPr/>
        </p:nvSpPr>
        <p:spPr>
          <a:xfrm>
            <a:off x="7501889" y="4872228"/>
            <a:ext cx="614933" cy="158496"/>
          </a:xfrm>
          <a:prstGeom prst="rect">
            <a:avLst/>
          </a:prstGeom>
          <a:blipFill>
            <a:blip r:embed="rId132" cstate="print"/>
            <a:stretch>
              <a:fillRect/>
            </a:stretch>
          </a:blipFill>
        </p:spPr>
        <p:txBody>
          <a:bodyPr wrap="square" lIns="0" tIns="0" rIns="0" bIns="0" rtlCol="0"/>
          <a:lstStyle/>
          <a:p>
            <a:endParaRPr/>
          </a:p>
        </p:txBody>
      </p:sp>
      <p:sp>
        <p:nvSpPr>
          <p:cNvPr id="318" name="object 318"/>
          <p:cNvSpPr/>
          <p:nvPr/>
        </p:nvSpPr>
        <p:spPr>
          <a:xfrm>
            <a:off x="7497317" y="4867755"/>
            <a:ext cx="624205" cy="168910"/>
          </a:xfrm>
          <a:custGeom>
            <a:avLst/>
            <a:gdLst/>
            <a:ahLst/>
            <a:cxnLst/>
            <a:rect l="l" t="t" r="r" b="b"/>
            <a:pathLst>
              <a:path w="624204" h="168910">
                <a:moveTo>
                  <a:pt x="3810" y="98197"/>
                </a:moveTo>
                <a:lnTo>
                  <a:pt x="3809" y="70003"/>
                </a:lnTo>
                <a:lnTo>
                  <a:pt x="2285" y="73813"/>
                </a:lnTo>
                <a:lnTo>
                  <a:pt x="1523" y="73813"/>
                </a:lnTo>
                <a:lnTo>
                  <a:pt x="1523" y="74575"/>
                </a:lnTo>
                <a:lnTo>
                  <a:pt x="761" y="78385"/>
                </a:lnTo>
                <a:lnTo>
                  <a:pt x="0" y="79147"/>
                </a:lnTo>
                <a:lnTo>
                  <a:pt x="0" y="89053"/>
                </a:lnTo>
                <a:lnTo>
                  <a:pt x="762" y="89815"/>
                </a:lnTo>
                <a:lnTo>
                  <a:pt x="1524" y="93625"/>
                </a:lnTo>
                <a:lnTo>
                  <a:pt x="2286" y="94387"/>
                </a:lnTo>
                <a:lnTo>
                  <a:pt x="3810" y="98197"/>
                </a:lnTo>
                <a:close/>
              </a:path>
              <a:path w="624204" h="168910">
                <a:moveTo>
                  <a:pt x="620268" y="98959"/>
                </a:moveTo>
                <a:lnTo>
                  <a:pt x="620268" y="69241"/>
                </a:lnTo>
                <a:lnTo>
                  <a:pt x="617220" y="64669"/>
                </a:lnTo>
                <a:lnTo>
                  <a:pt x="563009" y="33035"/>
                </a:lnTo>
                <a:lnTo>
                  <a:pt x="522641" y="21153"/>
                </a:lnTo>
                <a:lnTo>
                  <a:pt x="475645" y="11903"/>
                </a:lnTo>
                <a:lnTo>
                  <a:pt x="423685" y="5290"/>
                </a:lnTo>
                <a:lnTo>
                  <a:pt x="368423" y="1320"/>
                </a:lnTo>
                <a:lnTo>
                  <a:pt x="311519" y="0"/>
                </a:lnTo>
                <a:lnTo>
                  <a:pt x="254637" y="1334"/>
                </a:lnTo>
                <a:lnTo>
                  <a:pt x="199438" y="5330"/>
                </a:lnTo>
                <a:lnTo>
                  <a:pt x="147584" y="11993"/>
                </a:lnTo>
                <a:lnTo>
                  <a:pt x="100737" y="21328"/>
                </a:lnTo>
                <a:lnTo>
                  <a:pt x="60559" y="33343"/>
                </a:lnTo>
                <a:lnTo>
                  <a:pt x="6857" y="65431"/>
                </a:lnTo>
                <a:lnTo>
                  <a:pt x="4571" y="69241"/>
                </a:lnTo>
                <a:lnTo>
                  <a:pt x="3809" y="69241"/>
                </a:lnTo>
                <a:lnTo>
                  <a:pt x="3810" y="98959"/>
                </a:lnTo>
                <a:lnTo>
                  <a:pt x="4572" y="98959"/>
                </a:lnTo>
                <a:lnTo>
                  <a:pt x="7620" y="103531"/>
                </a:lnTo>
                <a:lnTo>
                  <a:pt x="9144" y="105055"/>
                </a:lnTo>
                <a:lnTo>
                  <a:pt x="9144" y="83719"/>
                </a:lnTo>
                <a:lnTo>
                  <a:pt x="9220" y="84100"/>
                </a:lnTo>
                <a:lnTo>
                  <a:pt x="9906" y="80671"/>
                </a:lnTo>
                <a:lnTo>
                  <a:pt x="9906" y="81433"/>
                </a:lnTo>
                <a:lnTo>
                  <a:pt x="10668" y="77623"/>
                </a:lnTo>
                <a:lnTo>
                  <a:pt x="12192" y="73813"/>
                </a:lnTo>
                <a:lnTo>
                  <a:pt x="12192" y="74575"/>
                </a:lnTo>
                <a:lnTo>
                  <a:pt x="14478" y="70765"/>
                </a:lnTo>
                <a:lnTo>
                  <a:pt x="72818" y="38980"/>
                </a:lnTo>
                <a:lnTo>
                  <a:pt x="116733" y="27403"/>
                </a:lnTo>
                <a:lnTo>
                  <a:pt x="167754" y="18712"/>
                </a:lnTo>
                <a:lnTo>
                  <a:pt x="223837" y="12914"/>
                </a:lnTo>
                <a:lnTo>
                  <a:pt x="282941" y="10017"/>
                </a:lnTo>
                <a:lnTo>
                  <a:pt x="343021" y="10027"/>
                </a:lnTo>
                <a:lnTo>
                  <a:pt x="402034" y="12951"/>
                </a:lnTo>
                <a:lnTo>
                  <a:pt x="457938" y="18796"/>
                </a:lnTo>
                <a:lnTo>
                  <a:pt x="508690" y="27569"/>
                </a:lnTo>
                <a:lnTo>
                  <a:pt x="552246" y="39277"/>
                </a:lnTo>
                <a:lnTo>
                  <a:pt x="609600" y="71527"/>
                </a:lnTo>
                <a:lnTo>
                  <a:pt x="611886" y="74575"/>
                </a:lnTo>
                <a:lnTo>
                  <a:pt x="611886" y="73813"/>
                </a:lnTo>
                <a:lnTo>
                  <a:pt x="614934" y="81433"/>
                </a:lnTo>
                <a:lnTo>
                  <a:pt x="614934" y="103010"/>
                </a:lnTo>
                <a:lnTo>
                  <a:pt x="620268" y="98959"/>
                </a:lnTo>
                <a:close/>
              </a:path>
              <a:path w="624204" h="168910">
                <a:moveTo>
                  <a:pt x="9220" y="84100"/>
                </a:moveTo>
                <a:lnTo>
                  <a:pt x="9144" y="83719"/>
                </a:lnTo>
                <a:lnTo>
                  <a:pt x="9144" y="84481"/>
                </a:lnTo>
                <a:lnTo>
                  <a:pt x="9220" y="84100"/>
                </a:lnTo>
                <a:close/>
              </a:path>
              <a:path w="624204" h="168910">
                <a:moveTo>
                  <a:pt x="614934" y="103010"/>
                </a:moveTo>
                <a:lnTo>
                  <a:pt x="614934" y="86767"/>
                </a:lnTo>
                <a:lnTo>
                  <a:pt x="613410" y="90577"/>
                </a:lnTo>
                <a:lnTo>
                  <a:pt x="613410" y="89815"/>
                </a:lnTo>
                <a:lnTo>
                  <a:pt x="562195" y="125297"/>
                </a:lnTo>
                <a:lnTo>
                  <a:pt x="522997" y="137173"/>
                </a:lnTo>
                <a:lnTo>
                  <a:pt x="476619" y="146409"/>
                </a:lnTo>
                <a:lnTo>
                  <a:pt x="424854" y="153006"/>
                </a:lnTo>
                <a:lnTo>
                  <a:pt x="369494" y="156963"/>
                </a:lnTo>
                <a:lnTo>
                  <a:pt x="312420" y="158279"/>
                </a:lnTo>
                <a:lnTo>
                  <a:pt x="255153" y="156960"/>
                </a:lnTo>
                <a:lnTo>
                  <a:pt x="199756" y="153001"/>
                </a:lnTo>
                <a:lnTo>
                  <a:pt x="147932" y="146402"/>
                </a:lnTo>
                <a:lnTo>
                  <a:pt x="101471" y="137165"/>
                </a:lnTo>
                <a:lnTo>
                  <a:pt x="62166" y="125290"/>
                </a:lnTo>
                <a:lnTo>
                  <a:pt x="12192" y="93625"/>
                </a:lnTo>
                <a:lnTo>
                  <a:pt x="10668" y="89815"/>
                </a:lnTo>
                <a:lnTo>
                  <a:pt x="10668" y="90577"/>
                </a:lnTo>
                <a:lnTo>
                  <a:pt x="9906" y="86767"/>
                </a:lnTo>
                <a:lnTo>
                  <a:pt x="9906" y="87529"/>
                </a:lnTo>
                <a:lnTo>
                  <a:pt x="9220" y="84100"/>
                </a:lnTo>
                <a:lnTo>
                  <a:pt x="9144" y="84481"/>
                </a:lnTo>
                <a:lnTo>
                  <a:pt x="9144" y="105055"/>
                </a:lnTo>
                <a:lnTo>
                  <a:pt x="11430" y="107341"/>
                </a:lnTo>
                <a:lnTo>
                  <a:pt x="49050" y="130143"/>
                </a:lnTo>
                <a:lnTo>
                  <a:pt x="99260" y="146424"/>
                </a:lnTo>
                <a:lnTo>
                  <a:pt x="156381" y="157281"/>
                </a:lnTo>
                <a:lnTo>
                  <a:pt x="214734" y="163814"/>
                </a:lnTo>
                <a:lnTo>
                  <a:pt x="268640" y="167121"/>
                </a:lnTo>
                <a:lnTo>
                  <a:pt x="312420" y="168301"/>
                </a:lnTo>
                <a:lnTo>
                  <a:pt x="374142" y="166777"/>
                </a:lnTo>
                <a:lnTo>
                  <a:pt x="418762" y="162966"/>
                </a:lnTo>
                <a:lnTo>
                  <a:pt x="475072" y="155932"/>
                </a:lnTo>
                <a:lnTo>
                  <a:pt x="533684" y="144022"/>
                </a:lnTo>
                <a:lnTo>
                  <a:pt x="585212" y="125582"/>
                </a:lnTo>
                <a:lnTo>
                  <a:pt x="614934" y="103010"/>
                </a:lnTo>
                <a:close/>
              </a:path>
              <a:path w="624204" h="168910">
                <a:moveTo>
                  <a:pt x="614934" y="83719"/>
                </a:moveTo>
                <a:lnTo>
                  <a:pt x="614934" y="81433"/>
                </a:lnTo>
                <a:lnTo>
                  <a:pt x="614172" y="80671"/>
                </a:lnTo>
                <a:lnTo>
                  <a:pt x="614857" y="84100"/>
                </a:lnTo>
                <a:lnTo>
                  <a:pt x="614934" y="83719"/>
                </a:lnTo>
                <a:close/>
              </a:path>
              <a:path w="624204" h="168910">
                <a:moveTo>
                  <a:pt x="614934" y="86767"/>
                </a:moveTo>
                <a:lnTo>
                  <a:pt x="614934" y="84481"/>
                </a:lnTo>
                <a:lnTo>
                  <a:pt x="614857" y="84100"/>
                </a:lnTo>
                <a:lnTo>
                  <a:pt x="614172" y="87529"/>
                </a:lnTo>
                <a:lnTo>
                  <a:pt x="614934" y="86767"/>
                </a:lnTo>
                <a:close/>
              </a:path>
              <a:path w="624204" h="168910">
                <a:moveTo>
                  <a:pt x="614934" y="84481"/>
                </a:moveTo>
                <a:lnTo>
                  <a:pt x="614934" y="83719"/>
                </a:lnTo>
                <a:lnTo>
                  <a:pt x="614857" y="84100"/>
                </a:lnTo>
                <a:lnTo>
                  <a:pt x="614934" y="84481"/>
                </a:lnTo>
                <a:close/>
              </a:path>
              <a:path w="624204" h="168910">
                <a:moveTo>
                  <a:pt x="622554" y="94387"/>
                </a:moveTo>
                <a:lnTo>
                  <a:pt x="622554" y="73813"/>
                </a:lnTo>
                <a:lnTo>
                  <a:pt x="620268" y="70003"/>
                </a:lnTo>
                <a:lnTo>
                  <a:pt x="620268" y="98197"/>
                </a:lnTo>
                <a:lnTo>
                  <a:pt x="622554" y="94387"/>
                </a:lnTo>
                <a:close/>
              </a:path>
              <a:path w="624204" h="168910">
                <a:moveTo>
                  <a:pt x="624078" y="89815"/>
                </a:moveTo>
                <a:lnTo>
                  <a:pt x="624078" y="78385"/>
                </a:lnTo>
                <a:lnTo>
                  <a:pt x="622554" y="74575"/>
                </a:lnTo>
                <a:lnTo>
                  <a:pt x="622554" y="93625"/>
                </a:lnTo>
                <a:lnTo>
                  <a:pt x="624078" y="89815"/>
                </a:lnTo>
                <a:close/>
              </a:path>
            </a:pathLst>
          </a:custGeom>
          <a:solidFill>
            <a:srgbClr val="808080"/>
          </a:solidFill>
        </p:spPr>
        <p:txBody>
          <a:bodyPr wrap="square" lIns="0" tIns="0" rIns="0" bIns="0" rtlCol="0"/>
          <a:lstStyle/>
          <a:p>
            <a:endParaRPr/>
          </a:p>
        </p:txBody>
      </p:sp>
      <p:sp>
        <p:nvSpPr>
          <p:cNvPr id="319" name="object 319"/>
          <p:cNvSpPr/>
          <p:nvPr/>
        </p:nvSpPr>
        <p:spPr>
          <a:xfrm>
            <a:off x="7627620" y="4906517"/>
            <a:ext cx="342900" cy="86360"/>
          </a:xfrm>
          <a:custGeom>
            <a:avLst/>
            <a:gdLst/>
            <a:ahLst/>
            <a:cxnLst/>
            <a:rect l="l" t="t" r="r" b="b"/>
            <a:pathLst>
              <a:path w="342900" h="86360">
                <a:moveTo>
                  <a:pt x="105053" y="73151"/>
                </a:moveTo>
                <a:lnTo>
                  <a:pt x="0" y="73151"/>
                </a:lnTo>
                <a:lnTo>
                  <a:pt x="0" y="86105"/>
                </a:lnTo>
                <a:lnTo>
                  <a:pt x="102870" y="86105"/>
                </a:lnTo>
                <a:lnTo>
                  <a:pt x="102870" y="74675"/>
                </a:lnTo>
                <a:lnTo>
                  <a:pt x="105053" y="73151"/>
                </a:lnTo>
                <a:close/>
              </a:path>
              <a:path w="342900" h="86360">
                <a:moveTo>
                  <a:pt x="105918" y="73151"/>
                </a:moveTo>
                <a:lnTo>
                  <a:pt x="105053" y="73151"/>
                </a:lnTo>
                <a:lnTo>
                  <a:pt x="102870" y="74675"/>
                </a:lnTo>
                <a:lnTo>
                  <a:pt x="105918" y="73151"/>
                </a:lnTo>
                <a:close/>
              </a:path>
              <a:path w="342900" h="86360">
                <a:moveTo>
                  <a:pt x="105918" y="86105"/>
                </a:moveTo>
                <a:lnTo>
                  <a:pt x="105918" y="73151"/>
                </a:lnTo>
                <a:lnTo>
                  <a:pt x="102870" y="74675"/>
                </a:lnTo>
                <a:lnTo>
                  <a:pt x="102870" y="86105"/>
                </a:lnTo>
                <a:lnTo>
                  <a:pt x="105918" y="86105"/>
                </a:lnTo>
                <a:close/>
              </a:path>
              <a:path w="342900" h="86360">
                <a:moveTo>
                  <a:pt x="342900" y="12191"/>
                </a:moveTo>
                <a:lnTo>
                  <a:pt x="342900" y="0"/>
                </a:lnTo>
                <a:lnTo>
                  <a:pt x="210311" y="0"/>
                </a:lnTo>
                <a:lnTo>
                  <a:pt x="208788" y="761"/>
                </a:lnTo>
                <a:lnTo>
                  <a:pt x="105053" y="73151"/>
                </a:lnTo>
                <a:lnTo>
                  <a:pt x="105918" y="73151"/>
                </a:lnTo>
                <a:lnTo>
                  <a:pt x="105918" y="86105"/>
                </a:lnTo>
                <a:lnTo>
                  <a:pt x="108966" y="86105"/>
                </a:lnTo>
                <a:lnTo>
                  <a:pt x="109728" y="85343"/>
                </a:lnTo>
                <a:lnTo>
                  <a:pt x="212597" y="14069"/>
                </a:lnTo>
                <a:lnTo>
                  <a:pt x="212597" y="12191"/>
                </a:lnTo>
                <a:lnTo>
                  <a:pt x="216408" y="11429"/>
                </a:lnTo>
                <a:lnTo>
                  <a:pt x="216408" y="12191"/>
                </a:lnTo>
                <a:lnTo>
                  <a:pt x="342900" y="12191"/>
                </a:lnTo>
                <a:close/>
              </a:path>
              <a:path w="342900" h="86360">
                <a:moveTo>
                  <a:pt x="216408" y="11429"/>
                </a:moveTo>
                <a:lnTo>
                  <a:pt x="212597" y="12191"/>
                </a:lnTo>
                <a:lnTo>
                  <a:pt x="215308" y="12191"/>
                </a:lnTo>
                <a:lnTo>
                  <a:pt x="216408" y="11429"/>
                </a:lnTo>
                <a:close/>
              </a:path>
              <a:path w="342900" h="86360">
                <a:moveTo>
                  <a:pt x="215308" y="12191"/>
                </a:moveTo>
                <a:lnTo>
                  <a:pt x="212597" y="12191"/>
                </a:lnTo>
                <a:lnTo>
                  <a:pt x="212597" y="14069"/>
                </a:lnTo>
                <a:lnTo>
                  <a:pt x="215308" y="12191"/>
                </a:lnTo>
                <a:close/>
              </a:path>
              <a:path w="342900" h="86360">
                <a:moveTo>
                  <a:pt x="216408" y="12191"/>
                </a:moveTo>
                <a:lnTo>
                  <a:pt x="216408" y="11429"/>
                </a:lnTo>
                <a:lnTo>
                  <a:pt x="215308" y="12191"/>
                </a:lnTo>
                <a:lnTo>
                  <a:pt x="216408" y="12191"/>
                </a:lnTo>
                <a:close/>
              </a:path>
            </a:pathLst>
          </a:custGeom>
          <a:solidFill>
            <a:srgbClr val="808080"/>
          </a:solidFill>
        </p:spPr>
        <p:txBody>
          <a:bodyPr wrap="square" lIns="0" tIns="0" rIns="0" bIns="0" rtlCol="0"/>
          <a:lstStyle/>
          <a:p>
            <a:endParaRPr/>
          </a:p>
        </p:txBody>
      </p:sp>
      <p:sp>
        <p:nvSpPr>
          <p:cNvPr id="320" name="object 320"/>
          <p:cNvSpPr/>
          <p:nvPr/>
        </p:nvSpPr>
        <p:spPr>
          <a:xfrm>
            <a:off x="7642860" y="4906517"/>
            <a:ext cx="312420" cy="86360"/>
          </a:xfrm>
          <a:custGeom>
            <a:avLst/>
            <a:gdLst/>
            <a:ahLst/>
            <a:cxnLst/>
            <a:rect l="l" t="t" r="r" b="b"/>
            <a:pathLst>
              <a:path w="312420" h="86360">
                <a:moveTo>
                  <a:pt x="214208" y="73151"/>
                </a:moveTo>
                <a:lnTo>
                  <a:pt x="109728" y="761"/>
                </a:lnTo>
                <a:lnTo>
                  <a:pt x="108966" y="0"/>
                </a:lnTo>
                <a:lnTo>
                  <a:pt x="0" y="0"/>
                </a:lnTo>
                <a:lnTo>
                  <a:pt x="0" y="12192"/>
                </a:lnTo>
                <a:lnTo>
                  <a:pt x="102870" y="12191"/>
                </a:lnTo>
                <a:lnTo>
                  <a:pt x="102870" y="11429"/>
                </a:lnTo>
                <a:lnTo>
                  <a:pt x="106680" y="12191"/>
                </a:lnTo>
                <a:lnTo>
                  <a:pt x="106680" y="14069"/>
                </a:lnTo>
                <a:lnTo>
                  <a:pt x="209550" y="85343"/>
                </a:lnTo>
                <a:lnTo>
                  <a:pt x="210311" y="86105"/>
                </a:lnTo>
                <a:lnTo>
                  <a:pt x="212597" y="86105"/>
                </a:lnTo>
                <a:lnTo>
                  <a:pt x="212597" y="73151"/>
                </a:lnTo>
                <a:lnTo>
                  <a:pt x="214208" y="73151"/>
                </a:lnTo>
                <a:close/>
              </a:path>
              <a:path w="312420" h="86360">
                <a:moveTo>
                  <a:pt x="106680" y="12191"/>
                </a:moveTo>
                <a:lnTo>
                  <a:pt x="102870" y="11429"/>
                </a:lnTo>
                <a:lnTo>
                  <a:pt x="103969" y="12191"/>
                </a:lnTo>
                <a:lnTo>
                  <a:pt x="106680" y="12191"/>
                </a:lnTo>
                <a:close/>
              </a:path>
              <a:path w="312420" h="86360">
                <a:moveTo>
                  <a:pt x="103969" y="12191"/>
                </a:moveTo>
                <a:lnTo>
                  <a:pt x="102870" y="11429"/>
                </a:lnTo>
                <a:lnTo>
                  <a:pt x="102870" y="12191"/>
                </a:lnTo>
                <a:lnTo>
                  <a:pt x="103969" y="12191"/>
                </a:lnTo>
                <a:close/>
              </a:path>
              <a:path w="312420" h="86360">
                <a:moveTo>
                  <a:pt x="106680" y="14069"/>
                </a:moveTo>
                <a:lnTo>
                  <a:pt x="106680" y="12191"/>
                </a:lnTo>
                <a:lnTo>
                  <a:pt x="103969" y="12191"/>
                </a:lnTo>
                <a:lnTo>
                  <a:pt x="106680" y="14069"/>
                </a:lnTo>
                <a:close/>
              </a:path>
              <a:path w="312420" h="86360">
                <a:moveTo>
                  <a:pt x="216408" y="74675"/>
                </a:moveTo>
                <a:lnTo>
                  <a:pt x="214208" y="73151"/>
                </a:lnTo>
                <a:lnTo>
                  <a:pt x="212597" y="73151"/>
                </a:lnTo>
                <a:lnTo>
                  <a:pt x="216408" y="74675"/>
                </a:lnTo>
                <a:close/>
              </a:path>
              <a:path w="312420" h="86360">
                <a:moveTo>
                  <a:pt x="216408" y="86105"/>
                </a:moveTo>
                <a:lnTo>
                  <a:pt x="216408" y="74675"/>
                </a:lnTo>
                <a:lnTo>
                  <a:pt x="212597" y="73151"/>
                </a:lnTo>
                <a:lnTo>
                  <a:pt x="212597" y="86105"/>
                </a:lnTo>
                <a:lnTo>
                  <a:pt x="216408" y="86105"/>
                </a:lnTo>
                <a:close/>
              </a:path>
              <a:path w="312420" h="86360">
                <a:moveTo>
                  <a:pt x="312420" y="86105"/>
                </a:moveTo>
                <a:lnTo>
                  <a:pt x="312420" y="73151"/>
                </a:lnTo>
                <a:lnTo>
                  <a:pt x="214208" y="73151"/>
                </a:lnTo>
                <a:lnTo>
                  <a:pt x="216408" y="74675"/>
                </a:lnTo>
                <a:lnTo>
                  <a:pt x="216408" y="86105"/>
                </a:lnTo>
                <a:lnTo>
                  <a:pt x="312420" y="86105"/>
                </a:lnTo>
                <a:close/>
              </a:path>
            </a:pathLst>
          </a:custGeom>
          <a:solidFill>
            <a:srgbClr val="808080"/>
          </a:solidFill>
        </p:spPr>
        <p:txBody>
          <a:bodyPr wrap="square" lIns="0" tIns="0" rIns="0" bIns="0" rtlCol="0"/>
          <a:lstStyle/>
          <a:p>
            <a:endParaRPr/>
          </a:p>
        </p:txBody>
      </p:sp>
      <p:sp>
        <p:nvSpPr>
          <p:cNvPr id="321" name="object 321"/>
          <p:cNvSpPr/>
          <p:nvPr/>
        </p:nvSpPr>
        <p:spPr>
          <a:xfrm>
            <a:off x="8155686" y="5314188"/>
            <a:ext cx="614933" cy="136398"/>
          </a:xfrm>
          <a:prstGeom prst="rect">
            <a:avLst/>
          </a:prstGeom>
          <a:blipFill>
            <a:blip r:embed="rId133" cstate="print"/>
            <a:stretch>
              <a:fillRect/>
            </a:stretch>
          </a:blipFill>
        </p:spPr>
        <p:txBody>
          <a:bodyPr wrap="square" lIns="0" tIns="0" rIns="0" bIns="0" rtlCol="0"/>
          <a:lstStyle/>
          <a:p>
            <a:endParaRPr/>
          </a:p>
        </p:txBody>
      </p:sp>
      <p:sp>
        <p:nvSpPr>
          <p:cNvPr id="322" name="object 322"/>
          <p:cNvSpPr/>
          <p:nvPr/>
        </p:nvSpPr>
        <p:spPr>
          <a:xfrm>
            <a:off x="8151113" y="5309370"/>
            <a:ext cx="624840" cy="145415"/>
          </a:xfrm>
          <a:custGeom>
            <a:avLst/>
            <a:gdLst/>
            <a:ahLst/>
            <a:cxnLst/>
            <a:rect l="l" t="t" r="r" b="b"/>
            <a:pathLst>
              <a:path w="624840" h="145414">
                <a:moveTo>
                  <a:pt x="762" y="76445"/>
                </a:moveTo>
                <a:lnTo>
                  <a:pt x="761" y="68825"/>
                </a:lnTo>
                <a:lnTo>
                  <a:pt x="0" y="71873"/>
                </a:lnTo>
                <a:lnTo>
                  <a:pt x="0" y="73397"/>
                </a:lnTo>
                <a:lnTo>
                  <a:pt x="762" y="76445"/>
                </a:lnTo>
                <a:close/>
              </a:path>
              <a:path w="624840" h="145414">
                <a:moveTo>
                  <a:pt x="2286" y="81017"/>
                </a:moveTo>
                <a:lnTo>
                  <a:pt x="2285" y="64253"/>
                </a:lnTo>
                <a:lnTo>
                  <a:pt x="761" y="67301"/>
                </a:lnTo>
                <a:lnTo>
                  <a:pt x="762" y="77969"/>
                </a:lnTo>
                <a:lnTo>
                  <a:pt x="2286" y="81017"/>
                </a:lnTo>
                <a:close/>
              </a:path>
              <a:path w="624840" h="145414">
                <a:moveTo>
                  <a:pt x="622554" y="81779"/>
                </a:moveTo>
                <a:lnTo>
                  <a:pt x="622554" y="63491"/>
                </a:lnTo>
                <a:lnTo>
                  <a:pt x="620268" y="59681"/>
                </a:lnTo>
                <a:lnTo>
                  <a:pt x="556861" y="26622"/>
                </a:lnTo>
                <a:lnTo>
                  <a:pt x="511991" y="15975"/>
                </a:lnTo>
                <a:lnTo>
                  <a:pt x="460029" y="7983"/>
                </a:lnTo>
                <a:lnTo>
                  <a:pt x="403001" y="2647"/>
                </a:lnTo>
                <a:lnTo>
                  <a:pt x="343580" y="0"/>
                </a:lnTo>
                <a:lnTo>
                  <a:pt x="279672" y="52"/>
                </a:lnTo>
                <a:lnTo>
                  <a:pt x="221792" y="2604"/>
                </a:lnTo>
                <a:lnTo>
                  <a:pt x="164769" y="7917"/>
                </a:lnTo>
                <a:lnTo>
                  <a:pt x="112697" y="15926"/>
                </a:lnTo>
                <a:lnTo>
                  <a:pt x="67953" y="26550"/>
                </a:lnTo>
                <a:lnTo>
                  <a:pt x="32212" y="39873"/>
                </a:lnTo>
                <a:lnTo>
                  <a:pt x="2285" y="63491"/>
                </a:lnTo>
                <a:lnTo>
                  <a:pt x="2286" y="81779"/>
                </a:lnTo>
                <a:lnTo>
                  <a:pt x="4572" y="85589"/>
                </a:lnTo>
                <a:lnTo>
                  <a:pt x="4572" y="86351"/>
                </a:lnTo>
                <a:lnTo>
                  <a:pt x="7620" y="90161"/>
                </a:lnTo>
                <a:lnTo>
                  <a:pt x="9906" y="91612"/>
                </a:lnTo>
                <a:lnTo>
                  <a:pt x="9906" y="71111"/>
                </a:lnTo>
                <a:lnTo>
                  <a:pt x="10668" y="67301"/>
                </a:lnTo>
                <a:lnTo>
                  <a:pt x="10668" y="68063"/>
                </a:lnTo>
                <a:lnTo>
                  <a:pt x="12192" y="65015"/>
                </a:lnTo>
                <a:lnTo>
                  <a:pt x="34820" y="49226"/>
                </a:lnTo>
                <a:lnTo>
                  <a:pt x="112697" y="25599"/>
                </a:lnTo>
                <a:lnTo>
                  <a:pt x="163761" y="17732"/>
                </a:lnTo>
                <a:lnTo>
                  <a:pt x="220116" y="12477"/>
                </a:lnTo>
                <a:lnTo>
                  <a:pt x="279672" y="9819"/>
                </a:lnTo>
                <a:lnTo>
                  <a:pt x="343580" y="9880"/>
                </a:lnTo>
                <a:lnTo>
                  <a:pt x="400011" y="12239"/>
                </a:lnTo>
                <a:lnTo>
                  <a:pt x="456609" y="17287"/>
                </a:lnTo>
                <a:lnTo>
                  <a:pt x="508036" y="24874"/>
                </a:lnTo>
                <a:lnTo>
                  <a:pt x="552199" y="34986"/>
                </a:lnTo>
                <a:lnTo>
                  <a:pt x="610362" y="62729"/>
                </a:lnTo>
                <a:lnTo>
                  <a:pt x="612648" y="65015"/>
                </a:lnTo>
                <a:lnTo>
                  <a:pt x="612648" y="66031"/>
                </a:lnTo>
                <a:lnTo>
                  <a:pt x="614172" y="68063"/>
                </a:lnTo>
                <a:lnTo>
                  <a:pt x="614172" y="67301"/>
                </a:lnTo>
                <a:lnTo>
                  <a:pt x="614934" y="71111"/>
                </a:lnTo>
                <a:lnTo>
                  <a:pt x="614934" y="90894"/>
                </a:lnTo>
                <a:lnTo>
                  <a:pt x="617220" y="89399"/>
                </a:lnTo>
                <a:lnTo>
                  <a:pt x="620268" y="86351"/>
                </a:lnTo>
                <a:lnTo>
                  <a:pt x="620268" y="85589"/>
                </a:lnTo>
                <a:lnTo>
                  <a:pt x="622554" y="81779"/>
                </a:lnTo>
                <a:close/>
              </a:path>
              <a:path w="624840" h="145414">
                <a:moveTo>
                  <a:pt x="612648" y="92390"/>
                </a:moveTo>
                <a:lnTo>
                  <a:pt x="612648" y="80255"/>
                </a:lnTo>
                <a:lnTo>
                  <a:pt x="609600" y="83303"/>
                </a:lnTo>
                <a:lnTo>
                  <a:pt x="585512" y="98329"/>
                </a:lnTo>
                <a:lnTo>
                  <a:pt x="506919" y="120857"/>
                </a:lnTo>
                <a:lnTo>
                  <a:pt x="456327" y="128362"/>
                </a:lnTo>
                <a:lnTo>
                  <a:pt x="400816" y="133362"/>
                </a:lnTo>
                <a:lnTo>
                  <a:pt x="343580" y="135804"/>
                </a:lnTo>
                <a:lnTo>
                  <a:pt x="282519" y="135835"/>
                </a:lnTo>
                <a:lnTo>
                  <a:pt x="224334" y="133341"/>
                </a:lnTo>
                <a:lnTo>
                  <a:pt x="168715" y="128331"/>
                </a:lnTo>
                <a:lnTo>
                  <a:pt x="117963" y="120821"/>
                </a:lnTo>
                <a:lnTo>
                  <a:pt x="74034" y="110812"/>
                </a:lnTo>
                <a:lnTo>
                  <a:pt x="14478" y="83303"/>
                </a:lnTo>
                <a:lnTo>
                  <a:pt x="12192" y="80255"/>
                </a:lnTo>
                <a:lnTo>
                  <a:pt x="12192" y="81017"/>
                </a:lnTo>
                <a:lnTo>
                  <a:pt x="10668" y="77207"/>
                </a:lnTo>
                <a:lnTo>
                  <a:pt x="10668" y="77969"/>
                </a:lnTo>
                <a:lnTo>
                  <a:pt x="9906" y="74921"/>
                </a:lnTo>
                <a:lnTo>
                  <a:pt x="32427" y="105905"/>
                </a:lnTo>
                <a:lnTo>
                  <a:pt x="68336" y="119038"/>
                </a:lnTo>
                <a:lnTo>
                  <a:pt x="113324" y="129553"/>
                </a:lnTo>
                <a:lnTo>
                  <a:pt x="165367" y="137444"/>
                </a:lnTo>
                <a:lnTo>
                  <a:pt x="222440" y="142705"/>
                </a:lnTo>
                <a:lnTo>
                  <a:pt x="279672" y="145207"/>
                </a:lnTo>
                <a:lnTo>
                  <a:pt x="343580" y="145315"/>
                </a:lnTo>
                <a:lnTo>
                  <a:pt x="403599" y="142650"/>
                </a:lnTo>
                <a:lnTo>
                  <a:pt x="460552" y="137332"/>
                </a:lnTo>
                <a:lnTo>
                  <a:pt x="512414" y="129354"/>
                </a:lnTo>
                <a:lnTo>
                  <a:pt x="557162" y="118709"/>
                </a:lnTo>
                <a:lnTo>
                  <a:pt x="592772" y="105393"/>
                </a:lnTo>
                <a:lnTo>
                  <a:pt x="612648" y="92390"/>
                </a:lnTo>
                <a:close/>
              </a:path>
              <a:path w="624840" h="145414">
                <a:moveTo>
                  <a:pt x="612648" y="66031"/>
                </a:moveTo>
                <a:lnTo>
                  <a:pt x="612648" y="65015"/>
                </a:lnTo>
                <a:lnTo>
                  <a:pt x="611886" y="65015"/>
                </a:lnTo>
                <a:lnTo>
                  <a:pt x="612648" y="66031"/>
                </a:lnTo>
                <a:close/>
              </a:path>
              <a:path w="624840" h="145414">
                <a:moveTo>
                  <a:pt x="614934" y="90894"/>
                </a:moveTo>
                <a:lnTo>
                  <a:pt x="614934" y="74921"/>
                </a:lnTo>
                <a:lnTo>
                  <a:pt x="614172" y="77969"/>
                </a:lnTo>
                <a:lnTo>
                  <a:pt x="614172" y="77207"/>
                </a:lnTo>
                <a:lnTo>
                  <a:pt x="611886" y="81017"/>
                </a:lnTo>
                <a:lnTo>
                  <a:pt x="612648" y="80255"/>
                </a:lnTo>
                <a:lnTo>
                  <a:pt x="612648" y="92390"/>
                </a:lnTo>
                <a:lnTo>
                  <a:pt x="614934" y="90894"/>
                </a:lnTo>
                <a:close/>
              </a:path>
              <a:path w="624840" h="145414">
                <a:moveTo>
                  <a:pt x="624078" y="77969"/>
                </a:moveTo>
                <a:lnTo>
                  <a:pt x="624078" y="67301"/>
                </a:lnTo>
                <a:lnTo>
                  <a:pt x="622554" y="64253"/>
                </a:lnTo>
                <a:lnTo>
                  <a:pt x="622554" y="81017"/>
                </a:lnTo>
                <a:lnTo>
                  <a:pt x="624078" y="77969"/>
                </a:lnTo>
                <a:close/>
              </a:path>
              <a:path w="624840" h="145414">
                <a:moveTo>
                  <a:pt x="624840" y="73397"/>
                </a:moveTo>
                <a:lnTo>
                  <a:pt x="624840" y="71873"/>
                </a:lnTo>
                <a:lnTo>
                  <a:pt x="624078" y="68825"/>
                </a:lnTo>
                <a:lnTo>
                  <a:pt x="624078" y="76445"/>
                </a:lnTo>
                <a:lnTo>
                  <a:pt x="624840" y="73397"/>
                </a:lnTo>
                <a:close/>
              </a:path>
            </a:pathLst>
          </a:custGeom>
          <a:solidFill>
            <a:srgbClr val="808080"/>
          </a:solidFill>
        </p:spPr>
        <p:txBody>
          <a:bodyPr wrap="square" lIns="0" tIns="0" rIns="0" bIns="0" rtlCol="0"/>
          <a:lstStyle/>
          <a:p>
            <a:endParaRPr/>
          </a:p>
        </p:txBody>
      </p:sp>
      <p:sp>
        <p:nvSpPr>
          <p:cNvPr id="323" name="object 323"/>
          <p:cNvSpPr/>
          <p:nvPr/>
        </p:nvSpPr>
        <p:spPr>
          <a:xfrm>
            <a:off x="8153400" y="5300471"/>
            <a:ext cx="617220" cy="83058"/>
          </a:xfrm>
          <a:prstGeom prst="rect">
            <a:avLst/>
          </a:prstGeom>
          <a:blipFill>
            <a:blip r:embed="rId134" cstate="print"/>
            <a:stretch>
              <a:fillRect/>
            </a:stretch>
          </a:blipFill>
        </p:spPr>
        <p:txBody>
          <a:bodyPr wrap="square" lIns="0" tIns="0" rIns="0" bIns="0" rtlCol="0"/>
          <a:lstStyle/>
          <a:p>
            <a:endParaRPr/>
          </a:p>
        </p:txBody>
      </p:sp>
      <p:sp>
        <p:nvSpPr>
          <p:cNvPr id="324" name="object 324"/>
          <p:cNvSpPr/>
          <p:nvPr/>
        </p:nvSpPr>
        <p:spPr>
          <a:xfrm>
            <a:off x="8155686" y="5209032"/>
            <a:ext cx="614933" cy="158495"/>
          </a:xfrm>
          <a:prstGeom prst="rect">
            <a:avLst/>
          </a:prstGeom>
          <a:blipFill>
            <a:blip r:embed="rId135" cstate="print"/>
            <a:stretch>
              <a:fillRect/>
            </a:stretch>
          </a:blipFill>
        </p:spPr>
        <p:txBody>
          <a:bodyPr wrap="square" lIns="0" tIns="0" rIns="0" bIns="0" rtlCol="0"/>
          <a:lstStyle/>
          <a:p>
            <a:endParaRPr/>
          </a:p>
        </p:txBody>
      </p:sp>
      <p:sp>
        <p:nvSpPr>
          <p:cNvPr id="325" name="object 325"/>
          <p:cNvSpPr/>
          <p:nvPr/>
        </p:nvSpPr>
        <p:spPr>
          <a:xfrm>
            <a:off x="8151113" y="5204317"/>
            <a:ext cx="624840" cy="168275"/>
          </a:xfrm>
          <a:custGeom>
            <a:avLst/>
            <a:gdLst/>
            <a:ahLst/>
            <a:cxnLst/>
            <a:rect l="l" t="t" r="r" b="b"/>
            <a:pathLst>
              <a:path w="624840" h="168275">
                <a:moveTo>
                  <a:pt x="762" y="88534"/>
                </a:moveTo>
                <a:lnTo>
                  <a:pt x="761" y="79390"/>
                </a:lnTo>
                <a:lnTo>
                  <a:pt x="0" y="83200"/>
                </a:lnTo>
                <a:lnTo>
                  <a:pt x="0" y="84724"/>
                </a:lnTo>
                <a:lnTo>
                  <a:pt x="762" y="88534"/>
                </a:lnTo>
                <a:close/>
              </a:path>
              <a:path w="624840" h="168275">
                <a:moveTo>
                  <a:pt x="622554" y="93868"/>
                </a:moveTo>
                <a:lnTo>
                  <a:pt x="622554" y="74056"/>
                </a:lnTo>
                <a:lnTo>
                  <a:pt x="620268" y="69484"/>
                </a:lnTo>
                <a:lnTo>
                  <a:pt x="563233" y="33085"/>
                </a:lnTo>
                <a:lnTo>
                  <a:pt x="522982" y="21159"/>
                </a:lnTo>
                <a:lnTo>
                  <a:pt x="476102" y="11889"/>
                </a:lnTo>
                <a:lnTo>
                  <a:pt x="424246" y="5274"/>
                </a:lnTo>
                <a:lnTo>
                  <a:pt x="369072" y="1311"/>
                </a:lnTo>
                <a:lnTo>
                  <a:pt x="312234" y="0"/>
                </a:lnTo>
                <a:lnTo>
                  <a:pt x="255388" y="1338"/>
                </a:lnTo>
                <a:lnTo>
                  <a:pt x="200189" y="5324"/>
                </a:lnTo>
                <a:lnTo>
                  <a:pt x="148294" y="11956"/>
                </a:lnTo>
                <a:lnTo>
                  <a:pt x="101358" y="21232"/>
                </a:lnTo>
                <a:lnTo>
                  <a:pt x="61036" y="33152"/>
                </a:lnTo>
                <a:lnTo>
                  <a:pt x="6857" y="64912"/>
                </a:lnTo>
                <a:lnTo>
                  <a:pt x="4571" y="69484"/>
                </a:lnTo>
                <a:lnTo>
                  <a:pt x="3809" y="69484"/>
                </a:lnTo>
                <a:lnTo>
                  <a:pt x="2285" y="74056"/>
                </a:lnTo>
                <a:lnTo>
                  <a:pt x="1523" y="74818"/>
                </a:lnTo>
                <a:lnTo>
                  <a:pt x="761" y="78628"/>
                </a:lnTo>
                <a:lnTo>
                  <a:pt x="762" y="89296"/>
                </a:lnTo>
                <a:lnTo>
                  <a:pt x="1524" y="93106"/>
                </a:lnTo>
                <a:lnTo>
                  <a:pt x="2286" y="93868"/>
                </a:lnTo>
                <a:lnTo>
                  <a:pt x="3810" y="98440"/>
                </a:lnTo>
                <a:lnTo>
                  <a:pt x="4572" y="98440"/>
                </a:lnTo>
                <a:lnTo>
                  <a:pt x="7620" y="103012"/>
                </a:lnTo>
                <a:lnTo>
                  <a:pt x="9905" y="104817"/>
                </a:lnTo>
                <a:lnTo>
                  <a:pt x="9906" y="80914"/>
                </a:lnTo>
                <a:lnTo>
                  <a:pt x="10668" y="77104"/>
                </a:lnTo>
                <a:lnTo>
                  <a:pt x="10668" y="77866"/>
                </a:lnTo>
                <a:lnTo>
                  <a:pt x="12192" y="75326"/>
                </a:lnTo>
                <a:lnTo>
                  <a:pt x="12192" y="74818"/>
                </a:lnTo>
                <a:lnTo>
                  <a:pt x="15240" y="71008"/>
                </a:lnTo>
                <a:lnTo>
                  <a:pt x="73777" y="38947"/>
                </a:lnTo>
                <a:lnTo>
                  <a:pt x="117496" y="27297"/>
                </a:lnTo>
                <a:lnTo>
                  <a:pt x="168196" y="18565"/>
                </a:lnTo>
                <a:lnTo>
                  <a:pt x="223886" y="12750"/>
                </a:lnTo>
                <a:lnTo>
                  <a:pt x="282469" y="9854"/>
                </a:lnTo>
                <a:lnTo>
                  <a:pt x="342284" y="9861"/>
                </a:lnTo>
                <a:lnTo>
                  <a:pt x="401011" y="12785"/>
                </a:lnTo>
                <a:lnTo>
                  <a:pt x="456772" y="18618"/>
                </a:lnTo>
                <a:lnTo>
                  <a:pt x="507577" y="27358"/>
                </a:lnTo>
                <a:lnTo>
                  <a:pt x="551437" y="39005"/>
                </a:lnTo>
                <a:lnTo>
                  <a:pt x="610362" y="71008"/>
                </a:lnTo>
                <a:lnTo>
                  <a:pt x="612648" y="74818"/>
                </a:lnTo>
                <a:lnTo>
                  <a:pt x="612648" y="75326"/>
                </a:lnTo>
                <a:lnTo>
                  <a:pt x="614172" y="77866"/>
                </a:lnTo>
                <a:lnTo>
                  <a:pt x="614172" y="79009"/>
                </a:lnTo>
                <a:lnTo>
                  <a:pt x="614934" y="80914"/>
                </a:lnTo>
                <a:lnTo>
                  <a:pt x="614934" y="104825"/>
                </a:lnTo>
                <a:lnTo>
                  <a:pt x="617220" y="103012"/>
                </a:lnTo>
                <a:lnTo>
                  <a:pt x="620268" y="98440"/>
                </a:lnTo>
                <a:lnTo>
                  <a:pt x="622554" y="93868"/>
                </a:lnTo>
                <a:close/>
              </a:path>
              <a:path w="624840" h="168275">
                <a:moveTo>
                  <a:pt x="12954" y="93868"/>
                </a:moveTo>
                <a:lnTo>
                  <a:pt x="10668" y="90058"/>
                </a:lnTo>
                <a:lnTo>
                  <a:pt x="10668" y="90820"/>
                </a:lnTo>
                <a:lnTo>
                  <a:pt x="9906" y="87010"/>
                </a:lnTo>
                <a:lnTo>
                  <a:pt x="9905" y="104817"/>
                </a:lnTo>
                <a:lnTo>
                  <a:pt x="12192" y="106621"/>
                </a:lnTo>
                <a:lnTo>
                  <a:pt x="12192" y="93106"/>
                </a:lnTo>
                <a:lnTo>
                  <a:pt x="12954" y="93868"/>
                </a:lnTo>
                <a:close/>
              </a:path>
              <a:path w="624840" h="168275">
                <a:moveTo>
                  <a:pt x="12954" y="74056"/>
                </a:moveTo>
                <a:lnTo>
                  <a:pt x="12192" y="74818"/>
                </a:lnTo>
                <a:lnTo>
                  <a:pt x="12192" y="75326"/>
                </a:lnTo>
                <a:lnTo>
                  <a:pt x="12954" y="74056"/>
                </a:lnTo>
                <a:close/>
              </a:path>
              <a:path w="624840" h="168275">
                <a:moveTo>
                  <a:pt x="612648" y="106638"/>
                </a:moveTo>
                <a:lnTo>
                  <a:pt x="612648" y="93106"/>
                </a:lnTo>
                <a:lnTo>
                  <a:pt x="609600" y="96916"/>
                </a:lnTo>
                <a:lnTo>
                  <a:pt x="585774" y="114404"/>
                </a:lnTo>
                <a:lnTo>
                  <a:pt x="507262" y="140621"/>
                </a:lnTo>
                <a:lnTo>
                  <a:pt x="456552" y="149354"/>
                </a:lnTo>
                <a:lnTo>
                  <a:pt x="400858" y="155171"/>
                </a:lnTo>
                <a:lnTo>
                  <a:pt x="342284" y="158069"/>
                </a:lnTo>
                <a:lnTo>
                  <a:pt x="282469" y="158065"/>
                </a:lnTo>
                <a:lnTo>
                  <a:pt x="223751" y="155144"/>
                </a:lnTo>
                <a:lnTo>
                  <a:pt x="168004" y="149313"/>
                </a:lnTo>
                <a:lnTo>
                  <a:pt x="117214" y="140574"/>
                </a:lnTo>
                <a:lnTo>
                  <a:pt x="73370" y="128927"/>
                </a:lnTo>
                <a:lnTo>
                  <a:pt x="14478" y="96916"/>
                </a:lnTo>
                <a:lnTo>
                  <a:pt x="12192" y="93106"/>
                </a:lnTo>
                <a:lnTo>
                  <a:pt x="12192" y="106621"/>
                </a:lnTo>
                <a:lnTo>
                  <a:pt x="61288" y="134794"/>
                </a:lnTo>
                <a:lnTo>
                  <a:pt x="101518" y="146710"/>
                </a:lnTo>
                <a:lnTo>
                  <a:pt x="148444" y="155976"/>
                </a:lnTo>
                <a:lnTo>
                  <a:pt x="200389" y="162593"/>
                </a:lnTo>
                <a:lnTo>
                  <a:pt x="255678" y="166562"/>
                </a:lnTo>
                <a:lnTo>
                  <a:pt x="312634" y="167882"/>
                </a:lnTo>
                <a:lnTo>
                  <a:pt x="369581" y="166555"/>
                </a:lnTo>
                <a:lnTo>
                  <a:pt x="424843" y="162581"/>
                </a:lnTo>
                <a:lnTo>
                  <a:pt x="476745" y="155959"/>
                </a:lnTo>
                <a:lnTo>
                  <a:pt x="523609" y="146691"/>
                </a:lnTo>
                <a:lnTo>
                  <a:pt x="563761" y="134777"/>
                </a:lnTo>
                <a:lnTo>
                  <a:pt x="595523" y="120217"/>
                </a:lnTo>
                <a:lnTo>
                  <a:pt x="612648" y="106638"/>
                </a:lnTo>
                <a:close/>
              </a:path>
              <a:path w="624840" h="168275">
                <a:moveTo>
                  <a:pt x="612648" y="75326"/>
                </a:moveTo>
                <a:lnTo>
                  <a:pt x="612648" y="74818"/>
                </a:lnTo>
                <a:lnTo>
                  <a:pt x="611886" y="74056"/>
                </a:lnTo>
                <a:lnTo>
                  <a:pt x="612648" y="75326"/>
                </a:lnTo>
                <a:close/>
              </a:path>
              <a:path w="624840" h="168275">
                <a:moveTo>
                  <a:pt x="614172" y="105429"/>
                </a:moveTo>
                <a:lnTo>
                  <a:pt x="614172" y="90058"/>
                </a:lnTo>
                <a:lnTo>
                  <a:pt x="611886" y="93868"/>
                </a:lnTo>
                <a:lnTo>
                  <a:pt x="612648" y="93106"/>
                </a:lnTo>
                <a:lnTo>
                  <a:pt x="612648" y="106638"/>
                </a:lnTo>
                <a:lnTo>
                  <a:pt x="614172" y="105429"/>
                </a:lnTo>
                <a:close/>
              </a:path>
              <a:path w="624840" h="168275">
                <a:moveTo>
                  <a:pt x="614172" y="79009"/>
                </a:moveTo>
                <a:lnTo>
                  <a:pt x="614172" y="77866"/>
                </a:lnTo>
                <a:lnTo>
                  <a:pt x="613410" y="77104"/>
                </a:lnTo>
                <a:lnTo>
                  <a:pt x="614172" y="79009"/>
                </a:lnTo>
                <a:close/>
              </a:path>
              <a:path w="624840" h="168275">
                <a:moveTo>
                  <a:pt x="614934" y="104825"/>
                </a:moveTo>
                <a:lnTo>
                  <a:pt x="614934" y="87010"/>
                </a:lnTo>
                <a:lnTo>
                  <a:pt x="613410" y="90820"/>
                </a:lnTo>
                <a:lnTo>
                  <a:pt x="614172" y="90058"/>
                </a:lnTo>
                <a:lnTo>
                  <a:pt x="614172" y="105429"/>
                </a:lnTo>
                <a:lnTo>
                  <a:pt x="614934" y="104825"/>
                </a:lnTo>
                <a:close/>
              </a:path>
              <a:path w="624840" h="168275">
                <a:moveTo>
                  <a:pt x="624078" y="89296"/>
                </a:moveTo>
                <a:lnTo>
                  <a:pt x="624078" y="78628"/>
                </a:lnTo>
                <a:lnTo>
                  <a:pt x="622554" y="74818"/>
                </a:lnTo>
                <a:lnTo>
                  <a:pt x="622554" y="93106"/>
                </a:lnTo>
                <a:lnTo>
                  <a:pt x="624078" y="89296"/>
                </a:lnTo>
                <a:close/>
              </a:path>
              <a:path w="624840" h="168275">
                <a:moveTo>
                  <a:pt x="624840" y="84724"/>
                </a:moveTo>
                <a:lnTo>
                  <a:pt x="624840" y="83200"/>
                </a:lnTo>
                <a:lnTo>
                  <a:pt x="624078" y="79390"/>
                </a:lnTo>
                <a:lnTo>
                  <a:pt x="624078" y="88534"/>
                </a:lnTo>
                <a:lnTo>
                  <a:pt x="624840" y="84724"/>
                </a:lnTo>
                <a:close/>
              </a:path>
            </a:pathLst>
          </a:custGeom>
          <a:solidFill>
            <a:srgbClr val="808080"/>
          </a:solidFill>
        </p:spPr>
        <p:txBody>
          <a:bodyPr wrap="square" lIns="0" tIns="0" rIns="0" bIns="0" rtlCol="0"/>
          <a:lstStyle/>
          <a:p>
            <a:endParaRPr/>
          </a:p>
        </p:txBody>
      </p:sp>
      <p:sp>
        <p:nvSpPr>
          <p:cNvPr id="326" name="object 326"/>
          <p:cNvSpPr/>
          <p:nvPr/>
        </p:nvSpPr>
        <p:spPr>
          <a:xfrm>
            <a:off x="8281415" y="5242559"/>
            <a:ext cx="344170" cy="86995"/>
          </a:xfrm>
          <a:custGeom>
            <a:avLst/>
            <a:gdLst/>
            <a:ahLst/>
            <a:cxnLst/>
            <a:rect l="l" t="t" r="r" b="b"/>
            <a:pathLst>
              <a:path w="344170" h="86995">
                <a:moveTo>
                  <a:pt x="105069" y="73913"/>
                </a:moveTo>
                <a:lnTo>
                  <a:pt x="0" y="73913"/>
                </a:lnTo>
                <a:lnTo>
                  <a:pt x="0" y="86867"/>
                </a:lnTo>
                <a:lnTo>
                  <a:pt x="102870" y="86867"/>
                </a:lnTo>
                <a:lnTo>
                  <a:pt x="102870" y="75437"/>
                </a:lnTo>
                <a:lnTo>
                  <a:pt x="105069" y="73913"/>
                </a:lnTo>
                <a:close/>
              </a:path>
              <a:path w="344170" h="86995">
                <a:moveTo>
                  <a:pt x="106680" y="73913"/>
                </a:moveTo>
                <a:lnTo>
                  <a:pt x="105069" y="73913"/>
                </a:lnTo>
                <a:lnTo>
                  <a:pt x="102870" y="75437"/>
                </a:lnTo>
                <a:lnTo>
                  <a:pt x="106680" y="73913"/>
                </a:lnTo>
                <a:close/>
              </a:path>
              <a:path w="344170" h="86995">
                <a:moveTo>
                  <a:pt x="106680" y="86867"/>
                </a:moveTo>
                <a:lnTo>
                  <a:pt x="106680" y="73913"/>
                </a:lnTo>
                <a:lnTo>
                  <a:pt x="102870" y="75437"/>
                </a:lnTo>
                <a:lnTo>
                  <a:pt x="102870" y="86867"/>
                </a:lnTo>
                <a:lnTo>
                  <a:pt x="106680" y="86867"/>
                </a:lnTo>
                <a:close/>
              </a:path>
              <a:path w="344170" h="86995">
                <a:moveTo>
                  <a:pt x="343662" y="12953"/>
                </a:moveTo>
                <a:lnTo>
                  <a:pt x="343662" y="0"/>
                </a:lnTo>
                <a:lnTo>
                  <a:pt x="211836" y="0"/>
                </a:lnTo>
                <a:lnTo>
                  <a:pt x="210311" y="761"/>
                </a:lnTo>
                <a:lnTo>
                  <a:pt x="209550" y="1523"/>
                </a:lnTo>
                <a:lnTo>
                  <a:pt x="105069" y="73913"/>
                </a:lnTo>
                <a:lnTo>
                  <a:pt x="106680" y="73913"/>
                </a:lnTo>
                <a:lnTo>
                  <a:pt x="106680" y="86867"/>
                </a:lnTo>
                <a:lnTo>
                  <a:pt x="107442" y="86867"/>
                </a:lnTo>
                <a:lnTo>
                  <a:pt x="108966" y="86105"/>
                </a:lnTo>
                <a:lnTo>
                  <a:pt x="109728" y="85343"/>
                </a:lnTo>
                <a:lnTo>
                  <a:pt x="212597" y="14804"/>
                </a:lnTo>
                <a:lnTo>
                  <a:pt x="212597" y="12953"/>
                </a:lnTo>
                <a:lnTo>
                  <a:pt x="216408" y="12191"/>
                </a:lnTo>
                <a:lnTo>
                  <a:pt x="216408" y="12953"/>
                </a:lnTo>
                <a:lnTo>
                  <a:pt x="343662" y="12953"/>
                </a:lnTo>
                <a:close/>
              </a:path>
              <a:path w="344170" h="86995">
                <a:moveTo>
                  <a:pt x="216408" y="12191"/>
                </a:moveTo>
                <a:lnTo>
                  <a:pt x="212597" y="12953"/>
                </a:lnTo>
                <a:lnTo>
                  <a:pt x="215296" y="12953"/>
                </a:lnTo>
                <a:lnTo>
                  <a:pt x="216408" y="12191"/>
                </a:lnTo>
                <a:close/>
              </a:path>
              <a:path w="344170" h="86995">
                <a:moveTo>
                  <a:pt x="215296" y="12953"/>
                </a:moveTo>
                <a:lnTo>
                  <a:pt x="212597" y="12953"/>
                </a:lnTo>
                <a:lnTo>
                  <a:pt x="212597" y="14804"/>
                </a:lnTo>
                <a:lnTo>
                  <a:pt x="215296" y="12953"/>
                </a:lnTo>
                <a:close/>
              </a:path>
              <a:path w="344170" h="86995">
                <a:moveTo>
                  <a:pt x="216408" y="12953"/>
                </a:moveTo>
                <a:lnTo>
                  <a:pt x="216408" y="12191"/>
                </a:lnTo>
                <a:lnTo>
                  <a:pt x="215296" y="12953"/>
                </a:lnTo>
                <a:lnTo>
                  <a:pt x="216408" y="12953"/>
                </a:lnTo>
                <a:close/>
              </a:path>
            </a:pathLst>
          </a:custGeom>
          <a:solidFill>
            <a:srgbClr val="808080"/>
          </a:solidFill>
        </p:spPr>
        <p:txBody>
          <a:bodyPr wrap="square" lIns="0" tIns="0" rIns="0" bIns="0" rtlCol="0"/>
          <a:lstStyle/>
          <a:p>
            <a:endParaRPr/>
          </a:p>
        </p:txBody>
      </p:sp>
      <p:sp>
        <p:nvSpPr>
          <p:cNvPr id="327" name="object 327"/>
          <p:cNvSpPr/>
          <p:nvPr/>
        </p:nvSpPr>
        <p:spPr>
          <a:xfrm>
            <a:off x="8297417" y="5242559"/>
            <a:ext cx="311785" cy="86995"/>
          </a:xfrm>
          <a:custGeom>
            <a:avLst/>
            <a:gdLst/>
            <a:ahLst/>
            <a:cxnLst/>
            <a:rect l="l" t="t" r="r" b="b"/>
            <a:pathLst>
              <a:path w="311784" h="86995">
                <a:moveTo>
                  <a:pt x="213462" y="73913"/>
                </a:moveTo>
                <a:lnTo>
                  <a:pt x="109728" y="1523"/>
                </a:lnTo>
                <a:lnTo>
                  <a:pt x="108204" y="761"/>
                </a:lnTo>
                <a:lnTo>
                  <a:pt x="107442" y="0"/>
                </a:lnTo>
                <a:lnTo>
                  <a:pt x="0" y="0"/>
                </a:lnTo>
                <a:lnTo>
                  <a:pt x="0" y="12954"/>
                </a:lnTo>
                <a:lnTo>
                  <a:pt x="102107" y="12953"/>
                </a:lnTo>
                <a:lnTo>
                  <a:pt x="102107" y="12191"/>
                </a:lnTo>
                <a:lnTo>
                  <a:pt x="105918" y="12953"/>
                </a:lnTo>
                <a:lnTo>
                  <a:pt x="105918" y="14804"/>
                </a:lnTo>
                <a:lnTo>
                  <a:pt x="208788" y="85343"/>
                </a:lnTo>
                <a:lnTo>
                  <a:pt x="209550" y="86105"/>
                </a:lnTo>
                <a:lnTo>
                  <a:pt x="211074" y="86867"/>
                </a:lnTo>
                <a:lnTo>
                  <a:pt x="212597" y="86867"/>
                </a:lnTo>
                <a:lnTo>
                  <a:pt x="212597" y="73913"/>
                </a:lnTo>
                <a:lnTo>
                  <a:pt x="213462" y="73913"/>
                </a:lnTo>
                <a:close/>
              </a:path>
              <a:path w="311784" h="86995">
                <a:moveTo>
                  <a:pt x="105918" y="12953"/>
                </a:moveTo>
                <a:lnTo>
                  <a:pt x="102107" y="12191"/>
                </a:lnTo>
                <a:lnTo>
                  <a:pt x="103219" y="12953"/>
                </a:lnTo>
                <a:lnTo>
                  <a:pt x="105918" y="12953"/>
                </a:lnTo>
                <a:close/>
              </a:path>
              <a:path w="311784" h="86995">
                <a:moveTo>
                  <a:pt x="103219" y="12953"/>
                </a:moveTo>
                <a:lnTo>
                  <a:pt x="102107" y="12191"/>
                </a:lnTo>
                <a:lnTo>
                  <a:pt x="102107" y="12953"/>
                </a:lnTo>
                <a:lnTo>
                  <a:pt x="103219" y="12953"/>
                </a:lnTo>
                <a:close/>
              </a:path>
              <a:path w="311784" h="86995">
                <a:moveTo>
                  <a:pt x="105918" y="14804"/>
                </a:moveTo>
                <a:lnTo>
                  <a:pt x="105918" y="12953"/>
                </a:lnTo>
                <a:lnTo>
                  <a:pt x="103219" y="12953"/>
                </a:lnTo>
                <a:lnTo>
                  <a:pt x="105918" y="14804"/>
                </a:lnTo>
                <a:close/>
              </a:path>
              <a:path w="311784" h="86995">
                <a:moveTo>
                  <a:pt x="215646" y="75437"/>
                </a:moveTo>
                <a:lnTo>
                  <a:pt x="213462" y="73913"/>
                </a:lnTo>
                <a:lnTo>
                  <a:pt x="212597" y="73913"/>
                </a:lnTo>
                <a:lnTo>
                  <a:pt x="215646" y="75437"/>
                </a:lnTo>
                <a:close/>
              </a:path>
              <a:path w="311784" h="86995">
                <a:moveTo>
                  <a:pt x="215646" y="86867"/>
                </a:moveTo>
                <a:lnTo>
                  <a:pt x="215646" y="75437"/>
                </a:lnTo>
                <a:lnTo>
                  <a:pt x="212597" y="73913"/>
                </a:lnTo>
                <a:lnTo>
                  <a:pt x="212597" y="86867"/>
                </a:lnTo>
                <a:lnTo>
                  <a:pt x="215646" y="86867"/>
                </a:lnTo>
                <a:close/>
              </a:path>
              <a:path w="311784" h="86995">
                <a:moveTo>
                  <a:pt x="311658" y="86867"/>
                </a:moveTo>
                <a:lnTo>
                  <a:pt x="311658" y="73913"/>
                </a:lnTo>
                <a:lnTo>
                  <a:pt x="213462" y="73913"/>
                </a:lnTo>
                <a:lnTo>
                  <a:pt x="215646" y="75437"/>
                </a:lnTo>
                <a:lnTo>
                  <a:pt x="215646" y="86867"/>
                </a:lnTo>
                <a:lnTo>
                  <a:pt x="311658" y="86867"/>
                </a:lnTo>
                <a:close/>
              </a:path>
            </a:pathLst>
          </a:custGeom>
          <a:solidFill>
            <a:srgbClr val="808080"/>
          </a:solidFill>
        </p:spPr>
        <p:txBody>
          <a:bodyPr wrap="square" lIns="0" tIns="0" rIns="0" bIns="0" rtlCol="0"/>
          <a:lstStyle/>
          <a:p>
            <a:endParaRPr/>
          </a:p>
        </p:txBody>
      </p:sp>
      <p:sp>
        <p:nvSpPr>
          <p:cNvPr id="328" name="object 328"/>
          <p:cNvSpPr/>
          <p:nvPr/>
        </p:nvSpPr>
        <p:spPr>
          <a:xfrm>
            <a:off x="6547104" y="1792985"/>
            <a:ext cx="676275" cy="775970"/>
          </a:xfrm>
          <a:custGeom>
            <a:avLst/>
            <a:gdLst/>
            <a:ahLst/>
            <a:cxnLst/>
            <a:rect l="l" t="t" r="r" b="b"/>
            <a:pathLst>
              <a:path w="676275" h="775969">
                <a:moveTo>
                  <a:pt x="0" y="0"/>
                </a:moveTo>
                <a:lnTo>
                  <a:pt x="0" y="775716"/>
                </a:lnTo>
                <a:lnTo>
                  <a:pt x="675893" y="775716"/>
                </a:lnTo>
                <a:lnTo>
                  <a:pt x="675893" y="0"/>
                </a:lnTo>
                <a:lnTo>
                  <a:pt x="0" y="0"/>
                </a:lnTo>
                <a:close/>
              </a:path>
            </a:pathLst>
          </a:custGeom>
          <a:solidFill>
            <a:srgbClr val="3333CC"/>
          </a:solidFill>
        </p:spPr>
        <p:txBody>
          <a:bodyPr wrap="square" lIns="0" tIns="0" rIns="0" bIns="0" rtlCol="0"/>
          <a:lstStyle/>
          <a:p>
            <a:endParaRPr/>
          </a:p>
        </p:txBody>
      </p:sp>
      <p:sp>
        <p:nvSpPr>
          <p:cNvPr id="329" name="object 329"/>
          <p:cNvSpPr/>
          <p:nvPr/>
        </p:nvSpPr>
        <p:spPr>
          <a:xfrm>
            <a:off x="6513575" y="1816607"/>
            <a:ext cx="690880" cy="800100"/>
          </a:xfrm>
          <a:custGeom>
            <a:avLst/>
            <a:gdLst/>
            <a:ahLst/>
            <a:cxnLst/>
            <a:rect l="l" t="t" r="r" b="b"/>
            <a:pathLst>
              <a:path w="690879" h="800100">
                <a:moveTo>
                  <a:pt x="0" y="0"/>
                </a:moveTo>
                <a:lnTo>
                  <a:pt x="0" y="800100"/>
                </a:lnTo>
                <a:lnTo>
                  <a:pt x="690372" y="800100"/>
                </a:lnTo>
                <a:lnTo>
                  <a:pt x="690372" y="0"/>
                </a:lnTo>
                <a:lnTo>
                  <a:pt x="0" y="0"/>
                </a:lnTo>
                <a:close/>
              </a:path>
            </a:pathLst>
          </a:custGeom>
          <a:solidFill>
            <a:srgbClr val="FFFFFF"/>
          </a:solidFill>
        </p:spPr>
        <p:txBody>
          <a:bodyPr wrap="square" lIns="0" tIns="0" rIns="0" bIns="0" rtlCol="0"/>
          <a:lstStyle/>
          <a:p>
            <a:endParaRPr/>
          </a:p>
        </p:txBody>
      </p:sp>
      <p:sp>
        <p:nvSpPr>
          <p:cNvPr id="330" name="object 330"/>
          <p:cNvSpPr/>
          <p:nvPr/>
        </p:nvSpPr>
        <p:spPr>
          <a:xfrm>
            <a:off x="6507479" y="1809750"/>
            <a:ext cx="703580" cy="813435"/>
          </a:xfrm>
          <a:custGeom>
            <a:avLst/>
            <a:gdLst/>
            <a:ahLst/>
            <a:cxnLst/>
            <a:rect l="l" t="t" r="r" b="b"/>
            <a:pathLst>
              <a:path w="703579" h="813435">
                <a:moveTo>
                  <a:pt x="703326" y="813053"/>
                </a:moveTo>
                <a:lnTo>
                  <a:pt x="703326" y="0"/>
                </a:lnTo>
                <a:lnTo>
                  <a:pt x="0" y="0"/>
                </a:lnTo>
                <a:lnTo>
                  <a:pt x="0" y="813053"/>
                </a:lnTo>
                <a:lnTo>
                  <a:pt x="6095" y="813053"/>
                </a:lnTo>
                <a:lnTo>
                  <a:pt x="6095" y="12953"/>
                </a:lnTo>
                <a:lnTo>
                  <a:pt x="12191" y="6857"/>
                </a:lnTo>
                <a:lnTo>
                  <a:pt x="12191" y="12953"/>
                </a:lnTo>
                <a:lnTo>
                  <a:pt x="690371" y="12953"/>
                </a:lnTo>
                <a:lnTo>
                  <a:pt x="690371" y="6857"/>
                </a:lnTo>
                <a:lnTo>
                  <a:pt x="696467" y="12953"/>
                </a:lnTo>
                <a:lnTo>
                  <a:pt x="696467" y="813053"/>
                </a:lnTo>
                <a:lnTo>
                  <a:pt x="703326" y="813053"/>
                </a:lnTo>
                <a:close/>
              </a:path>
              <a:path w="703579" h="813435">
                <a:moveTo>
                  <a:pt x="12191" y="12953"/>
                </a:moveTo>
                <a:lnTo>
                  <a:pt x="12191" y="6857"/>
                </a:lnTo>
                <a:lnTo>
                  <a:pt x="6095" y="12953"/>
                </a:lnTo>
                <a:lnTo>
                  <a:pt x="12191" y="12953"/>
                </a:lnTo>
                <a:close/>
              </a:path>
              <a:path w="703579" h="813435">
                <a:moveTo>
                  <a:pt x="12191" y="800099"/>
                </a:moveTo>
                <a:lnTo>
                  <a:pt x="12191" y="12953"/>
                </a:lnTo>
                <a:lnTo>
                  <a:pt x="6095" y="12953"/>
                </a:lnTo>
                <a:lnTo>
                  <a:pt x="6095" y="800099"/>
                </a:lnTo>
                <a:lnTo>
                  <a:pt x="12191" y="800099"/>
                </a:lnTo>
                <a:close/>
              </a:path>
              <a:path w="703579" h="813435">
                <a:moveTo>
                  <a:pt x="696467" y="800099"/>
                </a:moveTo>
                <a:lnTo>
                  <a:pt x="6095" y="800099"/>
                </a:lnTo>
                <a:lnTo>
                  <a:pt x="12191" y="806957"/>
                </a:lnTo>
                <a:lnTo>
                  <a:pt x="12191" y="813053"/>
                </a:lnTo>
                <a:lnTo>
                  <a:pt x="690371" y="813053"/>
                </a:lnTo>
                <a:lnTo>
                  <a:pt x="690371" y="806957"/>
                </a:lnTo>
                <a:lnTo>
                  <a:pt x="696467" y="800099"/>
                </a:lnTo>
                <a:close/>
              </a:path>
              <a:path w="703579" h="813435">
                <a:moveTo>
                  <a:pt x="12191" y="813053"/>
                </a:moveTo>
                <a:lnTo>
                  <a:pt x="12191" y="806957"/>
                </a:lnTo>
                <a:lnTo>
                  <a:pt x="6095" y="800099"/>
                </a:lnTo>
                <a:lnTo>
                  <a:pt x="6095" y="813053"/>
                </a:lnTo>
                <a:lnTo>
                  <a:pt x="12191" y="813053"/>
                </a:lnTo>
                <a:close/>
              </a:path>
              <a:path w="703579" h="813435">
                <a:moveTo>
                  <a:pt x="696467" y="12953"/>
                </a:moveTo>
                <a:lnTo>
                  <a:pt x="690371" y="6857"/>
                </a:lnTo>
                <a:lnTo>
                  <a:pt x="690371" y="12953"/>
                </a:lnTo>
                <a:lnTo>
                  <a:pt x="696467" y="12953"/>
                </a:lnTo>
                <a:close/>
              </a:path>
              <a:path w="703579" h="813435">
                <a:moveTo>
                  <a:pt x="696467" y="800099"/>
                </a:moveTo>
                <a:lnTo>
                  <a:pt x="696467" y="12953"/>
                </a:lnTo>
                <a:lnTo>
                  <a:pt x="690371" y="12953"/>
                </a:lnTo>
                <a:lnTo>
                  <a:pt x="690371" y="800099"/>
                </a:lnTo>
                <a:lnTo>
                  <a:pt x="696467" y="800099"/>
                </a:lnTo>
                <a:close/>
              </a:path>
              <a:path w="703579" h="813435">
                <a:moveTo>
                  <a:pt x="696467" y="813053"/>
                </a:moveTo>
                <a:lnTo>
                  <a:pt x="696467" y="800099"/>
                </a:lnTo>
                <a:lnTo>
                  <a:pt x="690371" y="806957"/>
                </a:lnTo>
                <a:lnTo>
                  <a:pt x="690371" y="813053"/>
                </a:lnTo>
                <a:lnTo>
                  <a:pt x="696467" y="813053"/>
                </a:lnTo>
                <a:close/>
              </a:path>
            </a:pathLst>
          </a:custGeom>
          <a:solidFill>
            <a:srgbClr val="000000"/>
          </a:solidFill>
        </p:spPr>
        <p:txBody>
          <a:bodyPr wrap="square" lIns="0" tIns="0" rIns="0" bIns="0" rtlCol="0"/>
          <a:lstStyle/>
          <a:p>
            <a:endParaRPr/>
          </a:p>
        </p:txBody>
      </p:sp>
      <p:sp>
        <p:nvSpPr>
          <p:cNvPr id="331" name="object 331"/>
          <p:cNvSpPr/>
          <p:nvPr/>
        </p:nvSpPr>
        <p:spPr>
          <a:xfrm>
            <a:off x="6518148" y="1992629"/>
            <a:ext cx="676910" cy="171450"/>
          </a:xfrm>
          <a:custGeom>
            <a:avLst/>
            <a:gdLst/>
            <a:ahLst/>
            <a:cxnLst/>
            <a:rect l="l" t="t" r="r" b="b"/>
            <a:pathLst>
              <a:path w="676909" h="171450">
                <a:moveTo>
                  <a:pt x="0" y="0"/>
                </a:moveTo>
                <a:lnTo>
                  <a:pt x="0" y="171450"/>
                </a:lnTo>
                <a:lnTo>
                  <a:pt x="676655" y="171450"/>
                </a:lnTo>
                <a:lnTo>
                  <a:pt x="676655" y="0"/>
                </a:lnTo>
                <a:lnTo>
                  <a:pt x="0" y="0"/>
                </a:lnTo>
                <a:close/>
              </a:path>
            </a:pathLst>
          </a:custGeom>
          <a:solidFill>
            <a:srgbClr val="FF0000"/>
          </a:solidFill>
        </p:spPr>
        <p:txBody>
          <a:bodyPr wrap="square" lIns="0" tIns="0" rIns="0" bIns="0" rtlCol="0"/>
          <a:lstStyle/>
          <a:p>
            <a:endParaRPr/>
          </a:p>
        </p:txBody>
      </p:sp>
      <p:sp>
        <p:nvSpPr>
          <p:cNvPr id="332" name="object 332"/>
          <p:cNvSpPr txBox="1"/>
          <p:nvPr/>
        </p:nvSpPr>
        <p:spPr>
          <a:xfrm>
            <a:off x="6547104" y="1792985"/>
            <a:ext cx="676275" cy="200025"/>
          </a:xfrm>
          <a:prstGeom prst="rect">
            <a:avLst/>
          </a:prstGeom>
          <a:solidFill>
            <a:srgbClr val="3333CC"/>
          </a:solidFill>
        </p:spPr>
        <p:txBody>
          <a:bodyPr vert="horz" wrap="square" lIns="0" tIns="40005" rIns="0" bIns="0" rtlCol="0">
            <a:spAutoFit/>
          </a:bodyPr>
          <a:lstStyle/>
          <a:p>
            <a:pPr marL="6350">
              <a:lnSpc>
                <a:spcPct val="100000"/>
              </a:lnSpc>
              <a:spcBef>
                <a:spcPts val="315"/>
              </a:spcBef>
            </a:pPr>
            <a:r>
              <a:rPr sz="1000" spc="-5" dirty="0">
                <a:latin typeface="Tahoma"/>
                <a:cs typeface="Tahoma"/>
              </a:rPr>
              <a:t>application</a:t>
            </a:r>
            <a:endParaRPr sz="1000">
              <a:latin typeface="Tahoma"/>
              <a:cs typeface="Tahoma"/>
            </a:endParaRPr>
          </a:p>
        </p:txBody>
      </p:sp>
      <p:sp>
        <p:nvSpPr>
          <p:cNvPr id="333" name="object 333"/>
          <p:cNvSpPr txBox="1"/>
          <p:nvPr/>
        </p:nvSpPr>
        <p:spPr>
          <a:xfrm>
            <a:off x="6547104" y="1972309"/>
            <a:ext cx="676275" cy="178435"/>
          </a:xfrm>
          <a:prstGeom prst="rect">
            <a:avLst/>
          </a:prstGeom>
        </p:spPr>
        <p:txBody>
          <a:bodyPr vert="horz" wrap="square" lIns="0" tIns="12700" rIns="0" bIns="0" rtlCol="0">
            <a:spAutoFit/>
          </a:bodyPr>
          <a:lstStyle/>
          <a:p>
            <a:pPr marL="52069">
              <a:lnSpc>
                <a:spcPct val="100000"/>
              </a:lnSpc>
              <a:spcBef>
                <a:spcPts val="100"/>
              </a:spcBef>
            </a:pPr>
            <a:r>
              <a:rPr sz="1000" spc="-5" dirty="0">
                <a:solidFill>
                  <a:srgbClr val="FFFFFF"/>
                </a:solidFill>
                <a:latin typeface="Tahoma"/>
                <a:cs typeface="Tahoma"/>
              </a:rPr>
              <a:t>transport</a:t>
            </a:r>
            <a:endParaRPr sz="1000">
              <a:latin typeface="Tahoma"/>
              <a:cs typeface="Tahoma"/>
            </a:endParaRPr>
          </a:p>
        </p:txBody>
      </p:sp>
      <p:sp>
        <p:nvSpPr>
          <p:cNvPr id="334" name="object 334"/>
          <p:cNvSpPr txBox="1"/>
          <p:nvPr/>
        </p:nvSpPr>
        <p:spPr>
          <a:xfrm>
            <a:off x="6547104" y="2124708"/>
            <a:ext cx="676275" cy="178435"/>
          </a:xfrm>
          <a:prstGeom prst="rect">
            <a:avLst/>
          </a:prstGeom>
        </p:spPr>
        <p:txBody>
          <a:bodyPr vert="horz" wrap="square" lIns="0" tIns="12700" rIns="0" bIns="0" rtlCol="0">
            <a:spAutoFit/>
          </a:bodyPr>
          <a:lstStyle/>
          <a:p>
            <a:pPr marL="81280">
              <a:lnSpc>
                <a:spcPct val="100000"/>
              </a:lnSpc>
              <a:spcBef>
                <a:spcPts val="100"/>
              </a:spcBef>
            </a:pPr>
            <a:r>
              <a:rPr sz="1000" dirty="0">
                <a:latin typeface="Tahoma"/>
                <a:cs typeface="Tahoma"/>
              </a:rPr>
              <a:t>network</a:t>
            </a:r>
            <a:endParaRPr sz="1000">
              <a:latin typeface="Tahoma"/>
              <a:cs typeface="Tahoma"/>
            </a:endParaRPr>
          </a:p>
        </p:txBody>
      </p:sp>
      <p:sp>
        <p:nvSpPr>
          <p:cNvPr id="335" name="object 335"/>
          <p:cNvSpPr txBox="1"/>
          <p:nvPr/>
        </p:nvSpPr>
        <p:spPr>
          <a:xfrm>
            <a:off x="6547104" y="2277108"/>
            <a:ext cx="676275" cy="178435"/>
          </a:xfrm>
          <a:prstGeom prst="rect">
            <a:avLst/>
          </a:prstGeom>
        </p:spPr>
        <p:txBody>
          <a:bodyPr vert="horz" wrap="square" lIns="0" tIns="12700" rIns="0" bIns="0" rtlCol="0">
            <a:spAutoFit/>
          </a:bodyPr>
          <a:lstStyle/>
          <a:p>
            <a:pPr marL="69215">
              <a:lnSpc>
                <a:spcPct val="100000"/>
              </a:lnSpc>
              <a:spcBef>
                <a:spcPts val="100"/>
              </a:spcBef>
            </a:pPr>
            <a:r>
              <a:rPr sz="1000" dirty="0">
                <a:latin typeface="Tahoma"/>
                <a:cs typeface="Tahoma"/>
              </a:rPr>
              <a:t>data</a:t>
            </a:r>
            <a:r>
              <a:rPr sz="1000" spc="-30" dirty="0">
                <a:latin typeface="Tahoma"/>
                <a:cs typeface="Tahoma"/>
              </a:rPr>
              <a:t> </a:t>
            </a:r>
            <a:r>
              <a:rPr sz="1000" dirty="0">
                <a:latin typeface="Tahoma"/>
                <a:cs typeface="Tahoma"/>
              </a:rPr>
              <a:t>link</a:t>
            </a:r>
            <a:endParaRPr sz="1000">
              <a:latin typeface="Tahoma"/>
              <a:cs typeface="Tahoma"/>
            </a:endParaRPr>
          </a:p>
        </p:txBody>
      </p:sp>
      <p:sp>
        <p:nvSpPr>
          <p:cNvPr id="336" name="object 336"/>
          <p:cNvSpPr txBox="1"/>
          <p:nvPr/>
        </p:nvSpPr>
        <p:spPr>
          <a:xfrm>
            <a:off x="6547104" y="2429507"/>
            <a:ext cx="676275" cy="178435"/>
          </a:xfrm>
          <a:prstGeom prst="rect">
            <a:avLst/>
          </a:prstGeom>
        </p:spPr>
        <p:txBody>
          <a:bodyPr vert="horz" wrap="square" lIns="0" tIns="12700" rIns="0" bIns="0" rtlCol="0">
            <a:spAutoFit/>
          </a:bodyPr>
          <a:lstStyle/>
          <a:p>
            <a:pPr marL="85090">
              <a:lnSpc>
                <a:spcPct val="100000"/>
              </a:lnSpc>
              <a:spcBef>
                <a:spcPts val="100"/>
              </a:spcBef>
            </a:pPr>
            <a:r>
              <a:rPr sz="1000" dirty="0">
                <a:latin typeface="Tahoma"/>
                <a:cs typeface="Tahoma"/>
              </a:rPr>
              <a:t>physical</a:t>
            </a:r>
            <a:endParaRPr sz="1000">
              <a:latin typeface="Tahoma"/>
              <a:cs typeface="Tahoma"/>
            </a:endParaRPr>
          </a:p>
        </p:txBody>
      </p:sp>
      <p:sp>
        <p:nvSpPr>
          <p:cNvPr id="337" name="object 337"/>
          <p:cNvSpPr/>
          <p:nvPr/>
        </p:nvSpPr>
        <p:spPr>
          <a:xfrm>
            <a:off x="6513575" y="2152650"/>
            <a:ext cx="690880" cy="17780"/>
          </a:xfrm>
          <a:custGeom>
            <a:avLst/>
            <a:gdLst/>
            <a:ahLst/>
            <a:cxnLst/>
            <a:rect l="l" t="t" r="r" b="b"/>
            <a:pathLst>
              <a:path w="690879" h="17780">
                <a:moveTo>
                  <a:pt x="0" y="17525"/>
                </a:moveTo>
                <a:lnTo>
                  <a:pt x="690372" y="17525"/>
                </a:lnTo>
                <a:lnTo>
                  <a:pt x="690372" y="0"/>
                </a:lnTo>
                <a:lnTo>
                  <a:pt x="0" y="0"/>
                </a:lnTo>
                <a:lnTo>
                  <a:pt x="0" y="17525"/>
                </a:lnTo>
                <a:close/>
              </a:path>
            </a:pathLst>
          </a:custGeom>
          <a:solidFill>
            <a:srgbClr val="000000"/>
          </a:solidFill>
        </p:spPr>
        <p:txBody>
          <a:bodyPr wrap="square" lIns="0" tIns="0" rIns="0" bIns="0" rtlCol="0"/>
          <a:lstStyle/>
          <a:p>
            <a:endParaRPr/>
          </a:p>
        </p:txBody>
      </p:sp>
      <p:sp>
        <p:nvSpPr>
          <p:cNvPr id="338" name="object 338"/>
          <p:cNvSpPr/>
          <p:nvPr/>
        </p:nvSpPr>
        <p:spPr>
          <a:xfrm>
            <a:off x="6522720" y="2300097"/>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39" name="object 339"/>
          <p:cNvSpPr/>
          <p:nvPr/>
        </p:nvSpPr>
        <p:spPr>
          <a:xfrm>
            <a:off x="6522720" y="2438019"/>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40" name="object 340"/>
          <p:cNvSpPr/>
          <p:nvPr/>
        </p:nvSpPr>
        <p:spPr>
          <a:xfrm>
            <a:off x="6205728" y="1802129"/>
            <a:ext cx="304800" cy="943355"/>
          </a:xfrm>
          <a:prstGeom prst="rect">
            <a:avLst/>
          </a:prstGeom>
          <a:blipFill>
            <a:blip r:embed="rId136" cstate="print"/>
            <a:stretch>
              <a:fillRect/>
            </a:stretch>
          </a:blipFill>
        </p:spPr>
        <p:txBody>
          <a:bodyPr wrap="square" lIns="0" tIns="0" rIns="0" bIns="0" rtlCol="0"/>
          <a:lstStyle/>
          <a:p>
            <a:endParaRPr/>
          </a:p>
        </p:txBody>
      </p:sp>
      <p:sp>
        <p:nvSpPr>
          <p:cNvPr id="341" name="object 341"/>
          <p:cNvSpPr/>
          <p:nvPr/>
        </p:nvSpPr>
        <p:spPr>
          <a:xfrm>
            <a:off x="6200393" y="1796795"/>
            <a:ext cx="314960" cy="953769"/>
          </a:xfrm>
          <a:custGeom>
            <a:avLst/>
            <a:gdLst/>
            <a:ahLst/>
            <a:cxnLst/>
            <a:rect l="l" t="t" r="r" b="b"/>
            <a:pathLst>
              <a:path w="314960" h="953769">
                <a:moveTo>
                  <a:pt x="314706" y="6858"/>
                </a:moveTo>
                <a:lnTo>
                  <a:pt x="314706" y="3047"/>
                </a:lnTo>
                <a:lnTo>
                  <a:pt x="313182" y="762"/>
                </a:lnTo>
                <a:lnTo>
                  <a:pt x="310896" y="762"/>
                </a:lnTo>
                <a:lnTo>
                  <a:pt x="308610" y="0"/>
                </a:lnTo>
                <a:lnTo>
                  <a:pt x="306324" y="1524"/>
                </a:lnTo>
                <a:lnTo>
                  <a:pt x="305562" y="3809"/>
                </a:lnTo>
                <a:lnTo>
                  <a:pt x="762" y="947166"/>
                </a:lnTo>
                <a:lnTo>
                  <a:pt x="0" y="948690"/>
                </a:lnTo>
                <a:lnTo>
                  <a:pt x="762" y="950213"/>
                </a:lnTo>
                <a:lnTo>
                  <a:pt x="2286" y="951738"/>
                </a:lnTo>
                <a:lnTo>
                  <a:pt x="3048" y="953262"/>
                </a:lnTo>
                <a:lnTo>
                  <a:pt x="3048" y="944118"/>
                </a:lnTo>
                <a:lnTo>
                  <a:pt x="12951" y="940032"/>
                </a:lnTo>
                <a:lnTo>
                  <a:pt x="305562" y="35135"/>
                </a:lnTo>
                <a:lnTo>
                  <a:pt x="305562" y="5334"/>
                </a:lnTo>
                <a:lnTo>
                  <a:pt x="314706" y="6858"/>
                </a:lnTo>
                <a:close/>
              </a:path>
              <a:path w="314960" h="953769">
                <a:moveTo>
                  <a:pt x="12951" y="940032"/>
                </a:moveTo>
                <a:lnTo>
                  <a:pt x="3048" y="944118"/>
                </a:lnTo>
                <a:lnTo>
                  <a:pt x="9906" y="949452"/>
                </a:lnTo>
                <a:lnTo>
                  <a:pt x="12951" y="940032"/>
                </a:lnTo>
                <a:close/>
              </a:path>
              <a:path w="314960" h="953769">
                <a:moveTo>
                  <a:pt x="307848" y="818388"/>
                </a:moveTo>
                <a:lnTo>
                  <a:pt x="12951" y="940032"/>
                </a:lnTo>
                <a:lnTo>
                  <a:pt x="9906" y="949452"/>
                </a:lnTo>
                <a:lnTo>
                  <a:pt x="3048" y="944118"/>
                </a:lnTo>
                <a:lnTo>
                  <a:pt x="3048" y="953262"/>
                </a:lnTo>
                <a:lnTo>
                  <a:pt x="5334" y="953262"/>
                </a:lnTo>
                <a:lnTo>
                  <a:pt x="6858" y="952500"/>
                </a:lnTo>
                <a:lnTo>
                  <a:pt x="305562" y="830031"/>
                </a:lnTo>
                <a:lnTo>
                  <a:pt x="305562" y="822960"/>
                </a:lnTo>
                <a:lnTo>
                  <a:pt x="307848" y="818388"/>
                </a:lnTo>
                <a:close/>
              </a:path>
              <a:path w="314960" h="953769">
                <a:moveTo>
                  <a:pt x="314706" y="6858"/>
                </a:moveTo>
                <a:lnTo>
                  <a:pt x="305562" y="5334"/>
                </a:lnTo>
                <a:lnTo>
                  <a:pt x="305562" y="35135"/>
                </a:lnTo>
                <a:lnTo>
                  <a:pt x="314706" y="6858"/>
                </a:lnTo>
                <a:close/>
              </a:path>
              <a:path w="314960" h="953769">
                <a:moveTo>
                  <a:pt x="314706" y="825246"/>
                </a:moveTo>
                <a:lnTo>
                  <a:pt x="314706" y="6858"/>
                </a:lnTo>
                <a:lnTo>
                  <a:pt x="305562" y="35135"/>
                </a:lnTo>
                <a:lnTo>
                  <a:pt x="305562" y="819330"/>
                </a:lnTo>
                <a:lnTo>
                  <a:pt x="307848" y="818388"/>
                </a:lnTo>
                <a:lnTo>
                  <a:pt x="307848" y="829094"/>
                </a:lnTo>
                <a:lnTo>
                  <a:pt x="311658" y="827532"/>
                </a:lnTo>
                <a:lnTo>
                  <a:pt x="313944" y="826769"/>
                </a:lnTo>
                <a:lnTo>
                  <a:pt x="314706" y="825246"/>
                </a:lnTo>
                <a:close/>
              </a:path>
              <a:path w="314960" h="953769">
                <a:moveTo>
                  <a:pt x="307848" y="829094"/>
                </a:moveTo>
                <a:lnTo>
                  <a:pt x="307848" y="818388"/>
                </a:lnTo>
                <a:lnTo>
                  <a:pt x="305562" y="822960"/>
                </a:lnTo>
                <a:lnTo>
                  <a:pt x="305562" y="830031"/>
                </a:lnTo>
                <a:lnTo>
                  <a:pt x="307848" y="829094"/>
                </a:lnTo>
                <a:close/>
              </a:path>
            </a:pathLst>
          </a:custGeom>
          <a:solidFill>
            <a:srgbClr val="FF0000"/>
          </a:solidFill>
        </p:spPr>
        <p:txBody>
          <a:bodyPr wrap="square" lIns="0" tIns="0" rIns="0" bIns="0" rtlCol="0"/>
          <a:lstStyle/>
          <a:p>
            <a:endParaRPr/>
          </a:p>
        </p:txBody>
      </p:sp>
      <p:sp>
        <p:nvSpPr>
          <p:cNvPr id="342" name="object 342"/>
          <p:cNvSpPr/>
          <p:nvPr/>
        </p:nvSpPr>
        <p:spPr>
          <a:xfrm>
            <a:off x="9056370" y="4805934"/>
            <a:ext cx="676910" cy="775970"/>
          </a:xfrm>
          <a:custGeom>
            <a:avLst/>
            <a:gdLst/>
            <a:ahLst/>
            <a:cxnLst/>
            <a:rect l="l" t="t" r="r" b="b"/>
            <a:pathLst>
              <a:path w="676909" h="775970">
                <a:moveTo>
                  <a:pt x="0" y="0"/>
                </a:moveTo>
                <a:lnTo>
                  <a:pt x="0" y="775715"/>
                </a:lnTo>
                <a:lnTo>
                  <a:pt x="676655" y="775715"/>
                </a:lnTo>
                <a:lnTo>
                  <a:pt x="676655" y="0"/>
                </a:lnTo>
                <a:lnTo>
                  <a:pt x="0" y="0"/>
                </a:lnTo>
                <a:close/>
              </a:path>
            </a:pathLst>
          </a:custGeom>
          <a:solidFill>
            <a:srgbClr val="3333CC"/>
          </a:solidFill>
        </p:spPr>
        <p:txBody>
          <a:bodyPr wrap="square" lIns="0" tIns="0" rIns="0" bIns="0" rtlCol="0"/>
          <a:lstStyle/>
          <a:p>
            <a:endParaRPr/>
          </a:p>
        </p:txBody>
      </p:sp>
      <p:sp>
        <p:nvSpPr>
          <p:cNvPr id="343" name="object 343"/>
          <p:cNvSpPr/>
          <p:nvPr/>
        </p:nvSpPr>
        <p:spPr>
          <a:xfrm>
            <a:off x="9023603" y="4829555"/>
            <a:ext cx="690880" cy="800100"/>
          </a:xfrm>
          <a:custGeom>
            <a:avLst/>
            <a:gdLst/>
            <a:ahLst/>
            <a:cxnLst/>
            <a:rect l="l" t="t" r="r" b="b"/>
            <a:pathLst>
              <a:path w="690879" h="800100">
                <a:moveTo>
                  <a:pt x="0" y="0"/>
                </a:moveTo>
                <a:lnTo>
                  <a:pt x="0" y="800100"/>
                </a:lnTo>
                <a:lnTo>
                  <a:pt x="690372" y="800100"/>
                </a:lnTo>
                <a:lnTo>
                  <a:pt x="690372" y="0"/>
                </a:lnTo>
                <a:lnTo>
                  <a:pt x="0" y="0"/>
                </a:lnTo>
                <a:close/>
              </a:path>
            </a:pathLst>
          </a:custGeom>
          <a:solidFill>
            <a:srgbClr val="FFFFFF"/>
          </a:solidFill>
        </p:spPr>
        <p:txBody>
          <a:bodyPr wrap="square" lIns="0" tIns="0" rIns="0" bIns="0" rtlCol="0"/>
          <a:lstStyle/>
          <a:p>
            <a:endParaRPr/>
          </a:p>
        </p:txBody>
      </p:sp>
      <p:sp>
        <p:nvSpPr>
          <p:cNvPr id="344" name="object 344"/>
          <p:cNvSpPr/>
          <p:nvPr/>
        </p:nvSpPr>
        <p:spPr>
          <a:xfrm>
            <a:off x="9016746" y="4823459"/>
            <a:ext cx="703580" cy="812800"/>
          </a:xfrm>
          <a:custGeom>
            <a:avLst/>
            <a:gdLst/>
            <a:ahLst/>
            <a:cxnLst/>
            <a:rect l="l" t="t" r="r" b="b"/>
            <a:pathLst>
              <a:path w="703579" h="812800">
                <a:moveTo>
                  <a:pt x="703326" y="812291"/>
                </a:moveTo>
                <a:lnTo>
                  <a:pt x="703326" y="0"/>
                </a:lnTo>
                <a:lnTo>
                  <a:pt x="0" y="0"/>
                </a:lnTo>
                <a:lnTo>
                  <a:pt x="0" y="812291"/>
                </a:lnTo>
                <a:lnTo>
                  <a:pt x="6857" y="812291"/>
                </a:lnTo>
                <a:lnTo>
                  <a:pt x="6857" y="12191"/>
                </a:lnTo>
                <a:lnTo>
                  <a:pt x="12953" y="6095"/>
                </a:lnTo>
                <a:lnTo>
                  <a:pt x="12953" y="12191"/>
                </a:lnTo>
                <a:lnTo>
                  <a:pt x="691133" y="12191"/>
                </a:lnTo>
                <a:lnTo>
                  <a:pt x="691133" y="6095"/>
                </a:lnTo>
                <a:lnTo>
                  <a:pt x="697229" y="12191"/>
                </a:lnTo>
                <a:lnTo>
                  <a:pt x="697229" y="812291"/>
                </a:lnTo>
                <a:lnTo>
                  <a:pt x="703326" y="812291"/>
                </a:lnTo>
                <a:close/>
              </a:path>
              <a:path w="703579" h="812800">
                <a:moveTo>
                  <a:pt x="12953" y="12191"/>
                </a:moveTo>
                <a:lnTo>
                  <a:pt x="12953" y="6095"/>
                </a:lnTo>
                <a:lnTo>
                  <a:pt x="6857" y="12191"/>
                </a:lnTo>
                <a:lnTo>
                  <a:pt x="12953" y="12191"/>
                </a:lnTo>
                <a:close/>
              </a:path>
              <a:path w="703579" h="812800">
                <a:moveTo>
                  <a:pt x="12953" y="800100"/>
                </a:moveTo>
                <a:lnTo>
                  <a:pt x="12953" y="12191"/>
                </a:lnTo>
                <a:lnTo>
                  <a:pt x="6857" y="12191"/>
                </a:lnTo>
                <a:lnTo>
                  <a:pt x="6857" y="800100"/>
                </a:lnTo>
                <a:lnTo>
                  <a:pt x="12953" y="800100"/>
                </a:lnTo>
                <a:close/>
              </a:path>
              <a:path w="703579" h="812800">
                <a:moveTo>
                  <a:pt x="697229" y="800100"/>
                </a:moveTo>
                <a:lnTo>
                  <a:pt x="6857" y="800100"/>
                </a:lnTo>
                <a:lnTo>
                  <a:pt x="12953" y="806195"/>
                </a:lnTo>
                <a:lnTo>
                  <a:pt x="12953" y="812291"/>
                </a:lnTo>
                <a:lnTo>
                  <a:pt x="691133" y="812291"/>
                </a:lnTo>
                <a:lnTo>
                  <a:pt x="691133" y="806195"/>
                </a:lnTo>
                <a:lnTo>
                  <a:pt x="697229" y="800100"/>
                </a:lnTo>
                <a:close/>
              </a:path>
              <a:path w="703579" h="812800">
                <a:moveTo>
                  <a:pt x="12953" y="812291"/>
                </a:moveTo>
                <a:lnTo>
                  <a:pt x="12953" y="806195"/>
                </a:lnTo>
                <a:lnTo>
                  <a:pt x="6857" y="800100"/>
                </a:lnTo>
                <a:lnTo>
                  <a:pt x="6857" y="812291"/>
                </a:lnTo>
                <a:lnTo>
                  <a:pt x="12953" y="812291"/>
                </a:lnTo>
                <a:close/>
              </a:path>
              <a:path w="703579" h="812800">
                <a:moveTo>
                  <a:pt x="697229" y="12191"/>
                </a:moveTo>
                <a:lnTo>
                  <a:pt x="691133" y="6095"/>
                </a:lnTo>
                <a:lnTo>
                  <a:pt x="691133" y="12191"/>
                </a:lnTo>
                <a:lnTo>
                  <a:pt x="697229" y="12191"/>
                </a:lnTo>
                <a:close/>
              </a:path>
              <a:path w="703579" h="812800">
                <a:moveTo>
                  <a:pt x="697229" y="800100"/>
                </a:moveTo>
                <a:lnTo>
                  <a:pt x="697229" y="12191"/>
                </a:lnTo>
                <a:lnTo>
                  <a:pt x="691133" y="12191"/>
                </a:lnTo>
                <a:lnTo>
                  <a:pt x="691133" y="800100"/>
                </a:lnTo>
                <a:lnTo>
                  <a:pt x="697229" y="800100"/>
                </a:lnTo>
                <a:close/>
              </a:path>
              <a:path w="703579" h="812800">
                <a:moveTo>
                  <a:pt x="697229" y="812291"/>
                </a:moveTo>
                <a:lnTo>
                  <a:pt x="697229" y="800100"/>
                </a:lnTo>
                <a:lnTo>
                  <a:pt x="691133" y="806195"/>
                </a:lnTo>
                <a:lnTo>
                  <a:pt x="691133" y="812291"/>
                </a:lnTo>
                <a:lnTo>
                  <a:pt x="697229" y="812291"/>
                </a:lnTo>
                <a:close/>
              </a:path>
            </a:pathLst>
          </a:custGeom>
          <a:solidFill>
            <a:srgbClr val="000000"/>
          </a:solidFill>
        </p:spPr>
        <p:txBody>
          <a:bodyPr wrap="square" lIns="0" tIns="0" rIns="0" bIns="0" rtlCol="0"/>
          <a:lstStyle/>
          <a:p>
            <a:endParaRPr/>
          </a:p>
        </p:txBody>
      </p:sp>
      <p:sp>
        <p:nvSpPr>
          <p:cNvPr id="345" name="object 345"/>
          <p:cNvSpPr/>
          <p:nvPr/>
        </p:nvSpPr>
        <p:spPr>
          <a:xfrm>
            <a:off x="9028176" y="5005578"/>
            <a:ext cx="676275" cy="171450"/>
          </a:xfrm>
          <a:custGeom>
            <a:avLst/>
            <a:gdLst/>
            <a:ahLst/>
            <a:cxnLst/>
            <a:rect l="l" t="t" r="r" b="b"/>
            <a:pathLst>
              <a:path w="676275" h="171450">
                <a:moveTo>
                  <a:pt x="0" y="0"/>
                </a:moveTo>
                <a:lnTo>
                  <a:pt x="0" y="171450"/>
                </a:lnTo>
                <a:lnTo>
                  <a:pt x="675894" y="171450"/>
                </a:lnTo>
                <a:lnTo>
                  <a:pt x="675894" y="0"/>
                </a:lnTo>
                <a:lnTo>
                  <a:pt x="0" y="0"/>
                </a:lnTo>
                <a:close/>
              </a:path>
            </a:pathLst>
          </a:custGeom>
          <a:solidFill>
            <a:srgbClr val="FF0000"/>
          </a:solidFill>
        </p:spPr>
        <p:txBody>
          <a:bodyPr wrap="square" lIns="0" tIns="0" rIns="0" bIns="0" rtlCol="0"/>
          <a:lstStyle/>
          <a:p>
            <a:endParaRPr/>
          </a:p>
        </p:txBody>
      </p:sp>
      <p:sp>
        <p:nvSpPr>
          <p:cNvPr id="346" name="object 346"/>
          <p:cNvSpPr txBox="1"/>
          <p:nvPr/>
        </p:nvSpPr>
        <p:spPr>
          <a:xfrm>
            <a:off x="9056370" y="4832858"/>
            <a:ext cx="676910" cy="178435"/>
          </a:xfrm>
          <a:prstGeom prst="rect">
            <a:avLst/>
          </a:prstGeom>
        </p:spPr>
        <p:txBody>
          <a:bodyPr vert="horz" wrap="square" lIns="0" tIns="12700" rIns="0" bIns="0" rtlCol="0">
            <a:spAutoFit/>
          </a:bodyPr>
          <a:lstStyle/>
          <a:p>
            <a:pPr marL="7620">
              <a:lnSpc>
                <a:spcPct val="100000"/>
              </a:lnSpc>
              <a:spcBef>
                <a:spcPts val="100"/>
              </a:spcBef>
            </a:pPr>
            <a:r>
              <a:rPr sz="1000" spc="-5" dirty="0">
                <a:latin typeface="Tahoma"/>
                <a:cs typeface="Tahoma"/>
              </a:rPr>
              <a:t>application</a:t>
            </a:r>
            <a:endParaRPr sz="1000">
              <a:latin typeface="Tahoma"/>
              <a:cs typeface="Tahoma"/>
            </a:endParaRPr>
          </a:p>
        </p:txBody>
      </p:sp>
      <p:sp>
        <p:nvSpPr>
          <p:cNvPr id="347" name="object 347"/>
          <p:cNvSpPr txBox="1"/>
          <p:nvPr/>
        </p:nvSpPr>
        <p:spPr>
          <a:xfrm>
            <a:off x="9056370" y="4985257"/>
            <a:ext cx="676910" cy="178435"/>
          </a:xfrm>
          <a:prstGeom prst="rect">
            <a:avLst/>
          </a:prstGeom>
        </p:spPr>
        <p:txBody>
          <a:bodyPr vert="horz" wrap="square" lIns="0" tIns="12700" rIns="0" bIns="0" rtlCol="0">
            <a:spAutoFit/>
          </a:bodyPr>
          <a:lstStyle/>
          <a:p>
            <a:pPr marL="53340">
              <a:lnSpc>
                <a:spcPct val="100000"/>
              </a:lnSpc>
              <a:spcBef>
                <a:spcPts val="100"/>
              </a:spcBef>
            </a:pPr>
            <a:r>
              <a:rPr sz="1000" spc="-5" dirty="0">
                <a:solidFill>
                  <a:srgbClr val="FFFFFF"/>
                </a:solidFill>
                <a:latin typeface="Tahoma"/>
                <a:cs typeface="Tahoma"/>
              </a:rPr>
              <a:t>transport</a:t>
            </a:r>
            <a:endParaRPr sz="1000">
              <a:latin typeface="Tahoma"/>
              <a:cs typeface="Tahoma"/>
            </a:endParaRPr>
          </a:p>
        </p:txBody>
      </p:sp>
      <p:sp>
        <p:nvSpPr>
          <p:cNvPr id="348" name="object 348"/>
          <p:cNvSpPr txBox="1"/>
          <p:nvPr/>
        </p:nvSpPr>
        <p:spPr>
          <a:xfrm>
            <a:off x="9056370" y="5137656"/>
            <a:ext cx="676910" cy="178435"/>
          </a:xfrm>
          <a:prstGeom prst="rect">
            <a:avLst/>
          </a:prstGeom>
        </p:spPr>
        <p:txBody>
          <a:bodyPr vert="horz" wrap="square" lIns="0" tIns="12700" rIns="0" bIns="0" rtlCol="0">
            <a:spAutoFit/>
          </a:bodyPr>
          <a:lstStyle/>
          <a:p>
            <a:pPr marL="81915">
              <a:lnSpc>
                <a:spcPct val="100000"/>
              </a:lnSpc>
              <a:spcBef>
                <a:spcPts val="100"/>
              </a:spcBef>
            </a:pPr>
            <a:r>
              <a:rPr sz="1000" dirty="0">
                <a:latin typeface="Tahoma"/>
                <a:cs typeface="Tahoma"/>
              </a:rPr>
              <a:t>network</a:t>
            </a:r>
            <a:endParaRPr sz="1000">
              <a:latin typeface="Tahoma"/>
              <a:cs typeface="Tahoma"/>
            </a:endParaRPr>
          </a:p>
        </p:txBody>
      </p:sp>
      <p:sp>
        <p:nvSpPr>
          <p:cNvPr id="349" name="object 349"/>
          <p:cNvSpPr txBox="1"/>
          <p:nvPr/>
        </p:nvSpPr>
        <p:spPr>
          <a:xfrm>
            <a:off x="9056370" y="5290056"/>
            <a:ext cx="676910" cy="178435"/>
          </a:xfrm>
          <a:prstGeom prst="rect">
            <a:avLst/>
          </a:prstGeom>
        </p:spPr>
        <p:txBody>
          <a:bodyPr vert="horz" wrap="square" lIns="0" tIns="12700" rIns="0" bIns="0" rtlCol="0">
            <a:spAutoFit/>
          </a:bodyPr>
          <a:lstStyle/>
          <a:p>
            <a:pPr marL="69850">
              <a:lnSpc>
                <a:spcPct val="100000"/>
              </a:lnSpc>
              <a:spcBef>
                <a:spcPts val="100"/>
              </a:spcBef>
            </a:pPr>
            <a:r>
              <a:rPr sz="1000" dirty="0">
                <a:latin typeface="Tahoma"/>
                <a:cs typeface="Tahoma"/>
              </a:rPr>
              <a:t>data</a:t>
            </a:r>
            <a:r>
              <a:rPr sz="1000" spc="-30" dirty="0">
                <a:latin typeface="Tahoma"/>
                <a:cs typeface="Tahoma"/>
              </a:rPr>
              <a:t> </a:t>
            </a:r>
            <a:r>
              <a:rPr sz="1000" dirty="0">
                <a:latin typeface="Tahoma"/>
                <a:cs typeface="Tahoma"/>
              </a:rPr>
              <a:t>link</a:t>
            </a:r>
            <a:endParaRPr sz="1000">
              <a:latin typeface="Tahoma"/>
              <a:cs typeface="Tahoma"/>
            </a:endParaRPr>
          </a:p>
        </p:txBody>
      </p:sp>
      <p:sp>
        <p:nvSpPr>
          <p:cNvPr id="350" name="object 350"/>
          <p:cNvSpPr txBox="1"/>
          <p:nvPr/>
        </p:nvSpPr>
        <p:spPr>
          <a:xfrm>
            <a:off x="9056370" y="5442455"/>
            <a:ext cx="676910" cy="178435"/>
          </a:xfrm>
          <a:prstGeom prst="rect">
            <a:avLst/>
          </a:prstGeom>
        </p:spPr>
        <p:txBody>
          <a:bodyPr vert="horz" wrap="square" lIns="0" tIns="12700" rIns="0" bIns="0" rtlCol="0">
            <a:spAutoFit/>
          </a:bodyPr>
          <a:lstStyle/>
          <a:p>
            <a:pPr marL="85725">
              <a:lnSpc>
                <a:spcPct val="100000"/>
              </a:lnSpc>
              <a:spcBef>
                <a:spcPts val="100"/>
              </a:spcBef>
            </a:pPr>
            <a:r>
              <a:rPr sz="1000" dirty="0">
                <a:latin typeface="Tahoma"/>
                <a:cs typeface="Tahoma"/>
              </a:rPr>
              <a:t>physical</a:t>
            </a:r>
            <a:endParaRPr sz="1000">
              <a:latin typeface="Tahoma"/>
              <a:cs typeface="Tahoma"/>
            </a:endParaRPr>
          </a:p>
        </p:txBody>
      </p:sp>
      <p:sp>
        <p:nvSpPr>
          <p:cNvPr id="351" name="object 351"/>
          <p:cNvSpPr/>
          <p:nvPr/>
        </p:nvSpPr>
        <p:spPr>
          <a:xfrm>
            <a:off x="9023603" y="5166359"/>
            <a:ext cx="690880" cy="17780"/>
          </a:xfrm>
          <a:custGeom>
            <a:avLst/>
            <a:gdLst/>
            <a:ahLst/>
            <a:cxnLst/>
            <a:rect l="l" t="t" r="r" b="b"/>
            <a:pathLst>
              <a:path w="690879" h="17779">
                <a:moveTo>
                  <a:pt x="0" y="17525"/>
                </a:moveTo>
                <a:lnTo>
                  <a:pt x="690372" y="17525"/>
                </a:lnTo>
                <a:lnTo>
                  <a:pt x="690372" y="0"/>
                </a:lnTo>
                <a:lnTo>
                  <a:pt x="0" y="0"/>
                </a:lnTo>
                <a:lnTo>
                  <a:pt x="0" y="17525"/>
                </a:lnTo>
                <a:close/>
              </a:path>
            </a:pathLst>
          </a:custGeom>
          <a:solidFill>
            <a:srgbClr val="000000"/>
          </a:solidFill>
        </p:spPr>
        <p:txBody>
          <a:bodyPr wrap="square" lIns="0" tIns="0" rIns="0" bIns="0" rtlCol="0"/>
          <a:lstStyle/>
          <a:p>
            <a:endParaRPr/>
          </a:p>
        </p:txBody>
      </p:sp>
      <p:sp>
        <p:nvSpPr>
          <p:cNvPr id="352" name="object 352"/>
          <p:cNvSpPr/>
          <p:nvPr/>
        </p:nvSpPr>
        <p:spPr>
          <a:xfrm>
            <a:off x="9032748" y="5313045"/>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53" name="object 353"/>
          <p:cNvSpPr/>
          <p:nvPr/>
        </p:nvSpPr>
        <p:spPr>
          <a:xfrm>
            <a:off x="9032748" y="5450966"/>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54" name="object 354"/>
          <p:cNvSpPr/>
          <p:nvPr/>
        </p:nvSpPr>
        <p:spPr>
          <a:xfrm>
            <a:off x="8715755" y="4815078"/>
            <a:ext cx="304800" cy="943356"/>
          </a:xfrm>
          <a:prstGeom prst="rect">
            <a:avLst/>
          </a:prstGeom>
          <a:blipFill>
            <a:blip r:embed="rId137" cstate="print"/>
            <a:stretch>
              <a:fillRect/>
            </a:stretch>
          </a:blipFill>
        </p:spPr>
        <p:txBody>
          <a:bodyPr wrap="square" lIns="0" tIns="0" rIns="0" bIns="0" rtlCol="0"/>
          <a:lstStyle/>
          <a:p>
            <a:endParaRPr/>
          </a:p>
        </p:txBody>
      </p:sp>
      <p:sp>
        <p:nvSpPr>
          <p:cNvPr id="355" name="object 355"/>
          <p:cNvSpPr/>
          <p:nvPr/>
        </p:nvSpPr>
        <p:spPr>
          <a:xfrm>
            <a:off x="8710422" y="4810505"/>
            <a:ext cx="314960" cy="952500"/>
          </a:xfrm>
          <a:custGeom>
            <a:avLst/>
            <a:gdLst/>
            <a:ahLst/>
            <a:cxnLst/>
            <a:rect l="l" t="t" r="r" b="b"/>
            <a:pathLst>
              <a:path w="314959" h="952500">
                <a:moveTo>
                  <a:pt x="313943" y="6096"/>
                </a:moveTo>
                <a:lnTo>
                  <a:pt x="305055" y="4614"/>
                </a:lnTo>
                <a:lnTo>
                  <a:pt x="761" y="946404"/>
                </a:lnTo>
                <a:lnTo>
                  <a:pt x="0" y="947928"/>
                </a:lnTo>
                <a:lnTo>
                  <a:pt x="761" y="950213"/>
                </a:lnTo>
                <a:lnTo>
                  <a:pt x="3047" y="952500"/>
                </a:lnTo>
                <a:lnTo>
                  <a:pt x="3047" y="943356"/>
                </a:lnTo>
                <a:lnTo>
                  <a:pt x="12353" y="939517"/>
                </a:lnTo>
                <a:lnTo>
                  <a:pt x="313943" y="6096"/>
                </a:lnTo>
                <a:close/>
              </a:path>
              <a:path w="314959" h="952500">
                <a:moveTo>
                  <a:pt x="12353" y="939517"/>
                </a:moveTo>
                <a:lnTo>
                  <a:pt x="3047" y="943356"/>
                </a:lnTo>
                <a:lnTo>
                  <a:pt x="9143" y="949451"/>
                </a:lnTo>
                <a:lnTo>
                  <a:pt x="12353" y="939517"/>
                </a:lnTo>
                <a:close/>
              </a:path>
              <a:path w="314959" h="952500">
                <a:moveTo>
                  <a:pt x="307847" y="817626"/>
                </a:moveTo>
                <a:lnTo>
                  <a:pt x="12353" y="939517"/>
                </a:lnTo>
                <a:lnTo>
                  <a:pt x="9143" y="949451"/>
                </a:lnTo>
                <a:lnTo>
                  <a:pt x="3047" y="943356"/>
                </a:lnTo>
                <a:lnTo>
                  <a:pt x="3047" y="952500"/>
                </a:lnTo>
                <a:lnTo>
                  <a:pt x="5333" y="952500"/>
                </a:lnTo>
                <a:lnTo>
                  <a:pt x="6857" y="951738"/>
                </a:lnTo>
                <a:lnTo>
                  <a:pt x="304799" y="829581"/>
                </a:lnTo>
                <a:lnTo>
                  <a:pt x="304799" y="822198"/>
                </a:lnTo>
                <a:lnTo>
                  <a:pt x="307847" y="817626"/>
                </a:lnTo>
                <a:close/>
              </a:path>
              <a:path w="314959" h="952500">
                <a:moveTo>
                  <a:pt x="305055" y="4614"/>
                </a:moveTo>
                <a:lnTo>
                  <a:pt x="304799" y="4571"/>
                </a:lnTo>
                <a:lnTo>
                  <a:pt x="304799" y="5406"/>
                </a:lnTo>
                <a:lnTo>
                  <a:pt x="305055" y="4614"/>
                </a:lnTo>
                <a:close/>
              </a:path>
              <a:path w="314959" h="952500">
                <a:moveTo>
                  <a:pt x="313943" y="825245"/>
                </a:moveTo>
                <a:lnTo>
                  <a:pt x="313943" y="6096"/>
                </a:lnTo>
                <a:lnTo>
                  <a:pt x="304799" y="34396"/>
                </a:lnTo>
                <a:lnTo>
                  <a:pt x="304799" y="818883"/>
                </a:lnTo>
                <a:lnTo>
                  <a:pt x="307847" y="817626"/>
                </a:lnTo>
                <a:lnTo>
                  <a:pt x="307847" y="828332"/>
                </a:lnTo>
                <a:lnTo>
                  <a:pt x="311657" y="826769"/>
                </a:lnTo>
                <a:lnTo>
                  <a:pt x="313181" y="826007"/>
                </a:lnTo>
                <a:lnTo>
                  <a:pt x="313943" y="825245"/>
                </a:lnTo>
                <a:close/>
              </a:path>
              <a:path w="314959" h="952500">
                <a:moveTo>
                  <a:pt x="307847" y="828332"/>
                </a:moveTo>
                <a:lnTo>
                  <a:pt x="307847" y="817626"/>
                </a:lnTo>
                <a:lnTo>
                  <a:pt x="304799" y="822198"/>
                </a:lnTo>
                <a:lnTo>
                  <a:pt x="304799" y="829581"/>
                </a:lnTo>
                <a:lnTo>
                  <a:pt x="307847" y="828332"/>
                </a:lnTo>
                <a:close/>
              </a:path>
              <a:path w="314959" h="952500">
                <a:moveTo>
                  <a:pt x="314705" y="824484"/>
                </a:moveTo>
                <a:lnTo>
                  <a:pt x="314705" y="2285"/>
                </a:lnTo>
                <a:lnTo>
                  <a:pt x="313181" y="762"/>
                </a:lnTo>
                <a:lnTo>
                  <a:pt x="310895" y="0"/>
                </a:lnTo>
                <a:lnTo>
                  <a:pt x="307847" y="0"/>
                </a:lnTo>
                <a:lnTo>
                  <a:pt x="306323" y="762"/>
                </a:lnTo>
                <a:lnTo>
                  <a:pt x="305055" y="4614"/>
                </a:lnTo>
                <a:lnTo>
                  <a:pt x="313943" y="6096"/>
                </a:lnTo>
                <a:lnTo>
                  <a:pt x="313943" y="825245"/>
                </a:lnTo>
                <a:lnTo>
                  <a:pt x="314705" y="824484"/>
                </a:lnTo>
                <a:close/>
              </a:path>
            </a:pathLst>
          </a:custGeom>
          <a:solidFill>
            <a:srgbClr val="FF0000"/>
          </a:solidFill>
        </p:spPr>
        <p:txBody>
          <a:bodyPr wrap="square" lIns="0" tIns="0" rIns="0" bIns="0" rtlCol="0"/>
          <a:lstStyle/>
          <a:p>
            <a:endParaRPr/>
          </a:p>
        </p:txBody>
      </p:sp>
      <p:sp>
        <p:nvSpPr>
          <p:cNvPr id="356" name="object 356"/>
          <p:cNvSpPr/>
          <p:nvPr/>
        </p:nvSpPr>
        <p:spPr>
          <a:xfrm>
            <a:off x="6862572" y="2672333"/>
            <a:ext cx="676910" cy="485775"/>
          </a:xfrm>
          <a:custGeom>
            <a:avLst/>
            <a:gdLst/>
            <a:ahLst/>
            <a:cxnLst/>
            <a:rect l="l" t="t" r="r" b="b"/>
            <a:pathLst>
              <a:path w="676909" h="485775">
                <a:moveTo>
                  <a:pt x="0" y="0"/>
                </a:moveTo>
                <a:lnTo>
                  <a:pt x="0" y="485394"/>
                </a:lnTo>
                <a:lnTo>
                  <a:pt x="676655" y="485394"/>
                </a:lnTo>
                <a:lnTo>
                  <a:pt x="676655" y="0"/>
                </a:lnTo>
                <a:lnTo>
                  <a:pt x="0" y="0"/>
                </a:lnTo>
                <a:close/>
              </a:path>
            </a:pathLst>
          </a:custGeom>
          <a:solidFill>
            <a:srgbClr val="3333CC"/>
          </a:solidFill>
        </p:spPr>
        <p:txBody>
          <a:bodyPr wrap="square" lIns="0" tIns="0" rIns="0" bIns="0" rtlCol="0"/>
          <a:lstStyle/>
          <a:p>
            <a:endParaRPr/>
          </a:p>
        </p:txBody>
      </p:sp>
      <p:sp>
        <p:nvSpPr>
          <p:cNvPr id="357" name="object 357"/>
          <p:cNvSpPr/>
          <p:nvPr/>
        </p:nvSpPr>
        <p:spPr>
          <a:xfrm>
            <a:off x="6819899" y="2705100"/>
            <a:ext cx="690880" cy="495300"/>
          </a:xfrm>
          <a:custGeom>
            <a:avLst/>
            <a:gdLst/>
            <a:ahLst/>
            <a:cxnLst/>
            <a:rect l="l" t="t" r="r" b="b"/>
            <a:pathLst>
              <a:path w="690879" h="495300">
                <a:moveTo>
                  <a:pt x="0" y="0"/>
                </a:moveTo>
                <a:lnTo>
                  <a:pt x="0" y="495299"/>
                </a:lnTo>
                <a:lnTo>
                  <a:pt x="690372" y="495299"/>
                </a:lnTo>
                <a:lnTo>
                  <a:pt x="690372" y="0"/>
                </a:lnTo>
                <a:lnTo>
                  <a:pt x="0" y="0"/>
                </a:lnTo>
                <a:close/>
              </a:path>
            </a:pathLst>
          </a:custGeom>
          <a:solidFill>
            <a:srgbClr val="FFFFFF"/>
          </a:solidFill>
        </p:spPr>
        <p:txBody>
          <a:bodyPr wrap="square" lIns="0" tIns="0" rIns="0" bIns="0" rtlCol="0"/>
          <a:lstStyle/>
          <a:p>
            <a:endParaRPr/>
          </a:p>
        </p:txBody>
      </p:sp>
      <p:sp>
        <p:nvSpPr>
          <p:cNvPr id="358" name="object 358"/>
          <p:cNvSpPr/>
          <p:nvPr/>
        </p:nvSpPr>
        <p:spPr>
          <a:xfrm>
            <a:off x="6813804" y="2699004"/>
            <a:ext cx="703580" cy="508634"/>
          </a:xfrm>
          <a:custGeom>
            <a:avLst/>
            <a:gdLst/>
            <a:ahLst/>
            <a:cxnLst/>
            <a:rect l="l" t="t" r="r" b="b"/>
            <a:pathLst>
              <a:path w="703579" h="508635">
                <a:moveTo>
                  <a:pt x="703326" y="508253"/>
                </a:moveTo>
                <a:lnTo>
                  <a:pt x="703326" y="0"/>
                </a:lnTo>
                <a:lnTo>
                  <a:pt x="0" y="0"/>
                </a:lnTo>
                <a:lnTo>
                  <a:pt x="0" y="508253"/>
                </a:lnTo>
                <a:lnTo>
                  <a:pt x="6095" y="508253"/>
                </a:lnTo>
                <a:lnTo>
                  <a:pt x="6095" y="12953"/>
                </a:lnTo>
                <a:lnTo>
                  <a:pt x="12191" y="6095"/>
                </a:lnTo>
                <a:lnTo>
                  <a:pt x="12191" y="12953"/>
                </a:lnTo>
                <a:lnTo>
                  <a:pt x="690371" y="12953"/>
                </a:lnTo>
                <a:lnTo>
                  <a:pt x="690371" y="6095"/>
                </a:lnTo>
                <a:lnTo>
                  <a:pt x="696467" y="12953"/>
                </a:lnTo>
                <a:lnTo>
                  <a:pt x="696467" y="508253"/>
                </a:lnTo>
                <a:lnTo>
                  <a:pt x="703326" y="508253"/>
                </a:lnTo>
                <a:close/>
              </a:path>
              <a:path w="703579" h="508635">
                <a:moveTo>
                  <a:pt x="12191" y="12953"/>
                </a:moveTo>
                <a:lnTo>
                  <a:pt x="12191" y="6095"/>
                </a:lnTo>
                <a:lnTo>
                  <a:pt x="6095" y="12953"/>
                </a:lnTo>
                <a:lnTo>
                  <a:pt x="12191" y="12953"/>
                </a:lnTo>
                <a:close/>
              </a:path>
              <a:path w="703579" h="508635">
                <a:moveTo>
                  <a:pt x="12191" y="495300"/>
                </a:moveTo>
                <a:lnTo>
                  <a:pt x="12191" y="12953"/>
                </a:lnTo>
                <a:lnTo>
                  <a:pt x="6095" y="12953"/>
                </a:lnTo>
                <a:lnTo>
                  <a:pt x="6095" y="495300"/>
                </a:lnTo>
                <a:lnTo>
                  <a:pt x="12191" y="495300"/>
                </a:lnTo>
                <a:close/>
              </a:path>
              <a:path w="703579" h="508635">
                <a:moveTo>
                  <a:pt x="696467" y="495300"/>
                </a:moveTo>
                <a:lnTo>
                  <a:pt x="6095" y="495300"/>
                </a:lnTo>
                <a:lnTo>
                  <a:pt x="12191" y="501395"/>
                </a:lnTo>
                <a:lnTo>
                  <a:pt x="12191" y="508253"/>
                </a:lnTo>
                <a:lnTo>
                  <a:pt x="690371" y="508253"/>
                </a:lnTo>
                <a:lnTo>
                  <a:pt x="690371" y="501395"/>
                </a:lnTo>
                <a:lnTo>
                  <a:pt x="696467" y="495300"/>
                </a:lnTo>
                <a:close/>
              </a:path>
              <a:path w="703579" h="508635">
                <a:moveTo>
                  <a:pt x="12191" y="508253"/>
                </a:moveTo>
                <a:lnTo>
                  <a:pt x="12191" y="501395"/>
                </a:lnTo>
                <a:lnTo>
                  <a:pt x="6095" y="495300"/>
                </a:lnTo>
                <a:lnTo>
                  <a:pt x="6095" y="508253"/>
                </a:lnTo>
                <a:lnTo>
                  <a:pt x="12191" y="508253"/>
                </a:lnTo>
                <a:close/>
              </a:path>
              <a:path w="703579" h="508635">
                <a:moveTo>
                  <a:pt x="696467" y="12953"/>
                </a:moveTo>
                <a:lnTo>
                  <a:pt x="690371" y="6095"/>
                </a:lnTo>
                <a:lnTo>
                  <a:pt x="690371" y="12953"/>
                </a:lnTo>
                <a:lnTo>
                  <a:pt x="696467" y="12953"/>
                </a:lnTo>
                <a:close/>
              </a:path>
              <a:path w="703579" h="508635">
                <a:moveTo>
                  <a:pt x="696467" y="495300"/>
                </a:moveTo>
                <a:lnTo>
                  <a:pt x="696467" y="12953"/>
                </a:lnTo>
                <a:lnTo>
                  <a:pt x="690371" y="12953"/>
                </a:lnTo>
                <a:lnTo>
                  <a:pt x="690371" y="495300"/>
                </a:lnTo>
                <a:lnTo>
                  <a:pt x="696467" y="495300"/>
                </a:lnTo>
                <a:close/>
              </a:path>
              <a:path w="703579" h="508635">
                <a:moveTo>
                  <a:pt x="696467" y="508253"/>
                </a:moveTo>
                <a:lnTo>
                  <a:pt x="696467" y="495300"/>
                </a:lnTo>
                <a:lnTo>
                  <a:pt x="690371" y="501395"/>
                </a:lnTo>
                <a:lnTo>
                  <a:pt x="690371" y="508253"/>
                </a:lnTo>
                <a:lnTo>
                  <a:pt x="696467" y="508253"/>
                </a:lnTo>
                <a:close/>
              </a:path>
            </a:pathLst>
          </a:custGeom>
          <a:solidFill>
            <a:srgbClr val="000000"/>
          </a:solidFill>
        </p:spPr>
        <p:txBody>
          <a:bodyPr wrap="square" lIns="0" tIns="0" rIns="0" bIns="0" rtlCol="0"/>
          <a:lstStyle/>
          <a:p>
            <a:endParaRPr/>
          </a:p>
        </p:txBody>
      </p:sp>
      <p:sp>
        <p:nvSpPr>
          <p:cNvPr id="359" name="object 359"/>
          <p:cNvSpPr txBox="1"/>
          <p:nvPr/>
        </p:nvSpPr>
        <p:spPr>
          <a:xfrm>
            <a:off x="6914643" y="2699257"/>
            <a:ext cx="504190" cy="330835"/>
          </a:xfrm>
          <a:prstGeom prst="rect">
            <a:avLst/>
          </a:prstGeom>
        </p:spPr>
        <p:txBody>
          <a:bodyPr vert="horz" wrap="square" lIns="0" tIns="12700" rIns="0" bIns="0" rtlCol="0">
            <a:spAutoFit/>
          </a:bodyPr>
          <a:lstStyle/>
          <a:p>
            <a:pPr marL="12700" marR="5080" indent="12065">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a:t>
            </a:r>
            <a:endParaRPr sz="1000">
              <a:latin typeface="Tahoma"/>
              <a:cs typeface="Tahoma"/>
            </a:endParaRPr>
          </a:p>
        </p:txBody>
      </p:sp>
      <p:sp>
        <p:nvSpPr>
          <p:cNvPr id="360" name="object 360"/>
          <p:cNvSpPr txBox="1"/>
          <p:nvPr/>
        </p:nvSpPr>
        <p:spPr>
          <a:xfrm>
            <a:off x="6930651" y="3004056"/>
            <a:ext cx="47117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Tahoma"/>
                <a:cs typeface="Tahoma"/>
              </a:rPr>
              <a:t>physical</a:t>
            </a:r>
            <a:endParaRPr sz="1000">
              <a:latin typeface="Tahoma"/>
              <a:cs typeface="Tahoma"/>
            </a:endParaRPr>
          </a:p>
        </p:txBody>
      </p:sp>
      <p:sp>
        <p:nvSpPr>
          <p:cNvPr id="361" name="object 361"/>
          <p:cNvSpPr/>
          <p:nvPr/>
        </p:nvSpPr>
        <p:spPr>
          <a:xfrm>
            <a:off x="6815328" y="3012567"/>
            <a:ext cx="690880" cy="0"/>
          </a:xfrm>
          <a:custGeom>
            <a:avLst/>
            <a:gdLst/>
            <a:ahLst/>
            <a:cxnLst/>
            <a:rect l="l" t="t" r="r" b="b"/>
            <a:pathLst>
              <a:path w="690879">
                <a:moveTo>
                  <a:pt x="0" y="0"/>
                </a:moveTo>
                <a:lnTo>
                  <a:pt x="690371" y="0"/>
                </a:lnTo>
              </a:path>
            </a:pathLst>
          </a:custGeom>
          <a:ln w="17525">
            <a:solidFill>
              <a:srgbClr val="000000"/>
            </a:solidFill>
          </a:ln>
        </p:spPr>
        <p:txBody>
          <a:bodyPr wrap="square" lIns="0" tIns="0" rIns="0" bIns="0" rtlCol="0"/>
          <a:lstStyle/>
          <a:p>
            <a:endParaRPr/>
          </a:p>
        </p:txBody>
      </p:sp>
      <p:sp>
        <p:nvSpPr>
          <p:cNvPr id="362" name="object 362"/>
          <p:cNvSpPr/>
          <p:nvPr/>
        </p:nvSpPr>
        <p:spPr>
          <a:xfrm>
            <a:off x="6824472" y="2860167"/>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63" name="object 363"/>
          <p:cNvSpPr/>
          <p:nvPr/>
        </p:nvSpPr>
        <p:spPr>
          <a:xfrm>
            <a:off x="7678674" y="3094482"/>
            <a:ext cx="676910" cy="485775"/>
          </a:xfrm>
          <a:custGeom>
            <a:avLst/>
            <a:gdLst/>
            <a:ahLst/>
            <a:cxnLst/>
            <a:rect l="l" t="t" r="r" b="b"/>
            <a:pathLst>
              <a:path w="676909" h="485775">
                <a:moveTo>
                  <a:pt x="0" y="0"/>
                </a:moveTo>
                <a:lnTo>
                  <a:pt x="0" y="485393"/>
                </a:lnTo>
                <a:lnTo>
                  <a:pt x="676655" y="485393"/>
                </a:lnTo>
                <a:lnTo>
                  <a:pt x="676655" y="0"/>
                </a:lnTo>
                <a:lnTo>
                  <a:pt x="0" y="0"/>
                </a:lnTo>
                <a:close/>
              </a:path>
            </a:pathLst>
          </a:custGeom>
          <a:solidFill>
            <a:srgbClr val="3333CC"/>
          </a:solidFill>
        </p:spPr>
        <p:txBody>
          <a:bodyPr wrap="square" lIns="0" tIns="0" rIns="0" bIns="0" rtlCol="0"/>
          <a:lstStyle/>
          <a:p>
            <a:endParaRPr/>
          </a:p>
        </p:txBody>
      </p:sp>
      <p:sp>
        <p:nvSpPr>
          <p:cNvPr id="364" name="object 364"/>
          <p:cNvSpPr/>
          <p:nvPr/>
        </p:nvSpPr>
        <p:spPr>
          <a:xfrm>
            <a:off x="7636001" y="3128010"/>
            <a:ext cx="690880" cy="495300"/>
          </a:xfrm>
          <a:custGeom>
            <a:avLst/>
            <a:gdLst/>
            <a:ahLst/>
            <a:cxnLst/>
            <a:rect l="l" t="t" r="r" b="b"/>
            <a:pathLst>
              <a:path w="690879" h="495300">
                <a:moveTo>
                  <a:pt x="0" y="0"/>
                </a:moveTo>
                <a:lnTo>
                  <a:pt x="0" y="495300"/>
                </a:lnTo>
                <a:lnTo>
                  <a:pt x="690372" y="495300"/>
                </a:lnTo>
                <a:lnTo>
                  <a:pt x="690372" y="0"/>
                </a:lnTo>
                <a:lnTo>
                  <a:pt x="0" y="0"/>
                </a:lnTo>
                <a:close/>
              </a:path>
            </a:pathLst>
          </a:custGeom>
          <a:solidFill>
            <a:srgbClr val="FFFFFF"/>
          </a:solidFill>
        </p:spPr>
        <p:txBody>
          <a:bodyPr wrap="square" lIns="0" tIns="0" rIns="0" bIns="0" rtlCol="0"/>
          <a:lstStyle/>
          <a:p>
            <a:endParaRPr/>
          </a:p>
        </p:txBody>
      </p:sp>
      <p:sp>
        <p:nvSpPr>
          <p:cNvPr id="365" name="object 365"/>
          <p:cNvSpPr/>
          <p:nvPr/>
        </p:nvSpPr>
        <p:spPr>
          <a:xfrm>
            <a:off x="7629905" y="3121151"/>
            <a:ext cx="702945" cy="508634"/>
          </a:xfrm>
          <a:custGeom>
            <a:avLst/>
            <a:gdLst/>
            <a:ahLst/>
            <a:cxnLst/>
            <a:rect l="l" t="t" r="r" b="b"/>
            <a:pathLst>
              <a:path w="702945" h="508635">
                <a:moveTo>
                  <a:pt x="702564" y="508253"/>
                </a:moveTo>
                <a:lnTo>
                  <a:pt x="702564" y="0"/>
                </a:lnTo>
                <a:lnTo>
                  <a:pt x="0" y="0"/>
                </a:lnTo>
                <a:lnTo>
                  <a:pt x="0" y="508253"/>
                </a:lnTo>
                <a:lnTo>
                  <a:pt x="6096" y="508253"/>
                </a:lnTo>
                <a:lnTo>
                  <a:pt x="6096" y="12954"/>
                </a:lnTo>
                <a:lnTo>
                  <a:pt x="12192" y="6858"/>
                </a:lnTo>
                <a:lnTo>
                  <a:pt x="12192" y="12954"/>
                </a:lnTo>
                <a:lnTo>
                  <a:pt x="690372" y="12954"/>
                </a:lnTo>
                <a:lnTo>
                  <a:pt x="690372" y="6858"/>
                </a:lnTo>
                <a:lnTo>
                  <a:pt x="696468" y="12954"/>
                </a:lnTo>
                <a:lnTo>
                  <a:pt x="696468" y="508253"/>
                </a:lnTo>
                <a:lnTo>
                  <a:pt x="702564" y="508253"/>
                </a:lnTo>
                <a:close/>
              </a:path>
              <a:path w="702945" h="508635">
                <a:moveTo>
                  <a:pt x="12192" y="12954"/>
                </a:moveTo>
                <a:lnTo>
                  <a:pt x="12192" y="6858"/>
                </a:lnTo>
                <a:lnTo>
                  <a:pt x="6096" y="12954"/>
                </a:lnTo>
                <a:lnTo>
                  <a:pt x="12192" y="12954"/>
                </a:lnTo>
                <a:close/>
              </a:path>
              <a:path w="702945" h="508635">
                <a:moveTo>
                  <a:pt x="12192" y="495300"/>
                </a:moveTo>
                <a:lnTo>
                  <a:pt x="12192" y="12954"/>
                </a:lnTo>
                <a:lnTo>
                  <a:pt x="6096" y="12954"/>
                </a:lnTo>
                <a:lnTo>
                  <a:pt x="6096" y="495300"/>
                </a:lnTo>
                <a:lnTo>
                  <a:pt x="12192" y="495300"/>
                </a:lnTo>
                <a:close/>
              </a:path>
              <a:path w="702945" h="508635">
                <a:moveTo>
                  <a:pt x="696468" y="495300"/>
                </a:moveTo>
                <a:lnTo>
                  <a:pt x="6096" y="495300"/>
                </a:lnTo>
                <a:lnTo>
                  <a:pt x="12192" y="502158"/>
                </a:lnTo>
                <a:lnTo>
                  <a:pt x="12192" y="508253"/>
                </a:lnTo>
                <a:lnTo>
                  <a:pt x="690372" y="508253"/>
                </a:lnTo>
                <a:lnTo>
                  <a:pt x="690372" y="502158"/>
                </a:lnTo>
                <a:lnTo>
                  <a:pt x="696468" y="495300"/>
                </a:lnTo>
                <a:close/>
              </a:path>
              <a:path w="702945" h="508635">
                <a:moveTo>
                  <a:pt x="12192" y="508253"/>
                </a:moveTo>
                <a:lnTo>
                  <a:pt x="12192" y="502158"/>
                </a:lnTo>
                <a:lnTo>
                  <a:pt x="6096" y="495300"/>
                </a:lnTo>
                <a:lnTo>
                  <a:pt x="6096" y="508253"/>
                </a:lnTo>
                <a:lnTo>
                  <a:pt x="12192" y="508253"/>
                </a:lnTo>
                <a:close/>
              </a:path>
              <a:path w="702945" h="508635">
                <a:moveTo>
                  <a:pt x="696468" y="12954"/>
                </a:moveTo>
                <a:lnTo>
                  <a:pt x="690372" y="6858"/>
                </a:lnTo>
                <a:lnTo>
                  <a:pt x="690372" y="12954"/>
                </a:lnTo>
                <a:lnTo>
                  <a:pt x="696468" y="12954"/>
                </a:lnTo>
                <a:close/>
              </a:path>
              <a:path w="702945" h="508635">
                <a:moveTo>
                  <a:pt x="696468" y="495300"/>
                </a:moveTo>
                <a:lnTo>
                  <a:pt x="696468" y="12954"/>
                </a:lnTo>
                <a:lnTo>
                  <a:pt x="690372" y="12954"/>
                </a:lnTo>
                <a:lnTo>
                  <a:pt x="690372" y="495300"/>
                </a:lnTo>
                <a:lnTo>
                  <a:pt x="696468" y="495300"/>
                </a:lnTo>
                <a:close/>
              </a:path>
              <a:path w="702945" h="508635">
                <a:moveTo>
                  <a:pt x="696468" y="508253"/>
                </a:moveTo>
                <a:lnTo>
                  <a:pt x="696468" y="495300"/>
                </a:lnTo>
                <a:lnTo>
                  <a:pt x="690372" y="502158"/>
                </a:lnTo>
                <a:lnTo>
                  <a:pt x="690372" y="508253"/>
                </a:lnTo>
                <a:lnTo>
                  <a:pt x="696468" y="508253"/>
                </a:lnTo>
                <a:close/>
              </a:path>
            </a:pathLst>
          </a:custGeom>
          <a:solidFill>
            <a:srgbClr val="000000"/>
          </a:solidFill>
        </p:spPr>
        <p:txBody>
          <a:bodyPr wrap="square" lIns="0" tIns="0" rIns="0" bIns="0" rtlCol="0"/>
          <a:lstStyle/>
          <a:p>
            <a:endParaRPr/>
          </a:p>
        </p:txBody>
      </p:sp>
      <p:sp>
        <p:nvSpPr>
          <p:cNvPr id="366" name="object 366"/>
          <p:cNvSpPr txBox="1"/>
          <p:nvPr/>
        </p:nvSpPr>
        <p:spPr>
          <a:xfrm>
            <a:off x="7730744" y="3121405"/>
            <a:ext cx="504190" cy="330835"/>
          </a:xfrm>
          <a:prstGeom prst="rect">
            <a:avLst/>
          </a:prstGeom>
        </p:spPr>
        <p:txBody>
          <a:bodyPr vert="horz" wrap="square" lIns="0" tIns="12700" rIns="0" bIns="0" rtlCol="0">
            <a:spAutoFit/>
          </a:bodyPr>
          <a:lstStyle/>
          <a:p>
            <a:pPr marL="12700" marR="5080" indent="12065">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a:t>
            </a:r>
            <a:endParaRPr sz="1000">
              <a:latin typeface="Tahoma"/>
              <a:cs typeface="Tahoma"/>
            </a:endParaRPr>
          </a:p>
        </p:txBody>
      </p:sp>
      <p:sp>
        <p:nvSpPr>
          <p:cNvPr id="367" name="object 367"/>
          <p:cNvSpPr txBox="1"/>
          <p:nvPr/>
        </p:nvSpPr>
        <p:spPr>
          <a:xfrm>
            <a:off x="7746753" y="3426204"/>
            <a:ext cx="47117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Tahoma"/>
                <a:cs typeface="Tahoma"/>
              </a:rPr>
              <a:t>physical</a:t>
            </a:r>
            <a:endParaRPr sz="1000">
              <a:latin typeface="Tahoma"/>
              <a:cs typeface="Tahoma"/>
            </a:endParaRPr>
          </a:p>
        </p:txBody>
      </p:sp>
      <p:sp>
        <p:nvSpPr>
          <p:cNvPr id="368" name="object 368"/>
          <p:cNvSpPr/>
          <p:nvPr/>
        </p:nvSpPr>
        <p:spPr>
          <a:xfrm>
            <a:off x="7631429" y="3434715"/>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69" name="object 369"/>
          <p:cNvSpPr/>
          <p:nvPr/>
        </p:nvSpPr>
        <p:spPr>
          <a:xfrm>
            <a:off x="7640574" y="3282315"/>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70" name="object 370"/>
          <p:cNvSpPr/>
          <p:nvPr/>
        </p:nvSpPr>
        <p:spPr>
          <a:xfrm>
            <a:off x="7688579" y="2516885"/>
            <a:ext cx="676275" cy="485775"/>
          </a:xfrm>
          <a:custGeom>
            <a:avLst/>
            <a:gdLst/>
            <a:ahLst/>
            <a:cxnLst/>
            <a:rect l="l" t="t" r="r" b="b"/>
            <a:pathLst>
              <a:path w="676275" h="485775">
                <a:moveTo>
                  <a:pt x="0" y="0"/>
                </a:moveTo>
                <a:lnTo>
                  <a:pt x="0" y="485394"/>
                </a:lnTo>
                <a:lnTo>
                  <a:pt x="675894" y="485394"/>
                </a:lnTo>
                <a:lnTo>
                  <a:pt x="675894" y="0"/>
                </a:lnTo>
                <a:lnTo>
                  <a:pt x="0" y="0"/>
                </a:lnTo>
                <a:close/>
              </a:path>
            </a:pathLst>
          </a:custGeom>
          <a:solidFill>
            <a:srgbClr val="3333CC"/>
          </a:solidFill>
        </p:spPr>
        <p:txBody>
          <a:bodyPr wrap="square" lIns="0" tIns="0" rIns="0" bIns="0" rtlCol="0"/>
          <a:lstStyle/>
          <a:p>
            <a:endParaRPr/>
          </a:p>
        </p:txBody>
      </p:sp>
      <p:sp>
        <p:nvSpPr>
          <p:cNvPr id="371" name="object 371"/>
          <p:cNvSpPr/>
          <p:nvPr/>
        </p:nvSpPr>
        <p:spPr>
          <a:xfrm>
            <a:off x="7645146" y="2549651"/>
            <a:ext cx="691515" cy="495300"/>
          </a:xfrm>
          <a:custGeom>
            <a:avLst/>
            <a:gdLst/>
            <a:ahLst/>
            <a:cxnLst/>
            <a:rect l="l" t="t" r="r" b="b"/>
            <a:pathLst>
              <a:path w="691515" h="495300">
                <a:moveTo>
                  <a:pt x="0" y="0"/>
                </a:moveTo>
                <a:lnTo>
                  <a:pt x="0" y="495299"/>
                </a:lnTo>
                <a:lnTo>
                  <a:pt x="691133" y="495299"/>
                </a:lnTo>
                <a:lnTo>
                  <a:pt x="691133" y="0"/>
                </a:lnTo>
                <a:lnTo>
                  <a:pt x="0" y="0"/>
                </a:lnTo>
                <a:close/>
              </a:path>
            </a:pathLst>
          </a:custGeom>
          <a:solidFill>
            <a:srgbClr val="FFFFFF"/>
          </a:solidFill>
        </p:spPr>
        <p:txBody>
          <a:bodyPr wrap="square" lIns="0" tIns="0" rIns="0" bIns="0" rtlCol="0"/>
          <a:lstStyle/>
          <a:p>
            <a:endParaRPr/>
          </a:p>
        </p:txBody>
      </p:sp>
      <p:sp>
        <p:nvSpPr>
          <p:cNvPr id="372" name="object 372"/>
          <p:cNvSpPr/>
          <p:nvPr/>
        </p:nvSpPr>
        <p:spPr>
          <a:xfrm>
            <a:off x="7639050" y="2543555"/>
            <a:ext cx="703580" cy="508634"/>
          </a:xfrm>
          <a:custGeom>
            <a:avLst/>
            <a:gdLst/>
            <a:ahLst/>
            <a:cxnLst/>
            <a:rect l="l" t="t" r="r" b="b"/>
            <a:pathLst>
              <a:path w="703579" h="508635">
                <a:moveTo>
                  <a:pt x="703326" y="508254"/>
                </a:moveTo>
                <a:lnTo>
                  <a:pt x="703326" y="0"/>
                </a:lnTo>
                <a:lnTo>
                  <a:pt x="0" y="0"/>
                </a:lnTo>
                <a:lnTo>
                  <a:pt x="0" y="508254"/>
                </a:lnTo>
                <a:lnTo>
                  <a:pt x="6096" y="508254"/>
                </a:lnTo>
                <a:lnTo>
                  <a:pt x="6096" y="12954"/>
                </a:lnTo>
                <a:lnTo>
                  <a:pt x="12953" y="6095"/>
                </a:lnTo>
                <a:lnTo>
                  <a:pt x="12953" y="12954"/>
                </a:lnTo>
                <a:lnTo>
                  <a:pt x="690372" y="12954"/>
                </a:lnTo>
                <a:lnTo>
                  <a:pt x="690372" y="6095"/>
                </a:lnTo>
                <a:lnTo>
                  <a:pt x="697229" y="12954"/>
                </a:lnTo>
                <a:lnTo>
                  <a:pt x="697229" y="508254"/>
                </a:lnTo>
                <a:lnTo>
                  <a:pt x="703326" y="508254"/>
                </a:lnTo>
                <a:close/>
              </a:path>
              <a:path w="703579" h="508635">
                <a:moveTo>
                  <a:pt x="12953" y="12954"/>
                </a:moveTo>
                <a:lnTo>
                  <a:pt x="12953" y="6095"/>
                </a:lnTo>
                <a:lnTo>
                  <a:pt x="6096" y="12954"/>
                </a:lnTo>
                <a:lnTo>
                  <a:pt x="12953" y="12954"/>
                </a:lnTo>
                <a:close/>
              </a:path>
              <a:path w="703579" h="508635">
                <a:moveTo>
                  <a:pt x="12953" y="495300"/>
                </a:moveTo>
                <a:lnTo>
                  <a:pt x="12953" y="12954"/>
                </a:lnTo>
                <a:lnTo>
                  <a:pt x="6096" y="12954"/>
                </a:lnTo>
                <a:lnTo>
                  <a:pt x="6096" y="495300"/>
                </a:lnTo>
                <a:lnTo>
                  <a:pt x="12953" y="495300"/>
                </a:lnTo>
                <a:close/>
              </a:path>
              <a:path w="703579" h="508635">
                <a:moveTo>
                  <a:pt x="697229" y="495300"/>
                </a:moveTo>
                <a:lnTo>
                  <a:pt x="6096" y="495300"/>
                </a:lnTo>
                <a:lnTo>
                  <a:pt x="12953" y="501395"/>
                </a:lnTo>
                <a:lnTo>
                  <a:pt x="12953" y="508254"/>
                </a:lnTo>
                <a:lnTo>
                  <a:pt x="690372" y="508254"/>
                </a:lnTo>
                <a:lnTo>
                  <a:pt x="690372" y="501395"/>
                </a:lnTo>
                <a:lnTo>
                  <a:pt x="697229" y="495300"/>
                </a:lnTo>
                <a:close/>
              </a:path>
              <a:path w="703579" h="508635">
                <a:moveTo>
                  <a:pt x="12953" y="508254"/>
                </a:moveTo>
                <a:lnTo>
                  <a:pt x="12953" y="501395"/>
                </a:lnTo>
                <a:lnTo>
                  <a:pt x="6096" y="495300"/>
                </a:lnTo>
                <a:lnTo>
                  <a:pt x="6096" y="508254"/>
                </a:lnTo>
                <a:lnTo>
                  <a:pt x="12953" y="508254"/>
                </a:lnTo>
                <a:close/>
              </a:path>
              <a:path w="703579" h="508635">
                <a:moveTo>
                  <a:pt x="697229" y="12954"/>
                </a:moveTo>
                <a:lnTo>
                  <a:pt x="690372" y="6095"/>
                </a:lnTo>
                <a:lnTo>
                  <a:pt x="690372" y="12954"/>
                </a:lnTo>
                <a:lnTo>
                  <a:pt x="697229" y="12954"/>
                </a:lnTo>
                <a:close/>
              </a:path>
              <a:path w="703579" h="508635">
                <a:moveTo>
                  <a:pt x="697229" y="495300"/>
                </a:moveTo>
                <a:lnTo>
                  <a:pt x="697229" y="12954"/>
                </a:lnTo>
                <a:lnTo>
                  <a:pt x="690372" y="12954"/>
                </a:lnTo>
                <a:lnTo>
                  <a:pt x="690372" y="495300"/>
                </a:lnTo>
                <a:lnTo>
                  <a:pt x="697229" y="495300"/>
                </a:lnTo>
                <a:close/>
              </a:path>
              <a:path w="703579" h="508635">
                <a:moveTo>
                  <a:pt x="697229" y="508254"/>
                </a:moveTo>
                <a:lnTo>
                  <a:pt x="697229" y="495300"/>
                </a:lnTo>
                <a:lnTo>
                  <a:pt x="690372" y="501395"/>
                </a:lnTo>
                <a:lnTo>
                  <a:pt x="690372" y="508254"/>
                </a:lnTo>
                <a:lnTo>
                  <a:pt x="697229" y="508254"/>
                </a:lnTo>
                <a:close/>
              </a:path>
            </a:pathLst>
          </a:custGeom>
          <a:solidFill>
            <a:srgbClr val="000000"/>
          </a:solidFill>
        </p:spPr>
        <p:txBody>
          <a:bodyPr wrap="square" lIns="0" tIns="0" rIns="0" bIns="0" rtlCol="0"/>
          <a:lstStyle/>
          <a:p>
            <a:endParaRPr/>
          </a:p>
        </p:txBody>
      </p:sp>
      <p:sp>
        <p:nvSpPr>
          <p:cNvPr id="373" name="object 373"/>
          <p:cNvSpPr txBox="1"/>
          <p:nvPr/>
        </p:nvSpPr>
        <p:spPr>
          <a:xfrm>
            <a:off x="7740651" y="2543810"/>
            <a:ext cx="504190" cy="330835"/>
          </a:xfrm>
          <a:prstGeom prst="rect">
            <a:avLst/>
          </a:prstGeom>
        </p:spPr>
        <p:txBody>
          <a:bodyPr vert="horz" wrap="square" lIns="0" tIns="12700" rIns="0" bIns="0" rtlCol="0">
            <a:spAutoFit/>
          </a:bodyPr>
          <a:lstStyle/>
          <a:p>
            <a:pPr marL="12700" marR="5080" indent="12065">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a:t>
            </a:r>
            <a:endParaRPr sz="1000">
              <a:latin typeface="Tahoma"/>
              <a:cs typeface="Tahoma"/>
            </a:endParaRPr>
          </a:p>
        </p:txBody>
      </p:sp>
      <p:sp>
        <p:nvSpPr>
          <p:cNvPr id="374" name="object 374"/>
          <p:cNvSpPr txBox="1"/>
          <p:nvPr/>
        </p:nvSpPr>
        <p:spPr>
          <a:xfrm>
            <a:off x="7756647" y="2848608"/>
            <a:ext cx="47117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Tahoma"/>
                <a:cs typeface="Tahoma"/>
              </a:rPr>
              <a:t>physical</a:t>
            </a:r>
            <a:endParaRPr sz="1000">
              <a:latin typeface="Tahoma"/>
              <a:cs typeface="Tahoma"/>
            </a:endParaRPr>
          </a:p>
        </p:txBody>
      </p:sp>
      <p:sp>
        <p:nvSpPr>
          <p:cNvPr id="375" name="object 375"/>
          <p:cNvSpPr/>
          <p:nvPr/>
        </p:nvSpPr>
        <p:spPr>
          <a:xfrm>
            <a:off x="7640574" y="2857119"/>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76" name="object 376"/>
          <p:cNvSpPr/>
          <p:nvPr/>
        </p:nvSpPr>
        <p:spPr>
          <a:xfrm>
            <a:off x="7650479" y="2704719"/>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77" name="object 377"/>
          <p:cNvSpPr/>
          <p:nvPr/>
        </p:nvSpPr>
        <p:spPr>
          <a:xfrm>
            <a:off x="7463027" y="3704082"/>
            <a:ext cx="676275" cy="485775"/>
          </a:xfrm>
          <a:custGeom>
            <a:avLst/>
            <a:gdLst/>
            <a:ahLst/>
            <a:cxnLst/>
            <a:rect l="l" t="t" r="r" b="b"/>
            <a:pathLst>
              <a:path w="676275" h="485775">
                <a:moveTo>
                  <a:pt x="0" y="0"/>
                </a:moveTo>
                <a:lnTo>
                  <a:pt x="0" y="485393"/>
                </a:lnTo>
                <a:lnTo>
                  <a:pt x="675894" y="485393"/>
                </a:lnTo>
                <a:lnTo>
                  <a:pt x="675894" y="0"/>
                </a:lnTo>
                <a:lnTo>
                  <a:pt x="0" y="0"/>
                </a:lnTo>
                <a:close/>
              </a:path>
            </a:pathLst>
          </a:custGeom>
          <a:solidFill>
            <a:srgbClr val="3333CC"/>
          </a:solidFill>
        </p:spPr>
        <p:txBody>
          <a:bodyPr wrap="square" lIns="0" tIns="0" rIns="0" bIns="0" rtlCol="0"/>
          <a:lstStyle/>
          <a:p>
            <a:endParaRPr/>
          </a:p>
        </p:txBody>
      </p:sp>
      <p:sp>
        <p:nvSpPr>
          <p:cNvPr id="378" name="object 378"/>
          <p:cNvSpPr/>
          <p:nvPr/>
        </p:nvSpPr>
        <p:spPr>
          <a:xfrm>
            <a:off x="7420355" y="3737609"/>
            <a:ext cx="690880" cy="495300"/>
          </a:xfrm>
          <a:custGeom>
            <a:avLst/>
            <a:gdLst/>
            <a:ahLst/>
            <a:cxnLst/>
            <a:rect l="l" t="t" r="r" b="b"/>
            <a:pathLst>
              <a:path w="690879" h="495300">
                <a:moveTo>
                  <a:pt x="0" y="0"/>
                </a:moveTo>
                <a:lnTo>
                  <a:pt x="0" y="495300"/>
                </a:lnTo>
                <a:lnTo>
                  <a:pt x="690372" y="495300"/>
                </a:lnTo>
                <a:lnTo>
                  <a:pt x="690372" y="0"/>
                </a:lnTo>
                <a:lnTo>
                  <a:pt x="0" y="0"/>
                </a:lnTo>
                <a:close/>
              </a:path>
            </a:pathLst>
          </a:custGeom>
          <a:solidFill>
            <a:srgbClr val="FFFFFF"/>
          </a:solidFill>
        </p:spPr>
        <p:txBody>
          <a:bodyPr wrap="square" lIns="0" tIns="0" rIns="0" bIns="0" rtlCol="0"/>
          <a:lstStyle/>
          <a:p>
            <a:endParaRPr/>
          </a:p>
        </p:txBody>
      </p:sp>
      <p:sp>
        <p:nvSpPr>
          <p:cNvPr id="379" name="object 379"/>
          <p:cNvSpPr/>
          <p:nvPr/>
        </p:nvSpPr>
        <p:spPr>
          <a:xfrm>
            <a:off x="7413498" y="3730752"/>
            <a:ext cx="703580" cy="508634"/>
          </a:xfrm>
          <a:custGeom>
            <a:avLst/>
            <a:gdLst/>
            <a:ahLst/>
            <a:cxnLst/>
            <a:rect l="l" t="t" r="r" b="b"/>
            <a:pathLst>
              <a:path w="703579" h="508635">
                <a:moveTo>
                  <a:pt x="703326" y="508253"/>
                </a:moveTo>
                <a:lnTo>
                  <a:pt x="703326" y="0"/>
                </a:lnTo>
                <a:lnTo>
                  <a:pt x="0" y="0"/>
                </a:lnTo>
                <a:lnTo>
                  <a:pt x="0" y="508253"/>
                </a:lnTo>
                <a:lnTo>
                  <a:pt x="6857" y="508253"/>
                </a:lnTo>
                <a:lnTo>
                  <a:pt x="6857" y="12953"/>
                </a:lnTo>
                <a:lnTo>
                  <a:pt x="12953" y="6858"/>
                </a:lnTo>
                <a:lnTo>
                  <a:pt x="12953" y="12953"/>
                </a:lnTo>
                <a:lnTo>
                  <a:pt x="690372" y="12953"/>
                </a:lnTo>
                <a:lnTo>
                  <a:pt x="690372" y="6858"/>
                </a:lnTo>
                <a:lnTo>
                  <a:pt x="697229" y="12953"/>
                </a:lnTo>
                <a:lnTo>
                  <a:pt x="697229" y="508253"/>
                </a:lnTo>
                <a:lnTo>
                  <a:pt x="703326" y="508253"/>
                </a:lnTo>
                <a:close/>
              </a:path>
              <a:path w="703579" h="508635">
                <a:moveTo>
                  <a:pt x="12953" y="12953"/>
                </a:moveTo>
                <a:lnTo>
                  <a:pt x="12953" y="6858"/>
                </a:lnTo>
                <a:lnTo>
                  <a:pt x="6857" y="12953"/>
                </a:lnTo>
                <a:lnTo>
                  <a:pt x="12953" y="12953"/>
                </a:lnTo>
                <a:close/>
              </a:path>
              <a:path w="703579" h="508635">
                <a:moveTo>
                  <a:pt x="12953" y="495300"/>
                </a:moveTo>
                <a:lnTo>
                  <a:pt x="12953" y="12953"/>
                </a:lnTo>
                <a:lnTo>
                  <a:pt x="6857" y="12953"/>
                </a:lnTo>
                <a:lnTo>
                  <a:pt x="6857" y="495300"/>
                </a:lnTo>
                <a:lnTo>
                  <a:pt x="12953" y="495300"/>
                </a:lnTo>
                <a:close/>
              </a:path>
              <a:path w="703579" h="508635">
                <a:moveTo>
                  <a:pt x="697229" y="495300"/>
                </a:moveTo>
                <a:lnTo>
                  <a:pt x="6857" y="495300"/>
                </a:lnTo>
                <a:lnTo>
                  <a:pt x="12953" y="502158"/>
                </a:lnTo>
                <a:lnTo>
                  <a:pt x="12953" y="508253"/>
                </a:lnTo>
                <a:lnTo>
                  <a:pt x="690372" y="508253"/>
                </a:lnTo>
                <a:lnTo>
                  <a:pt x="690372" y="502158"/>
                </a:lnTo>
                <a:lnTo>
                  <a:pt x="697229" y="495300"/>
                </a:lnTo>
                <a:close/>
              </a:path>
              <a:path w="703579" h="508635">
                <a:moveTo>
                  <a:pt x="12953" y="508253"/>
                </a:moveTo>
                <a:lnTo>
                  <a:pt x="12953" y="502158"/>
                </a:lnTo>
                <a:lnTo>
                  <a:pt x="6857" y="495300"/>
                </a:lnTo>
                <a:lnTo>
                  <a:pt x="6857" y="508253"/>
                </a:lnTo>
                <a:lnTo>
                  <a:pt x="12953" y="508253"/>
                </a:lnTo>
                <a:close/>
              </a:path>
              <a:path w="703579" h="508635">
                <a:moveTo>
                  <a:pt x="697229" y="12953"/>
                </a:moveTo>
                <a:lnTo>
                  <a:pt x="690372" y="6858"/>
                </a:lnTo>
                <a:lnTo>
                  <a:pt x="690372" y="12953"/>
                </a:lnTo>
                <a:lnTo>
                  <a:pt x="697229" y="12953"/>
                </a:lnTo>
                <a:close/>
              </a:path>
              <a:path w="703579" h="508635">
                <a:moveTo>
                  <a:pt x="697229" y="495300"/>
                </a:moveTo>
                <a:lnTo>
                  <a:pt x="697229" y="12953"/>
                </a:lnTo>
                <a:lnTo>
                  <a:pt x="690372" y="12953"/>
                </a:lnTo>
                <a:lnTo>
                  <a:pt x="690372" y="495300"/>
                </a:lnTo>
                <a:lnTo>
                  <a:pt x="697229" y="495300"/>
                </a:lnTo>
                <a:close/>
              </a:path>
              <a:path w="703579" h="508635">
                <a:moveTo>
                  <a:pt x="697229" y="508253"/>
                </a:moveTo>
                <a:lnTo>
                  <a:pt x="697229" y="495300"/>
                </a:lnTo>
                <a:lnTo>
                  <a:pt x="690372" y="502158"/>
                </a:lnTo>
                <a:lnTo>
                  <a:pt x="690372" y="508253"/>
                </a:lnTo>
                <a:lnTo>
                  <a:pt x="697229" y="508253"/>
                </a:lnTo>
                <a:close/>
              </a:path>
            </a:pathLst>
          </a:custGeom>
          <a:solidFill>
            <a:srgbClr val="000000"/>
          </a:solidFill>
        </p:spPr>
        <p:txBody>
          <a:bodyPr wrap="square" lIns="0" tIns="0" rIns="0" bIns="0" rtlCol="0"/>
          <a:lstStyle/>
          <a:p>
            <a:endParaRPr/>
          </a:p>
        </p:txBody>
      </p:sp>
      <p:sp>
        <p:nvSpPr>
          <p:cNvPr id="380" name="object 380"/>
          <p:cNvSpPr txBox="1"/>
          <p:nvPr/>
        </p:nvSpPr>
        <p:spPr>
          <a:xfrm>
            <a:off x="7515098" y="3731005"/>
            <a:ext cx="504190" cy="330835"/>
          </a:xfrm>
          <a:prstGeom prst="rect">
            <a:avLst/>
          </a:prstGeom>
        </p:spPr>
        <p:txBody>
          <a:bodyPr vert="horz" wrap="square" lIns="0" tIns="12700" rIns="0" bIns="0" rtlCol="0">
            <a:spAutoFit/>
          </a:bodyPr>
          <a:lstStyle/>
          <a:p>
            <a:pPr marL="12700" marR="5080" indent="12065">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a:t>
            </a:r>
            <a:endParaRPr sz="1000">
              <a:latin typeface="Tahoma"/>
              <a:cs typeface="Tahoma"/>
            </a:endParaRPr>
          </a:p>
        </p:txBody>
      </p:sp>
      <p:sp>
        <p:nvSpPr>
          <p:cNvPr id="381" name="object 381"/>
          <p:cNvSpPr txBox="1"/>
          <p:nvPr/>
        </p:nvSpPr>
        <p:spPr>
          <a:xfrm>
            <a:off x="7531094" y="4035804"/>
            <a:ext cx="47117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Tahoma"/>
                <a:cs typeface="Tahoma"/>
              </a:rPr>
              <a:t>physical</a:t>
            </a:r>
            <a:endParaRPr sz="1000">
              <a:latin typeface="Tahoma"/>
              <a:cs typeface="Tahoma"/>
            </a:endParaRPr>
          </a:p>
        </p:txBody>
      </p:sp>
      <p:sp>
        <p:nvSpPr>
          <p:cNvPr id="382" name="object 382"/>
          <p:cNvSpPr/>
          <p:nvPr/>
        </p:nvSpPr>
        <p:spPr>
          <a:xfrm>
            <a:off x="7415022" y="4044315"/>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83" name="object 383"/>
          <p:cNvSpPr/>
          <p:nvPr/>
        </p:nvSpPr>
        <p:spPr>
          <a:xfrm>
            <a:off x="7424927" y="3891915"/>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84" name="object 384"/>
          <p:cNvSpPr/>
          <p:nvPr/>
        </p:nvSpPr>
        <p:spPr>
          <a:xfrm>
            <a:off x="8050529" y="4208526"/>
            <a:ext cx="676275" cy="486409"/>
          </a:xfrm>
          <a:custGeom>
            <a:avLst/>
            <a:gdLst/>
            <a:ahLst/>
            <a:cxnLst/>
            <a:rect l="l" t="t" r="r" b="b"/>
            <a:pathLst>
              <a:path w="676275" h="486410">
                <a:moveTo>
                  <a:pt x="0" y="0"/>
                </a:moveTo>
                <a:lnTo>
                  <a:pt x="0" y="486155"/>
                </a:lnTo>
                <a:lnTo>
                  <a:pt x="675894" y="486155"/>
                </a:lnTo>
                <a:lnTo>
                  <a:pt x="675894" y="0"/>
                </a:lnTo>
                <a:lnTo>
                  <a:pt x="0" y="0"/>
                </a:lnTo>
                <a:close/>
              </a:path>
            </a:pathLst>
          </a:custGeom>
          <a:solidFill>
            <a:srgbClr val="3333CC"/>
          </a:solidFill>
        </p:spPr>
        <p:txBody>
          <a:bodyPr wrap="square" lIns="0" tIns="0" rIns="0" bIns="0" rtlCol="0"/>
          <a:lstStyle/>
          <a:p>
            <a:endParaRPr/>
          </a:p>
        </p:txBody>
      </p:sp>
      <p:sp>
        <p:nvSpPr>
          <p:cNvPr id="385" name="object 385"/>
          <p:cNvSpPr/>
          <p:nvPr/>
        </p:nvSpPr>
        <p:spPr>
          <a:xfrm>
            <a:off x="8007096" y="4242053"/>
            <a:ext cx="691515" cy="495300"/>
          </a:xfrm>
          <a:custGeom>
            <a:avLst/>
            <a:gdLst/>
            <a:ahLst/>
            <a:cxnLst/>
            <a:rect l="l" t="t" r="r" b="b"/>
            <a:pathLst>
              <a:path w="691515" h="495300">
                <a:moveTo>
                  <a:pt x="0" y="0"/>
                </a:moveTo>
                <a:lnTo>
                  <a:pt x="0" y="495300"/>
                </a:lnTo>
                <a:lnTo>
                  <a:pt x="691133" y="495300"/>
                </a:lnTo>
                <a:lnTo>
                  <a:pt x="691133" y="0"/>
                </a:lnTo>
                <a:lnTo>
                  <a:pt x="0" y="0"/>
                </a:lnTo>
                <a:close/>
              </a:path>
            </a:pathLst>
          </a:custGeom>
          <a:solidFill>
            <a:srgbClr val="FFFFFF"/>
          </a:solidFill>
        </p:spPr>
        <p:txBody>
          <a:bodyPr wrap="square" lIns="0" tIns="0" rIns="0" bIns="0" rtlCol="0"/>
          <a:lstStyle/>
          <a:p>
            <a:endParaRPr/>
          </a:p>
        </p:txBody>
      </p:sp>
      <p:sp>
        <p:nvSpPr>
          <p:cNvPr id="386" name="object 386"/>
          <p:cNvSpPr/>
          <p:nvPr/>
        </p:nvSpPr>
        <p:spPr>
          <a:xfrm>
            <a:off x="8001000" y="4235958"/>
            <a:ext cx="703580" cy="508000"/>
          </a:xfrm>
          <a:custGeom>
            <a:avLst/>
            <a:gdLst/>
            <a:ahLst/>
            <a:cxnLst/>
            <a:rect l="l" t="t" r="r" b="b"/>
            <a:pathLst>
              <a:path w="703579" h="508000">
                <a:moveTo>
                  <a:pt x="703326" y="507491"/>
                </a:moveTo>
                <a:lnTo>
                  <a:pt x="703326" y="0"/>
                </a:lnTo>
                <a:lnTo>
                  <a:pt x="0" y="0"/>
                </a:lnTo>
                <a:lnTo>
                  <a:pt x="0" y="507491"/>
                </a:lnTo>
                <a:lnTo>
                  <a:pt x="6096" y="507491"/>
                </a:lnTo>
                <a:lnTo>
                  <a:pt x="6096" y="12191"/>
                </a:lnTo>
                <a:lnTo>
                  <a:pt x="12953" y="6095"/>
                </a:lnTo>
                <a:lnTo>
                  <a:pt x="12953" y="12191"/>
                </a:lnTo>
                <a:lnTo>
                  <a:pt x="690372" y="12191"/>
                </a:lnTo>
                <a:lnTo>
                  <a:pt x="690372" y="6095"/>
                </a:lnTo>
                <a:lnTo>
                  <a:pt x="697229" y="12191"/>
                </a:lnTo>
                <a:lnTo>
                  <a:pt x="697229" y="507491"/>
                </a:lnTo>
                <a:lnTo>
                  <a:pt x="703326" y="507491"/>
                </a:lnTo>
                <a:close/>
              </a:path>
              <a:path w="703579" h="508000">
                <a:moveTo>
                  <a:pt x="12953" y="12191"/>
                </a:moveTo>
                <a:lnTo>
                  <a:pt x="12953" y="6095"/>
                </a:lnTo>
                <a:lnTo>
                  <a:pt x="6096" y="12191"/>
                </a:lnTo>
                <a:lnTo>
                  <a:pt x="12953" y="12191"/>
                </a:lnTo>
                <a:close/>
              </a:path>
              <a:path w="703579" h="508000">
                <a:moveTo>
                  <a:pt x="12953" y="495300"/>
                </a:moveTo>
                <a:lnTo>
                  <a:pt x="12953" y="12191"/>
                </a:lnTo>
                <a:lnTo>
                  <a:pt x="6096" y="12191"/>
                </a:lnTo>
                <a:lnTo>
                  <a:pt x="6096" y="495300"/>
                </a:lnTo>
                <a:lnTo>
                  <a:pt x="12953" y="495300"/>
                </a:lnTo>
                <a:close/>
              </a:path>
              <a:path w="703579" h="508000">
                <a:moveTo>
                  <a:pt x="697229" y="495300"/>
                </a:moveTo>
                <a:lnTo>
                  <a:pt x="6096" y="495300"/>
                </a:lnTo>
                <a:lnTo>
                  <a:pt x="12953" y="501395"/>
                </a:lnTo>
                <a:lnTo>
                  <a:pt x="12953" y="507491"/>
                </a:lnTo>
                <a:lnTo>
                  <a:pt x="690372" y="507491"/>
                </a:lnTo>
                <a:lnTo>
                  <a:pt x="690372" y="501395"/>
                </a:lnTo>
                <a:lnTo>
                  <a:pt x="697229" y="495300"/>
                </a:lnTo>
                <a:close/>
              </a:path>
              <a:path w="703579" h="508000">
                <a:moveTo>
                  <a:pt x="12953" y="507491"/>
                </a:moveTo>
                <a:lnTo>
                  <a:pt x="12953" y="501395"/>
                </a:lnTo>
                <a:lnTo>
                  <a:pt x="6096" y="495300"/>
                </a:lnTo>
                <a:lnTo>
                  <a:pt x="6096" y="507491"/>
                </a:lnTo>
                <a:lnTo>
                  <a:pt x="12953" y="507491"/>
                </a:lnTo>
                <a:close/>
              </a:path>
              <a:path w="703579" h="508000">
                <a:moveTo>
                  <a:pt x="697229" y="12191"/>
                </a:moveTo>
                <a:lnTo>
                  <a:pt x="690372" y="6095"/>
                </a:lnTo>
                <a:lnTo>
                  <a:pt x="690372" y="12191"/>
                </a:lnTo>
                <a:lnTo>
                  <a:pt x="697229" y="12191"/>
                </a:lnTo>
                <a:close/>
              </a:path>
              <a:path w="703579" h="508000">
                <a:moveTo>
                  <a:pt x="697229" y="495300"/>
                </a:moveTo>
                <a:lnTo>
                  <a:pt x="697229" y="12191"/>
                </a:lnTo>
                <a:lnTo>
                  <a:pt x="690372" y="12191"/>
                </a:lnTo>
                <a:lnTo>
                  <a:pt x="690372" y="495300"/>
                </a:lnTo>
                <a:lnTo>
                  <a:pt x="697229" y="495300"/>
                </a:lnTo>
                <a:close/>
              </a:path>
              <a:path w="703579" h="508000">
                <a:moveTo>
                  <a:pt x="697229" y="507491"/>
                </a:moveTo>
                <a:lnTo>
                  <a:pt x="697229" y="495300"/>
                </a:lnTo>
                <a:lnTo>
                  <a:pt x="690372" y="501395"/>
                </a:lnTo>
                <a:lnTo>
                  <a:pt x="690372" y="507491"/>
                </a:lnTo>
                <a:lnTo>
                  <a:pt x="697229" y="507491"/>
                </a:lnTo>
                <a:close/>
              </a:path>
            </a:pathLst>
          </a:custGeom>
          <a:solidFill>
            <a:srgbClr val="000000"/>
          </a:solidFill>
        </p:spPr>
        <p:txBody>
          <a:bodyPr wrap="square" lIns="0" tIns="0" rIns="0" bIns="0" rtlCol="0"/>
          <a:lstStyle/>
          <a:p>
            <a:endParaRPr/>
          </a:p>
        </p:txBody>
      </p:sp>
      <p:sp>
        <p:nvSpPr>
          <p:cNvPr id="387" name="object 387"/>
          <p:cNvSpPr txBox="1"/>
          <p:nvPr/>
        </p:nvSpPr>
        <p:spPr>
          <a:xfrm>
            <a:off x="8102601" y="4236211"/>
            <a:ext cx="504190" cy="330835"/>
          </a:xfrm>
          <a:prstGeom prst="rect">
            <a:avLst/>
          </a:prstGeom>
        </p:spPr>
        <p:txBody>
          <a:bodyPr vert="horz" wrap="square" lIns="0" tIns="12700" rIns="0" bIns="0" rtlCol="0">
            <a:spAutoFit/>
          </a:bodyPr>
          <a:lstStyle/>
          <a:p>
            <a:pPr marL="12700" marR="5080" indent="12065">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a:t>
            </a:r>
            <a:endParaRPr sz="1000">
              <a:latin typeface="Tahoma"/>
              <a:cs typeface="Tahoma"/>
            </a:endParaRPr>
          </a:p>
        </p:txBody>
      </p:sp>
      <p:sp>
        <p:nvSpPr>
          <p:cNvPr id="388" name="object 388"/>
          <p:cNvSpPr txBox="1"/>
          <p:nvPr/>
        </p:nvSpPr>
        <p:spPr>
          <a:xfrm>
            <a:off x="8189019" y="4541010"/>
            <a:ext cx="40132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Tahoma"/>
                <a:cs typeface="Tahoma"/>
              </a:rPr>
              <a:t>hysical</a:t>
            </a:r>
            <a:endParaRPr sz="1000">
              <a:latin typeface="Tahoma"/>
              <a:cs typeface="Tahoma"/>
            </a:endParaRPr>
          </a:p>
        </p:txBody>
      </p:sp>
      <p:sp>
        <p:nvSpPr>
          <p:cNvPr id="389" name="object 389"/>
          <p:cNvSpPr txBox="1"/>
          <p:nvPr/>
        </p:nvSpPr>
        <p:spPr>
          <a:xfrm>
            <a:off x="8131309" y="4553648"/>
            <a:ext cx="70485" cy="153670"/>
          </a:xfrm>
          <a:prstGeom prst="rect">
            <a:avLst/>
          </a:prstGeom>
        </p:spPr>
        <p:txBody>
          <a:bodyPr vert="horz" wrap="square" lIns="0" tIns="0" rIns="0" bIns="0" rtlCol="0">
            <a:spAutoFit/>
          </a:bodyPr>
          <a:lstStyle/>
          <a:p>
            <a:pPr>
              <a:lnSpc>
                <a:spcPct val="100000"/>
              </a:lnSpc>
            </a:pPr>
            <a:r>
              <a:rPr sz="1000" dirty="0">
                <a:latin typeface="Tahoma"/>
                <a:cs typeface="Tahoma"/>
              </a:rPr>
              <a:t>p</a:t>
            </a:r>
            <a:endParaRPr sz="1000">
              <a:latin typeface="Tahoma"/>
              <a:cs typeface="Tahoma"/>
            </a:endParaRPr>
          </a:p>
        </p:txBody>
      </p:sp>
      <p:sp>
        <p:nvSpPr>
          <p:cNvPr id="390" name="object 390"/>
          <p:cNvSpPr/>
          <p:nvPr/>
        </p:nvSpPr>
        <p:spPr>
          <a:xfrm>
            <a:off x="8002524" y="4549521"/>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91" name="object 391"/>
          <p:cNvSpPr/>
          <p:nvPr/>
        </p:nvSpPr>
        <p:spPr>
          <a:xfrm>
            <a:off x="8012429" y="4397121"/>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92" name="object 392"/>
          <p:cNvSpPr/>
          <p:nvPr/>
        </p:nvSpPr>
        <p:spPr>
          <a:xfrm>
            <a:off x="7539227" y="4618482"/>
            <a:ext cx="676275" cy="485775"/>
          </a:xfrm>
          <a:custGeom>
            <a:avLst/>
            <a:gdLst/>
            <a:ahLst/>
            <a:cxnLst/>
            <a:rect l="l" t="t" r="r" b="b"/>
            <a:pathLst>
              <a:path w="676275" h="485775">
                <a:moveTo>
                  <a:pt x="0" y="0"/>
                </a:moveTo>
                <a:lnTo>
                  <a:pt x="0" y="485393"/>
                </a:lnTo>
                <a:lnTo>
                  <a:pt x="675894" y="485393"/>
                </a:lnTo>
                <a:lnTo>
                  <a:pt x="675894" y="0"/>
                </a:lnTo>
                <a:lnTo>
                  <a:pt x="0" y="0"/>
                </a:lnTo>
                <a:close/>
              </a:path>
            </a:pathLst>
          </a:custGeom>
          <a:solidFill>
            <a:srgbClr val="3333CC"/>
          </a:solidFill>
        </p:spPr>
        <p:txBody>
          <a:bodyPr wrap="square" lIns="0" tIns="0" rIns="0" bIns="0" rtlCol="0"/>
          <a:lstStyle/>
          <a:p>
            <a:endParaRPr/>
          </a:p>
        </p:txBody>
      </p:sp>
      <p:sp>
        <p:nvSpPr>
          <p:cNvPr id="393" name="object 393"/>
          <p:cNvSpPr/>
          <p:nvPr/>
        </p:nvSpPr>
        <p:spPr>
          <a:xfrm>
            <a:off x="7496555" y="4652009"/>
            <a:ext cx="690880" cy="495300"/>
          </a:xfrm>
          <a:custGeom>
            <a:avLst/>
            <a:gdLst/>
            <a:ahLst/>
            <a:cxnLst/>
            <a:rect l="l" t="t" r="r" b="b"/>
            <a:pathLst>
              <a:path w="690879" h="495300">
                <a:moveTo>
                  <a:pt x="0" y="0"/>
                </a:moveTo>
                <a:lnTo>
                  <a:pt x="0" y="495300"/>
                </a:lnTo>
                <a:lnTo>
                  <a:pt x="690372" y="495300"/>
                </a:lnTo>
                <a:lnTo>
                  <a:pt x="690372" y="0"/>
                </a:lnTo>
                <a:lnTo>
                  <a:pt x="0" y="0"/>
                </a:lnTo>
                <a:close/>
              </a:path>
            </a:pathLst>
          </a:custGeom>
          <a:solidFill>
            <a:srgbClr val="FFFFFF"/>
          </a:solidFill>
        </p:spPr>
        <p:txBody>
          <a:bodyPr wrap="square" lIns="0" tIns="0" rIns="0" bIns="0" rtlCol="0"/>
          <a:lstStyle/>
          <a:p>
            <a:endParaRPr/>
          </a:p>
        </p:txBody>
      </p:sp>
      <p:sp>
        <p:nvSpPr>
          <p:cNvPr id="394" name="object 394"/>
          <p:cNvSpPr/>
          <p:nvPr/>
        </p:nvSpPr>
        <p:spPr>
          <a:xfrm>
            <a:off x="7489698" y="4645152"/>
            <a:ext cx="703580" cy="508634"/>
          </a:xfrm>
          <a:custGeom>
            <a:avLst/>
            <a:gdLst/>
            <a:ahLst/>
            <a:cxnLst/>
            <a:rect l="l" t="t" r="r" b="b"/>
            <a:pathLst>
              <a:path w="703579" h="508635">
                <a:moveTo>
                  <a:pt x="703326" y="508253"/>
                </a:moveTo>
                <a:lnTo>
                  <a:pt x="703326" y="0"/>
                </a:lnTo>
                <a:lnTo>
                  <a:pt x="0" y="0"/>
                </a:lnTo>
                <a:lnTo>
                  <a:pt x="0" y="508253"/>
                </a:lnTo>
                <a:lnTo>
                  <a:pt x="6857" y="508253"/>
                </a:lnTo>
                <a:lnTo>
                  <a:pt x="6857" y="12953"/>
                </a:lnTo>
                <a:lnTo>
                  <a:pt x="12953" y="6858"/>
                </a:lnTo>
                <a:lnTo>
                  <a:pt x="12953" y="12953"/>
                </a:lnTo>
                <a:lnTo>
                  <a:pt x="690372" y="12953"/>
                </a:lnTo>
                <a:lnTo>
                  <a:pt x="690372" y="6858"/>
                </a:lnTo>
                <a:lnTo>
                  <a:pt x="697229" y="12953"/>
                </a:lnTo>
                <a:lnTo>
                  <a:pt x="697229" y="508253"/>
                </a:lnTo>
                <a:lnTo>
                  <a:pt x="703326" y="508253"/>
                </a:lnTo>
                <a:close/>
              </a:path>
              <a:path w="703579" h="508635">
                <a:moveTo>
                  <a:pt x="12953" y="12953"/>
                </a:moveTo>
                <a:lnTo>
                  <a:pt x="12953" y="6858"/>
                </a:lnTo>
                <a:lnTo>
                  <a:pt x="6857" y="12953"/>
                </a:lnTo>
                <a:lnTo>
                  <a:pt x="12953" y="12953"/>
                </a:lnTo>
                <a:close/>
              </a:path>
              <a:path w="703579" h="508635">
                <a:moveTo>
                  <a:pt x="12953" y="495300"/>
                </a:moveTo>
                <a:lnTo>
                  <a:pt x="12953" y="12953"/>
                </a:lnTo>
                <a:lnTo>
                  <a:pt x="6857" y="12953"/>
                </a:lnTo>
                <a:lnTo>
                  <a:pt x="6857" y="495300"/>
                </a:lnTo>
                <a:lnTo>
                  <a:pt x="12953" y="495300"/>
                </a:lnTo>
                <a:close/>
              </a:path>
              <a:path w="703579" h="508635">
                <a:moveTo>
                  <a:pt x="697229" y="495300"/>
                </a:moveTo>
                <a:lnTo>
                  <a:pt x="6857" y="495300"/>
                </a:lnTo>
                <a:lnTo>
                  <a:pt x="12953" y="502158"/>
                </a:lnTo>
                <a:lnTo>
                  <a:pt x="12953" y="508253"/>
                </a:lnTo>
                <a:lnTo>
                  <a:pt x="690372" y="508253"/>
                </a:lnTo>
                <a:lnTo>
                  <a:pt x="690372" y="502158"/>
                </a:lnTo>
                <a:lnTo>
                  <a:pt x="697229" y="495300"/>
                </a:lnTo>
                <a:close/>
              </a:path>
              <a:path w="703579" h="508635">
                <a:moveTo>
                  <a:pt x="12953" y="508253"/>
                </a:moveTo>
                <a:lnTo>
                  <a:pt x="12953" y="502158"/>
                </a:lnTo>
                <a:lnTo>
                  <a:pt x="6857" y="495300"/>
                </a:lnTo>
                <a:lnTo>
                  <a:pt x="6857" y="508253"/>
                </a:lnTo>
                <a:lnTo>
                  <a:pt x="12953" y="508253"/>
                </a:lnTo>
                <a:close/>
              </a:path>
              <a:path w="703579" h="508635">
                <a:moveTo>
                  <a:pt x="697229" y="12953"/>
                </a:moveTo>
                <a:lnTo>
                  <a:pt x="690372" y="6858"/>
                </a:lnTo>
                <a:lnTo>
                  <a:pt x="690372" y="12953"/>
                </a:lnTo>
                <a:lnTo>
                  <a:pt x="697229" y="12953"/>
                </a:lnTo>
                <a:close/>
              </a:path>
              <a:path w="703579" h="508635">
                <a:moveTo>
                  <a:pt x="697229" y="495300"/>
                </a:moveTo>
                <a:lnTo>
                  <a:pt x="697229" y="12953"/>
                </a:lnTo>
                <a:lnTo>
                  <a:pt x="690372" y="12953"/>
                </a:lnTo>
                <a:lnTo>
                  <a:pt x="690372" y="495300"/>
                </a:lnTo>
                <a:lnTo>
                  <a:pt x="697229" y="495300"/>
                </a:lnTo>
                <a:close/>
              </a:path>
              <a:path w="703579" h="508635">
                <a:moveTo>
                  <a:pt x="697229" y="508253"/>
                </a:moveTo>
                <a:lnTo>
                  <a:pt x="697229" y="495300"/>
                </a:lnTo>
                <a:lnTo>
                  <a:pt x="690372" y="502158"/>
                </a:lnTo>
                <a:lnTo>
                  <a:pt x="690372" y="508253"/>
                </a:lnTo>
                <a:lnTo>
                  <a:pt x="697229" y="508253"/>
                </a:lnTo>
                <a:close/>
              </a:path>
            </a:pathLst>
          </a:custGeom>
          <a:solidFill>
            <a:srgbClr val="000000"/>
          </a:solidFill>
        </p:spPr>
        <p:txBody>
          <a:bodyPr wrap="square" lIns="0" tIns="0" rIns="0" bIns="0" rtlCol="0"/>
          <a:lstStyle/>
          <a:p>
            <a:endParaRPr/>
          </a:p>
        </p:txBody>
      </p:sp>
      <p:sp>
        <p:nvSpPr>
          <p:cNvPr id="395" name="object 395"/>
          <p:cNvSpPr txBox="1"/>
          <p:nvPr/>
        </p:nvSpPr>
        <p:spPr>
          <a:xfrm>
            <a:off x="7539227" y="4645405"/>
            <a:ext cx="676275" cy="483234"/>
          </a:xfrm>
          <a:prstGeom prst="rect">
            <a:avLst/>
          </a:prstGeom>
        </p:spPr>
        <p:txBody>
          <a:bodyPr vert="horz" wrap="square" lIns="0" tIns="12700" rIns="0" bIns="0" rtlCol="0">
            <a:spAutoFit/>
          </a:bodyPr>
          <a:lstStyle/>
          <a:p>
            <a:pPr marL="64769" marR="124460" indent="12065" algn="just">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  physical</a:t>
            </a:r>
          </a:p>
        </p:txBody>
      </p:sp>
      <p:sp>
        <p:nvSpPr>
          <p:cNvPr id="396" name="object 396"/>
          <p:cNvSpPr/>
          <p:nvPr/>
        </p:nvSpPr>
        <p:spPr>
          <a:xfrm>
            <a:off x="7491222" y="4958715"/>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397" name="object 397"/>
          <p:cNvSpPr/>
          <p:nvPr/>
        </p:nvSpPr>
        <p:spPr>
          <a:xfrm>
            <a:off x="7501127" y="4806315"/>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398" name="object 398"/>
          <p:cNvSpPr/>
          <p:nvPr/>
        </p:nvSpPr>
        <p:spPr>
          <a:xfrm>
            <a:off x="8186927" y="5015484"/>
            <a:ext cx="676275" cy="485775"/>
          </a:xfrm>
          <a:custGeom>
            <a:avLst/>
            <a:gdLst/>
            <a:ahLst/>
            <a:cxnLst/>
            <a:rect l="l" t="t" r="r" b="b"/>
            <a:pathLst>
              <a:path w="676275" h="485775">
                <a:moveTo>
                  <a:pt x="0" y="0"/>
                </a:moveTo>
                <a:lnTo>
                  <a:pt x="0" y="485393"/>
                </a:lnTo>
                <a:lnTo>
                  <a:pt x="675894" y="485393"/>
                </a:lnTo>
                <a:lnTo>
                  <a:pt x="675894" y="0"/>
                </a:lnTo>
                <a:lnTo>
                  <a:pt x="0" y="0"/>
                </a:lnTo>
                <a:close/>
              </a:path>
            </a:pathLst>
          </a:custGeom>
          <a:solidFill>
            <a:srgbClr val="3333CC"/>
          </a:solidFill>
        </p:spPr>
        <p:txBody>
          <a:bodyPr wrap="square" lIns="0" tIns="0" rIns="0" bIns="0" rtlCol="0"/>
          <a:lstStyle/>
          <a:p>
            <a:endParaRPr/>
          </a:p>
        </p:txBody>
      </p:sp>
      <p:sp>
        <p:nvSpPr>
          <p:cNvPr id="399" name="object 399"/>
          <p:cNvSpPr/>
          <p:nvPr/>
        </p:nvSpPr>
        <p:spPr>
          <a:xfrm>
            <a:off x="8144255" y="5048250"/>
            <a:ext cx="690880" cy="495300"/>
          </a:xfrm>
          <a:custGeom>
            <a:avLst/>
            <a:gdLst/>
            <a:ahLst/>
            <a:cxnLst/>
            <a:rect l="l" t="t" r="r" b="b"/>
            <a:pathLst>
              <a:path w="690879" h="495300">
                <a:moveTo>
                  <a:pt x="0" y="0"/>
                </a:moveTo>
                <a:lnTo>
                  <a:pt x="0" y="495300"/>
                </a:lnTo>
                <a:lnTo>
                  <a:pt x="690372" y="495300"/>
                </a:lnTo>
                <a:lnTo>
                  <a:pt x="690372" y="0"/>
                </a:lnTo>
                <a:lnTo>
                  <a:pt x="0" y="0"/>
                </a:lnTo>
                <a:close/>
              </a:path>
            </a:pathLst>
          </a:custGeom>
          <a:solidFill>
            <a:srgbClr val="FFFFFF"/>
          </a:solidFill>
        </p:spPr>
        <p:txBody>
          <a:bodyPr wrap="square" lIns="0" tIns="0" rIns="0" bIns="0" rtlCol="0"/>
          <a:lstStyle/>
          <a:p>
            <a:endParaRPr/>
          </a:p>
        </p:txBody>
      </p:sp>
      <p:sp>
        <p:nvSpPr>
          <p:cNvPr id="400" name="object 400"/>
          <p:cNvSpPr/>
          <p:nvPr/>
        </p:nvSpPr>
        <p:spPr>
          <a:xfrm>
            <a:off x="8137398" y="5042153"/>
            <a:ext cx="703580" cy="508634"/>
          </a:xfrm>
          <a:custGeom>
            <a:avLst/>
            <a:gdLst/>
            <a:ahLst/>
            <a:cxnLst/>
            <a:rect l="l" t="t" r="r" b="b"/>
            <a:pathLst>
              <a:path w="703579" h="508635">
                <a:moveTo>
                  <a:pt x="703326" y="508253"/>
                </a:moveTo>
                <a:lnTo>
                  <a:pt x="703326" y="0"/>
                </a:lnTo>
                <a:lnTo>
                  <a:pt x="0" y="0"/>
                </a:lnTo>
                <a:lnTo>
                  <a:pt x="0" y="508253"/>
                </a:lnTo>
                <a:lnTo>
                  <a:pt x="6857" y="508253"/>
                </a:lnTo>
                <a:lnTo>
                  <a:pt x="6857" y="12953"/>
                </a:lnTo>
                <a:lnTo>
                  <a:pt x="12953" y="6095"/>
                </a:lnTo>
                <a:lnTo>
                  <a:pt x="12953" y="12953"/>
                </a:lnTo>
                <a:lnTo>
                  <a:pt x="690372" y="12953"/>
                </a:lnTo>
                <a:lnTo>
                  <a:pt x="690372" y="6095"/>
                </a:lnTo>
                <a:lnTo>
                  <a:pt x="697229" y="12953"/>
                </a:lnTo>
                <a:lnTo>
                  <a:pt x="697229" y="508253"/>
                </a:lnTo>
                <a:lnTo>
                  <a:pt x="703326" y="508253"/>
                </a:lnTo>
                <a:close/>
              </a:path>
              <a:path w="703579" h="508635">
                <a:moveTo>
                  <a:pt x="12953" y="12953"/>
                </a:moveTo>
                <a:lnTo>
                  <a:pt x="12953" y="6095"/>
                </a:lnTo>
                <a:lnTo>
                  <a:pt x="6857" y="12953"/>
                </a:lnTo>
                <a:lnTo>
                  <a:pt x="12953" y="12953"/>
                </a:lnTo>
                <a:close/>
              </a:path>
              <a:path w="703579" h="508635">
                <a:moveTo>
                  <a:pt x="12953" y="495299"/>
                </a:moveTo>
                <a:lnTo>
                  <a:pt x="12953" y="12953"/>
                </a:lnTo>
                <a:lnTo>
                  <a:pt x="6857" y="12953"/>
                </a:lnTo>
                <a:lnTo>
                  <a:pt x="6857" y="495299"/>
                </a:lnTo>
                <a:lnTo>
                  <a:pt x="12953" y="495299"/>
                </a:lnTo>
                <a:close/>
              </a:path>
              <a:path w="703579" h="508635">
                <a:moveTo>
                  <a:pt x="697229" y="495299"/>
                </a:moveTo>
                <a:lnTo>
                  <a:pt x="6857" y="495299"/>
                </a:lnTo>
                <a:lnTo>
                  <a:pt x="12953" y="501395"/>
                </a:lnTo>
                <a:lnTo>
                  <a:pt x="12953" y="508253"/>
                </a:lnTo>
                <a:lnTo>
                  <a:pt x="690372" y="508253"/>
                </a:lnTo>
                <a:lnTo>
                  <a:pt x="690372" y="501395"/>
                </a:lnTo>
                <a:lnTo>
                  <a:pt x="697229" y="495299"/>
                </a:lnTo>
                <a:close/>
              </a:path>
              <a:path w="703579" h="508635">
                <a:moveTo>
                  <a:pt x="12953" y="508253"/>
                </a:moveTo>
                <a:lnTo>
                  <a:pt x="12953" y="501395"/>
                </a:lnTo>
                <a:lnTo>
                  <a:pt x="6857" y="495299"/>
                </a:lnTo>
                <a:lnTo>
                  <a:pt x="6857" y="508253"/>
                </a:lnTo>
                <a:lnTo>
                  <a:pt x="12953" y="508253"/>
                </a:lnTo>
                <a:close/>
              </a:path>
              <a:path w="703579" h="508635">
                <a:moveTo>
                  <a:pt x="697229" y="12953"/>
                </a:moveTo>
                <a:lnTo>
                  <a:pt x="690372" y="6095"/>
                </a:lnTo>
                <a:lnTo>
                  <a:pt x="690372" y="12953"/>
                </a:lnTo>
                <a:lnTo>
                  <a:pt x="697229" y="12953"/>
                </a:lnTo>
                <a:close/>
              </a:path>
              <a:path w="703579" h="508635">
                <a:moveTo>
                  <a:pt x="697229" y="495299"/>
                </a:moveTo>
                <a:lnTo>
                  <a:pt x="697229" y="12953"/>
                </a:lnTo>
                <a:lnTo>
                  <a:pt x="690372" y="12953"/>
                </a:lnTo>
                <a:lnTo>
                  <a:pt x="690372" y="495299"/>
                </a:lnTo>
                <a:lnTo>
                  <a:pt x="697229" y="495299"/>
                </a:lnTo>
                <a:close/>
              </a:path>
              <a:path w="703579" h="508635">
                <a:moveTo>
                  <a:pt x="697229" y="508253"/>
                </a:moveTo>
                <a:lnTo>
                  <a:pt x="697229" y="495299"/>
                </a:lnTo>
                <a:lnTo>
                  <a:pt x="690372" y="501395"/>
                </a:lnTo>
                <a:lnTo>
                  <a:pt x="690372" y="508253"/>
                </a:lnTo>
                <a:lnTo>
                  <a:pt x="697229" y="508253"/>
                </a:lnTo>
                <a:close/>
              </a:path>
            </a:pathLst>
          </a:custGeom>
          <a:solidFill>
            <a:srgbClr val="000000"/>
          </a:solidFill>
        </p:spPr>
        <p:txBody>
          <a:bodyPr wrap="square" lIns="0" tIns="0" rIns="0" bIns="0" rtlCol="0"/>
          <a:lstStyle/>
          <a:p>
            <a:endParaRPr/>
          </a:p>
        </p:txBody>
      </p:sp>
      <p:sp>
        <p:nvSpPr>
          <p:cNvPr id="401" name="object 401"/>
          <p:cNvSpPr txBox="1"/>
          <p:nvPr/>
        </p:nvSpPr>
        <p:spPr>
          <a:xfrm>
            <a:off x="8215122" y="5042408"/>
            <a:ext cx="647700" cy="483234"/>
          </a:xfrm>
          <a:prstGeom prst="rect">
            <a:avLst/>
          </a:prstGeom>
        </p:spPr>
        <p:txBody>
          <a:bodyPr vert="horz" wrap="square" lIns="0" tIns="12700" rIns="0" bIns="0" rtlCol="0">
            <a:spAutoFit/>
          </a:bodyPr>
          <a:lstStyle/>
          <a:p>
            <a:pPr marL="36195" marR="124460" indent="12065" algn="just">
              <a:lnSpc>
                <a:spcPct val="100000"/>
              </a:lnSpc>
              <a:spcBef>
                <a:spcPts val="100"/>
              </a:spcBef>
            </a:pPr>
            <a:r>
              <a:rPr sz="1000" dirty="0">
                <a:latin typeface="Tahoma"/>
                <a:cs typeface="Tahoma"/>
              </a:rPr>
              <a:t>network  data</a:t>
            </a:r>
            <a:r>
              <a:rPr sz="1000" spc="-95" dirty="0">
                <a:latin typeface="Tahoma"/>
                <a:cs typeface="Tahoma"/>
              </a:rPr>
              <a:t> </a:t>
            </a:r>
            <a:r>
              <a:rPr sz="1000" dirty="0">
                <a:latin typeface="Tahoma"/>
                <a:cs typeface="Tahoma"/>
              </a:rPr>
              <a:t>link  physical</a:t>
            </a:r>
            <a:endParaRPr sz="1000">
              <a:latin typeface="Tahoma"/>
              <a:cs typeface="Tahoma"/>
            </a:endParaRPr>
          </a:p>
        </p:txBody>
      </p:sp>
      <p:sp>
        <p:nvSpPr>
          <p:cNvPr id="402" name="object 402"/>
          <p:cNvSpPr/>
          <p:nvPr/>
        </p:nvSpPr>
        <p:spPr>
          <a:xfrm>
            <a:off x="8138922" y="5355716"/>
            <a:ext cx="691515" cy="0"/>
          </a:xfrm>
          <a:custGeom>
            <a:avLst/>
            <a:gdLst/>
            <a:ahLst/>
            <a:cxnLst/>
            <a:rect l="l" t="t" r="r" b="b"/>
            <a:pathLst>
              <a:path w="691515">
                <a:moveTo>
                  <a:pt x="0" y="0"/>
                </a:moveTo>
                <a:lnTo>
                  <a:pt x="691133" y="0"/>
                </a:lnTo>
              </a:path>
            </a:pathLst>
          </a:custGeom>
          <a:ln w="17525">
            <a:solidFill>
              <a:srgbClr val="000000"/>
            </a:solidFill>
          </a:ln>
        </p:spPr>
        <p:txBody>
          <a:bodyPr wrap="square" lIns="0" tIns="0" rIns="0" bIns="0" rtlCol="0"/>
          <a:lstStyle/>
          <a:p>
            <a:endParaRPr/>
          </a:p>
        </p:txBody>
      </p:sp>
      <p:sp>
        <p:nvSpPr>
          <p:cNvPr id="403" name="object 403"/>
          <p:cNvSpPr/>
          <p:nvPr/>
        </p:nvSpPr>
        <p:spPr>
          <a:xfrm>
            <a:off x="8148827" y="5203316"/>
            <a:ext cx="690880" cy="0"/>
          </a:xfrm>
          <a:custGeom>
            <a:avLst/>
            <a:gdLst/>
            <a:ahLst/>
            <a:cxnLst/>
            <a:rect l="l" t="t" r="r" b="b"/>
            <a:pathLst>
              <a:path w="690879">
                <a:moveTo>
                  <a:pt x="0" y="0"/>
                </a:moveTo>
                <a:lnTo>
                  <a:pt x="690372" y="0"/>
                </a:lnTo>
              </a:path>
            </a:pathLst>
          </a:custGeom>
          <a:ln w="17525">
            <a:solidFill>
              <a:srgbClr val="000000"/>
            </a:solidFill>
          </a:ln>
        </p:spPr>
        <p:txBody>
          <a:bodyPr wrap="square" lIns="0" tIns="0" rIns="0" bIns="0" rtlCol="0"/>
          <a:lstStyle/>
          <a:p>
            <a:endParaRPr/>
          </a:p>
        </p:txBody>
      </p:sp>
      <p:sp>
        <p:nvSpPr>
          <p:cNvPr id="404" name="object 404"/>
          <p:cNvSpPr/>
          <p:nvPr/>
        </p:nvSpPr>
        <p:spPr>
          <a:xfrm>
            <a:off x="7016496" y="2344673"/>
            <a:ext cx="2209165" cy="2480310"/>
          </a:xfrm>
          <a:custGeom>
            <a:avLst/>
            <a:gdLst/>
            <a:ahLst/>
            <a:cxnLst/>
            <a:rect l="l" t="t" r="r" b="b"/>
            <a:pathLst>
              <a:path w="2209165" h="2480310">
                <a:moveTo>
                  <a:pt x="2209038" y="2298954"/>
                </a:moveTo>
                <a:lnTo>
                  <a:pt x="208025" y="0"/>
                </a:lnTo>
                <a:lnTo>
                  <a:pt x="0" y="181356"/>
                </a:lnTo>
                <a:lnTo>
                  <a:pt x="2001012" y="2480310"/>
                </a:lnTo>
                <a:lnTo>
                  <a:pt x="2209038" y="2298954"/>
                </a:lnTo>
                <a:close/>
              </a:path>
            </a:pathLst>
          </a:custGeom>
          <a:solidFill>
            <a:srgbClr val="FF0000"/>
          </a:solidFill>
        </p:spPr>
        <p:txBody>
          <a:bodyPr wrap="square" lIns="0" tIns="0" rIns="0" bIns="0" rtlCol="0"/>
          <a:lstStyle/>
          <a:p>
            <a:endParaRPr/>
          </a:p>
        </p:txBody>
      </p:sp>
      <p:sp>
        <p:nvSpPr>
          <p:cNvPr id="405" name="object 405"/>
          <p:cNvSpPr/>
          <p:nvPr/>
        </p:nvSpPr>
        <p:spPr>
          <a:xfrm>
            <a:off x="7359396" y="2729483"/>
            <a:ext cx="1545335" cy="1779270"/>
          </a:xfrm>
          <a:prstGeom prst="rect">
            <a:avLst/>
          </a:prstGeom>
          <a:blipFill>
            <a:blip r:embed="rId138" cstate="print"/>
            <a:stretch>
              <a:fillRect/>
            </a:stretch>
          </a:blipFill>
        </p:spPr>
        <p:txBody>
          <a:bodyPr wrap="square" lIns="0" tIns="0" rIns="0" bIns="0" rtlCol="0"/>
          <a:lstStyle/>
          <a:p>
            <a:endParaRPr/>
          </a:p>
        </p:txBody>
      </p:sp>
      <p:sp>
        <p:nvSpPr>
          <p:cNvPr id="406" name="object 406"/>
          <p:cNvSpPr/>
          <p:nvPr/>
        </p:nvSpPr>
        <p:spPr>
          <a:xfrm>
            <a:off x="6891326" y="2150701"/>
            <a:ext cx="452120" cy="480059"/>
          </a:xfrm>
          <a:custGeom>
            <a:avLst/>
            <a:gdLst/>
            <a:ahLst/>
            <a:cxnLst/>
            <a:rect l="l" t="t" r="r" b="b"/>
            <a:pathLst>
              <a:path w="452120" h="480060">
                <a:moveTo>
                  <a:pt x="452067" y="204640"/>
                </a:moveTo>
                <a:lnTo>
                  <a:pt x="382583" y="189957"/>
                </a:lnTo>
                <a:lnTo>
                  <a:pt x="318444" y="169813"/>
                </a:lnTo>
                <a:lnTo>
                  <a:pt x="259780" y="145773"/>
                </a:lnTo>
                <a:lnTo>
                  <a:pt x="206722" y="119404"/>
                </a:lnTo>
                <a:lnTo>
                  <a:pt x="159401" y="92272"/>
                </a:lnTo>
                <a:lnTo>
                  <a:pt x="117947" y="65945"/>
                </a:lnTo>
                <a:lnTo>
                  <a:pt x="82490" y="41987"/>
                </a:lnTo>
                <a:lnTo>
                  <a:pt x="53161" y="21966"/>
                </a:lnTo>
                <a:lnTo>
                  <a:pt x="30091" y="7448"/>
                </a:lnTo>
                <a:lnTo>
                  <a:pt x="13410" y="0"/>
                </a:lnTo>
                <a:lnTo>
                  <a:pt x="3249" y="1186"/>
                </a:lnTo>
                <a:lnTo>
                  <a:pt x="0" y="12005"/>
                </a:lnTo>
                <a:lnTo>
                  <a:pt x="4912" y="30495"/>
                </a:lnTo>
                <a:lnTo>
                  <a:pt x="16285" y="56277"/>
                </a:lnTo>
                <a:lnTo>
                  <a:pt x="51614" y="128207"/>
                </a:lnTo>
                <a:lnTo>
                  <a:pt x="72169" y="173600"/>
                </a:lnTo>
                <a:lnTo>
                  <a:pt x="92384" y="224773"/>
                </a:lnTo>
                <a:lnTo>
                  <a:pt x="110559" y="281350"/>
                </a:lnTo>
                <a:lnTo>
                  <a:pt x="124993" y="342953"/>
                </a:lnTo>
                <a:lnTo>
                  <a:pt x="133986" y="409203"/>
                </a:lnTo>
                <a:lnTo>
                  <a:pt x="135837" y="479722"/>
                </a:lnTo>
                <a:lnTo>
                  <a:pt x="452067" y="204640"/>
                </a:lnTo>
                <a:close/>
              </a:path>
            </a:pathLst>
          </a:custGeom>
          <a:solidFill>
            <a:srgbClr val="FF0000"/>
          </a:solidFill>
        </p:spPr>
        <p:txBody>
          <a:bodyPr wrap="square" lIns="0" tIns="0" rIns="0" bIns="0" rtlCol="0"/>
          <a:lstStyle/>
          <a:p>
            <a:endParaRPr/>
          </a:p>
        </p:txBody>
      </p:sp>
      <p:sp>
        <p:nvSpPr>
          <p:cNvPr id="407" name="object 407"/>
          <p:cNvSpPr/>
          <p:nvPr/>
        </p:nvSpPr>
        <p:spPr>
          <a:xfrm>
            <a:off x="8910065" y="4542282"/>
            <a:ext cx="457834" cy="474345"/>
          </a:xfrm>
          <a:custGeom>
            <a:avLst/>
            <a:gdLst/>
            <a:ahLst/>
            <a:cxnLst/>
            <a:rect l="l" t="t" r="r" b="b"/>
            <a:pathLst>
              <a:path w="457834" h="474345">
                <a:moveTo>
                  <a:pt x="457454" y="462484"/>
                </a:moveTo>
                <a:lnTo>
                  <a:pt x="452380" y="444899"/>
                </a:lnTo>
                <a:lnTo>
                  <a:pt x="441218" y="420028"/>
                </a:lnTo>
                <a:lnTo>
                  <a:pt x="406749" y="349804"/>
                </a:lnTo>
                <a:lnTo>
                  <a:pt x="386498" y="305137"/>
                </a:lnTo>
                <a:lnTo>
                  <a:pt x="366275" y="254559"/>
                </a:lnTo>
                <a:lnTo>
                  <a:pt x="347608" y="198413"/>
                </a:lnTo>
                <a:lnTo>
                  <a:pt x="332026" y="137042"/>
                </a:lnTo>
                <a:lnTo>
                  <a:pt x="321057" y="70789"/>
                </a:lnTo>
                <a:lnTo>
                  <a:pt x="316229" y="0"/>
                </a:lnTo>
                <a:lnTo>
                  <a:pt x="0" y="275844"/>
                </a:lnTo>
                <a:lnTo>
                  <a:pt x="69557" y="287344"/>
                </a:lnTo>
                <a:lnTo>
                  <a:pt x="133907" y="305312"/>
                </a:lnTo>
                <a:lnTo>
                  <a:pt x="192905" y="328018"/>
                </a:lnTo>
                <a:lnTo>
                  <a:pt x="246407" y="353729"/>
                </a:lnTo>
                <a:lnTo>
                  <a:pt x="294268" y="380714"/>
                </a:lnTo>
                <a:lnTo>
                  <a:pt x="336345" y="407243"/>
                </a:lnTo>
                <a:lnTo>
                  <a:pt x="372494" y="431583"/>
                </a:lnTo>
                <a:lnTo>
                  <a:pt x="402569" y="452005"/>
                </a:lnTo>
                <a:lnTo>
                  <a:pt x="426427" y="466775"/>
                </a:lnTo>
                <a:lnTo>
                  <a:pt x="443923" y="474164"/>
                </a:lnTo>
                <a:lnTo>
                  <a:pt x="454913" y="472440"/>
                </a:lnTo>
                <a:lnTo>
                  <a:pt x="457454" y="462484"/>
                </a:lnTo>
                <a:close/>
              </a:path>
            </a:pathLst>
          </a:custGeom>
          <a:solidFill>
            <a:srgbClr val="FF0000"/>
          </a:solidFill>
        </p:spPr>
        <p:txBody>
          <a:bodyPr wrap="square" lIns="0" tIns="0" rIns="0" bIns="0" rtlCol="0"/>
          <a:lstStyle/>
          <a:p>
            <a:endParaRPr/>
          </a:p>
        </p:txBody>
      </p:sp>
      <p:sp>
        <p:nvSpPr>
          <p:cNvPr id="409" name="Slide Number Placeholder 408"/>
          <p:cNvSpPr>
            <a:spLocks noGrp="1"/>
          </p:cNvSpPr>
          <p:nvPr>
            <p:ph type="sldNum" sz="quarter" idx="7"/>
          </p:nvPr>
        </p:nvSpPr>
        <p:spPr>
          <a:xfrm>
            <a:off x="9393808" y="7315200"/>
            <a:ext cx="394970" cy="205184"/>
          </a:xfrm>
        </p:spPr>
        <p:txBody>
          <a:bodyPr/>
          <a:lstStyle/>
          <a:p>
            <a:pPr marL="12700">
              <a:lnSpc>
                <a:spcPts val="1645"/>
              </a:lnSpc>
            </a:pPr>
            <a:fld id="{81D60167-4931-47E6-BA6A-407CBD079E47}" type="slidenum">
              <a:rPr lang="en-US" spc="-5" smtClean="0"/>
              <a:t>7</a:t>
            </a:fld>
            <a:endParaRPr lang="en-US"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15594" y="818642"/>
            <a:ext cx="8278495" cy="635635"/>
          </a:xfrm>
          <a:prstGeom prst="rect">
            <a:avLst/>
          </a:prstGeom>
        </p:spPr>
        <p:txBody>
          <a:bodyPr vert="horz" wrap="square" lIns="0" tIns="12700" rIns="0" bIns="0" rtlCol="0">
            <a:spAutoFit/>
          </a:bodyPr>
          <a:lstStyle/>
          <a:p>
            <a:pPr marL="12700">
              <a:lnSpc>
                <a:spcPct val="100000"/>
              </a:lnSpc>
              <a:spcBef>
                <a:spcPts val="100"/>
              </a:spcBef>
            </a:pPr>
            <a:r>
              <a:rPr lang="en-US" sz="4000" dirty="0" err="1"/>
              <a:t>T</a:t>
            </a:r>
            <a:r>
              <a:rPr sz="4000" dirty="0" err="1"/>
              <a:t>ầng</a:t>
            </a:r>
            <a:r>
              <a:rPr sz="4000" dirty="0"/>
              <a:t> </a:t>
            </a:r>
            <a:r>
              <a:rPr sz="4000" spc="-5" dirty="0"/>
              <a:t>giao vận của</a:t>
            </a:r>
            <a:r>
              <a:rPr sz="4000" spc="-50" dirty="0"/>
              <a:t> </a:t>
            </a:r>
            <a:r>
              <a:rPr sz="4000" dirty="0"/>
              <a:t>Internet</a:t>
            </a:r>
          </a:p>
        </p:txBody>
      </p:sp>
      <p:sp>
        <p:nvSpPr>
          <p:cNvPr id="286" name="object 286"/>
          <p:cNvSpPr txBox="1"/>
          <p:nvPr/>
        </p:nvSpPr>
        <p:spPr>
          <a:xfrm>
            <a:off x="974088" y="1882394"/>
            <a:ext cx="5807711" cy="382156"/>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en-US" sz="2400" spc="-5" dirty="0" err="1">
                <a:latin typeface="Arial"/>
                <a:cs typeface="Arial"/>
              </a:rPr>
              <a:t>Ứng</a:t>
            </a:r>
            <a:r>
              <a:rPr lang="en-US" sz="2400" spc="-5" dirty="0">
                <a:latin typeface="Arial"/>
                <a:cs typeface="Arial"/>
              </a:rPr>
              <a:t> </a:t>
            </a:r>
            <a:r>
              <a:rPr lang="en-US" sz="2400" spc="-5" dirty="0" err="1">
                <a:latin typeface="Arial"/>
                <a:cs typeface="Arial"/>
              </a:rPr>
              <a:t>dụng</a:t>
            </a:r>
            <a:r>
              <a:rPr lang="en-US" sz="2400" spc="-5" dirty="0">
                <a:latin typeface="Arial"/>
                <a:cs typeface="Arial"/>
              </a:rPr>
              <a:t> </a:t>
            </a:r>
            <a:r>
              <a:rPr lang="en-US" sz="2400" spc="-5" dirty="0" err="1">
                <a:latin typeface="Arial"/>
                <a:cs typeface="Arial"/>
              </a:rPr>
              <a:t>và</a:t>
            </a:r>
            <a:r>
              <a:rPr lang="en-US" sz="2400" spc="-5" dirty="0">
                <a:latin typeface="Arial"/>
                <a:cs typeface="Arial"/>
              </a:rPr>
              <a:t> </a:t>
            </a:r>
            <a:r>
              <a:rPr lang="en-US" sz="2400" spc="-5" dirty="0" err="1">
                <a:latin typeface="Arial"/>
                <a:cs typeface="Arial"/>
              </a:rPr>
              <a:t>dịch</a:t>
            </a:r>
            <a:r>
              <a:rPr lang="en-US" sz="2400" spc="-5" dirty="0">
                <a:latin typeface="Arial"/>
                <a:cs typeface="Arial"/>
              </a:rPr>
              <a:t> </a:t>
            </a:r>
            <a:r>
              <a:rPr lang="en-US" sz="2400" spc="-5" dirty="0" err="1">
                <a:latin typeface="Arial"/>
                <a:cs typeface="Arial"/>
              </a:rPr>
              <a:t>vụ</a:t>
            </a:r>
            <a:r>
              <a:rPr lang="en-US" sz="2400" spc="-5" dirty="0">
                <a:latin typeface="Arial"/>
                <a:cs typeface="Arial"/>
              </a:rPr>
              <a:t> </a:t>
            </a:r>
            <a:r>
              <a:rPr lang="en-US" sz="2400" spc="-5" dirty="0" err="1">
                <a:latin typeface="Arial"/>
                <a:cs typeface="Arial"/>
              </a:rPr>
              <a:t>giao</a:t>
            </a:r>
            <a:r>
              <a:rPr lang="en-US" sz="2400" spc="-5" dirty="0">
                <a:latin typeface="Arial"/>
                <a:cs typeface="Arial"/>
              </a:rPr>
              <a:t> </a:t>
            </a:r>
            <a:r>
              <a:rPr lang="en-US" sz="2400" spc="-5" dirty="0" err="1">
                <a:latin typeface="Arial"/>
                <a:cs typeface="Arial"/>
              </a:rPr>
              <a:t>vận</a:t>
            </a:r>
            <a:endParaRPr lang="en-US" sz="2400" spc="-5" dirty="0">
              <a:latin typeface="Arial"/>
              <a:cs typeface="Arial"/>
            </a:endParaRPr>
          </a:p>
        </p:txBody>
      </p:sp>
      <p:sp>
        <p:nvSpPr>
          <p:cNvPr id="409" name="object 3"/>
          <p:cNvSpPr/>
          <p:nvPr/>
        </p:nvSpPr>
        <p:spPr>
          <a:xfrm>
            <a:off x="1050980" y="2895600"/>
            <a:ext cx="8510317" cy="3810000"/>
          </a:xfrm>
          <a:prstGeom prst="rect">
            <a:avLst/>
          </a:prstGeom>
          <a:blipFill>
            <a:blip r:embed="rId2" cstate="print"/>
            <a:stretch>
              <a:fillRect/>
            </a:stretch>
          </a:blipFill>
        </p:spPr>
        <p:txBody>
          <a:bodyPr wrap="square" lIns="0" tIns="0" rIns="0" bIns="0" rtlCol="0"/>
          <a:lstStyle/>
          <a:p>
            <a:endParaRPr/>
          </a:p>
        </p:txBody>
      </p:sp>
      <p:sp>
        <p:nvSpPr>
          <p:cNvPr id="2" name="Slide Number Placeholder 1"/>
          <p:cNvSpPr>
            <a:spLocks noGrp="1"/>
          </p:cNvSpPr>
          <p:nvPr>
            <p:ph type="sldNum" sz="quarter" idx="7"/>
          </p:nvPr>
        </p:nvSpPr>
        <p:spPr/>
        <p:txBody>
          <a:bodyPr/>
          <a:lstStyle/>
          <a:p>
            <a:pPr marL="12700">
              <a:lnSpc>
                <a:spcPts val="1645"/>
              </a:lnSpc>
            </a:pPr>
            <a:fld id="{81D60167-4931-47E6-BA6A-407CBD079E47}" type="slidenum">
              <a:rPr lang="en-US" spc="-5" smtClean="0"/>
              <a:t>8</a:t>
            </a:fld>
            <a:endParaRPr lang="en-US" spc="-5" dirty="0"/>
          </a:p>
        </p:txBody>
      </p:sp>
    </p:spTree>
    <p:extLst>
      <p:ext uri="{BB962C8B-B14F-4D97-AF65-F5344CB8AC3E}">
        <p14:creationId xmlns:p14="http://schemas.microsoft.com/office/powerpoint/2010/main" val="370494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spc="-5" dirty="0"/>
              <a:t>Chương 3: </a:t>
            </a:r>
            <a:r>
              <a:rPr dirty="0"/>
              <a:t>Tầng </a:t>
            </a:r>
            <a:r>
              <a:rPr spc="-5" dirty="0"/>
              <a:t>giao</a:t>
            </a:r>
            <a:r>
              <a:rPr spc="-160" dirty="0"/>
              <a:t> </a:t>
            </a:r>
            <a:r>
              <a:rPr spc="-5" dirty="0"/>
              <a:t>vận</a:t>
            </a:r>
          </a:p>
        </p:txBody>
      </p:sp>
      <p:sp>
        <p:nvSpPr>
          <p:cNvPr id="4" name="object 4"/>
          <p:cNvSpPr txBox="1"/>
          <p:nvPr/>
        </p:nvSpPr>
        <p:spPr>
          <a:xfrm>
            <a:off x="1193546" y="1780286"/>
            <a:ext cx="5403215" cy="285655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a:t>
            </a:r>
            <a:r>
              <a:rPr lang="en-US" sz="3200" spc="-5" dirty="0" err="1">
                <a:latin typeface="Arial"/>
                <a:cs typeface="Arial"/>
              </a:rPr>
              <a:t>tầng</a:t>
            </a:r>
            <a:r>
              <a:rPr lang="en-US" sz="3200" spc="-5" dirty="0">
                <a:latin typeface="Arial"/>
                <a:cs typeface="Arial"/>
              </a:rPr>
              <a:t> </a:t>
            </a:r>
            <a:r>
              <a:rPr lang="en-US" sz="3200" spc="-5" dirty="0" err="1">
                <a:latin typeface="Arial"/>
                <a:cs typeface="Arial"/>
              </a:rPr>
              <a:t>giao</a:t>
            </a:r>
            <a:r>
              <a:rPr lang="en-US" sz="3200" spc="-5" dirty="0">
                <a:latin typeface="Arial"/>
                <a:cs typeface="Arial"/>
              </a:rPr>
              <a:t> </a:t>
            </a:r>
            <a:r>
              <a:rPr lang="en-US" sz="3200" spc="-5" dirty="0" err="1">
                <a:latin typeface="Arial"/>
                <a:cs typeface="Arial"/>
              </a:rPr>
              <a:t>vận</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dirty="0" err="1">
                <a:solidFill>
                  <a:srgbClr val="FF0000"/>
                </a:solidFill>
                <a:latin typeface="Arial"/>
                <a:cs typeface="Arial"/>
              </a:rPr>
              <a:t>Dồn</a:t>
            </a:r>
            <a:r>
              <a:rPr lang="en-US" sz="3200" dirty="0">
                <a:solidFill>
                  <a:srgbClr val="FF0000"/>
                </a:solidFill>
                <a:latin typeface="Arial"/>
                <a:cs typeface="Arial"/>
              </a:rPr>
              <a:t> </a:t>
            </a:r>
            <a:r>
              <a:rPr lang="en-US" sz="3200" dirty="0" err="1">
                <a:solidFill>
                  <a:srgbClr val="FF0000"/>
                </a:solidFill>
                <a:latin typeface="Arial"/>
                <a:cs typeface="Arial"/>
              </a:rPr>
              <a:t>kênh</a:t>
            </a:r>
            <a:r>
              <a:rPr lang="en-US" sz="3200" dirty="0">
                <a:solidFill>
                  <a:srgbClr val="FF0000"/>
                </a:solidFill>
                <a:latin typeface="Arial"/>
                <a:cs typeface="Arial"/>
              </a:rPr>
              <a:t> </a:t>
            </a:r>
            <a:r>
              <a:rPr lang="en-US" sz="3200" dirty="0" err="1">
                <a:solidFill>
                  <a:srgbClr val="FF0000"/>
                </a:solidFill>
                <a:latin typeface="Arial"/>
                <a:cs typeface="Arial"/>
              </a:rPr>
              <a:t>và</a:t>
            </a:r>
            <a:r>
              <a:rPr lang="en-US" sz="3200" dirty="0">
                <a:solidFill>
                  <a:srgbClr val="FF0000"/>
                </a:solidFill>
                <a:latin typeface="Arial"/>
                <a:cs typeface="Arial"/>
              </a:rPr>
              <a:t> </a:t>
            </a:r>
            <a:r>
              <a:rPr lang="en-US" sz="3200" dirty="0" err="1">
                <a:solidFill>
                  <a:srgbClr val="FF0000"/>
                </a:solidFill>
                <a:latin typeface="Arial"/>
                <a:cs typeface="Arial"/>
              </a:rPr>
              <a:t>phân</a:t>
            </a:r>
            <a:r>
              <a:rPr lang="en-US" sz="3200" dirty="0">
                <a:solidFill>
                  <a:srgbClr val="FF0000"/>
                </a:solidFill>
                <a:latin typeface="Arial"/>
                <a:cs typeface="Arial"/>
              </a:rPr>
              <a:t> </a:t>
            </a:r>
            <a:r>
              <a:rPr lang="en-US" sz="3200" dirty="0" err="1">
                <a:solidFill>
                  <a:srgbClr val="FF0000"/>
                </a:solidFill>
                <a:latin typeface="Arial"/>
                <a:cs typeface="Arial"/>
              </a:rPr>
              <a:t>kênh</a:t>
            </a:r>
            <a:endParaRPr sz="3200" dirty="0">
              <a:solidFill>
                <a:srgbClr val="FF0000"/>
              </a:solidFill>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sz="3200" spc="35" dirty="0">
                <a:latin typeface="Arial"/>
                <a:cs typeface="Arial"/>
              </a:rPr>
              <a:t> </a:t>
            </a:r>
            <a:r>
              <a:rPr sz="3200" spc="-5" dirty="0">
                <a:latin typeface="Arial"/>
                <a:cs typeface="Arial"/>
              </a:rPr>
              <a:t>UDP</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5" dirty="0" err="1">
                <a:latin typeface="Arial"/>
                <a:cs typeface="Arial"/>
              </a:rPr>
              <a:t>T</a:t>
            </a:r>
            <a:r>
              <a:rPr sz="3200" spc="-5" dirty="0" err="1">
                <a:latin typeface="Arial"/>
                <a:cs typeface="Arial"/>
              </a:rPr>
              <a:t>ruyền</a:t>
            </a:r>
            <a:r>
              <a:rPr sz="3200" spc="-5" dirty="0">
                <a:latin typeface="Arial"/>
                <a:cs typeface="Arial"/>
              </a:rPr>
              <a:t> dữ liệu tin cậy</a:t>
            </a:r>
            <a:endParaRPr sz="3200" dirty="0">
              <a:latin typeface="Arial"/>
              <a:cs typeface="Arial"/>
            </a:endParaRPr>
          </a:p>
          <a:p>
            <a:pPr marL="355600" indent="-342900">
              <a:lnSpc>
                <a:spcPct val="100000"/>
              </a:lnSpc>
              <a:spcBef>
                <a:spcPts val="580"/>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lang="en-US" sz="3200" spc="-20" dirty="0">
                <a:latin typeface="Arial"/>
                <a:cs typeface="Arial"/>
              </a:rPr>
              <a:t> TCP</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9</a:t>
            </a:fld>
            <a:endParaRPr lang="en-US" spc="-5" dirty="0"/>
          </a:p>
        </p:txBody>
      </p:sp>
    </p:spTree>
    <p:extLst>
      <p:ext uri="{BB962C8B-B14F-4D97-AF65-F5344CB8AC3E}">
        <p14:creationId xmlns:p14="http://schemas.microsoft.com/office/powerpoint/2010/main" val="298503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9310" y="612902"/>
            <a:ext cx="6099810" cy="635635"/>
          </a:xfrm>
          <a:prstGeom prst="rect">
            <a:avLst/>
          </a:prstGeom>
        </p:spPr>
        <p:txBody>
          <a:bodyPr vert="horz" wrap="square" lIns="0" tIns="12700" rIns="0" bIns="0" rtlCol="0">
            <a:spAutoFit/>
          </a:bodyPr>
          <a:lstStyle/>
          <a:p>
            <a:pPr marL="12700">
              <a:lnSpc>
                <a:spcPct val="100000"/>
              </a:lnSpc>
              <a:spcBef>
                <a:spcPts val="100"/>
              </a:spcBef>
            </a:pPr>
            <a:r>
              <a:rPr lang="en-US" sz="4000" dirty="0" err="1"/>
              <a:t>Dồn</a:t>
            </a:r>
            <a:r>
              <a:rPr lang="en-US" sz="4000" dirty="0"/>
              <a:t> </a:t>
            </a:r>
            <a:r>
              <a:rPr lang="en-US" sz="4000" dirty="0" err="1"/>
              <a:t>kênh</a:t>
            </a:r>
            <a:r>
              <a:rPr lang="en-US" sz="4000" dirty="0"/>
              <a:t> </a:t>
            </a:r>
            <a:r>
              <a:rPr lang="en-US" sz="4000" dirty="0" err="1"/>
              <a:t>và</a:t>
            </a:r>
            <a:r>
              <a:rPr lang="en-US" sz="4000" dirty="0"/>
              <a:t> </a:t>
            </a:r>
            <a:r>
              <a:rPr lang="en-US" sz="4000" dirty="0" err="1"/>
              <a:t>phân</a:t>
            </a:r>
            <a:r>
              <a:rPr lang="en-US" sz="4000" dirty="0"/>
              <a:t> </a:t>
            </a:r>
            <a:r>
              <a:rPr lang="en-US" sz="4000" dirty="0" err="1"/>
              <a:t>kênh</a:t>
            </a:r>
            <a:endParaRPr sz="4000" dirty="0"/>
          </a:p>
        </p:txBody>
      </p:sp>
      <p:sp>
        <p:nvSpPr>
          <p:cNvPr id="3" name="object 3"/>
          <p:cNvSpPr/>
          <p:nvPr/>
        </p:nvSpPr>
        <p:spPr>
          <a:xfrm>
            <a:off x="5356859" y="2156459"/>
            <a:ext cx="3827779" cy="1294827"/>
          </a:xfrm>
          <a:custGeom>
            <a:avLst/>
            <a:gdLst/>
            <a:ahLst/>
            <a:cxnLst/>
            <a:rect l="l" t="t" r="r" b="b"/>
            <a:pathLst>
              <a:path w="3827779" h="1212850">
                <a:moveTo>
                  <a:pt x="3827526" y="1212341"/>
                </a:moveTo>
                <a:lnTo>
                  <a:pt x="3827526" y="0"/>
                </a:lnTo>
                <a:lnTo>
                  <a:pt x="0" y="0"/>
                </a:lnTo>
                <a:lnTo>
                  <a:pt x="0" y="1212342"/>
                </a:lnTo>
                <a:lnTo>
                  <a:pt x="9143" y="1212342"/>
                </a:lnTo>
                <a:lnTo>
                  <a:pt x="9143" y="19050"/>
                </a:lnTo>
                <a:lnTo>
                  <a:pt x="19050" y="9144"/>
                </a:lnTo>
                <a:lnTo>
                  <a:pt x="19050" y="19050"/>
                </a:lnTo>
                <a:lnTo>
                  <a:pt x="3808475" y="19050"/>
                </a:lnTo>
                <a:lnTo>
                  <a:pt x="3808475" y="9143"/>
                </a:lnTo>
                <a:lnTo>
                  <a:pt x="3817619" y="19050"/>
                </a:lnTo>
                <a:lnTo>
                  <a:pt x="3817619" y="1212341"/>
                </a:lnTo>
                <a:lnTo>
                  <a:pt x="3827526" y="1212341"/>
                </a:lnTo>
                <a:close/>
              </a:path>
              <a:path w="3827779" h="1212850">
                <a:moveTo>
                  <a:pt x="19050" y="19050"/>
                </a:moveTo>
                <a:lnTo>
                  <a:pt x="19050" y="9144"/>
                </a:lnTo>
                <a:lnTo>
                  <a:pt x="9143" y="19050"/>
                </a:lnTo>
                <a:lnTo>
                  <a:pt x="19050" y="19050"/>
                </a:lnTo>
                <a:close/>
              </a:path>
              <a:path w="3827779" h="1212850">
                <a:moveTo>
                  <a:pt x="19050" y="1193292"/>
                </a:moveTo>
                <a:lnTo>
                  <a:pt x="19050" y="19050"/>
                </a:lnTo>
                <a:lnTo>
                  <a:pt x="9143" y="19050"/>
                </a:lnTo>
                <a:lnTo>
                  <a:pt x="9143" y="1193292"/>
                </a:lnTo>
                <a:lnTo>
                  <a:pt x="19050" y="1193292"/>
                </a:lnTo>
                <a:close/>
              </a:path>
              <a:path w="3827779" h="1212850">
                <a:moveTo>
                  <a:pt x="3817619" y="1193291"/>
                </a:moveTo>
                <a:lnTo>
                  <a:pt x="9143" y="1193292"/>
                </a:lnTo>
                <a:lnTo>
                  <a:pt x="19050" y="1203198"/>
                </a:lnTo>
                <a:lnTo>
                  <a:pt x="19050" y="1212342"/>
                </a:lnTo>
                <a:lnTo>
                  <a:pt x="3808475" y="1212341"/>
                </a:lnTo>
                <a:lnTo>
                  <a:pt x="3808475" y="1203197"/>
                </a:lnTo>
                <a:lnTo>
                  <a:pt x="3817619" y="1193291"/>
                </a:lnTo>
                <a:close/>
              </a:path>
              <a:path w="3827779" h="1212850">
                <a:moveTo>
                  <a:pt x="19050" y="1212342"/>
                </a:moveTo>
                <a:lnTo>
                  <a:pt x="19050" y="1203198"/>
                </a:lnTo>
                <a:lnTo>
                  <a:pt x="9143" y="1193292"/>
                </a:lnTo>
                <a:lnTo>
                  <a:pt x="9143" y="1212342"/>
                </a:lnTo>
                <a:lnTo>
                  <a:pt x="19050" y="1212342"/>
                </a:lnTo>
                <a:close/>
              </a:path>
              <a:path w="3827779" h="1212850">
                <a:moveTo>
                  <a:pt x="3817619" y="19050"/>
                </a:moveTo>
                <a:lnTo>
                  <a:pt x="3808475" y="9143"/>
                </a:lnTo>
                <a:lnTo>
                  <a:pt x="3808475" y="19050"/>
                </a:lnTo>
                <a:lnTo>
                  <a:pt x="3817619" y="19050"/>
                </a:lnTo>
                <a:close/>
              </a:path>
              <a:path w="3827779" h="1212850">
                <a:moveTo>
                  <a:pt x="3817619" y="1193291"/>
                </a:moveTo>
                <a:lnTo>
                  <a:pt x="3817619" y="19050"/>
                </a:lnTo>
                <a:lnTo>
                  <a:pt x="3808475" y="19050"/>
                </a:lnTo>
                <a:lnTo>
                  <a:pt x="3808475" y="1193291"/>
                </a:lnTo>
                <a:lnTo>
                  <a:pt x="3817619" y="1193291"/>
                </a:lnTo>
                <a:close/>
              </a:path>
              <a:path w="3827779" h="1212850">
                <a:moveTo>
                  <a:pt x="3817619" y="1212341"/>
                </a:moveTo>
                <a:lnTo>
                  <a:pt x="3817619" y="1193291"/>
                </a:lnTo>
                <a:lnTo>
                  <a:pt x="3808475" y="1203197"/>
                </a:lnTo>
                <a:lnTo>
                  <a:pt x="3808475" y="1212341"/>
                </a:lnTo>
                <a:lnTo>
                  <a:pt x="3817619" y="1212341"/>
                </a:lnTo>
                <a:close/>
              </a:path>
            </a:pathLst>
          </a:custGeom>
          <a:solidFill>
            <a:srgbClr val="CC0000"/>
          </a:solidFill>
        </p:spPr>
        <p:txBody>
          <a:bodyPr wrap="square" lIns="0" tIns="0" rIns="0" bIns="0" rtlCol="0"/>
          <a:lstStyle/>
          <a:p>
            <a:endParaRPr/>
          </a:p>
        </p:txBody>
      </p:sp>
      <p:sp>
        <p:nvSpPr>
          <p:cNvPr id="4" name="object 4"/>
          <p:cNvSpPr/>
          <p:nvPr/>
        </p:nvSpPr>
        <p:spPr>
          <a:xfrm>
            <a:off x="6085332" y="2067305"/>
            <a:ext cx="1986280" cy="133350"/>
          </a:xfrm>
          <a:custGeom>
            <a:avLst/>
            <a:gdLst/>
            <a:ahLst/>
            <a:cxnLst/>
            <a:rect l="l" t="t" r="r" b="b"/>
            <a:pathLst>
              <a:path w="1986279" h="133350">
                <a:moveTo>
                  <a:pt x="0" y="133350"/>
                </a:moveTo>
                <a:lnTo>
                  <a:pt x="1985771" y="133350"/>
                </a:lnTo>
                <a:lnTo>
                  <a:pt x="1985771" y="0"/>
                </a:lnTo>
                <a:lnTo>
                  <a:pt x="0" y="0"/>
                </a:lnTo>
                <a:lnTo>
                  <a:pt x="0" y="133350"/>
                </a:lnTo>
                <a:close/>
              </a:path>
            </a:pathLst>
          </a:custGeom>
          <a:solidFill>
            <a:srgbClr val="FFFFFF"/>
          </a:solidFill>
        </p:spPr>
        <p:txBody>
          <a:bodyPr wrap="square" lIns="0" tIns="0" rIns="0" bIns="0" rtlCol="0"/>
          <a:lstStyle/>
          <a:p>
            <a:endParaRPr/>
          </a:p>
        </p:txBody>
      </p:sp>
      <p:sp>
        <p:nvSpPr>
          <p:cNvPr id="5" name="object 5"/>
          <p:cNvSpPr/>
          <p:nvPr/>
        </p:nvSpPr>
        <p:spPr>
          <a:xfrm>
            <a:off x="5407152" y="1359408"/>
            <a:ext cx="3264535" cy="708025"/>
          </a:xfrm>
          <a:custGeom>
            <a:avLst/>
            <a:gdLst/>
            <a:ahLst/>
            <a:cxnLst/>
            <a:rect l="l" t="t" r="r" b="b"/>
            <a:pathLst>
              <a:path w="3264534" h="708025">
                <a:moveTo>
                  <a:pt x="0" y="0"/>
                </a:moveTo>
                <a:lnTo>
                  <a:pt x="0" y="707898"/>
                </a:lnTo>
                <a:lnTo>
                  <a:pt x="3264407" y="707898"/>
                </a:lnTo>
                <a:lnTo>
                  <a:pt x="3264407" y="0"/>
                </a:lnTo>
                <a:lnTo>
                  <a:pt x="0" y="0"/>
                </a:lnTo>
                <a:close/>
              </a:path>
            </a:pathLst>
          </a:custGeom>
          <a:solidFill>
            <a:srgbClr val="FFFFFF"/>
          </a:solidFill>
        </p:spPr>
        <p:txBody>
          <a:bodyPr wrap="square" lIns="0" tIns="0" rIns="0" bIns="0" rtlCol="0"/>
          <a:lstStyle/>
          <a:p>
            <a:endParaRPr/>
          </a:p>
        </p:txBody>
      </p:sp>
      <p:sp>
        <p:nvSpPr>
          <p:cNvPr id="6" name="object 6"/>
          <p:cNvSpPr txBox="1"/>
          <p:nvPr/>
        </p:nvSpPr>
        <p:spPr>
          <a:xfrm>
            <a:off x="5444743" y="1384807"/>
            <a:ext cx="3694175" cy="2135841"/>
          </a:xfrm>
          <a:prstGeom prst="rect">
            <a:avLst/>
          </a:prstGeom>
        </p:spPr>
        <p:txBody>
          <a:bodyPr vert="horz" wrap="square" lIns="0" tIns="12065" rIns="0" bIns="0" rtlCol="0">
            <a:spAutoFit/>
          </a:bodyPr>
          <a:lstStyle/>
          <a:p>
            <a:pPr marL="123825" marR="227329" indent="-70485">
              <a:lnSpc>
                <a:spcPct val="100000"/>
              </a:lnSpc>
              <a:spcBef>
                <a:spcPts val="95"/>
              </a:spcBef>
            </a:pPr>
            <a:r>
              <a:rPr lang="en-US" sz="2000" i="1" spc="-5" dirty="0" err="1">
                <a:solidFill>
                  <a:srgbClr val="CC0000"/>
                </a:solidFill>
                <a:latin typeface="Arial"/>
                <a:cs typeface="Arial"/>
              </a:rPr>
              <a:t>Phân</a:t>
            </a:r>
            <a:r>
              <a:rPr lang="en-US" sz="2000" i="1" spc="-5" dirty="0">
                <a:solidFill>
                  <a:srgbClr val="CC0000"/>
                </a:solidFill>
                <a:latin typeface="Arial"/>
                <a:cs typeface="Arial"/>
              </a:rPr>
              <a:t> </a:t>
            </a:r>
            <a:r>
              <a:rPr lang="en-US" sz="2000" i="1" spc="-5" dirty="0" err="1">
                <a:solidFill>
                  <a:srgbClr val="CC0000"/>
                </a:solidFill>
                <a:latin typeface="Arial"/>
                <a:cs typeface="Arial"/>
              </a:rPr>
              <a:t>kênh</a:t>
            </a:r>
            <a:r>
              <a:rPr lang="en-US" sz="2000" i="1" spc="-5" dirty="0">
                <a:solidFill>
                  <a:srgbClr val="CC0000"/>
                </a:solidFill>
                <a:latin typeface="Arial"/>
                <a:cs typeface="Arial"/>
              </a:rPr>
              <a:t> </a:t>
            </a:r>
            <a:r>
              <a:rPr sz="2000" i="1" spc="-5" dirty="0">
                <a:solidFill>
                  <a:srgbClr val="CC0000"/>
                </a:solidFill>
                <a:latin typeface="Arial"/>
                <a:cs typeface="Arial"/>
              </a:rPr>
              <a:t> (demultiplexing)  tại nút</a:t>
            </a:r>
            <a:r>
              <a:rPr sz="2000" i="1" spc="-15" dirty="0">
                <a:solidFill>
                  <a:srgbClr val="CC0000"/>
                </a:solidFill>
                <a:latin typeface="Arial"/>
                <a:cs typeface="Arial"/>
              </a:rPr>
              <a:t> </a:t>
            </a:r>
            <a:r>
              <a:rPr sz="2000" i="1" spc="-5" dirty="0">
                <a:solidFill>
                  <a:srgbClr val="CC0000"/>
                </a:solidFill>
                <a:latin typeface="Arial"/>
                <a:cs typeface="Arial"/>
              </a:rPr>
              <a:t>nhận</a:t>
            </a:r>
            <a:endParaRPr sz="2000" dirty="0">
              <a:latin typeface="Arial"/>
              <a:cs typeface="Arial"/>
            </a:endParaRPr>
          </a:p>
          <a:p>
            <a:pPr>
              <a:lnSpc>
                <a:spcPct val="100000"/>
              </a:lnSpc>
              <a:spcBef>
                <a:spcPts val="25"/>
              </a:spcBef>
            </a:pPr>
            <a:endParaRPr sz="1800" dirty="0">
              <a:latin typeface="Times New Roman"/>
              <a:cs typeface="Times New Roman"/>
            </a:endParaRPr>
          </a:p>
          <a:p>
            <a:pPr marL="12700" marR="5080">
              <a:spcBef>
                <a:spcPts val="5"/>
              </a:spcBef>
            </a:pPr>
            <a:r>
              <a:rPr lang="en-US" sz="2000" spc="-5" dirty="0" err="1">
                <a:latin typeface="Arial"/>
                <a:cs typeface="Arial"/>
              </a:rPr>
              <a:t>Tầng</a:t>
            </a:r>
            <a:r>
              <a:rPr lang="en-US" sz="2000" spc="-5" dirty="0">
                <a:latin typeface="Arial"/>
                <a:cs typeface="Arial"/>
              </a:rPr>
              <a:t> </a:t>
            </a:r>
            <a:r>
              <a:rPr lang="en-US" sz="2000" spc="-5" dirty="0" err="1">
                <a:latin typeface="Arial"/>
                <a:cs typeface="Arial"/>
              </a:rPr>
              <a:t>giao</a:t>
            </a:r>
            <a:r>
              <a:rPr lang="en-US" sz="2000" spc="-5" dirty="0">
                <a:latin typeface="Arial"/>
                <a:cs typeface="Arial"/>
              </a:rPr>
              <a:t> </a:t>
            </a:r>
            <a:r>
              <a:rPr lang="en-US" sz="2000" spc="-5" dirty="0" err="1">
                <a:latin typeface="Arial"/>
                <a:cs typeface="Arial"/>
              </a:rPr>
              <a:t>vận</a:t>
            </a:r>
            <a:r>
              <a:rPr lang="en-US" sz="2000" spc="-5" dirty="0">
                <a:latin typeface="Arial"/>
                <a:cs typeface="Arial"/>
              </a:rPr>
              <a:t> </a:t>
            </a:r>
            <a:r>
              <a:rPr sz="2000" spc="-5" dirty="0" err="1">
                <a:latin typeface="Arial"/>
                <a:cs typeface="Arial"/>
              </a:rPr>
              <a:t>sử</a:t>
            </a:r>
            <a:r>
              <a:rPr sz="2000" spc="-5" dirty="0">
                <a:latin typeface="Arial"/>
                <a:cs typeface="Arial"/>
              </a:rPr>
              <a:t> dụng thông tin </a:t>
            </a:r>
            <a:r>
              <a:rPr sz="2000" spc="-10" dirty="0">
                <a:latin typeface="Arial"/>
                <a:cs typeface="Arial"/>
              </a:rPr>
              <a:t>header </a:t>
            </a:r>
            <a:r>
              <a:rPr sz="2000" spc="-10" dirty="0" err="1">
                <a:latin typeface="Arial"/>
                <a:cs typeface="Arial"/>
              </a:rPr>
              <a:t>để</a:t>
            </a:r>
            <a:r>
              <a:rPr sz="2000" spc="-10" dirty="0">
                <a:latin typeface="Arial"/>
                <a:cs typeface="Arial"/>
              </a:rPr>
              <a:t> </a:t>
            </a:r>
            <a:r>
              <a:rPr sz="2000" spc="-10" dirty="0" err="1">
                <a:latin typeface="Arial"/>
                <a:cs typeface="Arial"/>
              </a:rPr>
              <a:t>chuyển</a:t>
            </a:r>
            <a:r>
              <a:rPr sz="2000" spc="-10" dirty="0">
                <a:latin typeface="Arial"/>
                <a:cs typeface="Arial"/>
              </a:rPr>
              <a:t> </a:t>
            </a:r>
            <a:r>
              <a:rPr lang="en-US" sz="2000" spc="-5" dirty="0" err="1">
                <a:latin typeface="Arial"/>
                <a:cs typeface="Arial"/>
              </a:rPr>
              <a:t>dữ</a:t>
            </a:r>
            <a:r>
              <a:rPr lang="en-US" sz="2000" spc="-5" dirty="0">
                <a:latin typeface="Arial"/>
                <a:cs typeface="Arial"/>
              </a:rPr>
              <a:t> </a:t>
            </a:r>
            <a:r>
              <a:rPr lang="en-US" sz="2000" spc="-5" dirty="0" err="1">
                <a:latin typeface="Arial"/>
                <a:cs typeface="Arial"/>
              </a:rPr>
              <a:t>liệu</a:t>
            </a:r>
            <a:r>
              <a:rPr lang="en-US" sz="2000" spc="-5" dirty="0">
                <a:latin typeface="Arial"/>
                <a:cs typeface="Arial"/>
              </a:rPr>
              <a:t> </a:t>
            </a:r>
            <a:r>
              <a:rPr lang="en-US" sz="2000" spc="-5" dirty="0" err="1">
                <a:latin typeface="Arial"/>
                <a:cs typeface="Arial"/>
              </a:rPr>
              <a:t>trong</a:t>
            </a:r>
            <a:r>
              <a:rPr sz="2000" spc="-5" dirty="0">
                <a:latin typeface="Arial"/>
                <a:cs typeface="Arial"/>
              </a:rPr>
              <a:t> </a:t>
            </a:r>
            <a:r>
              <a:rPr sz="2000" spc="-10" dirty="0">
                <a:latin typeface="Arial"/>
                <a:cs typeface="Arial"/>
              </a:rPr>
              <a:t>segment </a:t>
            </a:r>
            <a:r>
              <a:rPr sz="2000" spc="-5" dirty="0">
                <a:latin typeface="Arial"/>
                <a:cs typeface="Arial"/>
              </a:rPr>
              <a:t>đã </a:t>
            </a:r>
            <a:r>
              <a:rPr sz="2000" spc="-10" dirty="0" err="1">
                <a:latin typeface="Arial"/>
                <a:cs typeface="Arial"/>
              </a:rPr>
              <a:t>nhận</a:t>
            </a:r>
            <a:r>
              <a:rPr sz="2000" spc="-10" dirty="0">
                <a:latin typeface="Arial"/>
                <a:cs typeface="Arial"/>
              </a:rPr>
              <a:t> </a:t>
            </a:r>
            <a:r>
              <a:rPr sz="2000" spc="-5" dirty="0" err="1">
                <a:latin typeface="Arial"/>
                <a:cs typeface="Arial"/>
              </a:rPr>
              <a:t>tới</a:t>
            </a:r>
            <a:r>
              <a:rPr sz="2000" spc="-5" dirty="0">
                <a:latin typeface="Arial"/>
                <a:cs typeface="Arial"/>
              </a:rPr>
              <a:t> </a:t>
            </a:r>
            <a:r>
              <a:rPr sz="2000" spc="-5" dirty="0" err="1">
                <a:latin typeface="Arial"/>
                <a:cs typeface="Arial"/>
              </a:rPr>
              <a:t>đúng</a:t>
            </a:r>
            <a:r>
              <a:rPr sz="2000" spc="-10" dirty="0">
                <a:latin typeface="Arial"/>
                <a:cs typeface="Arial"/>
              </a:rPr>
              <a:t> </a:t>
            </a:r>
            <a:r>
              <a:rPr lang="en-US" sz="2000" spc="-5" dirty="0" err="1">
                <a:latin typeface="Arial"/>
                <a:cs typeface="Arial"/>
              </a:rPr>
              <a:t>tiến</a:t>
            </a:r>
            <a:r>
              <a:rPr lang="en-US" sz="2000" spc="-5" dirty="0">
                <a:latin typeface="Arial"/>
                <a:cs typeface="Arial"/>
              </a:rPr>
              <a:t> </a:t>
            </a:r>
            <a:r>
              <a:rPr lang="en-US" sz="2000" spc="-5" dirty="0" err="1">
                <a:latin typeface="Arial"/>
                <a:cs typeface="Arial"/>
              </a:rPr>
              <a:t>trình</a:t>
            </a:r>
            <a:r>
              <a:rPr lang="en-US" sz="2000" spc="-5" dirty="0">
                <a:latin typeface="Arial"/>
                <a:cs typeface="Arial"/>
              </a:rPr>
              <a:t> </a:t>
            </a:r>
            <a:r>
              <a:rPr lang="en-US" sz="2000" spc="-5" dirty="0" err="1">
                <a:latin typeface="Arial"/>
                <a:cs typeface="Arial"/>
              </a:rPr>
              <a:t>ứng</a:t>
            </a:r>
            <a:r>
              <a:rPr lang="en-US" sz="2000" spc="-5" dirty="0">
                <a:latin typeface="Arial"/>
                <a:cs typeface="Arial"/>
              </a:rPr>
              <a:t> </a:t>
            </a:r>
            <a:r>
              <a:rPr lang="en-US" sz="2000" spc="-5" dirty="0" err="1">
                <a:latin typeface="Arial"/>
                <a:cs typeface="Arial"/>
              </a:rPr>
              <a:t>dụng</a:t>
            </a:r>
            <a:endParaRPr sz="2000" dirty="0">
              <a:latin typeface="Arial"/>
              <a:cs typeface="Arial"/>
            </a:endParaRPr>
          </a:p>
        </p:txBody>
      </p:sp>
      <p:sp>
        <p:nvSpPr>
          <p:cNvPr id="7" name="object 7"/>
          <p:cNvSpPr/>
          <p:nvPr/>
        </p:nvSpPr>
        <p:spPr>
          <a:xfrm>
            <a:off x="796671" y="2138876"/>
            <a:ext cx="3954145" cy="2084120"/>
          </a:xfrm>
          <a:custGeom>
            <a:avLst/>
            <a:gdLst/>
            <a:ahLst/>
            <a:cxnLst/>
            <a:rect l="l" t="t" r="r" b="b"/>
            <a:pathLst>
              <a:path w="3954145" h="1219200">
                <a:moveTo>
                  <a:pt x="3954017" y="1219200"/>
                </a:moveTo>
                <a:lnTo>
                  <a:pt x="3954017" y="0"/>
                </a:lnTo>
                <a:lnTo>
                  <a:pt x="0" y="0"/>
                </a:lnTo>
                <a:lnTo>
                  <a:pt x="0" y="1219200"/>
                </a:lnTo>
                <a:lnTo>
                  <a:pt x="9143" y="1219200"/>
                </a:lnTo>
                <a:lnTo>
                  <a:pt x="9143" y="19050"/>
                </a:lnTo>
                <a:lnTo>
                  <a:pt x="19050" y="9906"/>
                </a:lnTo>
                <a:lnTo>
                  <a:pt x="19050" y="19050"/>
                </a:lnTo>
                <a:lnTo>
                  <a:pt x="3934967" y="19050"/>
                </a:lnTo>
                <a:lnTo>
                  <a:pt x="3934967" y="9906"/>
                </a:lnTo>
                <a:lnTo>
                  <a:pt x="3944874" y="19050"/>
                </a:lnTo>
                <a:lnTo>
                  <a:pt x="3944874" y="1219200"/>
                </a:lnTo>
                <a:lnTo>
                  <a:pt x="3954017" y="1219200"/>
                </a:lnTo>
                <a:close/>
              </a:path>
              <a:path w="3954145" h="1219200">
                <a:moveTo>
                  <a:pt x="19050" y="19050"/>
                </a:moveTo>
                <a:lnTo>
                  <a:pt x="19050" y="9906"/>
                </a:lnTo>
                <a:lnTo>
                  <a:pt x="9143" y="19050"/>
                </a:lnTo>
                <a:lnTo>
                  <a:pt x="19050" y="19050"/>
                </a:lnTo>
                <a:close/>
              </a:path>
              <a:path w="3954145" h="1219200">
                <a:moveTo>
                  <a:pt x="19050" y="1200150"/>
                </a:moveTo>
                <a:lnTo>
                  <a:pt x="19050" y="19050"/>
                </a:lnTo>
                <a:lnTo>
                  <a:pt x="9143" y="19050"/>
                </a:lnTo>
                <a:lnTo>
                  <a:pt x="9143" y="1200150"/>
                </a:lnTo>
                <a:lnTo>
                  <a:pt x="19050" y="1200150"/>
                </a:lnTo>
                <a:close/>
              </a:path>
              <a:path w="3954145" h="1219200">
                <a:moveTo>
                  <a:pt x="3944874" y="1200150"/>
                </a:moveTo>
                <a:lnTo>
                  <a:pt x="9143" y="1200150"/>
                </a:lnTo>
                <a:lnTo>
                  <a:pt x="19050" y="1210056"/>
                </a:lnTo>
                <a:lnTo>
                  <a:pt x="19050" y="1219200"/>
                </a:lnTo>
                <a:lnTo>
                  <a:pt x="3934967" y="1219200"/>
                </a:lnTo>
                <a:lnTo>
                  <a:pt x="3934967" y="1210056"/>
                </a:lnTo>
                <a:lnTo>
                  <a:pt x="3944874" y="1200150"/>
                </a:lnTo>
                <a:close/>
              </a:path>
              <a:path w="3954145" h="1219200">
                <a:moveTo>
                  <a:pt x="19050" y="1219200"/>
                </a:moveTo>
                <a:lnTo>
                  <a:pt x="19050" y="1210056"/>
                </a:lnTo>
                <a:lnTo>
                  <a:pt x="9143" y="1200150"/>
                </a:lnTo>
                <a:lnTo>
                  <a:pt x="9143" y="1219200"/>
                </a:lnTo>
                <a:lnTo>
                  <a:pt x="19050" y="1219200"/>
                </a:lnTo>
                <a:close/>
              </a:path>
              <a:path w="3954145" h="1219200">
                <a:moveTo>
                  <a:pt x="3944874" y="19050"/>
                </a:moveTo>
                <a:lnTo>
                  <a:pt x="3934967" y="9906"/>
                </a:lnTo>
                <a:lnTo>
                  <a:pt x="3934967" y="19050"/>
                </a:lnTo>
                <a:lnTo>
                  <a:pt x="3944874" y="19050"/>
                </a:lnTo>
                <a:close/>
              </a:path>
              <a:path w="3954145" h="1219200">
                <a:moveTo>
                  <a:pt x="3944874" y="1200150"/>
                </a:moveTo>
                <a:lnTo>
                  <a:pt x="3944874" y="19050"/>
                </a:lnTo>
                <a:lnTo>
                  <a:pt x="3934967" y="19050"/>
                </a:lnTo>
                <a:lnTo>
                  <a:pt x="3934967" y="1200150"/>
                </a:lnTo>
                <a:lnTo>
                  <a:pt x="3944874" y="1200150"/>
                </a:lnTo>
                <a:close/>
              </a:path>
              <a:path w="3954145" h="1219200">
                <a:moveTo>
                  <a:pt x="3944874" y="1219200"/>
                </a:moveTo>
                <a:lnTo>
                  <a:pt x="3944874" y="1200150"/>
                </a:lnTo>
                <a:lnTo>
                  <a:pt x="3934967" y="1210056"/>
                </a:lnTo>
                <a:lnTo>
                  <a:pt x="3934967" y="1219200"/>
                </a:lnTo>
                <a:lnTo>
                  <a:pt x="3944874" y="1219200"/>
                </a:lnTo>
                <a:close/>
              </a:path>
            </a:pathLst>
          </a:custGeom>
          <a:solidFill>
            <a:srgbClr val="CC0000"/>
          </a:solidFill>
        </p:spPr>
        <p:txBody>
          <a:bodyPr wrap="square" lIns="0" tIns="0" rIns="0" bIns="0" rtlCol="0"/>
          <a:lstStyle/>
          <a:p>
            <a:pPr algn="just"/>
            <a:endParaRPr dirty="0"/>
          </a:p>
        </p:txBody>
      </p:sp>
      <p:sp>
        <p:nvSpPr>
          <p:cNvPr id="8" name="object 8"/>
          <p:cNvSpPr/>
          <p:nvPr/>
        </p:nvSpPr>
        <p:spPr>
          <a:xfrm>
            <a:off x="1508760" y="2105405"/>
            <a:ext cx="1664970" cy="101600"/>
          </a:xfrm>
          <a:custGeom>
            <a:avLst/>
            <a:gdLst/>
            <a:ahLst/>
            <a:cxnLst/>
            <a:rect l="l" t="t" r="r" b="b"/>
            <a:pathLst>
              <a:path w="1664970" h="101600">
                <a:moveTo>
                  <a:pt x="0" y="101346"/>
                </a:moveTo>
                <a:lnTo>
                  <a:pt x="1664969" y="101346"/>
                </a:lnTo>
                <a:lnTo>
                  <a:pt x="1664969" y="0"/>
                </a:lnTo>
                <a:lnTo>
                  <a:pt x="0" y="0"/>
                </a:lnTo>
                <a:lnTo>
                  <a:pt x="0" y="101346"/>
                </a:lnTo>
                <a:close/>
              </a:path>
            </a:pathLst>
          </a:custGeom>
          <a:solidFill>
            <a:srgbClr val="FFFFFF"/>
          </a:solidFill>
        </p:spPr>
        <p:txBody>
          <a:bodyPr wrap="square" lIns="0" tIns="0" rIns="0" bIns="0" rtlCol="0"/>
          <a:lstStyle/>
          <a:p>
            <a:endParaRPr/>
          </a:p>
        </p:txBody>
      </p:sp>
      <p:sp>
        <p:nvSpPr>
          <p:cNvPr id="9" name="object 9"/>
          <p:cNvSpPr/>
          <p:nvPr/>
        </p:nvSpPr>
        <p:spPr>
          <a:xfrm>
            <a:off x="1076705" y="1397508"/>
            <a:ext cx="2978150" cy="708025"/>
          </a:xfrm>
          <a:custGeom>
            <a:avLst/>
            <a:gdLst/>
            <a:ahLst/>
            <a:cxnLst/>
            <a:rect l="l" t="t" r="r" b="b"/>
            <a:pathLst>
              <a:path w="2978150" h="708025">
                <a:moveTo>
                  <a:pt x="0" y="0"/>
                </a:moveTo>
                <a:lnTo>
                  <a:pt x="0" y="707898"/>
                </a:lnTo>
                <a:lnTo>
                  <a:pt x="2977896" y="707898"/>
                </a:lnTo>
                <a:lnTo>
                  <a:pt x="2977896" y="0"/>
                </a:lnTo>
                <a:lnTo>
                  <a:pt x="0" y="0"/>
                </a:lnTo>
                <a:close/>
              </a:path>
            </a:pathLst>
          </a:custGeom>
          <a:solidFill>
            <a:srgbClr val="FFFFFF"/>
          </a:solidFill>
        </p:spPr>
        <p:txBody>
          <a:bodyPr wrap="square" lIns="0" tIns="0" rIns="0" bIns="0" rtlCol="0"/>
          <a:lstStyle/>
          <a:p>
            <a:endParaRPr/>
          </a:p>
        </p:txBody>
      </p:sp>
      <p:sp>
        <p:nvSpPr>
          <p:cNvPr id="10" name="object 10"/>
          <p:cNvSpPr txBox="1"/>
          <p:nvPr/>
        </p:nvSpPr>
        <p:spPr>
          <a:xfrm>
            <a:off x="956564" y="1397508"/>
            <a:ext cx="3774440" cy="2766783"/>
          </a:xfrm>
          <a:prstGeom prst="rect">
            <a:avLst/>
          </a:prstGeom>
        </p:spPr>
        <p:txBody>
          <a:bodyPr vert="horz" wrap="square" lIns="0" tIns="12065" rIns="0" bIns="0" rtlCol="0">
            <a:spAutoFit/>
          </a:bodyPr>
          <a:lstStyle/>
          <a:p>
            <a:pPr marL="220345" marR="779145">
              <a:lnSpc>
                <a:spcPct val="100000"/>
              </a:lnSpc>
              <a:spcBef>
                <a:spcPts val="95"/>
              </a:spcBef>
            </a:pPr>
            <a:r>
              <a:rPr lang="en-US" sz="2000" i="1" spc="-5" dirty="0" err="1">
                <a:solidFill>
                  <a:srgbClr val="CC0000"/>
                </a:solidFill>
                <a:latin typeface="Arial"/>
                <a:cs typeface="Arial"/>
              </a:rPr>
              <a:t>Dồn</a:t>
            </a:r>
            <a:r>
              <a:rPr sz="2000" i="1" spc="-5" dirty="0">
                <a:solidFill>
                  <a:srgbClr val="CC0000"/>
                </a:solidFill>
                <a:latin typeface="Arial"/>
                <a:cs typeface="Arial"/>
              </a:rPr>
              <a:t> kênh (multiplexing)  tại nút</a:t>
            </a:r>
            <a:r>
              <a:rPr sz="2000" i="1" spc="-15" dirty="0">
                <a:solidFill>
                  <a:srgbClr val="CC0000"/>
                </a:solidFill>
                <a:latin typeface="Arial"/>
                <a:cs typeface="Arial"/>
              </a:rPr>
              <a:t> </a:t>
            </a:r>
            <a:r>
              <a:rPr sz="2000" i="1" spc="-5" dirty="0">
                <a:solidFill>
                  <a:srgbClr val="CC0000"/>
                </a:solidFill>
                <a:latin typeface="Arial"/>
                <a:cs typeface="Arial"/>
              </a:rPr>
              <a:t>gửi</a:t>
            </a:r>
            <a:endParaRPr sz="2000" dirty="0">
              <a:latin typeface="Arial"/>
              <a:cs typeface="Arial"/>
            </a:endParaRPr>
          </a:p>
          <a:p>
            <a:pPr>
              <a:lnSpc>
                <a:spcPct val="100000"/>
              </a:lnSpc>
              <a:spcBef>
                <a:spcPts val="40"/>
              </a:spcBef>
            </a:pPr>
            <a:endParaRPr sz="1900" dirty="0">
              <a:latin typeface="Times New Roman"/>
              <a:cs typeface="Times New Roman"/>
            </a:endParaRPr>
          </a:p>
          <a:p>
            <a:pPr marL="12700" marR="5080" algn="just"/>
            <a:r>
              <a:rPr lang="en-US" sz="2000" spc="-5" dirty="0" err="1">
                <a:latin typeface="Arial"/>
                <a:cs typeface="Arial"/>
              </a:rPr>
              <a:t>Tầng</a:t>
            </a:r>
            <a:r>
              <a:rPr lang="en-US" sz="2000" spc="-5" dirty="0">
                <a:latin typeface="Arial"/>
                <a:cs typeface="Arial"/>
              </a:rPr>
              <a:t> </a:t>
            </a:r>
            <a:r>
              <a:rPr lang="en-US" sz="2000" spc="-5" dirty="0" err="1">
                <a:latin typeface="Arial"/>
                <a:cs typeface="Arial"/>
              </a:rPr>
              <a:t>giao</a:t>
            </a:r>
            <a:r>
              <a:rPr lang="en-US" sz="2000" spc="-5" dirty="0">
                <a:latin typeface="Arial"/>
                <a:cs typeface="Arial"/>
              </a:rPr>
              <a:t> </a:t>
            </a:r>
            <a:r>
              <a:rPr lang="en-US" sz="2000" spc="-5" dirty="0" err="1">
                <a:latin typeface="Arial"/>
                <a:cs typeface="Arial"/>
              </a:rPr>
              <a:t>vận</a:t>
            </a:r>
            <a:r>
              <a:rPr lang="en-US" sz="2000" spc="-5" dirty="0">
                <a:latin typeface="Arial"/>
                <a:cs typeface="Arial"/>
              </a:rPr>
              <a:t> </a:t>
            </a:r>
            <a:r>
              <a:rPr lang="en-US" sz="2000" spc="-5" dirty="0" err="1">
                <a:latin typeface="Arial"/>
                <a:cs typeface="Arial"/>
              </a:rPr>
              <a:t>nhận</a:t>
            </a:r>
            <a:r>
              <a:rPr lang="en-US" sz="2000" spc="-5" dirty="0">
                <a:latin typeface="Arial"/>
                <a:cs typeface="Arial"/>
              </a:rPr>
              <a:t> </a:t>
            </a:r>
            <a:r>
              <a:rPr lang="en-US" sz="2000" spc="-5" dirty="0" err="1">
                <a:latin typeface="Arial"/>
                <a:cs typeface="Arial"/>
              </a:rPr>
              <a:t>dữ</a:t>
            </a:r>
            <a:r>
              <a:rPr lang="en-US" sz="2000" spc="-5" dirty="0">
                <a:latin typeface="Arial"/>
                <a:cs typeface="Arial"/>
              </a:rPr>
              <a:t> </a:t>
            </a:r>
            <a:r>
              <a:rPr lang="en-US" sz="2000" spc="-5" dirty="0" err="1">
                <a:latin typeface="Arial"/>
                <a:cs typeface="Arial"/>
              </a:rPr>
              <a:t>liệu</a:t>
            </a:r>
            <a:r>
              <a:rPr lang="en-US" sz="2000" spc="-5" dirty="0">
                <a:latin typeface="Arial"/>
                <a:cs typeface="Arial"/>
              </a:rPr>
              <a:t> </a:t>
            </a:r>
            <a:r>
              <a:rPr lang="en-US" sz="2000" spc="-5" dirty="0" err="1">
                <a:latin typeface="Arial"/>
                <a:cs typeface="Arial"/>
              </a:rPr>
              <a:t>từ</a:t>
            </a:r>
            <a:r>
              <a:rPr lang="en-US" sz="2000" spc="-5" dirty="0">
                <a:latin typeface="Arial"/>
                <a:cs typeface="Arial"/>
              </a:rPr>
              <a:t> </a:t>
            </a:r>
            <a:r>
              <a:rPr lang="en-US" sz="2000" spc="-5" dirty="0" err="1">
                <a:latin typeface="Arial"/>
                <a:cs typeface="Arial"/>
              </a:rPr>
              <a:t>nhiều</a:t>
            </a:r>
            <a:r>
              <a:rPr lang="en-US" sz="2000" spc="-5" dirty="0">
                <a:latin typeface="Arial"/>
                <a:cs typeface="Arial"/>
              </a:rPr>
              <a:t> </a:t>
            </a:r>
            <a:r>
              <a:rPr lang="en-US" sz="2000" spc="-5" dirty="0" err="1">
                <a:latin typeface="Arial"/>
                <a:cs typeface="Arial"/>
              </a:rPr>
              <a:t>tiến</a:t>
            </a:r>
            <a:r>
              <a:rPr lang="en-US" sz="2000" spc="-5" dirty="0">
                <a:latin typeface="Arial"/>
                <a:cs typeface="Arial"/>
              </a:rPr>
              <a:t> </a:t>
            </a:r>
            <a:r>
              <a:rPr lang="en-US" sz="2000" spc="-5" dirty="0" err="1">
                <a:latin typeface="Arial"/>
                <a:cs typeface="Arial"/>
              </a:rPr>
              <a:t>trình</a:t>
            </a:r>
            <a:r>
              <a:rPr lang="en-US" sz="2000" spc="-5" dirty="0">
                <a:latin typeface="Arial"/>
                <a:cs typeface="Arial"/>
              </a:rPr>
              <a:t> </a:t>
            </a:r>
            <a:r>
              <a:rPr lang="en-US" sz="2000" spc="-5" dirty="0" err="1">
                <a:latin typeface="Arial"/>
                <a:cs typeface="Arial"/>
              </a:rPr>
              <a:t>ứng</a:t>
            </a:r>
            <a:r>
              <a:rPr lang="en-US" sz="2000" spc="-5" dirty="0">
                <a:latin typeface="Arial"/>
                <a:cs typeface="Arial"/>
              </a:rPr>
              <a:t> </a:t>
            </a:r>
            <a:r>
              <a:rPr lang="en-US" sz="2000" spc="-5" dirty="0" err="1">
                <a:latin typeface="Arial"/>
                <a:cs typeface="Arial"/>
              </a:rPr>
              <a:t>dụng</a:t>
            </a:r>
            <a:r>
              <a:rPr lang="en-US" sz="2000" spc="-5" dirty="0">
                <a:latin typeface="Arial"/>
                <a:cs typeface="Arial"/>
              </a:rPr>
              <a:t>, </a:t>
            </a:r>
            <a:r>
              <a:rPr lang="en-US" sz="2000" spc="-5" dirty="0" err="1">
                <a:latin typeface="Arial"/>
                <a:cs typeface="Arial"/>
              </a:rPr>
              <a:t>bổ</a:t>
            </a:r>
            <a:r>
              <a:rPr lang="en-US" sz="2000" spc="-5" dirty="0">
                <a:latin typeface="Arial"/>
                <a:cs typeface="Arial"/>
              </a:rPr>
              <a:t> sung </a:t>
            </a:r>
            <a:r>
              <a:rPr lang="en-US" sz="2000" spc="-5" dirty="0" err="1">
                <a:latin typeface="Arial"/>
                <a:cs typeface="Arial"/>
              </a:rPr>
              <a:t>thêm</a:t>
            </a:r>
            <a:r>
              <a:rPr lang="en-US" sz="2000" spc="-5" dirty="0">
                <a:latin typeface="Arial"/>
                <a:cs typeface="Arial"/>
              </a:rPr>
              <a:t> </a:t>
            </a:r>
            <a:r>
              <a:rPr lang="en-US" sz="2000" spc="-5" dirty="0" err="1">
                <a:latin typeface="Arial"/>
                <a:cs typeface="Arial"/>
              </a:rPr>
              <a:t>tiêu</a:t>
            </a:r>
            <a:r>
              <a:rPr lang="en-US" sz="2000" spc="-5" dirty="0">
                <a:latin typeface="Arial"/>
                <a:cs typeface="Arial"/>
              </a:rPr>
              <a:t> </a:t>
            </a:r>
            <a:r>
              <a:rPr lang="en-US" sz="2000" spc="-5" dirty="0" err="1">
                <a:latin typeface="Arial"/>
                <a:cs typeface="Arial"/>
              </a:rPr>
              <a:t>đề</a:t>
            </a:r>
            <a:r>
              <a:rPr lang="en-US" sz="2000" spc="-5" dirty="0">
                <a:latin typeface="Arial"/>
                <a:cs typeface="Arial"/>
              </a:rPr>
              <a:t> </a:t>
            </a:r>
            <a:r>
              <a:rPr lang="en-US" sz="2000" spc="-5" dirty="0" err="1">
                <a:latin typeface="Arial"/>
                <a:cs typeface="Arial"/>
              </a:rPr>
              <a:t>của</a:t>
            </a:r>
            <a:r>
              <a:rPr lang="en-US" sz="2000" spc="-5" dirty="0">
                <a:latin typeface="Arial"/>
                <a:cs typeface="Arial"/>
              </a:rPr>
              <a:t> </a:t>
            </a:r>
            <a:r>
              <a:rPr lang="en-US" sz="2000" spc="-5" dirty="0" err="1">
                <a:latin typeface="Arial"/>
                <a:cs typeface="Arial"/>
              </a:rPr>
              <a:t>tầng</a:t>
            </a:r>
            <a:r>
              <a:rPr lang="en-US" sz="2000" spc="-5" dirty="0">
                <a:latin typeface="Arial"/>
                <a:cs typeface="Arial"/>
              </a:rPr>
              <a:t> </a:t>
            </a:r>
            <a:r>
              <a:rPr lang="en-US" sz="2000" spc="-5" dirty="0" err="1">
                <a:latin typeface="Arial"/>
                <a:cs typeface="Arial"/>
              </a:rPr>
              <a:t>giao</a:t>
            </a:r>
            <a:r>
              <a:rPr lang="en-US" sz="2000" spc="-5" dirty="0">
                <a:latin typeface="Arial"/>
                <a:cs typeface="Arial"/>
              </a:rPr>
              <a:t> </a:t>
            </a:r>
            <a:r>
              <a:rPr lang="en-US" sz="2000" spc="-5" dirty="0" err="1">
                <a:latin typeface="Arial"/>
                <a:cs typeface="Arial"/>
              </a:rPr>
              <a:t>vận</a:t>
            </a:r>
            <a:r>
              <a:rPr lang="en-US" sz="2000" spc="-5" dirty="0">
                <a:latin typeface="Arial"/>
                <a:cs typeface="Arial"/>
              </a:rPr>
              <a:t> </a:t>
            </a:r>
            <a:r>
              <a:rPr lang="en-US" sz="2000" spc="-5" dirty="0" err="1">
                <a:latin typeface="Arial"/>
                <a:cs typeface="Arial"/>
              </a:rPr>
              <a:t>để</a:t>
            </a:r>
            <a:r>
              <a:rPr lang="en-US" sz="2000" spc="-5" dirty="0">
                <a:latin typeface="Arial"/>
                <a:cs typeface="Arial"/>
              </a:rPr>
              <a:t> </a:t>
            </a:r>
            <a:r>
              <a:rPr lang="en-US" sz="2000" spc="-5" dirty="0" err="1">
                <a:latin typeface="Arial"/>
                <a:cs typeface="Arial"/>
              </a:rPr>
              <a:t>tạo</a:t>
            </a:r>
            <a:r>
              <a:rPr lang="en-US" sz="2000" spc="-5" dirty="0">
                <a:latin typeface="Arial"/>
                <a:cs typeface="Arial"/>
              </a:rPr>
              <a:t> </a:t>
            </a:r>
            <a:r>
              <a:rPr lang="en-US" sz="2000" spc="-5" dirty="0" err="1">
                <a:latin typeface="Arial"/>
                <a:cs typeface="Arial"/>
              </a:rPr>
              <a:t>thành</a:t>
            </a:r>
            <a:r>
              <a:rPr lang="en-US" sz="2000" spc="-5" dirty="0">
                <a:latin typeface="Arial"/>
                <a:cs typeface="Arial"/>
              </a:rPr>
              <a:t> </a:t>
            </a:r>
            <a:r>
              <a:rPr lang="en-US" sz="2000" spc="-5" dirty="0" err="1">
                <a:latin typeface="Arial"/>
                <a:cs typeface="Arial"/>
              </a:rPr>
              <a:t>các</a:t>
            </a:r>
            <a:r>
              <a:rPr lang="en-US" sz="2000" spc="-5" dirty="0">
                <a:latin typeface="Arial"/>
                <a:cs typeface="Arial"/>
              </a:rPr>
              <a:t> segment </a:t>
            </a:r>
            <a:r>
              <a:rPr lang="en-US" sz="2000" spc="-5" dirty="0" err="1">
                <a:latin typeface="Arial"/>
                <a:cs typeface="Arial"/>
              </a:rPr>
              <a:t>và</a:t>
            </a:r>
            <a:r>
              <a:rPr lang="en-US" sz="2000" spc="-5" dirty="0">
                <a:latin typeface="Arial"/>
                <a:cs typeface="Arial"/>
              </a:rPr>
              <a:t> </a:t>
            </a:r>
            <a:r>
              <a:rPr lang="en-US" sz="2000" spc="-5" dirty="0" err="1">
                <a:latin typeface="Arial"/>
                <a:cs typeface="Arial"/>
              </a:rPr>
              <a:t>gửi</a:t>
            </a:r>
            <a:r>
              <a:rPr lang="en-US" sz="2000" spc="-5" dirty="0">
                <a:latin typeface="Arial"/>
                <a:cs typeface="Arial"/>
              </a:rPr>
              <a:t> </a:t>
            </a:r>
            <a:r>
              <a:rPr lang="en-US" sz="2000" spc="-5" dirty="0" err="1">
                <a:latin typeface="Arial"/>
                <a:cs typeface="Arial"/>
              </a:rPr>
              <a:t>các</a:t>
            </a:r>
            <a:r>
              <a:rPr lang="en-US" sz="2000" spc="-5" dirty="0">
                <a:latin typeface="Arial"/>
                <a:cs typeface="Arial"/>
              </a:rPr>
              <a:t> segment </a:t>
            </a:r>
            <a:r>
              <a:rPr lang="en-US" sz="2000" spc="-5" dirty="0" err="1">
                <a:latin typeface="Arial"/>
                <a:cs typeface="Arial"/>
              </a:rPr>
              <a:t>này</a:t>
            </a:r>
            <a:r>
              <a:rPr lang="en-US" sz="2000" spc="-5" dirty="0">
                <a:latin typeface="Arial"/>
                <a:cs typeface="Arial"/>
              </a:rPr>
              <a:t> </a:t>
            </a:r>
            <a:r>
              <a:rPr lang="en-US" sz="2000" spc="-5" dirty="0" err="1">
                <a:latin typeface="Arial"/>
                <a:cs typeface="Arial"/>
              </a:rPr>
              <a:t>xuống</a:t>
            </a:r>
            <a:r>
              <a:rPr lang="en-US" sz="2000" spc="-5" dirty="0">
                <a:latin typeface="Arial"/>
                <a:cs typeface="Arial"/>
              </a:rPr>
              <a:t> </a:t>
            </a:r>
            <a:r>
              <a:rPr lang="en-US" sz="2000" spc="-5" dirty="0" err="1">
                <a:latin typeface="Arial"/>
                <a:cs typeface="Arial"/>
              </a:rPr>
              <a:t>tầng</a:t>
            </a:r>
            <a:r>
              <a:rPr lang="en-US" sz="2000" spc="-5" dirty="0">
                <a:latin typeface="Arial"/>
                <a:cs typeface="Arial"/>
              </a:rPr>
              <a:t> </a:t>
            </a:r>
            <a:r>
              <a:rPr lang="en-US" sz="2000" spc="-5" dirty="0" err="1">
                <a:latin typeface="Arial"/>
                <a:cs typeface="Arial"/>
              </a:rPr>
              <a:t>mạng</a:t>
            </a:r>
            <a:r>
              <a:rPr lang="en-US" sz="2000" spc="-5" dirty="0">
                <a:latin typeface="Arial"/>
                <a:cs typeface="Arial"/>
              </a:rPr>
              <a:t>  </a:t>
            </a:r>
            <a:endParaRPr sz="2000" dirty="0">
              <a:latin typeface="Arial"/>
              <a:cs typeface="Arial"/>
            </a:endParaRPr>
          </a:p>
        </p:txBody>
      </p:sp>
      <p:sp>
        <p:nvSpPr>
          <p:cNvPr id="11" name="object 11"/>
          <p:cNvSpPr/>
          <p:nvPr/>
        </p:nvSpPr>
        <p:spPr>
          <a:xfrm>
            <a:off x="1020124" y="4648021"/>
            <a:ext cx="7705158" cy="2921788"/>
          </a:xfrm>
          <a:prstGeom prst="rect">
            <a:avLst/>
          </a:prstGeom>
          <a:blipFill>
            <a:blip r:embed="rId3" cstate="print"/>
            <a:stretch>
              <a:fillRect/>
            </a:stretch>
          </a:blipFill>
        </p:spPr>
        <p:txBody>
          <a:bodyPr wrap="square" lIns="0" tIns="0" rIns="0" bIns="0" rtlCol="0"/>
          <a:lstStyle/>
          <a:p>
            <a:endParaRPr/>
          </a:p>
        </p:txBody>
      </p:sp>
      <p:sp>
        <p:nvSpPr>
          <p:cNvPr id="13" name="Slide Number Placeholder 12"/>
          <p:cNvSpPr>
            <a:spLocks noGrp="1"/>
          </p:cNvSpPr>
          <p:nvPr>
            <p:ph type="sldNum" sz="quarter" idx="7"/>
          </p:nvPr>
        </p:nvSpPr>
        <p:spPr>
          <a:xfrm>
            <a:off x="9372600" y="7239000"/>
            <a:ext cx="394970" cy="205184"/>
          </a:xfrm>
        </p:spPr>
        <p:txBody>
          <a:bodyPr/>
          <a:lstStyle/>
          <a:p>
            <a:pPr marL="12700">
              <a:lnSpc>
                <a:spcPts val="1645"/>
              </a:lnSpc>
            </a:pPr>
            <a:fld id="{81D60167-4931-47E6-BA6A-407CBD079E47}" type="slidenum">
              <a:rPr spc="-5" smtClean="0"/>
              <a:t>10</a:t>
            </a:fld>
            <a:endParaRPr spc="-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GB" dirty="0" err="1"/>
              <a:t>Dồn</a:t>
            </a:r>
            <a:r>
              <a:rPr lang="en-GB" dirty="0"/>
              <a:t> </a:t>
            </a:r>
            <a:r>
              <a:rPr lang="en-GB" dirty="0" err="1"/>
              <a:t>kênh</a:t>
            </a:r>
            <a:r>
              <a:rPr lang="en-GB" dirty="0"/>
              <a:t> </a:t>
            </a:r>
            <a:r>
              <a:rPr lang="en-GB" dirty="0" err="1"/>
              <a:t>và</a:t>
            </a:r>
            <a:r>
              <a:rPr lang="en-GB" dirty="0"/>
              <a:t> </a:t>
            </a:r>
            <a:r>
              <a:rPr lang="en-GB" dirty="0" err="1"/>
              <a:t>phân</a:t>
            </a:r>
            <a:r>
              <a:rPr lang="en-GB" dirty="0"/>
              <a:t> </a:t>
            </a:r>
            <a:r>
              <a:rPr lang="en-GB" dirty="0" err="1"/>
              <a:t>kênh</a:t>
            </a:r>
            <a:endParaRPr lang="en-GB" dirty="0"/>
          </a:p>
        </p:txBody>
      </p:sp>
      <p:sp>
        <p:nvSpPr>
          <p:cNvPr id="5" name="Rectangle 4"/>
          <p:cNvSpPr/>
          <p:nvPr/>
        </p:nvSpPr>
        <p:spPr>
          <a:xfrm>
            <a:off x="914400" y="2514600"/>
            <a:ext cx="685800" cy="457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a:t>
            </a:r>
          </a:p>
        </p:txBody>
      </p:sp>
      <p:sp>
        <p:nvSpPr>
          <p:cNvPr id="6" name="Rectangle 5"/>
          <p:cNvSpPr/>
          <p:nvPr/>
        </p:nvSpPr>
        <p:spPr>
          <a:xfrm>
            <a:off x="1645920" y="2518611"/>
            <a:ext cx="685800" cy="4572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FTP</a:t>
            </a:r>
          </a:p>
        </p:txBody>
      </p:sp>
      <p:sp>
        <p:nvSpPr>
          <p:cNvPr id="7" name="Rectangle 6"/>
          <p:cNvSpPr/>
          <p:nvPr/>
        </p:nvSpPr>
        <p:spPr>
          <a:xfrm>
            <a:off x="2399097" y="25146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DNS</a:t>
            </a:r>
          </a:p>
        </p:txBody>
      </p:sp>
      <p:sp>
        <p:nvSpPr>
          <p:cNvPr id="8" name="Rectangle 7"/>
          <p:cNvSpPr/>
          <p:nvPr/>
        </p:nvSpPr>
        <p:spPr>
          <a:xfrm>
            <a:off x="3222688" y="2514600"/>
            <a:ext cx="685800" cy="457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SSH</a:t>
            </a:r>
          </a:p>
        </p:txBody>
      </p:sp>
      <p:sp>
        <p:nvSpPr>
          <p:cNvPr id="9" name="Rectangle 8"/>
          <p:cNvSpPr/>
          <p:nvPr/>
        </p:nvSpPr>
        <p:spPr>
          <a:xfrm>
            <a:off x="5921312" y="2514600"/>
            <a:ext cx="685800" cy="457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a:t>
            </a:r>
          </a:p>
        </p:txBody>
      </p:sp>
      <p:sp>
        <p:nvSpPr>
          <p:cNvPr id="10" name="Rectangle 9"/>
          <p:cNvSpPr/>
          <p:nvPr/>
        </p:nvSpPr>
        <p:spPr>
          <a:xfrm>
            <a:off x="6652832" y="2518611"/>
            <a:ext cx="685800" cy="4572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FTP</a:t>
            </a:r>
          </a:p>
        </p:txBody>
      </p:sp>
      <p:sp>
        <p:nvSpPr>
          <p:cNvPr id="11" name="Rectangle 10"/>
          <p:cNvSpPr/>
          <p:nvPr/>
        </p:nvSpPr>
        <p:spPr>
          <a:xfrm>
            <a:off x="7406009" y="25146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DNS</a:t>
            </a:r>
          </a:p>
        </p:txBody>
      </p:sp>
      <p:sp>
        <p:nvSpPr>
          <p:cNvPr id="12" name="Rectangle 11"/>
          <p:cNvSpPr/>
          <p:nvPr/>
        </p:nvSpPr>
        <p:spPr>
          <a:xfrm>
            <a:off x="8229600" y="2514600"/>
            <a:ext cx="685800" cy="457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SSH</a:t>
            </a:r>
          </a:p>
        </p:txBody>
      </p:sp>
      <p:sp>
        <p:nvSpPr>
          <p:cNvPr id="13" name="Rectangle 12"/>
          <p:cNvSpPr/>
          <p:nvPr/>
        </p:nvSpPr>
        <p:spPr>
          <a:xfrm>
            <a:off x="1765214" y="3402256"/>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TCP</a:t>
            </a:r>
          </a:p>
        </p:txBody>
      </p:sp>
      <p:sp>
        <p:nvSpPr>
          <p:cNvPr id="14" name="Rectangle 13"/>
          <p:cNvSpPr/>
          <p:nvPr/>
        </p:nvSpPr>
        <p:spPr>
          <a:xfrm>
            <a:off x="2496734" y="3406267"/>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UDP</a:t>
            </a:r>
          </a:p>
        </p:txBody>
      </p:sp>
      <p:sp>
        <p:nvSpPr>
          <p:cNvPr id="15" name="Rectangle 14"/>
          <p:cNvSpPr/>
          <p:nvPr/>
        </p:nvSpPr>
        <p:spPr>
          <a:xfrm>
            <a:off x="6591070" y="347654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TCP</a:t>
            </a:r>
          </a:p>
        </p:txBody>
      </p:sp>
      <p:sp>
        <p:nvSpPr>
          <p:cNvPr id="16" name="Rectangle 15"/>
          <p:cNvSpPr/>
          <p:nvPr/>
        </p:nvSpPr>
        <p:spPr>
          <a:xfrm>
            <a:off x="7322590" y="3480551"/>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UDP</a:t>
            </a:r>
          </a:p>
        </p:txBody>
      </p:sp>
      <p:cxnSp>
        <p:nvCxnSpPr>
          <p:cNvPr id="18" name="Straight Arrow Connector 17"/>
          <p:cNvCxnSpPr>
            <a:stCxn id="5" idx="2"/>
            <a:endCxn id="13" idx="0"/>
          </p:cNvCxnSpPr>
          <p:nvPr/>
        </p:nvCxnSpPr>
        <p:spPr>
          <a:xfrm>
            <a:off x="1257300" y="2971800"/>
            <a:ext cx="850814" cy="430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13" idx="0"/>
          </p:cNvCxnSpPr>
          <p:nvPr/>
        </p:nvCxnSpPr>
        <p:spPr>
          <a:xfrm>
            <a:off x="1985945" y="2985172"/>
            <a:ext cx="122169" cy="417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2"/>
          </p:cNvCxnSpPr>
          <p:nvPr/>
        </p:nvCxnSpPr>
        <p:spPr>
          <a:xfrm flipH="1">
            <a:off x="2129612" y="2971800"/>
            <a:ext cx="1435976" cy="407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108114" y="4308603"/>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IP</a:t>
            </a:r>
          </a:p>
        </p:txBody>
      </p:sp>
      <p:sp>
        <p:nvSpPr>
          <p:cNvPr id="27" name="Rectangle 26"/>
          <p:cNvSpPr/>
          <p:nvPr/>
        </p:nvSpPr>
        <p:spPr>
          <a:xfrm>
            <a:off x="6855206" y="4398803"/>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IP</a:t>
            </a:r>
          </a:p>
        </p:txBody>
      </p:sp>
      <p:cxnSp>
        <p:nvCxnSpPr>
          <p:cNvPr id="29" name="Straight Connector 28"/>
          <p:cNvCxnSpPr>
            <a:stCxn id="26" idx="2"/>
          </p:cNvCxnSpPr>
          <p:nvPr/>
        </p:nvCxnSpPr>
        <p:spPr>
          <a:xfrm flipH="1">
            <a:off x="2445162" y="4765803"/>
            <a:ext cx="5852" cy="1406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445162" y="6172200"/>
            <a:ext cx="47529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7198106" y="4856003"/>
            <a:ext cx="0" cy="1316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3" idx="2"/>
            <a:endCxn id="26" idx="0"/>
          </p:cNvCxnSpPr>
          <p:nvPr/>
        </p:nvCxnSpPr>
        <p:spPr>
          <a:xfrm>
            <a:off x="2108114" y="3859456"/>
            <a:ext cx="342900" cy="449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2491169" y="3859456"/>
            <a:ext cx="348465" cy="449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7" idx="0"/>
          </p:cNvCxnSpPr>
          <p:nvPr/>
        </p:nvCxnSpPr>
        <p:spPr>
          <a:xfrm flipH="1" flipV="1">
            <a:off x="6855206" y="3933740"/>
            <a:ext cx="342900" cy="465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7" idx="0"/>
          </p:cNvCxnSpPr>
          <p:nvPr/>
        </p:nvCxnSpPr>
        <p:spPr>
          <a:xfrm flipV="1">
            <a:off x="7198106" y="3965373"/>
            <a:ext cx="342900" cy="433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5" idx="0"/>
          </p:cNvCxnSpPr>
          <p:nvPr/>
        </p:nvCxnSpPr>
        <p:spPr>
          <a:xfrm flipH="1" flipV="1">
            <a:off x="6264212" y="3023351"/>
            <a:ext cx="669758" cy="453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10" idx="2"/>
          </p:cNvCxnSpPr>
          <p:nvPr/>
        </p:nvCxnSpPr>
        <p:spPr>
          <a:xfrm flipV="1">
            <a:off x="6925469" y="2975811"/>
            <a:ext cx="70263" cy="475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5" idx="0"/>
          </p:cNvCxnSpPr>
          <p:nvPr/>
        </p:nvCxnSpPr>
        <p:spPr>
          <a:xfrm flipV="1">
            <a:off x="6933970" y="3037744"/>
            <a:ext cx="1579023" cy="438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3392775" y="5715000"/>
            <a:ext cx="685800" cy="457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HTTP</a:t>
            </a:r>
          </a:p>
        </p:txBody>
      </p:sp>
      <p:sp>
        <p:nvSpPr>
          <p:cNvPr id="60" name="Rectangle 59"/>
          <p:cNvSpPr/>
          <p:nvPr/>
        </p:nvSpPr>
        <p:spPr>
          <a:xfrm>
            <a:off x="4124295" y="5719011"/>
            <a:ext cx="685800" cy="4572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FTP</a:t>
            </a:r>
          </a:p>
        </p:txBody>
      </p:sp>
      <p:sp>
        <p:nvSpPr>
          <p:cNvPr id="61" name="Rectangle 60"/>
          <p:cNvSpPr/>
          <p:nvPr/>
        </p:nvSpPr>
        <p:spPr>
          <a:xfrm>
            <a:off x="4877472" y="57150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DNS</a:t>
            </a:r>
          </a:p>
        </p:txBody>
      </p:sp>
      <p:sp>
        <p:nvSpPr>
          <p:cNvPr id="62" name="Rectangle 61"/>
          <p:cNvSpPr/>
          <p:nvPr/>
        </p:nvSpPr>
        <p:spPr>
          <a:xfrm>
            <a:off x="5701063" y="5715000"/>
            <a:ext cx="685800" cy="457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SSH</a:t>
            </a:r>
          </a:p>
        </p:txBody>
      </p:sp>
      <p:sp>
        <p:nvSpPr>
          <p:cNvPr id="17" name="TextBox 16"/>
          <p:cNvSpPr txBox="1"/>
          <p:nvPr/>
        </p:nvSpPr>
        <p:spPr>
          <a:xfrm>
            <a:off x="1247524" y="3020306"/>
            <a:ext cx="418704" cy="369332"/>
          </a:xfrm>
          <a:prstGeom prst="rect">
            <a:avLst/>
          </a:prstGeom>
          <a:noFill/>
        </p:spPr>
        <p:txBody>
          <a:bodyPr wrap="none" rtlCol="0">
            <a:spAutoFit/>
          </a:bodyPr>
          <a:lstStyle/>
          <a:p>
            <a:r>
              <a:rPr lang="en-GB" dirty="0"/>
              <a:t>80</a:t>
            </a:r>
          </a:p>
        </p:txBody>
      </p:sp>
      <p:sp>
        <p:nvSpPr>
          <p:cNvPr id="38" name="TextBox 37"/>
          <p:cNvSpPr txBox="1"/>
          <p:nvPr/>
        </p:nvSpPr>
        <p:spPr>
          <a:xfrm>
            <a:off x="6227407" y="3092299"/>
            <a:ext cx="418704" cy="369332"/>
          </a:xfrm>
          <a:prstGeom prst="rect">
            <a:avLst/>
          </a:prstGeom>
          <a:noFill/>
        </p:spPr>
        <p:txBody>
          <a:bodyPr wrap="none" rtlCol="0">
            <a:spAutoFit/>
          </a:bodyPr>
          <a:lstStyle/>
          <a:p>
            <a:r>
              <a:rPr lang="en-GB" dirty="0"/>
              <a:t>80</a:t>
            </a:r>
          </a:p>
        </p:txBody>
      </p:sp>
      <p:sp>
        <p:nvSpPr>
          <p:cNvPr id="39" name="TextBox 38"/>
          <p:cNvSpPr txBox="1"/>
          <p:nvPr/>
        </p:nvSpPr>
        <p:spPr>
          <a:xfrm>
            <a:off x="2968413" y="3055657"/>
            <a:ext cx="418704" cy="369332"/>
          </a:xfrm>
          <a:prstGeom prst="rect">
            <a:avLst/>
          </a:prstGeom>
          <a:noFill/>
        </p:spPr>
        <p:txBody>
          <a:bodyPr wrap="none" rtlCol="0">
            <a:spAutoFit/>
          </a:bodyPr>
          <a:lstStyle/>
          <a:p>
            <a:r>
              <a:rPr lang="en-GB" dirty="0"/>
              <a:t>22</a:t>
            </a:r>
          </a:p>
        </p:txBody>
      </p:sp>
      <p:sp>
        <p:nvSpPr>
          <p:cNvPr id="40" name="Content Placeholder 2"/>
          <p:cNvSpPr txBox="1">
            <a:spLocks/>
          </p:cNvSpPr>
          <p:nvPr/>
        </p:nvSpPr>
        <p:spPr>
          <a:xfrm>
            <a:off x="6209138" y="1893559"/>
            <a:ext cx="3858895" cy="4415790"/>
          </a:xfrm>
          <a:prstGeom prst="rect">
            <a:avLst/>
          </a:prstGeom>
        </p:spPr>
        <p:txBody>
          <a:bodyPr wrap="square" lIns="0" tIns="0" rIns="0" bIns="0">
            <a:spAutoFit/>
          </a:bodyPr>
          <a:lstStyle>
            <a:lvl1pPr marL="0">
              <a:defRPr sz="240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GB" kern="0" dirty="0"/>
          </a:p>
        </p:txBody>
      </p:sp>
      <p:sp>
        <p:nvSpPr>
          <p:cNvPr id="42" name="TextBox 41"/>
          <p:cNvSpPr txBox="1"/>
          <p:nvPr/>
        </p:nvSpPr>
        <p:spPr>
          <a:xfrm>
            <a:off x="8008390" y="3107208"/>
            <a:ext cx="418704" cy="369332"/>
          </a:xfrm>
          <a:prstGeom prst="rect">
            <a:avLst/>
          </a:prstGeom>
          <a:noFill/>
        </p:spPr>
        <p:txBody>
          <a:bodyPr wrap="none" rtlCol="0">
            <a:spAutoFit/>
          </a:bodyPr>
          <a:lstStyle/>
          <a:p>
            <a:r>
              <a:rPr lang="en-GB" dirty="0"/>
              <a:t>22</a:t>
            </a:r>
          </a:p>
        </p:txBody>
      </p:sp>
      <p:cxnSp>
        <p:nvCxnSpPr>
          <p:cNvPr id="21" name="Straight Arrow Connector 20"/>
          <p:cNvCxnSpPr>
            <a:stCxn id="7" idx="2"/>
            <a:endCxn id="14" idx="0"/>
          </p:cNvCxnSpPr>
          <p:nvPr/>
        </p:nvCxnSpPr>
        <p:spPr>
          <a:xfrm>
            <a:off x="2741997" y="2971800"/>
            <a:ext cx="97637" cy="43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0"/>
            <a:endCxn id="11" idx="2"/>
          </p:cNvCxnSpPr>
          <p:nvPr/>
        </p:nvCxnSpPr>
        <p:spPr>
          <a:xfrm flipV="1">
            <a:off x="7665490" y="2971800"/>
            <a:ext cx="83419" cy="508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153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8" y="957326"/>
            <a:ext cx="8989061" cy="1120820"/>
          </a:xfrm>
          <a:prstGeom prst="rect">
            <a:avLst/>
          </a:prstGeom>
        </p:spPr>
        <p:txBody>
          <a:bodyPr vert="horz" wrap="square" lIns="0" tIns="12700" rIns="0" bIns="0" rtlCol="0">
            <a:spAutoFit/>
          </a:bodyPr>
          <a:lstStyle/>
          <a:p>
            <a:pPr marL="12700">
              <a:lnSpc>
                <a:spcPct val="100000"/>
              </a:lnSpc>
              <a:spcBef>
                <a:spcPts val="100"/>
              </a:spcBef>
            </a:pPr>
            <a:r>
              <a:rPr lang="en-US" dirty="0" err="1"/>
              <a:t>Dồn</a:t>
            </a:r>
            <a:r>
              <a:rPr lang="en-US" dirty="0"/>
              <a:t> </a:t>
            </a:r>
            <a:r>
              <a:rPr lang="en-US" dirty="0" err="1"/>
              <a:t>kênh</a:t>
            </a:r>
            <a:r>
              <a:rPr lang="en-US" dirty="0"/>
              <a:t> </a:t>
            </a:r>
            <a:r>
              <a:rPr lang="en-US" dirty="0" err="1"/>
              <a:t>và</a:t>
            </a:r>
            <a:r>
              <a:rPr lang="en-US" dirty="0"/>
              <a:t> </a:t>
            </a:r>
            <a:r>
              <a:rPr lang="en-US" dirty="0" err="1"/>
              <a:t>phân</a:t>
            </a:r>
            <a:r>
              <a:rPr lang="en-US" dirty="0"/>
              <a:t> </a:t>
            </a:r>
            <a:r>
              <a:rPr lang="en-US" dirty="0" err="1"/>
              <a:t>kênh</a:t>
            </a:r>
            <a:r>
              <a:rPr lang="en-US" dirty="0"/>
              <a:t> </a:t>
            </a:r>
            <a:r>
              <a:rPr lang="en-US" dirty="0" err="1"/>
              <a:t>hoạt</a:t>
            </a:r>
            <a:r>
              <a:rPr lang="en-US" dirty="0"/>
              <a:t> </a:t>
            </a:r>
            <a:r>
              <a:rPr lang="en-US" dirty="0" err="1"/>
              <a:t>động</a:t>
            </a:r>
            <a:r>
              <a:rPr lang="en-US" dirty="0"/>
              <a:t> </a:t>
            </a:r>
            <a:r>
              <a:rPr lang="en-US" dirty="0" err="1"/>
              <a:t>như</a:t>
            </a:r>
            <a:r>
              <a:rPr lang="en-US" dirty="0"/>
              <a:t> </a:t>
            </a:r>
            <a:r>
              <a:rPr lang="en-US" dirty="0" err="1"/>
              <a:t>thế</a:t>
            </a:r>
            <a:r>
              <a:rPr lang="en-US" dirty="0"/>
              <a:t> </a:t>
            </a:r>
            <a:r>
              <a:rPr lang="en-US" dirty="0" err="1"/>
              <a:t>nào</a:t>
            </a:r>
            <a:r>
              <a:rPr lang="en-US" dirty="0"/>
              <a:t>?</a:t>
            </a:r>
            <a:endParaRPr dirty="0"/>
          </a:p>
        </p:txBody>
      </p:sp>
      <p:sp>
        <p:nvSpPr>
          <p:cNvPr id="3" name="object 3"/>
          <p:cNvSpPr/>
          <p:nvPr/>
        </p:nvSpPr>
        <p:spPr>
          <a:xfrm>
            <a:off x="6392178" y="2552700"/>
            <a:ext cx="3324225" cy="3200400"/>
          </a:xfrm>
          <a:custGeom>
            <a:avLst/>
            <a:gdLst/>
            <a:ahLst/>
            <a:cxnLst/>
            <a:rect l="l" t="t" r="r" b="b"/>
            <a:pathLst>
              <a:path w="3324225" h="3200400">
                <a:moveTo>
                  <a:pt x="0" y="0"/>
                </a:moveTo>
                <a:lnTo>
                  <a:pt x="0" y="3200400"/>
                </a:lnTo>
                <a:lnTo>
                  <a:pt x="3323844" y="3200400"/>
                </a:lnTo>
                <a:lnTo>
                  <a:pt x="3323844" y="0"/>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6382273" y="2543555"/>
            <a:ext cx="3343910" cy="3219450"/>
          </a:xfrm>
          <a:custGeom>
            <a:avLst/>
            <a:gdLst/>
            <a:ahLst/>
            <a:cxnLst/>
            <a:rect l="l" t="t" r="r" b="b"/>
            <a:pathLst>
              <a:path w="3343909" h="3219450">
                <a:moveTo>
                  <a:pt x="3343655" y="3219450"/>
                </a:moveTo>
                <a:lnTo>
                  <a:pt x="3343655" y="0"/>
                </a:lnTo>
                <a:lnTo>
                  <a:pt x="0" y="0"/>
                </a:lnTo>
                <a:lnTo>
                  <a:pt x="0" y="3219450"/>
                </a:lnTo>
                <a:lnTo>
                  <a:pt x="9905" y="3219450"/>
                </a:lnTo>
                <a:lnTo>
                  <a:pt x="9905" y="19050"/>
                </a:lnTo>
                <a:lnTo>
                  <a:pt x="19050" y="9144"/>
                </a:lnTo>
                <a:lnTo>
                  <a:pt x="19050" y="19050"/>
                </a:lnTo>
                <a:lnTo>
                  <a:pt x="3324605" y="19050"/>
                </a:lnTo>
                <a:lnTo>
                  <a:pt x="3324605" y="9144"/>
                </a:lnTo>
                <a:lnTo>
                  <a:pt x="3333750" y="19050"/>
                </a:lnTo>
                <a:lnTo>
                  <a:pt x="3333750" y="3219450"/>
                </a:lnTo>
                <a:lnTo>
                  <a:pt x="3343655" y="3219450"/>
                </a:lnTo>
                <a:close/>
              </a:path>
              <a:path w="3343909" h="3219450">
                <a:moveTo>
                  <a:pt x="19050" y="19050"/>
                </a:moveTo>
                <a:lnTo>
                  <a:pt x="19050" y="9144"/>
                </a:lnTo>
                <a:lnTo>
                  <a:pt x="9905" y="19050"/>
                </a:lnTo>
                <a:lnTo>
                  <a:pt x="19050" y="19050"/>
                </a:lnTo>
                <a:close/>
              </a:path>
              <a:path w="3343909" h="3219450">
                <a:moveTo>
                  <a:pt x="19050" y="3200400"/>
                </a:moveTo>
                <a:lnTo>
                  <a:pt x="19050" y="19050"/>
                </a:lnTo>
                <a:lnTo>
                  <a:pt x="9905" y="19050"/>
                </a:lnTo>
                <a:lnTo>
                  <a:pt x="9905" y="3200400"/>
                </a:lnTo>
                <a:lnTo>
                  <a:pt x="19050" y="3200400"/>
                </a:lnTo>
                <a:close/>
              </a:path>
              <a:path w="3343909" h="3219450">
                <a:moveTo>
                  <a:pt x="3333750" y="3200400"/>
                </a:moveTo>
                <a:lnTo>
                  <a:pt x="9905" y="3200400"/>
                </a:lnTo>
                <a:lnTo>
                  <a:pt x="19050" y="3209544"/>
                </a:lnTo>
                <a:lnTo>
                  <a:pt x="19050" y="3219450"/>
                </a:lnTo>
                <a:lnTo>
                  <a:pt x="3324605" y="3219450"/>
                </a:lnTo>
                <a:lnTo>
                  <a:pt x="3324605" y="3209544"/>
                </a:lnTo>
                <a:lnTo>
                  <a:pt x="3333750" y="3200400"/>
                </a:lnTo>
                <a:close/>
              </a:path>
              <a:path w="3343909" h="3219450">
                <a:moveTo>
                  <a:pt x="19050" y="3219450"/>
                </a:moveTo>
                <a:lnTo>
                  <a:pt x="19050" y="3209544"/>
                </a:lnTo>
                <a:lnTo>
                  <a:pt x="9905" y="3200400"/>
                </a:lnTo>
                <a:lnTo>
                  <a:pt x="9905" y="3219450"/>
                </a:lnTo>
                <a:lnTo>
                  <a:pt x="19050" y="3219450"/>
                </a:lnTo>
                <a:close/>
              </a:path>
              <a:path w="3343909" h="3219450">
                <a:moveTo>
                  <a:pt x="3333750" y="19050"/>
                </a:moveTo>
                <a:lnTo>
                  <a:pt x="3324605" y="9144"/>
                </a:lnTo>
                <a:lnTo>
                  <a:pt x="3324605" y="19050"/>
                </a:lnTo>
                <a:lnTo>
                  <a:pt x="3333750" y="19050"/>
                </a:lnTo>
                <a:close/>
              </a:path>
              <a:path w="3343909" h="3219450">
                <a:moveTo>
                  <a:pt x="3333750" y="3200400"/>
                </a:moveTo>
                <a:lnTo>
                  <a:pt x="3333750" y="19050"/>
                </a:lnTo>
                <a:lnTo>
                  <a:pt x="3324605" y="19050"/>
                </a:lnTo>
                <a:lnTo>
                  <a:pt x="3324605" y="3200400"/>
                </a:lnTo>
                <a:lnTo>
                  <a:pt x="3333750" y="3200400"/>
                </a:lnTo>
                <a:close/>
              </a:path>
              <a:path w="3343909" h="3219450">
                <a:moveTo>
                  <a:pt x="3333750" y="3219450"/>
                </a:moveTo>
                <a:lnTo>
                  <a:pt x="3333750" y="3200400"/>
                </a:lnTo>
                <a:lnTo>
                  <a:pt x="3324605" y="3209544"/>
                </a:lnTo>
                <a:lnTo>
                  <a:pt x="3324605" y="3219450"/>
                </a:lnTo>
                <a:lnTo>
                  <a:pt x="3333750" y="3219450"/>
                </a:lnTo>
                <a:close/>
              </a:path>
            </a:pathLst>
          </a:custGeom>
          <a:solidFill>
            <a:srgbClr val="000000"/>
          </a:solidFill>
        </p:spPr>
        <p:txBody>
          <a:bodyPr wrap="square" lIns="0" tIns="0" rIns="0" bIns="0" rtlCol="0"/>
          <a:lstStyle/>
          <a:p>
            <a:endParaRPr/>
          </a:p>
        </p:txBody>
      </p:sp>
      <p:sp>
        <p:nvSpPr>
          <p:cNvPr id="5" name="object 5"/>
          <p:cNvSpPr txBox="1"/>
          <p:nvPr/>
        </p:nvSpPr>
        <p:spPr>
          <a:xfrm>
            <a:off x="1022096" y="2002409"/>
            <a:ext cx="5208794" cy="4853893"/>
          </a:xfrm>
          <a:prstGeom prst="rect">
            <a:avLst/>
          </a:prstGeom>
        </p:spPr>
        <p:txBody>
          <a:bodyPr vert="horz" wrap="square" lIns="0" tIns="87630" rIns="0" bIns="0" rtlCol="0">
            <a:spAutoFit/>
          </a:bodyPr>
          <a:lstStyle/>
          <a:p>
            <a:pPr marL="355600" indent="-342900">
              <a:lnSpc>
                <a:spcPct val="100000"/>
              </a:lnSpc>
              <a:spcBef>
                <a:spcPts val="690"/>
              </a:spcBef>
              <a:buClr>
                <a:srgbClr val="3333CC"/>
              </a:buClr>
              <a:buSzPct val="83333"/>
              <a:buFont typeface="Wingdings"/>
              <a:buChar char=""/>
              <a:tabLst>
                <a:tab pos="355600" algn="l"/>
              </a:tabLst>
            </a:pPr>
            <a:r>
              <a:rPr lang="en-US" sz="2400" dirty="0" err="1">
                <a:latin typeface="Arial"/>
                <a:cs typeface="Arial"/>
              </a:rPr>
              <a:t>Dồn</a:t>
            </a:r>
            <a:r>
              <a:rPr lang="en-US" sz="2400" dirty="0">
                <a:latin typeface="Arial"/>
                <a:cs typeface="Arial"/>
              </a:rPr>
              <a:t> </a:t>
            </a:r>
            <a:r>
              <a:rPr lang="en-US" sz="2400" dirty="0" err="1">
                <a:latin typeface="Arial"/>
                <a:cs typeface="Arial"/>
              </a:rPr>
              <a:t>kênh</a:t>
            </a:r>
            <a:r>
              <a:rPr lang="en-US" sz="2400" dirty="0">
                <a:latin typeface="Arial"/>
                <a:cs typeface="Arial"/>
              </a:rPr>
              <a:t> </a:t>
            </a:r>
            <a:r>
              <a:rPr lang="en-US" sz="2400" dirty="0" err="1">
                <a:latin typeface="Arial"/>
                <a:cs typeface="Arial"/>
              </a:rPr>
              <a:t>và</a:t>
            </a:r>
            <a:r>
              <a:rPr lang="en-US" sz="2400" dirty="0">
                <a:latin typeface="Arial"/>
                <a:cs typeface="Arial"/>
              </a:rPr>
              <a:t> </a:t>
            </a:r>
            <a:r>
              <a:rPr lang="en-US" sz="2400" dirty="0" err="1">
                <a:latin typeface="Arial"/>
                <a:cs typeface="Arial"/>
              </a:rPr>
              <a:t>phân</a:t>
            </a:r>
            <a:r>
              <a:rPr lang="en-US" sz="2400" dirty="0">
                <a:latin typeface="Arial"/>
                <a:cs typeface="Arial"/>
              </a:rPr>
              <a:t> </a:t>
            </a:r>
            <a:r>
              <a:rPr lang="en-US" sz="2400" dirty="0" err="1">
                <a:latin typeface="Arial"/>
                <a:cs typeface="Arial"/>
              </a:rPr>
              <a:t>kênh</a:t>
            </a:r>
            <a:r>
              <a:rPr lang="en-US" sz="2400" dirty="0">
                <a:latin typeface="Arial"/>
                <a:cs typeface="Arial"/>
              </a:rPr>
              <a:t> </a:t>
            </a:r>
            <a:r>
              <a:rPr lang="en-US" sz="2400" dirty="0" err="1">
                <a:latin typeface="Arial"/>
                <a:cs typeface="Arial"/>
              </a:rPr>
              <a:t>nhờ</a:t>
            </a:r>
            <a:r>
              <a:rPr lang="en-US" sz="2400" dirty="0">
                <a:latin typeface="Arial"/>
                <a:cs typeface="Arial"/>
              </a:rPr>
              <a:t> </a:t>
            </a:r>
            <a:r>
              <a:rPr lang="en-US" sz="2400" dirty="0" err="1">
                <a:latin typeface="Arial"/>
                <a:cs typeface="Arial"/>
              </a:rPr>
              <a:t>hai</a:t>
            </a:r>
            <a:r>
              <a:rPr lang="en-US" sz="2400" dirty="0">
                <a:latin typeface="Arial"/>
                <a:cs typeface="Arial"/>
              </a:rPr>
              <a:t> </a:t>
            </a:r>
            <a:r>
              <a:rPr lang="en-US" sz="2400" dirty="0" err="1">
                <a:latin typeface="Arial"/>
                <a:cs typeface="Arial"/>
              </a:rPr>
              <a:t>trường</a:t>
            </a:r>
            <a:r>
              <a:rPr lang="en-US" sz="2400" dirty="0">
                <a:latin typeface="Arial"/>
                <a:cs typeface="Arial"/>
              </a:rPr>
              <a:t> </a:t>
            </a:r>
            <a:r>
              <a:rPr lang="en-US" sz="2400" dirty="0" err="1">
                <a:latin typeface="Arial"/>
                <a:cs typeface="Arial"/>
              </a:rPr>
              <a:t>đặc</a:t>
            </a:r>
            <a:r>
              <a:rPr lang="en-US" sz="2400" dirty="0">
                <a:latin typeface="Arial"/>
                <a:cs typeface="Arial"/>
              </a:rPr>
              <a:t> </a:t>
            </a:r>
            <a:r>
              <a:rPr lang="en-US" sz="2400" dirty="0" err="1">
                <a:latin typeface="Arial"/>
                <a:cs typeface="Arial"/>
              </a:rPr>
              <a:t>biệt</a:t>
            </a:r>
            <a:r>
              <a:rPr lang="en-US" sz="2400" dirty="0">
                <a:latin typeface="Arial"/>
                <a:cs typeface="Arial"/>
              </a:rPr>
              <a:t> ở </a:t>
            </a:r>
            <a:r>
              <a:rPr lang="en-US" sz="2400" dirty="0" err="1">
                <a:latin typeface="Arial"/>
                <a:cs typeface="Arial"/>
              </a:rPr>
              <a:t>đầu</a:t>
            </a:r>
            <a:r>
              <a:rPr lang="en-US" sz="2400" dirty="0">
                <a:latin typeface="Arial"/>
                <a:cs typeface="Arial"/>
              </a:rPr>
              <a:t> segment</a:t>
            </a:r>
          </a:p>
          <a:p>
            <a:pPr marL="755650" marR="290195"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Số</a:t>
            </a:r>
            <a:r>
              <a:rPr lang="en-US" sz="2000" dirty="0">
                <a:latin typeface="Arial"/>
                <a:cs typeface="Arial"/>
              </a:rPr>
              <a:t> </a:t>
            </a:r>
            <a:r>
              <a:rPr lang="en-US" sz="2000" dirty="0" err="1">
                <a:latin typeface="Arial"/>
                <a:cs typeface="Arial"/>
              </a:rPr>
              <a:t>hiệu</a:t>
            </a:r>
            <a:r>
              <a:rPr lang="en-US" sz="2000" dirty="0">
                <a:latin typeface="Arial"/>
                <a:cs typeface="Arial"/>
              </a:rPr>
              <a:t> </a:t>
            </a:r>
            <a:r>
              <a:rPr lang="en-US" sz="2000" dirty="0" err="1">
                <a:latin typeface="Arial"/>
                <a:cs typeface="Arial"/>
              </a:rPr>
              <a:t>cổng</a:t>
            </a:r>
            <a:r>
              <a:rPr lang="en-US" sz="2000" dirty="0">
                <a:latin typeface="Arial"/>
                <a:cs typeface="Arial"/>
              </a:rPr>
              <a:t> </a:t>
            </a:r>
            <a:r>
              <a:rPr lang="en-US" sz="2000" dirty="0" err="1">
                <a:latin typeface="Arial"/>
                <a:cs typeface="Arial"/>
              </a:rPr>
              <a:t>nguồn</a:t>
            </a:r>
            <a:r>
              <a:rPr lang="en-US" sz="2000" dirty="0">
                <a:latin typeface="Arial"/>
                <a:cs typeface="Arial"/>
              </a:rPr>
              <a:t> (source port number)</a:t>
            </a:r>
          </a:p>
          <a:p>
            <a:pPr marL="755650" marR="290195"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Số</a:t>
            </a:r>
            <a:r>
              <a:rPr lang="en-US" sz="2000" dirty="0">
                <a:latin typeface="Arial"/>
                <a:cs typeface="Arial"/>
              </a:rPr>
              <a:t> </a:t>
            </a:r>
            <a:r>
              <a:rPr lang="en-US" sz="2000" dirty="0" err="1">
                <a:latin typeface="Arial"/>
                <a:cs typeface="Arial"/>
              </a:rPr>
              <a:t>hiệu</a:t>
            </a:r>
            <a:r>
              <a:rPr lang="en-US" sz="2000" dirty="0">
                <a:latin typeface="Arial"/>
                <a:cs typeface="Arial"/>
              </a:rPr>
              <a:t> </a:t>
            </a:r>
            <a:r>
              <a:rPr lang="en-US" sz="2000" dirty="0" err="1">
                <a:latin typeface="Arial"/>
                <a:cs typeface="Arial"/>
              </a:rPr>
              <a:t>cổng</a:t>
            </a:r>
            <a:r>
              <a:rPr lang="en-US" sz="2000" dirty="0">
                <a:latin typeface="Arial"/>
                <a:cs typeface="Arial"/>
              </a:rPr>
              <a:t> </a:t>
            </a:r>
            <a:r>
              <a:rPr lang="en-US" sz="2000" dirty="0" err="1">
                <a:latin typeface="Arial"/>
                <a:cs typeface="Arial"/>
              </a:rPr>
              <a:t>đích</a:t>
            </a:r>
            <a:r>
              <a:rPr lang="en-US" sz="2000" dirty="0">
                <a:latin typeface="Arial"/>
                <a:cs typeface="Arial"/>
              </a:rPr>
              <a:t> (</a:t>
            </a:r>
            <a:r>
              <a:rPr lang="en-US" sz="2000" dirty="0" err="1">
                <a:latin typeface="Arial"/>
                <a:cs typeface="Arial"/>
              </a:rPr>
              <a:t>dest</a:t>
            </a:r>
            <a:r>
              <a:rPr lang="en-US" sz="2000" dirty="0">
                <a:latin typeface="Arial"/>
                <a:cs typeface="Arial"/>
              </a:rPr>
              <a:t>. port number)</a:t>
            </a:r>
          </a:p>
          <a:p>
            <a:pPr marL="469900" marR="290195" lvl="1">
              <a:lnSpc>
                <a:spcPct val="100000"/>
              </a:lnSpc>
              <a:spcBef>
                <a:spcPts val="490"/>
              </a:spcBef>
              <a:buClr>
                <a:srgbClr val="3333CC"/>
              </a:buClr>
              <a:buSzPct val="75000"/>
              <a:tabLst>
                <a:tab pos="755650" algn="l"/>
              </a:tabLst>
            </a:pPr>
            <a:r>
              <a:rPr lang="en-US" sz="1600" dirty="0">
                <a:latin typeface="Arial"/>
                <a:cs typeface="Arial"/>
              </a:rPr>
              <a:t> </a:t>
            </a:r>
            <a:r>
              <a:rPr lang="en-US" sz="1600" dirty="0" err="1">
                <a:latin typeface="Arial"/>
                <a:cs typeface="Arial"/>
              </a:rPr>
              <a:t>Số</a:t>
            </a:r>
            <a:r>
              <a:rPr lang="en-US" sz="1600" dirty="0">
                <a:latin typeface="Arial"/>
                <a:cs typeface="Arial"/>
              </a:rPr>
              <a:t> </a:t>
            </a:r>
            <a:r>
              <a:rPr lang="en-US" sz="1600" dirty="0" err="1">
                <a:latin typeface="Arial"/>
                <a:cs typeface="Arial"/>
              </a:rPr>
              <a:t>hiệu</a:t>
            </a:r>
            <a:r>
              <a:rPr lang="en-US" sz="1600" dirty="0">
                <a:latin typeface="Arial"/>
                <a:cs typeface="Arial"/>
              </a:rPr>
              <a:t> </a:t>
            </a:r>
            <a:r>
              <a:rPr lang="en-US" sz="1600" dirty="0" err="1">
                <a:latin typeface="Arial"/>
                <a:cs typeface="Arial"/>
              </a:rPr>
              <a:t>cổng</a:t>
            </a:r>
            <a:r>
              <a:rPr lang="en-US" sz="1600" dirty="0">
                <a:latin typeface="Arial"/>
                <a:cs typeface="Arial"/>
              </a:rPr>
              <a:t> </a:t>
            </a:r>
            <a:r>
              <a:rPr lang="en-US" sz="1600" dirty="0" err="1">
                <a:latin typeface="Arial"/>
                <a:cs typeface="Arial"/>
              </a:rPr>
              <a:t>tham</a:t>
            </a:r>
            <a:r>
              <a:rPr lang="en-US" sz="1600" dirty="0">
                <a:latin typeface="Arial"/>
                <a:cs typeface="Arial"/>
              </a:rPr>
              <a:t> </a:t>
            </a:r>
            <a:r>
              <a:rPr lang="en-US" sz="1600" dirty="0" err="1">
                <a:latin typeface="Arial"/>
                <a:cs typeface="Arial"/>
              </a:rPr>
              <a:t>khảo</a:t>
            </a:r>
            <a:r>
              <a:rPr lang="en-US" sz="1600" dirty="0">
                <a:latin typeface="Arial"/>
                <a:cs typeface="Arial"/>
              </a:rPr>
              <a:t> </a:t>
            </a:r>
            <a:r>
              <a:rPr lang="en-US" sz="1600" dirty="0" err="1">
                <a:latin typeface="Arial"/>
                <a:cs typeface="Arial"/>
              </a:rPr>
              <a:t>trong</a:t>
            </a:r>
            <a:r>
              <a:rPr lang="en-US" sz="1600" dirty="0">
                <a:latin typeface="Arial"/>
                <a:cs typeface="Arial"/>
              </a:rPr>
              <a:t> RFC 1700 </a:t>
            </a:r>
            <a:r>
              <a:rPr lang="en-US" sz="1600" dirty="0"/>
              <a:t> </a:t>
            </a:r>
            <a:endParaRPr lang="en-US" sz="1600" dirty="0">
              <a:latin typeface="Arial"/>
              <a:cs typeface="Arial"/>
            </a:endParaRPr>
          </a:p>
          <a:p>
            <a:pPr marL="298450" marR="290195" indent="-285750">
              <a:spcBef>
                <a:spcPts val="490"/>
              </a:spcBef>
              <a:buClr>
                <a:srgbClr val="3333CC"/>
              </a:buClr>
              <a:buSzPct val="75000"/>
              <a:buFont typeface="Wingdings"/>
              <a:buChar char=""/>
              <a:tabLst>
                <a:tab pos="755650" algn="l"/>
              </a:tabLst>
            </a:pPr>
            <a:r>
              <a:rPr lang="en-US" sz="2400" dirty="0" err="1">
                <a:latin typeface="Arial"/>
                <a:cs typeface="Arial"/>
              </a:rPr>
              <a:t>Mỗi</a:t>
            </a:r>
            <a:r>
              <a:rPr lang="en-US" sz="2400" dirty="0">
                <a:latin typeface="Arial"/>
                <a:cs typeface="Arial"/>
              </a:rPr>
              <a:t> datagram ở </a:t>
            </a:r>
            <a:r>
              <a:rPr lang="en-US" sz="2400" dirty="0" err="1">
                <a:latin typeface="Arial"/>
                <a:cs typeface="Arial"/>
              </a:rPr>
              <a:t>tầng</a:t>
            </a:r>
            <a:r>
              <a:rPr lang="en-US" sz="2400" dirty="0">
                <a:latin typeface="Arial"/>
                <a:cs typeface="Arial"/>
              </a:rPr>
              <a:t> </a:t>
            </a:r>
            <a:r>
              <a:rPr lang="en-US" sz="2400" dirty="0" err="1">
                <a:latin typeface="Arial"/>
                <a:cs typeface="Arial"/>
              </a:rPr>
              <a:t>mạng</a:t>
            </a:r>
            <a:r>
              <a:rPr lang="en-US" sz="2400" dirty="0">
                <a:latin typeface="Arial"/>
                <a:cs typeface="Arial"/>
              </a:rPr>
              <a:t> </a:t>
            </a:r>
            <a:r>
              <a:rPr lang="en-US" sz="2400" dirty="0" err="1">
                <a:latin typeface="Arial"/>
                <a:cs typeface="Arial"/>
              </a:rPr>
              <a:t>có</a:t>
            </a:r>
            <a:r>
              <a:rPr lang="en-US" sz="2400" dirty="0">
                <a:latin typeface="Arial"/>
                <a:cs typeface="Arial"/>
              </a:rPr>
              <a:t>: </a:t>
            </a:r>
            <a:r>
              <a:rPr lang="en-US" sz="2400" dirty="0" err="1">
                <a:latin typeface="Arial"/>
                <a:cs typeface="Arial"/>
              </a:rPr>
              <a:t>Địa</a:t>
            </a:r>
            <a:r>
              <a:rPr lang="en-US" sz="2400" dirty="0">
                <a:latin typeface="Arial"/>
                <a:cs typeface="Arial"/>
              </a:rPr>
              <a:t> </a:t>
            </a:r>
            <a:r>
              <a:rPr lang="en-US" sz="2400" dirty="0" err="1">
                <a:latin typeface="Arial"/>
                <a:cs typeface="Arial"/>
              </a:rPr>
              <a:t>chỉ</a:t>
            </a:r>
            <a:r>
              <a:rPr lang="en-US" sz="2400" dirty="0">
                <a:latin typeface="Arial"/>
                <a:cs typeface="Arial"/>
              </a:rPr>
              <a:t> IP </a:t>
            </a:r>
            <a:r>
              <a:rPr lang="en-US" sz="2400" dirty="0" err="1">
                <a:latin typeface="Arial"/>
                <a:cs typeface="Arial"/>
              </a:rPr>
              <a:t>nguồn</a:t>
            </a:r>
            <a:r>
              <a:rPr lang="en-US" sz="2400" dirty="0">
                <a:latin typeface="Arial"/>
                <a:cs typeface="Arial"/>
              </a:rPr>
              <a:t> </a:t>
            </a:r>
            <a:r>
              <a:rPr lang="en-US" sz="2400" dirty="0" err="1">
                <a:latin typeface="Arial"/>
                <a:cs typeface="Arial"/>
              </a:rPr>
              <a:t>và</a:t>
            </a:r>
            <a:r>
              <a:rPr lang="en-US" sz="2400" dirty="0">
                <a:latin typeface="Arial"/>
                <a:cs typeface="Arial"/>
              </a:rPr>
              <a:t> IP </a:t>
            </a:r>
            <a:r>
              <a:rPr lang="en-US" sz="2400" dirty="0" err="1">
                <a:latin typeface="Arial"/>
                <a:cs typeface="Arial"/>
              </a:rPr>
              <a:t>đích</a:t>
            </a:r>
            <a:r>
              <a:rPr lang="en-US" sz="2400" dirty="0">
                <a:latin typeface="Arial"/>
                <a:cs typeface="Arial"/>
              </a:rPr>
              <a:t> </a:t>
            </a:r>
            <a:r>
              <a:rPr lang="en-US" sz="2400" dirty="0" err="1">
                <a:latin typeface="Arial"/>
                <a:cs typeface="Arial"/>
              </a:rPr>
              <a:t>để</a:t>
            </a:r>
            <a:r>
              <a:rPr lang="en-US" sz="2400" dirty="0">
                <a:latin typeface="Arial"/>
                <a:cs typeface="Arial"/>
              </a:rPr>
              <a:t> </a:t>
            </a:r>
            <a:r>
              <a:rPr lang="en-US" sz="2400" dirty="0" err="1">
                <a:latin typeface="Arial"/>
                <a:cs typeface="Arial"/>
              </a:rPr>
              <a:t>xác</a:t>
            </a:r>
            <a:r>
              <a:rPr lang="en-US" sz="2400" dirty="0">
                <a:latin typeface="Arial"/>
                <a:cs typeface="Arial"/>
              </a:rPr>
              <a:t> </a:t>
            </a:r>
            <a:r>
              <a:rPr lang="en-US" sz="2400" dirty="0" err="1">
                <a:latin typeface="Arial"/>
                <a:cs typeface="Arial"/>
              </a:rPr>
              <a:t>định</a:t>
            </a:r>
            <a:r>
              <a:rPr lang="en-US" sz="2400" dirty="0">
                <a:latin typeface="Arial"/>
                <a:cs typeface="Arial"/>
              </a:rPr>
              <a:t> host </a:t>
            </a:r>
            <a:r>
              <a:rPr lang="en-US" sz="2400" dirty="0" err="1">
                <a:latin typeface="Arial"/>
                <a:cs typeface="Arial"/>
              </a:rPr>
              <a:t>gửi</a:t>
            </a:r>
            <a:r>
              <a:rPr lang="en-US" sz="2400" dirty="0">
                <a:latin typeface="Arial"/>
                <a:cs typeface="Arial"/>
              </a:rPr>
              <a:t> </a:t>
            </a:r>
            <a:r>
              <a:rPr lang="en-US" sz="2400" dirty="0" err="1">
                <a:latin typeface="Arial"/>
                <a:cs typeface="Arial"/>
              </a:rPr>
              <a:t>và</a:t>
            </a:r>
            <a:r>
              <a:rPr lang="en-US" sz="2400" dirty="0">
                <a:latin typeface="Arial"/>
                <a:cs typeface="Arial"/>
              </a:rPr>
              <a:t> host </a:t>
            </a:r>
            <a:r>
              <a:rPr lang="en-US" sz="2400" dirty="0" err="1">
                <a:latin typeface="Arial"/>
                <a:cs typeface="Arial"/>
              </a:rPr>
              <a:t>nhận</a:t>
            </a:r>
            <a:endParaRPr lang="en-US" sz="2400" dirty="0">
              <a:latin typeface="Arial"/>
              <a:cs typeface="Arial"/>
            </a:endParaRPr>
          </a:p>
          <a:p>
            <a:pPr marL="355600" marR="5080" indent="-342900">
              <a:lnSpc>
                <a:spcPct val="100000"/>
              </a:lnSpc>
              <a:spcBef>
                <a:spcPts val="565"/>
              </a:spcBef>
              <a:buClr>
                <a:srgbClr val="3333CC"/>
              </a:buClr>
              <a:buSzPct val="83333"/>
              <a:buFont typeface="Wingdings"/>
              <a:buChar char=""/>
              <a:tabLst>
                <a:tab pos="355600" algn="l"/>
              </a:tabLst>
            </a:pPr>
            <a:r>
              <a:rPr sz="2400" dirty="0">
                <a:latin typeface="Arial"/>
                <a:cs typeface="Arial"/>
              </a:rPr>
              <a:t>host sử </a:t>
            </a:r>
            <a:r>
              <a:rPr sz="2400" dirty="0" err="1">
                <a:latin typeface="Arial"/>
                <a:cs typeface="Arial"/>
              </a:rPr>
              <a:t>dụng</a:t>
            </a:r>
            <a:r>
              <a:rPr sz="2400" dirty="0">
                <a:latin typeface="Arial"/>
                <a:cs typeface="Arial"/>
              </a:rPr>
              <a:t> </a:t>
            </a:r>
            <a:r>
              <a:rPr lang="en-US" sz="2400" dirty="0" err="1">
                <a:latin typeface="Arial"/>
                <a:cs typeface="Arial"/>
              </a:rPr>
              <a:t>địa</a:t>
            </a:r>
            <a:r>
              <a:rPr lang="en-US" sz="2400" dirty="0">
                <a:latin typeface="Arial"/>
                <a:cs typeface="Arial"/>
              </a:rPr>
              <a:t> </a:t>
            </a:r>
            <a:r>
              <a:rPr lang="en-US" sz="2400" dirty="0" err="1">
                <a:latin typeface="Arial"/>
                <a:cs typeface="Arial"/>
              </a:rPr>
              <a:t>chỉ</a:t>
            </a:r>
            <a:r>
              <a:rPr lang="en-US" sz="2400" dirty="0">
                <a:latin typeface="Arial"/>
                <a:cs typeface="Arial"/>
              </a:rPr>
              <a:t> </a:t>
            </a:r>
            <a:r>
              <a:rPr sz="2400" i="1" dirty="0">
                <a:solidFill>
                  <a:srgbClr val="CC0000"/>
                </a:solidFill>
                <a:latin typeface="Arial"/>
                <a:cs typeface="Arial"/>
              </a:rPr>
              <a:t>IP </a:t>
            </a:r>
            <a:r>
              <a:rPr sz="2400" i="1" dirty="0" err="1">
                <a:solidFill>
                  <a:srgbClr val="CC0000"/>
                </a:solidFill>
                <a:latin typeface="Arial"/>
                <a:cs typeface="Arial"/>
              </a:rPr>
              <a:t>và</a:t>
            </a:r>
            <a:r>
              <a:rPr sz="2400" i="1" dirty="0">
                <a:solidFill>
                  <a:srgbClr val="CC0000"/>
                </a:solidFill>
                <a:latin typeface="Arial"/>
                <a:cs typeface="Arial"/>
              </a:rPr>
              <a:t>  port number </a:t>
            </a:r>
            <a:r>
              <a:rPr sz="2400" dirty="0">
                <a:latin typeface="Arial"/>
                <a:cs typeface="Arial"/>
              </a:rPr>
              <a:t>để </a:t>
            </a:r>
            <a:r>
              <a:rPr sz="2400" dirty="0" err="1">
                <a:latin typeface="Arial"/>
                <a:cs typeface="Arial"/>
              </a:rPr>
              <a:t>chuyển</a:t>
            </a:r>
            <a:r>
              <a:rPr sz="2400" dirty="0">
                <a:latin typeface="Arial"/>
                <a:cs typeface="Arial"/>
              </a:rPr>
              <a:t> segment tới socket </a:t>
            </a:r>
            <a:r>
              <a:rPr sz="2400" dirty="0" err="1">
                <a:latin typeface="Arial"/>
                <a:cs typeface="Arial"/>
              </a:rPr>
              <a:t>thích</a:t>
            </a:r>
            <a:r>
              <a:rPr sz="2400" dirty="0">
                <a:latin typeface="Arial"/>
                <a:cs typeface="Arial"/>
              </a:rPr>
              <a:t> </a:t>
            </a:r>
            <a:r>
              <a:rPr sz="2400" dirty="0" err="1">
                <a:latin typeface="Arial"/>
                <a:cs typeface="Arial"/>
              </a:rPr>
              <a:t>hợp</a:t>
            </a:r>
            <a:endParaRPr sz="2400" dirty="0">
              <a:latin typeface="Arial"/>
              <a:cs typeface="Arial"/>
            </a:endParaRPr>
          </a:p>
        </p:txBody>
      </p:sp>
      <p:sp>
        <p:nvSpPr>
          <p:cNvPr id="6" name="object 6"/>
          <p:cNvSpPr/>
          <p:nvPr/>
        </p:nvSpPr>
        <p:spPr>
          <a:xfrm>
            <a:off x="6382273" y="2953130"/>
            <a:ext cx="3329304" cy="0"/>
          </a:xfrm>
          <a:custGeom>
            <a:avLst/>
            <a:gdLst/>
            <a:ahLst/>
            <a:cxnLst/>
            <a:rect l="l" t="t" r="r" b="b"/>
            <a:pathLst>
              <a:path w="3329304">
                <a:moveTo>
                  <a:pt x="0" y="0"/>
                </a:moveTo>
                <a:lnTo>
                  <a:pt x="3329178" y="0"/>
                </a:lnTo>
              </a:path>
            </a:pathLst>
          </a:custGeom>
          <a:ln w="19050">
            <a:solidFill>
              <a:srgbClr val="000000"/>
            </a:solidFill>
          </a:ln>
        </p:spPr>
        <p:txBody>
          <a:bodyPr wrap="square" lIns="0" tIns="0" rIns="0" bIns="0" rtlCol="0"/>
          <a:lstStyle/>
          <a:p>
            <a:endParaRPr/>
          </a:p>
        </p:txBody>
      </p:sp>
      <p:sp>
        <p:nvSpPr>
          <p:cNvPr id="7" name="object 7"/>
          <p:cNvSpPr/>
          <p:nvPr/>
        </p:nvSpPr>
        <p:spPr>
          <a:xfrm>
            <a:off x="6392178" y="3943730"/>
            <a:ext cx="3324225" cy="0"/>
          </a:xfrm>
          <a:custGeom>
            <a:avLst/>
            <a:gdLst/>
            <a:ahLst/>
            <a:cxnLst/>
            <a:rect l="l" t="t" r="r" b="b"/>
            <a:pathLst>
              <a:path w="3324225">
                <a:moveTo>
                  <a:pt x="0" y="0"/>
                </a:moveTo>
                <a:lnTo>
                  <a:pt x="3323844" y="0"/>
                </a:lnTo>
              </a:path>
            </a:pathLst>
          </a:custGeom>
          <a:ln w="19050">
            <a:solidFill>
              <a:srgbClr val="000000"/>
            </a:solidFill>
          </a:ln>
        </p:spPr>
        <p:txBody>
          <a:bodyPr wrap="square" lIns="0" tIns="0" rIns="0" bIns="0" rtlCol="0"/>
          <a:lstStyle/>
          <a:p>
            <a:endParaRPr/>
          </a:p>
        </p:txBody>
      </p:sp>
      <p:sp>
        <p:nvSpPr>
          <p:cNvPr id="8" name="object 8"/>
          <p:cNvSpPr txBox="1"/>
          <p:nvPr/>
        </p:nvSpPr>
        <p:spPr>
          <a:xfrm>
            <a:off x="7653542" y="2144521"/>
            <a:ext cx="7061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32 bits</a:t>
            </a:r>
            <a:endParaRPr sz="1800">
              <a:latin typeface="Tahoma"/>
              <a:cs typeface="Tahoma"/>
            </a:endParaRPr>
          </a:p>
        </p:txBody>
      </p:sp>
      <p:sp>
        <p:nvSpPr>
          <p:cNvPr id="9" name="object 9"/>
          <p:cNvSpPr/>
          <p:nvPr/>
        </p:nvSpPr>
        <p:spPr>
          <a:xfrm>
            <a:off x="8487679" y="2286000"/>
            <a:ext cx="1200150" cy="76200"/>
          </a:xfrm>
          <a:custGeom>
            <a:avLst/>
            <a:gdLst/>
            <a:ahLst/>
            <a:cxnLst/>
            <a:rect l="l" t="t" r="r" b="b"/>
            <a:pathLst>
              <a:path w="1200150" h="76200">
                <a:moveTo>
                  <a:pt x="1136904" y="48006"/>
                </a:moveTo>
                <a:lnTo>
                  <a:pt x="1136904" y="28956"/>
                </a:lnTo>
                <a:lnTo>
                  <a:pt x="0" y="24384"/>
                </a:lnTo>
                <a:lnTo>
                  <a:pt x="0" y="43434"/>
                </a:lnTo>
                <a:lnTo>
                  <a:pt x="1136904" y="48006"/>
                </a:lnTo>
                <a:close/>
              </a:path>
              <a:path w="1200150" h="76200">
                <a:moveTo>
                  <a:pt x="1200150" y="38100"/>
                </a:moveTo>
                <a:lnTo>
                  <a:pt x="1123949" y="0"/>
                </a:lnTo>
                <a:lnTo>
                  <a:pt x="1123949" y="28903"/>
                </a:lnTo>
                <a:lnTo>
                  <a:pt x="1136904" y="28956"/>
                </a:lnTo>
                <a:lnTo>
                  <a:pt x="1136904" y="69723"/>
                </a:lnTo>
                <a:lnTo>
                  <a:pt x="1200150" y="38100"/>
                </a:lnTo>
                <a:close/>
              </a:path>
              <a:path w="1200150" h="76200">
                <a:moveTo>
                  <a:pt x="1136904" y="69723"/>
                </a:moveTo>
                <a:lnTo>
                  <a:pt x="1136904" y="48006"/>
                </a:lnTo>
                <a:lnTo>
                  <a:pt x="1123949" y="47953"/>
                </a:lnTo>
                <a:lnTo>
                  <a:pt x="1123949" y="76200"/>
                </a:lnTo>
                <a:lnTo>
                  <a:pt x="1136904" y="69723"/>
                </a:lnTo>
                <a:close/>
              </a:path>
            </a:pathLst>
          </a:custGeom>
          <a:solidFill>
            <a:srgbClr val="000000"/>
          </a:solidFill>
        </p:spPr>
        <p:txBody>
          <a:bodyPr wrap="square" lIns="0" tIns="0" rIns="0" bIns="0" rtlCol="0"/>
          <a:lstStyle/>
          <a:p>
            <a:endParaRPr/>
          </a:p>
        </p:txBody>
      </p:sp>
      <p:sp>
        <p:nvSpPr>
          <p:cNvPr id="10" name="object 10"/>
          <p:cNvSpPr/>
          <p:nvPr/>
        </p:nvSpPr>
        <p:spPr>
          <a:xfrm>
            <a:off x="6377701" y="2291333"/>
            <a:ext cx="1129030" cy="76200"/>
          </a:xfrm>
          <a:custGeom>
            <a:avLst/>
            <a:gdLst/>
            <a:ahLst/>
            <a:cxnLst/>
            <a:rect l="l" t="t" r="r" b="b"/>
            <a:pathLst>
              <a:path w="1129029" h="76200">
                <a:moveTo>
                  <a:pt x="76200" y="28193"/>
                </a:moveTo>
                <a:lnTo>
                  <a:pt x="76200" y="0"/>
                </a:lnTo>
                <a:lnTo>
                  <a:pt x="0" y="38100"/>
                </a:lnTo>
                <a:lnTo>
                  <a:pt x="64008" y="70104"/>
                </a:lnTo>
                <a:lnTo>
                  <a:pt x="64008" y="28193"/>
                </a:lnTo>
                <a:lnTo>
                  <a:pt x="76200" y="28193"/>
                </a:lnTo>
                <a:close/>
              </a:path>
              <a:path w="1129029" h="76200">
                <a:moveTo>
                  <a:pt x="1128522" y="47243"/>
                </a:moveTo>
                <a:lnTo>
                  <a:pt x="1128522" y="28193"/>
                </a:lnTo>
                <a:lnTo>
                  <a:pt x="64008" y="28193"/>
                </a:lnTo>
                <a:lnTo>
                  <a:pt x="64008" y="47243"/>
                </a:lnTo>
                <a:lnTo>
                  <a:pt x="1128522" y="47243"/>
                </a:lnTo>
                <a:close/>
              </a:path>
              <a:path w="1129029" h="76200">
                <a:moveTo>
                  <a:pt x="76200" y="76200"/>
                </a:moveTo>
                <a:lnTo>
                  <a:pt x="76200" y="47243"/>
                </a:lnTo>
                <a:lnTo>
                  <a:pt x="64008" y="47243"/>
                </a:lnTo>
                <a:lnTo>
                  <a:pt x="64008" y="70104"/>
                </a:lnTo>
                <a:lnTo>
                  <a:pt x="76200" y="76200"/>
                </a:lnTo>
                <a:close/>
              </a:path>
            </a:pathLst>
          </a:custGeom>
          <a:solidFill>
            <a:srgbClr val="000000"/>
          </a:solidFill>
        </p:spPr>
        <p:txBody>
          <a:bodyPr wrap="square" lIns="0" tIns="0" rIns="0" bIns="0" rtlCol="0"/>
          <a:lstStyle/>
          <a:p>
            <a:endParaRPr/>
          </a:p>
        </p:txBody>
      </p:sp>
      <p:graphicFrame>
        <p:nvGraphicFramePr>
          <p:cNvPr id="11" name="object 11"/>
          <p:cNvGraphicFramePr>
            <a:graphicFrameLocks noGrp="1"/>
          </p:cNvGraphicFramePr>
          <p:nvPr>
            <p:extLst>
              <p:ext uri="{D42A27DB-BD31-4B8C-83A1-F6EECF244321}">
                <p14:modId xmlns:p14="http://schemas.microsoft.com/office/powerpoint/2010/main" val="2657333818"/>
              </p:ext>
            </p:extLst>
          </p:nvPr>
        </p:nvGraphicFramePr>
        <p:xfrm>
          <a:off x="6468378" y="2457450"/>
          <a:ext cx="3323590" cy="3199764"/>
        </p:xfrm>
        <a:graphic>
          <a:graphicData uri="http://schemas.openxmlformats.org/drawingml/2006/table">
            <a:tbl>
              <a:tblPr firstRow="1" bandRow="1">
                <a:tableStyleId>{2D5ABB26-0587-4C30-8999-92F81FD0307C}</a:tableStyleId>
              </a:tblPr>
              <a:tblGrid>
                <a:gridCol w="156146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tblGrid>
              <a:tr h="495300">
                <a:tc>
                  <a:txBody>
                    <a:bodyPr/>
                    <a:lstStyle/>
                    <a:p>
                      <a:pPr marL="55244">
                        <a:lnSpc>
                          <a:spcPct val="100000"/>
                        </a:lnSpc>
                        <a:spcBef>
                          <a:spcPts val="1200"/>
                        </a:spcBef>
                      </a:pPr>
                      <a:r>
                        <a:rPr sz="1800" spc="-10" dirty="0">
                          <a:solidFill>
                            <a:schemeClr val="bg1"/>
                          </a:solidFill>
                          <a:latin typeface="Tahoma"/>
                          <a:cs typeface="Tahoma"/>
                        </a:rPr>
                        <a:t>source </a:t>
                      </a:r>
                      <a:r>
                        <a:rPr sz="1800" dirty="0">
                          <a:solidFill>
                            <a:schemeClr val="bg1"/>
                          </a:solidFill>
                          <a:latin typeface="Tahoma"/>
                          <a:cs typeface="Tahoma"/>
                        </a:rPr>
                        <a:t>port</a:t>
                      </a:r>
                      <a:r>
                        <a:rPr sz="1800" spc="-30" dirty="0">
                          <a:solidFill>
                            <a:schemeClr val="bg1"/>
                          </a:solidFill>
                          <a:latin typeface="Tahoma"/>
                          <a:cs typeface="Tahoma"/>
                        </a:rPr>
                        <a:t> </a:t>
                      </a:r>
                      <a:r>
                        <a:rPr sz="1800" spc="-5" dirty="0">
                          <a:solidFill>
                            <a:schemeClr val="bg1"/>
                          </a:solidFill>
                          <a:latin typeface="Tahoma"/>
                          <a:cs typeface="Tahoma"/>
                        </a:rPr>
                        <a:t>#</a:t>
                      </a:r>
                      <a:endParaRPr sz="1800" dirty="0">
                        <a:solidFill>
                          <a:schemeClr val="bg1"/>
                        </a:solidFill>
                        <a:latin typeface="Tahoma"/>
                        <a:cs typeface="Tahoma"/>
                      </a:endParaRPr>
                    </a:p>
                  </a:txBody>
                  <a:tcPr marL="0" marR="0" marT="152400" marB="0">
                    <a:lnR w="19050">
                      <a:solidFill>
                        <a:srgbClr val="000000"/>
                      </a:solidFill>
                      <a:prstDash val="solid"/>
                    </a:lnR>
                    <a:lnB w="19050">
                      <a:solidFill>
                        <a:srgbClr val="000000"/>
                      </a:solidFill>
                      <a:prstDash val="solid"/>
                    </a:lnB>
                    <a:solidFill>
                      <a:srgbClr val="000099"/>
                    </a:solidFill>
                  </a:tcPr>
                </a:tc>
                <a:tc>
                  <a:txBody>
                    <a:bodyPr/>
                    <a:lstStyle/>
                    <a:p>
                      <a:pPr marL="280035">
                        <a:lnSpc>
                          <a:spcPct val="100000"/>
                        </a:lnSpc>
                        <a:spcBef>
                          <a:spcPts val="1200"/>
                        </a:spcBef>
                      </a:pPr>
                      <a:r>
                        <a:rPr sz="1800" spc="-5" dirty="0">
                          <a:solidFill>
                            <a:schemeClr val="bg1"/>
                          </a:solidFill>
                          <a:latin typeface="Tahoma"/>
                          <a:cs typeface="Tahoma"/>
                        </a:rPr>
                        <a:t>dest </a:t>
                      </a:r>
                      <a:r>
                        <a:rPr sz="1800" dirty="0">
                          <a:solidFill>
                            <a:schemeClr val="bg1"/>
                          </a:solidFill>
                          <a:latin typeface="Tahoma"/>
                          <a:cs typeface="Tahoma"/>
                        </a:rPr>
                        <a:t>port</a:t>
                      </a:r>
                      <a:r>
                        <a:rPr sz="1800" spc="-20" dirty="0">
                          <a:solidFill>
                            <a:schemeClr val="bg1"/>
                          </a:solidFill>
                          <a:latin typeface="Tahoma"/>
                          <a:cs typeface="Tahoma"/>
                        </a:rPr>
                        <a:t> </a:t>
                      </a:r>
                      <a:r>
                        <a:rPr sz="1800" spc="-5" dirty="0">
                          <a:solidFill>
                            <a:schemeClr val="bg1"/>
                          </a:solidFill>
                          <a:latin typeface="Tahoma"/>
                          <a:cs typeface="Tahoma"/>
                        </a:rPr>
                        <a:t>#</a:t>
                      </a:r>
                      <a:endParaRPr sz="1800" dirty="0">
                        <a:solidFill>
                          <a:schemeClr val="bg1"/>
                        </a:solidFill>
                        <a:latin typeface="Tahoma"/>
                        <a:cs typeface="Tahoma"/>
                      </a:endParaRPr>
                    </a:p>
                  </a:txBody>
                  <a:tcPr marL="0" marR="0" marT="152400" marB="0">
                    <a:lnL w="19050">
                      <a:solidFill>
                        <a:srgbClr val="000000"/>
                      </a:solidFill>
                      <a:prstDash val="solid"/>
                    </a:lnL>
                    <a:lnB w="19050">
                      <a:solidFill>
                        <a:srgbClr val="000000"/>
                      </a:solidFill>
                      <a:prstDash val="solid"/>
                    </a:lnB>
                    <a:solidFill>
                      <a:srgbClr val="000099"/>
                    </a:solidFill>
                  </a:tcPr>
                </a:tc>
                <a:extLst>
                  <a:ext uri="{0D108BD9-81ED-4DB2-BD59-A6C34878D82A}">
                    <a16:rowId xmlns:a16="http://schemas.microsoft.com/office/drawing/2014/main" val="10000"/>
                  </a:ext>
                </a:extLst>
              </a:tr>
              <a:tr h="990600">
                <a:tc gridSpan="2">
                  <a:txBody>
                    <a:bodyPr/>
                    <a:lstStyle/>
                    <a:p>
                      <a:pPr>
                        <a:lnSpc>
                          <a:spcPct val="100000"/>
                        </a:lnSpc>
                        <a:spcBef>
                          <a:spcPts val="30"/>
                        </a:spcBef>
                      </a:pPr>
                      <a:endParaRPr sz="2700" dirty="0">
                        <a:latin typeface="Times New Roman"/>
                        <a:cs typeface="Times New Roman"/>
                      </a:endParaRPr>
                    </a:p>
                    <a:p>
                      <a:pPr marL="549910">
                        <a:lnSpc>
                          <a:spcPct val="100000"/>
                        </a:lnSpc>
                        <a:spcBef>
                          <a:spcPts val="5"/>
                        </a:spcBef>
                      </a:pPr>
                      <a:r>
                        <a:rPr sz="2000" spc="0" baseline="0" dirty="0">
                          <a:solidFill>
                            <a:schemeClr val="bg1"/>
                          </a:solidFill>
                          <a:latin typeface="Tahoma"/>
                          <a:cs typeface="Tahoma"/>
                        </a:rPr>
                        <a:t>các trường header</a:t>
                      </a:r>
                    </a:p>
                  </a:txBody>
                  <a:tcPr marL="0" marR="0" marT="3810" marB="0">
                    <a:lnT w="19050">
                      <a:solidFill>
                        <a:srgbClr val="000000"/>
                      </a:solidFill>
                      <a:prstDash val="solid"/>
                    </a:lnT>
                    <a:lnB w="19050">
                      <a:solidFill>
                        <a:srgbClr val="000000"/>
                      </a:solidFill>
                      <a:prstDash val="solid"/>
                    </a:lnB>
                    <a:solidFill>
                      <a:srgbClr val="000099"/>
                    </a:solidFill>
                  </a:tcPr>
                </a:tc>
                <a:tc hMerge="1">
                  <a:txBody>
                    <a:bodyPr/>
                    <a:lstStyle/>
                    <a:p>
                      <a:endParaRPr/>
                    </a:p>
                  </a:txBody>
                  <a:tcPr marL="0" marR="0" marT="0" marB="0"/>
                </a:tc>
                <a:extLst>
                  <a:ext uri="{0D108BD9-81ED-4DB2-BD59-A6C34878D82A}">
                    <a16:rowId xmlns:a16="http://schemas.microsoft.com/office/drawing/2014/main" val="10001"/>
                  </a:ext>
                </a:extLst>
              </a:tr>
              <a:tr h="1713864">
                <a:tc gridSpan="2">
                  <a:txBody>
                    <a:bodyPr/>
                    <a:lstStyle/>
                    <a:p>
                      <a:pPr>
                        <a:lnSpc>
                          <a:spcPct val="100000"/>
                        </a:lnSpc>
                        <a:spcBef>
                          <a:spcPts val="10"/>
                        </a:spcBef>
                      </a:pPr>
                      <a:endParaRPr sz="2550" dirty="0">
                        <a:latin typeface="Times New Roman"/>
                        <a:cs typeface="Times New Roman"/>
                      </a:endParaRPr>
                    </a:p>
                    <a:p>
                      <a:pPr marL="980440" marR="607060" indent="-667385">
                        <a:lnSpc>
                          <a:spcPct val="100000"/>
                        </a:lnSpc>
                        <a:spcBef>
                          <a:spcPts val="5"/>
                        </a:spcBef>
                      </a:pPr>
                      <a:r>
                        <a:rPr sz="2000" spc="0" baseline="0" dirty="0">
                          <a:solidFill>
                            <a:schemeClr val="bg1"/>
                          </a:solidFill>
                          <a:latin typeface="Tahoma"/>
                          <a:cs typeface="Tahoma"/>
                        </a:rPr>
                        <a:t>dữ liệu của ứng dụng  (payload)</a:t>
                      </a:r>
                    </a:p>
                  </a:txBody>
                  <a:tcPr marL="0" marR="0" marT="1270" marB="0">
                    <a:lnT w="19050">
                      <a:solidFill>
                        <a:srgbClr val="000000"/>
                      </a:solidFill>
                      <a:prstDash val="solid"/>
                    </a:lnT>
                    <a:solidFill>
                      <a:srgbClr val="000099"/>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12" name="object 12"/>
          <p:cNvSpPr txBox="1"/>
          <p:nvPr/>
        </p:nvSpPr>
        <p:spPr>
          <a:xfrm>
            <a:off x="6603546" y="5869187"/>
            <a:ext cx="306387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Tahoma"/>
                <a:cs typeface="Tahoma"/>
              </a:rPr>
              <a:t>cấu trúc TCP/UDP segment</a:t>
            </a:r>
            <a:endParaRPr sz="2000">
              <a:latin typeface="Tahoma"/>
              <a:cs typeface="Tahoma"/>
            </a:endParaRPr>
          </a:p>
        </p:txBody>
      </p:sp>
      <p:sp>
        <p:nvSpPr>
          <p:cNvPr id="14" name="Slide Number Placeholder 13"/>
          <p:cNvSpPr>
            <a:spLocks noGrp="1"/>
          </p:cNvSpPr>
          <p:nvPr>
            <p:ph type="sldNum" sz="quarter" idx="7"/>
          </p:nvPr>
        </p:nvSpPr>
        <p:spPr>
          <a:xfrm>
            <a:off x="9331213" y="7218830"/>
            <a:ext cx="394970" cy="205184"/>
          </a:xfrm>
        </p:spPr>
        <p:txBody>
          <a:bodyPr/>
          <a:lstStyle/>
          <a:p>
            <a:pPr marL="12700">
              <a:lnSpc>
                <a:spcPts val="1645"/>
              </a:lnSpc>
            </a:pPr>
            <a:fld id="{81D60167-4931-47E6-BA6A-407CBD079E47}" type="slidenum">
              <a:rPr lang="en-US" spc="-5" smtClean="0"/>
              <a:t>12</a:t>
            </a:fld>
            <a:endParaRPr lang="en-US" spc="-5" dirty="0"/>
          </a:p>
        </p:txBody>
      </p:sp>
      <p:pic>
        <p:nvPicPr>
          <p:cNvPr id="15" name="Picture 14"/>
          <p:cNvPicPr>
            <a:picLocks noChangeAspect="1"/>
          </p:cNvPicPr>
          <p:nvPr/>
        </p:nvPicPr>
        <p:blipFill>
          <a:blip r:embed="rId3"/>
          <a:stretch>
            <a:fillRect/>
          </a:stretch>
        </p:blipFill>
        <p:spPr>
          <a:xfrm>
            <a:off x="4167450" y="6617823"/>
            <a:ext cx="4506970" cy="1090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0541" y="550418"/>
            <a:ext cx="7364730" cy="566822"/>
          </a:xfrm>
          <a:prstGeom prst="rect">
            <a:avLst/>
          </a:prstGeom>
        </p:spPr>
        <p:txBody>
          <a:bodyPr vert="horz" wrap="square" lIns="0" tIns="12700" rIns="0" bIns="0" rtlCol="0">
            <a:spAutoFit/>
          </a:bodyPr>
          <a:lstStyle/>
          <a:p>
            <a:pPr marL="12700" marR="5080">
              <a:lnSpc>
                <a:spcPct val="100000"/>
              </a:lnSpc>
              <a:spcBef>
                <a:spcPts val="100"/>
              </a:spcBef>
            </a:pPr>
            <a:r>
              <a:rPr lang="en-US" spc="-5" dirty="0"/>
              <a:t>Minh </a:t>
            </a:r>
            <a:r>
              <a:rPr lang="en-US" spc="-5" dirty="0" err="1"/>
              <a:t>họa</a:t>
            </a:r>
            <a:r>
              <a:rPr lang="en-US" spc="-5" dirty="0"/>
              <a:t> </a:t>
            </a:r>
            <a:r>
              <a:rPr lang="en-US" spc="-5" dirty="0" err="1"/>
              <a:t>về</a:t>
            </a:r>
            <a:r>
              <a:rPr lang="en-US" spc="-5" dirty="0"/>
              <a:t> </a:t>
            </a:r>
            <a:r>
              <a:rPr lang="en-US" spc="-5" dirty="0" err="1"/>
              <a:t>dồn</a:t>
            </a:r>
            <a:r>
              <a:rPr lang="en-US" spc="-5" dirty="0"/>
              <a:t> </a:t>
            </a:r>
            <a:r>
              <a:rPr lang="en-US" spc="-5" dirty="0" err="1"/>
              <a:t>kênh</a:t>
            </a:r>
            <a:r>
              <a:rPr lang="en-US" spc="-5" dirty="0"/>
              <a:t> </a:t>
            </a:r>
            <a:r>
              <a:rPr lang="en-US" spc="-5" dirty="0" err="1"/>
              <a:t>và</a:t>
            </a:r>
            <a:r>
              <a:rPr lang="en-US" spc="-5" dirty="0"/>
              <a:t> </a:t>
            </a:r>
            <a:r>
              <a:rPr lang="en-US" spc="-5" dirty="0" err="1"/>
              <a:t>phân</a:t>
            </a:r>
            <a:r>
              <a:rPr lang="en-US" spc="-5" dirty="0"/>
              <a:t> </a:t>
            </a:r>
            <a:r>
              <a:rPr lang="en-US" spc="-5" dirty="0" err="1"/>
              <a:t>kênh</a:t>
            </a:r>
            <a:endParaRPr spc="-5" dirty="0"/>
          </a:p>
        </p:txBody>
      </p:sp>
      <p:sp>
        <p:nvSpPr>
          <p:cNvPr id="4" name="object 4"/>
          <p:cNvSpPr/>
          <p:nvPr/>
        </p:nvSpPr>
        <p:spPr>
          <a:xfrm>
            <a:off x="3276600" y="2222754"/>
            <a:ext cx="552450" cy="208254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272028" y="2218182"/>
            <a:ext cx="562610" cy="2092960"/>
          </a:xfrm>
          <a:custGeom>
            <a:avLst/>
            <a:gdLst/>
            <a:ahLst/>
            <a:cxnLst/>
            <a:rect l="l" t="t" r="r" b="b"/>
            <a:pathLst>
              <a:path w="562610" h="2092960">
                <a:moveTo>
                  <a:pt x="562356" y="2286"/>
                </a:moveTo>
                <a:lnTo>
                  <a:pt x="560070" y="0"/>
                </a:lnTo>
                <a:lnTo>
                  <a:pt x="555498" y="0"/>
                </a:lnTo>
                <a:lnTo>
                  <a:pt x="553212" y="762"/>
                </a:lnTo>
                <a:lnTo>
                  <a:pt x="552450" y="3810"/>
                </a:lnTo>
                <a:lnTo>
                  <a:pt x="0" y="2076450"/>
                </a:lnTo>
                <a:lnTo>
                  <a:pt x="0" y="2079498"/>
                </a:lnTo>
                <a:lnTo>
                  <a:pt x="762" y="2081022"/>
                </a:lnTo>
                <a:lnTo>
                  <a:pt x="2286" y="2081784"/>
                </a:lnTo>
                <a:lnTo>
                  <a:pt x="3048" y="2082546"/>
                </a:lnTo>
                <a:lnTo>
                  <a:pt x="5334" y="2082572"/>
                </a:lnTo>
                <a:lnTo>
                  <a:pt x="5334" y="2073402"/>
                </a:lnTo>
                <a:lnTo>
                  <a:pt x="11477" y="2073598"/>
                </a:lnTo>
                <a:lnTo>
                  <a:pt x="552269" y="43950"/>
                </a:lnTo>
                <a:lnTo>
                  <a:pt x="552450" y="4572"/>
                </a:lnTo>
                <a:lnTo>
                  <a:pt x="562337" y="6093"/>
                </a:lnTo>
                <a:lnTo>
                  <a:pt x="562356" y="2286"/>
                </a:lnTo>
                <a:close/>
              </a:path>
              <a:path w="562610" h="2092960">
                <a:moveTo>
                  <a:pt x="11477" y="2073598"/>
                </a:moveTo>
                <a:lnTo>
                  <a:pt x="5334" y="2073402"/>
                </a:lnTo>
                <a:lnTo>
                  <a:pt x="9906" y="2079498"/>
                </a:lnTo>
                <a:lnTo>
                  <a:pt x="11477" y="2073598"/>
                </a:lnTo>
                <a:close/>
              </a:path>
              <a:path w="562610" h="2092960">
                <a:moveTo>
                  <a:pt x="291077" y="2082545"/>
                </a:moveTo>
                <a:lnTo>
                  <a:pt x="11477" y="2073598"/>
                </a:lnTo>
                <a:lnTo>
                  <a:pt x="9906" y="2079498"/>
                </a:lnTo>
                <a:lnTo>
                  <a:pt x="5334" y="2073402"/>
                </a:lnTo>
                <a:lnTo>
                  <a:pt x="5334" y="2082572"/>
                </a:lnTo>
                <a:lnTo>
                  <a:pt x="288798" y="2092399"/>
                </a:lnTo>
                <a:lnTo>
                  <a:pt x="288798" y="2083308"/>
                </a:lnTo>
                <a:lnTo>
                  <a:pt x="291077" y="2082545"/>
                </a:lnTo>
                <a:close/>
              </a:path>
              <a:path w="562610" h="2092960">
                <a:moveTo>
                  <a:pt x="291084" y="2092452"/>
                </a:moveTo>
                <a:lnTo>
                  <a:pt x="291084" y="2082546"/>
                </a:lnTo>
                <a:lnTo>
                  <a:pt x="288798" y="2083308"/>
                </a:lnTo>
                <a:lnTo>
                  <a:pt x="288798" y="2092399"/>
                </a:lnTo>
                <a:lnTo>
                  <a:pt x="291084" y="2092452"/>
                </a:lnTo>
                <a:close/>
              </a:path>
              <a:path w="562610" h="2092960">
                <a:moveTo>
                  <a:pt x="546354" y="1997202"/>
                </a:moveTo>
                <a:lnTo>
                  <a:pt x="291077" y="2082545"/>
                </a:lnTo>
                <a:lnTo>
                  <a:pt x="291084" y="2092452"/>
                </a:lnTo>
                <a:lnTo>
                  <a:pt x="291846" y="2092452"/>
                </a:lnTo>
                <a:lnTo>
                  <a:pt x="291846" y="2091690"/>
                </a:lnTo>
                <a:lnTo>
                  <a:pt x="543306" y="2008365"/>
                </a:lnTo>
                <a:lnTo>
                  <a:pt x="543306" y="2001774"/>
                </a:lnTo>
                <a:lnTo>
                  <a:pt x="546354" y="1997202"/>
                </a:lnTo>
                <a:close/>
              </a:path>
              <a:path w="562610" h="2092960">
                <a:moveTo>
                  <a:pt x="543322" y="2001749"/>
                </a:moveTo>
                <a:lnTo>
                  <a:pt x="543322" y="1998215"/>
                </a:lnTo>
                <a:lnTo>
                  <a:pt x="543306" y="2001774"/>
                </a:lnTo>
                <a:close/>
              </a:path>
              <a:path w="562610" h="2092960">
                <a:moveTo>
                  <a:pt x="546354" y="2007355"/>
                </a:moveTo>
                <a:lnTo>
                  <a:pt x="546354" y="1997202"/>
                </a:lnTo>
                <a:lnTo>
                  <a:pt x="543306" y="2001774"/>
                </a:lnTo>
                <a:lnTo>
                  <a:pt x="543306" y="2008365"/>
                </a:lnTo>
                <a:lnTo>
                  <a:pt x="546354" y="2007355"/>
                </a:lnTo>
                <a:close/>
              </a:path>
              <a:path w="562610" h="2092960">
                <a:moveTo>
                  <a:pt x="562336" y="6168"/>
                </a:moveTo>
                <a:lnTo>
                  <a:pt x="552269" y="43950"/>
                </a:lnTo>
                <a:lnTo>
                  <a:pt x="543322" y="1998215"/>
                </a:lnTo>
                <a:lnTo>
                  <a:pt x="546354" y="1997202"/>
                </a:lnTo>
                <a:lnTo>
                  <a:pt x="546354" y="2007355"/>
                </a:lnTo>
                <a:lnTo>
                  <a:pt x="549402" y="2006346"/>
                </a:lnTo>
                <a:lnTo>
                  <a:pt x="550926" y="2005584"/>
                </a:lnTo>
                <a:lnTo>
                  <a:pt x="552450" y="2004060"/>
                </a:lnTo>
                <a:lnTo>
                  <a:pt x="562336" y="6168"/>
                </a:lnTo>
                <a:close/>
              </a:path>
              <a:path w="562610" h="2092960">
                <a:moveTo>
                  <a:pt x="562337" y="6093"/>
                </a:moveTo>
                <a:lnTo>
                  <a:pt x="552450" y="4572"/>
                </a:lnTo>
                <a:lnTo>
                  <a:pt x="552269" y="43950"/>
                </a:lnTo>
                <a:lnTo>
                  <a:pt x="562336" y="6168"/>
                </a:lnTo>
                <a:close/>
              </a:path>
            </a:pathLst>
          </a:custGeom>
          <a:solidFill>
            <a:srgbClr val="DDDDDD"/>
          </a:solidFill>
        </p:spPr>
        <p:txBody>
          <a:bodyPr wrap="square" lIns="0" tIns="0" rIns="0" bIns="0" rtlCol="0"/>
          <a:lstStyle/>
          <a:p>
            <a:endParaRPr/>
          </a:p>
        </p:txBody>
      </p:sp>
      <p:sp>
        <p:nvSpPr>
          <p:cNvPr id="6" name="object 6"/>
          <p:cNvSpPr/>
          <p:nvPr/>
        </p:nvSpPr>
        <p:spPr>
          <a:xfrm>
            <a:off x="874775" y="2402585"/>
            <a:ext cx="461009" cy="2193798"/>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870203" y="2397251"/>
            <a:ext cx="470534" cy="2204085"/>
          </a:xfrm>
          <a:custGeom>
            <a:avLst/>
            <a:gdLst/>
            <a:ahLst/>
            <a:cxnLst/>
            <a:rect l="l" t="t" r="r" b="b"/>
            <a:pathLst>
              <a:path w="470534" h="2204085">
                <a:moveTo>
                  <a:pt x="470153" y="5333"/>
                </a:moveTo>
                <a:lnTo>
                  <a:pt x="470150" y="2283"/>
                </a:lnTo>
                <a:lnTo>
                  <a:pt x="467867" y="761"/>
                </a:lnTo>
                <a:lnTo>
                  <a:pt x="465581" y="0"/>
                </a:lnTo>
                <a:lnTo>
                  <a:pt x="463295" y="0"/>
                </a:lnTo>
                <a:lnTo>
                  <a:pt x="461009" y="1523"/>
                </a:lnTo>
                <a:lnTo>
                  <a:pt x="460247" y="3809"/>
                </a:lnTo>
                <a:lnTo>
                  <a:pt x="0" y="2163317"/>
                </a:lnTo>
                <a:lnTo>
                  <a:pt x="0" y="2165604"/>
                </a:lnTo>
                <a:lnTo>
                  <a:pt x="762" y="2166366"/>
                </a:lnTo>
                <a:lnTo>
                  <a:pt x="9144" y="2178803"/>
                </a:lnTo>
                <a:lnTo>
                  <a:pt x="9144" y="2161031"/>
                </a:lnTo>
                <a:lnTo>
                  <a:pt x="9761" y="2161948"/>
                </a:lnTo>
                <a:lnTo>
                  <a:pt x="460027" y="53515"/>
                </a:lnTo>
                <a:lnTo>
                  <a:pt x="460247" y="5333"/>
                </a:lnTo>
                <a:lnTo>
                  <a:pt x="470150" y="6095"/>
                </a:lnTo>
                <a:lnTo>
                  <a:pt x="470153" y="5333"/>
                </a:lnTo>
                <a:close/>
              </a:path>
              <a:path w="470534" h="2204085">
                <a:moveTo>
                  <a:pt x="9761" y="2161948"/>
                </a:moveTo>
                <a:lnTo>
                  <a:pt x="9144" y="2161031"/>
                </a:lnTo>
                <a:lnTo>
                  <a:pt x="9144" y="2164841"/>
                </a:lnTo>
                <a:lnTo>
                  <a:pt x="9761" y="2161948"/>
                </a:lnTo>
                <a:close/>
              </a:path>
              <a:path w="470534" h="2204085">
                <a:moveTo>
                  <a:pt x="31225" y="2193797"/>
                </a:moveTo>
                <a:lnTo>
                  <a:pt x="9761" y="2161948"/>
                </a:lnTo>
                <a:lnTo>
                  <a:pt x="9144" y="2164841"/>
                </a:lnTo>
                <a:lnTo>
                  <a:pt x="9144" y="2178803"/>
                </a:lnTo>
                <a:lnTo>
                  <a:pt x="24384" y="2201417"/>
                </a:lnTo>
                <a:lnTo>
                  <a:pt x="25908" y="2202941"/>
                </a:lnTo>
                <a:lnTo>
                  <a:pt x="27432" y="2203704"/>
                </a:lnTo>
                <a:lnTo>
                  <a:pt x="28956" y="2203704"/>
                </a:lnTo>
                <a:lnTo>
                  <a:pt x="28956" y="2193797"/>
                </a:lnTo>
                <a:lnTo>
                  <a:pt x="31225" y="2193797"/>
                </a:lnTo>
                <a:close/>
              </a:path>
              <a:path w="470534" h="2204085">
                <a:moveTo>
                  <a:pt x="32766" y="2196084"/>
                </a:moveTo>
                <a:lnTo>
                  <a:pt x="31225" y="2193797"/>
                </a:lnTo>
                <a:lnTo>
                  <a:pt x="28956" y="2193797"/>
                </a:lnTo>
                <a:lnTo>
                  <a:pt x="32766" y="2196084"/>
                </a:lnTo>
                <a:close/>
              </a:path>
              <a:path w="470534" h="2204085">
                <a:moveTo>
                  <a:pt x="32766" y="2203704"/>
                </a:moveTo>
                <a:lnTo>
                  <a:pt x="32766" y="2196084"/>
                </a:lnTo>
                <a:lnTo>
                  <a:pt x="28956" y="2193797"/>
                </a:lnTo>
                <a:lnTo>
                  <a:pt x="28956" y="2203704"/>
                </a:lnTo>
                <a:lnTo>
                  <a:pt x="32766" y="2203704"/>
                </a:lnTo>
                <a:close/>
              </a:path>
              <a:path w="470534" h="2204085">
                <a:moveTo>
                  <a:pt x="292193" y="2193797"/>
                </a:moveTo>
                <a:lnTo>
                  <a:pt x="31225" y="2193797"/>
                </a:lnTo>
                <a:lnTo>
                  <a:pt x="32766" y="2196084"/>
                </a:lnTo>
                <a:lnTo>
                  <a:pt x="32766" y="2203704"/>
                </a:lnTo>
                <a:lnTo>
                  <a:pt x="290322" y="2203704"/>
                </a:lnTo>
                <a:lnTo>
                  <a:pt x="290322" y="2196084"/>
                </a:lnTo>
                <a:lnTo>
                  <a:pt x="292193" y="2193797"/>
                </a:lnTo>
                <a:close/>
              </a:path>
              <a:path w="470534" h="2204085">
                <a:moveTo>
                  <a:pt x="294132" y="2193797"/>
                </a:moveTo>
                <a:lnTo>
                  <a:pt x="292193" y="2193797"/>
                </a:lnTo>
                <a:lnTo>
                  <a:pt x="290322" y="2196084"/>
                </a:lnTo>
                <a:lnTo>
                  <a:pt x="294132" y="2193797"/>
                </a:lnTo>
                <a:close/>
              </a:path>
              <a:path w="470534" h="2204085">
                <a:moveTo>
                  <a:pt x="294132" y="2203704"/>
                </a:moveTo>
                <a:lnTo>
                  <a:pt x="294132" y="2193797"/>
                </a:lnTo>
                <a:lnTo>
                  <a:pt x="290322" y="2196084"/>
                </a:lnTo>
                <a:lnTo>
                  <a:pt x="290322" y="2203704"/>
                </a:lnTo>
                <a:lnTo>
                  <a:pt x="294132" y="2203704"/>
                </a:lnTo>
                <a:close/>
              </a:path>
              <a:path w="470534" h="2204085">
                <a:moveTo>
                  <a:pt x="451866" y="2014087"/>
                </a:moveTo>
                <a:lnTo>
                  <a:pt x="451866" y="1998725"/>
                </a:lnTo>
                <a:lnTo>
                  <a:pt x="451104" y="2001773"/>
                </a:lnTo>
                <a:lnTo>
                  <a:pt x="451104" y="1999656"/>
                </a:lnTo>
                <a:lnTo>
                  <a:pt x="292193" y="2193797"/>
                </a:lnTo>
                <a:lnTo>
                  <a:pt x="294132" y="2193797"/>
                </a:lnTo>
                <a:lnTo>
                  <a:pt x="294132" y="2203704"/>
                </a:lnTo>
                <a:lnTo>
                  <a:pt x="294894" y="2203704"/>
                </a:lnTo>
                <a:lnTo>
                  <a:pt x="296418" y="2202941"/>
                </a:lnTo>
                <a:lnTo>
                  <a:pt x="297180" y="2202179"/>
                </a:lnTo>
                <a:lnTo>
                  <a:pt x="451104" y="2015014"/>
                </a:lnTo>
                <a:lnTo>
                  <a:pt x="451104" y="2001773"/>
                </a:lnTo>
                <a:lnTo>
                  <a:pt x="451113" y="2015002"/>
                </a:lnTo>
                <a:lnTo>
                  <a:pt x="451866" y="2014087"/>
                </a:lnTo>
                <a:close/>
              </a:path>
              <a:path w="470534" h="2204085">
                <a:moveTo>
                  <a:pt x="451866" y="1998725"/>
                </a:moveTo>
                <a:lnTo>
                  <a:pt x="451113" y="1999645"/>
                </a:lnTo>
                <a:lnTo>
                  <a:pt x="451104" y="2001773"/>
                </a:lnTo>
                <a:lnTo>
                  <a:pt x="451866" y="1998725"/>
                </a:lnTo>
                <a:close/>
              </a:path>
              <a:path w="470534" h="2204085">
                <a:moveTo>
                  <a:pt x="470150" y="6114"/>
                </a:moveTo>
                <a:lnTo>
                  <a:pt x="460027" y="53515"/>
                </a:lnTo>
                <a:lnTo>
                  <a:pt x="451113" y="1999645"/>
                </a:lnTo>
                <a:lnTo>
                  <a:pt x="451866" y="1998725"/>
                </a:lnTo>
                <a:lnTo>
                  <a:pt x="451866" y="2014087"/>
                </a:lnTo>
                <a:lnTo>
                  <a:pt x="459486" y="2004821"/>
                </a:lnTo>
                <a:lnTo>
                  <a:pt x="460248" y="2004059"/>
                </a:lnTo>
                <a:lnTo>
                  <a:pt x="470150" y="6114"/>
                </a:lnTo>
                <a:close/>
              </a:path>
              <a:path w="470534" h="2204085">
                <a:moveTo>
                  <a:pt x="470150" y="6095"/>
                </a:moveTo>
                <a:lnTo>
                  <a:pt x="460247" y="5333"/>
                </a:lnTo>
                <a:lnTo>
                  <a:pt x="460027" y="53515"/>
                </a:lnTo>
                <a:lnTo>
                  <a:pt x="470150" y="6095"/>
                </a:lnTo>
                <a:close/>
              </a:path>
            </a:pathLst>
          </a:custGeom>
          <a:solidFill>
            <a:srgbClr val="DDDDDD"/>
          </a:solidFill>
        </p:spPr>
        <p:txBody>
          <a:bodyPr wrap="square" lIns="0" tIns="0" rIns="0" bIns="0" rtlCol="0"/>
          <a:lstStyle/>
          <a:p>
            <a:endParaRPr/>
          </a:p>
        </p:txBody>
      </p:sp>
      <p:sp>
        <p:nvSpPr>
          <p:cNvPr id="8" name="object 8"/>
          <p:cNvSpPr/>
          <p:nvPr/>
        </p:nvSpPr>
        <p:spPr>
          <a:xfrm>
            <a:off x="1390650" y="2369057"/>
            <a:ext cx="1297940" cy="1981200"/>
          </a:xfrm>
          <a:custGeom>
            <a:avLst/>
            <a:gdLst/>
            <a:ahLst/>
            <a:cxnLst/>
            <a:rect l="l" t="t" r="r" b="b"/>
            <a:pathLst>
              <a:path w="1297939" h="1981200">
                <a:moveTo>
                  <a:pt x="0" y="0"/>
                </a:moveTo>
                <a:lnTo>
                  <a:pt x="0" y="1981200"/>
                </a:lnTo>
                <a:lnTo>
                  <a:pt x="1297686" y="1981200"/>
                </a:lnTo>
                <a:lnTo>
                  <a:pt x="1297686" y="0"/>
                </a:lnTo>
                <a:lnTo>
                  <a:pt x="0" y="0"/>
                </a:lnTo>
                <a:close/>
              </a:path>
            </a:pathLst>
          </a:custGeom>
          <a:solidFill>
            <a:srgbClr val="000099"/>
          </a:solidFill>
        </p:spPr>
        <p:txBody>
          <a:bodyPr wrap="square" lIns="0" tIns="0" rIns="0" bIns="0" rtlCol="0"/>
          <a:lstStyle/>
          <a:p>
            <a:endParaRPr/>
          </a:p>
        </p:txBody>
      </p:sp>
      <p:sp>
        <p:nvSpPr>
          <p:cNvPr id="9" name="object 9"/>
          <p:cNvSpPr/>
          <p:nvPr/>
        </p:nvSpPr>
        <p:spPr>
          <a:xfrm>
            <a:off x="1352550" y="2423160"/>
            <a:ext cx="1273810" cy="1979930"/>
          </a:xfrm>
          <a:custGeom>
            <a:avLst/>
            <a:gdLst/>
            <a:ahLst/>
            <a:cxnLst/>
            <a:rect l="l" t="t" r="r" b="b"/>
            <a:pathLst>
              <a:path w="1273810" h="1979929">
                <a:moveTo>
                  <a:pt x="0" y="0"/>
                </a:moveTo>
                <a:lnTo>
                  <a:pt x="0" y="1979676"/>
                </a:lnTo>
                <a:lnTo>
                  <a:pt x="1273302" y="1979676"/>
                </a:lnTo>
                <a:lnTo>
                  <a:pt x="1273301" y="0"/>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1338833" y="2408682"/>
            <a:ext cx="1301750" cy="2007870"/>
          </a:xfrm>
          <a:custGeom>
            <a:avLst/>
            <a:gdLst/>
            <a:ahLst/>
            <a:cxnLst/>
            <a:rect l="l" t="t" r="r" b="b"/>
            <a:pathLst>
              <a:path w="1301750" h="2007870">
                <a:moveTo>
                  <a:pt x="1301496" y="2007870"/>
                </a:moveTo>
                <a:lnTo>
                  <a:pt x="1301495" y="0"/>
                </a:lnTo>
                <a:lnTo>
                  <a:pt x="0" y="0"/>
                </a:lnTo>
                <a:lnTo>
                  <a:pt x="0" y="2007870"/>
                </a:lnTo>
                <a:lnTo>
                  <a:pt x="13715" y="2007870"/>
                </a:lnTo>
                <a:lnTo>
                  <a:pt x="13715" y="28194"/>
                </a:lnTo>
                <a:lnTo>
                  <a:pt x="28193" y="14478"/>
                </a:lnTo>
                <a:lnTo>
                  <a:pt x="28193" y="28194"/>
                </a:lnTo>
                <a:lnTo>
                  <a:pt x="1273302" y="28194"/>
                </a:lnTo>
                <a:lnTo>
                  <a:pt x="1273302" y="14478"/>
                </a:lnTo>
                <a:lnTo>
                  <a:pt x="1287017" y="28194"/>
                </a:lnTo>
                <a:lnTo>
                  <a:pt x="1287018" y="2007870"/>
                </a:lnTo>
                <a:lnTo>
                  <a:pt x="1301496" y="2007870"/>
                </a:lnTo>
                <a:close/>
              </a:path>
              <a:path w="1301750" h="2007870">
                <a:moveTo>
                  <a:pt x="28193" y="28194"/>
                </a:moveTo>
                <a:lnTo>
                  <a:pt x="28193" y="14478"/>
                </a:lnTo>
                <a:lnTo>
                  <a:pt x="13715" y="28194"/>
                </a:lnTo>
                <a:lnTo>
                  <a:pt x="28193" y="28194"/>
                </a:lnTo>
                <a:close/>
              </a:path>
              <a:path w="1301750" h="2007870">
                <a:moveTo>
                  <a:pt x="28193" y="1979676"/>
                </a:moveTo>
                <a:lnTo>
                  <a:pt x="28193" y="28194"/>
                </a:lnTo>
                <a:lnTo>
                  <a:pt x="13715" y="28194"/>
                </a:lnTo>
                <a:lnTo>
                  <a:pt x="13715" y="1979676"/>
                </a:lnTo>
                <a:lnTo>
                  <a:pt x="28193" y="1979676"/>
                </a:lnTo>
                <a:close/>
              </a:path>
              <a:path w="1301750" h="2007870">
                <a:moveTo>
                  <a:pt x="1287018" y="1979676"/>
                </a:moveTo>
                <a:lnTo>
                  <a:pt x="13715" y="1979676"/>
                </a:lnTo>
                <a:lnTo>
                  <a:pt x="28193" y="1994154"/>
                </a:lnTo>
                <a:lnTo>
                  <a:pt x="28194" y="2007870"/>
                </a:lnTo>
                <a:lnTo>
                  <a:pt x="1273302" y="2007870"/>
                </a:lnTo>
                <a:lnTo>
                  <a:pt x="1273302" y="1994154"/>
                </a:lnTo>
                <a:lnTo>
                  <a:pt x="1287018" y="1979676"/>
                </a:lnTo>
                <a:close/>
              </a:path>
              <a:path w="1301750" h="2007870">
                <a:moveTo>
                  <a:pt x="28194" y="2007870"/>
                </a:moveTo>
                <a:lnTo>
                  <a:pt x="28193" y="1994154"/>
                </a:lnTo>
                <a:lnTo>
                  <a:pt x="13715" y="1979676"/>
                </a:lnTo>
                <a:lnTo>
                  <a:pt x="13715" y="2007870"/>
                </a:lnTo>
                <a:lnTo>
                  <a:pt x="28194" y="2007870"/>
                </a:lnTo>
                <a:close/>
              </a:path>
              <a:path w="1301750" h="2007870">
                <a:moveTo>
                  <a:pt x="1287017" y="28194"/>
                </a:moveTo>
                <a:lnTo>
                  <a:pt x="1273302" y="14478"/>
                </a:lnTo>
                <a:lnTo>
                  <a:pt x="1273302" y="28194"/>
                </a:lnTo>
                <a:lnTo>
                  <a:pt x="1287017" y="28194"/>
                </a:lnTo>
                <a:close/>
              </a:path>
              <a:path w="1301750" h="2007870">
                <a:moveTo>
                  <a:pt x="1287018" y="1979676"/>
                </a:moveTo>
                <a:lnTo>
                  <a:pt x="1287017" y="28194"/>
                </a:lnTo>
                <a:lnTo>
                  <a:pt x="1273302" y="28194"/>
                </a:lnTo>
                <a:lnTo>
                  <a:pt x="1273302" y="1979676"/>
                </a:lnTo>
                <a:lnTo>
                  <a:pt x="1287018" y="1979676"/>
                </a:lnTo>
                <a:close/>
              </a:path>
              <a:path w="1301750" h="2007870">
                <a:moveTo>
                  <a:pt x="1287018" y="2007870"/>
                </a:moveTo>
                <a:lnTo>
                  <a:pt x="1287018" y="1979676"/>
                </a:lnTo>
                <a:lnTo>
                  <a:pt x="1273302" y="1994154"/>
                </a:lnTo>
                <a:lnTo>
                  <a:pt x="1273302" y="2007870"/>
                </a:lnTo>
                <a:lnTo>
                  <a:pt x="1287018" y="2007870"/>
                </a:lnTo>
                <a:close/>
              </a:path>
            </a:pathLst>
          </a:custGeom>
          <a:solidFill>
            <a:srgbClr val="000000"/>
          </a:solidFill>
        </p:spPr>
        <p:txBody>
          <a:bodyPr wrap="square" lIns="0" tIns="0" rIns="0" bIns="0" rtlCol="0"/>
          <a:lstStyle/>
          <a:p>
            <a:endParaRPr/>
          </a:p>
        </p:txBody>
      </p:sp>
      <p:sp>
        <p:nvSpPr>
          <p:cNvPr id="11" name="object 11"/>
          <p:cNvSpPr/>
          <p:nvPr/>
        </p:nvSpPr>
        <p:spPr>
          <a:xfrm>
            <a:off x="2278379" y="3184779"/>
            <a:ext cx="347980" cy="0"/>
          </a:xfrm>
          <a:custGeom>
            <a:avLst/>
            <a:gdLst/>
            <a:ahLst/>
            <a:cxnLst/>
            <a:rect l="l" t="t" r="r" b="b"/>
            <a:pathLst>
              <a:path w="347980">
                <a:moveTo>
                  <a:pt x="0" y="0"/>
                </a:moveTo>
                <a:lnTo>
                  <a:pt x="347471" y="0"/>
                </a:lnTo>
              </a:path>
            </a:pathLst>
          </a:custGeom>
          <a:ln w="31242">
            <a:solidFill>
              <a:srgbClr val="000000"/>
            </a:solidFill>
          </a:ln>
        </p:spPr>
        <p:txBody>
          <a:bodyPr wrap="square" lIns="0" tIns="0" rIns="0" bIns="0" rtlCol="0"/>
          <a:lstStyle/>
          <a:p>
            <a:endParaRPr/>
          </a:p>
        </p:txBody>
      </p:sp>
      <p:sp>
        <p:nvSpPr>
          <p:cNvPr id="12" name="object 12"/>
          <p:cNvSpPr/>
          <p:nvPr/>
        </p:nvSpPr>
        <p:spPr>
          <a:xfrm>
            <a:off x="1362455" y="3184779"/>
            <a:ext cx="295275" cy="0"/>
          </a:xfrm>
          <a:custGeom>
            <a:avLst/>
            <a:gdLst/>
            <a:ahLst/>
            <a:cxnLst/>
            <a:rect l="l" t="t" r="r" b="b"/>
            <a:pathLst>
              <a:path w="295275">
                <a:moveTo>
                  <a:pt x="0" y="0"/>
                </a:moveTo>
                <a:lnTo>
                  <a:pt x="294894" y="0"/>
                </a:lnTo>
              </a:path>
            </a:pathLst>
          </a:custGeom>
          <a:ln w="31242">
            <a:solidFill>
              <a:srgbClr val="000000"/>
            </a:solidFill>
          </a:ln>
        </p:spPr>
        <p:txBody>
          <a:bodyPr wrap="square" lIns="0" tIns="0" rIns="0" bIns="0" rtlCol="0"/>
          <a:lstStyle/>
          <a:p>
            <a:endParaRPr/>
          </a:p>
        </p:txBody>
      </p:sp>
      <p:sp>
        <p:nvSpPr>
          <p:cNvPr id="13" name="object 13"/>
          <p:cNvSpPr txBox="1"/>
          <p:nvPr/>
        </p:nvSpPr>
        <p:spPr>
          <a:xfrm>
            <a:off x="1390650" y="3196844"/>
            <a:ext cx="1297940" cy="238760"/>
          </a:xfrm>
          <a:prstGeom prst="rect">
            <a:avLst/>
          </a:prstGeom>
        </p:spPr>
        <p:txBody>
          <a:bodyPr vert="horz" wrap="square" lIns="0" tIns="12065" rIns="0" bIns="0" rtlCol="0">
            <a:spAutoFit/>
          </a:bodyPr>
          <a:lstStyle/>
          <a:p>
            <a:pPr marL="231775">
              <a:lnSpc>
                <a:spcPct val="100000"/>
              </a:lnSpc>
              <a:spcBef>
                <a:spcPts val="95"/>
              </a:spcBef>
            </a:pPr>
            <a:r>
              <a:rPr sz="1400" spc="-5" dirty="0">
                <a:latin typeface="Tahoma"/>
                <a:cs typeface="Tahoma"/>
              </a:rPr>
              <a:t>transport</a:t>
            </a:r>
            <a:endParaRPr sz="1400">
              <a:latin typeface="Tahoma"/>
              <a:cs typeface="Tahoma"/>
            </a:endParaRPr>
          </a:p>
        </p:txBody>
      </p:sp>
      <p:sp>
        <p:nvSpPr>
          <p:cNvPr id="14" name="object 14"/>
          <p:cNvSpPr/>
          <p:nvPr/>
        </p:nvSpPr>
        <p:spPr>
          <a:xfrm>
            <a:off x="1370075" y="3505580"/>
            <a:ext cx="1264285" cy="0"/>
          </a:xfrm>
          <a:custGeom>
            <a:avLst/>
            <a:gdLst/>
            <a:ahLst/>
            <a:cxnLst/>
            <a:rect l="l" t="t" r="r" b="b"/>
            <a:pathLst>
              <a:path w="1264285">
                <a:moveTo>
                  <a:pt x="0" y="0"/>
                </a:moveTo>
                <a:lnTo>
                  <a:pt x="1264158" y="0"/>
                </a:lnTo>
              </a:path>
            </a:pathLst>
          </a:custGeom>
          <a:ln w="31241">
            <a:solidFill>
              <a:srgbClr val="000000"/>
            </a:solidFill>
          </a:ln>
        </p:spPr>
        <p:txBody>
          <a:bodyPr wrap="square" lIns="0" tIns="0" rIns="0" bIns="0" rtlCol="0"/>
          <a:lstStyle/>
          <a:p>
            <a:endParaRPr/>
          </a:p>
        </p:txBody>
      </p:sp>
      <p:sp>
        <p:nvSpPr>
          <p:cNvPr id="15" name="object 15"/>
          <p:cNvSpPr/>
          <p:nvPr/>
        </p:nvSpPr>
        <p:spPr>
          <a:xfrm>
            <a:off x="1356360" y="3815334"/>
            <a:ext cx="1263650" cy="0"/>
          </a:xfrm>
          <a:custGeom>
            <a:avLst/>
            <a:gdLst/>
            <a:ahLst/>
            <a:cxnLst/>
            <a:rect l="l" t="t" r="r" b="b"/>
            <a:pathLst>
              <a:path w="1263650">
                <a:moveTo>
                  <a:pt x="0" y="0"/>
                </a:moveTo>
                <a:lnTo>
                  <a:pt x="1263396" y="0"/>
                </a:lnTo>
              </a:path>
            </a:pathLst>
          </a:custGeom>
          <a:ln w="32003">
            <a:solidFill>
              <a:srgbClr val="000000"/>
            </a:solidFill>
          </a:ln>
        </p:spPr>
        <p:txBody>
          <a:bodyPr wrap="square" lIns="0" tIns="0" rIns="0" bIns="0" rtlCol="0"/>
          <a:lstStyle/>
          <a:p>
            <a:endParaRPr/>
          </a:p>
        </p:txBody>
      </p:sp>
      <p:sp>
        <p:nvSpPr>
          <p:cNvPr id="16" name="object 16"/>
          <p:cNvSpPr/>
          <p:nvPr/>
        </p:nvSpPr>
        <p:spPr>
          <a:xfrm>
            <a:off x="1356360" y="4101084"/>
            <a:ext cx="1263650" cy="0"/>
          </a:xfrm>
          <a:custGeom>
            <a:avLst/>
            <a:gdLst/>
            <a:ahLst/>
            <a:cxnLst/>
            <a:rect l="l" t="t" r="r" b="b"/>
            <a:pathLst>
              <a:path w="1263650">
                <a:moveTo>
                  <a:pt x="0" y="0"/>
                </a:moveTo>
                <a:lnTo>
                  <a:pt x="1263396" y="0"/>
                </a:lnTo>
              </a:path>
            </a:pathLst>
          </a:custGeom>
          <a:ln w="32003">
            <a:solidFill>
              <a:srgbClr val="000000"/>
            </a:solidFill>
          </a:ln>
        </p:spPr>
        <p:txBody>
          <a:bodyPr wrap="square" lIns="0" tIns="0" rIns="0" bIns="0" rtlCol="0"/>
          <a:lstStyle/>
          <a:p>
            <a:endParaRPr/>
          </a:p>
        </p:txBody>
      </p:sp>
      <p:sp>
        <p:nvSpPr>
          <p:cNvPr id="17" name="object 17"/>
          <p:cNvSpPr txBox="1"/>
          <p:nvPr/>
        </p:nvSpPr>
        <p:spPr>
          <a:xfrm>
            <a:off x="1390650" y="4102106"/>
            <a:ext cx="1297940" cy="238760"/>
          </a:xfrm>
          <a:prstGeom prst="rect">
            <a:avLst/>
          </a:prstGeom>
        </p:spPr>
        <p:txBody>
          <a:bodyPr vert="horz" wrap="square" lIns="0" tIns="12065" rIns="0" bIns="0" rtlCol="0">
            <a:spAutoFit/>
          </a:bodyPr>
          <a:lstStyle/>
          <a:p>
            <a:pPr marL="267970">
              <a:lnSpc>
                <a:spcPct val="100000"/>
              </a:lnSpc>
              <a:spcBef>
                <a:spcPts val="95"/>
              </a:spcBef>
            </a:pPr>
            <a:r>
              <a:rPr sz="1400" spc="-10" dirty="0">
                <a:latin typeface="Tahoma"/>
                <a:cs typeface="Tahoma"/>
              </a:rPr>
              <a:t>physical</a:t>
            </a:r>
            <a:endParaRPr sz="1400">
              <a:latin typeface="Tahoma"/>
              <a:cs typeface="Tahoma"/>
            </a:endParaRPr>
          </a:p>
        </p:txBody>
      </p:sp>
      <p:sp>
        <p:nvSpPr>
          <p:cNvPr id="18" name="object 18"/>
          <p:cNvSpPr txBox="1"/>
          <p:nvPr/>
        </p:nvSpPr>
        <p:spPr>
          <a:xfrm>
            <a:off x="1390650" y="3816363"/>
            <a:ext cx="1297940" cy="238760"/>
          </a:xfrm>
          <a:prstGeom prst="rect">
            <a:avLst/>
          </a:prstGeom>
        </p:spPr>
        <p:txBody>
          <a:bodyPr vert="horz" wrap="square" lIns="0" tIns="12065" rIns="0" bIns="0" rtlCol="0">
            <a:spAutoFit/>
          </a:bodyPr>
          <a:lstStyle/>
          <a:p>
            <a:pPr marR="94615" algn="ctr">
              <a:lnSpc>
                <a:spcPct val="100000"/>
              </a:lnSpc>
              <a:spcBef>
                <a:spcPts val="95"/>
              </a:spcBef>
            </a:pPr>
            <a:r>
              <a:rPr sz="1400" spc="-10" dirty="0">
                <a:latin typeface="Tahoma"/>
                <a:cs typeface="Tahoma"/>
              </a:rPr>
              <a:t>link</a:t>
            </a:r>
            <a:endParaRPr sz="1400">
              <a:latin typeface="Tahoma"/>
              <a:cs typeface="Tahoma"/>
            </a:endParaRPr>
          </a:p>
        </p:txBody>
      </p:sp>
      <p:sp>
        <p:nvSpPr>
          <p:cNvPr id="19" name="object 19"/>
          <p:cNvSpPr txBox="1"/>
          <p:nvPr/>
        </p:nvSpPr>
        <p:spPr>
          <a:xfrm>
            <a:off x="1390650" y="3520714"/>
            <a:ext cx="1297940" cy="238760"/>
          </a:xfrm>
          <a:prstGeom prst="rect">
            <a:avLst/>
          </a:prstGeom>
        </p:spPr>
        <p:txBody>
          <a:bodyPr vert="horz" wrap="square" lIns="0" tIns="12065" rIns="0" bIns="0" rtlCol="0">
            <a:spAutoFit/>
          </a:bodyPr>
          <a:lstStyle/>
          <a:p>
            <a:pPr marL="270510">
              <a:lnSpc>
                <a:spcPct val="100000"/>
              </a:lnSpc>
              <a:spcBef>
                <a:spcPts val="95"/>
              </a:spcBef>
            </a:pPr>
            <a:r>
              <a:rPr sz="1400" spc="-5" dirty="0">
                <a:latin typeface="Tahoma"/>
                <a:cs typeface="Tahoma"/>
              </a:rPr>
              <a:t>network</a:t>
            </a:r>
            <a:endParaRPr sz="1400">
              <a:latin typeface="Tahoma"/>
              <a:cs typeface="Tahoma"/>
            </a:endParaRPr>
          </a:p>
        </p:txBody>
      </p:sp>
      <p:sp>
        <p:nvSpPr>
          <p:cNvPr id="20" name="object 20"/>
          <p:cNvSpPr/>
          <p:nvPr/>
        </p:nvSpPr>
        <p:spPr>
          <a:xfrm>
            <a:off x="1689354" y="2699004"/>
            <a:ext cx="599440" cy="304800"/>
          </a:xfrm>
          <a:custGeom>
            <a:avLst/>
            <a:gdLst/>
            <a:ahLst/>
            <a:cxnLst/>
            <a:rect l="l" t="t" r="r" b="b"/>
            <a:pathLst>
              <a:path w="599439" h="304800">
                <a:moveTo>
                  <a:pt x="598932" y="152399"/>
                </a:moveTo>
                <a:lnTo>
                  <a:pt x="575393" y="93225"/>
                </a:lnTo>
                <a:lnTo>
                  <a:pt x="511206" y="44767"/>
                </a:lnTo>
                <a:lnTo>
                  <a:pt x="466884" y="26119"/>
                </a:lnTo>
                <a:lnTo>
                  <a:pt x="416016" y="12025"/>
                </a:lnTo>
                <a:lnTo>
                  <a:pt x="359808" y="3110"/>
                </a:lnTo>
                <a:lnTo>
                  <a:pt x="299466" y="0"/>
                </a:lnTo>
                <a:lnTo>
                  <a:pt x="239123" y="3110"/>
                </a:lnTo>
                <a:lnTo>
                  <a:pt x="182915" y="12025"/>
                </a:lnTo>
                <a:lnTo>
                  <a:pt x="132047" y="26119"/>
                </a:lnTo>
                <a:lnTo>
                  <a:pt x="87725" y="44767"/>
                </a:lnTo>
                <a:lnTo>
                  <a:pt x="51153" y="67344"/>
                </a:lnTo>
                <a:lnTo>
                  <a:pt x="6085" y="121786"/>
                </a:lnTo>
                <a:lnTo>
                  <a:pt x="0" y="152400"/>
                </a:lnTo>
                <a:lnTo>
                  <a:pt x="6085" y="183232"/>
                </a:lnTo>
                <a:lnTo>
                  <a:pt x="51153" y="237790"/>
                </a:lnTo>
                <a:lnTo>
                  <a:pt x="87725" y="260318"/>
                </a:lnTo>
                <a:lnTo>
                  <a:pt x="132047" y="278881"/>
                </a:lnTo>
                <a:lnTo>
                  <a:pt x="182915" y="292881"/>
                </a:lnTo>
                <a:lnTo>
                  <a:pt x="239123" y="301720"/>
                </a:lnTo>
                <a:lnTo>
                  <a:pt x="299466" y="304800"/>
                </a:lnTo>
                <a:lnTo>
                  <a:pt x="359808" y="301720"/>
                </a:lnTo>
                <a:lnTo>
                  <a:pt x="416016" y="292881"/>
                </a:lnTo>
                <a:lnTo>
                  <a:pt x="466884" y="278881"/>
                </a:lnTo>
                <a:lnTo>
                  <a:pt x="511206" y="260318"/>
                </a:lnTo>
                <a:lnTo>
                  <a:pt x="547778" y="237790"/>
                </a:lnTo>
                <a:lnTo>
                  <a:pt x="592846" y="183232"/>
                </a:lnTo>
                <a:lnTo>
                  <a:pt x="598932" y="152399"/>
                </a:lnTo>
                <a:close/>
              </a:path>
            </a:pathLst>
          </a:custGeom>
          <a:solidFill>
            <a:srgbClr val="CCFFFF"/>
          </a:solidFill>
        </p:spPr>
        <p:txBody>
          <a:bodyPr wrap="square" lIns="0" tIns="0" rIns="0" bIns="0" rtlCol="0"/>
          <a:lstStyle/>
          <a:p>
            <a:endParaRPr/>
          </a:p>
        </p:txBody>
      </p:sp>
      <p:sp>
        <p:nvSpPr>
          <p:cNvPr id="21" name="object 21"/>
          <p:cNvSpPr txBox="1"/>
          <p:nvPr/>
        </p:nvSpPr>
        <p:spPr>
          <a:xfrm>
            <a:off x="3282950" y="3438119"/>
            <a:ext cx="180340" cy="617220"/>
          </a:xfrm>
          <a:prstGeom prst="rect">
            <a:avLst/>
          </a:prstGeom>
        </p:spPr>
        <p:txBody>
          <a:bodyPr vert="horz" wrap="square" lIns="0" tIns="94615" rIns="0" bIns="0" rtlCol="0">
            <a:spAutoFit/>
          </a:bodyPr>
          <a:lstStyle/>
          <a:p>
            <a:pPr marL="12700">
              <a:lnSpc>
                <a:spcPct val="100000"/>
              </a:lnSpc>
              <a:spcBef>
                <a:spcPts val="745"/>
              </a:spcBef>
            </a:pPr>
            <a:r>
              <a:rPr sz="1400" u="heavy" dirty="0">
                <a:uFill>
                  <a:solidFill>
                    <a:srgbClr val="000000"/>
                  </a:solidFill>
                </a:uFill>
                <a:latin typeface="Tahoma"/>
                <a:cs typeface="Tahoma"/>
              </a:rPr>
              <a:t> </a:t>
            </a:r>
            <a:r>
              <a:rPr sz="1400" u="heavy" spc="-125" dirty="0">
                <a:uFill>
                  <a:solidFill>
                    <a:srgbClr val="000000"/>
                  </a:solidFill>
                </a:uFill>
                <a:latin typeface="Tahoma"/>
                <a:cs typeface="Tahoma"/>
              </a:rPr>
              <a:t> </a:t>
            </a:r>
            <a:endParaRPr sz="1400">
              <a:latin typeface="Tahoma"/>
              <a:cs typeface="Tahoma"/>
            </a:endParaRPr>
          </a:p>
          <a:p>
            <a:pPr marL="17780">
              <a:lnSpc>
                <a:spcPct val="100000"/>
              </a:lnSpc>
              <a:spcBef>
                <a:spcPts val="650"/>
              </a:spcBef>
            </a:pPr>
            <a:r>
              <a:rPr sz="1400" u="heavy" dirty="0">
                <a:uFill>
                  <a:solidFill>
                    <a:srgbClr val="000000"/>
                  </a:solidFill>
                </a:uFill>
                <a:latin typeface="Tahoma"/>
                <a:cs typeface="Tahoma"/>
              </a:rPr>
              <a:t> </a:t>
            </a:r>
            <a:r>
              <a:rPr sz="1400" u="heavy" spc="-140" dirty="0">
                <a:uFill>
                  <a:solidFill>
                    <a:srgbClr val="000000"/>
                  </a:solidFill>
                </a:uFill>
                <a:latin typeface="Tahoma"/>
                <a:cs typeface="Tahoma"/>
              </a:rPr>
              <a:t> </a:t>
            </a:r>
            <a:endParaRPr sz="1400">
              <a:latin typeface="Tahoma"/>
              <a:cs typeface="Tahoma"/>
            </a:endParaRPr>
          </a:p>
        </p:txBody>
      </p:sp>
      <p:sp>
        <p:nvSpPr>
          <p:cNvPr id="22" name="object 22"/>
          <p:cNvSpPr/>
          <p:nvPr/>
        </p:nvSpPr>
        <p:spPr>
          <a:xfrm>
            <a:off x="1684782" y="2694698"/>
            <a:ext cx="608330" cy="313690"/>
          </a:xfrm>
          <a:custGeom>
            <a:avLst/>
            <a:gdLst/>
            <a:ahLst/>
            <a:cxnLst/>
            <a:rect l="l" t="t" r="r" b="b"/>
            <a:pathLst>
              <a:path w="608330" h="313689">
                <a:moveTo>
                  <a:pt x="608076" y="156705"/>
                </a:moveTo>
                <a:lnTo>
                  <a:pt x="594043" y="110522"/>
                </a:lnTo>
                <a:lnTo>
                  <a:pt x="547470" y="62090"/>
                </a:lnTo>
                <a:lnTo>
                  <a:pt x="478426" y="27528"/>
                </a:lnTo>
                <a:lnTo>
                  <a:pt x="437828" y="15447"/>
                </a:lnTo>
                <a:lnTo>
                  <a:pt x="394434" y="6832"/>
                </a:lnTo>
                <a:lnTo>
                  <a:pt x="349184" y="1683"/>
                </a:lnTo>
                <a:lnTo>
                  <a:pt x="303018" y="0"/>
                </a:lnTo>
                <a:lnTo>
                  <a:pt x="256878" y="1780"/>
                </a:lnTo>
                <a:lnTo>
                  <a:pt x="211704" y="7026"/>
                </a:lnTo>
                <a:lnTo>
                  <a:pt x="168435" y="15735"/>
                </a:lnTo>
                <a:lnTo>
                  <a:pt x="128014" y="27907"/>
                </a:lnTo>
                <a:lnTo>
                  <a:pt x="91379" y="43542"/>
                </a:lnTo>
                <a:lnTo>
                  <a:pt x="33234" y="85200"/>
                </a:lnTo>
                <a:lnTo>
                  <a:pt x="1523" y="140703"/>
                </a:lnTo>
                <a:lnTo>
                  <a:pt x="0" y="149085"/>
                </a:lnTo>
                <a:lnTo>
                  <a:pt x="0" y="165087"/>
                </a:lnTo>
                <a:lnTo>
                  <a:pt x="1524" y="173469"/>
                </a:lnTo>
                <a:lnTo>
                  <a:pt x="3810" y="181851"/>
                </a:lnTo>
                <a:lnTo>
                  <a:pt x="6096" y="189471"/>
                </a:lnTo>
                <a:lnTo>
                  <a:pt x="9144" y="193846"/>
                </a:lnTo>
                <a:lnTo>
                  <a:pt x="9144" y="156705"/>
                </a:lnTo>
                <a:lnTo>
                  <a:pt x="9906" y="149085"/>
                </a:lnTo>
                <a:lnTo>
                  <a:pt x="23727" y="112603"/>
                </a:lnTo>
                <a:lnTo>
                  <a:pt x="73716" y="64534"/>
                </a:lnTo>
                <a:lnTo>
                  <a:pt x="108387" y="46104"/>
                </a:lnTo>
                <a:lnTo>
                  <a:pt x="148004" y="31419"/>
                </a:lnTo>
                <a:lnTo>
                  <a:pt x="191438" y="20486"/>
                </a:lnTo>
                <a:lnTo>
                  <a:pt x="237559" y="13312"/>
                </a:lnTo>
                <a:lnTo>
                  <a:pt x="285238" y="9905"/>
                </a:lnTo>
                <a:lnTo>
                  <a:pt x="333347" y="10270"/>
                </a:lnTo>
                <a:lnTo>
                  <a:pt x="380756" y="14414"/>
                </a:lnTo>
                <a:lnTo>
                  <a:pt x="426335" y="22346"/>
                </a:lnTo>
                <a:lnTo>
                  <a:pt x="468956" y="34072"/>
                </a:lnTo>
                <a:lnTo>
                  <a:pt x="507490" y="49598"/>
                </a:lnTo>
                <a:lnTo>
                  <a:pt x="540808" y="68931"/>
                </a:lnTo>
                <a:lnTo>
                  <a:pt x="587276" y="119049"/>
                </a:lnTo>
                <a:lnTo>
                  <a:pt x="598170" y="149847"/>
                </a:lnTo>
                <a:lnTo>
                  <a:pt x="598170" y="191390"/>
                </a:lnTo>
                <a:lnTo>
                  <a:pt x="607314" y="165087"/>
                </a:lnTo>
                <a:lnTo>
                  <a:pt x="608076" y="156705"/>
                </a:lnTo>
                <a:close/>
              </a:path>
              <a:path w="608330" h="313689">
                <a:moveTo>
                  <a:pt x="598170" y="191390"/>
                </a:moveTo>
                <a:lnTo>
                  <a:pt x="598170" y="164325"/>
                </a:lnTo>
                <a:lnTo>
                  <a:pt x="596646" y="171945"/>
                </a:lnTo>
                <a:lnTo>
                  <a:pt x="579855" y="208309"/>
                </a:lnTo>
                <a:lnTo>
                  <a:pt x="549613" y="238237"/>
                </a:lnTo>
                <a:lnTo>
                  <a:pt x="509859" y="262084"/>
                </a:lnTo>
                <a:lnTo>
                  <a:pt x="464533" y="280206"/>
                </a:lnTo>
                <a:lnTo>
                  <a:pt x="417574" y="292957"/>
                </a:lnTo>
                <a:lnTo>
                  <a:pt x="372923" y="300694"/>
                </a:lnTo>
                <a:lnTo>
                  <a:pt x="334518" y="303771"/>
                </a:lnTo>
                <a:lnTo>
                  <a:pt x="319278" y="304533"/>
                </a:lnTo>
                <a:lnTo>
                  <a:pt x="303018" y="304503"/>
                </a:lnTo>
                <a:lnTo>
                  <a:pt x="262707" y="303318"/>
                </a:lnTo>
                <a:lnTo>
                  <a:pt x="215632" y="297694"/>
                </a:lnTo>
                <a:lnTo>
                  <a:pt x="166275" y="287151"/>
                </a:lnTo>
                <a:lnTo>
                  <a:pt x="118096" y="271184"/>
                </a:lnTo>
                <a:lnTo>
                  <a:pt x="74557" y="249284"/>
                </a:lnTo>
                <a:lnTo>
                  <a:pt x="39117" y="220946"/>
                </a:lnTo>
                <a:lnTo>
                  <a:pt x="15240" y="185661"/>
                </a:lnTo>
                <a:lnTo>
                  <a:pt x="12954" y="178041"/>
                </a:lnTo>
                <a:lnTo>
                  <a:pt x="10668" y="171183"/>
                </a:lnTo>
                <a:lnTo>
                  <a:pt x="9906" y="164325"/>
                </a:lnTo>
                <a:lnTo>
                  <a:pt x="9144" y="156705"/>
                </a:lnTo>
                <a:lnTo>
                  <a:pt x="9144" y="193846"/>
                </a:lnTo>
                <a:lnTo>
                  <a:pt x="33057" y="228174"/>
                </a:lnTo>
                <a:lnTo>
                  <a:pt x="71544" y="258637"/>
                </a:lnTo>
                <a:lnTo>
                  <a:pt x="118197" y="281612"/>
                </a:lnTo>
                <a:lnTo>
                  <a:pt x="169657" y="297851"/>
                </a:lnTo>
                <a:lnTo>
                  <a:pt x="222563" y="308106"/>
                </a:lnTo>
                <a:lnTo>
                  <a:pt x="273557" y="313131"/>
                </a:lnTo>
                <a:lnTo>
                  <a:pt x="319278" y="313677"/>
                </a:lnTo>
                <a:lnTo>
                  <a:pt x="349758" y="312153"/>
                </a:lnTo>
                <a:lnTo>
                  <a:pt x="389598" y="307813"/>
                </a:lnTo>
                <a:lnTo>
                  <a:pt x="435057" y="298633"/>
                </a:lnTo>
                <a:lnTo>
                  <a:pt x="482154" y="284184"/>
                </a:lnTo>
                <a:lnTo>
                  <a:pt x="526908" y="264034"/>
                </a:lnTo>
                <a:lnTo>
                  <a:pt x="565339" y="237754"/>
                </a:lnTo>
                <a:lnTo>
                  <a:pt x="593468" y="204915"/>
                </a:lnTo>
                <a:lnTo>
                  <a:pt x="598170" y="191390"/>
                </a:lnTo>
                <a:close/>
              </a:path>
            </a:pathLst>
          </a:custGeom>
          <a:solidFill>
            <a:srgbClr val="000000"/>
          </a:solidFill>
        </p:spPr>
        <p:txBody>
          <a:bodyPr wrap="square" lIns="0" tIns="0" rIns="0" bIns="0" rtlCol="0"/>
          <a:lstStyle/>
          <a:p>
            <a:endParaRPr/>
          </a:p>
        </p:txBody>
      </p:sp>
      <p:sp>
        <p:nvSpPr>
          <p:cNvPr id="23" name="object 23"/>
          <p:cNvSpPr txBox="1"/>
          <p:nvPr/>
        </p:nvSpPr>
        <p:spPr>
          <a:xfrm>
            <a:off x="1390650" y="2398601"/>
            <a:ext cx="1297940" cy="581660"/>
          </a:xfrm>
          <a:prstGeom prst="rect">
            <a:avLst/>
          </a:prstGeom>
        </p:spPr>
        <p:txBody>
          <a:bodyPr vert="horz" wrap="square" lIns="0" tIns="58419" rIns="0" bIns="0" rtlCol="0">
            <a:spAutoFit/>
          </a:bodyPr>
          <a:lstStyle/>
          <a:p>
            <a:pPr marR="44450" algn="ctr">
              <a:lnSpc>
                <a:spcPct val="100000"/>
              </a:lnSpc>
              <a:spcBef>
                <a:spcPts val="459"/>
              </a:spcBef>
            </a:pPr>
            <a:r>
              <a:rPr sz="1400" spc="-5" dirty="0">
                <a:latin typeface="Tahoma"/>
                <a:cs typeface="Tahoma"/>
              </a:rPr>
              <a:t>application</a:t>
            </a:r>
            <a:endParaRPr sz="1400">
              <a:latin typeface="Tahoma"/>
              <a:cs typeface="Tahoma"/>
            </a:endParaRPr>
          </a:p>
          <a:p>
            <a:pPr marR="93345" algn="ctr">
              <a:lnSpc>
                <a:spcPct val="100000"/>
              </a:lnSpc>
              <a:spcBef>
                <a:spcPts val="420"/>
              </a:spcBef>
            </a:pPr>
            <a:r>
              <a:rPr sz="1600" spc="-5" dirty="0">
                <a:latin typeface="Arial"/>
                <a:cs typeface="Arial"/>
              </a:rPr>
              <a:t>P1</a:t>
            </a:r>
            <a:endParaRPr sz="1600">
              <a:latin typeface="Arial"/>
              <a:cs typeface="Arial"/>
            </a:endParaRPr>
          </a:p>
        </p:txBody>
      </p:sp>
      <p:sp>
        <p:nvSpPr>
          <p:cNvPr id="24" name="object 24"/>
          <p:cNvSpPr/>
          <p:nvPr/>
        </p:nvSpPr>
        <p:spPr>
          <a:xfrm>
            <a:off x="1657350" y="3022854"/>
            <a:ext cx="621030" cy="228600"/>
          </a:xfrm>
          <a:custGeom>
            <a:avLst/>
            <a:gdLst/>
            <a:ahLst/>
            <a:cxnLst/>
            <a:rect l="l" t="t" r="r" b="b"/>
            <a:pathLst>
              <a:path w="621030" h="228600">
                <a:moveTo>
                  <a:pt x="0" y="0"/>
                </a:moveTo>
                <a:lnTo>
                  <a:pt x="0" y="228600"/>
                </a:lnTo>
                <a:lnTo>
                  <a:pt x="621030" y="228600"/>
                </a:lnTo>
                <a:lnTo>
                  <a:pt x="621030" y="0"/>
                </a:lnTo>
                <a:lnTo>
                  <a:pt x="0" y="0"/>
                </a:lnTo>
                <a:close/>
              </a:path>
            </a:pathLst>
          </a:custGeom>
          <a:solidFill>
            <a:srgbClr val="FFFF00"/>
          </a:solidFill>
        </p:spPr>
        <p:txBody>
          <a:bodyPr wrap="square" lIns="0" tIns="0" rIns="0" bIns="0" rtlCol="0"/>
          <a:lstStyle/>
          <a:p>
            <a:endParaRPr/>
          </a:p>
        </p:txBody>
      </p:sp>
      <p:sp>
        <p:nvSpPr>
          <p:cNvPr id="25" name="object 25"/>
          <p:cNvSpPr/>
          <p:nvPr/>
        </p:nvSpPr>
        <p:spPr>
          <a:xfrm>
            <a:off x="1652777" y="3018282"/>
            <a:ext cx="630555" cy="238125"/>
          </a:xfrm>
          <a:custGeom>
            <a:avLst/>
            <a:gdLst/>
            <a:ahLst/>
            <a:cxnLst/>
            <a:rect l="l" t="t" r="r" b="b"/>
            <a:pathLst>
              <a:path w="630555" h="238125">
                <a:moveTo>
                  <a:pt x="630174" y="237744"/>
                </a:moveTo>
                <a:lnTo>
                  <a:pt x="630174" y="0"/>
                </a:lnTo>
                <a:lnTo>
                  <a:pt x="0" y="0"/>
                </a:lnTo>
                <a:lnTo>
                  <a:pt x="0" y="237744"/>
                </a:lnTo>
                <a:lnTo>
                  <a:pt x="4572" y="237744"/>
                </a:lnTo>
                <a:lnTo>
                  <a:pt x="4572" y="9144"/>
                </a:lnTo>
                <a:lnTo>
                  <a:pt x="9906" y="4572"/>
                </a:lnTo>
                <a:lnTo>
                  <a:pt x="9906" y="9144"/>
                </a:lnTo>
                <a:lnTo>
                  <a:pt x="621030" y="9144"/>
                </a:lnTo>
                <a:lnTo>
                  <a:pt x="621030" y="4572"/>
                </a:lnTo>
                <a:lnTo>
                  <a:pt x="625602" y="9144"/>
                </a:lnTo>
                <a:lnTo>
                  <a:pt x="625602" y="237744"/>
                </a:lnTo>
                <a:lnTo>
                  <a:pt x="630174" y="237744"/>
                </a:lnTo>
                <a:close/>
              </a:path>
              <a:path w="630555" h="238125">
                <a:moveTo>
                  <a:pt x="9906" y="9144"/>
                </a:moveTo>
                <a:lnTo>
                  <a:pt x="9906" y="4572"/>
                </a:lnTo>
                <a:lnTo>
                  <a:pt x="4572" y="9144"/>
                </a:lnTo>
                <a:lnTo>
                  <a:pt x="9906" y="9144"/>
                </a:lnTo>
                <a:close/>
              </a:path>
              <a:path w="630555" h="238125">
                <a:moveTo>
                  <a:pt x="9906" y="228600"/>
                </a:moveTo>
                <a:lnTo>
                  <a:pt x="9906" y="9144"/>
                </a:lnTo>
                <a:lnTo>
                  <a:pt x="4572" y="9144"/>
                </a:lnTo>
                <a:lnTo>
                  <a:pt x="4572" y="228600"/>
                </a:lnTo>
                <a:lnTo>
                  <a:pt x="9906" y="228600"/>
                </a:lnTo>
                <a:close/>
              </a:path>
              <a:path w="630555" h="238125">
                <a:moveTo>
                  <a:pt x="625602" y="228600"/>
                </a:moveTo>
                <a:lnTo>
                  <a:pt x="4572" y="228600"/>
                </a:lnTo>
                <a:lnTo>
                  <a:pt x="9906" y="233172"/>
                </a:lnTo>
                <a:lnTo>
                  <a:pt x="9906" y="237744"/>
                </a:lnTo>
                <a:lnTo>
                  <a:pt x="621030" y="237744"/>
                </a:lnTo>
                <a:lnTo>
                  <a:pt x="621030" y="233172"/>
                </a:lnTo>
                <a:lnTo>
                  <a:pt x="625602" y="228600"/>
                </a:lnTo>
                <a:close/>
              </a:path>
              <a:path w="630555" h="238125">
                <a:moveTo>
                  <a:pt x="9906" y="237744"/>
                </a:moveTo>
                <a:lnTo>
                  <a:pt x="9906" y="233172"/>
                </a:lnTo>
                <a:lnTo>
                  <a:pt x="4572" y="228600"/>
                </a:lnTo>
                <a:lnTo>
                  <a:pt x="4572" y="237744"/>
                </a:lnTo>
                <a:lnTo>
                  <a:pt x="9906" y="237744"/>
                </a:lnTo>
                <a:close/>
              </a:path>
              <a:path w="630555" h="238125">
                <a:moveTo>
                  <a:pt x="625602" y="9144"/>
                </a:moveTo>
                <a:lnTo>
                  <a:pt x="621030" y="4572"/>
                </a:lnTo>
                <a:lnTo>
                  <a:pt x="621030" y="9144"/>
                </a:lnTo>
                <a:lnTo>
                  <a:pt x="625602" y="9144"/>
                </a:lnTo>
                <a:close/>
              </a:path>
              <a:path w="630555" h="238125">
                <a:moveTo>
                  <a:pt x="625602" y="228600"/>
                </a:moveTo>
                <a:lnTo>
                  <a:pt x="625602" y="9144"/>
                </a:lnTo>
                <a:lnTo>
                  <a:pt x="621030" y="9144"/>
                </a:lnTo>
                <a:lnTo>
                  <a:pt x="621030" y="228600"/>
                </a:lnTo>
                <a:lnTo>
                  <a:pt x="625602" y="228600"/>
                </a:lnTo>
                <a:close/>
              </a:path>
              <a:path w="630555" h="238125">
                <a:moveTo>
                  <a:pt x="625602" y="237744"/>
                </a:moveTo>
                <a:lnTo>
                  <a:pt x="625602" y="228600"/>
                </a:lnTo>
                <a:lnTo>
                  <a:pt x="621030" y="233172"/>
                </a:lnTo>
                <a:lnTo>
                  <a:pt x="621030" y="237744"/>
                </a:lnTo>
                <a:lnTo>
                  <a:pt x="625602" y="237744"/>
                </a:lnTo>
                <a:close/>
              </a:path>
            </a:pathLst>
          </a:custGeom>
          <a:solidFill>
            <a:srgbClr val="000000"/>
          </a:solidFill>
        </p:spPr>
        <p:txBody>
          <a:bodyPr wrap="square" lIns="0" tIns="0" rIns="0" bIns="0" rtlCol="0"/>
          <a:lstStyle/>
          <a:p>
            <a:endParaRPr/>
          </a:p>
        </p:txBody>
      </p:sp>
      <p:sp>
        <p:nvSpPr>
          <p:cNvPr id="26" name="object 26"/>
          <p:cNvSpPr/>
          <p:nvPr/>
        </p:nvSpPr>
        <p:spPr>
          <a:xfrm>
            <a:off x="1779270" y="3052572"/>
            <a:ext cx="370840" cy="173990"/>
          </a:xfrm>
          <a:custGeom>
            <a:avLst/>
            <a:gdLst/>
            <a:ahLst/>
            <a:cxnLst/>
            <a:rect l="l" t="t" r="r" b="b"/>
            <a:pathLst>
              <a:path w="370839" h="173989">
                <a:moveTo>
                  <a:pt x="0" y="0"/>
                </a:moveTo>
                <a:lnTo>
                  <a:pt x="0" y="173736"/>
                </a:lnTo>
                <a:lnTo>
                  <a:pt x="370331" y="173736"/>
                </a:lnTo>
                <a:lnTo>
                  <a:pt x="370331" y="0"/>
                </a:lnTo>
                <a:lnTo>
                  <a:pt x="0" y="0"/>
                </a:lnTo>
                <a:close/>
              </a:path>
            </a:pathLst>
          </a:custGeom>
          <a:solidFill>
            <a:srgbClr val="FFFFFF"/>
          </a:solidFill>
        </p:spPr>
        <p:txBody>
          <a:bodyPr wrap="square" lIns="0" tIns="0" rIns="0" bIns="0" rtlCol="0"/>
          <a:lstStyle/>
          <a:p>
            <a:endParaRPr/>
          </a:p>
        </p:txBody>
      </p:sp>
      <p:sp>
        <p:nvSpPr>
          <p:cNvPr id="27" name="object 27"/>
          <p:cNvSpPr/>
          <p:nvPr/>
        </p:nvSpPr>
        <p:spPr>
          <a:xfrm>
            <a:off x="1774698" y="3048000"/>
            <a:ext cx="379730" cy="182880"/>
          </a:xfrm>
          <a:custGeom>
            <a:avLst/>
            <a:gdLst/>
            <a:ahLst/>
            <a:cxnLst/>
            <a:rect l="l" t="t" r="r" b="b"/>
            <a:pathLst>
              <a:path w="379730" h="182880">
                <a:moveTo>
                  <a:pt x="379475" y="182880"/>
                </a:moveTo>
                <a:lnTo>
                  <a:pt x="379475" y="0"/>
                </a:lnTo>
                <a:lnTo>
                  <a:pt x="0" y="0"/>
                </a:lnTo>
                <a:lnTo>
                  <a:pt x="0" y="182880"/>
                </a:lnTo>
                <a:lnTo>
                  <a:pt x="4571" y="182880"/>
                </a:lnTo>
                <a:lnTo>
                  <a:pt x="4571" y="9143"/>
                </a:lnTo>
                <a:lnTo>
                  <a:pt x="9906" y="4572"/>
                </a:lnTo>
                <a:lnTo>
                  <a:pt x="9906" y="9143"/>
                </a:lnTo>
                <a:lnTo>
                  <a:pt x="370331" y="9143"/>
                </a:lnTo>
                <a:lnTo>
                  <a:pt x="370331" y="4572"/>
                </a:lnTo>
                <a:lnTo>
                  <a:pt x="374903" y="9143"/>
                </a:lnTo>
                <a:lnTo>
                  <a:pt x="374903" y="182880"/>
                </a:lnTo>
                <a:lnTo>
                  <a:pt x="379475" y="182880"/>
                </a:lnTo>
                <a:close/>
              </a:path>
              <a:path w="379730" h="182880">
                <a:moveTo>
                  <a:pt x="9906" y="9143"/>
                </a:moveTo>
                <a:lnTo>
                  <a:pt x="9906" y="4572"/>
                </a:lnTo>
                <a:lnTo>
                  <a:pt x="4571" y="9143"/>
                </a:lnTo>
                <a:lnTo>
                  <a:pt x="9906" y="9143"/>
                </a:lnTo>
                <a:close/>
              </a:path>
              <a:path w="379730" h="182880">
                <a:moveTo>
                  <a:pt x="9906" y="173736"/>
                </a:moveTo>
                <a:lnTo>
                  <a:pt x="9906" y="9143"/>
                </a:lnTo>
                <a:lnTo>
                  <a:pt x="4571" y="9143"/>
                </a:lnTo>
                <a:lnTo>
                  <a:pt x="4571" y="173736"/>
                </a:lnTo>
                <a:lnTo>
                  <a:pt x="9906" y="173736"/>
                </a:lnTo>
                <a:close/>
              </a:path>
              <a:path w="379730" h="182880">
                <a:moveTo>
                  <a:pt x="374903" y="173736"/>
                </a:moveTo>
                <a:lnTo>
                  <a:pt x="4571" y="173736"/>
                </a:lnTo>
                <a:lnTo>
                  <a:pt x="9906" y="178307"/>
                </a:lnTo>
                <a:lnTo>
                  <a:pt x="9906" y="182880"/>
                </a:lnTo>
                <a:lnTo>
                  <a:pt x="370331" y="182880"/>
                </a:lnTo>
                <a:lnTo>
                  <a:pt x="370331" y="178307"/>
                </a:lnTo>
                <a:lnTo>
                  <a:pt x="374903" y="173736"/>
                </a:lnTo>
                <a:close/>
              </a:path>
              <a:path w="379730" h="182880">
                <a:moveTo>
                  <a:pt x="9906" y="182880"/>
                </a:moveTo>
                <a:lnTo>
                  <a:pt x="9906" y="178307"/>
                </a:lnTo>
                <a:lnTo>
                  <a:pt x="4571" y="173736"/>
                </a:lnTo>
                <a:lnTo>
                  <a:pt x="4571" y="182880"/>
                </a:lnTo>
                <a:lnTo>
                  <a:pt x="9906" y="182880"/>
                </a:lnTo>
                <a:close/>
              </a:path>
              <a:path w="379730" h="182880">
                <a:moveTo>
                  <a:pt x="374903" y="9143"/>
                </a:moveTo>
                <a:lnTo>
                  <a:pt x="370331" y="4572"/>
                </a:lnTo>
                <a:lnTo>
                  <a:pt x="370331" y="9143"/>
                </a:lnTo>
                <a:lnTo>
                  <a:pt x="374903" y="9143"/>
                </a:lnTo>
                <a:close/>
              </a:path>
              <a:path w="379730" h="182880">
                <a:moveTo>
                  <a:pt x="374903" y="173736"/>
                </a:moveTo>
                <a:lnTo>
                  <a:pt x="374903" y="9143"/>
                </a:lnTo>
                <a:lnTo>
                  <a:pt x="370331" y="9143"/>
                </a:lnTo>
                <a:lnTo>
                  <a:pt x="370331" y="173736"/>
                </a:lnTo>
                <a:lnTo>
                  <a:pt x="374903" y="173736"/>
                </a:lnTo>
                <a:close/>
              </a:path>
              <a:path w="379730" h="182880">
                <a:moveTo>
                  <a:pt x="374903" y="182880"/>
                </a:moveTo>
                <a:lnTo>
                  <a:pt x="374903" y="173736"/>
                </a:lnTo>
                <a:lnTo>
                  <a:pt x="370331" y="178307"/>
                </a:lnTo>
                <a:lnTo>
                  <a:pt x="370331" y="182880"/>
                </a:lnTo>
                <a:lnTo>
                  <a:pt x="374903" y="182880"/>
                </a:lnTo>
                <a:close/>
              </a:path>
            </a:pathLst>
          </a:custGeom>
          <a:solidFill>
            <a:srgbClr val="CC9900"/>
          </a:solidFill>
        </p:spPr>
        <p:txBody>
          <a:bodyPr wrap="square" lIns="0" tIns="0" rIns="0" bIns="0" rtlCol="0"/>
          <a:lstStyle/>
          <a:p>
            <a:endParaRPr/>
          </a:p>
        </p:txBody>
      </p:sp>
      <p:sp>
        <p:nvSpPr>
          <p:cNvPr id="28" name="object 28"/>
          <p:cNvSpPr/>
          <p:nvPr/>
        </p:nvSpPr>
        <p:spPr>
          <a:xfrm>
            <a:off x="2168651" y="3150870"/>
            <a:ext cx="73913" cy="68579"/>
          </a:xfrm>
          <a:prstGeom prst="rect">
            <a:avLst/>
          </a:prstGeom>
          <a:blipFill>
            <a:blip r:embed="rId5" cstate="print"/>
            <a:stretch>
              <a:fillRect/>
            </a:stretch>
          </a:blipFill>
        </p:spPr>
        <p:txBody>
          <a:bodyPr wrap="square" lIns="0" tIns="0" rIns="0" bIns="0" rtlCol="0"/>
          <a:lstStyle/>
          <a:p>
            <a:endParaRPr/>
          </a:p>
        </p:txBody>
      </p:sp>
      <p:sp>
        <p:nvSpPr>
          <p:cNvPr id="29" name="object 29"/>
          <p:cNvSpPr/>
          <p:nvPr/>
        </p:nvSpPr>
        <p:spPr>
          <a:xfrm>
            <a:off x="1679448" y="3153155"/>
            <a:ext cx="73913" cy="70866"/>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3890009" y="2135885"/>
            <a:ext cx="2254250" cy="1981200"/>
          </a:xfrm>
          <a:custGeom>
            <a:avLst/>
            <a:gdLst/>
            <a:ahLst/>
            <a:cxnLst/>
            <a:rect l="l" t="t" r="r" b="b"/>
            <a:pathLst>
              <a:path w="2254250" h="1981200">
                <a:moveTo>
                  <a:pt x="0" y="0"/>
                </a:moveTo>
                <a:lnTo>
                  <a:pt x="0" y="1981200"/>
                </a:lnTo>
                <a:lnTo>
                  <a:pt x="2253995" y="1981200"/>
                </a:lnTo>
                <a:lnTo>
                  <a:pt x="2253995" y="0"/>
                </a:lnTo>
                <a:lnTo>
                  <a:pt x="0" y="0"/>
                </a:lnTo>
                <a:close/>
              </a:path>
            </a:pathLst>
          </a:custGeom>
          <a:solidFill>
            <a:srgbClr val="000099"/>
          </a:solidFill>
        </p:spPr>
        <p:txBody>
          <a:bodyPr wrap="square" lIns="0" tIns="0" rIns="0" bIns="0" rtlCol="0"/>
          <a:lstStyle/>
          <a:p>
            <a:endParaRPr/>
          </a:p>
        </p:txBody>
      </p:sp>
      <p:sp>
        <p:nvSpPr>
          <p:cNvPr id="31" name="object 31"/>
          <p:cNvSpPr/>
          <p:nvPr/>
        </p:nvSpPr>
        <p:spPr>
          <a:xfrm>
            <a:off x="3835908" y="2213610"/>
            <a:ext cx="2226310" cy="1979930"/>
          </a:xfrm>
          <a:custGeom>
            <a:avLst/>
            <a:gdLst/>
            <a:ahLst/>
            <a:cxnLst/>
            <a:rect l="l" t="t" r="r" b="b"/>
            <a:pathLst>
              <a:path w="2226310" h="1979929">
                <a:moveTo>
                  <a:pt x="0" y="0"/>
                </a:moveTo>
                <a:lnTo>
                  <a:pt x="0" y="1979676"/>
                </a:lnTo>
                <a:lnTo>
                  <a:pt x="2225802" y="1979676"/>
                </a:lnTo>
                <a:lnTo>
                  <a:pt x="2225802" y="0"/>
                </a:lnTo>
                <a:lnTo>
                  <a:pt x="0" y="0"/>
                </a:lnTo>
                <a:close/>
              </a:path>
            </a:pathLst>
          </a:custGeom>
          <a:solidFill>
            <a:srgbClr val="FFFFFF"/>
          </a:solidFill>
        </p:spPr>
        <p:txBody>
          <a:bodyPr wrap="square" lIns="0" tIns="0" rIns="0" bIns="0" rtlCol="0"/>
          <a:lstStyle/>
          <a:p>
            <a:endParaRPr/>
          </a:p>
        </p:txBody>
      </p:sp>
      <p:sp>
        <p:nvSpPr>
          <p:cNvPr id="32" name="object 32"/>
          <p:cNvSpPr/>
          <p:nvPr/>
        </p:nvSpPr>
        <p:spPr>
          <a:xfrm>
            <a:off x="3821429" y="2199132"/>
            <a:ext cx="2254250" cy="2007870"/>
          </a:xfrm>
          <a:custGeom>
            <a:avLst/>
            <a:gdLst/>
            <a:ahLst/>
            <a:cxnLst/>
            <a:rect l="l" t="t" r="r" b="b"/>
            <a:pathLst>
              <a:path w="2254250" h="2007870">
                <a:moveTo>
                  <a:pt x="2253996" y="2007869"/>
                </a:moveTo>
                <a:lnTo>
                  <a:pt x="2253996" y="0"/>
                </a:lnTo>
                <a:lnTo>
                  <a:pt x="0" y="0"/>
                </a:lnTo>
                <a:lnTo>
                  <a:pt x="0" y="2007870"/>
                </a:lnTo>
                <a:lnTo>
                  <a:pt x="14478" y="2007870"/>
                </a:lnTo>
                <a:lnTo>
                  <a:pt x="14478" y="28193"/>
                </a:lnTo>
                <a:lnTo>
                  <a:pt x="28955" y="14478"/>
                </a:lnTo>
                <a:lnTo>
                  <a:pt x="28955" y="28193"/>
                </a:lnTo>
                <a:lnTo>
                  <a:pt x="2225802" y="28193"/>
                </a:lnTo>
                <a:lnTo>
                  <a:pt x="2225802" y="14478"/>
                </a:lnTo>
                <a:lnTo>
                  <a:pt x="2240280" y="28193"/>
                </a:lnTo>
                <a:lnTo>
                  <a:pt x="2240280" y="2007869"/>
                </a:lnTo>
                <a:lnTo>
                  <a:pt x="2253996" y="2007869"/>
                </a:lnTo>
                <a:close/>
              </a:path>
              <a:path w="2254250" h="2007870">
                <a:moveTo>
                  <a:pt x="28955" y="28193"/>
                </a:moveTo>
                <a:lnTo>
                  <a:pt x="28955" y="14478"/>
                </a:lnTo>
                <a:lnTo>
                  <a:pt x="14478" y="28193"/>
                </a:lnTo>
                <a:lnTo>
                  <a:pt x="28955" y="28193"/>
                </a:lnTo>
                <a:close/>
              </a:path>
              <a:path w="2254250" h="2007870">
                <a:moveTo>
                  <a:pt x="28955" y="1979676"/>
                </a:moveTo>
                <a:lnTo>
                  <a:pt x="28955" y="28193"/>
                </a:lnTo>
                <a:lnTo>
                  <a:pt x="14478" y="28193"/>
                </a:lnTo>
                <a:lnTo>
                  <a:pt x="14478" y="1979676"/>
                </a:lnTo>
                <a:lnTo>
                  <a:pt x="28955" y="1979676"/>
                </a:lnTo>
                <a:close/>
              </a:path>
              <a:path w="2254250" h="2007870">
                <a:moveTo>
                  <a:pt x="2240280" y="1979676"/>
                </a:moveTo>
                <a:lnTo>
                  <a:pt x="14478" y="1979676"/>
                </a:lnTo>
                <a:lnTo>
                  <a:pt x="28955" y="1994153"/>
                </a:lnTo>
                <a:lnTo>
                  <a:pt x="28955" y="2007870"/>
                </a:lnTo>
                <a:lnTo>
                  <a:pt x="2225802" y="2007869"/>
                </a:lnTo>
                <a:lnTo>
                  <a:pt x="2225802" y="1994153"/>
                </a:lnTo>
                <a:lnTo>
                  <a:pt x="2240280" y="1979676"/>
                </a:lnTo>
                <a:close/>
              </a:path>
              <a:path w="2254250" h="2007870">
                <a:moveTo>
                  <a:pt x="28955" y="2007870"/>
                </a:moveTo>
                <a:lnTo>
                  <a:pt x="28955" y="1994153"/>
                </a:lnTo>
                <a:lnTo>
                  <a:pt x="14478" y="1979676"/>
                </a:lnTo>
                <a:lnTo>
                  <a:pt x="14478" y="2007870"/>
                </a:lnTo>
                <a:lnTo>
                  <a:pt x="28955" y="2007870"/>
                </a:lnTo>
                <a:close/>
              </a:path>
              <a:path w="2254250" h="2007870">
                <a:moveTo>
                  <a:pt x="2240280" y="28193"/>
                </a:moveTo>
                <a:lnTo>
                  <a:pt x="2225802" y="14478"/>
                </a:lnTo>
                <a:lnTo>
                  <a:pt x="2225802" y="28193"/>
                </a:lnTo>
                <a:lnTo>
                  <a:pt x="2240280" y="28193"/>
                </a:lnTo>
                <a:close/>
              </a:path>
              <a:path w="2254250" h="2007870">
                <a:moveTo>
                  <a:pt x="2240280" y="1979676"/>
                </a:moveTo>
                <a:lnTo>
                  <a:pt x="2240280" y="28193"/>
                </a:lnTo>
                <a:lnTo>
                  <a:pt x="2225802" y="28193"/>
                </a:lnTo>
                <a:lnTo>
                  <a:pt x="2225802" y="1979676"/>
                </a:lnTo>
                <a:lnTo>
                  <a:pt x="2240280" y="1979676"/>
                </a:lnTo>
                <a:close/>
              </a:path>
              <a:path w="2254250" h="2007870">
                <a:moveTo>
                  <a:pt x="2240280" y="2007869"/>
                </a:moveTo>
                <a:lnTo>
                  <a:pt x="2240280" y="1979676"/>
                </a:lnTo>
                <a:lnTo>
                  <a:pt x="2225802" y="1994153"/>
                </a:lnTo>
                <a:lnTo>
                  <a:pt x="2225802" y="2007869"/>
                </a:lnTo>
                <a:lnTo>
                  <a:pt x="2240280" y="2007869"/>
                </a:lnTo>
                <a:close/>
              </a:path>
            </a:pathLst>
          </a:custGeom>
          <a:solidFill>
            <a:srgbClr val="000000"/>
          </a:solidFill>
        </p:spPr>
        <p:txBody>
          <a:bodyPr wrap="square" lIns="0" tIns="0" rIns="0" bIns="0" rtlCol="0"/>
          <a:lstStyle/>
          <a:p>
            <a:endParaRPr/>
          </a:p>
        </p:txBody>
      </p:sp>
      <p:sp>
        <p:nvSpPr>
          <p:cNvPr id="33" name="object 33"/>
          <p:cNvSpPr txBox="1"/>
          <p:nvPr/>
        </p:nvSpPr>
        <p:spPr>
          <a:xfrm>
            <a:off x="3890009" y="2972816"/>
            <a:ext cx="2254250" cy="238760"/>
          </a:xfrm>
          <a:prstGeom prst="rect">
            <a:avLst/>
          </a:prstGeom>
        </p:spPr>
        <p:txBody>
          <a:bodyPr vert="horz" wrap="square" lIns="0" tIns="12065" rIns="0" bIns="0" rtlCol="0">
            <a:spAutoFit/>
          </a:bodyPr>
          <a:lstStyle/>
          <a:p>
            <a:pPr marL="675005">
              <a:lnSpc>
                <a:spcPct val="100000"/>
              </a:lnSpc>
              <a:spcBef>
                <a:spcPts val="95"/>
              </a:spcBef>
            </a:pPr>
            <a:r>
              <a:rPr sz="1400" spc="-5" dirty="0">
                <a:latin typeface="Tahoma"/>
                <a:cs typeface="Tahoma"/>
              </a:rPr>
              <a:t>transport</a:t>
            </a:r>
            <a:endParaRPr sz="1400">
              <a:latin typeface="Tahoma"/>
              <a:cs typeface="Tahoma"/>
            </a:endParaRPr>
          </a:p>
        </p:txBody>
      </p:sp>
      <p:sp>
        <p:nvSpPr>
          <p:cNvPr id="34" name="object 34"/>
          <p:cNvSpPr txBox="1"/>
          <p:nvPr/>
        </p:nvSpPr>
        <p:spPr>
          <a:xfrm>
            <a:off x="3890009" y="3878069"/>
            <a:ext cx="2254250" cy="238760"/>
          </a:xfrm>
          <a:prstGeom prst="rect">
            <a:avLst/>
          </a:prstGeom>
        </p:spPr>
        <p:txBody>
          <a:bodyPr vert="horz" wrap="square" lIns="0" tIns="12065" rIns="0" bIns="0" rtlCol="0">
            <a:spAutoFit/>
          </a:bodyPr>
          <a:lstStyle/>
          <a:p>
            <a:pPr marL="713105">
              <a:lnSpc>
                <a:spcPct val="100000"/>
              </a:lnSpc>
              <a:spcBef>
                <a:spcPts val="95"/>
              </a:spcBef>
            </a:pPr>
            <a:r>
              <a:rPr sz="1400" spc="-10" dirty="0">
                <a:latin typeface="Tahoma"/>
                <a:cs typeface="Tahoma"/>
              </a:rPr>
              <a:t>physical</a:t>
            </a:r>
            <a:endParaRPr sz="1400">
              <a:latin typeface="Tahoma"/>
              <a:cs typeface="Tahoma"/>
            </a:endParaRPr>
          </a:p>
        </p:txBody>
      </p:sp>
      <p:sp>
        <p:nvSpPr>
          <p:cNvPr id="35" name="object 35"/>
          <p:cNvSpPr txBox="1"/>
          <p:nvPr/>
        </p:nvSpPr>
        <p:spPr>
          <a:xfrm>
            <a:off x="3890009" y="3592327"/>
            <a:ext cx="2254250" cy="238760"/>
          </a:xfrm>
          <a:prstGeom prst="rect">
            <a:avLst/>
          </a:prstGeom>
        </p:spPr>
        <p:txBody>
          <a:bodyPr vert="horz" wrap="square" lIns="0" tIns="12065" rIns="0" bIns="0" rtlCol="0">
            <a:spAutoFit/>
          </a:bodyPr>
          <a:lstStyle/>
          <a:p>
            <a:pPr marR="198755" algn="ctr">
              <a:lnSpc>
                <a:spcPct val="100000"/>
              </a:lnSpc>
              <a:spcBef>
                <a:spcPts val="95"/>
              </a:spcBef>
            </a:pPr>
            <a:r>
              <a:rPr sz="1400" spc="-10" dirty="0">
                <a:latin typeface="Tahoma"/>
                <a:cs typeface="Tahoma"/>
              </a:rPr>
              <a:t>link</a:t>
            </a:r>
            <a:endParaRPr sz="1400">
              <a:latin typeface="Tahoma"/>
              <a:cs typeface="Tahoma"/>
            </a:endParaRPr>
          </a:p>
        </p:txBody>
      </p:sp>
      <p:sp>
        <p:nvSpPr>
          <p:cNvPr id="36" name="object 36"/>
          <p:cNvSpPr/>
          <p:nvPr/>
        </p:nvSpPr>
        <p:spPr>
          <a:xfrm>
            <a:off x="3954779" y="2471927"/>
            <a:ext cx="598170" cy="304800"/>
          </a:xfrm>
          <a:custGeom>
            <a:avLst/>
            <a:gdLst/>
            <a:ahLst/>
            <a:cxnLst/>
            <a:rect l="l" t="t" r="r" b="b"/>
            <a:pathLst>
              <a:path w="598170" h="304800">
                <a:moveTo>
                  <a:pt x="598170" y="152399"/>
                </a:moveTo>
                <a:lnTo>
                  <a:pt x="574750" y="93225"/>
                </a:lnTo>
                <a:lnTo>
                  <a:pt x="510825" y="44767"/>
                </a:lnTo>
                <a:lnTo>
                  <a:pt x="466643" y="26119"/>
                </a:lnTo>
                <a:lnTo>
                  <a:pt x="415897" y="12025"/>
                </a:lnTo>
                <a:lnTo>
                  <a:pt x="359775" y="3110"/>
                </a:lnTo>
                <a:lnTo>
                  <a:pt x="299466" y="0"/>
                </a:lnTo>
                <a:lnTo>
                  <a:pt x="239123" y="3110"/>
                </a:lnTo>
                <a:lnTo>
                  <a:pt x="182915" y="12025"/>
                </a:lnTo>
                <a:lnTo>
                  <a:pt x="132047" y="26119"/>
                </a:lnTo>
                <a:lnTo>
                  <a:pt x="87725" y="44767"/>
                </a:lnTo>
                <a:lnTo>
                  <a:pt x="51153" y="67344"/>
                </a:lnTo>
                <a:lnTo>
                  <a:pt x="6085" y="121786"/>
                </a:lnTo>
                <a:lnTo>
                  <a:pt x="0" y="152400"/>
                </a:lnTo>
                <a:lnTo>
                  <a:pt x="6085" y="183232"/>
                </a:lnTo>
                <a:lnTo>
                  <a:pt x="51153" y="237790"/>
                </a:lnTo>
                <a:lnTo>
                  <a:pt x="87725" y="260318"/>
                </a:lnTo>
                <a:lnTo>
                  <a:pt x="132047" y="278881"/>
                </a:lnTo>
                <a:lnTo>
                  <a:pt x="182915" y="292881"/>
                </a:lnTo>
                <a:lnTo>
                  <a:pt x="239123" y="301720"/>
                </a:lnTo>
                <a:lnTo>
                  <a:pt x="299466" y="304800"/>
                </a:lnTo>
                <a:lnTo>
                  <a:pt x="359775" y="301720"/>
                </a:lnTo>
                <a:lnTo>
                  <a:pt x="415897" y="292881"/>
                </a:lnTo>
                <a:lnTo>
                  <a:pt x="466643" y="278881"/>
                </a:lnTo>
                <a:lnTo>
                  <a:pt x="510825" y="260318"/>
                </a:lnTo>
                <a:lnTo>
                  <a:pt x="547257" y="237790"/>
                </a:lnTo>
                <a:lnTo>
                  <a:pt x="592117" y="183232"/>
                </a:lnTo>
                <a:lnTo>
                  <a:pt x="598170" y="152399"/>
                </a:lnTo>
                <a:close/>
              </a:path>
            </a:pathLst>
          </a:custGeom>
          <a:solidFill>
            <a:srgbClr val="CCFFFF"/>
          </a:solidFill>
        </p:spPr>
        <p:txBody>
          <a:bodyPr wrap="square" lIns="0" tIns="0" rIns="0" bIns="0" rtlCol="0"/>
          <a:lstStyle/>
          <a:p>
            <a:endParaRPr/>
          </a:p>
        </p:txBody>
      </p:sp>
      <p:sp>
        <p:nvSpPr>
          <p:cNvPr id="37" name="object 37"/>
          <p:cNvSpPr/>
          <p:nvPr/>
        </p:nvSpPr>
        <p:spPr>
          <a:xfrm>
            <a:off x="3950208" y="2467646"/>
            <a:ext cx="608330" cy="313690"/>
          </a:xfrm>
          <a:custGeom>
            <a:avLst/>
            <a:gdLst/>
            <a:ahLst/>
            <a:cxnLst/>
            <a:rect l="l" t="t" r="r" b="b"/>
            <a:pathLst>
              <a:path w="608329" h="313689">
                <a:moveTo>
                  <a:pt x="608076" y="156681"/>
                </a:moveTo>
                <a:lnTo>
                  <a:pt x="593966" y="110460"/>
                </a:lnTo>
                <a:lnTo>
                  <a:pt x="547289" y="61993"/>
                </a:lnTo>
                <a:lnTo>
                  <a:pt x="478199" y="27440"/>
                </a:lnTo>
                <a:lnTo>
                  <a:pt x="437596" y="15375"/>
                </a:lnTo>
                <a:lnTo>
                  <a:pt x="394207" y="6782"/>
                </a:lnTo>
                <a:lnTo>
                  <a:pt x="348969" y="1657"/>
                </a:lnTo>
                <a:lnTo>
                  <a:pt x="302823" y="0"/>
                </a:lnTo>
                <a:lnTo>
                  <a:pt x="256707" y="1806"/>
                </a:lnTo>
                <a:lnTo>
                  <a:pt x="211559" y="7074"/>
                </a:lnTo>
                <a:lnTo>
                  <a:pt x="168320" y="15801"/>
                </a:lnTo>
                <a:lnTo>
                  <a:pt x="127927" y="27986"/>
                </a:lnTo>
                <a:lnTo>
                  <a:pt x="91319" y="43625"/>
                </a:lnTo>
                <a:lnTo>
                  <a:pt x="33217" y="85257"/>
                </a:lnTo>
                <a:lnTo>
                  <a:pt x="1523" y="140679"/>
                </a:lnTo>
                <a:lnTo>
                  <a:pt x="0" y="149061"/>
                </a:lnTo>
                <a:lnTo>
                  <a:pt x="0" y="165063"/>
                </a:lnTo>
                <a:lnTo>
                  <a:pt x="1524" y="173445"/>
                </a:lnTo>
                <a:lnTo>
                  <a:pt x="3810" y="181827"/>
                </a:lnTo>
                <a:lnTo>
                  <a:pt x="6096" y="189447"/>
                </a:lnTo>
                <a:lnTo>
                  <a:pt x="9144" y="193833"/>
                </a:lnTo>
                <a:lnTo>
                  <a:pt x="9144" y="156681"/>
                </a:lnTo>
                <a:lnTo>
                  <a:pt x="9906" y="149061"/>
                </a:lnTo>
                <a:lnTo>
                  <a:pt x="23640" y="112585"/>
                </a:lnTo>
                <a:lnTo>
                  <a:pt x="73526" y="64540"/>
                </a:lnTo>
                <a:lnTo>
                  <a:pt x="108177" y="46125"/>
                </a:lnTo>
                <a:lnTo>
                  <a:pt x="147790" y="31455"/>
                </a:lnTo>
                <a:lnTo>
                  <a:pt x="191234" y="20538"/>
                </a:lnTo>
                <a:lnTo>
                  <a:pt x="237376" y="13379"/>
                </a:lnTo>
                <a:lnTo>
                  <a:pt x="285084" y="9985"/>
                </a:lnTo>
                <a:lnTo>
                  <a:pt x="333226" y="10360"/>
                </a:lnTo>
                <a:lnTo>
                  <a:pt x="380671" y="14512"/>
                </a:lnTo>
                <a:lnTo>
                  <a:pt x="426287" y="22447"/>
                </a:lnTo>
                <a:lnTo>
                  <a:pt x="468941" y="34170"/>
                </a:lnTo>
                <a:lnTo>
                  <a:pt x="507501" y="49687"/>
                </a:lnTo>
                <a:lnTo>
                  <a:pt x="540837" y="69005"/>
                </a:lnTo>
                <a:lnTo>
                  <a:pt x="587303" y="119067"/>
                </a:lnTo>
                <a:lnTo>
                  <a:pt x="598170" y="149823"/>
                </a:lnTo>
                <a:lnTo>
                  <a:pt x="598170" y="191617"/>
                </a:lnTo>
                <a:lnTo>
                  <a:pt x="607314" y="165063"/>
                </a:lnTo>
                <a:lnTo>
                  <a:pt x="608076" y="156681"/>
                </a:lnTo>
                <a:close/>
              </a:path>
              <a:path w="608329" h="313689">
                <a:moveTo>
                  <a:pt x="598170" y="191617"/>
                </a:moveTo>
                <a:lnTo>
                  <a:pt x="598170" y="164301"/>
                </a:lnTo>
                <a:lnTo>
                  <a:pt x="586867" y="194799"/>
                </a:lnTo>
                <a:lnTo>
                  <a:pt x="567345" y="221516"/>
                </a:lnTo>
                <a:lnTo>
                  <a:pt x="507903" y="263666"/>
                </a:lnTo>
                <a:lnTo>
                  <a:pt x="470111" y="279129"/>
                </a:lnTo>
                <a:lnTo>
                  <a:pt x="428359" y="290871"/>
                </a:lnTo>
                <a:lnTo>
                  <a:pt x="383711" y="298908"/>
                </a:lnTo>
                <a:lnTo>
                  <a:pt x="337232" y="303253"/>
                </a:lnTo>
                <a:lnTo>
                  <a:pt x="289987" y="303924"/>
                </a:lnTo>
                <a:lnTo>
                  <a:pt x="243039" y="300933"/>
                </a:lnTo>
                <a:lnTo>
                  <a:pt x="197455" y="294298"/>
                </a:lnTo>
                <a:lnTo>
                  <a:pt x="154298" y="284032"/>
                </a:lnTo>
                <a:lnTo>
                  <a:pt x="114633" y="270151"/>
                </a:lnTo>
                <a:lnTo>
                  <a:pt x="79526" y="252670"/>
                </a:lnTo>
                <a:lnTo>
                  <a:pt x="27240" y="206969"/>
                </a:lnTo>
                <a:lnTo>
                  <a:pt x="10668" y="171159"/>
                </a:lnTo>
                <a:lnTo>
                  <a:pt x="9144" y="156681"/>
                </a:lnTo>
                <a:lnTo>
                  <a:pt x="9144" y="193833"/>
                </a:lnTo>
                <a:lnTo>
                  <a:pt x="33006" y="228167"/>
                </a:lnTo>
                <a:lnTo>
                  <a:pt x="71482" y="258636"/>
                </a:lnTo>
                <a:lnTo>
                  <a:pt x="118151" y="281609"/>
                </a:lnTo>
                <a:lnTo>
                  <a:pt x="169638" y="297843"/>
                </a:lnTo>
                <a:lnTo>
                  <a:pt x="222571" y="308091"/>
                </a:lnTo>
                <a:lnTo>
                  <a:pt x="273575" y="313110"/>
                </a:lnTo>
                <a:lnTo>
                  <a:pt x="319278" y="313653"/>
                </a:lnTo>
                <a:lnTo>
                  <a:pt x="349758" y="312129"/>
                </a:lnTo>
                <a:lnTo>
                  <a:pt x="389466" y="307945"/>
                </a:lnTo>
                <a:lnTo>
                  <a:pt x="434952" y="298738"/>
                </a:lnTo>
                <a:lnTo>
                  <a:pt x="482164" y="284158"/>
                </a:lnTo>
                <a:lnTo>
                  <a:pt x="527056" y="263853"/>
                </a:lnTo>
                <a:lnTo>
                  <a:pt x="565577" y="237470"/>
                </a:lnTo>
                <a:lnTo>
                  <a:pt x="593679" y="204657"/>
                </a:lnTo>
                <a:lnTo>
                  <a:pt x="598170" y="191617"/>
                </a:lnTo>
                <a:close/>
              </a:path>
            </a:pathLst>
          </a:custGeom>
          <a:solidFill>
            <a:srgbClr val="000000"/>
          </a:solidFill>
        </p:spPr>
        <p:txBody>
          <a:bodyPr wrap="square" lIns="0" tIns="0" rIns="0" bIns="0" rtlCol="0"/>
          <a:lstStyle/>
          <a:p>
            <a:endParaRPr/>
          </a:p>
        </p:txBody>
      </p:sp>
      <p:sp>
        <p:nvSpPr>
          <p:cNvPr id="38" name="object 38"/>
          <p:cNvSpPr/>
          <p:nvPr/>
        </p:nvSpPr>
        <p:spPr>
          <a:xfrm>
            <a:off x="7024878" y="2360676"/>
            <a:ext cx="1297305" cy="41910"/>
          </a:xfrm>
          <a:custGeom>
            <a:avLst/>
            <a:gdLst/>
            <a:ahLst/>
            <a:cxnLst/>
            <a:rect l="l" t="t" r="r" b="b"/>
            <a:pathLst>
              <a:path w="1297304" h="41910">
                <a:moveTo>
                  <a:pt x="0" y="41909"/>
                </a:moveTo>
                <a:lnTo>
                  <a:pt x="1296924" y="41909"/>
                </a:lnTo>
                <a:lnTo>
                  <a:pt x="1296924" y="0"/>
                </a:lnTo>
                <a:lnTo>
                  <a:pt x="0" y="0"/>
                </a:lnTo>
                <a:lnTo>
                  <a:pt x="0" y="41909"/>
                </a:lnTo>
                <a:close/>
              </a:path>
            </a:pathLst>
          </a:custGeom>
          <a:solidFill>
            <a:srgbClr val="000099"/>
          </a:solidFill>
        </p:spPr>
        <p:txBody>
          <a:bodyPr wrap="square" lIns="0" tIns="0" rIns="0" bIns="0" rtlCol="0"/>
          <a:lstStyle/>
          <a:p>
            <a:endParaRPr/>
          </a:p>
        </p:txBody>
      </p:sp>
      <p:sp>
        <p:nvSpPr>
          <p:cNvPr id="39" name="object 39"/>
          <p:cNvSpPr/>
          <p:nvPr/>
        </p:nvSpPr>
        <p:spPr>
          <a:xfrm>
            <a:off x="6813804" y="2388107"/>
            <a:ext cx="1660525" cy="2007870"/>
          </a:xfrm>
          <a:custGeom>
            <a:avLst/>
            <a:gdLst/>
            <a:ahLst/>
            <a:cxnLst/>
            <a:rect l="l" t="t" r="r" b="b"/>
            <a:pathLst>
              <a:path w="1660525" h="2007870">
                <a:moveTo>
                  <a:pt x="1660398" y="2007869"/>
                </a:moveTo>
                <a:lnTo>
                  <a:pt x="1660398" y="0"/>
                </a:lnTo>
                <a:lnTo>
                  <a:pt x="0" y="0"/>
                </a:lnTo>
                <a:lnTo>
                  <a:pt x="0" y="2007869"/>
                </a:lnTo>
                <a:lnTo>
                  <a:pt x="14477" y="2007869"/>
                </a:lnTo>
                <a:lnTo>
                  <a:pt x="14477" y="28193"/>
                </a:lnTo>
                <a:lnTo>
                  <a:pt x="28955" y="14478"/>
                </a:lnTo>
                <a:lnTo>
                  <a:pt x="28955" y="28193"/>
                </a:lnTo>
                <a:lnTo>
                  <a:pt x="1632203" y="28193"/>
                </a:lnTo>
                <a:lnTo>
                  <a:pt x="1632203" y="14478"/>
                </a:lnTo>
                <a:lnTo>
                  <a:pt x="1646681" y="28193"/>
                </a:lnTo>
                <a:lnTo>
                  <a:pt x="1646681" y="2007869"/>
                </a:lnTo>
                <a:lnTo>
                  <a:pt x="1660398" y="2007869"/>
                </a:lnTo>
                <a:close/>
              </a:path>
              <a:path w="1660525" h="2007870">
                <a:moveTo>
                  <a:pt x="28955" y="28193"/>
                </a:moveTo>
                <a:lnTo>
                  <a:pt x="28955" y="14478"/>
                </a:lnTo>
                <a:lnTo>
                  <a:pt x="14477" y="28193"/>
                </a:lnTo>
                <a:lnTo>
                  <a:pt x="28955" y="28193"/>
                </a:lnTo>
                <a:close/>
              </a:path>
              <a:path w="1660525" h="2007870">
                <a:moveTo>
                  <a:pt x="28955" y="1979676"/>
                </a:moveTo>
                <a:lnTo>
                  <a:pt x="28955" y="28193"/>
                </a:lnTo>
                <a:lnTo>
                  <a:pt x="14477" y="28193"/>
                </a:lnTo>
                <a:lnTo>
                  <a:pt x="14477" y="1979676"/>
                </a:lnTo>
                <a:lnTo>
                  <a:pt x="28955" y="1979676"/>
                </a:lnTo>
                <a:close/>
              </a:path>
              <a:path w="1660525" h="2007870">
                <a:moveTo>
                  <a:pt x="1646681" y="1979676"/>
                </a:moveTo>
                <a:lnTo>
                  <a:pt x="14477" y="1979676"/>
                </a:lnTo>
                <a:lnTo>
                  <a:pt x="28955" y="1993391"/>
                </a:lnTo>
                <a:lnTo>
                  <a:pt x="28955" y="2007869"/>
                </a:lnTo>
                <a:lnTo>
                  <a:pt x="1632203" y="2007869"/>
                </a:lnTo>
                <a:lnTo>
                  <a:pt x="1632203" y="1993391"/>
                </a:lnTo>
                <a:lnTo>
                  <a:pt x="1646681" y="1979676"/>
                </a:lnTo>
                <a:close/>
              </a:path>
              <a:path w="1660525" h="2007870">
                <a:moveTo>
                  <a:pt x="28955" y="2007869"/>
                </a:moveTo>
                <a:lnTo>
                  <a:pt x="28955" y="1993391"/>
                </a:lnTo>
                <a:lnTo>
                  <a:pt x="14477" y="1979676"/>
                </a:lnTo>
                <a:lnTo>
                  <a:pt x="14477" y="2007869"/>
                </a:lnTo>
                <a:lnTo>
                  <a:pt x="28955" y="2007869"/>
                </a:lnTo>
                <a:close/>
              </a:path>
              <a:path w="1660525" h="2007870">
                <a:moveTo>
                  <a:pt x="1646681" y="28193"/>
                </a:moveTo>
                <a:lnTo>
                  <a:pt x="1632203" y="14478"/>
                </a:lnTo>
                <a:lnTo>
                  <a:pt x="1632203" y="28193"/>
                </a:lnTo>
                <a:lnTo>
                  <a:pt x="1646681" y="28193"/>
                </a:lnTo>
                <a:close/>
              </a:path>
              <a:path w="1660525" h="2007870">
                <a:moveTo>
                  <a:pt x="1646681" y="1979676"/>
                </a:moveTo>
                <a:lnTo>
                  <a:pt x="1646681" y="28193"/>
                </a:lnTo>
                <a:lnTo>
                  <a:pt x="1632203" y="28193"/>
                </a:lnTo>
                <a:lnTo>
                  <a:pt x="1632203" y="1979676"/>
                </a:lnTo>
                <a:lnTo>
                  <a:pt x="1646681" y="1979676"/>
                </a:lnTo>
                <a:close/>
              </a:path>
              <a:path w="1660525" h="2007870">
                <a:moveTo>
                  <a:pt x="1646681" y="2007869"/>
                </a:moveTo>
                <a:lnTo>
                  <a:pt x="1646681" y="1979676"/>
                </a:lnTo>
                <a:lnTo>
                  <a:pt x="1632203" y="1993391"/>
                </a:lnTo>
                <a:lnTo>
                  <a:pt x="1632203" y="2007869"/>
                </a:lnTo>
                <a:lnTo>
                  <a:pt x="1646681" y="2007869"/>
                </a:lnTo>
                <a:close/>
              </a:path>
            </a:pathLst>
          </a:custGeom>
          <a:solidFill>
            <a:srgbClr val="000000"/>
          </a:solidFill>
        </p:spPr>
        <p:txBody>
          <a:bodyPr wrap="square" lIns="0" tIns="0" rIns="0" bIns="0" rtlCol="0"/>
          <a:lstStyle/>
          <a:p>
            <a:endParaRPr/>
          </a:p>
        </p:txBody>
      </p:sp>
      <p:sp>
        <p:nvSpPr>
          <p:cNvPr id="40" name="object 40"/>
          <p:cNvSpPr txBox="1"/>
          <p:nvPr/>
        </p:nvSpPr>
        <p:spPr>
          <a:xfrm>
            <a:off x="7332206" y="4093731"/>
            <a:ext cx="645160" cy="238760"/>
          </a:xfrm>
          <a:prstGeom prst="rect">
            <a:avLst/>
          </a:prstGeom>
        </p:spPr>
        <p:txBody>
          <a:bodyPr vert="horz" wrap="square" lIns="0" tIns="12065" rIns="0" bIns="0" rtlCol="0">
            <a:spAutoFit/>
          </a:bodyPr>
          <a:lstStyle/>
          <a:p>
            <a:pPr marL="12700">
              <a:lnSpc>
                <a:spcPct val="100000"/>
              </a:lnSpc>
              <a:spcBef>
                <a:spcPts val="95"/>
              </a:spcBef>
            </a:pPr>
            <a:r>
              <a:rPr sz="1400" spc="-10" dirty="0">
                <a:latin typeface="Tahoma"/>
                <a:cs typeface="Tahoma"/>
              </a:rPr>
              <a:t>physical</a:t>
            </a:r>
            <a:endParaRPr sz="1400">
              <a:latin typeface="Tahoma"/>
              <a:cs typeface="Tahoma"/>
            </a:endParaRPr>
          </a:p>
        </p:txBody>
      </p:sp>
      <p:sp>
        <p:nvSpPr>
          <p:cNvPr id="41" name="object 41"/>
          <p:cNvSpPr txBox="1"/>
          <p:nvPr/>
        </p:nvSpPr>
        <p:spPr>
          <a:xfrm>
            <a:off x="7474704" y="3807989"/>
            <a:ext cx="294005" cy="238760"/>
          </a:xfrm>
          <a:prstGeom prst="rect">
            <a:avLst/>
          </a:prstGeom>
        </p:spPr>
        <p:txBody>
          <a:bodyPr vert="horz" wrap="square" lIns="0" tIns="12065" rIns="0" bIns="0" rtlCol="0">
            <a:spAutoFit/>
          </a:bodyPr>
          <a:lstStyle/>
          <a:p>
            <a:pPr marL="12700">
              <a:lnSpc>
                <a:spcPct val="100000"/>
              </a:lnSpc>
              <a:spcBef>
                <a:spcPts val="95"/>
              </a:spcBef>
            </a:pPr>
            <a:r>
              <a:rPr sz="1400" spc="-10" dirty="0">
                <a:latin typeface="Tahoma"/>
                <a:cs typeface="Tahoma"/>
              </a:rPr>
              <a:t>link</a:t>
            </a:r>
            <a:endParaRPr sz="1400">
              <a:latin typeface="Tahoma"/>
              <a:cs typeface="Tahoma"/>
            </a:endParaRPr>
          </a:p>
        </p:txBody>
      </p:sp>
      <p:sp>
        <p:nvSpPr>
          <p:cNvPr id="42" name="object 42"/>
          <p:cNvSpPr txBox="1"/>
          <p:nvPr/>
        </p:nvSpPr>
        <p:spPr>
          <a:xfrm>
            <a:off x="7282671" y="3513103"/>
            <a:ext cx="659765"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Tahoma"/>
                <a:cs typeface="Tahoma"/>
              </a:rPr>
              <a:t>network</a:t>
            </a:r>
            <a:endParaRPr sz="1400">
              <a:latin typeface="Tahoma"/>
              <a:cs typeface="Tahoma"/>
            </a:endParaRPr>
          </a:p>
        </p:txBody>
      </p:sp>
      <p:sp>
        <p:nvSpPr>
          <p:cNvPr id="43" name="object 43"/>
          <p:cNvSpPr/>
          <p:nvPr/>
        </p:nvSpPr>
        <p:spPr>
          <a:xfrm>
            <a:off x="6909054" y="2699004"/>
            <a:ext cx="599440" cy="304800"/>
          </a:xfrm>
          <a:custGeom>
            <a:avLst/>
            <a:gdLst/>
            <a:ahLst/>
            <a:cxnLst/>
            <a:rect l="l" t="t" r="r" b="b"/>
            <a:pathLst>
              <a:path w="599440" h="304800">
                <a:moveTo>
                  <a:pt x="598932" y="152399"/>
                </a:moveTo>
                <a:lnTo>
                  <a:pt x="575393" y="93225"/>
                </a:lnTo>
                <a:lnTo>
                  <a:pt x="511206" y="44767"/>
                </a:lnTo>
                <a:lnTo>
                  <a:pt x="466884" y="26119"/>
                </a:lnTo>
                <a:lnTo>
                  <a:pt x="416016" y="12025"/>
                </a:lnTo>
                <a:lnTo>
                  <a:pt x="359808" y="3110"/>
                </a:lnTo>
                <a:lnTo>
                  <a:pt x="299466" y="0"/>
                </a:lnTo>
                <a:lnTo>
                  <a:pt x="239123" y="3110"/>
                </a:lnTo>
                <a:lnTo>
                  <a:pt x="182915" y="12025"/>
                </a:lnTo>
                <a:lnTo>
                  <a:pt x="132047" y="26119"/>
                </a:lnTo>
                <a:lnTo>
                  <a:pt x="87725" y="44767"/>
                </a:lnTo>
                <a:lnTo>
                  <a:pt x="51153" y="67344"/>
                </a:lnTo>
                <a:lnTo>
                  <a:pt x="6085" y="121786"/>
                </a:lnTo>
                <a:lnTo>
                  <a:pt x="0" y="152400"/>
                </a:lnTo>
                <a:lnTo>
                  <a:pt x="6085" y="183232"/>
                </a:lnTo>
                <a:lnTo>
                  <a:pt x="51153" y="237790"/>
                </a:lnTo>
                <a:lnTo>
                  <a:pt x="87725" y="260318"/>
                </a:lnTo>
                <a:lnTo>
                  <a:pt x="132047" y="278881"/>
                </a:lnTo>
                <a:lnTo>
                  <a:pt x="182915" y="292881"/>
                </a:lnTo>
                <a:lnTo>
                  <a:pt x="239123" y="301720"/>
                </a:lnTo>
                <a:lnTo>
                  <a:pt x="299466" y="304800"/>
                </a:lnTo>
                <a:lnTo>
                  <a:pt x="359808" y="301720"/>
                </a:lnTo>
                <a:lnTo>
                  <a:pt x="416016" y="292881"/>
                </a:lnTo>
                <a:lnTo>
                  <a:pt x="466884" y="278881"/>
                </a:lnTo>
                <a:lnTo>
                  <a:pt x="511206" y="260318"/>
                </a:lnTo>
                <a:lnTo>
                  <a:pt x="547778" y="237790"/>
                </a:lnTo>
                <a:lnTo>
                  <a:pt x="592846" y="183232"/>
                </a:lnTo>
                <a:lnTo>
                  <a:pt x="598932" y="152399"/>
                </a:lnTo>
                <a:close/>
              </a:path>
            </a:pathLst>
          </a:custGeom>
          <a:solidFill>
            <a:srgbClr val="CCFFFF"/>
          </a:solidFill>
        </p:spPr>
        <p:txBody>
          <a:bodyPr wrap="square" lIns="0" tIns="0" rIns="0" bIns="0" rtlCol="0"/>
          <a:lstStyle/>
          <a:p>
            <a:endParaRPr/>
          </a:p>
        </p:txBody>
      </p:sp>
      <p:sp>
        <p:nvSpPr>
          <p:cNvPr id="44" name="object 44"/>
          <p:cNvSpPr/>
          <p:nvPr/>
        </p:nvSpPr>
        <p:spPr>
          <a:xfrm>
            <a:off x="6904481" y="2694698"/>
            <a:ext cx="608330" cy="313690"/>
          </a:xfrm>
          <a:custGeom>
            <a:avLst/>
            <a:gdLst/>
            <a:ahLst/>
            <a:cxnLst/>
            <a:rect l="l" t="t" r="r" b="b"/>
            <a:pathLst>
              <a:path w="608329" h="313689">
                <a:moveTo>
                  <a:pt x="608076" y="156705"/>
                </a:moveTo>
                <a:lnTo>
                  <a:pt x="594045" y="110524"/>
                </a:lnTo>
                <a:lnTo>
                  <a:pt x="547474" y="62093"/>
                </a:lnTo>
                <a:lnTo>
                  <a:pt x="478431" y="27531"/>
                </a:lnTo>
                <a:lnTo>
                  <a:pt x="437833" y="15450"/>
                </a:lnTo>
                <a:lnTo>
                  <a:pt x="394439" y="6834"/>
                </a:lnTo>
                <a:lnTo>
                  <a:pt x="349189" y="1684"/>
                </a:lnTo>
                <a:lnTo>
                  <a:pt x="303023" y="0"/>
                </a:lnTo>
                <a:lnTo>
                  <a:pt x="256882" y="1779"/>
                </a:lnTo>
                <a:lnTo>
                  <a:pt x="211707" y="7024"/>
                </a:lnTo>
                <a:lnTo>
                  <a:pt x="168438" y="15732"/>
                </a:lnTo>
                <a:lnTo>
                  <a:pt x="128016" y="27904"/>
                </a:lnTo>
                <a:lnTo>
                  <a:pt x="91381" y="43539"/>
                </a:lnTo>
                <a:lnTo>
                  <a:pt x="33234" y="85197"/>
                </a:lnTo>
                <a:lnTo>
                  <a:pt x="1523" y="140703"/>
                </a:lnTo>
                <a:lnTo>
                  <a:pt x="0" y="149085"/>
                </a:lnTo>
                <a:lnTo>
                  <a:pt x="0" y="165087"/>
                </a:lnTo>
                <a:lnTo>
                  <a:pt x="1524" y="173469"/>
                </a:lnTo>
                <a:lnTo>
                  <a:pt x="3810" y="181851"/>
                </a:lnTo>
                <a:lnTo>
                  <a:pt x="6096" y="189471"/>
                </a:lnTo>
                <a:lnTo>
                  <a:pt x="9144" y="193846"/>
                </a:lnTo>
                <a:lnTo>
                  <a:pt x="9144" y="156705"/>
                </a:lnTo>
                <a:lnTo>
                  <a:pt x="9906" y="149085"/>
                </a:lnTo>
                <a:lnTo>
                  <a:pt x="23727" y="112603"/>
                </a:lnTo>
                <a:lnTo>
                  <a:pt x="73716" y="64533"/>
                </a:lnTo>
                <a:lnTo>
                  <a:pt x="108387" y="46103"/>
                </a:lnTo>
                <a:lnTo>
                  <a:pt x="148004" y="31417"/>
                </a:lnTo>
                <a:lnTo>
                  <a:pt x="191438" y="20483"/>
                </a:lnTo>
                <a:lnTo>
                  <a:pt x="237559" y="13309"/>
                </a:lnTo>
                <a:lnTo>
                  <a:pt x="285238" y="9900"/>
                </a:lnTo>
                <a:lnTo>
                  <a:pt x="333347" y="10265"/>
                </a:lnTo>
                <a:lnTo>
                  <a:pt x="380756" y="14409"/>
                </a:lnTo>
                <a:lnTo>
                  <a:pt x="426335" y="22340"/>
                </a:lnTo>
                <a:lnTo>
                  <a:pt x="468956" y="34066"/>
                </a:lnTo>
                <a:lnTo>
                  <a:pt x="507490" y="49592"/>
                </a:lnTo>
                <a:lnTo>
                  <a:pt x="540808" y="68927"/>
                </a:lnTo>
                <a:lnTo>
                  <a:pt x="587276" y="119047"/>
                </a:lnTo>
                <a:lnTo>
                  <a:pt x="598170" y="149847"/>
                </a:lnTo>
                <a:lnTo>
                  <a:pt x="598170" y="191390"/>
                </a:lnTo>
                <a:lnTo>
                  <a:pt x="607314" y="165087"/>
                </a:lnTo>
                <a:lnTo>
                  <a:pt x="608076" y="156705"/>
                </a:lnTo>
                <a:close/>
              </a:path>
              <a:path w="608329" h="313689">
                <a:moveTo>
                  <a:pt x="598170" y="191390"/>
                </a:moveTo>
                <a:lnTo>
                  <a:pt x="598170" y="164325"/>
                </a:lnTo>
                <a:lnTo>
                  <a:pt x="596646" y="171945"/>
                </a:lnTo>
                <a:lnTo>
                  <a:pt x="579851" y="208309"/>
                </a:lnTo>
                <a:lnTo>
                  <a:pt x="549607" y="238237"/>
                </a:lnTo>
                <a:lnTo>
                  <a:pt x="509853" y="262084"/>
                </a:lnTo>
                <a:lnTo>
                  <a:pt x="464529" y="280206"/>
                </a:lnTo>
                <a:lnTo>
                  <a:pt x="417572" y="292957"/>
                </a:lnTo>
                <a:lnTo>
                  <a:pt x="372922" y="300694"/>
                </a:lnTo>
                <a:lnTo>
                  <a:pt x="334518" y="303771"/>
                </a:lnTo>
                <a:lnTo>
                  <a:pt x="319278" y="304533"/>
                </a:lnTo>
                <a:lnTo>
                  <a:pt x="303023" y="304503"/>
                </a:lnTo>
                <a:lnTo>
                  <a:pt x="262707" y="303318"/>
                </a:lnTo>
                <a:lnTo>
                  <a:pt x="215632" y="297694"/>
                </a:lnTo>
                <a:lnTo>
                  <a:pt x="166275" y="287151"/>
                </a:lnTo>
                <a:lnTo>
                  <a:pt x="118096" y="271184"/>
                </a:lnTo>
                <a:lnTo>
                  <a:pt x="74557" y="249284"/>
                </a:lnTo>
                <a:lnTo>
                  <a:pt x="39117" y="220946"/>
                </a:lnTo>
                <a:lnTo>
                  <a:pt x="15240" y="185661"/>
                </a:lnTo>
                <a:lnTo>
                  <a:pt x="12954" y="178041"/>
                </a:lnTo>
                <a:lnTo>
                  <a:pt x="10668" y="171183"/>
                </a:lnTo>
                <a:lnTo>
                  <a:pt x="9906" y="164325"/>
                </a:lnTo>
                <a:lnTo>
                  <a:pt x="9144" y="156705"/>
                </a:lnTo>
                <a:lnTo>
                  <a:pt x="9144" y="193846"/>
                </a:lnTo>
                <a:lnTo>
                  <a:pt x="33057" y="228174"/>
                </a:lnTo>
                <a:lnTo>
                  <a:pt x="71544" y="258637"/>
                </a:lnTo>
                <a:lnTo>
                  <a:pt x="118197" y="281612"/>
                </a:lnTo>
                <a:lnTo>
                  <a:pt x="169657" y="297851"/>
                </a:lnTo>
                <a:lnTo>
                  <a:pt x="222563" y="308106"/>
                </a:lnTo>
                <a:lnTo>
                  <a:pt x="273557" y="313131"/>
                </a:lnTo>
                <a:lnTo>
                  <a:pt x="319278" y="313677"/>
                </a:lnTo>
                <a:lnTo>
                  <a:pt x="349758" y="312153"/>
                </a:lnTo>
                <a:lnTo>
                  <a:pt x="389598" y="307813"/>
                </a:lnTo>
                <a:lnTo>
                  <a:pt x="435057" y="298633"/>
                </a:lnTo>
                <a:lnTo>
                  <a:pt x="482154" y="284184"/>
                </a:lnTo>
                <a:lnTo>
                  <a:pt x="526908" y="264034"/>
                </a:lnTo>
                <a:lnTo>
                  <a:pt x="565339" y="237754"/>
                </a:lnTo>
                <a:lnTo>
                  <a:pt x="593468" y="204915"/>
                </a:lnTo>
                <a:lnTo>
                  <a:pt x="598170" y="191390"/>
                </a:lnTo>
                <a:close/>
              </a:path>
            </a:pathLst>
          </a:custGeom>
          <a:solidFill>
            <a:srgbClr val="000000"/>
          </a:solidFill>
        </p:spPr>
        <p:txBody>
          <a:bodyPr wrap="square" lIns="0" tIns="0" rIns="0" bIns="0" rtlCol="0"/>
          <a:lstStyle/>
          <a:p>
            <a:endParaRPr/>
          </a:p>
        </p:txBody>
      </p:sp>
      <p:sp>
        <p:nvSpPr>
          <p:cNvPr id="45" name="object 45"/>
          <p:cNvSpPr/>
          <p:nvPr/>
        </p:nvSpPr>
        <p:spPr>
          <a:xfrm>
            <a:off x="8484107" y="2381250"/>
            <a:ext cx="504444" cy="2133599"/>
          </a:xfrm>
          <a:prstGeom prst="rect">
            <a:avLst/>
          </a:prstGeom>
          <a:blipFill>
            <a:blip r:embed="rId7" cstate="print"/>
            <a:stretch>
              <a:fillRect/>
            </a:stretch>
          </a:blipFill>
        </p:spPr>
        <p:txBody>
          <a:bodyPr wrap="square" lIns="0" tIns="0" rIns="0" bIns="0" rtlCol="0"/>
          <a:lstStyle/>
          <a:p>
            <a:endParaRPr/>
          </a:p>
        </p:txBody>
      </p:sp>
      <p:sp>
        <p:nvSpPr>
          <p:cNvPr id="46" name="object 46"/>
          <p:cNvSpPr/>
          <p:nvPr/>
        </p:nvSpPr>
        <p:spPr>
          <a:xfrm>
            <a:off x="8479535" y="2376677"/>
            <a:ext cx="514350" cy="2143760"/>
          </a:xfrm>
          <a:custGeom>
            <a:avLst/>
            <a:gdLst/>
            <a:ahLst/>
            <a:cxnLst/>
            <a:rect l="l" t="t" r="r" b="b"/>
            <a:pathLst>
              <a:path w="514350" h="2143760">
                <a:moveTo>
                  <a:pt x="27809" y="44597"/>
                </a:moveTo>
                <a:lnTo>
                  <a:pt x="19050" y="6095"/>
                </a:lnTo>
                <a:lnTo>
                  <a:pt x="0" y="1947672"/>
                </a:lnTo>
                <a:lnTo>
                  <a:pt x="0" y="1950720"/>
                </a:lnTo>
                <a:lnTo>
                  <a:pt x="7620" y="1958279"/>
                </a:lnTo>
                <a:lnTo>
                  <a:pt x="7620" y="1944624"/>
                </a:lnTo>
                <a:lnTo>
                  <a:pt x="9166" y="1946158"/>
                </a:lnTo>
                <a:lnTo>
                  <a:pt x="27809" y="44597"/>
                </a:lnTo>
                <a:close/>
              </a:path>
              <a:path w="514350" h="2143760">
                <a:moveTo>
                  <a:pt x="9166" y="1946158"/>
                </a:moveTo>
                <a:lnTo>
                  <a:pt x="7620" y="1944624"/>
                </a:lnTo>
                <a:lnTo>
                  <a:pt x="9144" y="1948434"/>
                </a:lnTo>
                <a:lnTo>
                  <a:pt x="9166" y="1946158"/>
                </a:lnTo>
                <a:close/>
              </a:path>
              <a:path w="514350" h="2143760">
                <a:moveTo>
                  <a:pt x="198107" y="2133600"/>
                </a:moveTo>
                <a:lnTo>
                  <a:pt x="9166" y="1946158"/>
                </a:lnTo>
                <a:lnTo>
                  <a:pt x="9144" y="1948434"/>
                </a:lnTo>
                <a:lnTo>
                  <a:pt x="7620" y="1944624"/>
                </a:lnTo>
                <a:lnTo>
                  <a:pt x="7620" y="1958279"/>
                </a:lnTo>
                <a:lnTo>
                  <a:pt x="192786" y="2141982"/>
                </a:lnTo>
                <a:lnTo>
                  <a:pt x="194310" y="2142744"/>
                </a:lnTo>
                <a:lnTo>
                  <a:pt x="195072" y="2143506"/>
                </a:lnTo>
                <a:lnTo>
                  <a:pt x="196596" y="2143506"/>
                </a:lnTo>
                <a:lnTo>
                  <a:pt x="196596" y="2133600"/>
                </a:lnTo>
                <a:lnTo>
                  <a:pt x="198107" y="2133600"/>
                </a:lnTo>
                <a:close/>
              </a:path>
              <a:path w="514350" h="2143760">
                <a:moveTo>
                  <a:pt x="514350" y="2138934"/>
                </a:moveTo>
                <a:lnTo>
                  <a:pt x="513588" y="2137410"/>
                </a:lnTo>
                <a:lnTo>
                  <a:pt x="28194" y="3810"/>
                </a:lnTo>
                <a:lnTo>
                  <a:pt x="27432" y="1524"/>
                </a:lnTo>
                <a:lnTo>
                  <a:pt x="25146" y="0"/>
                </a:lnTo>
                <a:lnTo>
                  <a:pt x="22860" y="0"/>
                </a:lnTo>
                <a:lnTo>
                  <a:pt x="20574" y="762"/>
                </a:lnTo>
                <a:lnTo>
                  <a:pt x="19050" y="2286"/>
                </a:lnTo>
                <a:lnTo>
                  <a:pt x="19050" y="6095"/>
                </a:lnTo>
                <a:lnTo>
                  <a:pt x="28194" y="5333"/>
                </a:lnTo>
                <a:lnTo>
                  <a:pt x="28194" y="46289"/>
                </a:lnTo>
                <a:lnTo>
                  <a:pt x="503057" y="2133600"/>
                </a:lnTo>
                <a:lnTo>
                  <a:pt x="509016" y="2133600"/>
                </a:lnTo>
                <a:lnTo>
                  <a:pt x="509016" y="2143506"/>
                </a:lnTo>
                <a:lnTo>
                  <a:pt x="510540" y="2143506"/>
                </a:lnTo>
                <a:lnTo>
                  <a:pt x="512064" y="2142744"/>
                </a:lnTo>
                <a:lnTo>
                  <a:pt x="512826" y="2141220"/>
                </a:lnTo>
                <a:lnTo>
                  <a:pt x="513588" y="2140458"/>
                </a:lnTo>
                <a:lnTo>
                  <a:pt x="514350" y="2138934"/>
                </a:lnTo>
                <a:close/>
              </a:path>
              <a:path w="514350" h="2143760">
                <a:moveTo>
                  <a:pt x="28194" y="5333"/>
                </a:moveTo>
                <a:lnTo>
                  <a:pt x="19050" y="6095"/>
                </a:lnTo>
                <a:lnTo>
                  <a:pt x="27809" y="44597"/>
                </a:lnTo>
                <a:lnTo>
                  <a:pt x="28194" y="5333"/>
                </a:lnTo>
                <a:close/>
              </a:path>
              <a:path w="514350" h="2143760">
                <a:moveTo>
                  <a:pt x="28194" y="46289"/>
                </a:moveTo>
                <a:lnTo>
                  <a:pt x="28194" y="5333"/>
                </a:lnTo>
                <a:lnTo>
                  <a:pt x="27809" y="44597"/>
                </a:lnTo>
                <a:lnTo>
                  <a:pt x="28194" y="46289"/>
                </a:lnTo>
                <a:close/>
              </a:path>
              <a:path w="514350" h="2143760">
                <a:moveTo>
                  <a:pt x="199644" y="2135124"/>
                </a:moveTo>
                <a:lnTo>
                  <a:pt x="198107" y="2133600"/>
                </a:lnTo>
                <a:lnTo>
                  <a:pt x="196596" y="2133600"/>
                </a:lnTo>
                <a:lnTo>
                  <a:pt x="199644" y="2135124"/>
                </a:lnTo>
                <a:close/>
              </a:path>
              <a:path w="514350" h="2143760">
                <a:moveTo>
                  <a:pt x="199644" y="2143506"/>
                </a:moveTo>
                <a:lnTo>
                  <a:pt x="199644" y="2135124"/>
                </a:lnTo>
                <a:lnTo>
                  <a:pt x="196596" y="2133600"/>
                </a:lnTo>
                <a:lnTo>
                  <a:pt x="196596" y="2143506"/>
                </a:lnTo>
                <a:lnTo>
                  <a:pt x="199644" y="2143506"/>
                </a:lnTo>
                <a:close/>
              </a:path>
              <a:path w="514350" h="2143760">
                <a:moveTo>
                  <a:pt x="509016" y="2143506"/>
                </a:moveTo>
                <a:lnTo>
                  <a:pt x="509016" y="2133600"/>
                </a:lnTo>
                <a:lnTo>
                  <a:pt x="504444" y="2139696"/>
                </a:lnTo>
                <a:lnTo>
                  <a:pt x="503057" y="2133600"/>
                </a:lnTo>
                <a:lnTo>
                  <a:pt x="198107" y="2133600"/>
                </a:lnTo>
                <a:lnTo>
                  <a:pt x="199644" y="2135124"/>
                </a:lnTo>
                <a:lnTo>
                  <a:pt x="199644" y="2143506"/>
                </a:lnTo>
                <a:lnTo>
                  <a:pt x="509016" y="2143506"/>
                </a:lnTo>
                <a:close/>
              </a:path>
              <a:path w="514350" h="2143760">
                <a:moveTo>
                  <a:pt x="509016" y="2133600"/>
                </a:moveTo>
                <a:lnTo>
                  <a:pt x="503057" y="2133600"/>
                </a:lnTo>
                <a:lnTo>
                  <a:pt x="504444" y="2139696"/>
                </a:lnTo>
                <a:lnTo>
                  <a:pt x="509016" y="2133600"/>
                </a:lnTo>
                <a:close/>
              </a:path>
            </a:pathLst>
          </a:custGeom>
          <a:solidFill>
            <a:srgbClr val="DDDDDD"/>
          </a:solidFill>
        </p:spPr>
        <p:txBody>
          <a:bodyPr wrap="square" lIns="0" tIns="0" rIns="0" bIns="0" rtlCol="0"/>
          <a:lstStyle/>
          <a:p>
            <a:endParaRPr/>
          </a:p>
        </p:txBody>
      </p:sp>
      <p:sp>
        <p:nvSpPr>
          <p:cNvPr id="47" name="object 47"/>
          <p:cNvSpPr/>
          <p:nvPr/>
        </p:nvSpPr>
        <p:spPr>
          <a:xfrm>
            <a:off x="3025901" y="5628132"/>
            <a:ext cx="1076960" cy="219075"/>
          </a:xfrm>
          <a:custGeom>
            <a:avLst/>
            <a:gdLst/>
            <a:ahLst/>
            <a:cxnLst/>
            <a:rect l="l" t="t" r="r" b="b"/>
            <a:pathLst>
              <a:path w="1076960" h="219075">
                <a:moveTo>
                  <a:pt x="0" y="0"/>
                </a:moveTo>
                <a:lnTo>
                  <a:pt x="0" y="218693"/>
                </a:lnTo>
                <a:lnTo>
                  <a:pt x="1076705" y="218693"/>
                </a:lnTo>
                <a:lnTo>
                  <a:pt x="1076705" y="0"/>
                </a:lnTo>
                <a:lnTo>
                  <a:pt x="0" y="0"/>
                </a:lnTo>
                <a:close/>
              </a:path>
            </a:pathLst>
          </a:custGeom>
          <a:solidFill>
            <a:srgbClr val="00CC99"/>
          </a:solidFill>
        </p:spPr>
        <p:txBody>
          <a:bodyPr wrap="square" lIns="0" tIns="0" rIns="0" bIns="0" rtlCol="0"/>
          <a:lstStyle/>
          <a:p>
            <a:endParaRPr/>
          </a:p>
        </p:txBody>
      </p:sp>
      <p:sp>
        <p:nvSpPr>
          <p:cNvPr id="48" name="object 48"/>
          <p:cNvSpPr/>
          <p:nvPr/>
        </p:nvSpPr>
        <p:spPr>
          <a:xfrm>
            <a:off x="3021329" y="5623559"/>
            <a:ext cx="1085850" cy="228600"/>
          </a:xfrm>
          <a:custGeom>
            <a:avLst/>
            <a:gdLst/>
            <a:ahLst/>
            <a:cxnLst/>
            <a:rect l="l" t="t" r="r" b="b"/>
            <a:pathLst>
              <a:path w="1085850" h="228600">
                <a:moveTo>
                  <a:pt x="1085849" y="228600"/>
                </a:moveTo>
                <a:lnTo>
                  <a:pt x="1085849" y="0"/>
                </a:lnTo>
                <a:lnTo>
                  <a:pt x="0" y="0"/>
                </a:lnTo>
                <a:lnTo>
                  <a:pt x="0" y="228600"/>
                </a:lnTo>
                <a:lnTo>
                  <a:pt x="4571" y="228600"/>
                </a:lnTo>
                <a:lnTo>
                  <a:pt x="4571" y="9143"/>
                </a:lnTo>
                <a:lnTo>
                  <a:pt x="9906" y="4572"/>
                </a:lnTo>
                <a:lnTo>
                  <a:pt x="9906" y="9143"/>
                </a:lnTo>
                <a:lnTo>
                  <a:pt x="1076705" y="9143"/>
                </a:lnTo>
                <a:lnTo>
                  <a:pt x="1076705" y="4572"/>
                </a:lnTo>
                <a:lnTo>
                  <a:pt x="1081277" y="9143"/>
                </a:lnTo>
                <a:lnTo>
                  <a:pt x="1081277" y="228600"/>
                </a:lnTo>
                <a:lnTo>
                  <a:pt x="1085849" y="228600"/>
                </a:lnTo>
                <a:close/>
              </a:path>
              <a:path w="1085850" h="228600">
                <a:moveTo>
                  <a:pt x="9906" y="9143"/>
                </a:moveTo>
                <a:lnTo>
                  <a:pt x="9906" y="4572"/>
                </a:lnTo>
                <a:lnTo>
                  <a:pt x="4571" y="9143"/>
                </a:lnTo>
                <a:lnTo>
                  <a:pt x="9906" y="9143"/>
                </a:lnTo>
                <a:close/>
              </a:path>
              <a:path w="1085850" h="228600">
                <a:moveTo>
                  <a:pt x="9906" y="218693"/>
                </a:moveTo>
                <a:lnTo>
                  <a:pt x="9906" y="9143"/>
                </a:lnTo>
                <a:lnTo>
                  <a:pt x="4571" y="9143"/>
                </a:lnTo>
                <a:lnTo>
                  <a:pt x="4571" y="218693"/>
                </a:lnTo>
                <a:lnTo>
                  <a:pt x="9906" y="218693"/>
                </a:lnTo>
                <a:close/>
              </a:path>
              <a:path w="1085850" h="228600">
                <a:moveTo>
                  <a:pt x="1081277" y="218693"/>
                </a:moveTo>
                <a:lnTo>
                  <a:pt x="4571" y="218693"/>
                </a:lnTo>
                <a:lnTo>
                  <a:pt x="9906" y="223265"/>
                </a:lnTo>
                <a:lnTo>
                  <a:pt x="9906" y="228600"/>
                </a:lnTo>
                <a:lnTo>
                  <a:pt x="1076705" y="228600"/>
                </a:lnTo>
                <a:lnTo>
                  <a:pt x="1076705" y="223265"/>
                </a:lnTo>
                <a:lnTo>
                  <a:pt x="1081277" y="218693"/>
                </a:lnTo>
                <a:close/>
              </a:path>
              <a:path w="1085850" h="228600">
                <a:moveTo>
                  <a:pt x="9906" y="228600"/>
                </a:moveTo>
                <a:lnTo>
                  <a:pt x="9906" y="223265"/>
                </a:lnTo>
                <a:lnTo>
                  <a:pt x="4571" y="218693"/>
                </a:lnTo>
                <a:lnTo>
                  <a:pt x="4571" y="228600"/>
                </a:lnTo>
                <a:lnTo>
                  <a:pt x="9906" y="228600"/>
                </a:lnTo>
                <a:close/>
              </a:path>
              <a:path w="1085850" h="228600">
                <a:moveTo>
                  <a:pt x="1081277" y="9143"/>
                </a:moveTo>
                <a:lnTo>
                  <a:pt x="1076705" y="4572"/>
                </a:lnTo>
                <a:lnTo>
                  <a:pt x="1076705" y="9143"/>
                </a:lnTo>
                <a:lnTo>
                  <a:pt x="1081277" y="9143"/>
                </a:lnTo>
                <a:close/>
              </a:path>
              <a:path w="1085850" h="228600">
                <a:moveTo>
                  <a:pt x="1081277" y="218693"/>
                </a:moveTo>
                <a:lnTo>
                  <a:pt x="1081277" y="9143"/>
                </a:lnTo>
                <a:lnTo>
                  <a:pt x="1076705" y="9143"/>
                </a:lnTo>
                <a:lnTo>
                  <a:pt x="1076705" y="218693"/>
                </a:lnTo>
                <a:lnTo>
                  <a:pt x="1081277" y="218693"/>
                </a:lnTo>
                <a:close/>
              </a:path>
              <a:path w="1085850" h="228600">
                <a:moveTo>
                  <a:pt x="1081277" y="228600"/>
                </a:moveTo>
                <a:lnTo>
                  <a:pt x="1081277" y="218693"/>
                </a:lnTo>
                <a:lnTo>
                  <a:pt x="1076705" y="223265"/>
                </a:lnTo>
                <a:lnTo>
                  <a:pt x="1076705" y="228600"/>
                </a:lnTo>
                <a:lnTo>
                  <a:pt x="1081277" y="228600"/>
                </a:lnTo>
                <a:close/>
              </a:path>
            </a:pathLst>
          </a:custGeom>
          <a:solidFill>
            <a:srgbClr val="000000"/>
          </a:solidFill>
        </p:spPr>
        <p:txBody>
          <a:bodyPr wrap="square" lIns="0" tIns="0" rIns="0" bIns="0" rtlCol="0"/>
          <a:lstStyle/>
          <a:p>
            <a:endParaRPr/>
          </a:p>
        </p:txBody>
      </p:sp>
      <p:sp>
        <p:nvSpPr>
          <p:cNvPr id="49" name="object 49"/>
          <p:cNvSpPr/>
          <p:nvPr/>
        </p:nvSpPr>
        <p:spPr>
          <a:xfrm>
            <a:off x="4019550" y="5686805"/>
            <a:ext cx="278130" cy="114300"/>
          </a:xfrm>
          <a:custGeom>
            <a:avLst/>
            <a:gdLst/>
            <a:ahLst/>
            <a:cxnLst/>
            <a:rect l="l" t="t" r="r" b="b"/>
            <a:pathLst>
              <a:path w="278129" h="114300">
                <a:moveTo>
                  <a:pt x="182879" y="76200"/>
                </a:moveTo>
                <a:lnTo>
                  <a:pt x="182879" y="38100"/>
                </a:lnTo>
                <a:lnTo>
                  <a:pt x="0" y="38100"/>
                </a:lnTo>
                <a:lnTo>
                  <a:pt x="0" y="76200"/>
                </a:lnTo>
                <a:lnTo>
                  <a:pt x="182879" y="76200"/>
                </a:lnTo>
                <a:close/>
              </a:path>
              <a:path w="278129" h="114300">
                <a:moveTo>
                  <a:pt x="278129" y="57150"/>
                </a:moveTo>
                <a:lnTo>
                  <a:pt x="163829" y="0"/>
                </a:lnTo>
                <a:lnTo>
                  <a:pt x="163829" y="38100"/>
                </a:lnTo>
                <a:lnTo>
                  <a:pt x="182879" y="38100"/>
                </a:lnTo>
                <a:lnTo>
                  <a:pt x="182879" y="104775"/>
                </a:lnTo>
                <a:lnTo>
                  <a:pt x="278129" y="57150"/>
                </a:lnTo>
                <a:close/>
              </a:path>
              <a:path w="278129" h="114300">
                <a:moveTo>
                  <a:pt x="182879" y="104775"/>
                </a:moveTo>
                <a:lnTo>
                  <a:pt x="182879" y="76200"/>
                </a:lnTo>
                <a:lnTo>
                  <a:pt x="163829" y="76200"/>
                </a:lnTo>
                <a:lnTo>
                  <a:pt x="163829" y="114300"/>
                </a:lnTo>
                <a:lnTo>
                  <a:pt x="182879" y="104775"/>
                </a:lnTo>
                <a:close/>
              </a:path>
            </a:pathLst>
          </a:custGeom>
          <a:solidFill>
            <a:srgbClr val="CC0000"/>
          </a:solidFill>
        </p:spPr>
        <p:txBody>
          <a:bodyPr wrap="square" lIns="0" tIns="0" rIns="0" bIns="0" rtlCol="0"/>
          <a:lstStyle/>
          <a:p>
            <a:endParaRPr/>
          </a:p>
        </p:txBody>
      </p:sp>
      <p:sp>
        <p:nvSpPr>
          <p:cNvPr id="50" name="object 50"/>
          <p:cNvSpPr/>
          <p:nvPr/>
        </p:nvSpPr>
        <p:spPr>
          <a:xfrm>
            <a:off x="2311907" y="4937759"/>
            <a:ext cx="1076325" cy="219075"/>
          </a:xfrm>
          <a:custGeom>
            <a:avLst/>
            <a:gdLst/>
            <a:ahLst/>
            <a:cxnLst/>
            <a:rect l="l" t="t" r="r" b="b"/>
            <a:pathLst>
              <a:path w="1076325" h="219075">
                <a:moveTo>
                  <a:pt x="0" y="0"/>
                </a:moveTo>
                <a:lnTo>
                  <a:pt x="0" y="218693"/>
                </a:lnTo>
                <a:lnTo>
                  <a:pt x="1075943" y="218693"/>
                </a:lnTo>
                <a:lnTo>
                  <a:pt x="1075943" y="0"/>
                </a:lnTo>
                <a:lnTo>
                  <a:pt x="0" y="0"/>
                </a:lnTo>
                <a:close/>
              </a:path>
            </a:pathLst>
          </a:custGeom>
          <a:solidFill>
            <a:srgbClr val="00CC99"/>
          </a:solidFill>
        </p:spPr>
        <p:txBody>
          <a:bodyPr wrap="square" lIns="0" tIns="0" rIns="0" bIns="0" rtlCol="0"/>
          <a:lstStyle/>
          <a:p>
            <a:endParaRPr/>
          </a:p>
        </p:txBody>
      </p:sp>
      <p:sp>
        <p:nvSpPr>
          <p:cNvPr id="51" name="object 51"/>
          <p:cNvSpPr txBox="1"/>
          <p:nvPr/>
        </p:nvSpPr>
        <p:spPr>
          <a:xfrm>
            <a:off x="2376932" y="5826505"/>
            <a:ext cx="1880870" cy="420370"/>
          </a:xfrm>
          <a:prstGeom prst="rect">
            <a:avLst/>
          </a:prstGeom>
        </p:spPr>
        <p:txBody>
          <a:bodyPr vert="horz" wrap="square" lIns="0" tIns="44450" rIns="0" bIns="0" rtlCol="0">
            <a:spAutoFit/>
          </a:bodyPr>
          <a:lstStyle/>
          <a:p>
            <a:pPr marL="337820" marR="5080" indent="-325755">
              <a:lnSpc>
                <a:spcPts val="1430"/>
              </a:lnSpc>
              <a:spcBef>
                <a:spcPts val="350"/>
              </a:spcBef>
            </a:pPr>
            <a:r>
              <a:rPr sz="1400" spc="-5" dirty="0">
                <a:latin typeface="Tahoma"/>
                <a:cs typeface="Tahoma"/>
              </a:rPr>
              <a:t>source </a:t>
            </a:r>
            <a:r>
              <a:rPr sz="1400" spc="-30" dirty="0">
                <a:latin typeface="Tahoma"/>
                <a:cs typeface="Tahoma"/>
              </a:rPr>
              <a:t>IP,port: </a:t>
            </a:r>
            <a:r>
              <a:rPr sz="1400" spc="-5" dirty="0">
                <a:latin typeface="Tahoma"/>
                <a:cs typeface="Tahoma"/>
              </a:rPr>
              <a:t>A,9157  dest </a:t>
            </a:r>
            <a:r>
              <a:rPr sz="1400" spc="-70" dirty="0">
                <a:latin typeface="Tahoma"/>
                <a:cs typeface="Tahoma"/>
              </a:rPr>
              <a:t>IP, </a:t>
            </a:r>
            <a:r>
              <a:rPr sz="1400" spc="-5" dirty="0">
                <a:latin typeface="Tahoma"/>
                <a:cs typeface="Tahoma"/>
              </a:rPr>
              <a:t>port:</a:t>
            </a:r>
            <a:r>
              <a:rPr sz="1400" spc="50" dirty="0">
                <a:latin typeface="Tahoma"/>
                <a:cs typeface="Tahoma"/>
              </a:rPr>
              <a:t> </a:t>
            </a:r>
            <a:r>
              <a:rPr sz="1400" spc="-5" dirty="0">
                <a:latin typeface="Tahoma"/>
                <a:cs typeface="Tahoma"/>
              </a:rPr>
              <a:t>B,</a:t>
            </a:r>
            <a:r>
              <a:rPr sz="1400" u="heavy" spc="-5" dirty="0">
                <a:uFill>
                  <a:solidFill>
                    <a:srgbClr val="CC0000"/>
                  </a:solidFill>
                </a:uFill>
                <a:latin typeface="Tahoma"/>
                <a:cs typeface="Tahoma"/>
              </a:rPr>
              <a:t>80</a:t>
            </a:r>
            <a:r>
              <a:rPr sz="1400" u="heavy" spc="-35" dirty="0">
                <a:uFill>
                  <a:solidFill>
                    <a:srgbClr val="CC0000"/>
                  </a:solidFill>
                </a:uFill>
                <a:latin typeface="Tahoma"/>
                <a:cs typeface="Tahoma"/>
              </a:rPr>
              <a:t> </a:t>
            </a:r>
            <a:endParaRPr sz="1400">
              <a:latin typeface="Tahoma"/>
              <a:cs typeface="Tahoma"/>
            </a:endParaRPr>
          </a:p>
        </p:txBody>
      </p:sp>
      <p:sp>
        <p:nvSpPr>
          <p:cNvPr id="52" name="object 52"/>
          <p:cNvSpPr/>
          <p:nvPr/>
        </p:nvSpPr>
        <p:spPr>
          <a:xfrm>
            <a:off x="2307335" y="4932426"/>
            <a:ext cx="1085850" cy="228600"/>
          </a:xfrm>
          <a:custGeom>
            <a:avLst/>
            <a:gdLst/>
            <a:ahLst/>
            <a:cxnLst/>
            <a:rect l="l" t="t" r="r" b="b"/>
            <a:pathLst>
              <a:path w="1085850" h="228600">
                <a:moveTo>
                  <a:pt x="1085849" y="228600"/>
                </a:moveTo>
                <a:lnTo>
                  <a:pt x="1085849" y="0"/>
                </a:lnTo>
                <a:lnTo>
                  <a:pt x="0" y="0"/>
                </a:lnTo>
                <a:lnTo>
                  <a:pt x="0" y="228600"/>
                </a:lnTo>
                <a:lnTo>
                  <a:pt x="4571" y="228600"/>
                </a:lnTo>
                <a:lnTo>
                  <a:pt x="4571" y="9906"/>
                </a:lnTo>
                <a:lnTo>
                  <a:pt x="9143" y="5334"/>
                </a:lnTo>
                <a:lnTo>
                  <a:pt x="9143" y="9906"/>
                </a:lnTo>
                <a:lnTo>
                  <a:pt x="1075943" y="9906"/>
                </a:lnTo>
                <a:lnTo>
                  <a:pt x="1075943" y="5334"/>
                </a:lnTo>
                <a:lnTo>
                  <a:pt x="1080515" y="9906"/>
                </a:lnTo>
                <a:lnTo>
                  <a:pt x="1080515" y="228600"/>
                </a:lnTo>
                <a:lnTo>
                  <a:pt x="1085849" y="228600"/>
                </a:lnTo>
                <a:close/>
              </a:path>
              <a:path w="1085850" h="228600">
                <a:moveTo>
                  <a:pt x="9143" y="9906"/>
                </a:moveTo>
                <a:lnTo>
                  <a:pt x="9143" y="5334"/>
                </a:lnTo>
                <a:lnTo>
                  <a:pt x="4571" y="9906"/>
                </a:lnTo>
                <a:lnTo>
                  <a:pt x="9143" y="9906"/>
                </a:lnTo>
                <a:close/>
              </a:path>
              <a:path w="1085850" h="228600">
                <a:moveTo>
                  <a:pt x="9143" y="219456"/>
                </a:moveTo>
                <a:lnTo>
                  <a:pt x="9143" y="9906"/>
                </a:lnTo>
                <a:lnTo>
                  <a:pt x="4571" y="9906"/>
                </a:lnTo>
                <a:lnTo>
                  <a:pt x="4571" y="219456"/>
                </a:lnTo>
                <a:lnTo>
                  <a:pt x="9143" y="219456"/>
                </a:lnTo>
                <a:close/>
              </a:path>
              <a:path w="1085850" h="228600">
                <a:moveTo>
                  <a:pt x="1080515" y="219456"/>
                </a:moveTo>
                <a:lnTo>
                  <a:pt x="4571" y="219456"/>
                </a:lnTo>
                <a:lnTo>
                  <a:pt x="9143" y="224027"/>
                </a:lnTo>
                <a:lnTo>
                  <a:pt x="9143" y="228600"/>
                </a:lnTo>
                <a:lnTo>
                  <a:pt x="1075943" y="228600"/>
                </a:lnTo>
                <a:lnTo>
                  <a:pt x="1075943" y="224027"/>
                </a:lnTo>
                <a:lnTo>
                  <a:pt x="1080515" y="219456"/>
                </a:lnTo>
                <a:close/>
              </a:path>
              <a:path w="1085850" h="228600">
                <a:moveTo>
                  <a:pt x="9143" y="228600"/>
                </a:moveTo>
                <a:lnTo>
                  <a:pt x="9143" y="224027"/>
                </a:lnTo>
                <a:lnTo>
                  <a:pt x="4571" y="219456"/>
                </a:lnTo>
                <a:lnTo>
                  <a:pt x="4571" y="228600"/>
                </a:lnTo>
                <a:lnTo>
                  <a:pt x="9143" y="228600"/>
                </a:lnTo>
                <a:close/>
              </a:path>
              <a:path w="1085850" h="228600">
                <a:moveTo>
                  <a:pt x="1080515" y="9906"/>
                </a:moveTo>
                <a:lnTo>
                  <a:pt x="1075943" y="5334"/>
                </a:lnTo>
                <a:lnTo>
                  <a:pt x="1075943" y="9906"/>
                </a:lnTo>
                <a:lnTo>
                  <a:pt x="1080515" y="9906"/>
                </a:lnTo>
                <a:close/>
              </a:path>
              <a:path w="1085850" h="228600">
                <a:moveTo>
                  <a:pt x="1080515" y="219456"/>
                </a:moveTo>
                <a:lnTo>
                  <a:pt x="1080515" y="9906"/>
                </a:lnTo>
                <a:lnTo>
                  <a:pt x="1075943" y="9906"/>
                </a:lnTo>
                <a:lnTo>
                  <a:pt x="1075943" y="219456"/>
                </a:lnTo>
                <a:lnTo>
                  <a:pt x="1080515" y="219456"/>
                </a:lnTo>
                <a:close/>
              </a:path>
              <a:path w="1085850" h="228600">
                <a:moveTo>
                  <a:pt x="1080515" y="228600"/>
                </a:moveTo>
                <a:lnTo>
                  <a:pt x="1080515" y="219456"/>
                </a:lnTo>
                <a:lnTo>
                  <a:pt x="1075943" y="224027"/>
                </a:lnTo>
                <a:lnTo>
                  <a:pt x="1075943" y="228600"/>
                </a:lnTo>
                <a:lnTo>
                  <a:pt x="1080515" y="228600"/>
                </a:lnTo>
                <a:close/>
              </a:path>
            </a:pathLst>
          </a:custGeom>
          <a:solidFill>
            <a:srgbClr val="000000"/>
          </a:solidFill>
        </p:spPr>
        <p:txBody>
          <a:bodyPr wrap="square" lIns="0" tIns="0" rIns="0" bIns="0" rtlCol="0"/>
          <a:lstStyle/>
          <a:p>
            <a:endParaRPr/>
          </a:p>
        </p:txBody>
      </p:sp>
      <p:sp>
        <p:nvSpPr>
          <p:cNvPr id="53" name="object 53"/>
          <p:cNvSpPr/>
          <p:nvPr/>
        </p:nvSpPr>
        <p:spPr>
          <a:xfrm>
            <a:off x="2124455" y="5018532"/>
            <a:ext cx="278130" cy="114300"/>
          </a:xfrm>
          <a:custGeom>
            <a:avLst/>
            <a:gdLst/>
            <a:ahLst/>
            <a:cxnLst/>
            <a:rect l="l" t="t" r="r" b="b"/>
            <a:pathLst>
              <a:path w="278130" h="114300">
                <a:moveTo>
                  <a:pt x="114300" y="38100"/>
                </a:moveTo>
                <a:lnTo>
                  <a:pt x="114300" y="0"/>
                </a:lnTo>
                <a:lnTo>
                  <a:pt x="0" y="57150"/>
                </a:lnTo>
                <a:lnTo>
                  <a:pt x="95250" y="104775"/>
                </a:lnTo>
                <a:lnTo>
                  <a:pt x="95250" y="38100"/>
                </a:lnTo>
                <a:lnTo>
                  <a:pt x="114300" y="38100"/>
                </a:lnTo>
                <a:close/>
              </a:path>
              <a:path w="278130" h="114300">
                <a:moveTo>
                  <a:pt x="278130" y="76200"/>
                </a:moveTo>
                <a:lnTo>
                  <a:pt x="278130" y="38100"/>
                </a:lnTo>
                <a:lnTo>
                  <a:pt x="95250" y="38100"/>
                </a:lnTo>
                <a:lnTo>
                  <a:pt x="95250" y="76200"/>
                </a:lnTo>
                <a:lnTo>
                  <a:pt x="278130" y="76200"/>
                </a:lnTo>
                <a:close/>
              </a:path>
              <a:path w="278130" h="114300">
                <a:moveTo>
                  <a:pt x="114300" y="114300"/>
                </a:moveTo>
                <a:lnTo>
                  <a:pt x="114300" y="76200"/>
                </a:lnTo>
                <a:lnTo>
                  <a:pt x="95250" y="76200"/>
                </a:lnTo>
                <a:lnTo>
                  <a:pt x="95250" y="104775"/>
                </a:lnTo>
                <a:lnTo>
                  <a:pt x="114300" y="114300"/>
                </a:lnTo>
                <a:close/>
              </a:path>
            </a:pathLst>
          </a:custGeom>
          <a:solidFill>
            <a:srgbClr val="CC0000"/>
          </a:solidFill>
        </p:spPr>
        <p:txBody>
          <a:bodyPr wrap="square" lIns="0" tIns="0" rIns="0" bIns="0" rtlCol="0"/>
          <a:lstStyle/>
          <a:p>
            <a:endParaRPr/>
          </a:p>
        </p:txBody>
      </p:sp>
      <p:sp>
        <p:nvSpPr>
          <p:cNvPr id="54" name="object 54"/>
          <p:cNvSpPr txBox="1"/>
          <p:nvPr/>
        </p:nvSpPr>
        <p:spPr>
          <a:xfrm>
            <a:off x="2317495" y="5136133"/>
            <a:ext cx="1591310" cy="420370"/>
          </a:xfrm>
          <a:prstGeom prst="rect">
            <a:avLst/>
          </a:prstGeom>
        </p:spPr>
        <p:txBody>
          <a:bodyPr vert="horz" wrap="square" lIns="0" tIns="44450" rIns="0" bIns="0" rtlCol="0">
            <a:spAutoFit/>
          </a:bodyPr>
          <a:lstStyle/>
          <a:p>
            <a:pPr marL="12700" marR="5080">
              <a:lnSpc>
                <a:spcPts val="1430"/>
              </a:lnSpc>
              <a:spcBef>
                <a:spcPts val="350"/>
              </a:spcBef>
            </a:pPr>
            <a:r>
              <a:rPr sz="1400" spc="-5" dirty="0">
                <a:latin typeface="Tahoma"/>
                <a:cs typeface="Tahoma"/>
              </a:rPr>
              <a:t>source </a:t>
            </a:r>
            <a:r>
              <a:rPr sz="1400" spc="-30" dirty="0">
                <a:latin typeface="Tahoma"/>
                <a:cs typeface="Tahoma"/>
              </a:rPr>
              <a:t>IP,port: </a:t>
            </a:r>
            <a:r>
              <a:rPr sz="1400" spc="-5" dirty="0">
                <a:latin typeface="Tahoma"/>
                <a:cs typeface="Tahoma"/>
              </a:rPr>
              <a:t>B,80  dest </a:t>
            </a:r>
            <a:r>
              <a:rPr sz="1400" spc="-30" dirty="0">
                <a:latin typeface="Tahoma"/>
                <a:cs typeface="Tahoma"/>
              </a:rPr>
              <a:t>IP,port:</a:t>
            </a:r>
            <a:r>
              <a:rPr sz="1400" spc="-25" dirty="0">
                <a:latin typeface="Tahoma"/>
                <a:cs typeface="Tahoma"/>
              </a:rPr>
              <a:t> </a:t>
            </a:r>
            <a:r>
              <a:rPr sz="1400" spc="-5" dirty="0">
                <a:latin typeface="Tahoma"/>
                <a:cs typeface="Tahoma"/>
              </a:rPr>
              <a:t>A,9157</a:t>
            </a:r>
            <a:endParaRPr sz="1400">
              <a:latin typeface="Tahoma"/>
              <a:cs typeface="Tahoma"/>
            </a:endParaRPr>
          </a:p>
        </p:txBody>
      </p:sp>
      <p:sp>
        <p:nvSpPr>
          <p:cNvPr id="55" name="object 55"/>
          <p:cNvSpPr txBox="1"/>
          <p:nvPr/>
        </p:nvSpPr>
        <p:spPr>
          <a:xfrm>
            <a:off x="701301" y="5134609"/>
            <a:ext cx="838200" cy="739140"/>
          </a:xfrm>
          <a:prstGeom prst="rect">
            <a:avLst/>
          </a:prstGeom>
        </p:spPr>
        <p:txBody>
          <a:bodyPr vert="horz" wrap="square" lIns="0" tIns="67310" rIns="0" bIns="0" rtlCol="0">
            <a:spAutoFit/>
          </a:bodyPr>
          <a:lstStyle/>
          <a:p>
            <a:pPr marL="12700" marR="5080" indent="3175" algn="ctr">
              <a:lnSpc>
                <a:spcPct val="80000"/>
              </a:lnSpc>
              <a:spcBef>
                <a:spcPts val="530"/>
              </a:spcBef>
            </a:pPr>
            <a:r>
              <a:rPr sz="1800" spc="-5" dirty="0">
                <a:latin typeface="Arial"/>
                <a:cs typeface="Arial"/>
              </a:rPr>
              <a:t>host: IP  address  </a:t>
            </a:r>
            <a:r>
              <a:rPr sz="1800" dirty="0">
                <a:latin typeface="Arial"/>
                <a:cs typeface="Arial"/>
              </a:rPr>
              <a:t>A</a:t>
            </a:r>
            <a:endParaRPr sz="1800">
              <a:latin typeface="Arial"/>
              <a:cs typeface="Arial"/>
            </a:endParaRPr>
          </a:p>
        </p:txBody>
      </p:sp>
      <p:sp>
        <p:nvSpPr>
          <p:cNvPr id="56" name="object 56"/>
          <p:cNvSpPr txBox="1"/>
          <p:nvPr/>
        </p:nvSpPr>
        <p:spPr>
          <a:xfrm>
            <a:off x="8457699" y="5031740"/>
            <a:ext cx="838200" cy="739140"/>
          </a:xfrm>
          <a:prstGeom prst="rect">
            <a:avLst/>
          </a:prstGeom>
        </p:spPr>
        <p:txBody>
          <a:bodyPr vert="horz" wrap="square" lIns="0" tIns="67310" rIns="0" bIns="0" rtlCol="0">
            <a:spAutoFit/>
          </a:bodyPr>
          <a:lstStyle/>
          <a:p>
            <a:pPr marL="12700" marR="5080" indent="3175" algn="ctr">
              <a:lnSpc>
                <a:spcPct val="80000"/>
              </a:lnSpc>
              <a:spcBef>
                <a:spcPts val="530"/>
              </a:spcBef>
            </a:pPr>
            <a:r>
              <a:rPr sz="1800" spc="-5" dirty="0">
                <a:latin typeface="Arial"/>
                <a:cs typeface="Arial"/>
              </a:rPr>
              <a:t>host: IP  address  </a:t>
            </a:r>
            <a:r>
              <a:rPr sz="1800" dirty="0">
                <a:latin typeface="Arial"/>
                <a:cs typeface="Arial"/>
              </a:rPr>
              <a:t>C</a:t>
            </a:r>
            <a:endParaRPr sz="1800">
              <a:latin typeface="Arial"/>
              <a:cs typeface="Arial"/>
            </a:endParaRPr>
          </a:p>
        </p:txBody>
      </p:sp>
      <p:sp>
        <p:nvSpPr>
          <p:cNvPr id="57" name="object 57"/>
          <p:cNvSpPr/>
          <p:nvPr/>
        </p:nvSpPr>
        <p:spPr>
          <a:xfrm>
            <a:off x="3812285" y="3889628"/>
            <a:ext cx="2233930" cy="0"/>
          </a:xfrm>
          <a:custGeom>
            <a:avLst/>
            <a:gdLst/>
            <a:ahLst/>
            <a:cxnLst/>
            <a:rect l="l" t="t" r="r" b="b"/>
            <a:pathLst>
              <a:path w="2233929">
                <a:moveTo>
                  <a:pt x="0" y="0"/>
                </a:moveTo>
                <a:lnTo>
                  <a:pt x="2233422" y="0"/>
                </a:lnTo>
              </a:path>
            </a:pathLst>
          </a:custGeom>
          <a:ln w="19050">
            <a:solidFill>
              <a:srgbClr val="000000"/>
            </a:solidFill>
          </a:ln>
        </p:spPr>
        <p:txBody>
          <a:bodyPr wrap="square" lIns="0" tIns="0" rIns="0" bIns="0" rtlCol="0"/>
          <a:lstStyle/>
          <a:p>
            <a:endParaRPr/>
          </a:p>
        </p:txBody>
      </p:sp>
      <p:sp>
        <p:nvSpPr>
          <p:cNvPr id="58" name="object 58"/>
          <p:cNvSpPr/>
          <p:nvPr/>
        </p:nvSpPr>
        <p:spPr>
          <a:xfrm>
            <a:off x="3827526" y="3587877"/>
            <a:ext cx="2234565" cy="0"/>
          </a:xfrm>
          <a:custGeom>
            <a:avLst/>
            <a:gdLst/>
            <a:ahLst/>
            <a:cxnLst/>
            <a:rect l="l" t="t" r="r" b="b"/>
            <a:pathLst>
              <a:path w="2234565">
                <a:moveTo>
                  <a:pt x="0" y="0"/>
                </a:moveTo>
                <a:lnTo>
                  <a:pt x="2234183" y="0"/>
                </a:lnTo>
              </a:path>
            </a:pathLst>
          </a:custGeom>
          <a:ln w="19050">
            <a:solidFill>
              <a:srgbClr val="000000"/>
            </a:solidFill>
          </a:ln>
        </p:spPr>
        <p:txBody>
          <a:bodyPr wrap="square" lIns="0" tIns="0" rIns="0" bIns="0" rtlCol="0"/>
          <a:lstStyle/>
          <a:p>
            <a:endParaRPr/>
          </a:p>
        </p:txBody>
      </p:sp>
      <p:sp>
        <p:nvSpPr>
          <p:cNvPr id="59" name="object 59"/>
          <p:cNvSpPr txBox="1"/>
          <p:nvPr/>
        </p:nvSpPr>
        <p:spPr>
          <a:xfrm>
            <a:off x="3890009" y="3284473"/>
            <a:ext cx="2254250" cy="238760"/>
          </a:xfrm>
          <a:prstGeom prst="rect">
            <a:avLst/>
          </a:prstGeom>
        </p:spPr>
        <p:txBody>
          <a:bodyPr vert="horz" wrap="square" lIns="0" tIns="12065" rIns="0" bIns="0" rtlCol="0">
            <a:spAutoFit/>
          </a:bodyPr>
          <a:lstStyle/>
          <a:p>
            <a:pPr marL="666750">
              <a:lnSpc>
                <a:spcPct val="100000"/>
              </a:lnSpc>
              <a:spcBef>
                <a:spcPts val="95"/>
              </a:spcBef>
            </a:pPr>
            <a:r>
              <a:rPr sz="1400" spc="-5" dirty="0">
                <a:latin typeface="Tahoma"/>
                <a:cs typeface="Tahoma"/>
              </a:rPr>
              <a:t>network</a:t>
            </a:r>
            <a:endParaRPr sz="1400">
              <a:latin typeface="Tahoma"/>
              <a:cs typeface="Tahoma"/>
            </a:endParaRPr>
          </a:p>
        </p:txBody>
      </p:sp>
      <p:sp>
        <p:nvSpPr>
          <p:cNvPr id="60" name="object 60"/>
          <p:cNvSpPr/>
          <p:nvPr/>
        </p:nvSpPr>
        <p:spPr>
          <a:xfrm>
            <a:off x="3831335" y="3265551"/>
            <a:ext cx="2233930" cy="0"/>
          </a:xfrm>
          <a:custGeom>
            <a:avLst/>
            <a:gdLst/>
            <a:ahLst/>
            <a:cxnLst/>
            <a:rect l="l" t="t" r="r" b="b"/>
            <a:pathLst>
              <a:path w="2233929">
                <a:moveTo>
                  <a:pt x="0" y="0"/>
                </a:moveTo>
                <a:lnTo>
                  <a:pt x="2233422" y="0"/>
                </a:lnTo>
              </a:path>
            </a:pathLst>
          </a:custGeom>
          <a:ln w="19050">
            <a:solidFill>
              <a:srgbClr val="000000"/>
            </a:solidFill>
          </a:ln>
        </p:spPr>
        <p:txBody>
          <a:bodyPr wrap="square" lIns="0" tIns="0" rIns="0" bIns="0" rtlCol="0"/>
          <a:lstStyle/>
          <a:p>
            <a:endParaRPr/>
          </a:p>
        </p:txBody>
      </p:sp>
      <p:sp>
        <p:nvSpPr>
          <p:cNvPr id="61" name="object 61"/>
          <p:cNvSpPr/>
          <p:nvPr/>
        </p:nvSpPr>
        <p:spPr>
          <a:xfrm>
            <a:off x="5859779" y="2943225"/>
            <a:ext cx="208279" cy="0"/>
          </a:xfrm>
          <a:custGeom>
            <a:avLst/>
            <a:gdLst/>
            <a:ahLst/>
            <a:cxnLst/>
            <a:rect l="l" t="t" r="r" b="b"/>
            <a:pathLst>
              <a:path w="208279">
                <a:moveTo>
                  <a:pt x="0" y="0"/>
                </a:moveTo>
                <a:lnTo>
                  <a:pt x="208026" y="0"/>
                </a:lnTo>
              </a:path>
            </a:pathLst>
          </a:custGeom>
          <a:ln w="19050">
            <a:solidFill>
              <a:srgbClr val="000000"/>
            </a:solidFill>
          </a:ln>
        </p:spPr>
        <p:txBody>
          <a:bodyPr wrap="square" lIns="0" tIns="0" rIns="0" bIns="0" rtlCol="0"/>
          <a:lstStyle/>
          <a:p>
            <a:endParaRPr/>
          </a:p>
        </p:txBody>
      </p:sp>
      <p:sp>
        <p:nvSpPr>
          <p:cNvPr id="62" name="object 62"/>
          <p:cNvSpPr/>
          <p:nvPr/>
        </p:nvSpPr>
        <p:spPr>
          <a:xfrm>
            <a:off x="5188458" y="2943225"/>
            <a:ext cx="198120" cy="0"/>
          </a:xfrm>
          <a:custGeom>
            <a:avLst/>
            <a:gdLst/>
            <a:ahLst/>
            <a:cxnLst/>
            <a:rect l="l" t="t" r="r" b="b"/>
            <a:pathLst>
              <a:path w="198120">
                <a:moveTo>
                  <a:pt x="0" y="0"/>
                </a:moveTo>
                <a:lnTo>
                  <a:pt x="198120" y="0"/>
                </a:lnTo>
              </a:path>
            </a:pathLst>
          </a:custGeom>
          <a:ln w="19050">
            <a:solidFill>
              <a:srgbClr val="000000"/>
            </a:solidFill>
          </a:ln>
        </p:spPr>
        <p:txBody>
          <a:bodyPr wrap="square" lIns="0" tIns="0" rIns="0" bIns="0" rtlCol="0"/>
          <a:lstStyle/>
          <a:p>
            <a:endParaRPr/>
          </a:p>
        </p:txBody>
      </p:sp>
      <p:sp>
        <p:nvSpPr>
          <p:cNvPr id="63" name="object 63"/>
          <p:cNvSpPr/>
          <p:nvPr/>
        </p:nvSpPr>
        <p:spPr>
          <a:xfrm>
            <a:off x="4483608" y="2943225"/>
            <a:ext cx="231775" cy="0"/>
          </a:xfrm>
          <a:custGeom>
            <a:avLst/>
            <a:gdLst/>
            <a:ahLst/>
            <a:cxnLst/>
            <a:rect l="l" t="t" r="r" b="b"/>
            <a:pathLst>
              <a:path w="231775">
                <a:moveTo>
                  <a:pt x="0" y="0"/>
                </a:moveTo>
                <a:lnTo>
                  <a:pt x="231648" y="0"/>
                </a:lnTo>
              </a:path>
            </a:pathLst>
          </a:custGeom>
          <a:ln w="19050">
            <a:solidFill>
              <a:srgbClr val="000000"/>
            </a:solidFill>
          </a:ln>
        </p:spPr>
        <p:txBody>
          <a:bodyPr wrap="square" lIns="0" tIns="0" rIns="0" bIns="0" rtlCol="0"/>
          <a:lstStyle/>
          <a:p>
            <a:endParaRPr/>
          </a:p>
        </p:txBody>
      </p:sp>
      <p:sp>
        <p:nvSpPr>
          <p:cNvPr id="64" name="object 64"/>
          <p:cNvSpPr/>
          <p:nvPr/>
        </p:nvSpPr>
        <p:spPr>
          <a:xfrm>
            <a:off x="3834384" y="2943225"/>
            <a:ext cx="176530" cy="0"/>
          </a:xfrm>
          <a:custGeom>
            <a:avLst/>
            <a:gdLst/>
            <a:ahLst/>
            <a:cxnLst/>
            <a:rect l="l" t="t" r="r" b="b"/>
            <a:pathLst>
              <a:path w="176529">
                <a:moveTo>
                  <a:pt x="0" y="0"/>
                </a:moveTo>
                <a:lnTo>
                  <a:pt x="176021" y="0"/>
                </a:lnTo>
              </a:path>
            </a:pathLst>
          </a:custGeom>
          <a:ln w="19050">
            <a:solidFill>
              <a:srgbClr val="000000"/>
            </a:solidFill>
          </a:ln>
        </p:spPr>
        <p:txBody>
          <a:bodyPr wrap="square" lIns="0" tIns="0" rIns="0" bIns="0" rtlCol="0"/>
          <a:lstStyle/>
          <a:p>
            <a:endParaRPr/>
          </a:p>
        </p:txBody>
      </p:sp>
      <p:sp>
        <p:nvSpPr>
          <p:cNvPr id="65" name="object 65"/>
          <p:cNvSpPr/>
          <p:nvPr/>
        </p:nvSpPr>
        <p:spPr>
          <a:xfrm>
            <a:off x="4010405" y="2805683"/>
            <a:ext cx="473709" cy="228600"/>
          </a:xfrm>
          <a:custGeom>
            <a:avLst/>
            <a:gdLst/>
            <a:ahLst/>
            <a:cxnLst/>
            <a:rect l="l" t="t" r="r" b="b"/>
            <a:pathLst>
              <a:path w="473710" h="228600">
                <a:moveTo>
                  <a:pt x="0" y="0"/>
                </a:moveTo>
                <a:lnTo>
                  <a:pt x="0" y="228600"/>
                </a:lnTo>
                <a:lnTo>
                  <a:pt x="473201" y="228600"/>
                </a:lnTo>
                <a:lnTo>
                  <a:pt x="473201" y="0"/>
                </a:lnTo>
                <a:lnTo>
                  <a:pt x="0" y="0"/>
                </a:lnTo>
                <a:close/>
              </a:path>
            </a:pathLst>
          </a:custGeom>
          <a:solidFill>
            <a:srgbClr val="FFFF00"/>
          </a:solidFill>
        </p:spPr>
        <p:txBody>
          <a:bodyPr wrap="square" lIns="0" tIns="0" rIns="0" bIns="0" rtlCol="0"/>
          <a:lstStyle/>
          <a:p>
            <a:endParaRPr/>
          </a:p>
        </p:txBody>
      </p:sp>
      <p:sp>
        <p:nvSpPr>
          <p:cNvPr id="66" name="object 66"/>
          <p:cNvSpPr/>
          <p:nvPr/>
        </p:nvSpPr>
        <p:spPr>
          <a:xfrm>
            <a:off x="4005834" y="2800350"/>
            <a:ext cx="482600" cy="238760"/>
          </a:xfrm>
          <a:custGeom>
            <a:avLst/>
            <a:gdLst/>
            <a:ahLst/>
            <a:cxnLst/>
            <a:rect l="l" t="t" r="r" b="b"/>
            <a:pathLst>
              <a:path w="482600" h="238760">
                <a:moveTo>
                  <a:pt x="482346" y="238505"/>
                </a:moveTo>
                <a:lnTo>
                  <a:pt x="482346" y="0"/>
                </a:lnTo>
                <a:lnTo>
                  <a:pt x="0" y="0"/>
                </a:lnTo>
                <a:lnTo>
                  <a:pt x="0" y="238505"/>
                </a:lnTo>
                <a:lnTo>
                  <a:pt x="4571" y="238505"/>
                </a:lnTo>
                <a:lnTo>
                  <a:pt x="4571" y="9905"/>
                </a:lnTo>
                <a:lnTo>
                  <a:pt x="9143" y="5333"/>
                </a:lnTo>
                <a:lnTo>
                  <a:pt x="9143" y="9905"/>
                </a:lnTo>
                <a:lnTo>
                  <a:pt x="473201" y="9905"/>
                </a:lnTo>
                <a:lnTo>
                  <a:pt x="473201" y="5333"/>
                </a:lnTo>
                <a:lnTo>
                  <a:pt x="477774" y="9905"/>
                </a:lnTo>
                <a:lnTo>
                  <a:pt x="477774" y="238505"/>
                </a:lnTo>
                <a:lnTo>
                  <a:pt x="482346" y="238505"/>
                </a:lnTo>
                <a:close/>
              </a:path>
              <a:path w="482600" h="238760">
                <a:moveTo>
                  <a:pt x="9143" y="9905"/>
                </a:moveTo>
                <a:lnTo>
                  <a:pt x="9143" y="5333"/>
                </a:lnTo>
                <a:lnTo>
                  <a:pt x="4571" y="9905"/>
                </a:lnTo>
                <a:lnTo>
                  <a:pt x="9143" y="9905"/>
                </a:lnTo>
                <a:close/>
              </a:path>
              <a:path w="482600" h="238760">
                <a:moveTo>
                  <a:pt x="9143" y="228599"/>
                </a:moveTo>
                <a:lnTo>
                  <a:pt x="9143" y="9905"/>
                </a:lnTo>
                <a:lnTo>
                  <a:pt x="4571" y="9905"/>
                </a:lnTo>
                <a:lnTo>
                  <a:pt x="4571" y="228599"/>
                </a:lnTo>
                <a:lnTo>
                  <a:pt x="9143" y="228599"/>
                </a:lnTo>
                <a:close/>
              </a:path>
              <a:path w="482600" h="238760">
                <a:moveTo>
                  <a:pt x="477774" y="228599"/>
                </a:moveTo>
                <a:lnTo>
                  <a:pt x="4571" y="228599"/>
                </a:lnTo>
                <a:lnTo>
                  <a:pt x="9143" y="233933"/>
                </a:lnTo>
                <a:lnTo>
                  <a:pt x="9143" y="238505"/>
                </a:lnTo>
                <a:lnTo>
                  <a:pt x="473201" y="238505"/>
                </a:lnTo>
                <a:lnTo>
                  <a:pt x="473201" y="233933"/>
                </a:lnTo>
                <a:lnTo>
                  <a:pt x="477774" y="228599"/>
                </a:lnTo>
                <a:close/>
              </a:path>
              <a:path w="482600" h="238760">
                <a:moveTo>
                  <a:pt x="9143" y="238505"/>
                </a:moveTo>
                <a:lnTo>
                  <a:pt x="9143" y="233933"/>
                </a:lnTo>
                <a:lnTo>
                  <a:pt x="4571" y="228599"/>
                </a:lnTo>
                <a:lnTo>
                  <a:pt x="4571" y="238505"/>
                </a:lnTo>
                <a:lnTo>
                  <a:pt x="9143" y="238505"/>
                </a:lnTo>
                <a:close/>
              </a:path>
              <a:path w="482600" h="238760">
                <a:moveTo>
                  <a:pt x="477774" y="9905"/>
                </a:moveTo>
                <a:lnTo>
                  <a:pt x="473201" y="5333"/>
                </a:lnTo>
                <a:lnTo>
                  <a:pt x="473201" y="9905"/>
                </a:lnTo>
                <a:lnTo>
                  <a:pt x="477774" y="9905"/>
                </a:lnTo>
                <a:close/>
              </a:path>
              <a:path w="482600" h="238760">
                <a:moveTo>
                  <a:pt x="477774" y="228599"/>
                </a:moveTo>
                <a:lnTo>
                  <a:pt x="477774" y="9905"/>
                </a:lnTo>
                <a:lnTo>
                  <a:pt x="473201" y="9905"/>
                </a:lnTo>
                <a:lnTo>
                  <a:pt x="473201" y="228599"/>
                </a:lnTo>
                <a:lnTo>
                  <a:pt x="477774" y="228599"/>
                </a:lnTo>
                <a:close/>
              </a:path>
              <a:path w="482600" h="238760">
                <a:moveTo>
                  <a:pt x="477774" y="238505"/>
                </a:moveTo>
                <a:lnTo>
                  <a:pt x="477774" y="228599"/>
                </a:lnTo>
                <a:lnTo>
                  <a:pt x="473201" y="233933"/>
                </a:lnTo>
                <a:lnTo>
                  <a:pt x="473201" y="238505"/>
                </a:lnTo>
                <a:lnTo>
                  <a:pt x="477774" y="238505"/>
                </a:lnTo>
                <a:close/>
              </a:path>
            </a:pathLst>
          </a:custGeom>
          <a:solidFill>
            <a:srgbClr val="000000"/>
          </a:solidFill>
        </p:spPr>
        <p:txBody>
          <a:bodyPr wrap="square" lIns="0" tIns="0" rIns="0" bIns="0" rtlCol="0"/>
          <a:lstStyle/>
          <a:p>
            <a:endParaRPr/>
          </a:p>
        </p:txBody>
      </p:sp>
      <p:sp>
        <p:nvSpPr>
          <p:cNvPr id="67" name="object 67"/>
          <p:cNvSpPr/>
          <p:nvPr/>
        </p:nvSpPr>
        <p:spPr>
          <a:xfrm>
            <a:off x="4103370" y="2835401"/>
            <a:ext cx="281940" cy="173990"/>
          </a:xfrm>
          <a:custGeom>
            <a:avLst/>
            <a:gdLst/>
            <a:ahLst/>
            <a:cxnLst/>
            <a:rect l="l" t="t" r="r" b="b"/>
            <a:pathLst>
              <a:path w="281939" h="173989">
                <a:moveTo>
                  <a:pt x="0" y="0"/>
                </a:moveTo>
                <a:lnTo>
                  <a:pt x="0" y="173735"/>
                </a:lnTo>
                <a:lnTo>
                  <a:pt x="281939" y="173735"/>
                </a:lnTo>
                <a:lnTo>
                  <a:pt x="281939" y="0"/>
                </a:lnTo>
                <a:lnTo>
                  <a:pt x="0" y="0"/>
                </a:lnTo>
                <a:close/>
              </a:path>
            </a:pathLst>
          </a:custGeom>
          <a:solidFill>
            <a:srgbClr val="FFFFFF"/>
          </a:solidFill>
        </p:spPr>
        <p:txBody>
          <a:bodyPr wrap="square" lIns="0" tIns="0" rIns="0" bIns="0" rtlCol="0"/>
          <a:lstStyle/>
          <a:p>
            <a:endParaRPr/>
          </a:p>
        </p:txBody>
      </p:sp>
      <p:sp>
        <p:nvSpPr>
          <p:cNvPr id="68" name="object 68"/>
          <p:cNvSpPr/>
          <p:nvPr/>
        </p:nvSpPr>
        <p:spPr>
          <a:xfrm>
            <a:off x="4098035" y="2830067"/>
            <a:ext cx="292100" cy="184150"/>
          </a:xfrm>
          <a:custGeom>
            <a:avLst/>
            <a:gdLst/>
            <a:ahLst/>
            <a:cxnLst/>
            <a:rect l="l" t="t" r="r" b="b"/>
            <a:pathLst>
              <a:path w="292100" h="184150">
                <a:moveTo>
                  <a:pt x="291846" y="183642"/>
                </a:moveTo>
                <a:lnTo>
                  <a:pt x="291846" y="0"/>
                </a:lnTo>
                <a:lnTo>
                  <a:pt x="0" y="0"/>
                </a:lnTo>
                <a:lnTo>
                  <a:pt x="0" y="183642"/>
                </a:lnTo>
                <a:lnTo>
                  <a:pt x="5334" y="183642"/>
                </a:lnTo>
                <a:lnTo>
                  <a:pt x="5334" y="9906"/>
                </a:lnTo>
                <a:lnTo>
                  <a:pt x="9905" y="5333"/>
                </a:lnTo>
                <a:lnTo>
                  <a:pt x="9905" y="9906"/>
                </a:lnTo>
                <a:lnTo>
                  <a:pt x="282701" y="9906"/>
                </a:lnTo>
                <a:lnTo>
                  <a:pt x="282701" y="5333"/>
                </a:lnTo>
                <a:lnTo>
                  <a:pt x="287274" y="9906"/>
                </a:lnTo>
                <a:lnTo>
                  <a:pt x="287274" y="183642"/>
                </a:lnTo>
                <a:lnTo>
                  <a:pt x="291846" y="183642"/>
                </a:lnTo>
                <a:close/>
              </a:path>
              <a:path w="292100" h="184150">
                <a:moveTo>
                  <a:pt x="9905" y="9906"/>
                </a:moveTo>
                <a:lnTo>
                  <a:pt x="9905" y="5333"/>
                </a:lnTo>
                <a:lnTo>
                  <a:pt x="5334" y="9906"/>
                </a:lnTo>
                <a:lnTo>
                  <a:pt x="9905" y="9906"/>
                </a:lnTo>
                <a:close/>
              </a:path>
              <a:path w="292100" h="184150">
                <a:moveTo>
                  <a:pt x="9905" y="173736"/>
                </a:moveTo>
                <a:lnTo>
                  <a:pt x="9905" y="9906"/>
                </a:lnTo>
                <a:lnTo>
                  <a:pt x="5334" y="9906"/>
                </a:lnTo>
                <a:lnTo>
                  <a:pt x="5334" y="173736"/>
                </a:lnTo>
                <a:lnTo>
                  <a:pt x="9905" y="173736"/>
                </a:lnTo>
                <a:close/>
              </a:path>
              <a:path w="292100" h="184150">
                <a:moveTo>
                  <a:pt x="287274" y="173736"/>
                </a:moveTo>
                <a:lnTo>
                  <a:pt x="5334" y="173736"/>
                </a:lnTo>
                <a:lnTo>
                  <a:pt x="9905" y="179069"/>
                </a:lnTo>
                <a:lnTo>
                  <a:pt x="9905" y="183642"/>
                </a:lnTo>
                <a:lnTo>
                  <a:pt x="282701" y="183642"/>
                </a:lnTo>
                <a:lnTo>
                  <a:pt x="282701" y="179069"/>
                </a:lnTo>
                <a:lnTo>
                  <a:pt x="287274" y="173736"/>
                </a:lnTo>
                <a:close/>
              </a:path>
              <a:path w="292100" h="184150">
                <a:moveTo>
                  <a:pt x="9905" y="183642"/>
                </a:moveTo>
                <a:lnTo>
                  <a:pt x="9905" y="179069"/>
                </a:lnTo>
                <a:lnTo>
                  <a:pt x="5334" y="173736"/>
                </a:lnTo>
                <a:lnTo>
                  <a:pt x="5334" y="183642"/>
                </a:lnTo>
                <a:lnTo>
                  <a:pt x="9905" y="183642"/>
                </a:lnTo>
                <a:close/>
              </a:path>
              <a:path w="292100" h="184150">
                <a:moveTo>
                  <a:pt x="287274" y="9906"/>
                </a:moveTo>
                <a:lnTo>
                  <a:pt x="282701" y="5333"/>
                </a:lnTo>
                <a:lnTo>
                  <a:pt x="282701" y="9906"/>
                </a:lnTo>
                <a:lnTo>
                  <a:pt x="287274" y="9906"/>
                </a:lnTo>
                <a:close/>
              </a:path>
              <a:path w="292100" h="184150">
                <a:moveTo>
                  <a:pt x="287274" y="173736"/>
                </a:moveTo>
                <a:lnTo>
                  <a:pt x="287274" y="9906"/>
                </a:lnTo>
                <a:lnTo>
                  <a:pt x="282701" y="9906"/>
                </a:lnTo>
                <a:lnTo>
                  <a:pt x="282701" y="173736"/>
                </a:lnTo>
                <a:lnTo>
                  <a:pt x="287274" y="173736"/>
                </a:lnTo>
                <a:close/>
              </a:path>
              <a:path w="292100" h="184150">
                <a:moveTo>
                  <a:pt x="287274" y="183642"/>
                </a:moveTo>
                <a:lnTo>
                  <a:pt x="287274" y="173736"/>
                </a:lnTo>
                <a:lnTo>
                  <a:pt x="282701" y="179069"/>
                </a:lnTo>
                <a:lnTo>
                  <a:pt x="282701" y="183642"/>
                </a:lnTo>
                <a:lnTo>
                  <a:pt x="287274" y="183642"/>
                </a:lnTo>
                <a:close/>
              </a:path>
            </a:pathLst>
          </a:custGeom>
          <a:solidFill>
            <a:srgbClr val="CC9900"/>
          </a:solidFill>
        </p:spPr>
        <p:txBody>
          <a:bodyPr wrap="square" lIns="0" tIns="0" rIns="0" bIns="0" rtlCol="0"/>
          <a:lstStyle/>
          <a:p>
            <a:endParaRPr/>
          </a:p>
        </p:txBody>
      </p:sp>
      <p:sp>
        <p:nvSpPr>
          <p:cNvPr id="69" name="object 69"/>
          <p:cNvSpPr/>
          <p:nvPr/>
        </p:nvSpPr>
        <p:spPr>
          <a:xfrm>
            <a:off x="4403597" y="2938272"/>
            <a:ext cx="48895" cy="59690"/>
          </a:xfrm>
          <a:custGeom>
            <a:avLst/>
            <a:gdLst/>
            <a:ahLst/>
            <a:cxnLst/>
            <a:rect l="l" t="t" r="r" b="b"/>
            <a:pathLst>
              <a:path w="48895" h="59689">
                <a:moveTo>
                  <a:pt x="0" y="0"/>
                </a:moveTo>
                <a:lnTo>
                  <a:pt x="0" y="59435"/>
                </a:lnTo>
                <a:lnTo>
                  <a:pt x="48767" y="59435"/>
                </a:lnTo>
                <a:lnTo>
                  <a:pt x="48767" y="0"/>
                </a:lnTo>
                <a:lnTo>
                  <a:pt x="0" y="0"/>
                </a:lnTo>
                <a:close/>
              </a:path>
            </a:pathLst>
          </a:custGeom>
          <a:solidFill>
            <a:srgbClr val="CC9900"/>
          </a:solidFill>
        </p:spPr>
        <p:txBody>
          <a:bodyPr wrap="square" lIns="0" tIns="0" rIns="0" bIns="0" rtlCol="0"/>
          <a:lstStyle/>
          <a:p>
            <a:endParaRPr/>
          </a:p>
        </p:txBody>
      </p:sp>
      <p:sp>
        <p:nvSpPr>
          <p:cNvPr id="70" name="object 70"/>
          <p:cNvSpPr/>
          <p:nvPr/>
        </p:nvSpPr>
        <p:spPr>
          <a:xfrm>
            <a:off x="4398264" y="2932938"/>
            <a:ext cx="59055" cy="69850"/>
          </a:xfrm>
          <a:custGeom>
            <a:avLst/>
            <a:gdLst/>
            <a:ahLst/>
            <a:cxnLst/>
            <a:rect l="l" t="t" r="r" b="b"/>
            <a:pathLst>
              <a:path w="59054" h="69850">
                <a:moveTo>
                  <a:pt x="58674" y="69342"/>
                </a:moveTo>
                <a:lnTo>
                  <a:pt x="58674" y="0"/>
                </a:lnTo>
                <a:lnTo>
                  <a:pt x="0" y="0"/>
                </a:lnTo>
                <a:lnTo>
                  <a:pt x="0" y="69342"/>
                </a:lnTo>
                <a:lnTo>
                  <a:pt x="5334" y="69342"/>
                </a:lnTo>
                <a:lnTo>
                  <a:pt x="5334" y="9906"/>
                </a:lnTo>
                <a:lnTo>
                  <a:pt x="9906" y="5334"/>
                </a:lnTo>
                <a:lnTo>
                  <a:pt x="9906" y="9906"/>
                </a:lnTo>
                <a:lnTo>
                  <a:pt x="49530" y="9906"/>
                </a:lnTo>
                <a:lnTo>
                  <a:pt x="49530" y="5334"/>
                </a:lnTo>
                <a:lnTo>
                  <a:pt x="54101" y="9906"/>
                </a:lnTo>
                <a:lnTo>
                  <a:pt x="54101" y="69342"/>
                </a:lnTo>
                <a:lnTo>
                  <a:pt x="58674" y="69342"/>
                </a:lnTo>
                <a:close/>
              </a:path>
              <a:path w="59054" h="69850">
                <a:moveTo>
                  <a:pt x="9906" y="9906"/>
                </a:moveTo>
                <a:lnTo>
                  <a:pt x="9906" y="5334"/>
                </a:lnTo>
                <a:lnTo>
                  <a:pt x="5334" y="9906"/>
                </a:lnTo>
                <a:lnTo>
                  <a:pt x="9906" y="9906"/>
                </a:lnTo>
                <a:close/>
              </a:path>
              <a:path w="59054" h="69850">
                <a:moveTo>
                  <a:pt x="9906" y="59436"/>
                </a:moveTo>
                <a:lnTo>
                  <a:pt x="9906" y="9906"/>
                </a:lnTo>
                <a:lnTo>
                  <a:pt x="5334" y="9906"/>
                </a:lnTo>
                <a:lnTo>
                  <a:pt x="5334" y="59436"/>
                </a:lnTo>
                <a:lnTo>
                  <a:pt x="9906" y="59436"/>
                </a:lnTo>
                <a:close/>
              </a:path>
              <a:path w="59054" h="69850">
                <a:moveTo>
                  <a:pt x="54101" y="59436"/>
                </a:moveTo>
                <a:lnTo>
                  <a:pt x="5334" y="59436"/>
                </a:lnTo>
                <a:lnTo>
                  <a:pt x="9906" y="64770"/>
                </a:lnTo>
                <a:lnTo>
                  <a:pt x="9906" y="69342"/>
                </a:lnTo>
                <a:lnTo>
                  <a:pt x="49530" y="69342"/>
                </a:lnTo>
                <a:lnTo>
                  <a:pt x="49530" y="64770"/>
                </a:lnTo>
                <a:lnTo>
                  <a:pt x="54101" y="59436"/>
                </a:lnTo>
                <a:close/>
              </a:path>
              <a:path w="59054" h="69850">
                <a:moveTo>
                  <a:pt x="9906" y="69342"/>
                </a:moveTo>
                <a:lnTo>
                  <a:pt x="9906" y="64770"/>
                </a:lnTo>
                <a:lnTo>
                  <a:pt x="5334" y="59436"/>
                </a:lnTo>
                <a:lnTo>
                  <a:pt x="5334" y="69342"/>
                </a:lnTo>
                <a:lnTo>
                  <a:pt x="9906" y="69342"/>
                </a:lnTo>
                <a:close/>
              </a:path>
              <a:path w="59054" h="69850">
                <a:moveTo>
                  <a:pt x="54101" y="9906"/>
                </a:moveTo>
                <a:lnTo>
                  <a:pt x="49530" y="5334"/>
                </a:lnTo>
                <a:lnTo>
                  <a:pt x="49530" y="9906"/>
                </a:lnTo>
                <a:lnTo>
                  <a:pt x="54101" y="9906"/>
                </a:lnTo>
                <a:close/>
              </a:path>
              <a:path w="59054" h="69850">
                <a:moveTo>
                  <a:pt x="54101" y="59436"/>
                </a:moveTo>
                <a:lnTo>
                  <a:pt x="54101" y="9906"/>
                </a:lnTo>
                <a:lnTo>
                  <a:pt x="49530" y="9906"/>
                </a:lnTo>
                <a:lnTo>
                  <a:pt x="49530" y="59436"/>
                </a:lnTo>
                <a:lnTo>
                  <a:pt x="54101" y="59436"/>
                </a:lnTo>
                <a:close/>
              </a:path>
              <a:path w="59054" h="69850">
                <a:moveTo>
                  <a:pt x="54101" y="69342"/>
                </a:moveTo>
                <a:lnTo>
                  <a:pt x="54101" y="59436"/>
                </a:lnTo>
                <a:lnTo>
                  <a:pt x="49530" y="64770"/>
                </a:lnTo>
                <a:lnTo>
                  <a:pt x="49530" y="69342"/>
                </a:lnTo>
                <a:lnTo>
                  <a:pt x="54101" y="69342"/>
                </a:lnTo>
                <a:close/>
              </a:path>
            </a:pathLst>
          </a:custGeom>
          <a:solidFill>
            <a:srgbClr val="CC9900"/>
          </a:solidFill>
        </p:spPr>
        <p:txBody>
          <a:bodyPr wrap="square" lIns="0" tIns="0" rIns="0" bIns="0" rtlCol="0"/>
          <a:lstStyle/>
          <a:p>
            <a:endParaRPr/>
          </a:p>
        </p:txBody>
      </p:sp>
      <p:sp>
        <p:nvSpPr>
          <p:cNvPr id="71" name="object 71"/>
          <p:cNvSpPr/>
          <p:nvPr/>
        </p:nvSpPr>
        <p:spPr>
          <a:xfrm>
            <a:off x="4030217" y="2940557"/>
            <a:ext cx="49530" cy="62230"/>
          </a:xfrm>
          <a:custGeom>
            <a:avLst/>
            <a:gdLst/>
            <a:ahLst/>
            <a:cxnLst/>
            <a:rect l="l" t="t" r="r" b="b"/>
            <a:pathLst>
              <a:path w="49529" h="62230">
                <a:moveTo>
                  <a:pt x="0" y="0"/>
                </a:moveTo>
                <a:lnTo>
                  <a:pt x="0" y="61722"/>
                </a:lnTo>
                <a:lnTo>
                  <a:pt x="49529" y="61722"/>
                </a:lnTo>
                <a:lnTo>
                  <a:pt x="49529" y="0"/>
                </a:lnTo>
                <a:lnTo>
                  <a:pt x="0" y="0"/>
                </a:lnTo>
                <a:close/>
              </a:path>
            </a:pathLst>
          </a:custGeom>
          <a:solidFill>
            <a:srgbClr val="CC9900"/>
          </a:solidFill>
        </p:spPr>
        <p:txBody>
          <a:bodyPr wrap="square" lIns="0" tIns="0" rIns="0" bIns="0" rtlCol="0"/>
          <a:lstStyle/>
          <a:p>
            <a:endParaRPr/>
          </a:p>
        </p:txBody>
      </p:sp>
      <p:sp>
        <p:nvSpPr>
          <p:cNvPr id="72" name="object 72"/>
          <p:cNvSpPr/>
          <p:nvPr/>
        </p:nvSpPr>
        <p:spPr>
          <a:xfrm>
            <a:off x="4025646" y="2935223"/>
            <a:ext cx="59055" cy="71755"/>
          </a:xfrm>
          <a:custGeom>
            <a:avLst/>
            <a:gdLst/>
            <a:ahLst/>
            <a:cxnLst/>
            <a:rect l="l" t="t" r="r" b="b"/>
            <a:pathLst>
              <a:path w="59054" h="71755">
                <a:moveTo>
                  <a:pt x="58674" y="71627"/>
                </a:moveTo>
                <a:lnTo>
                  <a:pt x="58674" y="0"/>
                </a:lnTo>
                <a:lnTo>
                  <a:pt x="0" y="0"/>
                </a:lnTo>
                <a:lnTo>
                  <a:pt x="0" y="71627"/>
                </a:lnTo>
                <a:lnTo>
                  <a:pt x="4571" y="71627"/>
                </a:lnTo>
                <a:lnTo>
                  <a:pt x="4571" y="9905"/>
                </a:lnTo>
                <a:lnTo>
                  <a:pt x="9143" y="5333"/>
                </a:lnTo>
                <a:lnTo>
                  <a:pt x="9143" y="9905"/>
                </a:lnTo>
                <a:lnTo>
                  <a:pt x="48767" y="9905"/>
                </a:lnTo>
                <a:lnTo>
                  <a:pt x="48767" y="5333"/>
                </a:lnTo>
                <a:lnTo>
                  <a:pt x="54101" y="9905"/>
                </a:lnTo>
                <a:lnTo>
                  <a:pt x="54101" y="71627"/>
                </a:lnTo>
                <a:lnTo>
                  <a:pt x="58674" y="71627"/>
                </a:lnTo>
                <a:close/>
              </a:path>
              <a:path w="59054" h="71755">
                <a:moveTo>
                  <a:pt x="9143" y="9905"/>
                </a:moveTo>
                <a:lnTo>
                  <a:pt x="9143" y="5333"/>
                </a:lnTo>
                <a:lnTo>
                  <a:pt x="4571" y="9905"/>
                </a:lnTo>
                <a:lnTo>
                  <a:pt x="9143" y="9905"/>
                </a:lnTo>
                <a:close/>
              </a:path>
              <a:path w="59054" h="71755">
                <a:moveTo>
                  <a:pt x="9143" y="61721"/>
                </a:moveTo>
                <a:lnTo>
                  <a:pt x="9143" y="9905"/>
                </a:lnTo>
                <a:lnTo>
                  <a:pt x="4571" y="9905"/>
                </a:lnTo>
                <a:lnTo>
                  <a:pt x="4571" y="61721"/>
                </a:lnTo>
                <a:lnTo>
                  <a:pt x="9143" y="61721"/>
                </a:lnTo>
                <a:close/>
              </a:path>
              <a:path w="59054" h="71755">
                <a:moveTo>
                  <a:pt x="54101" y="61721"/>
                </a:moveTo>
                <a:lnTo>
                  <a:pt x="4571" y="61721"/>
                </a:lnTo>
                <a:lnTo>
                  <a:pt x="9143" y="67055"/>
                </a:lnTo>
                <a:lnTo>
                  <a:pt x="9143" y="71627"/>
                </a:lnTo>
                <a:lnTo>
                  <a:pt x="48767" y="71627"/>
                </a:lnTo>
                <a:lnTo>
                  <a:pt x="48767" y="67055"/>
                </a:lnTo>
                <a:lnTo>
                  <a:pt x="54101" y="61721"/>
                </a:lnTo>
                <a:close/>
              </a:path>
              <a:path w="59054" h="71755">
                <a:moveTo>
                  <a:pt x="9143" y="71627"/>
                </a:moveTo>
                <a:lnTo>
                  <a:pt x="9143" y="67055"/>
                </a:lnTo>
                <a:lnTo>
                  <a:pt x="4571" y="61721"/>
                </a:lnTo>
                <a:lnTo>
                  <a:pt x="4571" y="71627"/>
                </a:lnTo>
                <a:lnTo>
                  <a:pt x="9143" y="71627"/>
                </a:lnTo>
                <a:close/>
              </a:path>
              <a:path w="59054" h="71755">
                <a:moveTo>
                  <a:pt x="54101" y="9905"/>
                </a:moveTo>
                <a:lnTo>
                  <a:pt x="48767" y="5333"/>
                </a:lnTo>
                <a:lnTo>
                  <a:pt x="48767" y="9905"/>
                </a:lnTo>
                <a:lnTo>
                  <a:pt x="54101" y="9905"/>
                </a:lnTo>
                <a:close/>
              </a:path>
              <a:path w="59054" h="71755">
                <a:moveTo>
                  <a:pt x="54101" y="61721"/>
                </a:moveTo>
                <a:lnTo>
                  <a:pt x="54101" y="9905"/>
                </a:lnTo>
                <a:lnTo>
                  <a:pt x="48767" y="9905"/>
                </a:lnTo>
                <a:lnTo>
                  <a:pt x="48767" y="61721"/>
                </a:lnTo>
                <a:lnTo>
                  <a:pt x="54101" y="61721"/>
                </a:lnTo>
                <a:close/>
              </a:path>
              <a:path w="59054" h="71755">
                <a:moveTo>
                  <a:pt x="54101" y="71627"/>
                </a:moveTo>
                <a:lnTo>
                  <a:pt x="54101" y="61721"/>
                </a:lnTo>
                <a:lnTo>
                  <a:pt x="48767" y="67055"/>
                </a:lnTo>
                <a:lnTo>
                  <a:pt x="48767" y="71627"/>
                </a:lnTo>
                <a:lnTo>
                  <a:pt x="54101" y="71627"/>
                </a:lnTo>
                <a:close/>
              </a:path>
            </a:pathLst>
          </a:custGeom>
          <a:solidFill>
            <a:srgbClr val="CC9900"/>
          </a:solidFill>
        </p:spPr>
        <p:txBody>
          <a:bodyPr wrap="square" lIns="0" tIns="0" rIns="0" bIns="0" rtlCol="0"/>
          <a:lstStyle/>
          <a:p>
            <a:endParaRPr/>
          </a:p>
        </p:txBody>
      </p:sp>
      <p:sp>
        <p:nvSpPr>
          <p:cNvPr id="73" name="object 73"/>
          <p:cNvSpPr/>
          <p:nvPr/>
        </p:nvSpPr>
        <p:spPr>
          <a:xfrm>
            <a:off x="5321808" y="2476500"/>
            <a:ext cx="598170" cy="304800"/>
          </a:xfrm>
          <a:custGeom>
            <a:avLst/>
            <a:gdLst/>
            <a:ahLst/>
            <a:cxnLst/>
            <a:rect l="l" t="t" r="r" b="b"/>
            <a:pathLst>
              <a:path w="598170" h="304800">
                <a:moveTo>
                  <a:pt x="598170" y="152399"/>
                </a:moveTo>
                <a:lnTo>
                  <a:pt x="574643" y="93225"/>
                </a:lnTo>
                <a:lnTo>
                  <a:pt x="510540" y="44767"/>
                </a:lnTo>
                <a:lnTo>
                  <a:pt x="466308" y="26119"/>
                </a:lnTo>
                <a:lnTo>
                  <a:pt x="415575" y="12025"/>
                </a:lnTo>
                <a:lnTo>
                  <a:pt x="359556" y="3110"/>
                </a:lnTo>
                <a:lnTo>
                  <a:pt x="299466" y="0"/>
                </a:lnTo>
                <a:lnTo>
                  <a:pt x="239123" y="3110"/>
                </a:lnTo>
                <a:lnTo>
                  <a:pt x="182915" y="12025"/>
                </a:lnTo>
                <a:lnTo>
                  <a:pt x="132047" y="26119"/>
                </a:lnTo>
                <a:lnTo>
                  <a:pt x="87725" y="44767"/>
                </a:lnTo>
                <a:lnTo>
                  <a:pt x="51153" y="67344"/>
                </a:lnTo>
                <a:lnTo>
                  <a:pt x="6085" y="121786"/>
                </a:lnTo>
                <a:lnTo>
                  <a:pt x="0" y="152400"/>
                </a:lnTo>
                <a:lnTo>
                  <a:pt x="6085" y="183232"/>
                </a:lnTo>
                <a:lnTo>
                  <a:pt x="51153" y="237790"/>
                </a:lnTo>
                <a:lnTo>
                  <a:pt x="87725" y="260318"/>
                </a:lnTo>
                <a:lnTo>
                  <a:pt x="132047" y="278881"/>
                </a:lnTo>
                <a:lnTo>
                  <a:pt x="182915" y="292881"/>
                </a:lnTo>
                <a:lnTo>
                  <a:pt x="239123" y="301720"/>
                </a:lnTo>
                <a:lnTo>
                  <a:pt x="299466" y="304800"/>
                </a:lnTo>
                <a:lnTo>
                  <a:pt x="359556" y="301720"/>
                </a:lnTo>
                <a:lnTo>
                  <a:pt x="415575" y="292881"/>
                </a:lnTo>
                <a:lnTo>
                  <a:pt x="466308" y="278881"/>
                </a:lnTo>
                <a:lnTo>
                  <a:pt x="510540" y="260318"/>
                </a:lnTo>
                <a:lnTo>
                  <a:pt x="547056" y="237790"/>
                </a:lnTo>
                <a:lnTo>
                  <a:pt x="592085" y="183232"/>
                </a:lnTo>
                <a:lnTo>
                  <a:pt x="598170" y="152399"/>
                </a:lnTo>
                <a:close/>
              </a:path>
            </a:pathLst>
          </a:custGeom>
          <a:solidFill>
            <a:srgbClr val="CCFFFF"/>
          </a:solidFill>
        </p:spPr>
        <p:txBody>
          <a:bodyPr wrap="square" lIns="0" tIns="0" rIns="0" bIns="0" rtlCol="0"/>
          <a:lstStyle/>
          <a:p>
            <a:endParaRPr/>
          </a:p>
        </p:txBody>
      </p:sp>
      <p:sp>
        <p:nvSpPr>
          <p:cNvPr id="74" name="object 74"/>
          <p:cNvSpPr/>
          <p:nvPr/>
        </p:nvSpPr>
        <p:spPr>
          <a:xfrm>
            <a:off x="5317235" y="2472466"/>
            <a:ext cx="607695" cy="313690"/>
          </a:xfrm>
          <a:custGeom>
            <a:avLst/>
            <a:gdLst/>
            <a:ahLst/>
            <a:cxnLst/>
            <a:rect l="l" t="t" r="r" b="b"/>
            <a:pathLst>
              <a:path w="607695" h="313689">
                <a:moveTo>
                  <a:pt x="607314" y="164815"/>
                </a:moveTo>
                <a:lnTo>
                  <a:pt x="607314" y="148051"/>
                </a:lnTo>
                <a:lnTo>
                  <a:pt x="605790" y="140431"/>
                </a:lnTo>
                <a:lnTo>
                  <a:pt x="574144" y="84954"/>
                </a:lnTo>
                <a:lnTo>
                  <a:pt x="515924" y="43344"/>
                </a:lnTo>
                <a:lnTo>
                  <a:pt x="479218" y="27741"/>
                </a:lnTo>
                <a:lnTo>
                  <a:pt x="438714" y="15604"/>
                </a:lnTo>
                <a:lnTo>
                  <a:pt x="395359" y="6935"/>
                </a:lnTo>
                <a:lnTo>
                  <a:pt x="350101" y="1734"/>
                </a:lnTo>
                <a:lnTo>
                  <a:pt x="303890" y="0"/>
                </a:lnTo>
                <a:lnTo>
                  <a:pt x="257673" y="1733"/>
                </a:lnTo>
                <a:lnTo>
                  <a:pt x="212398" y="6933"/>
                </a:lnTo>
                <a:lnTo>
                  <a:pt x="169014" y="15602"/>
                </a:lnTo>
                <a:lnTo>
                  <a:pt x="128469" y="27737"/>
                </a:lnTo>
                <a:lnTo>
                  <a:pt x="91712" y="43341"/>
                </a:lnTo>
                <a:lnTo>
                  <a:pt x="33353" y="84951"/>
                </a:lnTo>
                <a:lnTo>
                  <a:pt x="1523" y="140431"/>
                </a:lnTo>
                <a:lnTo>
                  <a:pt x="0" y="148813"/>
                </a:lnTo>
                <a:lnTo>
                  <a:pt x="0" y="165577"/>
                </a:lnTo>
                <a:lnTo>
                  <a:pt x="1524" y="173197"/>
                </a:lnTo>
                <a:lnTo>
                  <a:pt x="3048" y="181579"/>
                </a:lnTo>
                <a:lnTo>
                  <a:pt x="6096" y="189199"/>
                </a:lnTo>
                <a:lnTo>
                  <a:pt x="9144" y="193932"/>
                </a:lnTo>
                <a:lnTo>
                  <a:pt x="9144" y="156433"/>
                </a:lnTo>
                <a:lnTo>
                  <a:pt x="9906" y="148813"/>
                </a:lnTo>
                <a:lnTo>
                  <a:pt x="23850" y="112321"/>
                </a:lnTo>
                <a:lnTo>
                  <a:pt x="73965" y="64308"/>
                </a:lnTo>
                <a:lnTo>
                  <a:pt x="108651" y="45932"/>
                </a:lnTo>
                <a:lnTo>
                  <a:pt x="148256" y="31312"/>
                </a:lnTo>
                <a:lnTo>
                  <a:pt x="191656" y="20451"/>
                </a:lnTo>
                <a:lnTo>
                  <a:pt x="237729" y="13350"/>
                </a:lnTo>
                <a:lnTo>
                  <a:pt x="285351" y="10011"/>
                </a:lnTo>
                <a:lnTo>
                  <a:pt x="333396" y="10436"/>
                </a:lnTo>
                <a:lnTo>
                  <a:pt x="380742" y="14628"/>
                </a:lnTo>
                <a:lnTo>
                  <a:pt x="426264" y="22587"/>
                </a:lnTo>
                <a:lnTo>
                  <a:pt x="468840" y="34316"/>
                </a:lnTo>
                <a:lnTo>
                  <a:pt x="507343" y="49817"/>
                </a:lnTo>
                <a:lnTo>
                  <a:pt x="540652" y="69091"/>
                </a:lnTo>
                <a:lnTo>
                  <a:pt x="587189" y="118969"/>
                </a:lnTo>
                <a:lnTo>
                  <a:pt x="598170" y="149575"/>
                </a:lnTo>
                <a:lnTo>
                  <a:pt x="598170" y="190783"/>
                </a:lnTo>
                <a:lnTo>
                  <a:pt x="607314" y="164815"/>
                </a:lnTo>
                <a:close/>
              </a:path>
              <a:path w="607695" h="313689">
                <a:moveTo>
                  <a:pt x="598170" y="190783"/>
                </a:moveTo>
                <a:lnTo>
                  <a:pt x="598170" y="157195"/>
                </a:lnTo>
                <a:lnTo>
                  <a:pt x="597408" y="164053"/>
                </a:lnTo>
                <a:lnTo>
                  <a:pt x="596646" y="171673"/>
                </a:lnTo>
                <a:lnTo>
                  <a:pt x="579317" y="208290"/>
                </a:lnTo>
                <a:lnTo>
                  <a:pt x="548928" y="238333"/>
                </a:lnTo>
                <a:lnTo>
                  <a:pt x="509271" y="262190"/>
                </a:lnTo>
                <a:lnTo>
                  <a:pt x="464135" y="280247"/>
                </a:lnTo>
                <a:lnTo>
                  <a:pt x="417310" y="292894"/>
                </a:lnTo>
                <a:lnTo>
                  <a:pt x="372587" y="300515"/>
                </a:lnTo>
                <a:lnTo>
                  <a:pt x="333396" y="303517"/>
                </a:lnTo>
                <a:lnTo>
                  <a:pt x="303276" y="304261"/>
                </a:lnTo>
                <a:lnTo>
                  <a:pt x="261570" y="303042"/>
                </a:lnTo>
                <a:lnTo>
                  <a:pt x="214524" y="297428"/>
                </a:lnTo>
                <a:lnTo>
                  <a:pt x="165430" y="286904"/>
                </a:lnTo>
                <a:lnTo>
                  <a:pt x="117585" y="270954"/>
                </a:lnTo>
                <a:lnTo>
                  <a:pt x="74281" y="249062"/>
                </a:lnTo>
                <a:lnTo>
                  <a:pt x="38814" y="220712"/>
                </a:lnTo>
                <a:lnTo>
                  <a:pt x="14478" y="185389"/>
                </a:lnTo>
                <a:lnTo>
                  <a:pt x="10668" y="170911"/>
                </a:lnTo>
                <a:lnTo>
                  <a:pt x="9144" y="164053"/>
                </a:lnTo>
                <a:lnTo>
                  <a:pt x="9144" y="193932"/>
                </a:lnTo>
                <a:lnTo>
                  <a:pt x="27994" y="223200"/>
                </a:lnTo>
                <a:lnTo>
                  <a:pt x="59818" y="251160"/>
                </a:lnTo>
                <a:lnTo>
                  <a:pt x="99070" y="273461"/>
                </a:lnTo>
                <a:lnTo>
                  <a:pt x="143251" y="290483"/>
                </a:lnTo>
                <a:lnTo>
                  <a:pt x="189861" y="302608"/>
                </a:lnTo>
                <a:lnTo>
                  <a:pt x="236401" y="310216"/>
                </a:lnTo>
                <a:lnTo>
                  <a:pt x="280373" y="313688"/>
                </a:lnTo>
                <a:lnTo>
                  <a:pt x="303276" y="313522"/>
                </a:lnTo>
                <a:lnTo>
                  <a:pt x="334518" y="313405"/>
                </a:lnTo>
                <a:lnTo>
                  <a:pt x="389582" y="307738"/>
                </a:lnTo>
                <a:lnTo>
                  <a:pt x="434988" y="298590"/>
                </a:lnTo>
                <a:lnTo>
                  <a:pt x="482020" y="284065"/>
                </a:lnTo>
                <a:lnTo>
                  <a:pt x="526724" y="263796"/>
                </a:lnTo>
                <a:lnTo>
                  <a:pt x="565144" y="237411"/>
                </a:lnTo>
                <a:lnTo>
                  <a:pt x="593325" y="204541"/>
                </a:lnTo>
                <a:lnTo>
                  <a:pt x="598170" y="190783"/>
                </a:lnTo>
                <a:close/>
              </a:path>
            </a:pathLst>
          </a:custGeom>
          <a:solidFill>
            <a:srgbClr val="000000"/>
          </a:solidFill>
        </p:spPr>
        <p:txBody>
          <a:bodyPr wrap="square" lIns="0" tIns="0" rIns="0" bIns="0" rtlCol="0"/>
          <a:lstStyle/>
          <a:p>
            <a:endParaRPr/>
          </a:p>
        </p:txBody>
      </p:sp>
      <p:sp>
        <p:nvSpPr>
          <p:cNvPr id="75" name="object 75"/>
          <p:cNvSpPr/>
          <p:nvPr/>
        </p:nvSpPr>
        <p:spPr>
          <a:xfrm>
            <a:off x="4650485" y="2474976"/>
            <a:ext cx="598170" cy="304800"/>
          </a:xfrm>
          <a:custGeom>
            <a:avLst/>
            <a:gdLst/>
            <a:ahLst/>
            <a:cxnLst/>
            <a:rect l="l" t="t" r="r" b="b"/>
            <a:pathLst>
              <a:path w="598170" h="304800">
                <a:moveTo>
                  <a:pt x="598170" y="152399"/>
                </a:moveTo>
                <a:lnTo>
                  <a:pt x="574631" y="93225"/>
                </a:lnTo>
                <a:lnTo>
                  <a:pt x="510444" y="44767"/>
                </a:lnTo>
                <a:lnTo>
                  <a:pt x="466122" y="26119"/>
                </a:lnTo>
                <a:lnTo>
                  <a:pt x="415254" y="12025"/>
                </a:lnTo>
                <a:lnTo>
                  <a:pt x="359046" y="3110"/>
                </a:lnTo>
                <a:lnTo>
                  <a:pt x="298704" y="0"/>
                </a:lnTo>
                <a:lnTo>
                  <a:pt x="238394" y="3110"/>
                </a:lnTo>
                <a:lnTo>
                  <a:pt x="182272" y="12025"/>
                </a:lnTo>
                <a:lnTo>
                  <a:pt x="131526" y="26119"/>
                </a:lnTo>
                <a:lnTo>
                  <a:pt x="87344" y="44767"/>
                </a:lnTo>
                <a:lnTo>
                  <a:pt x="50912" y="67344"/>
                </a:lnTo>
                <a:lnTo>
                  <a:pt x="6052" y="121786"/>
                </a:lnTo>
                <a:lnTo>
                  <a:pt x="0" y="152400"/>
                </a:lnTo>
                <a:lnTo>
                  <a:pt x="6052" y="183232"/>
                </a:lnTo>
                <a:lnTo>
                  <a:pt x="50912" y="237790"/>
                </a:lnTo>
                <a:lnTo>
                  <a:pt x="87344" y="260318"/>
                </a:lnTo>
                <a:lnTo>
                  <a:pt x="131526" y="278881"/>
                </a:lnTo>
                <a:lnTo>
                  <a:pt x="182272" y="292881"/>
                </a:lnTo>
                <a:lnTo>
                  <a:pt x="238394" y="301720"/>
                </a:lnTo>
                <a:lnTo>
                  <a:pt x="298704" y="304800"/>
                </a:lnTo>
                <a:lnTo>
                  <a:pt x="359046" y="301720"/>
                </a:lnTo>
                <a:lnTo>
                  <a:pt x="415254" y="292881"/>
                </a:lnTo>
                <a:lnTo>
                  <a:pt x="466122" y="278881"/>
                </a:lnTo>
                <a:lnTo>
                  <a:pt x="510444" y="260318"/>
                </a:lnTo>
                <a:lnTo>
                  <a:pt x="547016" y="237790"/>
                </a:lnTo>
                <a:lnTo>
                  <a:pt x="592084" y="183232"/>
                </a:lnTo>
                <a:lnTo>
                  <a:pt x="598170" y="152399"/>
                </a:lnTo>
                <a:close/>
              </a:path>
            </a:pathLst>
          </a:custGeom>
          <a:solidFill>
            <a:srgbClr val="CCFFFF"/>
          </a:solidFill>
        </p:spPr>
        <p:txBody>
          <a:bodyPr wrap="square" lIns="0" tIns="0" rIns="0" bIns="0" rtlCol="0"/>
          <a:lstStyle/>
          <a:p>
            <a:endParaRPr/>
          </a:p>
        </p:txBody>
      </p:sp>
      <p:sp>
        <p:nvSpPr>
          <p:cNvPr id="76" name="object 76"/>
          <p:cNvSpPr/>
          <p:nvPr/>
        </p:nvSpPr>
        <p:spPr>
          <a:xfrm>
            <a:off x="4645152" y="2470746"/>
            <a:ext cx="608330" cy="314325"/>
          </a:xfrm>
          <a:custGeom>
            <a:avLst/>
            <a:gdLst/>
            <a:ahLst/>
            <a:cxnLst/>
            <a:rect l="l" t="t" r="r" b="b"/>
            <a:pathLst>
              <a:path w="608329" h="314325">
                <a:moveTo>
                  <a:pt x="608076" y="165011"/>
                </a:moveTo>
                <a:lnTo>
                  <a:pt x="608076" y="148247"/>
                </a:lnTo>
                <a:lnTo>
                  <a:pt x="606552" y="139865"/>
                </a:lnTo>
                <a:lnTo>
                  <a:pt x="574288" y="84634"/>
                </a:lnTo>
                <a:lnTo>
                  <a:pt x="515867" y="43187"/>
                </a:lnTo>
                <a:lnTo>
                  <a:pt x="479181" y="27638"/>
                </a:lnTo>
                <a:lnTo>
                  <a:pt x="438753" y="15543"/>
                </a:lnTo>
                <a:lnTo>
                  <a:pt x="395519" y="6903"/>
                </a:lnTo>
                <a:lnTo>
                  <a:pt x="350411" y="1721"/>
                </a:lnTo>
                <a:lnTo>
                  <a:pt x="304361" y="0"/>
                </a:lnTo>
                <a:lnTo>
                  <a:pt x="258304" y="1741"/>
                </a:lnTo>
                <a:lnTo>
                  <a:pt x="213172" y="6948"/>
                </a:lnTo>
                <a:lnTo>
                  <a:pt x="169897" y="15622"/>
                </a:lnTo>
                <a:lnTo>
                  <a:pt x="129414" y="27766"/>
                </a:lnTo>
                <a:lnTo>
                  <a:pt x="92655" y="43384"/>
                </a:lnTo>
                <a:lnTo>
                  <a:pt x="34043" y="85045"/>
                </a:lnTo>
                <a:lnTo>
                  <a:pt x="1523" y="140627"/>
                </a:lnTo>
                <a:lnTo>
                  <a:pt x="0" y="157391"/>
                </a:lnTo>
                <a:lnTo>
                  <a:pt x="1524" y="173393"/>
                </a:lnTo>
                <a:lnTo>
                  <a:pt x="3810" y="181775"/>
                </a:lnTo>
                <a:lnTo>
                  <a:pt x="6858" y="189395"/>
                </a:lnTo>
                <a:lnTo>
                  <a:pt x="9906" y="194163"/>
                </a:lnTo>
                <a:lnTo>
                  <a:pt x="9906" y="149009"/>
                </a:lnTo>
                <a:lnTo>
                  <a:pt x="11429" y="142151"/>
                </a:lnTo>
                <a:lnTo>
                  <a:pt x="35323" y="97178"/>
                </a:lnTo>
                <a:lnTo>
                  <a:pt x="70343" y="67292"/>
                </a:lnTo>
                <a:lnTo>
                  <a:pt x="114268" y="44293"/>
                </a:lnTo>
                <a:lnTo>
                  <a:pt x="163348" y="27600"/>
                </a:lnTo>
                <a:lnTo>
                  <a:pt x="213835" y="16634"/>
                </a:lnTo>
                <a:lnTo>
                  <a:pt x="261981" y="10815"/>
                </a:lnTo>
                <a:lnTo>
                  <a:pt x="304038" y="9563"/>
                </a:lnTo>
                <a:lnTo>
                  <a:pt x="320040" y="9601"/>
                </a:lnTo>
                <a:lnTo>
                  <a:pt x="373569" y="13359"/>
                </a:lnTo>
                <a:lnTo>
                  <a:pt x="418252" y="20964"/>
                </a:lnTo>
                <a:lnTo>
                  <a:pt x="464922" y="33562"/>
                </a:lnTo>
                <a:lnTo>
                  <a:pt x="509868" y="51565"/>
                </a:lnTo>
                <a:lnTo>
                  <a:pt x="549394" y="75388"/>
                </a:lnTo>
                <a:lnTo>
                  <a:pt x="579805" y="105445"/>
                </a:lnTo>
                <a:lnTo>
                  <a:pt x="597408" y="142151"/>
                </a:lnTo>
                <a:lnTo>
                  <a:pt x="598932" y="157391"/>
                </a:lnTo>
                <a:lnTo>
                  <a:pt x="598932" y="190804"/>
                </a:lnTo>
                <a:lnTo>
                  <a:pt x="608076" y="165011"/>
                </a:lnTo>
                <a:close/>
              </a:path>
              <a:path w="608329" h="314325">
                <a:moveTo>
                  <a:pt x="598932" y="190804"/>
                </a:moveTo>
                <a:lnTo>
                  <a:pt x="598932" y="157391"/>
                </a:lnTo>
                <a:lnTo>
                  <a:pt x="598170" y="164249"/>
                </a:lnTo>
                <a:lnTo>
                  <a:pt x="597408" y="171869"/>
                </a:lnTo>
                <a:lnTo>
                  <a:pt x="579723" y="208600"/>
                </a:lnTo>
                <a:lnTo>
                  <a:pt x="549289" y="238664"/>
                </a:lnTo>
                <a:lnTo>
                  <a:pt x="509782" y="262480"/>
                </a:lnTo>
                <a:lnTo>
                  <a:pt x="464877" y="280469"/>
                </a:lnTo>
                <a:lnTo>
                  <a:pt x="418248" y="293054"/>
                </a:lnTo>
                <a:lnTo>
                  <a:pt x="373552" y="300657"/>
                </a:lnTo>
                <a:lnTo>
                  <a:pt x="334518" y="303695"/>
                </a:lnTo>
                <a:lnTo>
                  <a:pt x="304038" y="304457"/>
                </a:lnTo>
                <a:lnTo>
                  <a:pt x="262719" y="303320"/>
                </a:lnTo>
                <a:lnTo>
                  <a:pt x="215633" y="297699"/>
                </a:lnTo>
                <a:lnTo>
                  <a:pt x="166254" y="287114"/>
                </a:lnTo>
                <a:lnTo>
                  <a:pt x="118052" y="271088"/>
                </a:lnTo>
                <a:lnTo>
                  <a:pt x="74501" y="249143"/>
                </a:lnTo>
                <a:lnTo>
                  <a:pt x="39073" y="220801"/>
                </a:lnTo>
                <a:lnTo>
                  <a:pt x="15240" y="185585"/>
                </a:lnTo>
                <a:lnTo>
                  <a:pt x="11430" y="171107"/>
                </a:lnTo>
                <a:lnTo>
                  <a:pt x="9906" y="164249"/>
                </a:lnTo>
                <a:lnTo>
                  <a:pt x="28393" y="223083"/>
                </a:lnTo>
                <a:lnTo>
                  <a:pt x="60166" y="250928"/>
                </a:lnTo>
                <a:lnTo>
                  <a:pt x="99573" y="273258"/>
                </a:lnTo>
                <a:lnTo>
                  <a:pt x="144013" y="290398"/>
                </a:lnTo>
                <a:lnTo>
                  <a:pt x="190882" y="302675"/>
                </a:lnTo>
                <a:lnTo>
                  <a:pt x="237577" y="310417"/>
                </a:lnTo>
                <a:lnTo>
                  <a:pt x="281498" y="313950"/>
                </a:lnTo>
                <a:lnTo>
                  <a:pt x="319278" y="313608"/>
                </a:lnTo>
                <a:lnTo>
                  <a:pt x="335280" y="313601"/>
                </a:lnTo>
                <a:lnTo>
                  <a:pt x="390281" y="307906"/>
                </a:lnTo>
                <a:lnTo>
                  <a:pt x="435640" y="298730"/>
                </a:lnTo>
                <a:lnTo>
                  <a:pt x="482645" y="284186"/>
                </a:lnTo>
                <a:lnTo>
                  <a:pt x="527343" y="263907"/>
                </a:lnTo>
                <a:lnTo>
                  <a:pt x="565782" y="237528"/>
                </a:lnTo>
                <a:lnTo>
                  <a:pt x="594010" y="204685"/>
                </a:lnTo>
                <a:lnTo>
                  <a:pt x="598932" y="190804"/>
                </a:lnTo>
                <a:close/>
              </a:path>
            </a:pathLst>
          </a:custGeom>
          <a:solidFill>
            <a:srgbClr val="000000"/>
          </a:solidFill>
        </p:spPr>
        <p:txBody>
          <a:bodyPr wrap="square" lIns="0" tIns="0" rIns="0" bIns="0" rtlCol="0"/>
          <a:lstStyle/>
          <a:p>
            <a:endParaRPr/>
          </a:p>
        </p:txBody>
      </p:sp>
      <p:sp>
        <p:nvSpPr>
          <p:cNvPr id="77" name="object 77"/>
          <p:cNvSpPr txBox="1"/>
          <p:nvPr/>
        </p:nvSpPr>
        <p:spPr>
          <a:xfrm>
            <a:off x="3890009" y="2129007"/>
            <a:ext cx="2254250" cy="629285"/>
          </a:xfrm>
          <a:prstGeom prst="rect">
            <a:avLst/>
          </a:prstGeom>
        </p:spPr>
        <p:txBody>
          <a:bodyPr vert="horz" wrap="square" lIns="0" tIns="80645" rIns="0" bIns="0" rtlCol="0">
            <a:spAutoFit/>
          </a:bodyPr>
          <a:lstStyle/>
          <a:p>
            <a:pPr marR="78740" algn="ctr">
              <a:lnSpc>
                <a:spcPct val="100000"/>
              </a:lnSpc>
              <a:spcBef>
                <a:spcPts val="635"/>
              </a:spcBef>
            </a:pPr>
            <a:r>
              <a:rPr sz="1400" spc="-5" dirty="0">
                <a:latin typeface="Tahoma"/>
                <a:cs typeface="Tahoma"/>
              </a:rPr>
              <a:t>application</a:t>
            </a:r>
            <a:endParaRPr sz="1400">
              <a:latin typeface="Tahoma"/>
              <a:cs typeface="Tahoma"/>
            </a:endParaRPr>
          </a:p>
          <a:p>
            <a:pPr marR="150495" algn="ctr">
              <a:lnSpc>
                <a:spcPct val="100000"/>
              </a:lnSpc>
              <a:spcBef>
                <a:spcPts val="615"/>
              </a:spcBef>
              <a:tabLst>
                <a:tab pos="694690" algn="l"/>
                <a:tab pos="1366520" algn="l"/>
              </a:tabLst>
            </a:pPr>
            <a:r>
              <a:rPr sz="2400" spc="-7" baseline="1736" dirty="0">
                <a:latin typeface="Arial"/>
                <a:cs typeface="Arial"/>
              </a:rPr>
              <a:t>P4	</a:t>
            </a:r>
            <a:r>
              <a:rPr sz="1600" spc="-5" dirty="0">
                <a:latin typeface="Arial"/>
                <a:cs typeface="Arial"/>
              </a:rPr>
              <a:t>P5	P6</a:t>
            </a:r>
            <a:endParaRPr sz="1600">
              <a:latin typeface="Arial"/>
              <a:cs typeface="Arial"/>
            </a:endParaRPr>
          </a:p>
        </p:txBody>
      </p:sp>
      <p:sp>
        <p:nvSpPr>
          <p:cNvPr id="78" name="object 78"/>
          <p:cNvSpPr/>
          <p:nvPr/>
        </p:nvSpPr>
        <p:spPr>
          <a:xfrm>
            <a:off x="4715255" y="2810255"/>
            <a:ext cx="473709" cy="228600"/>
          </a:xfrm>
          <a:custGeom>
            <a:avLst/>
            <a:gdLst/>
            <a:ahLst/>
            <a:cxnLst/>
            <a:rect l="l" t="t" r="r" b="b"/>
            <a:pathLst>
              <a:path w="473710" h="228600">
                <a:moveTo>
                  <a:pt x="0" y="0"/>
                </a:moveTo>
                <a:lnTo>
                  <a:pt x="0" y="228600"/>
                </a:lnTo>
                <a:lnTo>
                  <a:pt x="473201" y="228600"/>
                </a:lnTo>
                <a:lnTo>
                  <a:pt x="473201" y="0"/>
                </a:lnTo>
                <a:lnTo>
                  <a:pt x="0" y="0"/>
                </a:lnTo>
                <a:close/>
              </a:path>
            </a:pathLst>
          </a:custGeom>
          <a:solidFill>
            <a:srgbClr val="FFFF00"/>
          </a:solidFill>
        </p:spPr>
        <p:txBody>
          <a:bodyPr wrap="square" lIns="0" tIns="0" rIns="0" bIns="0" rtlCol="0"/>
          <a:lstStyle/>
          <a:p>
            <a:endParaRPr/>
          </a:p>
        </p:txBody>
      </p:sp>
      <p:sp>
        <p:nvSpPr>
          <p:cNvPr id="79" name="object 79"/>
          <p:cNvSpPr/>
          <p:nvPr/>
        </p:nvSpPr>
        <p:spPr>
          <a:xfrm>
            <a:off x="4710684" y="2805683"/>
            <a:ext cx="482600" cy="238125"/>
          </a:xfrm>
          <a:custGeom>
            <a:avLst/>
            <a:gdLst/>
            <a:ahLst/>
            <a:cxnLst/>
            <a:rect l="l" t="t" r="r" b="b"/>
            <a:pathLst>
              <a:path w="482600" h="238125">
                <a:moveTo>
                  <a:pt x="482346" y="237744"/>
                </a:moveTo>
                <a:lnTo>
                  <a:pt x="482346" y="0"/>
                </a:lnTo>
                <a:lnTo>
                  <a:pt x="0" y="0"/>
                </a:lnTo>
                <a:lnTo>
                  <a:pt x="0" y="237744"/>
                </a:lnTo>
                <a:lnTo>
                  <a:pt x="4571" y="237744"/>
                </a:lnTo>
                <a:lnTo>
                  <a:pt x="4571" y="9143"/>
                </a:lnTo>
                <a:lnTo>
                  <a:pt x="9143" y="4572"/>
                </a:lnTo>
                <a:lnTo>
                  <a:pt x="9143" y="9143"/>
                </a:lnTo>
                <a:lnTo>
                  <a:pt x="473201" y="9143"/>
                </a:lnTo>
                <a:lnTo>
                  <a:pt x="473201" y="4572"/>
                </a:lnTo>
                <a:lnTo>
                  <a:pt x="477774" y="9143"/>
                </a:lnTo>
                <a:lnTo>
                  <a:pt x="477774" y="237744"/>
                </a:lnTo>
                <a:lnTo>
                  <a:pt x="482346" y="237744"/>
                </a:lnTo>
                <a:close/>
              </a:path>
              <a:path w="482600" h="238125">
                <a:moveTo>
                  <a:pt x="9143" y="9143"/>
                </a:moveTo>
                <a:lnTo>
                  <a:pt x="9143" y="4572"/>
                </a:lnTo>
                <a:lnTo>
                  <a:pt x="4571" y="9143"/>
                </a:lnTo>
                <a:lnTo>
                  <a:pt x="9143" y="9143"/>
                </a:lnTo>
                <a:close/>
              </a:path>
              <a:path w="482600" h="238125">
                <a:moveTo>
                  <a:pt x="9143" y="228600"/>
                </a:moveTo>
                <a:lnTo>
                  <a:pt x="9143" y="9143"/>
                </a:lnTo>
                <a:lnTo>
                  <a:pt x="4571" y="9143"/>
                </a:lnTo>
                <a:lnTo>
                  <a:pt x="4571" y="228600"/>
                </a:lnTo>
                <a:lnTo>
                  <a:pt x="9143" y="228600"/>
                </a:lnTo>
                <a:close/>
              </a:path>
              <a:path w="482600" h="238125">
                <a:moveTo>
                  <a:pt x="477774" y="228600"/>
                </a:moveTo>
                <a:lnTo>
                  <a:pt x="4571" y="228600"/>
                </a:lnTo>
                <a:lnTo>
                  <a:pt x="9143" y="233172"/>
                </a:lnTo>
                <a:lnTo>
                  <a:pt x="9143" y="237744"/>
                </a:lnTo>
                <a:lnTo>
                  <a:pt x="473201" y="237744"/>
                </a:lnTo>
                <a:lnTo>
                  <a:pt x="473201" y="233172"/>
                </a:lnTo>
                <a:lnTo>
                  <a:pt x="477774" y="228600"/>
                </a:lnTo>
                <a:close/>
              </a:path>
              <a:path w="482600" h="238125">
                <a:moveTo>
                  <a:pt x="9143" y="237744"/>
                </a:moveTo>
                <a:lnTo>
                  <a:pt x="9143" y="233172"/>
                </a:lnTo>
                <a:lnTo>
                  <a:pt x="4571" y="228600"/>
                </a:lnTo>
                <a:lnTo>
                  <a:pt x="4571" y="237744"/>
                </a:lnTo>
                <a:lnTo>
                  <a:pt x="9143" y="237744"/>
                </a:lnTo>
                <a:close/>
              </a:path>
              <a:path w="482600" h="238125">
                <a:moveTo>
                  <a:pt x="477774" y="9143"/>
                </a:moveTo>
                <a:lnTo>
                  <a:pt x="473201" y="4572"/>
                </a:lnTo>
                <a:lnTo>
                  <a:pt x="473201" y="9143"/>
                </a:lnTo>
                <a:lnTo>
                  <a:pt x="477774" y="9143"/>
                </a:lnTo>
                <a:close/>
              </a:path>
              <a:path w="482600" h="238125">
                <a:moveTo>
                  <a:pt x="477774" y="228600"/>
                </a:moveTo>
                <a:lnTo>
                  <a:pt x="477774" y="9143"/>
                </a:lnTo>
                <a:lnTo>
                  <a:pt x="473201" y="9143"/>
                </a:lnTo>
                <a:lnTo>
                  <a:pt x="473201" y="228600"/>
                </a:lnTo>
                <a:lnTo>
                  <a:pt x="477774" y="228600"/>
                </a:lnTo>
                <a:close/>
              </a:path>
              <a:path w="482600" h="238125">
                <a:moveTo>
                  <a:pt x="477774" y="237744"/>
                </a:moveTo>
                <a:lnTo>
                  <a:pt x="477774" y="228600"/>
                </a:lnTo>
                <a:lnTo>
                  <a:pt x="473201" y="233172"/>
                </a:lnTo>
                <a:lnTo>
                  <a:pt x="473201" y="237744"/>
                </a:lnTo>
                <a:lnTo>
                  <a:pt x="477774" y="237744"/>
                </a:lnTo>
                <a:close/>
              </a:path>
            </a:pathLst>
          </a:custGeom>
          <a:solidFill>
            <a:srgbClr val="000000"/>
          </a:solidFill>
        </p:spPr>
        <p:txBody>
          <a:bodyPr wrap="square" lIns="0" tIns="0" rIns="0" bIns="0" rtlCol="0"/>
          <a:lstStyle/>
          <a:p>
            <a:endParaRPr/>
          </a:p>
        </p:txBody>
      </p:sp>
      <p:sp>
        <p:nvSpPr>
          <p:cNvPr id="80" name="object 80"/>
          <p:cNvSpPr/>
          <p:nvPr/>
        </p:nvSpPr>
        <p:spPr>
          <a:xfrm>
            <a:off x="4808220" y="2839973"/>
            <a:ext cx="281940" cy="173990"/>
          </a:xfrm>
          <a:custGeom>
            <a:avLst/>
            <a:gdLst/>
            <a:ahLst/>
            <a:cxnLst/>
            <a:rect l="l" t="t" r="r" b="b"/>
            <a:pathLst>
              <a:path w="281939" h="173989">
                <a:moveTo>
                  <a:pt x="0" y="0"/>
                </a:moveTo>
                <a:lnTo>
                  <a:pt x="0" y="173735"/>
                </a:lnTo>
                <a:lnTo>
                  <a:pt x="281939" y="173735"/>
                </a:lnTo>
                <a:lnTo>
                  <a:pt x="281939" y="0"/>
                </a:lnTo>
                <a:lnTo>
                  <a:pt x="0" y="0"/>
                </a:lnTo>
                <a:close/>
              </a:path>
            </a:pathLst>
          </a:custGeom>
          <a:solidFill>
            <a:srgbClr val="FFFFFF"/>
          </a:solidFill>
        </p:spPr>
        <p:txBody>
          <a:bodyPr wrap="square" lIns="0" tIns="0" rIns="0" bIns="0" rtlCol="0"/>
          <a:lstStyle/>
          <a:p>
            <a:endParaRPr/>
          </a:p>
        </p:txBody>
      </p:sp>
      <p:sp>
        <p:nvSpPr>
          <p:cNvPr id="81" name="object 81"/>
          <p:cNvSpPr/>
          <p:nvPr/>
        </p:nvSpPr>
        <p:spPr>
          <a:xfrm>
            <a:off x="4802885" y="2835401"/>
            <a:ext cx="292100" cy="182880"/>
          </a:xfrm>
          <a:custGeom>
            <a:avLst/>
            <a:gdLst/>
            <a:ahLst/>
            <a:cxnLst/>
            <a:rect l="l" t="t" r="r" b="b"/>
            <a:pathLst>
              <a:path w="292100" h="182880">
                <a:moveTo>
                  <a:pt x="291846" y="182879"/>
                </a:moveTo>
                <a:lnTo>
                  <a:pt x="291846" y="0"/>
                </a:lnTo>
                <a:lnTo>
                  <a:pt x="0" y="0"/>
                </a:lnTo>
                <a:lnTo>
                  <a:pt x="0" y="182879"/>
                </a:lnTo>
                <a:lnTo>
                  <a:pt x="5334" y="182879"/>
                </a:lnTo>
                <a:lnTo>
                  <a:pt x="5334" y="9143"/>
                </a:lnTo>
                <a:lnTo>
                  <a:pt x="9905" y="4571"/>
                </a:lnTo>
                <a:lnTo>
                  <a:pt x="9905" y="9143"/>
                </a:lnTo>
                <a:lnTo>
                  <a:pt x="282701" y="9143"/>
                </a:lnTo>
                <a:lnTo>
                  <a:pt x="282701" y="4571"/>
                </a:lnTo>
                <a:lnTo>
                  <a:pt x="287274" y="9143"/>
                </a:lnTo>
                <a:lnTo>
                  <a:pt x="287274" y="182879"/>
                </a:lnTo>
                <a:lnTo>
                  <a:pt x="291846" y="182879"/>
                </a:lnTo>
                <a:close/>
              </a:path>
              <a:path w="292100" h="182880">
                <a:moveTo>
                  <a:pt x="9905" y="9143"/>
                </a:moveTo>
                <a:lnTo>
                  <a:pt x="9905" y="4571"/>
                </a:lnTo>
                <a:lnTo>
                  <a:pt x="5334" y="9143"/>
                </a:lnTo>
                <a:lnTo>
                  <a:pt x="9905" y="9143"/>
                </a:lnTo>
                <a:close/>
              </a:path>
              <a:path w="292100" h="182880">
                <a:moveTo>
                  <a:pt x="9905" y="173735"/>
                </a:moveTo>
                <a:lnTo>
                  <a:pt x="9905" y="9143"/>
                </a:lnTo>
                <a:lnTo>
                  <a:pt x="5334" y="9143"/>
                </a:lnTo>
                <a:lnTo>
                  <a:pt x="5334" y="173735"/>
                </a:lnTo>
                <a:lnTo>
                  <a:pt x="9905" y="173735"/>
                </a:lnTo>
                <a:close/>
              </a:path>
              <a:path w="292100" h="182880">
                <a:moveTo>
                  <a:pt x="287274" y="173735"/>
                </a:moveTo>
                <a:lnTo>
                  <a:pt x="5334" y="173735"/>
                </a:lnTo>
                <a:lnTo>
                  <a:pt x="9905" y="178307"/>
                </a:lnTo>
                <a:lnTo>
                  <a:pt x="9905" y="182879"/>
                </a:lnTo>
                <a:lnTo>
                  <a:pt x="282701" y="182879"/>
                </a:lnTo>
                <a:lnTo>
                  <a:pt x="282701" y="178307"/>
                </a:lnTo>
                <a:lnTo>
                  <a:pt x="287274" y="173735"/>
                </a:lnTo>
                <a:close/>
              </a:path>
              <a:path w="292100" h="182880">
                <a:moveTo>
                  <a:pt x="9905" y="182879"/>
                </a:moveTo>
                <a:lnTo>
                  <a:pt x="9905" y="178307"/>
                </a:lnTo>
                <a:lnTo>
                  <a:pt x="5334" y="173735"/>
                </a:lnTo>
                <a:lnTo>
                  <a:pt x="5334" y="182879"/>
                </a:lnTo>
                <a:lnTo>
                  <a:pt x="9905" y="182879"/>
                </a:lnTo>
                <a:close/>
              </a:path>
              <a:path w="292100" h="182880">
                <a:moveTo>
                  <a:pt x="287274" y="9143"/>
                </a:moveTo>
                <a:lnTo>
                  <a:pt x="282701" y="4571"/>
                </a:lnTo>
                <a:lnTo>
                  <a:pt x="282701" y="9143"/>
                </a:lnTo>
                <a:lnTo>
                  <a:pt x="287274" y="9143"/>
                </a:lnTo>
                <a:close/>
              </a:path>
              <a:path w="292100" h="182880">
                <a:moveTo>
                  <a:pt x="287274" y="173735"/>
                </a:moveTo>
                <a:lnTo>
                  <a:pt x="287274" y="9143"/>
                </a:lnTo>
                <a:lnTo>
                  <a:pt x="282701" y="9143"/>
                </a:lnTo>
                <a:lnTo>
                  <a:pt x="282701" y="173735"/>
                </a:lnTo>
                <a:lnTo>
                  <a:pt x="287274" y="173735"/>
                </a:lnTo>
                <a:close/>
              </a:path>
              <a:path w="292100" h="182880">
                <a:moveTo>
                  <a:pt x="287274" y="182879"/>
                </a:moveTo>
                <a:lnTo>
                  <a:pt x="287274" y="173735"/>
                </a:lnTo>
                <a:lnTo>
                  <a:pt x="282701" y="178307"/>
                </a:lnTo>
                <a:lnTo>
                  <a:pt x="282701" y="182879"/>
                </a:lnTo>
                <a:lnTo>
                  <a:pt x="287274" y="182879"/>
                </a:lnTo>
                <a:close/>
              </a:path>
            </a:pathLst>
          </a:custGeom>
          <a:solidFill>
            <a:srgbClr val="CC9900"/>
          </a:solidFill>
        </p:spPr>
        <p:txBody>
          <a:bodyPr wrap="square" lIns="0" tIns="0" rIns="0" bIns="0" rtlCol="0"/>
          <a:lstStyle/>
          <a:p>
            <a:endParaRPr/>
          </a:p>
        </p:txBody>
      </p:sp>
      <p:sp>
        <p:nvSpPr>
          <p:cNvPr id="82" name="object 82"/>
          <p:cNvSpPr/>
          <p:nvPr/>
        </p:nvSpPr>
        <p:spPr>
          <a:xfrm>
            <a:off x="5108447" y="2942844"/>
            <a:ext cx="48895" cy="59690"/>
          </a:xfrm>
          <a:custGeom>
            <a:avLst/>
            <a:gdLst/>
            <a:ahLst/>
            <a:cxnLst/>
            <a:rect l="l" t="t" r="r" b="b"/>
            <a:pathLst>
              <a:path w="48895" h="59689">
                <a:moveTo>
                  <a:pt x="0" y="0"/>
                </a:moveTo>
                <a:lnTo>
                  <a:pt x="0" y="59436"/>
                </a:lnTo>
                <a:lnTo>
                  <a:pt x="48767" y="59436"/>
                </a:lnTo>
                <a:lnTo>
                  <a:pt x="48767" y="0"/>
                </a:lnTo>
                <a:lnTo>
                  <a:pt x="0" y="0"/>
                </a:lnTo>
                <a:close/>
              </a:path>
            </a:pathLst>
          </a:custGeom>
          <a:solidFill>
            <a:srgbClr val="CC9900"/>
          </a:solidFill>
        </p:spPr>
        <p:txBody>
          <a:bodyPr wrap="square" lIns="0" tIns="0" rIns="0" bIns="0" rtlCol="0"/>
          <a:lstStyle/>
          <a:p>
            <a:endParaRPr/>
          </a:p>
        </p:txBody>
      </p:sp>
      <p:sp>
        <p:nvSpPr>
          <p:cNvPr id="83" name="object 83"/>
          <p:cNvSpPr/>
          <p:nvPr/>
        </p:nvSpPr>
        <p:spPr>
          <a:xfrm>
            <a:off x="5103114" y="2938272"/>
            <a:ext cx="59055" cy="68580"/>
          </a:xfrm>
          <a:custGeom>
            <a:avLst/>
            <a:gdLst/>
            <a:ahLst/>
            <a:cxnLst/>
            <a:rect l="l" t="t" r="r" b="b"/>
            <a:pathLst>
              <a:path w="59054" h="68580">
                <a:moveTo>
                  <a:pt x="58674" y="68580"/>
                </a:moveTo>
                <a:lnTo>
                  <a:pt x="58674" y="0"/>
                </a:lnTo>
                <a:lnTo>
                  <a:pt x="0" y="0"/>
                </a:lnTo>
                <a:lnTo>
                  <a:pt x="0" y="68580"/>
                </a:lnTo>
                <a:lnTo>
                  <a:pt x="5334" y="68580"/>
                </a:lnTo>
                <a:lnTo>
                  <a:pt x="5334" y="9144"/>
                </a:lnTo>
                <a:lnTo>
                  <a:pt x="9906" y="4572"/>
                </a:lnTo>
                <a:lnTo>
                  <a:pt x="9906" y="9144"/>
                </a:lnTo>
                <a:lnTo>
                  <a:pt x="49530" y="9144"/>
                </a:lnTo>
                <a:lnTo>
                  <a:pt x="49530" y="4572"/>
                </a:lnTo>
                <a:lnTo>
                  <a:pt x="54101" y="9144"/>
                </a:lnTo>
                <a:lnTo>
                  <a:pt x="54101" y="68580"/>
                </a:lnTo>
                <a:lnTo>
                  <a:pt x="58674" y="68580"/>
                </a:lnTo>
                <a:close/>
              </a:path>
              <a:path w="59054" h="68580">
                <a:moveTo>
                  <a:pt x="9906" y="9144"/>
                </a:moveTo>
                <a:lnTo>
                  <a:pt x="9906" y="4572"/>
                </a:lnTo>
                <a:lnTo>
                  <a:pt x="5334" y="9144"/>
                </a:lnTo>
                <a:lnTo>
                  <a:pt x="9906" y="9144"/>
                </a:lnTo>
                <a:close/>
              </a:path>
              <a:path w="59054" h="68580">
                <a:moveTo>
                  <a:pt x="9906" y="59436"/>
                </a:moveTo>
                <a:lnTo>
                  <a:pt x="9906" y="9144"/>
                </a:lnTo>
                <a:lnTo>
                  <a:pt x="5334" y="9144"/>
                </a:lnTo>
                <a:lnTo>
                  <a:pt x="5334" y="59436"/>
                </a:lnTo>
                <a:lnTo>
                  <a:pt x="9906" y="59436"/>
                </a:lnTo>
                <a:close/>
              </a:path>
              <a:path w="59054" h="68580">
                <a:moveTo>
                  <a:pt x="54101" y="59436"/>
                </a:moveTo>
                <a:lnTo>
                  <a:pt x="5334" y="59436"/>
                </a:lnTo>
                <a:lnTo>
                  <a:pt x="9906" y="64008"/>
                </a:lnTo>
                <a:lnTo>
                  <a:pt x="9906" y="68580"/>
                </a:lnTo>
                <a:lnTo>
                  <a:pt x="49530" y="68580"/>
                </a:lnTo>
                <a:lnTo>
                  <a:pt x="49530" y="64008"/>
                </a:lnTo>
                <a:lnTo>
                  <a:pt x="54101" y="59436"/>
                </a:lnTo>
                <a:close/>
              </a:path>
              <a:path w="59054" h="68580">
                <a:moveTo>
                  <a:pt x="9906" y="68580"/>
                </a:moveTo>
                <a:lnTo>
                  <a:pt x="9906" y="64008"/>
                </a:lnTo>
                <a:lnTo>
                  <a:pt x="5334" y="59436"/>
                </a:lnTo>
                <a:lnTo>
                  <a:pt x="5334" y="68580"/>
                </a:lnTo>
                <a:lnTo>
                  <a:pt x="9906" y="68580"/>
                </a:lnTo>
                <a:close/>
              </a:path>
              <a:path w="59054" h="68580">
                <a:moveTo>
                  <a:pt x="54101" y="9144"/>
                </a:moveTo>
                <a:lnTo>
                  <a:pt x="49530" y="4572"/>
                </a:lnTo>
                <a:lnTo>
                  <a:pt x="49530" y="9144"/>
                </a:lnTo>
                <a:lnTo>
                  <a:pt x="54101" y="9144"/>
                </a:lnTo>
                <a:close/>
              </a:path>
              <a:path w="59054" h="68580">
                <a:moveTo>
                  <a:pt x="54101" y="59436"/>
                </a:moveTo>
                <a:lnTo>
                  <a:pt x="54101" y="9144"/>
                </a:lnTo>
                <a:lnTo>
                  <a:pt x="49530" y="9144"/>
                </a:lnTo>
                <a:lnTo>
                  <a:pt x="49530" y="59436"/>
                </a:lnTo>
                <a:lnTo>
                  <a:pt x="54101" y="59436"/>
                </a:lnTo>
                <a:close/>
              </a:path>
              <a:path w="59054" h="68580">
                <a:moveTo>
                  <a:pt x="54101" y="68580"/>
                </a:moveTo>
                <a:lnTo>
                  <a:pt x="54101" y="59436"/>
                </a:lnTo>
                <a:lnTo>
                  <a:pt x="49530" y="64008"/>
                </a:lnTo>
                <a:lnTo>
                  <a:pt x="49530" y="68580"/>
                </a:lnTo>
                <a:lnTo>
                  <a:pt x="54101" y="68580"/>
                </a:lnTo>
                <a:close/>
              </a:path>
            </a:pathLst>
          </a:custGeom>
          <a:solidFill>
            <a:srgbClr val="CC9900"/>
          </a:solidFill>
        </p:spPr>
        <p:txBody>
          <a:bodyPr wrap="square" lIns="0" tIns="0" rIns="0" bIns="0" rtlCol="0"/>
          <a:lstStyle/>
          <a:p>
            <a:endParaRPr/>
          </a:p>
        </p:txBody>
      </p:sp>
      <p:sp>
        <p:nvSpPr>
          <p:cNvPr id="84" name="object 84"/>
          <p:cNvSpPr/>
          <p:nvPr/>
        </p:nvSpPr>
        <p:spPr>
          <a:xfrm>
            <a:off x="4735067" y="2945129"/>
            <a:ext cx="49530" cy="62230"/>
          </a:xfrm>
          <a:custGeom>
            <a:avLst/>
            <a:gdLst/>
            <a:ahLst/>
            <a:cxnLst/>
            <a:rect l="l" t="t" r="r" b="b"/>
            <a:pathLst>
              <a:path w="49529" h="62230">
                <a:moveTo>
                  <a:pt x="0" y="0"/>
                </a:moveTo>
                <a:lnTo>
                  <a:pt x="0" y="61722"/>
                </a:lnTo>
                <a:lnTo>
                  <a:pt x="49529" y="61722"/>
                </a:lnTo>
                <a:lnTo>
                  <a:pt x="49529" y="0"/>
                </a:lnTo>
                <a:lnTo>
                  <a:pt x="0" y="0"/>
                </a:lnTo>
                <a:close/>
              </a:path>
            </a:pathLst>
          </a:custGeom>
          <a:solidFill>
            <a:srgbClr val="CC9900"/>
          </a:solidFill>
        </p:spPr>
        <p:txBody>
          <a:bodyPr wrap="square" lIns="0" tIns="0" rIns="0" bIns="0" rtlCol="0"/>
          <a:lstStyle/>
          <a:p>
            <a:endParaRPr/>
          </a:p>
        </p:txBody>
      </p:sp>
      <p:sp>
        <p:nvSpPr>
          <p:cNvPr id="85" name="object 85"/>
          <p:cNvSpPr/>
          <p:nvPr/>
        </p:nvSpPr>
        <p:spPr>
          <a:xfrm>
            <a:off x="4730496" y="2940557"/>
            <a:ext cx="59055" cy="71120"/>
          </a:xfrm>
          <a:custGeom>
            <a:avLst/>
            <a:gdLst/>
            <a:ahLst/>
            <a:cxnLst/>
            <a:rect l="l" t="t" r="r" b="b"/>
            <a:pathLst>
              <a:path w="59054" h="71119">
                <a:moveTo>
                  <a:pt x="58674" y="70866"/>
                </a:moveTo>
                <a:lnTo>
                  <a:pt x="58674" y="0"/>
                </a:lnTo>
                <a:lnTo>
                  <a:pt x="0" y="0"/>
                </a:lnTo>
                <a:lnTo>
                  <a:pt x="0" y="70866"/>
                </a:lnTo>
                <a:lnTo>
                  <a:pt x="4571" y="70866"/>
                </a:lnTo>
                <a:lnTo>
                  <a:pt x="4571" y="9143"/>
                </a:lnTo>
                <a:lnTo>
                  <a:pt x="9143" y="4572"/>
                </a:lnTo>
                <a:lnTo>
                  <a:pt x="9143" y="9143"/>
                </a:lnTo>
                <a:lnTo>
                  <a:pt x="48767" y="9143"/>
                </a:lnTo>
                <a:lnTo>
                  <a:pt x="48767" y="4572"/>
                </a:lnTo>
                <a:lnTo>
                  <a:pt x="54101" y="9143"/>
                </a:lnTo>
                <a:lnTo>
                  <a:pt x="54101" y="70866"/>
                </a:lnTo>
                <a:lnTo>
                  <a:pt x="58674" y="70866"/>
                </a:lnTo>
                <a:close/>
              </a:path>
              <a:path w="59054" h="71119">
                <a:moveTo>
                  <a:pt x="9143" y="9143"/>
                </a:moveTo>
                <a:lnTo>
                  <a:pt x="9143" y="4572"/>
                </a:lnTo>
                <a:lnTo>
                  <a:pt x="4571" y="9143"/>
                </a:lnTo>
                <a:lnTo>
                  <a:pt x="9143" y="9143"/>
                </a:lnTo>
                <a:close/>
              </a:path>
              <a:path w="59054" h="71119">
                <a:moveTo>
                  <a:pt x="9143" y="61722"/>
                </a:moveTo>
                <a:lnTo>
                  <a:pt x="9143" y="9143"/>
                </a:lnTo>
                <a:lnTo>
                  <a:pt x="4571" y="9143"/>
                </a:lnTo>
                <a:lnTo>
                  <a:pt x="4571" y="61722"/>
                </a:lnTo>
                <a:lnTo>
                  <a:pt x="9143" y="61722"/>
                </a:lnTo>
                <a:close/>
              </a:path>
              <a:path w="59054" h="71119">
                <a:moveTo>
                  <a:pt x="54101" y="61722"/>
                </a:moveTo>
                <a:lnTo>
                  <a:pt x="4571" y="61722"/>
                </a:lnTo>
                <a:lnTo>
                  <a:pt x="9143" y="66293"/>
                </a:lnTo>
                <a:lnTo>
                  <a:pt x="9143" y="70866"/>
                </a:lnTo>
                <a:lnTo>
                  <a:pt x="48767" y="70866"/>
                </a:lnTo>
                <a:lnTo>
                  <a:pt x="48767" y="66293"/>
                </a:lnTo>
                <a:lnTo>
                  <a:pt x="54101" y="61722"/>
                </a:lnTo>
                <a:close/>
              </a:path>
              <a:path w="59054" h="71119">
                <a:moveTo>
                  <a:pt x="9143" y="70866"/>
                </a:moveTo>
                <a:lnTo>
                  <a:pt x="9143" y="66293"/>
                </a:lnTo>
                <a:lnTo>
                  <a:pt x="4571" y="61722"/>
                </a:lnTo>
                <a:lnTo>
                  <a:pt x="4571" y="70866"/>
                </a:lnTo>
                <a:lnTo>
                  <a:pt x="9143" y="70866"/>
                </a:lnTo>
                <a:close/>
              </a:path>
              <a:path w="59054" h="71119">
                <a:moveTo>
                  <a:pt x="54101" y="9143"/>
                </a:moveTo>
                <a:lnTo>
                  <a:pt x="48767" y="4572"/>
                </a:lnTo>
                <a:lnTo>
                  <a:pt x="48767" y="9143"/>
                </a:lnTo>
                <a:lnTo>
                  <a:pt x="54101" y="9143"/>
                </a:lnTo>
                <a:close/>
              </a:path>
              <a:path w="59054" h="71119">
                <a:moveTo>
                  <a:pt x="54101" y="61722"/>
                </a:moveTo>
                <a:lnTo>
                  <a:pt x="54101" y="9143"/>
                </a:lnTo>
                <a:lnTo>
                  <a:pt x="48767" y="9143"/>
                </a:lnTo>
                <a:lnTo>
                  <a:pt x="48767" y="61722"/>
                </a:lnTo>
                <a:lnTo>
                  <a:pt x="54101" y="61722"/>
                </a:lnTo>
                <a:close/>
              </a:path>
              <a:path w="59054" h="71119">
                <a:moveTo>
                  <a:pt x="54101" y="70866"/>
                </a:moveTo>
                <a:lnTo>
                  <a:pt x="54101" y="61722"/>
                </a:lnTo>
                <a:lnTo>
                  <a:pt x="48767" y="66293"/>
                </a:lnTo>
                <a:lnTo>
                  <a:pt x="48767" y="70866"/>
                </a:lnTo>
                <a:lnTo>
                  <a:pt x="54101" y="70866"/>
                </a:lnTo>
                <a:close/>
              </a:path>
            </a:pathLst>
          </a:custGeom>
          <a:solidFill>
            <a:srgbClr val="CC9900"/>
          </a:solidFill>
        </p:spPr>
        <p:txBody>
          <a:bodyPr wrap="square" lIns="0" tIns="0" rIns="0" bIns="0" rtlCol="0"/>
          <a:lstStyle/>
          <a:p>
            <a:endParaRPr/>
          </a:p>
        </p:txBody>
      </p:sp>
      <p:sp>
        <p:nvSpPr>
          <p:cNvPr id="86" name="object 86"/>
          <p:cNvSpPr/>
          <p:nvPr/>
        </p:nvSpPr>
        <p:spPr>
          <a:xfrm>
            <a:off x="5386578" y="2814827"/>
            <a:ext cx="473709" cy="228600"/>
          </a:xfrm>
          <a:custGeom>
            <a:avLst/>
            <a:gdLst/>
            <a:ahLst/>
            <a:cxnLst/>
            <a:rect l="l" t="t" r="r" b="b"/>
            <a:pathLst>
              <a:path w="473710" h="228600">
                <a:moveTo>
                  <a:pt x="0" y="0"/>
                </a:moveTo>
                <a:lnTo>
                  <a:pt x="0" y="228599"/>
                </a:lnTo>
                <a:lnTo>
                  <a:pt x="473201" y="228599"/>
                </a:lnTo>
                <a:lnTo>
                  <a:pt x="473201" y="0"/>
                </a:lnTo>
                <a:lnTo>
                  <a:pt x="0" y="0"/>
                </a:lnTo>
                <a:close/>
              </a:path>
            </a:pathLst>
          </a:custGeom>
          <a:solidFill>
            <a:srgbClr val="FFFF00"/>
          </a:solidFill>
        </p:spPr>
        <p:txBody>
          <a:bodyPr wrap="square" lIns="0" tIns="0" rIns="0" bIns="0" rtlCol="0"/>
          <a:lstStyle/>
          <a:p>
            <a:endParaRPr/>
          </a:p>
        </p:txBody>
      </p:sp>
      <p:sp>
        <p:nvSpPr>
          <p:cNvPr id="87" name="object 87"/>
          <p:cNvSpPr/>
          <p:nvPr/>
        </p:nvSpPr>
        <p:spPr>
          <a:xfrm>
            <a:off x="5382005" y="2810255"/>
            <a:ext cx="482600" cy="238125"/>
          </a:xfrm>
          <a:custGeom>
            <a:avLst/>
            <a:gdLst/>
            <a:ahLst/>
            <a:cxnLst/>
            <a:rect l="l" t="t" r="r" b="b"/>
            <a:pathLst>
              <a:path w="482600" h="238125">
                <a:moveTo>
                  <a:pt x="482346" y="237744"/>
                </a:moveTo>
                <a:lnTo>
                  <a:pt x="482346" y="0"/>
                </a:lnTo>
                <a:lnTo>
                  <a:pt x="0" y="0"/>
                </a:lnTo>
                <a:lnTo>
                  <a:pt x="0" y="237744"/>
                </a:lnTo>
                <a:lnTo>
                  <a:pt x="4572" y="237744"/>
                </a:lnTo>
                <a:lnTo>
                  <a:pt x="4572" y="9143"/>
                </a:lnTo>
                <a:lnTo>
                  <a:pt x="9144" y="4571"/>
                </a:lnTo>
                <a:lnTo>
                  <a:pt x="9144" y="9143"/>
                </a:lnTo>
                <a:lnTo>
                  <a:pt x="473202" y="9143"/>
                </a:lnTo>
                <a:lnTo>
                  <a:pt x="473202" y="4571"/>
                </a:lnTo>
                <a:lnTo>
                  <a:pt x="477774" y="9143"/>
                </a:lnTo>
                <a:lnTo>
                  <a:pt x="477774" y="237744"/>
                </a:lnTo>
                <a:lnTo>
                  <a:pt x="482346" y="237744"/>
                </a:lnTo>
                <a:close/>
              </a:path>
              <a:path w="482600" h="238125">
                <a:moveTo>
                  <a:pt x="9144" y="9143"/>
                </a:moveTo>
                <a:lnTo>
                  <a:pt x="9144" y="4571"/>
                </a:lnTo>
                <a:lnTo>
                  <a:pt x="4572" y="9143"/>
                </a:lnTo>
                <a:lnTo>
                  <a:pt x="9144" y="9143"/>
                </a:lnTo>
                <a:close/>
              </a:path>
              <a:path w="482600" h="238125">
                <a:moveTo>
                  <a:pt x="9144" y="228600"/>
                </a:moveTo>
                <a:lnTo>
                  <a:pt x="9144" y="9143"/>
                </a:lnTo>
                <a:lnTo>
                  <a:pt x="4572" y="9143"/>
                </a:lnTo>
                <a:lnTo>
                  <a:pt x="4572" y="228600"/>
                </a:lnTo>
                <a:lnTo>
                  <a:pt x="9144" y="228600"/>
                </a:lnTo>
                <a:close/>
              </a:path>
              <a:path w="482600" h="238125">
                <a:moveTo>
                  <a:pt x="477774" y="228600"/>
                </a:moveTo>
                <a:lnTo>
                  <a:pt x="4572" y="228600"/>
                </a:lnTo>
                <a:lnTo>
                  <a:pt x="9144" y="233171"/>
                </a:lnTo>
                <a:lnTo>
                  <a:pt x="9144" y="237744"/>
                </a:lnTo>
                <a:lnTo>
                  <a:pt x="473202" y="237744"/>
                </a:lnTo>
                <a:lnTo>
                  <a:pt x="473202" y="233171"/>
                </a:lnTo>
                <a:lnTo>
                  <a:pt x="477774" y="228600"/>
                </a:lnTo>
                <a:close/>
              </a:path>
              <a:path w="482600" h="238125">
                <a:moveTo>
                  <a:pt x="9144" y="237744"/>
                </a:moveTo>
                <a:lnTo>
                  <a:pt x="9144" y="233171"/>
                </a:lnTo>
                <a:lnTo>
                  <a:pt x="4572" y="228600"/>
                </a:lnTo>
                <a:lnTo>
                  <a:pt x="4572" y="237744"/>
                </a:lnTo>
                <a:lnTo>
                  <a:pt x="9144" y="237744"/>
                </a:lnTo>
                <a:close/>
              </a:path>
              <a:path w="482600" h="238125">
                <a:moveTo>
                  <a:pt x="477774" y="9143"/>
                </a:moveTo>
                <a:lnTo>
                  <a:pt x="473202" y="4571"/>
                </a:lnTo>
                <a:lnTo>
                  <a:pt x="473202" y="9143"/>
                </a:lnTo>
                <a:lnTo>
                  <a:pt x="477774" y="9143"/>
                </a:lnTo>
                <a:close/>
              </a:path>
              <a:path w="482600" h="238125">
                <a:moveTo>
                  <a:pt x="477774" y="228600"/>
                </a:moveTo>
                <a:lnTo>
                  <a:pt x="477774" y="9143"/>
                </a:lnTo>
                <a:lnTo>
                  <a:pt x="473202" y="9143"/>
                </a:lnTo>
                <a:lnTo>
                  <a:pt x="473202" y="228600"/>
                </a:lnTo>
                <a:lnTo>
                  <a:pt x="477774" y="228600"/>
                </a:lnTo>
                <a:close/>
              </a:path>
              <a:path w="482600" h="238125">
                <a:moveTo>
                  <a:pt x="477774" y="237744"/>
                </a:moveTo>
                <a:lnTo>
                  <a:pt x="477774" y="228600"/>
                </a:lnTo>
                <a:lnTo>
                  <a:pt x="473202" y="233171"/>
                </a:lnTo>
                <a:lnTo>
                  <a:pt x="473202" y="237744"/>
                </a:lnTo>
                <a:lnTo>
                  <a:pt x="477774" y="237744"/>
                </a:lnTo>
                <a:close/>
              </a:path>
            </a:pathLst>
          </a:custGeom>
          <a:solidFill>
            <a:srgbClr val="000000"/>
          </a:solidFill>
        </p:spPr>
        <p:txBody>
          <a:bodyPr wrap="square" lIns="0" tIns="0" rIns="0" bIns="0" rtlCol="0"/>
          <a:lstStyle/>
          <a:p>
            <a:endParaRPr/>
          </a:p>
        </p:txBody>
      </p:sp>
      <p:sp>
        <p:nvSpPr>
          <p:cNvPr id="88" name="object 88"/>
          <p:cNvSpPr/>
          <p:nvPr/>
        </p:nvSpPr>
        <p:spPr>
          <a:xfrm>
            <a:off x="5479541" y="2844545"/>
            <a:ext cx="281940" cy="173990"/>
          </a:xfrm>
          <a:custGeom>
            <a:avLst/>
            <a:gdLst/>
            <a:ahLst/>
            <a:cxnLst/>
            <a:rect l="l" t="t" r="r" b="b"/>
            <a:pathLst>
              <a:path w="281939" h="173989">
                <a:moveTo>
                  <a:pt x="0" y="0"/>
                </a:moveTo>
                <a:lnTo>
                  <a:pt x="0" y="173736"/>
                </a:lnTo>
                <a:lnTo>
                  <a:pt x="281939" y="173736"/>
                </a:lnTo>
                <a:lnTo>
                  <a:pt x="281939" y="0"/>
                </a:lnTo>
                <a:lnTo>
                  <a:pt x="0" y="0"/>
                </a:lnTo>
                <a:close/>
              </a:path>
            </a:pathLst>
          </a:custGeom>
          <a:solidFill>
            <a:srgbClr val="FFFFFF"/>
          </a:solidFill>
        </p:spPr>
        <p:txBody>
          <a:bodyPr wrap="square" lIns="0" tIns="0" rIns="0" bIns="0" rtlCol="0"/>
          <a:lstStyle/>
          <a:p>
            <a:endParaRPr/>
          </a:p>
        </p:txBody>
      </p:sp>
      <p:sp>
        <p:nvSpPr>
          <p:cNvPr id="89" name="object 89"/>
          <p:cNvSpPr/>
          <p:nvPr/>
        </p:nvSpPr>
        <p:spPr>
          <a:xfrm>
            <a:off x="5474970" y="2839973"/>
            <a:ext cx="291465" cy="182880"/>
          </a:xfrm>
          <a:custGeom>
            <a:avLst/>
            <a:gdLst/>
            <a:ahLst/>
            <a:cxnLst/>
            <a:rect l="l" t="t" r="r" b="b"/>
            <a:pathLst>
              <a:path w="291464" h="182880">
                <a:moveTo>
                  <a:pt x="291084" y="182879"/>
                </a:moveTo>
                <a:lnTo>
                  <a:pt x="291084" y="0"/>
                </a:lnTo>
                <a:lnTo>
                  <a:pt x="0" y="0"/>
                </a:lnTo>
                <a:lnTo>
                  <a:pt x="0" y="182879"/>
                </a:lnTo>
                <a:lnTo>
                  <a:pt x="4571" y="182879"/>
                </a:lnTo>
                <a:lnTo>
                  <a:pt x="4571" y="9143"/>
                </a:lnTo>
                <a:lnTo>
                  <a:pt x="9143" y="4571"/>
                </a:lnTo>
                <a:lnTo>
                  <a:pt x="9143" y="9143"/>
                </a:lnTo>
                <a:lnTo>
                  <a:pt x="281939" y="9143"/>
                </a:lnTo>
                <a:lnTo>
                  <a:pt x="281939" y="4571"/>
                </a:lnTo>
                <a:lnTo>
                  <a:pt x="286512" y="9143"/>
                </a:lnTo>
                <a:lnTo>
                  <a:pt x="286512" y="182879"/>
                </a:lnTo>
                <a:lnTo>
                  <a:pt x="291084" y="182879"/>
                </a:lnTo>
                <a:close/>
              </a:path>
              <a:path w="291464" h="182880">
                <a:moveTo>
                  <a:pt x="9143" y="9143"/>
                </a:moveTo>
                <a:lnTo>
                  <a:pt x="9143" y="4571"/>
                </a:lnTo>
                <a:lnTo>
                  <a:pt x="4571" y="9143"/>
                </a:lnTo>
                <a:lnTo>
                  <a:pt x="9143" y="9143"/>
                </a:lnTo>
                <a:close/>
              </a:path>
              <a:path w="291464" h="182880">
                <a:moveTo>
                  <a:pt x="9143" y="173735"/>
                </a:moveTo>
                <a:lnTo>
                  <a:pt x="9143" y="9143"/>
                </a:lnTo>
                <a:lnTo>
                  <a:pt x="4571" y="9143"/>
                </a:lnTo>
                <a:lnTo>
                  <a:pt x="4571" y="173735"/>
                </a:lnTo>
                <a:lnTo>
                  <a:pt x="9143" y="173735"/>
                </a:lnTo>
                <a:close/>
              </a:path>
              <a:path w="291464" h="182880">
                <a:moveTo>
                  <a:pt x="286512" y="173735"/>
                </a:moveTo>
                <a:lnTo>
                  <a:pt x="4571" y="173735"/>
                </a:lnTo>
                <a:lnTo>
                  <a:pt x="9143" y="178307"/>
                </a:lnTo>
                <a:lnTo>
                  <a:pt x="9143" y="182879"/>
                </a:lnTo>
                <a:lnTo>
                  <a:pt x="281939" y="182879"/>
                </a:lnTo>
                <a:lnTo>
                  <a:pt x="281939" y="178307"/>
                </a:lnTo>
                <a:lnTo>
                  <a:pt x="286512" y="173735"/>
                </a:lnTo>
                <a:close/>
              </a:path>
              <a:path w="291464" h="182880">
                <a:moveTo>
                  <a:pt x="9143" y="182879"/>
                </a:moveTo>
                <a:lnTo>
                  <a:pt x="9143" y="178307"/>
                </a:lnTo>
                <a:lnTo>
                  <a:pt x="4571" y="173735"/>
                </a:lnTo>
                <a:lnTo>
                  <a:pt x="4571" y="182879"/>
                </a:lnTo>
                <a:lnTo>
                  <a:pt x="9143" y="182879"/>
                </a:lnTo>
                <a:close/>
              </a:path>
              <a:path w="291464" h="182880">
                <a:moveTo>
                  <a:pt x="286512" y="9143"/>
                </a:moveTo>
                <a:lnTo>
                  <a:pt x="281939" y="4571"/>
                </a:lnTo>
                <a:lnTo>
                  <a:pt x="281939" y="9143"/>
                </a:lnTo>
                <a:lnTo>
                  <a:pt x="286512" y="9143"/>
                </a:lnTo>
                <a:close/>
              </a:path>
              <a:path w="291464" h="182880">
                <a:moveTo>
                  <a:pt x="286512" y="173735"/>
                </a:moveTo>
                <a:lnTo>
                  <a:pt x="286512" y="9143"/>
                </a:lnTo>
                <a:lnTo>
                  <a:pt x="281939" y="9143"/>
                </a:lnTo>
                <a:lnTo>
                  <a:pt x="281939" y="173735"/>
                </a:lnTo>
                <a:lnTo>
                  <a:pt x="286512" y="173735"/>
                </a:lnTo>
                <a:close/>
              </a:path>
              <a:path w="291464" h="182880">
                <a:moveTo>
                  <a:pt x="286512" y="182879"/>
                </a:moveTo>
                <a:lnTo>
                  <a:pt x="286512" y="173735"/>
                </a:lnTo>
                <a:lnTo>
                  <a:pt x="281939" y="178307"/>
                </a:lnTo>
                <a:lnTo>
                  <a:pt x="281939" y="182879"/>
                </a:lnTo>
                <a:lnTo>
                  <a:pt x="286512" y="182879"/>
                </a:lnTo>
                <a:close/>
              </a:path>
            </a:pathLst>
          </a:custGeom>
          <a:solidFill>
            <a:srgbClr val="CC9900"/>
          </a:solidFill>
        </p:spPr>
        <p:txBody>
          <a:bodyPr wrap="square" lIns="0" tIns="0" rIns="0" bIns="0" rtlCol="0"/>
          <a:lstStyle/>
          <a:p>
            <a:endParaRPr/>
          </a:p>
        </p:txBody>
      </p:sp>
      <p:sp>
        <p:nvSpPr>
          <p:cNvPr id="90" name="object 90"/>
          <p:cNvSpPr/>
          <p:nvPr/>
        </p:nvSpPr>
        <p:spPr>
          <a:xfrm>
            <a:off x="5779770" y="2947416"/>
            <a:ext cx="48895" cy="59690"/>
          </a:xfrm>
          <a:custGeom>
            <a:avLst/>
            <a:gdLst/>
            <a:ahLst/>
            <a:cxnLst/>
            <a:rect l="l" t="t" r="r" b="b"/>
            <a:pathLst>
              <a:path w="48895" h="59689">
                <a:moveTo>
                  <a:pt x="0" y="0"/>
                </a:moveTo>
                <a:lnTo>
                  <a:pt x="0" y="59436"/>
                </a:lnTo>
                <a:lnTo>
                  <a:pt x="48767" y="59436"/>
                </a:lnTo>
                <a:lnTo>
                  <a:pt x="48767" y="0"/>
                </a:lnTo>
                <a:lnTo>
                  <a:pt x="0" y="0"/>
                </a:lnTo>
                <a:close/>
              </a:path>
            </a:pathLst>
          </a:custGeom>
          <a:solidFill>
            <a:srgbClr val="CC9900"/>
          </a:solidFill>
        </p:spPr>
        <p:txBody>
          <a:bodyPr wrap="square" lIns="0" tIns="0" rIns="0" bIns="0" rtlCol="0"/>
          <a:lstStyle/>
          <a:p>
            <a:endParaRPr/>
          </a:p>
        </p:txBody>
      </p:sp>
      <p:sp>
        <p:nvSpPr>
          <p:cNvPr id="91" name="object 91"/>
          <p:cNvSpPr/>
          <p:nvPr/>
        </p:nvSpPr>
        <p:spPr>
          <a:xfrm>
            <a:off x="5775197" y="2942844"/>
            <a:ext cx="59055" cy="68580"/>
          </a:xfrm>
          <a:custGeom>
            <a:avLst/>
            <a:gdLst/>
            <a:ahLst/>
            <a:cxnLst/>
            <a:rect l="l" t="t" r="r" b="b"/>
            <a:pathLst>
              <a:path w="59054" h="68580">
                <a:moveTo>
                  <a:pt x="58674" y="68580"/>
                </a:moveTo>
                <a:lnTo>
                  <a:pt x="58674" y="0"/>
                </a:lnTo>
                <a:lnTo>
                  <a:pt x="0" y="0"/>
                </a:lnTo>
                <a:lnTo>
                  <a:pt x="0" y="68580"/>
                </a:lnTo>
                <a:lnTo>
                  <a:pt x="4572" y="68580"/>
                </a:lnTo>
                <a:lnTo>
                  <a:pt x="4572" y="9143"/>
                </a:lnTo>
                <a:lnTo>
                  <a:pt x="9143" y="4572"/>
                </a:lnTo>
                <a:lnTo>
                  <a:pt x="9143" y="9143"/>
                </a:lnTo>
                <a:lnTo>
                  <a:pt x="48767" y="9143"/>
                </a:lnTo>
                <a:lnTo>
                  <a:pt x="48767" y="4572"/>
                </a:lnTo>
                <a:lnTo>
                  <a:pt x="53339" y="9143"/>
                </a:lnTo>
                <a:lnTo>
                  <a:pt x="53339" y="68580"/>
                </a:lnTo>
                <a:lnTo>
                  <a:pt x="58674" y="68580"/>
                </a:lnTo>
                <a:close/>
              </a:path>
              <a:path w="59054" h="68580">
                <a:moveTo>
                  <a:pt x="9143" y="9143"/>
                </a:moveTo>
                <a:lnTo>
                  <a:pt x="9143" y="4572"/>
                </a:lnTo>
                <a:lnTo>
                  <a:pt x="4572" y="9143"/>
                </a:lnTo>
                <a:lnTo>
                  <a:pt x="9143" y="9143"/>
                </a:lnTo>
                <a:close/>
              </a:path>
              <a:path w="59054" h="68580">
                <a:moveTo>
                  <a:pt x="9143" y="59436"/>
                </a:moveTo>
                <a:lnTo>
                  <a:pt x="9143" y="9143"/>
                </a:lnTo>
                <a:lnTo>
                  <a:pt x="4572" y="9143"/>
                </a:lnTo>
                <a:lnTo>
                  <a:pt x="4572" y="59436"/>
                </a:lnTo>
                <a:lnTo>
                  <a:pt x="9143" y="59436"/>
                </a:lnTo>
                <a:close/>
              </a:path>
              <a:path w="59054" h="68580">
                <a:moveTo>
                  <a:pt x="53339" y="59436"/>
                </a:moveTo>
                <a:lnTo>
                  <a:pt x="4572" y="59436"/>
                </a:lnTo>
                <a:lnTo>
                  <a:pt x="9143" y="64007"/>
                </a:lnTo>
                <a:lnTo>
                  <a:pt x="9143" y="68580"/>
                </a:lnTo>
                <a:lnTo>
                  <a:pt x="48767" y="68580"/>
                </a:lnTo>
                <a:lnTo>
                  <a:pt x="48767" y="64007"/>
                </a:lnTo>
                <a:lnTo>
                  <a:pt x="53339" y="59436"/>
                </a:lnTo>
                <a:close/>
              </a:path>
              <a:path w="59054" h="68580">
                <a:moveTo>
                  <a:pt x="9143" y="68580"/>
                </a:moveTo>
                <a:lnTo>
                  <a:pt x="9143" y="64007"/>
                </a:lnTo>
                <a:lnTo>
                  <a:pt x="4572" y="59436"/>
                </a:lnTo>
                <a:lnTo>
                  <a:pt x="4572" y="68580"/>
                </a:lnTo>
                <a:lnTo>
                  <a:pt x="9143" y="68580"/>
                </a:lnTo>
                <a:close/>
              </a:path>
              <a:path w="59054" h="68580">
                <a:moveTo>
                  <a:pt x="53339" y="9143"/>
                </a:moveTo>
                <a:lnTo>
                  <a:pt x="48767" y="4572"/>
                </a:lnTo>
                <a:lnTo>
                  <a:pt x="48767" y="9143"/>
                </a:lnTo>
                <a:lnTo>
                  <a:pt x="53339" y="9143"/>
                </a:lnTo>
                <a:close/>
              </a:path>
              <a:path w="59054" h="68580">
                <a:moveTo>
                  <a:pt x="53339" y="59436"/>
                </a:moveTo>
                <a:lnTo>
                  <a:pt x="53339" y="9143"/>
                </a:lnTo>
                <a:lnTo>
                  <a:pt x="48767" y="9143"/>
                </a:lnTo>
                <a:lnTo>
                  <a:pt x="48767" y="59436"/>
                </a:lnTo>
                <a:lnTo>
                  <a:pt x="53339" y="59436"/>
                </a:lnTo>
                <a:close/>
              </a:path>
              <a:path w="59054" h="68580">
                <a:moveTo>
                  <a:pt x="53339" y="68580"/>
                </a:moveTo>
                <a:lnTo>
                  <a:pt x="53339" y="59436"/>
                </a:lnTo>
                <a:lnTo>
                  <a:pt x="48767" y="64007"/>
                </a:lnTo>
                <a:lnTo>
                  <a:pt x="48767" y="68580"/>
                </a:lnTo>
                <a:lnTo>
                  <a:pt x="53339" y="68580"/>
                </a:lnTo>
                <a:close/>
              </a:path>
            </a:pathLst>
          </a:custGeom>
          <a:solidFill>
            <a:srgbClr val="CC9900"/>
          </a:solidFill>
        </p:spPr>
        <p:txBody>
          <a:bodyPr wrap="square" lIns="0" tIns="0" rIns="0" bIns="0" rtlCol="0"/>
          <a:lstStyle/>
          <a:p>
            <a:endParaRPr/>
          </a:p>
        </p:txBody>
      </p:sp>
      <p:sp>
        <p:nvSpPr>
          <p:cNvPr id="92" name="object 92"/>
          <p:cNvSpPr/>
          <p:nvPr/>
        </p:nvSpPr>
        <p:spPr>
          <a:xfrm>
            <a:off x="5406390" y="2949701"/>
            <a:ext cx="49530" cy="62230"/>
          </a:xfrm>
          <a:custGeom>
            <a:avLst/>
            <a:gdLst/>
            <a:ahLst/>
            <a:cxnLst/>
            <a:rect l="l" t="t" r="r" b="b"/>
            <a:pathLst>
              <a:path w="49529" h="62230">
                <a:moveTo>
                  <a:pt x="0" y="0"/>
                </a:moveTo>
                <a:lnTo>
                  <a:pt x="0" y="61721"/>
                </a:lnTo>
                <a:lnTo>
                  <a:pt x="49529" y="61721"/>
                </a:lnTo>
                <a:lnTo>
                  <a:pt x="49529" y="0"/>
                </a:lnTo>
                <a:lnTo>
                  <a:pt x="0" y="0"/>
                </a:lnTo>
                <a:close/>
              </a:path>
            </a:pathLst>
          </a:custGeom>
          <a:solidFill>
            <a:srgbClr val="CC9900"/>
          </a:solidFill>
        </p:spPr>
        <p:txBody>
          <a:bodyPr wrap="square" lIns="0" tIns="0" rIns="0" bIns="0" rtlCol="0"/>
          <a:lstStyle/>
          <a:p>
            <a:endParaRPr/>
          </a:p>
        </p:txBody>
      </p:sp>
      <p:sp>
        <p:nvSpPr>
          <p:cNvPr id="93" name="object 93"/>
          <p:cNvSpPr/>
          <p:nvPr/>
        </p:nvSpPr>
        <p:spPr>
          <a:xfrm>
            <a:off x="5401817" y="2945129"/>
            <a:ext cx="59055" cy="71120"/>
          </a:xfrm>
          <a:custGeom>
            <a:avLst/>
            <a:gdLst/>
            <a:ahLst/>
            <a:cxnLst/>
            <a:rect l="l" t="t" r="r" b="b"/>
            <a:pathLst>
              <a:path w="59054" h="71119">
                <a:moveTo>
                  <a:pt x="58674" y="70865"/>
                </a:moveTo>
                <a:lnTo>
                  <a:pt x="58674" y="0"/>
                </a:lnTo>
                <a:lnTo>
                  <a:pt x="0" y="0"/>
                </a:lnTo>
                <a:lnTo>
                  <a:pt x="0" y="70865"/>
                </a:lnTo>
                <a:lnTo>
                  <a:pt x="4572" y="70865"/>
                </a:lnTo>
                <a:lnTo>
                  <a:pt x="4572" y="9143"/>
                </a:lnTo>
                <a:lnTo>
                  <a:pt x="9906" y="4571"/>
                </a:lnTo>
                <a:lnTo>
                  <a:pt x="9906" y="9143"/>
                </a:lnTo>
                <a:lnTo>
                  <a:pt x="49530" y="9143"/>
                </a:lnTo>
                <a:lnTo>
                  <a:pt x="49530" y="4571"/>
                </a:lnTo>
                <a:lnTo>
                  <a:pt x="54102" y="9143"/>
                </a:lnTo>
                <a:lnTo>
                  <a:pt x="54102" y="70865"/>
                </a:lnTo>
                <a:lnTo>
                  <a:pt x="58674" y="70865"/>
                </a:lnTo>
                <a:close/>
              </a:path>
              <a:path w="59054" h="71119">
                <a:moveTo>
                  <a:pt x="9906" y="9143"/>
                </a:moveTo>
                <a:lnTo>
                  <a:pt x="9906" y="4571"/>
                </a:lnTo>
                <a:lnTo>
                  <a:pt x="4572" y="9143"/>
                </a:lnTo>
                <a:lnTo>
                  <a:pt x="9906" y="9143"/>
                </a:lnTo>
                <a:close/>
              </a:path>
              <a:path w="59054" h="71119">
                <a:moveTo>
                  <a:pt x="9906" y="61721"/>
                </a:moveTo>
                <a:lnTo>
                  <a:pt x="9906" y="9143"/>
                </a:lnTo>
                <a:lnTo>
                  <a:pt x="4572" y="9143"/>
                </a:lnTo>
                <a:lnTo>
                  <a:pt x="4572" y="61721"/>
                </a:lnTo>
                <a:lnTo>
                  <a:pt x="9906" y="61721"/>
                </a:lnTo>
                <a:close/>
              </a:path>
              <a:path w="59054" h="71119">
                <a:moveTo>
                  <a:pt x="54102" y="61721"/>
                </a:moveTo>
                <a:lnTo>
                  <a:pt x="4572" y="61721"/>
                </a:lnTo>
                <a:lnTo>
                  <a:pt x="9906" y="66293"/>
                </a:lnTo>
                <a:lnTo>
                  <a:pt x="9906" y="70865"/>
                </a:lnTo>
                <a:lnTo>
                  <a:pt x="49530" y="70865"/>
                </a:lnTo>
                <a:lnTo>
                  <a:pt x="49530" y="66293"/>
                </a:lnTo>
                <a:lnTo>
                  <a:pt x="54102" y="61721"/>
                </a:lnTo>
                <a:close/>
              </a:path>
              <a:path w="59054" h="71119">
                <a:moveTo>
                  <a:pt x="9906" y="70865"/>
                </a:moveTo>
                <a:lnTo>
                  <a:pt x="9906" y="66293"/>
                </a:lnTo>
                <a:lnTo>
                  <a:pt x="4572" y="61721"/>
                </a:lnTo>
                <a:lnTo>
                  <a:pt x="4572" y="70865"/>
                </a:lnTo>
                <a:lnTo>
                  <a:pt x="9906" y="70865"/>
                </a:lnTo>
                <a:close/>
              </a:path>
              <a:path w="59054" h="71119">
                <a:moveTo>
                  <a:pt x="54102" y="9143"/>
                </a:moveTo>
                <a:lnTo>
                  <a:pt x="49530" y="4571"/>
                </a:lnTo>
                <a:lnTo>
                  <a:pt x="49530" y="9143"/>
                </a:lnTo>
                <a:lnTo>
                  <a:pt x="54102" y="9143"/>
                </a:lnTo>
                <a:close/>
              </a:path>
              <a:path w="59054" h="71119">
                <a:moveTo>
                  <a:pt x="54102" y="61721"/>
                </a:moveTo>
                <a:lnTo>
                  <a:pt x="54102" y="9143"/>
                </a:lnTo>
                <a:lnTo>
                  <a:pt x="49530" y="9143"/>
                </a:lnTo>
                <a:lnTo>
                  <a:pt x="49530" y="61721"/>
                </a:lnTo>
                <a:lnTo>
                  <a:pt x="54102" y="61721"/>
                </a:lnTo>
                <a:close/>
              </a:path>
              <a:path w="59054" h="71119">
                <a:moveTo>
                  <a:pt x="54102" y="70865"/>
                </a:moveTo>
                <a:lnTo>
                  <a:pt x="54102" y="61721"/>
                </a:lnTo>
                <a:lnTo>
                  <a:pt x="49530" y="66293"/>
                </a:lnTo>
                <a:lnTo>
                  <a:pt x="49530" y="70865"/>
                </a:lnTo>
                <a:lnTo>
                  <a:pt x="54102" y="70865"/>
                </a:lnTo>
                <a:close/>
              </a:path>
            </a:pathLst>
          </a:custGeom>
          <a:solidFill>
            <a:srgbClr val="CC9900"/>
          </a:solidFill>
        </p:spPr>
        <p:txBody>
          <a:bodyPr wrap="square" lIns="0" tIns="0" rIns="0" bIns="0" rtlCol="0"/>
          <a:lstStyle/>
          <a:p>
            <a:endParaRPr/>
          </a:p>
        </p:txBody>
      </p:sp>
      <p:sp>
        <p:nvSpPr>
          <p:cNvPr id="94" name="object 94"/>
          <p:cNvSpPr/>
          <p:nvPr/>
        </p:nvSpPr>
        <p:spPr>
          <a:xfrm>
            <a:off x="6819900" y="4105275"/>
            <a:ext cx="1638300" cy="0"/>
          </a:xfrm>
          <a:custGeom>
            <a:avLst/>
            <a:gdLst/>
            <a:ahLst/>
            <a:cxnLst/>
            <a:rect l="l" t="t" r="r" b="b"/>
            <a:pathLst>
              <a:path w="1638300">
                <a:moveTo>
                  <a:pt x="0" y="0"/>
                </a:moveTo>
                <a:lnTo>
                  <a:pt x="1638300" y="0"/>
                </a:lnTo>
              </a:path>
            </a:pathLst>
          </a:custGeom>
          <a:ln w="19050">
            <a:solidFill>
              <a:srgbClr val="000000"/>
            </a:solidFill>
          </a:ln>
        </p:spPr>
        <p:txBody>
          <a:bodyPr wrap="square" lIns="0" tIns="0" rIns="0" bIns="0" rtlCol="0"/>
          <a:lstStyle/>
          <a:p>
            <a:endParaRPr/>
          </a:p>
        </p:txBody>
      </p:sp>
      <p:sp>
        <p:nvSpPr>
          <p:cNvPr id="95" name="object 95"/>
          <p:cNvSpPr/>
          <p:nvPr/>
        </p:nvSpPr>
        <p:spPr>
          <a:xfrm>
            <a:off x="6810756" y="3810380"/>
            <a:ext cx="1638300" cy="0"/>
          </a:xfrm>
          <a:custGeom>
            <a:avLst/>
            <a:gdLst/>
            <a:ahLst/>
            <a:cxnLst/>
            <a:rect l="l" t="t" r="r" b="b"/>
            <a:pathLst>
              <a:path w="1638300">
                <a:moveTo>
                  <a:pt x="0" y="0"/>
                </a:moveTo>
                <a:lnTo>
                  <a:pt x="1638300" y="0"/>
                </a:lnTo>
              </a:path>
            </a:pathLst>
          </a:custGeom>
          <a:ln w="19050">
            <a:solidFill>
              <a:srgbClr val="000000"/>
            </a:solidFill>
          </a:ln>
        </p:spPr>
        <p:txBody>
          <a:bodyPr wrap="square" lIns="0" tIns="0" rIns="0" bIns="0" rtlCol="0"/>
          <a:lstStyle/>
          <a:p>
            <a:endParaRPr/>
          </a:p>
        </p:txBody>
      </p:sp>
      <p:sp>
        <p:nvSpPr>
          <p:cNvPr id="96" name="object 96"/>
          <p:cNvSpPr/>
          <p:nvPr/>
        </p:nvSpPr>
        <p:spPr>
          <a:xfrm>
            <a:off x="6810756" y="3514725"/>
            <a:ext cx="1638300" cy="0"/>
          </a:xfrm>
          <a:custGeom>
            <a:avLst/>
            <a:gdLst/>
            <a:ahLst/>
            <a:cxnLst/>
            <a:rect l="l" t="t" r="r" b="b"/>
            <a:pathLst>
              <a:path w="1638300">
                <a:moveTo>
                  <a:pt x="0" y="0"/>
                </a:moveTo>
                <a:lnTo>
                  <a:pt x="1638300" y="0"/>
                </a:lnTo>
              </a:path>
            </a:pathLst>
          </a:custGeom>
          <a:ln w="19050">
            <a:solidFill>
              <a:srgbClr val="000000"/>
            </a:solidFill>
          </a:ln>
        </p:spPr>
        <p:txBody>
          <a:bodyPr wrap="square" lIns="0" tIns="0" rIns="0" bIns="0" rtlCol="0"/>
          <a:lstStyle/>
          <a:p>
            <a:endParaRPr/>
          </a:p>
        </p:txBody>
      </p:sp>
      <p:sp>
        <p:nvSpPr>
          <p:cNvPr id="97" name="object 97"/>
          <p:cNvSpPr/>
          <p:nvPr/>
        </p:nvSpPr>
        <p:spPr>
          <a:xfrm>
            <a:off x="8231885" y="3209925"/>
            <a:ext cx="217170" cy="0"/>
          </a:xfrm>
          <a:custGeom>
            <a:avLst/>
            <a:gdLst/>
            <a:ahLst/>
            <a:cxnLst/>
            <a:rect l="l" t="t" r="r" b="b"/>
            <a:pathLst>
              <a:path w="217170">
                <a:moveTo>
                  <a:pt x="0" y="0"/>
                </a:moveTo>
                <a:lnTo>
                  <a:pt x="217170" y="0"/>
                </a:lnTo>
              </a:path>
            </a:pathLst>
          </a:custGeom>
          <a:ln w="19050">
            <a:solidFill>
              <a:srgbClr val="000000"/>
            </a:solidFill>
          </a:ln>
        </p:spPr>
        <p:txBody>
          <a:bodyPr wrap="square" lIns="0" tIns="0" rIns="0" bIns="0" rtlCol="0"/>
          <a:lstStyle/>
          <a:p>
            <a:endParaRPr/>
          </a:p>
        </p:txBody>
      </p:sp>
      <p:sp>
        <p:nvSpPr>
          <p:cNvPr id="98" name="object 98"/>
          <p:cNvSpPr/>
          <p:nvPr/>
        </p:nvSpPr>
        <p:spPr>
          <a:xfrm>
            <a:off x="7436357" y="3209925"/>
            <a:ext cx="322580" cy="0"/>
          </a:xfrm>
          <a:custGeom>
            <a:avLst/>
            <a:gdLst/>
            <a:ahLst/>
            <a:cxnLst/>
            <a:rect l="l" t="t" r="r" b="b"/>
            <a:pathLst>
              <a:path w="322579">
                <a:moveTo>
                  <a:pt x="0" y="0"/>
                </a:moveTo>
                <a:lnTo>
                  <a:pt x="322325" y="0"/>
                </a:lnTo>
              </a:path>
            </a:pathLst>
          </a:custGeom>
          <a:ln w="19050">
            <a:solidFill>
              <a:srgbClr val="000000"/>
            </a:solidFill>
          </a:ln>
        </p:spPr>
        <p:txBody>
          <a:bodyPr wrap="square" lIns="0" tIns="0" rIns="0" bIns="0" rtlCol="0"/>
          <a:lstStyle/>
          <a:p>
            <a:endParaRPr/>
          </a:p>
        </p:txBody>
      </p:sp>
      <p:sp>
        <p:nvSpPr>
          <p:cNvPr id="99" name="object 99"/>
          <p:cNvSpPr/>
          <p:nvPr/>
        </p:nvSpPr>
        <p:spPr>
          <a:xfrm>
            <a:off x="6810756" y="3209925"/>
            <a:ext cx="152400" cy="0"/>
          </a:xfrm>
          <a:custGeom>
            <a:avLst/>
            <a:gdLst/>
            <a:ahLst/>
            <a:cxnLst/>
            <a:rect l="l" t="t" r="r" b="b"/>
            <a:pathLst>
              <a:path w="152400">
                <a:moveTo>
                  <a:pt x="0" y="0"/>
                </a:moveTo>
                <a:lnTo>
                  <a:pt x="152400" y="0"/>
                </a:lnTo>
              </a:path>
            </a:pathLst>
          </a:custGeom>
          <a:ln w="19050">
            <a:solidFill>
              <a:srgbClr val="000000"/>
            </a:solidFill>
          </a:ln>
        </p:spPr>
        <p:txBody>
          <a:bodyPr wrap="square" lIns="0" tIns="0" rIns="0" bIns="0" rtlCol="0"/>
          <a:lstStyle/>
          <a:p>
            <a:endParaRPr/>
          </a:p>
        </p:txBody>
      </p:sp>
      <p:sp>
        <p:nvSpPr>
          <p:cNvPr id="100" name="object 100"/>
          <p:cNvSpPr/>
          <p:nvPr/>
        </p:nvSpPr>
        <p:spPr>
          <a:xfrm>
            <a:off x="6963156" y="3037332"/>
            <a:ext cx="473709" cy="228600"/>
          </a:xfrm>
          <a:custGeom>
            <a:avLst/>
            <a:gdLst/>
            <a:ahLst/>
            <a:cxnLst/>
            <a:rect l="l" t="t" r="r" b="b"/>
            <a:pathLst>
              <a:path w="473709" h="228600">
                <a:moveTo>
                  <a:pt x="0" y="0"/>
                </a:moveTo>
                <a:lnTo>
                  <a:pt x="0" y="228599"/>
                </a:lnTo>
                <a:lnTo>
                  <a:pt x="473201" y="228599"/>
                </a:lnTo>
                <a:lnTo>
                  <a:pt x="473201" y="0"/>
                </a:lnTo>
                <a:lnTo>
                  <a:pt x="0" y="0"/>
                </a:lnTo>
                <a:close/>
              </a:path>
            </a:pathLst>
          </a:custGeom>
          <a:solidFill>
            <a:srgbClr val="FFFF00"/>
          </a:solidFill>
        </p:spPr>
        <p:txBody>
          <a:bodyPr wrap="square" lIns="0" tIns="0" rIns="0" bIns="0" rtlCol="0"/>
          <a:lstStyle/>
          <a:p>
            <a:endParaRPr/>
          </a:p>
        </p:txBody>
      </p:sp>
      <p:sp>
        <p:nvSpPr>
          <p:cNvPr id="101" name="object 101"/>
          <p:cNvSpPr/>
          <p:nvPr/>
        </p:nvSpPr>
        <p:spPr>
          <a:xfrm>
            <a:off x="6958583" y="3032760"/>
            <a:ext cx="482600" cy="238125"/>
          </a:xfrm>
          <a:custGeom>
            <a:avLst/>
            <a:gdLst/>
            <a:ahLst/>
            <a:cxnLst/>
            <a:rect l="l" t="t" r="r" b="b"/>
            <a:pathLst>
              <a:path w="482600" h="238125">
                <a:moveTo>
                  <a:pt x="482346" y="237743"/>
                </a:moveTo>
                <a:lnTo>
                  <a:pt x="482346" y="0"/>
                </a:lnTo>
                <a:lnTo>
                  <a:pt x="0" y="0"/>
                </a:lnTo>
                <a:lnTo>
                  <a:pt x="0" y="237743"/>
                </a:lnTo>
                <a:lnTo>
                  <a:pt x="4572" y="237743"/>
                </a:lnTo>
                <a:lnTo>
                  <a:pt x="4572" y="9144"/>
                </a:lnTo>
                <a:lnTo>
                  <a:pt x="9144" y="4572"/>
                </a:lnTo>
                <a:lnTo>
                  <a:pt x="9144" y="9144"/>
                </a:lnTo>
                <a:lnTo>
                  <a:pt x="473201" y="9144"/>
                </a:lnTo>
                <a:lnTo>
                  <a:pt x="473201" y="4572"/>
                </a:lnTo>
                <a:lnTo>
                  <a:pt x="477774" y="9144"/>
                </a:lnTo>
                <a:lnTo>
                  <a:pt x="477774" y="237743"/>
                </a:lnTo>
                <a:lnTo>
                  <a:pt x="482346" y="237743"/>
                </a:lnTo>
                <a:close/>
              </a:path>
              <a:path w="482600" h="238125">
                <a:moveTo>
                  <a:pt x="9144" y="9144"/>
                </a:moveTo>
                <a:lnTo>
                  <a:pt x="9144" y="4572"/>
                </a:lnTo>
                <a:lnTo>
                  <a:pt x="4572" y="9144"/>
                </a:lnTo>
                <a:lnTo>
                  <a:pt x="9144" y="9144"/>
                </a:lnTo>
                <a:close/>
              </a:path>
              <a:path w="482600" h="238125">
                <a:moveTo>
                  <a:pt x="9144" y="228600"/>
                </a:moveTo>
                <a:lnTo>
                  <a:pt x="9144" y="9144"/>
                </a:lnTo>
                <a:lnTo>
                  <a:pt x="4572" y="9144"/>
                </a:lnTo>
                <a:lnTo>
                  <a:pt x="4572" y="228600"/>
                </a:lnTo>
                <a:lnTo>
                  <a:pt x="9144" y="228600"/>
                </a:lnTo>
                <a:close/>
              </a:path>
              <a:path w="482600" h="238125">
                <a:moveTo>
                  <a:pt x="477774" y="228600"/>
                </a:moveTo>
                <a:lnTo>
                  <a:pt x="4572" y="228600"/>
                </a:lnTo>
                <a:lnTo>
                  <a:pt x="9144" y="233172"/>
                </a:lnTo>
                <a:lnTo>
                  <a:pt x="9144" y="237743"/>
                </a:lnTo>
                <a:lnTo>
                  <a:pt x="473201" y="237743"/>
                </a:lnTo>
                <a:lnTo>
                  <a:pt x="473201" y="233172"/>
                </a:lnTo>
                <a:lnTo>
                  <a:pt x="477774" y="228600"/>
                </a:lnTo>
                <a:close/>
              </a:path>
              <a:path w="482600" h="238125">
                <a:moveTo>
                  <a:pt x="9144" y="237743"/>
                </a:moveTo>
                <a:lnTo>
                  <a:pt x="9144" y="233172"/>
                </a:lnTo>
                <a:lnTo>
                  <a:pt x="4572" y="228600"/>
                </a:lnTo>
                <a:lnTo>
                  <a:pt x="4572" y="237743"/>
                </a:lnTo>
                <a:lnTo>
                  <a:pt x="9144" y="237743"/>
                </a:lnTo>
                <a:close/>
              </a:path>
              <a:path w="482600" h="238125">
                <a:moveTo>
                  <a:pt x="477774" y="9144"/>
                </a:moveTo>
                <a:lnTo>
                  <a:pt x="473201" y="4572"/>
                </a:lnTo>
                <a:lnTo>
                  <a:pt x="473201" y="9144"/>
                </a:lnTo>
                <a:lnTo>
                  <a:pt x="477774" y="9144"/>
                </a:lnTo>
                <a:close/>
              </a:path>
              <a:path w="482600" h="238125">
                <a:moveTo>
                  <a:pt x="477774" y="228600"/>
                </a:moveTo>
                <a:lnTo>
                  <a:pt x="477774" y="9144"/>
                </a:lnTo>
                <a:lnTo>
                  <a:pt x="473201" y="9144"/>
                </a:lnTo>
                <a:lnTo>
                  <a:pt x="473201" y="228600"/>
                </a:lnTo>
                <a:lnTo>
                  <a:pt x="477774" y="228600"/>
                </a:lnTo>
                <a:close/>
              </a:path>
              <a:path w="482600" h="238125">
                <a:moveTo>
                  <a:pt x="477774" y="237743"/>
                </a:moveTo>
                <a:lnTo>
                  <a:pt x="477774" y="228600"/>
                </a:lnTo>
                <a:lnTo>
                  <a:pt x="473201" y="233172"/>
                </a:lnTo>
                <a:lnTo>
                  <a:pt x="473201" y="237743"/>
                </a:lnTo>
                <a:lnTo>
                  <a:pt x="477774" y="237743"/>
                </a:lnTo>
                <a:close/>
              </a:path>
            </a:pathLst>
          </a:custGeom>
          <a:solidFill>
            <a:srgbClr val="000000"/>
          </a:solidFill>
        </p:spPr>
        <p:txBody>
          <a:bodyPr wrap="square" lIns="0" tIns="0" rIns="0" bIns="0" rtlCol="0"/>
          <a:lstStyle/>
          <a:p>
            <a:endParaRPr/>
          </a:p>
        </p:txBody>
      </p:sp>
      <p:sp>
        <p:nvSpPr>
          <p:cNvPr id="102" name="object 102"/>
          <p:cNvSpPr/>
          <p:nvPr/>
        </p:nvSpPr>
        <p:spPr>
          <a:xfrm>
            <a:off x="7056119" y="3067050"/>
            <a:ext cx="281940" cy="173990"/>
          </a:xfrm>
          <a:custGeom>
            <a:avLst/>
            <a:gdLst/>
            <a:ahLst/>
            <a:cxnLst/>
            <a:rect l="l" t="t" r="r" b="b"/>
            <a:pathLst>
              <a:path w="281940" h="173989">
                <a:moveTo>
                  <a:pt x="0" y="0"/>
                </a:moveTo>
                <a:lnTo>
                  <a:pt x="0" y="173735"/>
                </a:lnTo>
                <a:lnTo>
                  <a:pt x="281940" y="173735"/>
                </a:lnTo>
                <a:lnTo>
                  <a:pt x="281940" y="0"/>
                </a:lnTo>
                <a:lnTo>
                  <a:pt x="0" y="0"/>
                </a:lnTo>
                <a:close/>
              </a:path>
            </a:pathLst>
          </a:custGeom>
          <a:solidFill>
            <a:srgbClr val="FFFFFF"/>
          </a:solidFill>
        </p:spPr>
        <p:txBody>
          <a:bodyPr wrap="square" lIns="0" tIns="0" rIns="0" bIns="0" rtlCol="0"/>
          <a:lstStyle/>
          <a:p>
            <a:endParaRPr/>
          </a:p>
        </p:txBody>
      </p:sp>
      <p:sp>
        <p:nvSpPr>
          <p:cNvPr id="103" name="object 103"/>
          <p:cNvSpPr/>
          <p:nvPr/>
        </p:nvSpPr>
        <p:spPr>
          <a:xfrm>
            <a:off x="7050785" y="3062477"/>
            <a:ext cx="292100" cy="182880"/>
          </a:xfrm>
          <a:custGeom>
            <a:avLst/>
            <a:gdLst/>
            <a:ahLst/>
            <a:cxnLst/>
            <a:rect l="l" t="t" r="r" b="b"/>
            <a:pathLst>
              <a:path w="292100" h="182880">
                <a:moveTo>
                  <a:pt x="291846" y="182879"/>
                </a:moveTo>
                <a:lnTo>
                  <a:pt x="291846" y="0"/>
                </a:lnTo>
                <a:lnTo>
                  <a:pt x="0" y="0"/>
                </a:lnTo>
                <a:lnTo>
                  <a:pt x="0" y="182879"/>
                </a:lnTo>
                <a:lnTo>
                  <a:pt x="5334" y="182879"/>
                </a:lnTo>
                <a:lnTo>
                  <a:pt x="5334" y="9143"/>
                </a:lnTo>
                <a:lnTo>
                  <a:pt x="9906" y="4571"/>
                </a:lnTo>
                <a:lnTo>
                  <a:pt x="9906" y="9143"/>
                </a:lnTo>
                <a:lnTo>
                  <a:pt x="282702" y="9143"/>
                </a:lnTo>
                <a:lnTo>
                  <a:pt x="282702" y="4571"/>
                </a:lnTo>
                <a:lnTo>
                  <a:pt x="287274" y="9143"/>
                </a:lnTo>
                <a:lnTo>
                  <a:pt x="287274" y="182879"/>
                </a:lnTo>
                <a:lnTo>
                  <a:pt x="291846" y="182879"/>
                </a:lnTo>
                <a:close/>
              </a:path>
              <a:path w="292100" h="182880">
                <a:moveTo>
                  <a:pt x="9906" y="9143"/>
                </a:moveTo>
                <a:lnTo>
                  <a:pt x="9906" y="4571"/>
                </a:lnTo>
                <a:lnTo>
                  <a:pt x="5334" y="9143"/>
                </a:lnTo>
                <a:lnTo>
                  <a:pt x="9906" y="9143"/>
                </a:lnTo>
                <a:close/>
              </a:path>
              <a:path w="292100" h="182880">
                <a:moveTo>
                  <a:pt x="9906" y="173735"/>
                </a:moveTo>
                <a:lnTo>
                  <a:pt x="9906" y="9143"/>
                </a:lnTo>
                <a:lnTo>
                  <a:pt x="5334" y="9143"/>
                </a:lnTo>
                <a:lnTo>
                  <a:pt x="5334" y="173735"/>
                </a:lnTo>
                <a:lnTo>
                  <a:pt x="9906" y="173735"/>
                </a:lnTo>
                <a:close/>
              </a:path>
              <a:path w="292100" h="182880">
                <a:moveTo>
                  <a:pt x="287274" y="173735"/>
                </a:moveTo>
                <a:lnTo>
                  <a:pt x="5334" y="173735"/>
                </a:lnTo>
                <a:lnTo>
                  <a:pt x="9906" y="178307"/>
                </a:lnTo>
                <a:lnTo>
                  <a:pt x="9906" y="182879"/>
                </a:lnTo>
                <a:lnTo>
                  <a:pt x="282702" y="182879"/>
                </a:lnTo>
                <a:lnTo>
                  <a:pt x="282702" y="178307"/>
                </a:lnTo>
                <a:lnTo>
                  <a:pt x="287274" y="173735"/>
                </a:lnTo>
                <a:close/>
              </a:path>
              <a:path w="292100" h="182880">
                <a:moveTo>
                  <a:pt x="9906" y="182879"/>
                </a:moveTo>
                <a:lnTo>
                  <a:pt x="9906" y="178307"/>
                </a:lnTo>
                <a:lnTo>
                  <a:pt x="5334" y="173735"/>
                </a:lnTo>
                <a:lnTo>
                  <a:pt x="5334" y="182879"/>
                </a:lnTo>
                <a:lnTo>
                  <a:pt x="9906" y="182879"/>
                </a:lnTo>
                <a:close/>
              </a:path>
              <a:path w="292100" h="182880">
                <a:moveTo>
                  <a:pt x="287274" y="9143"/>
                </a:moveTo>
                <a:lnTo>
                  <a:pt x="282702" y="4571"/>
                </a:lnTo>
                <a:lnTo>
                  <a:pt x="282702" y="9143"/>
                </a:lnTo>
                <a:lnTo>
                  <a:pt x="287274" y="9143"/>
                </a:lnTo>
                <a:close/>
              </a:path>
              <a:path w="292100" h="182880">
                <a:moveTo>
                  <a:pt x="287274" y="173735"/>
                </a:moveTo>
                <a:lnTo>
                  <a:pt x="287274" y="9143"/>
                </a:lnTo>
                <a:lnTo>
                  <a:pt x="282702" y="9143"/>
                </a:lnTo>
                <a:lnTo>
                  <a:pt x="282702" y="173735"/>
                </a:lnTo>
                <a:lnTo>
                  <a:pt x="287274" y="173735"/>
                </a:lnTo>
                <a:close/>
              </a:path>
              <a:path w="292100" h="182880">
                <a:moveTo>
                  <a:pt x="287274" y="182879"/>
                </a:moveTo>
                <a:lnTo>
                  <a:pt x="287274" y="173735"/>
                </a:lnTo>
                <a:lnTo>
                  <a:pt x="282702" y="178307"/>
                </a:lnTo>
                <a:lnTo>
                  <a:pt x="282702" y="182879"/>
                </a:lnTo>
                <a:lnTo>
                  <a:pt x="287274" y="182879"/>
                </a:lnTo>
                <a:close/>
              </a:path>
            </a:pathLst>
          </a:custGeom>
          <a:solidFill>
            <a:srgbClr val="CC9900"/>
          </a:solidFill>
        </p:spPr>
        <p:txBody>
          <a:bodyPr wrap="square" lIns="0" tIns="0" rIns="0" bIns="0" rtlCol="0"/>
          <a:lstStyle/>
          <a:p>
            <a:endParaRPr/>
          </a:p>
        </p:txBody>
      </p:sp>
      <p:sp>
        <p:nvSpPr>
          <p:cNvPr id="104" name="object 104"/>
          <p:cNvSpPr/>
          <p:nvPr/>
        </p:nvSpPr>
        <p:spPr>
          <a:xfrm>
            <a:off x="7356347" y="3169920"/>
            <a:ext cx="48895" cy="59690"/>
          </a:xfrm>
          <a:custGeom>
            <a:avLst/>
            <a:gdLst/>
            <a:ahLst/>
            <a:cxnLst/>
            <a:rect l="l" t="t" r="r" b="b"/>
            <a:pathLst>
              <a:path w="48895" h="59689">
                <a:moveTo>
                  <a:pt x="0" y="0"/>
                </a:moveTo>
                <a:lnTo>
                  <a:pt x="0" y="59436"/>
                </a:lnTo>
                <a:lnTo>
                  <a:pt x="48768" y="59436"/>
                </a:lnTo>
                <a:lnTo>
                  <a:pt x="48768" y="0"/>
                </a:lnTo>
                <a:lnTo>
                  <a:pt x="0" y="0"/>
                </a:lnTo>
                <a:close/>
              </a:path>
            </a:pathLst>
          </a:custGeom>
          <a:solidFill>
            <a:srgbClr val="CC9900"/>
          </a:solidFill>
        </p:spPr>
        <p:txBody>
          <a:bodyPr wrap="square" lIns="0" tIns="0" rIns="0" bIns="0" rtlCol="0"/>
          <a:lstStyle/>
          <a:p>
            <a:endParaRPr/>
          </a:p>
        </p:txBody>
      </p:sp>
      <p:sp>
        <p:nvSpPr>
          <p:cNvPr id="105" name="object 105"/>
          <p:cNvSpPr/>
          <p:nvPr/>
        </p:nvSpPr>
        <p:spPr>
          <a:xfrm>
            <a:off x="7351014" y="3165348"/>
            <a:ext cx="59055" cy="68580"/>
          </a:xfrm>
          <a:custGeom>
            <a:avLst/>
            <a:gdLst/>
            <a:ahLst/>
            <a:cxnLst/>
            <a:rect l="l" t="t" r="r" b="b"/>
            <a:pathLst>
              <a:path w="59054" h="68580">
                <a:moveTo>
                  <a:pt x="58674" y="68580"/>
                </a:moveTo>
                <a:lnTo>
                  <a:pt x="58674" y="0"/>
                </a:lnTo>
                <a:lnTo>
                  <a:pt x="0" y="0"/>
                </a:lnTo>
                <a:lnTo>
                  <a:pt x="0" y="68580"/>
                </a:lnTo>
                <a:lnTo>
                  <a:pt x="5333" y="68580"/>
                </a:lnTo>
                <a:lnTo>
                  <a:pt x="5333" y="9144"/>
                </a:lnTo>
                <a:lnTo>
                  <a:pt x="9905" y="4572"/>
                </a:lnTo>
                <a:lnTo>
                  <a:pt x="9905" y="9144"/>
                </a:lnTo>
                <a:lnTo>
                  <a:pt x="49529" y="9144"/>
                </a:lnTo>
                <a:lnTo>
                  <a:pt x="49529" y="4572"/>
                </a:lnTo>
                <a:lnTo>
                  <a:pt x="54101" y="9144"/>
                </a:lnTo>
                <a:lnTo>
                  <a:pt x="54101" y="68580"/>
                </a:lnTo>
                <a:lnTo>
                  <a:pt x="58674" y="68580"/>
                </a:lnTo>
                <a:close/>
              </a:path>
              <a:path w="59054" h="68580">
                <a:moveTo>
                  <a:pt x="9905" y="9144"/>
                </a:moveTo>
                <a:lnTo>
                  <a:pt x="9905" y="4572"/>
                </a:lnTo>
                <a:lnTo>
                  <a:pt x="5333" y="9144"/>
                </a:lnTo>
                <a:lnTo>
                  <a:pt x="9905" y="9144"/>
                </a:lnTo>
                <a:close/>
              </a:path>
              <a:path w="59054" h="68580">
                <a:moveTo>
                  <a:pt x="9905" y="59436"/>
                </a:moveTo>
                <a:lnTo>
                  <a:pt x="9905" y="9144"/>
                </a:lnTo>
                <a:lnTo>
                  <a:pt x="5333" y="9144"/>
                </a:lnTo>
                <a:lnTo>
                  <a:pt x="5333" y="59436"/>
                </a:lnTo>
                <a:lnTo>
                  <a:pt x="9905" y="59436"/>
                </a:lnTo>
                <a:close/>
              </a:path>
              <a:path w="59054" h="68580">
                <a:moveTo>
                  <a:pt x="54101" y="59436"/>
                </a:moveTo>
                <a:lnTo>
                  <a:pt x="5333" y="59436"/>
                </a:lnTo>
                <a:lnTo>
                  <a:pt x="9905" y="64008"/>
                </a:lnTo>
                <a:lnTo>
                  <a:pt x="9905" y="68580"/>
                </a:lnTo>
                <a:lnTo>
                  <a:pt x="49529" y="68580"/>
                </a:lnTo>
                <a:lnTo>
                  <a:pt x="49529" y="64008"/>
                </a:lnTo>
                <a:lnTo>
                  <a:pt x="54101" y="59436"/>
                </a:lnTo>
                <a:close/>
              </a:path>
              <a:path w="59054" h="68580">
                <a:moveTo>
                  <a:pt x="9905" y="68580"/>
                </a:moveTo>
                <a:lnTo>
                  <a:pt x="9905" y="64008"/>
                </a:lnTo>
                <a:lnTo>
                  <a:pt x="5333" y="59436"/>
                </a:lnTo>
                <a:lnTo>
                  <a:pt x="5333" y="68580"/>
                </a:lnTo>
                <a:lnTo>
                  <a:pt x="9905" y="68580"/>
                </a:lnTo>
                <a:close/>
              </a:path>
              <a:path w="59054" h="68580">
                <a:moveTo>
                  <a:pt x="54101" y="9144"/>
                </a:moveTo>
                <a:lnTo>
                  <a:pt x="49529" y="4572"/>
                </a:lnTo>
                <a:lnTo>
                  <a:pt x="49529" y="9144"/>
                </a:lnTo>
                <a:lnTo>
                  <a:pt x="54101" y="9144"/>
                </a:lnTo>
                <a:close/>
              </a:path>
              <a:path w="59054" h="68580">
                <a:moveTo>
                  <a:pt x="54101" y="59436"/>
                </a:moveTo>
                <a:lnTo>
                  <a:pt x="54101" y="9144"/>
                </a:lnTo>
                <a:lnTo>
                  <a:pt x="49529" y="9144"/>
                </a:lnTo>
                <a:lnTo>
                  <a:pt x="49529" y="59436"/>
                </a:lnTo>
                <a:lnTo>
                  <a:pt x="54101" y="59436"/>
                </a:lnTo>
                <a:close/>
              </a:path>
              <a:path w="59054" h="68580">
                <a:moveTo>
                  <a:pt x="54101" y="68580"/>
                </a:moveTo>
                <a:lnTo>
                  <a:pt x="54101" y="59436"/>
                </a:lnTo>
                <a:lnTo>
                  <a:pt x="49529" y="64008"/>
                </a:lnTo>
                <a:lnTo>
                  <a:pt x="49529" y="68580"/>
                </a:lnTo>
                <a:lnTo>
                  <a:pt x="54101" y="68580"/>
                </a:lnTo>
                <a:close/>
              </a:path>
            </a:pathLst>
          </a:custGeom>
          <a:solidFill>
            <a:srgbClr val="CC9900"/>
          </a:solidFill>
        </p:spPr>
        <p:txBody>
          <a:bodyPr wrap="square" lIns="0" tIns="0" rIns="0" bIns="0" rtlCol="0"/>
          <a:lstStyle/>
          <a:p>
            <a:endParaRPr/>
          </a:p>
        </p:txBody>
      </p:sp>
      <p:sp>
        <p:nvSpPr>
          <p:cNvPr id="106" name="object 106"/>
          <p:cNvSpPr/>
          <p:nvPr/>
        </p:nvSpPr>
        <p:spPr>
          <a:xfrm>
            <a:off x="6982968" y="3172205"/>
            <a:ext cx="49530" cy="62230"/>
          </a:xfrm>
          <a:custGeom>
            <a:avLst/>
            <a:gdLst/>
            <a:ahLst/>
            <a:cxnLst/>
            <a:rect l="l" t="t" r="r" b="b"/>
            <a:pathLst>
              <a:path w="49529" h="62230">
                <a:moveTo>
                  <a:pt x="0" y="0"/>
                </a:moveTo>
                <a:lnTo>
                  <a:pt x="0" y="61722"/>
                </a:lnTo>
                <a:lnTo>
                  <a:pt x="49529" y="61722"/>
                </a:lnTo>
                <a:lnTo>
                  <a:pt x="49529" y="0"/>
                </a:lnTo>
                <a:lnTo>
                  <a:pt x="0" y="0"/>
                </a:lnTo>
                <a:close/>
              </a:path>
            </a:pathLst>
          </a:custGeom>
          <a:solidFill>
            <a:srgbClr val="CC9900"/>
          </a:solidFill>
        </p:spPr>
        <p:txBody>
          <a:bodyPr wrap="square" lIns="0" tIns="0" rIns="0" bIns="0" rtlCol="0"/>
          <a:lstStyle/>
          <a:p>
            <a:endParaRPr/>
          </a:p>
        </p:txBody>
      </p:sp>
      <p:sp>
        <p:nvSpPr>
          <p:cNvPr id="107" name="object 107"/>
          <p:cNvSpPr/>
          <p:nvPr/>
        </p:nvSpPr>
        <p:spPr>
          <a:xfrm>
            <a:off x="6978395" y="3167633"/>
            <a:ext cx="59055" cy="71120"/>
          </a:xfrm>
          <a:custGeom>
            <a:avLst/>
            <a:gdLst/>
            <a:ahLst/>
            <a:cxnLst/>
            <a:rect l="l" t="t" r="r" b="b"/>
            <a:pathLst>
              <a:path w="59054" h="71119">
                <a:moveTo>
                  <a:pt x="58674" y="70866"/>
                </a:moveTo>
                <a:lnTo>
                  <a:pt x="58674" y="0"/>
                </a:lnTo>
                <a:lnTo>
                  <a:pt x="0" y="0"/>
                </a:lnTo>
                <a:lnTo>
                  <a:pt x="0" y="70866"/>
                </a:lnTo>
                <a:lnTo>
                  <a:pt x="4572" y="70866"/>
                </a:lnTo>
                <a:lnTo>
                  <a:pt x="4572" y="9143"/>
                </a:lnTo>
                <a:lnTo>
                  <a:pt x="9144" y="4572"/>
                </a:lnTo>
                <a:lnTo>
                  <a:pt x="9144" y="9143"/>
                </a:lnTo>
                <a:lnTo>
                  <a:pt x="48768" y="9143"/>
                </a:lnTo>
                <a:lnTo>
                  <a:pt x="48768" y="4572"/>
                </a:lnTo>
                <a:lnTo>
                  <a:pt x="54101" y="9143"/>
                </a:lnTo>
                <a:lnTo>
                  <a:pt x="54101" y="70866"/>
                </a:lnTo>
                <a:lnTo>
                  <a:pt x="58674" y="70866"/>
                </a:lnTo>
                <a:close/>
              </a:path>
              <a:path w="59054" h="71119">
                <a:moveTo>
                  <a:pt x="9144" y="9143"/>
                </a:moveTo>
                <a:lnTo>
                  <a:pt x="9144" y="4572"/>
                </a:lnTo>
                <a:lnTo>
                  <a:pt x="4572" y="9143"/>
                </a:lnTo>
                <a:lnTo>
                  <a:pt x="9144" y="9143"/>
                </a:lnTo>
                <a:close/>
              </a:path>
              <a:path w="59054" h="71119">
                <a:moveTo>
                  <a:pt x="9144" y="61722"/>
                </a:moveTo>
                <a:lnTo>
                  <a:pt x="9144" y="9143"/>
                </a:lnTo>
                <a:lnTo>
                  <a:pt x="4572" y="9143"/>
                </a:lnTo>
                <a:lnTo>
                  <a:pt x="4572" y="61722"/>
                </a:lnTo>
                <a:lnTo>
                  <a:pt x="9144" y="61722"/>
                </a:lnTo>
                <a:close/>
              </a:path>
              <a:path w="59054" h="71119">
                <a:moveTo>
                  <a:pt x="54101" y="61722"/>
                </a:moveTo>
                <a:lnTo>
                  <a:pt x="4572" y="61722"/>
                </a:lnTo>
                <a:lnTo>
                  <a:pt x="9144" y="66293"/>
                </a:lnTo>
                <a:lnTo>
                  <a:pt x="9144" y="70866"/>
                </a:lnTo>
                <a:lnTo>
                  <a:pt x="48768" y="70866"/>
                </a:lnTo>
                <a:lnTo>
                  <a:pt x="48768" y="66293"/>
                </a:lnTo>
                <a:lnTo>
                  <a:pt x="54101" y="61722"/>
                </a:lnTo>
                <a:close/>
              </a:path>
              <a:path w="59054" h="71119">
                <a:moveTo>
                  <a:pt x="9144" y="70866"/>
                </a:moveTo>
                <a:lnTo>
                  <a:pt x="9144" y="66293"/>
                </a:lnTo>
                <a:lnTo>
                  <a:pt x="4572" y="61722"/>
                </a:lnTo>
                <a:lnTo>
                  <a:pt x="4572" y="70866"/>
                </a:lnTo>
                <a:lnTo>
                  <a:pt x="9144" y="70866"/>
                </a:lnTo>
                <a:close/>
              </a:path>
              <a:path w="59054" h="71119">
                <a:moveTo>
                  <a:pt x="54101" y="9143"/>
                </a:moveTo>
                <a:lnTo>
                  <a:pt x="48768" y="4572"/>
                </a:lnTo>
                <a:lnTo>
                  <a:pt x="48768" y="9143"/>
                </a:lnTo>
                <a:lnTo>
                  <a:pt x="54101" y="9143"/>
                </a:lnTo>
                <a:close/>
              </a:path>
              <a:path w="59054" h="71119">
                <a:moveTo>
                  <a:pt x="54101" y="61722"/>
                </a:moveTo>
                <a:lnTo>
                  <a:pt x="54101" y="9143"/>
                </a:lnTo>
                <a:lnTo>
                  <a:pt x="48768" y="9143"/>
                </a:lnTo>
                <a:lnTo>
                  <a:pt x="48768" y="61722"/>
                </a:lnTo>
                <a:lnTo>
                  <a:pt x="54101" y="61722"/>
                </a:lnTo>
                <a:close/>
              </a:path>
              <a:path w="59054" h="71119">
                <a:moveTo>
                  <a:pt x="54101" y="70866"/>
                </a:moveTo>
                <a:lnTo>
                  <a:pt x="54101" y="61722"/>
                </a:lnTo>
                <a:lnTo>
                  <a:pt x="48768" y="66293"/>
                </a:lnTo>
                <a:lnTo>
                  <a:pt x="48768" y="70866"/>
                </a:lnTo>
                <a:lnTo>
                  <a:pt x="54101" y="70866"/>
                </a:lnTo>
                <a:close/>
              </a:path>
            </a:pathLst>
          </a:custGeom>
          <a:solidFill>
            <a:srgbClr val="CC9900"/>
          </a:solidFill>
        </p:spPr>
        <p:txBody>
          <a:bodyPr wrap="square" lIns="0" tIns="0" rIns="0" bIns="0" rtlCol="0"/>
          <a:lstStyle/>
          <a:p>
            <a:endParaRPr/>
          </a:p>
        </p:txBody>
      </p:sp>
      <p:sp>
        <p:nvSpPr>
          <p:cNvPr id="108" name="object 108"/>
          <p:cNvSpPr/>
          <p:nvPr/>
        </p:nvSpPr>
        <p:spPr>
          <a:xfrm>
            <a:off x="7758683" y="3027426"/>
            <a:ext cx="473709" cy="228600"/>
          </a:xfrm>
          <a:custGeom>
            <a:avLst/>
            <a:gdLst/>
            <a:ahLst/>
            <a:cxnLst/>
            <a:rect l="l" t="t" r="r" b="b"/>
            <a:pathLst>
              <a:path w="473709" h="228600">
                <a:moveTo>
                  <a:pt x="0" y="0"/>
                </a:moveTo>
                <a:lnTo>
                  <a:pt x="0" y="228599"/>
                </a:lnTo>
                <a:lnTo>
                  <a:pt x="473201" y="228599"/>
                </a:lnTo>
                <a:lnTo>
                  <a:pt x="473201" y="0"/>
                </a:lnTo>
                <a:lnTo>
                  <a:pt x="0" y="0"/>
                </a:lnTo>
                <a:close/>
              </a:path>
            </a:pathLst>
          </a:custGeom>
          <a:solidFill>
            <a:srgbClr val="FFFF00"/>
          </a:solidFill>
        </p:spPr>
        <p:txBody>
          <a:bodyPr wrap="square" lIns="0" tIns="0" rIns="0" bIns="0" rtlCol="0"/>
          <a:lstStyle/>
          <a:p>
            <a:endParaRPr/>
          </a:p>
        </p:txBody>
      </p:sp>
      <p:sp>
        <p:nvSpPr>
          <p:cNvPr id="109" name="object 109"/>
          <p:cNvSpPr/>
          <p:nvPr/>
        </p:nvSpPr>
        <p:spPr>
          <a:xfrm>
            <a:off x="7753350" y="3022854"/>
            <a:ext cx="483234" cy="238760"/>
          </a:xfrm>
          <a:custGeom>
            <a:avLst/>
            <a:gdLst/>
            <a:ahLst/>
            <a:cxnLst/>
            <a:rect l="l" t="t" r="r" b="b"/>
            <a:pathLst>
              <a:path w="483234" h="238760">
                <a:moveTo>
                  <a:pt x="483107" y="238505"/>
                </a:moveTo>
                <a:lnTo>
                  <a:pt x="483107" y="0"/>
                </a:lnTo>
                <a:lnTo>
                  <a:pt x="0" y="0"/>
                </a:lnTo>
                <a:lnTo>
                  <a:pt x="0" y="238505"/>
                </a:lnTo>
                <a:lnTo>
                  <a:pt x="5333" y="238505"/>
                </a:lnTo>
                <a:lnTo>
                  <a:pt x="5333" y="9906"/>
                </a:lnTo>
                <a:lnTo>
                  <a:pt x="9905" y="4571"/>
                </a:lnTo>
                <a:lnTo>
                  <a:pt x="9905" y="9906"/>
                </a:lnTo>
                <a:lnTo>
                  <a:pt x="473201" y="9906"/>
                </a:lnTo>
                <a:lnTo>
                  <a:pt x="473201" y="4571"/>
                </a:lnTo>
                <a:lnTo>
                  <a:pt x="478535" y="9906"/>
                </a:lnTo>
                <a:lnTo>
                  <a:pt x="478535" y="238505"/>
                </a:lnTo>
                <a:lnTo>
                  <a:pt x="483107" y="238505"/>
                </a:lnTo>
                <a:close/>
              </a:path>
              <a:path w="483234" h="238760">
                <a:moveTo>
                  <a:pt x="9905" y="9906"/>
                </a:moveTo>
                <a:lnTo>
                  <a:pt x="9905" y="4571"/>
                </a:lnTo>
                <a:lnTo>
                  <a:pt x="5333" y="9906"/>
                </a:lnTo>
                <a:lnTo>
                  <a:pt x="9905" y="9906"/>
                </a:lnTo>
                <a:close/>
              </a:path>
              <a:path w="483234" h="238760">
                <a:moveTo>
                  <a:pt x="9905" y="228599"/>
                </a:moveTo>
                <a:lnTo>
                  <a:pt x="9905" y="9906"/>
                </a:lnTo>
                <a:lnTo>
                  <a:pt x="5333" y="9906"/>
                </a:lnTo>
                <a:lnTo>
                  <a:pt x="5333" y="228599"/>
                </a:lnTo>
                <a:lnTo>
                  <a:pt x="9905" y="228599"/>
                </a:lnTo>
                <a:close/>
              </a:path>
              <a:path w="483234" h="238760">
                <a:moveTo>
                  <a:pt x="478535" y="228599"/>
                </a:moveTo>
                <a:lnTo>
                  <a:pt x="5333" y="228599"/>
                </a:lnTo>
                <a:lnTo>
                  <a:pt x="9905" y="233171"/>
                </a:lnTo>
                <a:lnTo>
                  <a:pt x="9905" y="238505"/>
                </a:lnTo>
                <a:lnTo>
                  <a:pt x="473201" y="238505"/>
                </a:lnTo>
                <a:lnTo>
                  <a:pt x="473201" y="233171"/>
                </a:lnTo>
                <a:lnTo>
                  <a:pt x="478535" y="228599"/>
                </a:lnTo>
                <a:close/>
              </a:path>
              <a:path w="483234" h="238760">
                <a:moveTo>
                  <a:pt x="9905" y="238505"/>
                </a:moveTo>
                <a:lnTo>
                  <a:pt x="9905" y="233171"/>
                </a:lnTo>
                <a:lnTo>
                  <a:pt x="5333" y="228599"/>
                </a:lnTo>
                <a:lnTo>
                  <a:pt x="5333" y="238505"/>
                </a:lnTo>
                <a:lnTo>
                  <a:pt x="9905" y="238505"/>
                </a:lnTo>
                <a:close/>
              </a:path>
              <a:path w="483234" h="238760">
                <a:moveTo>
                  <a:pt x="478535" y="9906"/>
                </a:moveTo>
                <a:lnTo>
                  <a:pt x="473201" y="4571"/>
                </a:lnTo>
                <a:lnTo>
                  <a:pt x="473201" y="9906"/>
                </a:lnTo>
                <a:lnTo>
                  <a:pt x="478535" y="9906"/>
                </a:lnTo>
                <a:close/>
              </a:path>
              <a:path w="483234" h="238760">
                <a:moveTo>
                  <a:pt x="478535" y="228599"/>
                </a:moveTo>
                <a:lnTo>
                  <a:pt x="478535" y="9906"/>
                </a:lnTo>
                <a:lnTo>
                  <a:pt x="473201" y="9906"/>
                </a:lnTo>
                <a:lnTo>
                  <a:pt x="473201" y="228599"/>
                </a:lnTo>
                <a:lnTo>
                  <a:pt x="478535" y="228599"/>
                </a:lnTo>
                <a:close/>
              </a:path>
              <a:path w="483234" h="238760">
                <a:moveTo>
                  <a:pt x="478535" y="238505"/>
                </a:moveTo>
                <a:lnTo>
                  <a:pt x="478535" y="228599"/>
                </a:lnTo>
                <a:lnTo>
                  <a:pt x="473201" y="233171"/>
                </a:lnTo>
                <a:lnTo>
                  <a:pt x="473201" y="238505"/>
                </a:lnTo>
                <a:lnTo>
                  <a:pt x="478535" y="238505"/>
                </a:lnTo>
                <a:close/>
              </a:path>
            </a:pathLst>
          </a:custGeom>
          <a:solidFill>
            <a:srgbClr val="000000"/>
          </a:solidFill>
        </p:spPr>
        <p:txBody>
          <a:bodyPr wrap="square" lIns="0" tIns="0" rIns="0" bIns="0" rtlCol="0"/>
          <a:lstStyle/>
          <a:p>
            <a:endParaRPr/>
          </a:p>
        </p:txBody>
      </p:sp>
      <p:sp>
        <p:nvSpPr>
          <p:cNvPr id="110" name="object 110"/>
          <p:cNvSpPr/>
          <p:nvPr/>
        </p:nvSpPr>
        <p:spPr>
          <a:xfrm>
            <a:off x="7850885" y="3057144"/>
            <a:ext cx="283210" cy="173990"/>
          </a:xfrm>
          <a:custGeom>
            <a:avLst/>
            <a:gdLst/>
            <a:ahLst/>
            <a:cxnLst/>
            <a:rect l="l" t="t" r="r" b="b"/>
            <a:pathLst>
              <a:path w="283209" h="173989">
                <a:moveTo>
                  <a:pt x="0" y="0"/>
                </a:moveTo>
                <a:lnTo>
                  <a:pt x="0" y="173736"/>
                </a:lnTo>
                <a:lnTo>
                  <a:pt x="282701" y="173736"/>
                </a:lnTo>
                <a:lnTo>
                  <a:pt x="282701" y="0"/>
                </a:lnTo>
                <a:lnTo>
                  <a:pt x="0" y="0"/>
                </a:lnTo>
                <a:close/>
              </a:path>
            </a:pathLst>
          </a:custGeom>
          <a:solidFill>
            <a:srgbClr val="FFFFFF"/>
          </a:solidFill>
        </p:spPr>
        <p:txBody>
          <a:bodyPr wrap="square" lIns="0" tIns="0" rIns="0" bIns="0" rtlCol="0"/>
          <a:lstStyle/>
          <a:p>
            <a:endParaRPr/>
          </a:p>
        </p:txBody>
      </p:sp>
      <p:sp>
        <p:nvSpPr>
          <p:cNvPr id="111" name="object 111"/>
          <p:cNvSpPr/>
          <p:nvPr/>
        </p:nvSpPr>
        <p:spPr>
          <a:xfrm>
            <a:off x="7846314" y="3052572"/>
            <a:ext cx="292100" cy="184150"/>
          </a:xfrm>
          <a:custGeom>
            <a:avLst/>
            <a:gdLst/>
            <a:ahLst/>
            <a:cxnLst/>
            <a:rect l="l" t="t" r="r" b="b"/>
            <a:pathLst>
              <a:path w="292100" h="184150">
                <a:moveTo>
                  <a:pt x="291846" y="183642"/>
                </a:moveTo>
                <a:lnTo>
                  <a:pt x="291846" y="0"/>
                </a:lnTo>
                <a:lnTo>
                  <a:pt x="0" y="0"/>
                </a:lnTo>
                <a:lnTo>
                  <a:pt x="0" y="183642"/>
                </a:lnTo>
                <a:lnTo>
                  <a:pt x="4571" y="183642"/>
                </a:lnTo>
                <a:lnTo>
                  <a:pt x="4571" y="9906"/>
                </a:lnTo>
                <a:lnTo>
                  <a:pt x="9905" y="4572"/>
                </a:lnTo>
                <a:lnTo>
                  <a:pt x="9905" y="9906"/>
                </a:lnTo>
                <a:lnTo>
                  <a:pt x="281939" y="9906"/>
                </a:lnTo>
                <a:lnTo>
                  <a:pt x="281939" y="4572"/>
                </a:lnTo>
                <a:lnTo>
                  <a:pt x="287274" y="9906"/>
                </a:lnTo>
                <a:lnTo>
                  <a:pt x="287274" y="183642"/>
                </a:lnTo>
                <a:lnTo>
                  <a:pt x="291846" y="183642"/>
                </a:lnTo>
                <a:close/>
              </a:path>
              <a:path w="292100" h="184150">
                <a:moveTo>
                  <a:pt x="9905" y="9906"/>
                </a:moveTo>
                <a:lnTo>
                  <a:pt x="9905" y="4572"/>
                </a:lnTo>
                <a:lnTo>
                  <a:pt x="4571" y="9906"/>
                </a:lnTo>
                <a:lnTo>
                  <a:pt x="9905" y="9906"/>
                </a:lnTo>
                <a:close/>
              </a:path>
              <a:path w="292100" h="184150">
                <a:moveTo>
                  <a:pt x="9905" y="173736"/>
                </a:moveTo>
                <a:lnTo>
                  <a:pt x="9905" y="9906"/>
                </a:lnTo>
                <a:lnTo>
                  <a:pt x="4571" y="9906"/>
                </a:lnTo>
                <a:lnTo>
                  <a:pt x="4571" y="173736"/>
                </a:lnTo>
                <a:lnTo>
                  <a:pt x="9905" y="173736"/>
                </a:lnTo>
                <a:close/>
              </a:path>
              <a:path w="292100" h="184150">
                <a:moveTo>
                  <a:pt x="287274" y="173736"/>
                </a:moveTo>
                <a:lnTo>
                  <a:pt x="4571" y="173736"/>
                </a:lnTo>
                <a:lnTo>
                  <a:pt x="9905" y="178308"/>
                </a:lnTo>
                <a:lnTo>
                  <a:pt x="9905" y="183642"/>
                </a:lnTo>
                <a:lnTo>
                  <a:pt x="281939" y="183642"/>
                </a:lnTo>
                <a:lnTo>
                  <a:pt x="281939" y="178308"/>
                </a:lnTo>
                <a:lnTo>
                  <a:pt x="287274" y="173736"/>
                </a:lnTo>
                <a:close/>
              </a:path>
              <a:path w="292100" h="184150">
                <a:moveTo>
                  <a:pt x="9905" y="183642"/>
                </a:moveTo>
                <a:lnTo>
                  <a:pt x="9905" y="178308"/>
                </a:lnTo>
                <a:lnTo>
                  <a:pt x="4571" y="173736"/>
                </a:lnTo>
                <a:lnTo>
                  <a:pt x="4571" y="183642"/>
                </a:lnTo>
                <a:lnTo>
                  <a:pt x="9905" y="183642"/>
                </a:lnTo>
                <a:close/>
              </a:path>
              <a:path w="292100" h="184150">
                <a:moveTo>
                  <a:pt x="287274" y="9906"/>
                </a:moveTo>
                <a:lnTo>
                  <a:pt x="281939" y="4572"/>
                </a:lnTo>
                <a:lnTo>
                  <a:pt x="281939" y="9906"/>
                </a:lnTo>
                <a:lnTo>
                  <a:pt x="287274" y="9906"/>
                </a:lnTo>
                <a:close/>
              </a:path>
              <a:path w="292100" h="184150">
                <a:moveTo>
                  <a:pt x="287274" y="173736"/>
                </a:moveTo>
                <a:lnTo>
                  <a:pt x="287274" y="9906"/>
                </a:lnTo>
                <a:lnTo>
                  <a:pt x="281939" y="9906"/>
                </a:lnTo>
                <a:lnTo>
                  <a:pt x="281939" y="173736"/>
                </a:lnTo>
                <a:lnTo>
                  <a:pt x="287274" y="173736"/>
                </a:lnTo>
                <a:close/>
              </a:path>
              <a:path w="292100" h="184150">
                <a:moveTo>
                  <a:pt x="287274" y="183642"/>
                </a:moveTo>
                <a:lnTo>
                  <a:pt x="287274" y="173736"/>
                </a:lnTo>
                <a:lnTo>
                  <a:pt x="281939" y="178308"/>
                </a:lnTo>
                <a:lnTo>
                  <a:pt x="281939" y="183642"/>
                </a:lnTo>
                <a:lnTo>
                  <a:pt x="287274" y="183642"/>
                </a:lnTo>
                <a:close/>
              </a:path>
            </a:pathLst>
          </a:custGeom>
          <a:solidFill>
            <a:srgbClr val="CC9900"/>
          </a:solidFill>
        </p:spPr>
        <p:txBody>
          <a:bodyPr wrap="square" lIns="0" tIns="0" rIns="0" bIns="0" rtlCol="0"/>
          <a:lstStyle/>
          <a:p>
            <a:endParaRPr/>
          </a:p>
        </p:txBody>
      </p:sp>
      <p:sp>
        <p:nvSpPr>
          <p:cNvPr id="112" name="object 112"/>
          <p:cNvSpPr/>
          <p:nvPr/>
        </p:nvSpPr>
        <p:spPr>
          <a:xfrm>
            <a:off x="8151114" y="3160014"/>
            <a:ext cx="49530" cy="59690"/>
          </a:xfrm>
          <a:custGeom>
            <a:avLst/>
            <a:gdLst/>
            <a:ahLst/>
            <a:cxnLst/>
            <a:rect l="l" t="t" r="r" b="b"/>
            <a:pathLst>
              <a:path w="49529" h="59689">
                <a:moveTo>
                  <a:pt x="0" y="0"/>
                </a:moveTo>
                <a:lnTo>
                  <a:pt x="0" y="59436"/>
                </a:lnTo>
                <a:lnTo>
                  <a:pt x="49529" y="59436"/>
                </a:lnTo>
                <a:lnTo>
                  <a:pt x="49529" y="0"/>
                </a:lnTo>
                <a:lnTo>
                  <a:pt x="0" y="0"/>
                </a:lnTo>
                <a:close/>
              </a:path>
            </a:pathLst>
          </a:custGeom>
          <a:solidFill>
            <a:srgbClr val="CC9900"/>
          </a:solidFill>
        </p:spPr>
        <p:txBody>
          <a:bodyPr wrap="square" lIns="0" tIns="0" rIns="0" bIns="0" rtlCol="0"/>
          <a:lstStyle/>
          <a:p>
            <a:endParaRPr/>
          </a:p>
        </p:txBody>
      </p:sp>
      <p:sp>
        <p:nvSpPr>
          <p:cNvPr id="113" name="object 113"/>
          <p:cNvSpPr/>
          <p:nvPr/>
        </p:nvSpPr>
        <p:spPr>
          <a:xfrm>
            <a:off x="8146542" y="3155442"/>
            <a:ext cx="59055" cy="69850"/>
          </a:xfrm>
          <a:custGeom>
            <a:avLst/>
            <a:gdLst/>
            <a:ahLst/>
            <a:cxnLst/>
            <a:rect l="l" t="t" r="r" b="b"/>
            <a:pathLst>
              <a:path w="59054" h="69850">
                <a:moveTo>
                  <a:pt x="58674" y="69342"/>
                </a:moveTo>
                <a:lnTo>
                  <a:pt x="58674" y="0"/>
                </a:lnTo>
                <a:lnTo>
                  <a:pt x="0" y="0"/>
                </a:lnTo>
                <a:lnTo>
                  <a:pt x="0" y="69342"/>
                </a:lnTo>
                <a:lnTo>
                  <a:pt x="4572" y="69342"/>
                </a:lnTo>
                <a:lnTo>
                  <a:pt x="4572" y="9906"/>
                </a:lnTo>
                <a:lnTo>
                  <a:pt x="9905" y="4572"/>
                </a:lnTo>
                <a:lnTo>
                  <a:pt x="9905" y="9906"/>
                </a:lnTo>
                <a:lnTo>
                  <a:pt x="49529" y="9906"/>
                </a:lnTo>
                <a:lnTo>
                  <a:pt x="49529" y="4572"/>
                </a:lnTo>
                <a:lnTo>
                  <a:pt x="54101" y="9906"/>
                </a:lnTo>
                <a:lnTo>
                  <a:pt x="54101" y="69342"/>
                </a:lnTo>
                <a:lnTo>
                  <a:pt x="58674" y="69342"/>
                </a:lnTo>
                <a:close/>
              </a:path>
              <a:path w="59054" h="69850">
                <a:moveTo>
                  <a:pt x="9905" y="9906"/>
                </a:moveTo>
                <a:lnTo>
                  <a:pt x="9905" y="4572"/>
                </a:lnTo>
                <a:lnTo>
                  <a:pt x="4572" y="9906"/>
                </a:lnTo>
                <a:lnTo>
                  <a:pt x="9905" y="9906"/>
                </a:lnTo>
                <a:close/>
              </a:path>
              <a:path w="59054" h="69850">
                <a:moveTo>
                  <a:pt x="9905" y="59436"/>
                </a:moveTo>
                <a:lnTo>
                  <a:pt x="9905" y="9906"/>
                </a:lnTo>
                <a:lnTo>
                  <a:pt x="4572" y="9906"/>
                </a:lnTo>
                <a:lnTo>
                  <a:pt x="4572" y="59436"/>
                </a:lnTo>
                <a:lnTo>
                  <a:pt x="9905" y="59436"/>
                </a:lnTo>
                <a:close/>
              </a:path>
              <a:path w="59054" h="69850">
                <a:moveTo>
                  <a:pt x="54101" y="59436"/>
                </a:moveTo>
                <a:lnTo>
                  <a:pt x="4572" y="59436"/>
                </a:lnTo>
                <a:lnTo>
                  <a:pt x="9905" y="64008"/>
                </a:lnTo>
                <a:lnTo>
                  <a:pt x="9905" y="69342"/>
                </a:lnTo>
                <a:lnTo>
                  <a:pt x="49529" y="69342"/>
                </a:lnTo>
                <a:lnTo>
                  <a:pt x="49529" y="64008"/>
                </a:lnTo>
                <a:lnTo>
                  <a:pt x="54101" y="59436"/>
                </a:lnTo>
                <a:close/>
              </a:path>
              <a:path w="59054" h="69850">
                <a:moveTo>
                  <a:pt x="9905" y="69342"/>
                </a:moveTo>
                <a:lnTo>
                  <a:pt x="9905" y="64008"/>
                </a:lnTo>
                <a:lnTo>
                  <a:pt x="4572" y="59436"/>
                </a:lnTo>
                <a:lnTo>
                  <a:pt x="4572" y="69342"/>
                </a:lnTo>
                <a:lnTo>
                  <a:pt x="9905" y="69342"/>
                </a:lnTo>
                <a:close/>
              </a:path>
              <a:path w="59054" h="69850">
                <a:moveTo>
                  <a:pt x="54101" y="9906"/>
                </a:moveTo>
                <a:lnTo>
                  <a:pt x="49529" y="4572"/>
                </a:lnTo>
                <a:lnTo>
                  <a:pt x="49529" y="9906"/>
                </a:lnTo>
                <a:lnTo>
                  <a:pt x="54101" y="9906"/>
                </a:lnTo>
                <a:close/>
              </a:path>
              <a:path w="59054" h="69850">
                <a:moveTo>
                  <a:pt x="54101" y="59436"/>
                </a:moveTo>
                <a:lnTo>
                  <a:pt x="54101" y="9906"/>
                </a:lnTo>
                <a:lnTo>
                  <a:pt x="49529" y="9906"/>
                </a:lnTo>
                <a:lnTo>
                  <a:pt x="49529" y="59436"/>
                </a:lnTo>
                <a:lnTo>
                  <a:pt x="54101" y="59436"/>
                </a:lnTo>
                <a:close/>
              </a:path>
              <a:path w="59054" h="69850">
                <a:moveTo>
                  <a:pt x="54101" y="69342"/>
                </a:moveTo>
                <a:lnTo>
                  <a:pt x="54101" y="59436"/>
                </a:lnTo>
                <a:lnTo>
                  <a:pt x="49529" y="64008"/>
                </a:lnTo>
                <a:lnTo>
                  <a:pt x="49529" y="69342"/>
                </a:lnTo>
                <a:lnTo>
                  <a:pt x="54101" y="69342"/>
                </a:lnTo>
                <a:close/>
              </a:path>
            </a:pathLst>
          </a:custGeom>
          <a:solidFill>
            <a:srgbClr val="CC9900"/>
          </a:solidFill>
        </p:spPr>
        <p:txBody>
          <a:bodyPr wrap="square" lIns="0" tIns="0" rIns="0" bIns="0" rtlCol="0"/>
          <a:lstStyle/>
          <a:p>
            <a:endParaRPr/>
          </a:p>
        </p:txBody>
      </p:sp>
      <p:sp>
        <p:nvSpPr>
          <p:cNvPr id="114" name="object 114"/>
          <p:cNvSpPr/>
          <p:nvPr/>
        </p:nvSpPr>
        <p:spPr>
          <a:xfrm>
            <a:off x="7778495" y="3162300"/>
            <a:ext cx="48895" cy="62230"/>
          </a:xfrm>
          <a:custGeom>
            <a:avLst/>
            <a:gdLst/>
            <a:ahLst/>
            <a:cxnLst/>
            <a:rect l="l" t="t" r="r" b="b"/>
            <a:pathLst>
              <a:path w="48895" h="62230">
                <a:moveTo>
                  <a:pt x="0" y="0"/>
                </a:moveTo>
                <a:lnTo>
                  <a:pt x="0" y="61721"/>
                </a:lnTo>
                <a:lnTo>
                  <a:pt x="48768" y="61721"/>
                </a:lnTo>
                <a:lnTo>
                  <a:pt x="48768" y="0"/>
                </a:lnTo>
                <a:lnTo>
                  <a:pt x="0" y="0"/>
                </a:lnTo>
                <a:close/>
              </a:path>
            </a:pathLst>
          </a:custGeom>
          <a:solidFill>
            <a:srgbClr val="CC9900"/>
          </a:solidFill>
        </p:spPr>
        <p:txBody>
          <a:bodyPr wrap="square" lIns="0" tIns="0" rIns="0" bIns="0" rtlCol="0"/>
          <a:lstStyle/>
          <a:p>
            <a:endParaRPr/>
          </a:p>
        </p:txBody>
      </p:sp>
      <p:sp>
        <p:nvSpPr>
          <p:cNvPr id="115" name="object 115"/>
          <p:cNvSpPr/>
          <p:nvPr/>
        </p:nvSpPr>
        <p:spPr>
          <a:xfrm>
            <a:off x="7773923" y="3157727"/>
            <a:ext cx="59055" cy="71755"/>
          </a:xfrm>
          <a:custGeom>
            <a:avLst/>
            <a:gdLst/>
            <a:ahLst/>
            <a:cxnLst/>
            <a:rect l="l" t="t" r="r" b="b"/>
            <a:pathLst>
              <a:path w="59054" h="71755">
                <a:moveTo>
                  <a:pt x="58674" y="71627"/>
                </a:moveTo>
                <a:lnTo>
                  <a:pt x="58674" y="0"/>
                </a:lnTo>
                <a:lnTo>
                  <a:pt x="0" y="0"/>
                </a:lnTo>
                <a:lnTo>
                  <a:pt x="0" y="71627"/>
                </a:lnTo>
                <a:lnTo>
                  <a:pt x="4572" y="71627"/>
                </a:lnTo>
                <a:lnTo>
                  <a:pt x="4572" y="9905"/>
                </a:lnTo>
                <a:lnTo>
                  <a:pt x="9144" y="4571"/>
                </a:lnTo>
                <a:lnTo>
                  <a:pt x="9144" y="9905"/>
                </a:lnTo>
                <a:lnTo>
                  <a:pt x="48768" y="9905"/>
                </a:lnTo>
                <a:lnTo>
                  <a:pt x="48768" y="4571"/>
                </a:lnTo>
                <a:lnTo>
                  <a:pt x="53340" y="9905"/>
                </a:lnTo>
                <a:lnTo>
                  <a:pt x="53340" y="71627"/>
                </a:lnTo>
                <a:lnTo>
                  <a:pt x="58674" y="71627"/>
                </a:lnTo>
                <a:close/>
              </a:path>
              <a:path w="59054" h="71755">
                <a:moveTo>
                  <a:pt x="9144" y="9905"/>
                </a:moveTo>
                <a:lnTo>
                  <a:pt x="9144" y="4571"/>
                </a:lnTo>
                <a:lnTo>
                  <a:pt x="4572" y="9905"/>
                </a:lnTo>
                <a:lnTo>
                  <a:pt x="9144" y="9905"/>
                </a:lnTo>
                <a:close/>
              </a:path>
              <a:path w="59054" h="71755">
                <a:moveTo>
                  <a:pt x="9144" y="61721"/>
                </a:moveTo>
                <a:lnTo>
                  <a:pt x="9144" y="9905"/>
                </a:lnTo>
                <a:lnTo>
                  <a:pt x="4572" y="9905"/>
                </a:lnTo>
                <a:lnTo>
                  <a:pt x="4572" y="61721"/>
                </a:lnTo>
                <a:lnTo>
                  <a:pt x="9144" y="61721"/>
                </a:lnTo>
                <a:close/>
              </a:path>
              <a:path w="59054" h="71755">
                <a:moveTo>
                  <a:pt x="53340" y="61721"/>
                </a:moveTo>
                <a:lnTo>
                  <a:pt x="4572" y="61721"/>
                </a:lnTo>
                <a:lnTo>
                  <a:pt x="9144" y="66293"/>
                </a:lnTo>
                <a:lnTo>
                  <a:pt x="9144" y="71627"/>
                </a:lnTo>
                <a:lnTo>
                  <a:pt x="48768" y="71627"/>
                </a:lnTo>
                <a:lnTo>
                  <a:pt x="48768" y="66293"/>
                </a:lnTo>
                <a:lnTo>
                  <a:pt x="53340" y="61721"/>
                </a:lnTo>
                <a:close/>
              </a:path>
              <a:path w="59054" h="71755">
                <a:moveTo>
                  <a:pt x="9144" y="71627"/>
                </a:moveTo>
                <a:lnTo>
                  <a:pt x="9144" y="66293"/>
                </a:lnTo>
                <a:lnTo>
                  <a:pt x="4572" y="61721"/>
                </a:lnTo>
                <a:lnTo>
                  <a:pt x="4572" y="71627"/>
                </a:lnTo>
                <a:lnTo>
                  <a:pt x="9144" y="71627"/>
                </a:lnTo>
                <a:close/>
              </a:path>
              <a:path w="59054" h="71755">
                <a:moveTo>
                  <a:pt x="53340" y="9905"/>
                </a:moveTo>
                <a:lnTo>
                  <a:pt x="48768" y="4571"/>
                </a:lnTo>
                <a:lnTo>
                  <a:pt x="48768" y="9905"/>
                </a:lnTo>
                <a:lnTo>
                  <a:pt x="53340" y="9905"/>
                </a:lnTo>
                <a:close/>
              </a:path>
              <a:path w="59054" h="71755">
                <a:moveTo>
                  <a:pt x="53340" y="61721"/>
                </a:moveTo>
                <a:lnTo>
                  <a:pt x="53340" y="9905"/>
                </a:lnTo>
                <a:lnTo>
                  <a:pt x="48768" y="9905"/>
                </a:lnTo>
                <a:lnTo>
                  <a:pt x="48768" y="61721"/>
                </a:lnTo>
                <a:lnTo>
                  <a:pt x="53340" y="61721"/>
                </a:lnTo>
                <a:close/>
              </a:path>
              <a:path w="59054" h="71755">
                <a:moveTo>
                  <a:pt x="53340" y="71627"/>
                </a:moveTo>
                <a:lnTo>
                  <a:pt x="53340" y="61721"/>
                </a:lnTo>
                <a:lnTo>
                  <a:pt x="48768" y="66293"/>
                </a:lnTo>
                <a:lnTo>
                  <a:pt x="48768" y="71627"/>
                </a:lnTo>
                <a:lnTo>
                  <a:pt x="53340" y="71627"/>
                </a:lnTo>
                <a:close/>
              </a:path>
            </a:pathLst>
          </a:custGeom>
          <a:solidFill>
            <a:srgbClr val="CC9900"/>
          </a:solidFill>
        </p:spPr>
        <p:txBody>
          <a:bodyPr wrap="square" lIns="0" tIns="0" rIns="0" bIns="0" rtlCol="0"/>
          <a:lstStyle/>
          <a:p>
            <a:endParaRPr/>
          </a:p>
        </p:txBody>
      </p:sp>
      <p:sp>
        <p:nvSpPr>
          <p:cNvPr id="116" name="object 116"/>
          <p:cNvSpPr/>
          <p:nvPr/>
        </p:nvSpPr>
        <p:spPr>
          <a:xfrm>
            <a:off x="7700009" y="2694432"/>
            <a:ext cx="598170" cy="304800"/>
          </a:xfrm>
          <a:custGeom>
            <a:avLst/>
            <a:gdLst/>
            <a:ahLst/>
            <a:cxnLst/>
            <a:rect l="l" t="t" r="r" b="b"/>
            <a:pathLst>
              <a:path w="598170" h="304800">
                <a:moveTo>
                  <a:pt x="598170" y="152399"/>
                </a:moveTo>
                <a:lnTo>
                  <a:pt x="574631" y="92904"/>
                </a:lnTo>
                <a:lnTo>
                  <a:pt x="510444" y="44481"/>
                </a:lnTo>
                <a:lnTo>
                  <a:pt x="466122" y="25918"/>
                </a:lnTo>
                <a:lnTo>
                  <a:pt x="415254" y="11918"/>
                </a:lnTo>
                <a:lnTo>
                  <a:pt x="359046" y="3079"/>
                </a:lnTo>
                <a:lnTo>
                  <a:pt x="298704" y="0"/>
                </a:lnTo>
                <a:lnTo>
                  <a:pt x="238394" y="3079"/>
                </a:lnTo>
                <a:lnTo>
                  <a:pt x="182272" y="11918"/>
                </a:lnTo>
                <a:lnTo>
                  <a:pt x="131526" y="25918"/>
                </a:lnTo>
                <a:lnTo>
                  <a:pt x="87344" y="44481"/>
                </a:lnTo>
                <a:lnTo>
                  <a:pt x="50912" y="67009"/>
                </a:lnTo>
                <a:lnTo>
                  <a:pt x="6052" y="121567"/>
                </a:lnTo>
                <a:lnTo>
                  <a:pt x="0" y="152400"/>
                </a:lnTo>
                <a:lnTo>
                  <a:pt x="6052" y="183013"/>
                </a:lnTo>
                <a:lnTo>
                  <a:pt x="50912" y="237455"/>
                </a:lnTo>
                <a:lnTo>
                  <a:pt x="87344" y="260032"/>
                </a:lnTo>
                <a:lnTo>
                  <a:pt x="131526" y="278680"/>
                </a:lnTo>
                <a:lnTo>
                  <a:pt x="182272" y="292774"/>
                </a:lnTo>
                <a:lnTo>
                  <a:pt x="238394" y="301689"/>
                </a:lnTo>
                <a:lnTo>
                  <a:pt x="298704" y="304800"/>
                </a:lnTo>
                <a:lnTo>
                  <a:pt x="359046" y="301689"/>
                </a:lnTo>
                <a:lnTo>
                  <a:pt x="415254" y="292774"/>
                </a:lnTo>
                <a:lnTo>
                  <a:pt x="466122" y="278680"/>
                </a:lnTo>
                <a:lnTo>
                  <a:pt x="510444" y="260032"/>
                </a:lnTo>
                <a:lnTo>
                  <a:pt x="547016" y="237455"/>
                </a:lnTo>
                <a:lnTo>
                  <a:pt x="592084" y="183013"/>
                </a:lnTo>
                <a:lnTo>
                  <a:pt x="598170" y="152399"/>
                </a:lnTo>
                <a:close/>
              </a:path>
            </a:pathLst>
          </a:custGeom>
          <a:solidFill>
            <a:srgbClr val="CCFFFF"/>
          </a:solidFill>
        </p:spPr>
        <p:txBody>
          <a:bodyPr wrap="square" lIns="0" tIns="0" rIns="0" bIns="0" rtlCol="0"/>
          <a:lstStyle/>
          <a:p>
            <a:endParaRPr/>
          </a:p>
        </p:txBody>
      </p:sp>
      <p:sp>
        <p:nvSpPr>
          <p:cNvPr id="117" name="object 117"/>
          <p:cNvSpPr/>
          <p:nvPr/>
        </p:nvSpPr>
        <p:spPr>
          <a:xfrm>
            <a:off x="7694676" y="2690131"/>
            <a:ext cx="608330" cy="313690"/>
          </a:xfrm>
          <a:custGeom>
            <a:avLst/>
            <a:gdLst/>
            <a:ahLst/>
            <a:cxnLst/>
            <a:rect l="l" t="t" r="r" b="b"/>
            <a:pathLst>
              <a:path w="608329" h="313689">
                <a:moveTo>
                  <a:pt x="608076" y="165082"/>
                </a:moveTo>
                <a:lnTo>
                  <a:pt x="608076" y="148318"/>
                </a:lnTo>
                <a:lnTo>
                  <a:pt x="606552" y="139936"/>
                </a:lnTo>
                <a:lnTo>
                  <a:pt x="574734" y="84720"/>
                </a:lnTo>
                <a:lnTo>
                  <a:pt x="516420" y="43262"/>
                </a:lnTo>
                <a:lnTo>
                  <a:pt x="479690" y="27702"/>
                </a:lnTo>
                <a:lnTo>
                  <a:pt x="439171" y="15592"/>
                </a:lnTo>
                <a:lnTo>
                  <a:pt x="395809" y="6936"/>
                </a:lnTo>
                <a:lnTo>
                  <a:pt x="350520" y="1736"/>
                </a:lnTo>
                <a:lnTo>
                  <a:pt x="304338" y="0"/>
                </a:lnTo>
                <a:lnTo>
                  <a:pt x="258118" y="1727"/>
                </a:lnTo>
                <a:lnTo>
                  <a:pt x="212836" y="6922"/>
                </a:lnTo>
                <a:lnTo>
                  <a:pt x="169437" y="15589"/>
                </a:lnTo>
                <a:lnTo>
                  <a:pt x="128867" y="27731"/>
                </a:lnTo>
                <a:lnTo>
                  <a:pt x="92070" y="43353"/>
                </a:lnTo>
                <a:lnTo>
                  <a:pt x="33578" y="85046"/>
                </a:lnTo>
                <a:lnTo>
                  <a:pt x="1523" y="140698"/>
                </a:lnTo>
                <a:lnTo>
                  <a:pt x="0" y="156700"/>
                </a:lnTo>
                <a:lnTo>
                  <a:pt x="762" y="165082"/>
                </a:lnTo>
                <a:lnTo>
                  <a:pt x="2286" y="173464"/>
                </a:lnTo>
                <a:lnTo>
                  <a:pt x="3810" y="181084"/>
                </a:lnTo>
                <a:lnTo>
                  <a:pt x="6858" y="189466"/>
                </a:lnTo>
                <a:lnTo>
                  <a:pt x="9906" y="193944"/>
                </a:lnTo>
                <a:lnTo>
                  <a:pt x="9906" y="149080"/>
                </a:lnTo>
                <a:lnTo>
                  <a:pt x="11429" y="141460"/>
                </a:lnTo>
                <a:lnTo>
                  <a:pt x="46295" y="85841"/>
                </a:lnTo>
                <a:lnTo>
                  <a:pt x="109809" y="45359"/>
                </a:lnTo>
                <a:lnTo>
                  <a:pt x="149491" y="30784"/>
                </a:lnTo>
                <a:lnTo>
                  <a:pt x="192954" y="19982"/>
                </a:lnTo>
                <a:lnTo>
                  <a:pt x="239070" y="12949"/>
                </a:lnTo>
                <a:lnTo>
                  <a:pt x="286712" y="9681"/>
                </a:lnTo>
                <a:lnTo>
                  <a:pt x="334752" y="10174"/>
                </a:lnTo>
                <a:lnTo>
                  <a:pt x="382065" y="14426"/>
                </a:lnTo>
                <a:lnTo>
                  <a:pt x="427522" y="22431"/>
                </a:lnTo>
                <a:lnTo>
                  <a:pt x="469996" y="34186"/>
                </a:lnTo>
                <a:lnTo>
                  <a:pt x="508359" y="49687"/>
                </a:lnTo>
                <a:lnTo>
                  <a:pt x="541486" y="68931"/>
                </a:lnTo>
                <a:lnTo>
                  <a:pt x="587518" y="118631"/>
                </a:lnTo>
                <a:lnTo>
                  <a:pt x="598932" y="156700"/>
                </a:lnTo>
                <a:lnTo>
                  <a:pt x="598932" y="190218"/>
                </a:lnTo>
                <a:lnTo>
                  <a:pt x="608076" y="165082"/>
                </a:lnTo>
                <a:close/>
              </a:path>
              <a:path w="608329" h="313689">
                <a:moveTo>
                  <a:pt x="598932" y="190218"/>
                </a:moveTo>
                <a:lnTo>
                  <a:pt x="598932" y="156700"/>
                </a:lnTo>
                <a:lnTo>
                  <a:pt x="598170" y="164320"/>
                </a:lnTo>
                <a:lnTo>
                  <a:pt x="597408" y="171178"/>
                </a:lnTo>
                <a:lnTo>
                  <a:pt x="579900" y="208167"/>
                </a:lnTo>
                <a:lnTo>
                  <a:pt x="549546" y="238313"/>
                </a:lnTo>
                <a:lnTo>
                  <a:pt x="510044" y="262112"/>
                </a:lnTo>
                <a:lnTo>
                  <a:pt x="465091" y="280060"/>
                </a:lnTo>
                <a:lnTo>
                  <a:pt x="418387" y="292654"/>
                </a:lnTo>
                <a:lnTo>
                  <a:pt x="373630" y="300390"/>
                </a:lnTo>
                <a:lnTo>
                  <a:pt x="334752" y="303746"/>
                </a:lnTo>
                <a:lnTo>
                  <a:pt x="319278" y="303766"/>
                </a:lnTo>
                <a:lnTo>
                  <a:pt x="304038" y="304528"/>
                </a:lnTo>
                <a:lnTo>
                  <a:pt x="262066" y="302840"/>
                </a:lnTo>
                <a:lnTo>
                  <a:pt x="215029" y="297144"/>
                </a:lnTo>
                <a:lnTo>
                  <a:pt x="166108" y="286785"/>
                </a:lnTo>
                <a:lnTo>
                  <a:pt x="118487" y="271111"/>
                </a:lnTo>
                <a:lnTo>
                  <a:pt x="75346" y="249467"/>
                </a:lnTo>
                <a:lnTo>
                  <a:pt x="39870" y="221200"/>
                </a:lnTo>
                <a:lnTo>
                  <a:pt x="15240" y="185656"/>
                </a:lnTo>
                <a:lnTo>
                  <a:pt x="9906" y="163558"/>
                </a:lnTo>
                <a:lnTo>
                  <a:pt x="9906" y="193944"/>
                </a:lnTo>
                <a:lnTo>
                  <a:pt x="32989" y="227857"/>
                </a:lnTo>
                <a:lnTo>
                  <a:pt x="71422" y="258259"/>
                </a:lnTo>
                <a:lnTo>
                  <a:pt x="118497" y="281337"/>
                </a:lnTo>
                <a:lnTo>
                  <a:pt x="170555" y="297753"/>
                </a:lnTo>
                <a:lnTo>
                  <a:pt x="223938" y="308171"/>
                </a:lnTo>
                <a:lnTo>
                  <a:pt x="274985" y="313257"/>
                </a:lnTo>
                <a:lnTo>
                  <a:pt x="320040" y="313672"/>
                </a:lnTo>
                <a:lnTo>
                  <a:pt x="350550" y="312145"/>
                </a:lnTo>
                <a:lnTo>
                  <a:pt x="390736" y="307584"/>
                </a:lnTo>
                <a:lnTo>
                  <a:pt x="436090" y="298370"/>
                </a:lnTo>
                <a:lnTo>
                  <a:pt x="482816" y="284007"/>
                </a:lnTo>
                <a:lnTo>
                  <a:pt x="527144" y="263996"/>
                </a:lnTo>
                <a:lnTo>
                  <a:pt x="565309" y="237837"/>
                </a:lnTo>
                <a:lnTo>
                  <a:pt x="593542" y="205033"/>
                </a:lnTo>
                <a:lnTo>
                  <a:pt x="598932" y="190218"/>
                </a:lnTo>
                <a:close/>
              </a:path>
            </a:pathLst>
          </a:custGeom>
          <a:solidFill>
            <a:srgbClr val="000000"/>
          </a:solidFill>
        </p:spPr>
        <p:txBody>
          <a:bodyPr wrap="square" lIns="0" tIns="0" rIns="0" bIns="0" rtlCol="0"/>
          <a:lstStyle/>
          <a:p>
            <a:endParaRPr/>
          </a:p>
        </p:txBody>
      </p:sp>
      <p:sp>
        <p:nvSpPr>
          <p:cNvPr id="118" name="object 118"/>
          <p:cNvSpPr txBox="1"/>
          <p:nvPr/>
        </p:nvSpPr>
        <p:spPr>
          <a:xfrm>
            <a:off x="7071614" y="2382919"/>
            <a:ext cx="1065530" cy="1045210"/>
          </a:xfrm>
          <a:prstGeom prst="rect">
            <a:avLst/>
          </a:prstGeom>
        </p:spPr>
        <p:txBody>
          <a:bodyPr vert="horz" wrap="square" lIns="0" tIns="65405" rIns="0" bIns="0" rtlCol="0">
            <a:spAutoFit/>
          </a:bodyPr>
          <a:lstStyle/>
          <a:p>
            <a:pPr marL="86360" algn="ctr">
              <a:lnSpc>
                <a:spcPct val="100000"/>
              </a:lnSpc>
              <a:spcBef>
                <a:spcPts val="515"/>
              </a:spcBef>
            </a:pPr>
            <a:r>
              <a:rPr sz="1400" spc="-5" dirty="0">
                <a:latin typeface="Tahoma"/>
                <a:cs typeface="Tahoma"/>
              </a:rPr>
              <a:t>application</a:t>
            </a:r>
            <a:endParaRPr sz="1400">
              <a:latin typeface="Tahoma"/>
              <a:cs typeface="Tahoma"/>
            </a:endParaRPr>
          </a:p>
          <a:p>
            <a:pPr algn="ctr">
              <a:lnSpc>
                <a:spcPct val="100000"/>
              </a:lnSpc>
              <a:spcBef>
                <a:spcPts val="484"/>
              </a:spcBef>
              <a:tabLst>
                <a:tab pos="790575" algn="l"/>
              </a:tabLst>
            </a:pPr>
            <a:r>
              <a:rPr sz="1600" spc="-5" dirty="0">
                <a:latin typeface="Arial"/>
                <a:cs typeface="Arial"/>
              </a:rPr>
              <a:t>P</a:t>
            </a:r>
            <a:r>
              <a:rPr sz="1600" dirty="0">
                <a:latin typeface="Arial"/>
                <a:cs typeface="Arial"/>
              </a:rPr>
              <a:t>2	</a:t>
            </a:r>
            <a:r>
              <a:rPr sz="2400" spc="-7" baseline="1736" dirty="0">
                <a:latin typeface="Arial"/>
                <a:cs typeface="Arial"/>
              </a:rPr>
              <a:t>P3</a:t>
            </a:r>
            <a:endParaRPr sz="2400" baseline="1736">
              <a:latin typeface="Arial"/>
              <a:cs typeface="Arial"/>
            </a:endParaRPr>
          </a:p>
          <a:p>
            <a:pPr>
              <a:lnSpc>
                <a:spcPct val="100000"/>
              </a:lnSpc>
              <a:spcBef>
                <a:spcPts val="5"/>
              </a:spcBef>
            </a:pPr>
            <a:endParaRPr sz="1600">
              <a:latin typeface="Times New Roman"/>
              <a:cs typeface="Times New Roman"/>
            </a:endParaRPr>
          </a:p>
          <a:p>
            <a:pPr marL="15875" algn="ctr">
              <a:lnSpc>
                <a:spcPct val="100000"/>
              </a:lnSpc>
            </a:pPr>
            <a:r>
              <a:rPr sz="1400" spc="-5" dirty="0">
                <a:latin typeface="Tahoma"/>
                <a:cs typeface="Tahoma"/>
              </a:rPr>
              <a:t>transport</a:t>
            </a:r>
            <a:endParaRPr sz="1400">
              <a:latin typeface="Tahoma"/>
              <a:cs typeface="Tahoma"/>
            </a:endParaRPr>
          </a:p>
        </p:txBody>
      </p:sp>
      <p:sp>
        <p:nvSpPr>
          <p:cNvPr id="119" name="object 119"/>
          <p:cNvSpPr/>
          <p:nvPr/>
        </p:nvSpPr>
        <p:spPr>
          <a:xfrm>
            <a:off x="1908810" y="2897885"/>
            <a:ext cx="2752725" cy="2710180"/>
          </a:xfrm>
          <a:custGeom>
            <a:avLst/>
            <a:gdLst/>
            <a:ahLst/>
            <a:cxnLst/>
            <a:rect l="l" t="t" r="r" b="b"/>
            <a:pathLst>
              <a:path w="2752725" h="2710179">
                <a:moveTo>
                  <a:pt x="85344" y="293370"/>
                </a:moveTo>
                <a:lnTo>
                  <a:pt x="42671" y="207264"/>
                </a:lnTo>
                <a:lnTo>
                  <a:pt x="0" y="293370"/>
                </a:lnTo>
                <a:lnTo>
                  <a:pt x="28193" y="293370"/>
                </a:lnTo>
                <a:lnTo>
                  <a:pt x="28193" y="278892"/>
                </a:lnTo>
                <a:lnTo>
                  <a:pt x="57150" y="278892"/>
                </a:lnTo>
                <a:lnTo>
                  <a:pt x="57150" y="293370"/>
                </a:lnTo>
                <a:lnTo>
                  <a:pt x="85344" y="293370"/>
                </a:lnTo>
                <a:close/>
              </a:path>
              <a:path w="2752725" h="2710179">
                <a:moveTo>
                  <a:pt x="57150" y="293370"/>
                </a:moveTo>
                <a:lnTo>
                  <a:pt x="57150" y="278892"/>
                </a:lnTo>
                <a:lnTo>
                  <a:pt x="28193" y="278892"/>
                </a:lnTo>
                <a:lnTo>
                  <a:pt x="28193" y="293370"/>
                </a:lnTo>
                <a:lnTo>
                  <a:pt x="57150" y="293370"/>
                </a:lnTo>
                <a:close/>
              </a:path>
              <a:path w="2752725" h="2710179">
                <a:moveTo>
                  <a:pt x="57150" y="2680650"/>
                </a:moveTo>
                <a:lnTo>
                  <a:pt x="57150" y="293370"/>
                </a:lnTo>
                <a:lnTo>
                  <a:pt x="28193" y="293370"/>
                </a:lnTo>
                <a:lnTo>
                  <a:pt x="28194" y="2699004"/>
                </a:lnTo>
                <a:lnTo>
                  <a:pt x="29718" y="2702814"/>
                </a:lnTo>
                <a:lnTo>
                  <a:pt x="32766" y="2705100"/>
                </a:lnTo>
                <a:lnTo>
                  <a:pt x="35052" y="2708148"/>
                </a:lnTo>
                <a:lnTo>
                  <a:pt x="38862" y="2709672"/>
                </a:lnTo>
                <a:lnTo>
                  <a:pt x="42672" y="2709672"/>
                </a:lnTo>
                <a:lnTo>
                  <a:pt x="42672" y="2680716"/>
                </a:lnTo>
                <a:lnTo>
                  <a:pt x="57150" y="2680650"/>
                </a:lnTo>
                <a:close/>
              </a:path>
              <a:path w="2752725" h="2710179">
                <a:moveTo>
                  <a:pt x="2737866" y="2696718"/>
                </a:moveTo>
                <a:lnTo>
                  <a:pt x="2737866" y="2668524"/>
                </a:lnTo>
                <a:lnTo>
                  <a:pt x="2724150" y="2682240"/>
                </a:lnTo>
                <a:lnTo>
                  <a:pt x="2724086" y="2668586"/>
                </a:lnTo>
                <a:lnTo>
                  <a:pt x="42672" y="2680716"/>
                </a:lnTo>
                <a:lnTo>
                  <a:pt x="57150" y="2695194"/>
                </a:lnTo>
                <a:lnTo>
                  <a:pt x="57150" y="2709602"/>
                </a:lnTo>
                <a:lnTo>
                  <a:pt x="2737866" y="2696718"/>
                </a:lnTo>
                <a:close/>
              </a:path>
              <a:path w="2752725" h="2710179">
                <a:moveTo>
                  <a:pt x="57150" y="2709602"/>
                </a:moveTo>
                <a:lnTo>
                  <a:pt x="57150" y="2695194"/>
                </a:lnTo>
                <a:lnTo>
                  <a:pt x="42672" y="2680716"/>
                </a:lnTo>
                <a:lnTo>
                  <a:pt x="42672" y="2709672"/>
                </a:lnTo>
                <a:lnTo>
                  <a:pt x="57150" y="2709602"/>
                </a:lnTo>
                <a:close/>
              </a:path>
              <a:path w="2752725" h="2710179">
                <a:moveTo>
                  <a:pt x="2429256" y="6858"/>
                </a:moveTo>
                <a:lnTo>
                  <a:pt x="2333244" y="0"/>
                </a:lnTo>
                <a:lnTo>
                  <a:pt x="2385060" y="80772"/>
                </a:lnTo>
                <a:lnTo>
                  <a:pt x="2387346" y="76948"/>
                </a:lnTo>
                <a:lnTo>
                  <a:pt x="2387346" y="48768"/>
                </a:lnTo>
                <a:lnTo>
                  <a:pt x="2401824" y="23622"/>
                </a:lnTo>
                <a:lnTo>
                  <a:pt x="2414643" y="31296"/>
                </a:lnTo>
                <a:lnTo>
                  <a:pt x="2429256" y="6858"/>
                </a:lnTo>
                <a:close/>
              </a:path>
              <a:path w="2752725" h="2710179">
                <a:moveTo>
                  <a:pt x="2414643" y="31296"/>
                </a:moveTo>
                <a:lnTo>
                  <a:pt x="2401824" y="23622"/>
                </a:lnTo>
                <a:lnTo>
                  <a:pt x="2387346" y="48768"/>
                </a:lnTo>
                <a:lnTo>
                  <a:pt x="2399767" y="56175"/>
                </a:lnTo>
                <a:lnTo>
                  <a:pt x="2414643" y="31296"/>
                </a:lnTo>
                <a:close/>
              </a:path>
              <a:path w="2752725" h="2710179">
                <a:moveTo>
                  <a:pt x="2399767" y="56175"/>
                </a:moveTo>
                <a:lnTo>
                  <a:pt x="2387346" y="48768"/>
                </a:lnTo>
                <a:lnTo>
                  <a:pt x="2387346" y="76948"/>
                </a:lnTo>
                <a:lnTo>
                  <a:pt x="2399767" y="56175"/>
                </a:lnTo>
                <a:close/>
              </a:path>
              <a:path w="2752725" h="2710179">
                <a:moveTo>
                  <a:pt x="2752344" y="2690622"/>
                </a:moveTo>
                <a:lnTo>
                  <a:pt x="2752344" y="2682240"/>
                </a:lnTo>
                <a:lnTo>
                  <a:pt x="2741676" y="234696"/>
                </a:lnTo>
                <a:lnTo>
                  <a:pt x="2741676" y="229362"/>
                </a:lnTo>
                <a:lnTo>
                  <a:pt x="2738628" y="224790"/>
                </a:lnTo>
                <a:lnTo>
                  <a:pt x="2734056" y="222504"/>
                </a:lnTo>
                <a:lnTo>
                  <a:pt x="2414643" y="31296"/>
                </a:lnTo>
                <a:lnTo>
                  <a:pt x="2399767" y="56175"/>
                </a:lnTo>
                <a:lnTo>
                  <a:pt x="2712720" y="242798"/>
                </a:lnTo>
                <a:lnTo>
                  <a:pt x="2712720" y="234696"/>
                </a:lnTo>
                <a:lnTo>
                  <a:pt x="2719578" y="246888"/>
                </a:lnTo>
                <a:lnTo>
                  <a:pt x="2719578" y="1703222"/>
                </a:lnTo>
                <a:lnTo>
                  <a:pt x="2724086" y="2668586"/>
                </a:lnTo>
                <a:lnTo>
                  <a:pt x="2737866" y="2668524"/>
                </a:lnTo>
                <a:lnTo>
                  <a:pt x="2737866" y="2696718"/>
                </a:lnTo>
                <a:lnTo>
                  <a:pt x="2746248" y="2696718"/>
                </a:lnTo>
                <a:lnTo>
                  <a:pt x="2752344" y="2690622"/>
                </a:lnTo>
                <a:close/>
              </a:path>
              <a:path w="2752725" h="2710179">
                <a:moveTo>
                  <a:pt x="2719578" y="246888"/>
                </a:moveTo>
                <a:lnTo>
                  <a:pt x="2712720" y="234696"/>
                </a:lnTo>
                <a:lnTo>
                  <a:pt x="2712757" y="242820"/>
                </a:lnTo>
                <a:lnTo>
                  <a:pt x="2719578" y="246888"/>
                </a:lnTo>
                <a:close/>
              </a:path>
              <a:path w="2752725" h="2710179">
                <a:moveTo>
                  <a:pt x="2712757" y="242820"/>
                </a:moveTo>
                <a:lnTo>
                  <a:pt x="2712720" y="234696"/>
                </a:lnTo>
                <a:lnTo>
                  <a:pt x="2712720" y="242798"/>
                </a:lnTo>
                <a:close/>
              </a:path>
              <a:path w="2752725" h="2710179">
                <a:moveTo>
                  <a:pt x="2719578" y="1703222"/>
                </a:moveTo>
                <a:lnTo>
                  <a:pt x="2719578" y="246888"/>
                </a:lnTo>
                <a:lnTo>
                  <a:pt x="2712757" y="242820"/>
                </a:lnTo>
                <a:lnTo>
                  <a:pt x="2719578" y="1703222"/>
                </a:lnTo>
                <a:close/>
              </a:path>
              <a:path w="2752725" h="2710179">
                <a:moveTo>
                  <a:pt x="2737866" y="2668524"/>
                </a:moveTo>
                <a:lnTo>
                  <a:pt x="2724086" y="2668586"/>
                </a:lnTo>
                <a:lnTo>
                  <a:pt x="2724150" y="2682240"/>
                </a:lnTo>
                <a:lnTo>
                  <a:pt x="2737866" y="2668524"/>
                </a:lnTo>
                <a:close/>
              </a:path>
            </a:pathLst>
          </a:custGeom>
          <a:solidFill>
            <a:srgbClr val="CC0000"/>
          </a:solidFill>
        </p:spPr>
        <p:txBody>
          <a:bodyPr wrap="square" lIns="0" tIns="0" rIns="0" bIns="0" rtlCol="0"/>
          <a:lstStyle/>
          <a:p>
            <a:endParaRPr/>
          </a:p>
        </p:txBody>
      </p:sp>
      <p:sp>
        <p:nvSpPr>
          <p:cNvPr id="120" name="object 120"/>
          <p:cNvSpPr/>
          <p:nvPr/>
        </p:nvSpPr>
        <p:spPr>
          <a:xfrm>
            <a:off x="4894326" y="2929127"/>
            <a:ext cx="3147060" cy="3267710"/>
          </a:xfrm>
          <a:custGeom>
            <a:avLst/>
            <a:gdLst/>
            <a:ahLst/>
            <a:cxnLst/>
            <a:rect l="l" t="t" r="r" b="b"/>
            <a:pathLst>
              <a:path w="3147059" h="3267710">
                <a:moveTo>
                  <a:pt x="86106" y="86105"/>
                </a:moveTo>
                <a:lnTo>
                  <a:pt x="43433" y="0"/>
                </a:lnTo>
                <a:lnTo>
                  <a:pt x="0" y="86105"/>
                </a:lnTo>
                <a:lnTo>
                  <a:pt x="28955" y="86105"/>
                </a:lnTo>
                <a:lnTo>
                  <a:pt x="28955" y="71627"/>
                </a:lnTo>
                <a:lnTo>
                  <a:pt x="57150" y="71627"/>
                </a:lnTo>
                <a:lnTo>
                  <a:pt x="57150" y="86105"/>
                </a:lnTo>
                <a:lnTo>
                  <a:pt x="86106" y="86105"/>
                </a:lnTo>
                <a:close/>
              </a:path>
              <a:path w="3147059" h="3267710">
                <a:moveTo>
                  <a:pt x="57150" y="86105"/>
                </a:moveTo>
                <a:lnTo>
                  <a:pt x="57150" y="71627"/>
                </a:lnTo>
                <a:lnTo>
                  <a:pt x="28955" y="71627"/>
                </a:lnTo>
                <a:lnTo>
                  <a:pt x="28955" y="86105"/>
                </a:lnTo>
                <a:lnTo>
                  <a:pt x="57150" y="86105"/>
                </a:lnTo>
                <a:close/>
              </a:path>
              <a:path w="3147059" h="3267710">
                <a:moveTo>
                  <a:pt x="57150" y="3238445"/>
                </a:moveTo>
                <a:lnTo>
                  <a:pt x="57150" y="86105"/>
                </a:lnTo>
                <a:lnTo>
                  <a:pt x="28955" y="86105"/>
                </a:lnTo>
                <a:lnTo>
                  <a:pt x="28956" y="3256788"/>
                </a:lnTo>
                <a:lnTo>
                  <a:pt x="30480" y="3260598"/>
                </a:lnTo>
                <a:lnTo>
                  <a:pt x="35814" y="3265931"/>
                </a:lnTo>
                <a:lnTo>
                  <a:pt x="39624" y="3267455"/>
                </a:lnTo>
                <a:lnTo>
                  <a:pt x="43434" y="3267455"/>
                </a:lnTo>
                <a:lnTo>
                  <a:pt x="43434" y="3238500"/>
                </a:lnTo>
                <a:lnTo>
                  <a:pt x="57150" y="3238445"/>
                </a:lnTo>
                <a:close/>
              </a:path>
              <a:path w="3147059" h="3267710">
                <a:moveTo>
                  <a:pt x="3132582" y="3254502"/>
                </a:moveTo>
                <a:lnTo>
                  <a:pt x="3132582" y="3226307"/>
                </a:lnTo>
                <a:lnTo>
                  <a:pt x="3118104" y="3240785"/>
                </a:lnTo>
                <a:lnTo>
                  <a:pt x="3117942" y="3226365"/>
                </a:lnTo>
                <a:lnTo>
                  <a:pt x="43434" y="3238500"/>
                </a:lnTo>
                <a:lnTo>
                  <a:pt x="57150" y="3252978"/>
                </a:lnTo>
                <a:lnTo>
                  <a:pt x="57150" y="3267398"/>
                </a:lnTo>
                <a:lnTo>
                  <a:pt x="3132582" y="3254502"/>
                </a:lnTo>
                <a:close/>
              </a:path>
              <a:path w="3147059" h="3267710">
                <a:moveTo>
                  <a:pt x="57150" y="3267398"/>
                </a:moveTo>
                <a:lnTo>
                  <a:pt x="57150" y="3252978"/>
                </a:lnTo>
                <a:lnTo>
                  <a:pt x="43434" y="3238500"/>
                </a:lnTo>
                <a:lnTo>
                  <a:pt x="43434" y="3267455"/>
                </a:lnTo>
                <a:lnTo>
                  <a:pt x="57150" y="3267398"/>
                </a:lnTo>
                <a:close/>
              </a:path>
              <a:path w="3147059" h="3267710">
                <a:moveTo>
                  <a:pt x="3143250" y="323849"/>
                </a:moveTo>
                <a:lnTo>
                  <a:pt x="3099054" y="238505"/>
                </a:lnTo>
                <a:lnTo>
                  <a:pt x="3057144" y="324611"/>
                </a:lnTo>
                <a:lnTo>
                  <a:pt x="3085338" y="324362"/>
                </a:lnTo>
                <a:lnTo>
                  <a:pt x="3085338" y="310133"/>
                </a:lnTo>
                <a:lnTo>
                  <a:pt x="3114294" y="310133"/>
                </a:lnTo>
                <a:lnTo>
                  <a:pt x="3114450" y="324104"/>
                </a:lnTo>
                <a:lnTo>
                  <a:pt x="3143250" y="323849"/>
                </a:lnTo>
                <a:close/>
              </a:path>
              <a:path w="3147059" h="3267710">
                <a:moveTo>
                  <a:pt x="3114450" y="324104"/>
                </a:moveTo>
                <a:lnTo>
                  <a:pt x="3114294" y="310133"/>
                </a:lnTo>
                <a:lnTo>
                  <a:pt x="3085338" y="310133"/>
                </a:lnTo>
                <a:lnTo>
                  <a:pt x="3085497" y="324361"/>
                </a:lnTo>
                <a:lnTo>
                  <a:pt x="3114450" y="324104"/>
                </a:lnTo>
                <a:close/>
              </a:path>
              <a:path w="3147059" h="3267710">
                <a:moveTo>
                  <a:pt x="3085497" y="324361"/>
                </a:moveTo>
                <a:lnTo>
                  <a:pt x="3085338" y="310133"/>
                </a:lnTo>
                <a:lnTo>
                  <a:pt x="3085338" y="324362"/>
                </a:lnTo>
                <a:lnTo>
                  <a:pt x="3085497" y="324361"/>
                </a:lnTo>
                <a:close/>
              </a:path>
              <a:path w="3147059" h="3267710">
                <a:moveTo>
                  <a:pt x="3147060" y="3243833"/>
                </a:moveTo>
                <a:lnTo>
                  <a:pt x="3147060" y="3240023"/>
                </a:lnTo>
                <a:lnTo>
                  <a:pt x="3114450" y="324104"/>
                </a:lnTo>
                <a:lnTo>
                  <a:pt x="3085497" y="324361"/>
                </a:lnTo>
                <a:lnTo>
                  <a:pt x="3117942" y="3226365"/>
                </a:lnTo>
                <a:lnTo>
                  <a:pt x="3132582" y="3226307"/>
                </a:lnTo>
                <a:lnTo>
                  <a:pt x="3132582" y="3254502"/>
                </a:lnTo>
                <a:lnTo>
                  <a:pt x="3136392" y="3254502"/>
                </a:lnTo>
                <a:lnTo>
                  <a:pt x="3140202" y="3252978"/>
                </a:lnTo>
                <a:lnTo>
                  <a:pt x="3145536" y="3247643"/>
                </a:lnTo>
                <a:lnTo>
                  <a:pt x="3147060" y="3243833"/>
                </a:lnTo>
                <a:close/>
              </a:path>
              <a:path w="3147059" h="3267710">
                <a:moveTo>
                  <a:pt x="3132582" y="3226307"/>
                </a:moveTo>
                <a:lnTo>
                  <a:pt x="3117942" y="3226365"/>
                </a:lnTo>
                <a:lnTo>
                  <a:pt x="3118104" y="3240785"/>
                </a:lnTo>
                <a:lnTo>
                  <a:pt x="3132582" y="3226307"/>
                </a:lnTo>
                <a:close/>
              </a:path>
            </a:pathLst>
          </a:custGeom>
          <a:solidFill>
            <a:srgbClr val="CC0000"/>
          </a:solidFill>
        </p:spPr>
        <p:txBody>
          <a:bodyPr wrap="square" lIns="0" tIns="0" rIns="0" bIns="0" rtlCol="0"/>
          <a:lstStyle/>
          <a:p>
            <a:endParaRPr/>
          </a:p>
        </p:txBody>
      </p:sp>
      <p:sp>
        <p:nvSpPr>
          <p:cNvPr id="121" name="object 121"/>
          <p:cNvSpPr/>
          <p:nvPr/>
        </p:nvSpPr>
        <p:spPr>
          <a:xfrm>
            <a:off x="5553455" y="2918460"/>
            <a:ext cx="1695450" cy="2479675"/>
          </a:xfrm>
          <a:custGeom>
            <a:avLst/>
            <a:gdLst/>
            <a:ahLst/>
            <a:cxnLst/>
            <a:rect l="l" t="t" r="r" b="b"/>
            <a:pathLst>
              <a:path w="1695450" h="2479675">
                <a:moveTo>
                  <a:pt x="85344" y="85343"/>
                </a:moveTo>
                <a:lnTo>
                  <a:pt x="42671" y="0"/>
                </a:lnTo>
                <a:lnTo>
                  <a:pt x="0" y="85343"/>
                </a:lnTo>
                <a:lnTo>
                  <a:pt x="28193" y="85343"/>
                </a:lnTo>
                <a:lnTo>
                  <a:pt x="28193" y="70865"/>
                </a:lnTo>
                <a:lnTo>
                  <a:pt x="57150" y="70865"/>
                </a:lnTo>
                <a:lnTo>
                  <a:pt x="57150" y="85343"/>
                </a:lnTo>
                <a:lnTo>
                  <a:pt x="85344" y="85343"/>
                </a:lnTo>
                <a:close/>
              </a:path>
              <a:path w="1695450" h="2479675">
                <a:moveTo>
                  <a:pt x="57150" y="85343"/>
                </a:moveTo>
                <a:lnTo>
                  <a:pt x="57150" y="70865"/>
                </a:lnTo>
                <a:lnTo>
                  <a:pt x="28193" y="70865"/>
                </a:lnTo>
                <a:lnTo>
                  <a:pt x="28193" y="85343"/>
                </a:lnTo>
                <a:lnTo>
                  <a:pt x="57150" y="85343"/>
                </a:lnTo>
                <a:close/>
              </a:path>
              <a:path w="1695450" h="2479675">
                <a:moveTo>
                  <a:pt x="57150" y="2450591"/>
                </a:moveTo>
                <a:lnTo>
                  <a:pt x="57150" y="85343"/>
                </a:lnTo>
                <a:lnTo>
                  <a:pt x="28193" y="85343"/>
                </a:lnTo>
                <a:lnTo>
                  <a:pt x="28194" y="2472690"/>
                </a:lnTo>
                <a:lnTo>
                  <a:pt x="35052" y="2479547"/>
                </a:lnTo>
                <a:lnTo>
                  <a:pt x="42671" y="2479547"/>
                </a:lnTo>
                <a:lnTo>
                  <a:pt x="42672" y="2450591"/>
                </a:lnTo>
                <a:lnTo>
                  <a:pt x="57150" y="2450591"/>
                </a:lnTo>
                <a:close/>
              </a:path>
              <a:path w="1695450" h="2479675">
                <a:moveTo>
                  <a:pt x="1652778" y="2450591"/>
                </a:moveTo>
                <a:lnTo>
                  <a:pt x="42672" y="2450591"/>
                </a:lnTo>
                <a:lnTo>
                  <a:pt x="57150" y="2465070"/>
                </a:lnTo>
                <a:lnTo>
                  <a:pt x="57149" y="2479547"/>
                </a:lnTo>
                <a:lnTo>
                  <a:pt x="1638300" y="2479547"/>
                </a:lnTo>
                <a:lnTo>
                  <a:pt x="1638300" y="2465070"/>
                </a:lnTo>
                <a:lnTo>
                  <a:pt x="1652778" y="2450591"/>
                </a:lnTo>
                <a:close/>
              </a:path>
              <a:path w="1695450" h="2479675">
                <a:moveTo>
                  <a:pt x="57149" y="2479547"/>
                </a:moveTo>
                <a:lnTo>
                  <a:pt x="57150" y="2465070"/>
                </a:lnTo>
                <a:lnTo>
                  <a:pt x="42672" y="2450591"/>
                </a:lnTo>
                <a:lnTo>
                  <a:pt x="42671" y="2479547"/>
                </a:lnTo>
                <a:lnTo>
                  <a:pt x="57149" y="2479547"/>
                </a:lnTo>
                <a:close/>
              </a:path>
              <a:path w="1695450" h="2479675">
                <a:moveTo>
                  <a:pt x="1695450" y="328421"/>
                </a:moveTo>
                <a:lnTo>
                  <a:pt x="1652777" y="243077"/>
                </a:lnTo>
                <a:lnTo>
                  <a:pt x="1609344" y="328421"/>
                </a:lnTo>
                <a:lnTo>
                  <a:pt x="1638300" y="328421"/>
                </a:lnTo>
                <a:lnTo>
                  <a:pt x="1638300" y="314705"/>
                </a:lnTo>
                <a:lnTo>
                  <a:pt x="1666494" y="314705"/>
                </a:lnTo>
                <a:lnTo>
                  <a:pt x="1666494" y="328421"/>
                </a:lnTo>
                <a:lnTo>
                  <a:pt x="1695450" y="328421"/>
                </a:lnTo>
                <a:close/>
              </a:path>
              <a:path w="1695450" h="2479675">
                <a:moveTo>
                  <a:pt x="1666494" y="328421"/>
                </a:moveTo>
                <a:lnTo>
                  <a:pt x="1666494" y="314705"/>
                </a:lnTo>
                <a:lnTo>
                  <a:pt x="1638300" y="314705"/>
                </a:lnTo>
                <a:lnTo>
                  <a:pt x="1638300" y="328421"/>
                </a:lnTo>
                <a:lnTo>
                  <a:pt x="1666494" y="328421"/>
                </a:lnTo>
                <a:close/>
              </a:path>
              <a:path w="1695450" h="2479675">
                <a:moveTo>
                  <a:pt x="1666494" y="2472690"/>
                </a:moveTo>
                <a:lnTo>
                  <a:pt x="1666494" y="328421"/>
                </a:lnTo>
                <a:lnTo>
                  <a:pt x="1638300" y="328421"/>
                </a:lnTo>
                <a:lnTo>
                  <a:pt x="1638300" y="2450591"/>
                </a:lnTo>
                <a:lnTo>
                  <a:pt x="1652778" y="2450591"/>
                </a:lnTo>
                <a:lnTo>
                  <a:pt x="1652778" y="2479547"/>
                </a:lnTo>
                <a:lnTo>
                  <a:pt x="1660398" y="2479547"/>
                </a:lnTo>
                <a:lnTo>
                  <a:pt x="1666494" y="2472690"/>
                </a:lnTo>
                <a:close/>
              </a:path>
              <a:path w="1695450" h="2479675">
                <a:moveTo>
                  <a:pt x="1652778" y="2479547"/>
                </a:moveTo>
                <a:lnTo>
                  <a:pt x="1652778" y="2450591"/>
                </a:lnTo>
                <a:lnTo>
                  <a:pt x="1638300" y="2465070"/>
                </a:lnTo>
                <a:lnTo>
                  <a:pt x="1638300" y="2479547"/>
                </a:lnTo>
                <a:lnTo>
                  <a:pt x="1652778" y="2479547"/>
                </a:lnTo>
                <a:close/>
              </a:path>
            </a:pathLst>
          </a:custGeom>
          <a:solidFill>
            <a:srgbClr val="CC0000"/>
          </a:solidFill>
        </p:spPr>
        <p:txBody>
          <a:bodyPr wrap="square" lIns="0" tIns="0" rIns="0" bIns="0" rtlCol="0"/>
          <a:lstStyle/>
          <a:p>
            <a:endParaRPr/>
          </a:p>
        </p:txBody>
      </p:sp>
      <p:sp>
        <p:nvSpPr>
          <p:cNvPr id="122" name="object 122"/>
          <p:cNvSpPr/>
          <p:nvPr/>
        </p:nvSpPr>
        <p:spPr>
          <a:xfrm>
            <a:off x="5881878" y="5141976"/>
            <a:ext cx="1076960" cy="219710"/>
          </a:xfrm>
          <a:custGeom>
            <a:avLst/>
            <a:gdLst/>
            <a:ahLst/>
            <a:cxnLst/>
            <a:rect l="l" t="t" r="r" b="b"/>
            <a:pathLst>
              <a:path w="1076959" h="219710">
                <a:moveTo>
                  <a:pt x="0" y="0"/>
                </a:moveTo>
                <a:lnTo>
                  <a:pt x="0" y="219456"/>
                </a:lnTo>
                <a:lnTo>
                  <a:pt x="1076705" y="219455"/>
                </a:lnTo>
                <a:lnTo>
                  <a:pt x="1076705" y="0"/>
                </a:lnTo>
                <a:lnTo>
                  <a:pt x="0" y="0"/>
                </a:lnTo>
                <a:close/>
              </a:path>
            </a:pathLst>
          </a:custGeom>
          <a:solidFill>
            <a:srgbClr val="00CC99"/>
          </a:solidFill>
        </p:spPr>
        <p:txBody>
          <a:bodyPr wrap="square" lIns="0" tIns="0" rIns="0" bIns="0" rtlCol="0"/>
          <a:lstStyle/>
          <a:p>
            <a:endParaRPr/>
          </a:p>
        </p:txBody>
      </p:sp>
      <p:sp>
        <p:nvSpPr>
          <p:cNvPr id="123" name="object 123"/>
          <p:cNvSpPr/>
          <p:nvPr/>
        </p:nvSpPr>
        <p:spPr>
          <a:xfrm>
            <a:off x="5877305" y="5137403"/>
            <a:ext cx="1085850" cy="228600"/>
          </a:xfrm>
          <a:custGeom>
            <a:avLst/>
            <a:gdLst/>
            <a:ahLst/>
            <a:cxnLst/>
            <a:rect l="l" t="t" r="r" b="b"/>
            <a:pathLst>
              <a:path w="1085850" h="228600">
                <a:moveTo>
                  <a:pt x="1085850" y="228600"/>
                </a:moveTo>
                <a:lnTo>
                  <a:pt x="1085850" y="0"/>
                </a:lnTo>
                <a:lnTo>
                  <a:pt x="0" y="0"/>
                </a:lnTo>
                <a:lnTo>
                  <a:pt x="0" y="228600"/>
                </a:lnTo>
                <a:lnTo>
                  <a:pt x="4572" y="228600"/>
                </a:lnTo>
                <a:lnTo>
                  <a:pt x="4572" y="9906"/>
                </a:lnTo>
                <a:lnTo>
                  <a:pt x="9144" y="4572"/>
                </a:lnTo>
                <a:lnTo>
                  <a:pt x="9144" y="9906"/>
                </a:lnTo>
                <a:lnTo>
                  <a:pt x="1075944" y="9906"/>
                </a:lnTo>
                <a:lnTo>
                  <a:pt x="1075944" y="4572"/>
                </a:lnTo>
                <a:lnTo>
                  <a:pt x="1081277" y="9906"/>
                </a:lnTo>
                <a:lnTo>
                  <a:pt x="1081277" y="228600"/>
                </a:lnTo>
                <a:lnTo>
                  <a:pt x="1085850" y="228600"/>
                </a:lnTo>
                <a:close/>
              </a:path>
              <a:path w="1085850" h="228600">
                <a:moveTo>
                  <a:pt x="9144" y="9906"/>
                </a:moveTo>
                <a:lnTo>
                  <a:pt x="9144" y="4572"/>
                </a:lnTo>
                <a:lnTo>
                  <a:pt x="4572" y="9906"/>
                </a:lnTo>
                <a:lnTo>
                  <a:pt x="9144" y="9906"/>
                </a:lnTo>
                <a:close/>
              </a:path>
              <a:path w="1085850" h="228600">
                <a:moveTo>
                  <a:pt x="9144" y="219456"/>
                </a:moveTo>
                <a:lnTo>
                  <a:pt x="9144" y="9906"/>
                </a:lnTo>
                <a:lnTo>
                  <a:pt x="4572" y="9906"/>
                </a:lnTo>
                <a:lnTo>
                  <a:pt x="4572" y="219456"/>
                </a:lnTo>
                <a:lnTo>
                  <a:pt x="9144" y="219456"/>
                </a:lnTo>
                <a:close/>
              </a:path>
              <a:path w="1085850" h="228600">
                <a:moveTo>
                  <a:pt x="1081277" y="219456"/>
                </a:moveTo>
                <a:lnTo>
                  <a:pt x="4572" y="219456"/>
                </a:lnTo>
                <a:lnTo>
                  <a:pt x="9144" y="224028"/>
                </a:lnTo>
                <a:lnTo>
                  <a:pt x="9144" y="228600"/>
                </a:lnTo>
                <a:lnTo>
                  <a:pt x="1075944" y="228600"/>
                </a:lnTo>
                <a:lnTo>
                  <a:pt x="1075944" y="224028"/>
                </a:lnTo>
                <a:lnTo>
                  <a:pt x="1081277" y="219456"/>
                </a:lnTo>
                <a:close/>
              </a:path>
              <a:path w="1085850" h="228600">
                <a:moveTo>
                  <a:pt x="9144" y="228600"/>
                </a:moveTo>
                <a:lnTo>
                  <a:pt x="9144" y="224028"/>
                </a:lnTo>
                <a:lnTo>
                  <a:pt x="4572" y="219456"/>
                </a:lnTo>
                <a:lnTo>
                  <a:pt x="4572" y="228600"/>
                </a:lnTo>
                <a:lnTo>
                  <a:pt x="9144" y="228600"/>
                </a:lnTo>
                <a:close/>
              </a:path>
              <a:path w="1085850" h="228600">
                <a:moveTo>
                  <a:pt x="1081277" y="9906"/>
                </a:moveTo>
                <a:lnTo>
                  <a:pt x="1075944" y="4572"/>
                </a:lnTo>
                <a:lnTo>
                  <a:pt x="1075944" y="9906"/>
                </a:lnTo>
                <a:lnTo>
                  <a:pt x="1081277" y="9906"/>
                </a:lnTo>
                <a:close/>
              </a:path>
              <a:path w="1085850" h="228600">
                <a:moveTo>
                  <a:pt x="1081277" y="219456"/>
                </a:moveTo>
                <a:lnTo>
                  <a:pt x="1081277" y="9906"/>
                </a:lnTo>
                <a:lnTo>
                  <a:pt x="1075944" y="9906"/>
                </a:lnTo>
                <a:lnTo>
                  <a:pt x="1075944" y="219456"/>
                </a:lnTo>
                <a:lnTo>
                  <a:pt x="1081277" y="219456"/>
                </a:lnTo>
                <a:close/>
              </a:path>
              <a:path w="1085850" h="228600">
                <a:moveTo>
                  <a:pt x="1081277" y="228600"/>
                </a:moveTo>
                <a:lnTo>
                  <a:pt x="1081277" y="219456"/>
                </a:lnTo>
                <a:lnTo>
                  <a:pt x="1075944" y="224028"/>
                </a:lnTo>
                <a:lnTo>
                  <a:pt x="1075944" y="228600"/>
                </a:lnTo>
                <a:lnTo>
                  <a:pt x="1081277" y="228600"/>
                </a:lnTo>
                <a:close/>
              </a:path>
            </a:pathLst>
          </a:custGeom>
          <a:solidFill>
            <a:srgbClr val="000000"/>
          </a:solidFill>
        </p:spPr>
        <p:txBody>
          <a:bodyPr wrap="square" lIns="0" tIns="0" rIns="0" bIns="0" rtlCol="0"/>
          <a:lstStyle/>
          <a:p>
            <a:endParaRPr/>
          </a:p>
        </p:txBody>
      </p:sp>
      <p:sp>
        <p:nvSpPr>
          <p:cNvPr id="124" name="object 124"/>
          <p:cNvSpPr/>
          <p:nvPr/>
        </p:nvSpPr>
        <p:spPr>
          <a:xfrm>
            <a:off x="5694426" y="5223509"/>
            <a:ext cx="278130" cy="114300"/>
          </a:xfrm>
          <a:custGeom>
            <a:avLst/>
            <a:gdLst/>
            <a:ahLst/>
            <a:cxnLst/>
            <a:rect l="l" t="t" r="r" b="b"/>
            <a:pathLst>
              <a:path w="278129" h="114300">
                <a:moveTo>
                  <a:pt x="114300" y="38100"/>
                </a:moveTo>
                <a:lnTo>
                  <a:pt x="114300" y="0"/>
                </a:lnTo>
                <a:lnTo>
                  <a:pt x="0" y="57150"/>
                </a:lnTo>
                <a:lnTo>
                  <a:pt x="95250" y="104775"/>
                </a:lnTo>
                <a:lnTo>
                  <a:pt x="95250" y="38100"/>
                </a:lnTo>
                <a:lnTo>
                  <a:pt x="114300" y="38100"/>
                </a:lnTo>
                <a:close/>
              </a:path>
              <a:path w="278129" h="114300">
                <a:moveTo>
                  <a:pt x="278129" y="76199"/>
                </a:moveTo>
                <a:lnTo>
                  <a:pt x="278129" y="38099"/>
                </a:lnTo>
                <a:lnTo>
                  <a:pt x="95250" y="38100"/>
                </a:lnTo>
                <a:lnTo>
                  <a:pt x="95250" y="76200"/>
                </a:lnTo>
                <a:lnTo>
                  <a:pt x="278129" y="76199"/>
                </a:lnTo>
                <a:close/>
              </a:path>
              <a:path w="278129" h="114300">
                <a:moveTo>
                  <a:pt x="114300" y="114300"/>
                </a:moveTo>
                <a:lnTo>
                  <a:pt x="114300" y="76200"/>
                </a:lnTo>
                <a:lnTo>
                  <a:pt x="95250" y="76200"/>
                </a:lnTo>
                <a:lnTo>
                  <a:pt x="95250" y="104775"/>
                </a:lnTo>
                <a:lnTo>
                  <a:pt x="114300" y="114300"/>
                </a:lnTo>
                <a:close/>
              </a:path>
            </a:pathLst>
          </a:custGeom>
          <a:solidFill>
            <a:srgbClr val="CC0000"/>
          </a:solidFill>
        </p:spPr>
        <p:txBody>
          <a:bodyPr wrap="square" lIns="0" tIns="0" rIns="0" bIns="0" rtlCol="0"/>
          <a:lstStyle/>
          <a:p>
            <a:endParaRPr/>
          </a:p>
        </p:txBody>
      </p:sp>
      <p:sp>
        <p:nvSpPr>
          <p:cNvPr id="125" name="object 125"/>
          <p:cNvSpPr txBox="1"/>
          <p:nvPr/>
        </p:nvSpPr>
        <p:spPr>
          <a:xfrm>
            <a:off x="5887465" y="5340350"/>
            <a:ext cx="1773555" cy="420370"/>
          </a:xfrm>
          <a:prstGeom prst="rect">
            <a:avLst/>
          </a:prstGeom>
        </p:spPr>
        <p:txBody>
          <a:bodyPr vert="horz" wrap="square" lIns="0" tIns="44450" rIns="0" bIns="0" rtlCol="0">
            <a:spAutoFit/>
          </a:bodyPr>
          <a:lstStyle/>
          <a:p>
            <a:pPr marL="12700" marR="5080">
              <a:lnSpc>
                <a:spcPts val="1430"/>
              </a:lnSpc>
              <a:spcBef>
                <a:spcPts val="350"/>
              </a:spcBef>
            </a:pPr>
            <a:r>
              <a:rPr sz="1400" spc="-5" dirty="0">
                <a:latin typeface="Tahoma"/>
                <a:cs typeface="Tahoma"/>
              </a:rPr>
              <a:t>source </a:t>
            </a:r>
            <a:r>
              <a:rPr sz="1400" spc="-30" dirty="0">
                <a:latin typeface="Tahoma"/>
                <a:cs typeface="Tahoma"/>
              </a:rPr>
              <a:t>IP,port: </a:t>
            </a:r>
            <a:r>
              <a:rPr sz="1400" spc="-5" dirty="0">
                <a:latin typeface="Tahoma"/>
                <a:cs typeface="Tahoma"/>
              </a:rPr>
              <a:t>C,5775  dest </a:t>
            </a:r>
            <a:r>
              <a:rPr sz="1400" spc="-30" dirty="0">
                <a:latin typeface="Tahoma"/>
                <a:cs typeface="Tahoma"/>
              </a:rPr>
              <a:t>IP,port:</a:t>
            </a:r>
            <a:r>
              <a:rPr sz="1400" spc="-5" dirty="0">
                <a:latin typeface="Tahoma"/>
                <a:cs typeface="Tahoma"/>
              </a:rPr>
              <a:t> B,80</a:t>
            </a:r>
            <a:endParaRPr sz="1400">
              <a:latin typeface="Tahoma"/>
              <a:cs typeface="Tahoma"/>
            </a:endParaRPr>
          </a:p>
        </p:txBody>
      </p:sp>
      <p:sp>
        <p:nvSpPr>
          <p:cNvPr id="126" name="object 126"/>
          <p:cNvSpPr/>
          <p:nvPr/>
        </p:nvSpPr>
        <p:spPr>
          <a:xfrm>
            <a:off x="5951982" y="5931408"/>
            <a:ext cx="1076325" cy="219075"/>
          </a:xfrm>
          <a:custGeom>
            <a:avLst/>
            <a:gdLst/>
            <a:ahLst/>
            <a:cxnLst/>
            <a:rect l="l" t="t" r="r" b="b"/>
            <a:pathLst>
              <a:path w="1076325" h="219075">
                <a:moveTo>
                  <a:pt x="0" y="0"/>
                </a:moveTo>
                <a:lnTo>
                  <a:pt x="0" y="218693"/>
                </a:lnTo>
                <a:lnTo>
                  <a:pt x="1075943" y="218693"/>
                </a:lnTo>
                <a:lnTo>
                  <a:pt x="1075943" y="0"/>
                </a:lnTo>
                <a:lnTo>
                  <a:pt x="0" y="0"/>
                </a:lnTo>
                <a:close/>
              </a:path>
            </a:pathLst>
          </a:custGeom>
          <a:solidFill>
            <a:srgbClr val="00CC99"/>
          </a:solidFill>
        </p:spPr>
        <p:txBody>
          <a:bodyPr wrap="square" lIns="0" tIns="0" rIns="0" bIns="0" rtlCol="0"/>
          <a:lstStyle/>
          <a:p>
            <a:endParaRPr/>
          </a:p>
        </p:txBody>
      </p:sp>
      <p:sp>
        <p:nvSpPr>
          <p:cNvPr id="127" name="object 127"/>
          <p:cNvSpPr/>
          <p:nvPr/>
        </p:nvSpPr>
        <p:spPr>
          <a:xfrm>
            <a:off x="5947409" y="5926835"/>
            <a:ext cx="1085850" cy="228600"/>
          </a:xfrm>
          <a:custGeom>
            <a:avLst/>
            <a:gdLst/>
            <a:ahLst/>
            <a:cxnLst/>
            <a:rect l="l" t="t" r="r" b="b"/>
            <a:pathLst>
              <a:path w="1085850" h="228600">
                <a:moveTo>
                  <a:pt x="1085849" y="228600"/>
                </a:moveTo>
                <a:lnTo>
                  <a:pt x="1085849" y="0"/>
                </a:lnTo>
                <a:lnTo>
                  <a:pt x="0" y="0"/>
                </a:lnTo>
                <a:lnTo>
                  <a:pt x="0" y="228600"/>
                </a:lnTo>
                <a:lnTo>
                  <a:pt x="4572" y="228600"/>
                </a:lnTo>
                <a:lnTo>
                  <a:pt x="4572" y="9143"/>
                </a:lnTo>
                <a:lnTo>
                  <a:pt x="9143" y="4572"/>
                </a:lnTo>
                <a:lnTo>
                  <a:pt x="9143" y="9143"/>
                </a:lnTo>
                <a:lnTo>
                  <a:pt x="1075943" y="9143"/>
                </a:lnTo>
                <a:lnTo>
                  <a:pt x="1075943" y="4572"/>
                </a:lnTo>
                <a:lnTo>
                  <a:pt x="1080515" y="9143"/>
                </a:lnTo>
                <a:lnTo>
                  <a:pt x="1080515" y="228600"/>
                </a:lnTo>
                <a:lnTo>
                  <a:pt x="1085849" y="228600"/>
                </a:lnTo>
                <a:close/>
              </a:path>
              <a:path w="1085850" h="228600">
                <a:moveTo>
                  <a:pt x="9143" y="9143"/>
                </a:moveTo>
                <a:lnTo>
                  <a:pt x="9143" y="4572"/>
                </a:lnTo>
                <a:lnTo>
                  <a:pt x="4572" y="9143"/>
                </a:lnTo>
                <a:lnTo>
                  <a:pt x="9143" y="9143"/>
                </a:lnTo>
                <a:close/>
              </a:path>
              <a:path w="1085850" h="228600">
                <a:moveTo>
                  <a:pt x="9143" y="218693"/>
                </a:moveTo>
                <a:lnTo>
                  <a:pt x="9143" y="9143"/>
                </a:lnTo>
                <a:lnTo>
                  <a:pt x="4572" y="9143"/>
                </a:lnTo>
                <a:lnTo>
                  <a:pt x="4572" y="218693"/>
                </a:lnTo>
                <a:lnTo>
                  <a:pt x="9143" y="218693"/>
                </a:lnTo>
                <a:close/>
              </a:path>
              <a:path w="1085850" h="228600">
                <a:moveTo>
                  <a:pt x="1080515" y="218693"/>
                </a:moveTo>
                <a:lnTo>
                  <a:pt x="4572" y="218693"/>
                </a:lnTo>
                <a:lnTo>
                  <a:pt x="9143" y="223265"/>
                </a:lnTo>
                <a:lnTo>
                  <a:pt x="9143" y="228600"/>
                </a:lnTo>
                <a:lnTo>
                  <a:pt x="1075943" y="228600"/>
                </a:lnTo>
                <a:lnTo>
                  <a:pt x="1075943" y="223265"/>
                </a:lnTo>
                <a:lnTo>
                  <a:pt x="1080515" y="218693"/>
                </a:lnTo>
                <a:close/>
              </a:path>
              <a:path w="1085850" h="228600">
                <a:moveTo>
                  <a:pt x="9143" y="228600"/>
                </a:moveTo>
                <a:lnTo>
                  <a:pt x="9143" y="223265"/>
                </a:lnTo>
                <a:lnTo>
                  <a:pt x="4572" y="218693"/>
                </a:lnTo>
                <a:lnTo>
                  <a:pt x="4572" y="228600"/>
                </a:lnTo>
                <a:lnTo>
                  <a:pt x="9143" y="228600"/>
                </a:lnTo>
                <a:close/>
              </a:path>
              <a:path w="1085850" h="228600">
                <a:moveTo>
                  <a:pt x="1080515" y="9143"/>
                </a:moveTo>
                <a:lnTo>
                  <a:pt x="1075943" y="4572"/>
                </a:lnTo>
                <a:lnTo>
                  <a:pt x="1075943" y="9143"/>
                </a:lnTo>
                <a:lnTo>
                  <a:pt x="1080515" y="9143"/>
                </a:lnTo>
                <a:close/>
              </a:path>
              <a:path w="1085850" h="228600">
                <a:moveTo>
                  <a:pt x="1080515" y="218693"/>
                </a:moveTo>
                <a:lnTo>
                  <a:pt x="1080515" y="9143"/>
                </a:lnTo>
                <a:lnTo>
                  <a:pt x="1075943" y="9143"/>
                </a:lnTo>
                <a:lnTo>
                  <a:pt x="1075943" y="218693"/>
                </a:lnTo>
                <a:lnTo>
                  <a:pt x="1080515" y="218693"/>
                </a:lnTo>
                <a:close/>
              </a:path>
              <a:path w="1085850" h="228600">
                <a:moveTo>
                  <a:pt x="1080515" y="228600"/>
                </a:moveTo>
                <a:lnTo>
                  <a:pt x="1080515" y="218693"/>
                </a:lnTo>
                <a:lnTo>
                  <a:pt x="1075943" y="223265"/>
                </a:lnTo>
                <a:lnTo>
                  <a:pt x="1075943" y="228600"/>
                </a:lnTo>
                <a:lnTo>
                  <a:pt x="1080515" y="228600"/>
                </a:lnTo>
                <a:close/>
              </a:path>
            </a:pathLst>
          </a:custGeom>
          <a:solidFill>
            <a:srgbClr val="000000"/>
          </a:solidFill>
        </p:spPr>
        <p:txBody>
          <a:bodyPr wrap="square" lIns="0" tIns="0" rIns="0" bIns="0" rtlCol="0"/>
          <a:lstStyle/>
          <a:p>
            <a:endParaRPr/>
          </a:p>
        </p:txBody>
      </p:sp>
      <p:sp>
        <p:nvSpPr>
          <p:cNvPr id="128" name="object 128"/>
          <p:cNvSpPr/>
          <p:nvPr/>
        </p:nvSpPr>
        <p:spPr>
          <a:xfrm>
            <a:off x="5764529" y="6012179"/>
            <a:ext cx="278130" cy="114300"/>
          </a:xfrm>
          <a:custGeom>
            <a:avLst/>
            <a:gdLst/>
            <a:ahLst/>
            <a:cxnLst/>
            <a:rect l="l" t="t" r="r" b="b"/>
            <a:pathLst>
              <a:path w="278129" h="114300">
                <a:moveTo>
                  <a:pt x="114300" y="38100"/>
                </a:moveTo>
                <a:lnTo>
                  <a:pt x="114300" y="0"/>
                </a:lnTo>
                <a:lnTo>
                  <a:pt x="0" y="57150"/>
                </a:lnTo>
                <a:lnTo>
                  <a:pt x="95250" y="104775"/>
                </a:lnTo>
                <a:lnTo>
                  <a:pt x="95250" y="38100"/>
                </a:lnTo>
                <a:lnTo>
                  <a:pt x="114300" y="38100"/>
                </a:lnTo>
                <a:close/>
              </a:path>
              <a:path w="278129" h="114300">
                <a:moveTo>
                  <a:pt x="278129" y="76199"/>
                </a:moveTo>
                <a:lnTo>
                  <a:pt x="278129" y="38099"/>
                </a:lnTo>
                <a:lnTo>
                  <a:pt x="95250" y="38100"/>
                </a:lnTo>
                <a:lnTo>
                  <a:pt x="95250" y="76200"/>
                </a:lnTo>
                <a:lnTo>
                  <a:pt x="278129" y="76199"/>
                </a:lnTo>
                <a:close/>
              </a:path>
              <a:path w="278129" h="114300">
                <a:moveTo>
                  <a:pt x="114300" y="114300"/>
                </a:moveTo>
                <a:lnTo>
                  <a:pt x="114300" y="76200"/>
                </a:lnTo>
                <a:lnTo>
                  <a:pt x="95250" y="76200"/>
                </a:lnTo>
                <a:lnTo>
                  <a:pt x="95250" y="104775"/>
                </a:lnTo>
                <a:lnTo>
                  <a:pt x="114300" y="114300"/>
                </a:lnTo>
                <a:close/>
              </a:path>
            </a:pathLst>
          </a:custGeom>
          <a:solidFill>
            <a:srgbClr val="CC0000"/>
          </a:solidFill>
        </p:spPr>
        <p:txBody>
          <a:bodyPr wrap="square" lIns="0" tIns="0" rIns="0" bIns="0" rtlCol="0"/>
          <a:lstStyle/>
          <a:p>
            <a:endParaRPr/>
          </a:p>
        </p:txBody>
      </p:sp>
      <p:sp>
        <p:nvSpPr>
          <p:cNvPr id="129" name="object 129"/>
          <p:cNvSpPr txBox="1"/>
          <p:nvPr/>
        </p:nvSpPr>
        <p:spPr>
          <a:xfrm>
            <a:off x="5957570" y="6129782"/>
            <a:ext cx="1773555" cy="420370"/>
          </a:xfrm>
          <a:prstGeom prst="rect">
            <a:avLst/>
          </a:prstGeom>
        </p:spPr>
        <p:txBody>
          <a:bodyPr vert="horz" wrap="square" lIns="0" tIns="44450" rIns="0" bIns="0" rtlCol="0">
            <a:spAutoFit/>
          </a:bodyPr>
          <a:lstStyle/>
          <a:p>
            <a:pPr marL="12700" marR="5080">
              <a:lnSpc>
                <a:spcPts val="1430"/>
              </a:lnSpc>
              <a:spcBef>
                <a:spcPts val="350"/>
              </a:spcBef>
            </a:pPr>
            <a:r>
              <a:rPr sz="1400" spc="-5" dirty="0">
                <a:latin typeface="Tahoma"/>
                <a:cs typeface="Tahoma"/>
              </a:rPr>
              <a:t>source </a:t>
            </a:r>
            <a:r>
              <a:rPr sz="1400" spc="-30" dirty="0">
                <a:latin typeface="Tahoma"/>
                <a:cs typeface="Tahoma"/>
              </a:rPr>
              <a:t>IP,port: </a:t>
            </a:r>
            <a:r>
              <a:rPr sz="1400" spc="-5" dirty="0">
                <a:latin typeface="Tahoma"/>
                <a:cs typeface="Tahoma"/>
              </a:rPr>
              <a:t>C,9157  dest </a:t>
            </a:r>
            <a:r>
              <a:rPr sz="1400" spc="-30" dirty="0">
                <a:latin typeface="Tahoma"/>
                <a:cs typeface="Tahoma"/>
              </a:rPr>
              <a:t>IP,port:</a:t>
            </a:r>
            <a:r>
              <a:rPr sz="1400" spc="-5" dirty="0">
                <a:latin typeface="Tahoma"/>
                <a:cs typeface="Tahoma"/>
              </a:rPr>
              <a:t> B</a:t>
            </a:r>
            <a:r>
              <a:rPr sz="1400" u="heavy" spc="-5" dirty="0">
                <a:uFill>
                  <a:solidFill>
                    <a:srgbClr val="CC0000"/>
                  </a:solidFill>
                </a:uFill>
                <a:latin typeface="Tahoma"/>
                <a:cs typeface="Tahoma"/>
              </a:rPr>
              <a:t>,80</a:t>
            </a:r>
            <a:endParaRPr sz="1400" dirty="0">
              <a:latin typeface="Tahoma"/>
              <a:cs typeface="Tahoma"/>
            </a:endParaRPr>
          </a:p>
        </p:txBody>
      </p:sp>
      <p:sp>
        <p:nvSpPr>
          <p:cNvPr id="130" name="object 130"/>
          <p:cNvSpPr txBox="1"/>
          <p:nvPr/>
        </p:nvSpPr>
        <p:spPr>
          <a:xfrm>
            <a:off x="969511" y="6570218"/>
            <a:ext cx="4911725" cy="513715"/>
          </a:xfrm>
          <a:prstGeom prst="rect">
            <a:avLst/>
          </a:prstGeom>
        </p:spPr>
        <p:txBody>
          <a:bodyPr vert="horz" wrap="square" lIns="0" tIns="12700" rIns="0" bIns="0" rtlCol="0">
            <a:spAutoFit/>
          </a:bodyPr>
          <a:lstStyle/>
          <a:p>
            <a:pPr marR="52705" algn="ctr">
              <a:lnSpc>
                <a:spcPct val="100000"/>
              </a:lnSpc>
              <a:spcBef>
                <a:spcPts val="100"/>
              </a:spcBef>
            </a:pPr>
            <a:r>
              <a:rPr sz="1600" dirty="0">
                <a:solidFill>
                  <a:srgbClr val="CC0000"/>
                </a:solidFill>
                <a:latin typeface="Tahoma"/>
                <a:cs typeface="Tahoma"/>
              </a:rPr>
              <a:t>3 segments, gửi tới IP address: B,</a:t>
            </a:r>
            <a:endParaRPr sz="1600" dirty="0">
              <a:latin typeface="Tahoma"/>
              <a:cs typeface="Tahoma"/>
            </a:endParaRPr>
          </a:p>
          <a:p>
            <a:pPr algn="ctr">
              <a:lnSpc>
                <a:spcPct val="100000"/>
              </a:lnSpc>
            </a:pPr>
            <a:r>
              <a:rPr sz="1600" dirty="0">
                <a:solidFill>
                  <a:srgbClr val="CC0000"/>
                </a:solidFill>
                <a:latin typeface="Tahoma"/>
                <a:cs typeface="Tahoma"/>
              </a:rPr>
              <a:t>dest port: 80 được tách kênh tới các socket khác nhau</a:t>
            </a:r>
            <a:endParaRPr sz="1600" dirty="0">
              <a:latin typeface="Tahoma"/>
              <a:cs typeface="Tahoma"/>
            </a:endParaRPr>
          </a:p>
        </p:txBody>
      </p:sp>
      <p:sp>
        <p:nvSpPr>
          <p:cNvPr id="131" name="object 131"/>
          <p:cNvSpPr/>
          <p:nvPr/>
        </p:nvSpPr>
        <p:spPr>
          <a:xfrm>
            <a:off x="7027926" y="5750433"/>
            <a:ext cx="285750" cy="0"/>
          </a:xfrm>
          <a:custGeom>
            <a:avLst/>
            <a:gdLst/>
            <a:ahLst/>
            <a:cxnLst/>
            <a:rect l="l" t="t" r="r" b="b"/>
            <a:pathLst>
              <a:path w="285750">
                <a:moveTo>
                  <a:pt x="0" y="0"/>
                </a:moveTo>
                <a:lnTo>
                  <a:pt x="285750" y="0"/>
                </a:lnTo>
              </a:path>
            </a:pathLst>
          </a:custGeom>
          <a:ln w="28194">
            <a:solidFill>
              <a:srgbClr val="CC0000"/>
            </a:solidFill>
          </a:ln>
        </p:spPr>
        <p:txBody>
          <a:bodyPr wrap="square" lIns="0" tIns="0" rIns="0" bIns="0" rtlCol="0"/>
          <a:lstStyle/>
          <a:p>
            <a:endParaRPr/>
          </a:p>
        </p:txBody>
      </p:sp>
      <p:sp>
        <p:nvSpPr>
          <p:cNvPr id="132" name="object 132"/>
          <p:cNvSpPr txBox="1"/>
          <p:nvPr/>
        </p:nvSpPr>
        <p:spPr>
          <a:xfrm>
            <a:off x="5658865" y="4131055"/>
            <a:ext cx="838200" cy="958215"/>
          </a:xfrm>
          <a:prstGeom prst="rect">
            <a:avLst/>
          </a:prstGeom>
        </p:spPr>
        <p:txBody>
          <a:bodyPr vert="horz" wrap="square" lIns="0" tIns="67310" rIns="0" bIns="0" rtlCol="0">
            <a:spAutoFit/>
          </a:bodyPr>
          <a:lstStyle/>
          <a:p>
            <a:pPr marL="312420" marR="61594" indent="-243204">
              <a:lnSpc>
                <a:spcPct val="80000"/>
              </a:lnSpc>
              <a:spcBef>
                <a:spcPts val="530"/>
              </a:spcBef>
            </a:pPr>
            <a:r>
              <a:rPr sz="1800" spc="-5" dirty="0">
                <a:latin typeface="Arial"/>
                <a:cs typeface="Arial"/>
              </a:rPr>
              <a:t>server:  IP</a:t>
            </a:r>
            <a:endParaRPr sz="1800">
              <a:latin typeface="Arial"/>
              <a:cs typeface="Arial"/>
            </a:endParaRPr>
          </a:p>
          <a:p>
            <a:pPr marL="342265" marR="5080" indent="-330200">
              <a:lnSpc>
                <a:spcPct val="80000"/>
              </a:lnSpc>
            </a:pPr>
            <a:r>
              <a:rPr sz="1800" spc="-5" dirty="0">
                <a:latin typeface="Arial"/>
                <a:cs typeface="Arial"/>
              </a:rPr>
              <a:t>address  </a:t>
            </a:r>
            <a:r>
              <a:rPr sz="1800" dirty="0">
                <a:latin typeface="Arial"/>
                <a:cs typeface="Arial"/>
              </a:rPr>
              <a:t>B</a:t>
            </a:r>
            <a:endParaRPr sz="1800">
              <a:latin typeface="Arial"/>
              <a:cs typeface="Arial"/>
            </a:endParaRPr>
          </a:p>
        </p:txBody>
      </p:sp>
      <p:sp>
        <p:nvSpPr>
          <p:cNvPr id="133" name="object 133"/>
          <p:cNvSpPr/>
          <p:nvPr/>
        </p:nvSpPr>
        <p:spPr>
          <a:xfrm>
            <a:off x="3294126" y="3649979"/>
            <a:ext cx="339851" cy="673608"/>
          </a:xfrm>
          <a:prstGeom prst="rect">
            <a:avLst/>
          </a:prstGeom>
          <a:blipFill>
            <a:blip r:embed="rId8" cstate="print"/>
            <a:stretch>
              <a:fillRect/>
            </a:stretch>
          </a:blipFill>
        </p:spPr>
        <p:txBody>
          <a:bodyPr wrap="square" lIns="0" tIns="0" rIns="0" bIns="0" rtlCol="0"/>
          <a:lstStyle/>
          <a:p>
            <a:endParaRPr/>
          </a:p>
        </p:txBody>
      </p:sp>
      <p:sp>
        <p:nvSpPr>
          <p:cNvPr id="134" name="object 134"/>
          <p:cNvSpPr/>
          <p:nvPr/>
        </p:nvSpPr>
        <p:spPr>
          <a:xfrm>
            <a:off x="3291078" y="3723132"/>
            <a:ext cx="161290" cy="24130"/>
          </a:xfrm>
          <a:custGeom>
            <a:avLst/>
            <a:gdLst/>
            <a:ahLst/>
            <a:cxnLst/>
            <a:rect l="l" t="t" r="r" b="b"/>
            <a:pathLst>
              <a:path w="161289" h="24129">
                <a:moveTo>
                  <a:pt x="160782" y="23622"/>
                </a:moveTo>
                <a:lnTo>
                  <a:pt x="160782" y="0"/>
                </a:lnTo>
                <a:lnTo>
                  <a:pt x="0" y="0"/>
                </a:lnTo>
                <a:lnTo>
                  <a:pt x="0" y="23622"/>
                </a:lnTo>
                <a:lnTo>
                  <a:pt x="4572" y="23622"/>
                </a:lnTo>
                <a:lnTo>
                  <a:pt x="4572" y="9144"/>
                </a:lnTo>
                <a:lnTo>
                  <a:pt x="9906" y="4572"/>
                </a:lnTo>
                <a:lnTo>
                  <a:pt x="9906" y="9144"/>
                </a:lnTo>
                <a:lnTo>
                  <a:pt x="150875" y="9144"/>
                </a:lnTo>
                <a:lnTo>
                  <a:pt x="150875" y="4572"/>
                </a:lnTo>
                <a:lnTo>
                  <a:pt x="155448" y="9144"/>
                </a:lnTo>
                <a:lnTo>
                  <a:pt x="155448" y="23622"/>
                </a:lnTo>
                <a:lnTo>
                  <a:pt x="160782" y="23622"/>
                </a:lnTo>
                <a:close/>
              </a:path>
              <a:path w="161289" h="24129">
                <a:moveTo>
                  <a:pt x="9906" y="9144"/>
                </a:moveTo>
                <a:lnTo>
                  <a:pt x="9906" y="4572"/>
                </a:lnTo>
                <a:lnTo>
                  <a:pt x="4572" y="9144"/>
                </a:lnTo>
                <a:lnTo>
                  <a:pt x="9906" y="9144"/>
                </a:lnTo>
                <a:close/>
              </a:path>
              <a:path w="161289" h="24129">
                <a:moveTo>
                  <a:pt x="9906" y="14478"/>
                </a:moveTo>
                <a:lnTo>
                  <a:pt x="9906" y="9144"/>
                </a:lnTo>
                <a:lnTo>
                  <a:pt x="4572" y="9144"/>
                </a:lnTo>
                <a:lnTo>
                  <a:pt x="4572" y="14478"/>
                </a:lnTo>
                <a:lnTo>
                  <a:pt x="9906" y="14478"/>
                </a:lnTo>
                <a:close/>
              </a:path>
              <a:path w="161289" h="24129">
                <a:moveTo>
                  <a:pt x="155448" y="14478"/>
                </a:moveTo>
                <a:lnTo>
                  <a:pt x="4572" y="14478"/>
                </a:lnTo>
                <a:lnTo>
                  <a:pt x="9906" y="19050"/>
                </a:lnTo>
                <a:lnTo>
                  <a:pt x="9906" y="23622"/>
                </a:lnTo>
                <a:lnTo>
                  <a:pt x="150875" y="23622"/>
                </a:lnTo>
                <a:lnTo>
                  <a:pt x="150875" y="19050"/>
                </a:lnTo>
                <a:lnTo>
                  <a:pt x="155448" y="14478"/>
                </a:lnTo>
                <a:close/>
              </a:path>
              <a:path w="161289" h="24129">
                <a:moveTo>
                  <a:pt x="9906" y="23622"/>
                </a:moveTo>
                <a:lnTo>
                  <a:pt x="9906" y="19050"/>
                </a:lnTo>
                <a:lnTo>
                  <a:pt x="4572" y="14478"/>
                </a:lnTo>
                <a:lnTo>
                  <a:pt x="4572" y="23622"/>
                </a:lnTo>
                <a:lnTo>
                  <a:pt x="9906" y="23622"/>
                </a:lnTo>
                <a:close/>
              </a:path>
              <a:path w="161289" h="24129">
                <a:moveTo>
                  <a:pt x="155448" y="9144"/>
                </a:moveTo>
                <a:lnTo>
                  <a:pt x="150875" y="4572"/>
                </a:lnTo>
                <a:lnTo>
                  <a:pt x="150875" y="9144"/>
                </a:lnTo>
                <a:lnTo>
                  <a:pt x="155448" y="9144"/>
                </a:lnTo>
                <a:close/>
              </a:path>
              <a:path w="161289" h="24129">
                <a:moveTo>
                  <a:pt x="155448" y="14478"/>
                </a:moveTo>
                <a:lnTo>
                  <a:pt x="155448" y="9144"/>
                </a:lnTo>
                <a:lnTo>
                  <a:pt x="150875" y="9144"/>
                </a:lnTo>
                <a:lnTo>
                  <a:pt x="150875" y="14478"/>
                </a:lnTo>
                <a:lnTo>
                  <a:pt x="155448" y="14478"/>
                </a:lnTo>
                <a:close/>
              </a:path>
              <a:path w="161289" h="24129">
                <a:moveTo>
                  <a:pt x="155448" y="23622"/>
                </a:moveTo>
                <a:lnTo>
                  <a:pt x="155448" y="14478"/>
                </a:lnTo>
                <a:lnTo>
                  <a:pt x="150875" y="19050"/>
                </a:lnTo>
                <a:lnTo>
                  <a:pt x="150875" y="23622"/>
                </a:lnTo>
                <a:lnTo>
                  <a:pt x="155448" y="23622"/>
                </a:lnTo>
                <a:close/>
              </a:path>
            </a:pathLst>
          </a:custGeom>
          <a:solidFill>
            <a:srgbClr val="000000"/>
          </a:solidFill>
        </p:spPr>
        <p:txBody>
          <a:bodyPr wrap="square" lIns="0" tIns="0" rIns="0" bIns="0" rtlCol="0"/>
          <a:lstStyle/>
          <a:p>
            <a:endParaRPr/>
          </a:p>
        </p:txBody>
      </p:sp>
      <p:sp>
        <p:nvSpPr>
          <p:cNvPr id="135" name="object 135"/>
          <p:cNvSpPr/>
          <p:nvPr/>
        </p:nvSpPr>
        <p:spPr>
          <a:xfrm>
            <a:off x="3432809" y="3720084"/>
            <a:ext cx="146050" cy="43180"/>
          </a:xfrm>
          <a:custGeom>
            <a:avLst/>
            <a:gdLst/>
            <a:ahLst/>
            <a:cxnLst/>
            <a:rect l="l" t="t" r="r" b="b"/>
            <a:pathLst>
              <a:path w="146050" h="43179">
                <a:moveTo>
                  <a:pt x="145542" y="21336"/>
                </a:moveTo>
                <a:lnTo>
                  <a:pt x="143922" y="13180"/>
                </a:lnTo>
                <a:lnTo>
                  <a:pt x="139446" y="6381"/>
                </a:lnTo>
                <a:lnTo>
                  <a:pt x="132683" y="1726"/>
                </a:lnTo>
                <a:lnTo>
                  <a:pt x="124205" y="0"/>
                </a:lnTo>
                <a:lnTo>
                  <a:pt x="21336" y="0"/>
                </a:lnTo>
                <a:lnTo>
                  <a:pt x="12858" y="1726"/>
                </a:lnTo>
                <a:lnTo>
                  <a:pt x="6095" y="6381"/>
                </a:lnTo>
                <a:lnTo>
                  <a:pt x="1619" y="13180"/>
                </a:lnTo>
                <a:lnTo>
                  <a:pt x="0" y="21336"/>
                </a:lnTo>
                <a:lnTo>
                  <a:pt x="1619" y="29813"/>
                </a:lnTo>
                <a:lnTo>
                  <a:pt x="6095" y="36576"/>
                </a:lnTo>
                <a:lnTo>
                  <a:pt x="12858" y="41052"/>
                </a:lnTo>
                <a:lnTo>
                  <a:pt x="21336" y="42672"/>
                </a:lnTo>
                <a:lnTo>
                  <a:pt x="124205" y="42672"/>
                </a:lnTo>
                <a:lnTo>
                  <a:pt x="132683" y="41052"/>
                </a:lnTo>
                <a:lnTo>
                  <a:pt x="139446" y="36576"/>
                </a:lnTo>
                <a:lnTo>
                  <a:pt x="143922" y="29813"/>
                </a:lnTo>
                <a:lnTo>
                  <a:pt x="145542" y="21336"/>
                </a:lnTo>
                <a:close/>
              </a:path>
            </a:pathLst>
          </a:custGeom>
          <a:solidFill>
            <a:srgbClr val="000000"/>
          </a:solidFill>
        </p:spPr>
        <p:txBody>
          <a:bodyPr wrap="square" lIns="0" tIns="0" rIns="0" bIns="0" rtlCol="0"/>
          <a:lstStyle/>
          <a:p>
            <a:endParaRPr/>
          </a:p>
        </p:txBody>
      </p:sp>
      <p:sp>
        <p:nvSpPr>
          <p:cNvPr id="136" name="object 136"/>
          <p:cNvSpPr/>
          <p:nvPr/>
        </p:nvSpPr>
        <p:spPr>
          <a:xfrm>
            <a:off x="3299459" y="3830192"/>
            <a:ext cx="151130" cy="0"/>
          </a:xfrm>
          <a:custGeom>
            <a:avLst/>
            <a:gdLst/>
            <a:ahLst/>
            <a:cxnLst/>
            <a:rect l="l" t="t" r="r" b="b"/>
            <a:pathLst>
              <a:path w="151129">
                <a:moveTo>
                  <a:pt x="0" y="0"/>
                </a:moveTo>
                <a:lnTo>
                  <a:pt x="150875" y="0"/>
                </a:lnTo>
              </a:path>
            </a:pathLst>
          </a:custGeom>
          <a:ln w="14477">
            <a:solidFill>
              <a:srgbClr val="000000"/>
            </a:solidFill>
          </a:ln>
        </p:spPr>
        <p:txBody>
          <a:bodyPr wrap="square" lIns="0" tIns="0" rIns="0" bIns="0" rtlCol="0"/>
          <a:lstStyle/>
          <a:p>
            <a:endParaRPr/>
          </a:p>
        </p:txBody>
      </p:sp>
      <p:sp>
        <p:nvSpPr>
          <p:cNvPr id="137" name="object 137"/>
          <p:cNvSpPr/>
          <p:nvPr/>
        </p:nvSpPr>
        <p:spPr>
          <a:xfrm>
            <a:off x="3294126" y="3818382"/>
            <a:ext cx="161290" cy="24130"/>
          </a:xfrm>
          <a:custGeom>
            <a:avLst/>
            <a:gdLst/>
            <a:ahLst/>
            <a:cxnLst/>
            <a:rect l="l" t="t" r="r" b="b"/>
            <a:pathLst>
              <a:path w="161289" h="24129">
                <a:moveTo>
                  <a:pt x="160782" y="23622"/>
                </a:moveTo>
                <a:lnTo>
                  <a:pt x="160782" y="0"/>
                </a:lnTo>
                <a:lnTo>
                  <a:pt x="0" y="0"/>
                </a:lnTo>
                <a:lnTo>
                  <a:pt x="0" y="23622"/>
                </a:lnTo>
                <a:lnTo>
                  <a:pt x="5334" y="23622"/>
                </a:lnTo>
                <a:lnTo>
                  <a:pt x="5334" y="9144"/>
                </a:lnTo>
                <a:lnTo>
                  <a:pt x="9906" y="4572"/>
                </a:lnTo>
                <a:lnTo>
                  <a:pt x="9906" y="9144"/>
                </a:lnTo>
                <a:lnTo>
                  <a:pt x="150875" y="9144"/>
                </a:lnTo>
                <a:lnTo>
                  <a:pt x="150875" y="4572"/>
                </a:lnTo>
                <a:lnTo>
                  <a:pt x="156210" y="9144"/>
                </a:lnTo>
                <a:lnTo>
                  <a:pt x="156210" y="23622"/>
                </a:lnTo>
                <a:lnTo>
                  <a:pt x="160782" y="23622"/>
                </a:lnTo>
                <a:close/>
              </a:path>
              <a:path w="161289" h="24129">
                <a:moveTo>
                  <a:pt x="9906" y="9144"/>
                </a:moveTo>
                <a:lnTo>
                  <a:pt x="9906" y="4572"/>
                </a:lnTo>
                <a:lnTo>
                  <a:pt x="5334" y="9144"/>
                </a:lnTo>
                <a:lnTo>
                  <a:pt x="9906" y="9144"/>
                </a:lnTo>
                <a:close/>
              </a:path>
              <a:path w="161289" h="24129">
                <a:moveTo>
                  <a:pt x="9906" y="14478"/>
                </a:moveTo>
                <a:lnTo>
                  <a:pt x="9906" y="9144"/>
                </a:lnTo>
                <a:lnTo>
                  <a:pt x="5334" y="9144"/>
                </a:lnTo>
                <a:lnTo>
                  <a:pt x="5334" y="14478"/>
                </a:lnTo>
                <a:lnTo>
                  <a:pt x="9906" y="14478"/>
                </a:lnTo>
                <a:close/>
              </a:path>
              <a:path w="161289" h="24129">
                <a:moveTo>
                  <a:pt x="156210" y="14478"/>
                </a:moveTo>
                <a:lnTo>
                  <a:pt x="5334" y="14478"/>
                </a:lnTo>
                <a:lnTo>
                  <a:pt x="9906" y="19050"/>
                </a:lnTo>
                <a:lnTo>
                  <a:pt x="9906" y="23622"/>
                </a:lnTo>
                <a:lnTo>
                  <a:pt x="150875" y="23622"/>
                </a:lnTo>
                <a:lnTo>
                  <a:pt x="150875" y="19050"/>
                </a:lnTo>
                <a:lnTo>
                  <a:pt x="156210" y="14478"/>
                </a:lnTo>
                <a:close/>
              </a:path>
              <a:path w="161289" h="24129">
                <a:moveTo>
                  <a:pt x="9906" y="23622"/>
                </a:moveTo>
                <a:lnTo>
                  <a:pt x="9906" y="19050"/>
                </a:lnTo>
                <a:lnTo>
                  <a:pt x="5334" y="14478"/>
                </a:lnTo>
                <a:lnTo>
                  <a:pt x="5334" y="23622"/>
                </a:lnTo>
                <a:lnTo>
                  <a:pt x="9906" y="23622"/>
                </a:lnTo>
                <a:close/>
              </a:path>
              <a:path w="161289" h="24129">
                <a:moveTo>
                  <a:pt x="156210" y="9144"/>
                </a:moveTo>
                <a:lnTo>
                  <a:pt x="150875" y="4572"/>
                </a:lnTo>
                <a:lnTo>
                  <a:pt x="150875" y="9144"/>
                </a:lnTo>
                <a:lnTo>
                  <a:pt x="156210" y="9144"/>
                </a:lnTo>
                <a:close/>
              </a:path>
              <a:path w="161289" h="24129">
                <a:moveTo>
                  <a:pt x="156210" y="14478"/>
                </a:moveTo>
                <a:lnTo>
                  <a:pt x="156210" y="9144"/>
                </a:lnTo>
                <a:lnTo>
                  <a:pt x="150875" y="9144"/>
                </a:lnTo>
                <a:lnTo>
                  <a:pt x="150875" y="14478"/>
                </a:lnTo>
                <a:lnTo>
                  <a:pt x="156210" y="14478"/>
                </a:lnTo>
                <a:close/>
              </a:path>
              <a:path w="161289" h="24129">
                <a:moveTo>
                  <a:pt x="156210" y="23622"/>
                </a:moveTo>
                <a:lnTo>
                  <a:pt x="156210" y="14478"/>
                </a:lnTo>
                <a:lnTo>
                  <a:pt x="150875" y="19050"/>
                </a:lnTo>
                <a:lnTo>
                  <a:pt x="150875" y="23622"/>
                </a:lnTo>
                <a:lnTo>
                  <a:pt x="156210" y="23622"/>
                </a:lnTo>
                <a:close/>
              </a:path>
            </a:pathLst>
          </a:custGeom>
          <a:solidFill>
            <a:srgbClr val="000000"/>
          </a:solidFill>
        </p:spPr>
        <p:txBody>
          <a:bodyPr wrap="square" lIns="0" tIns="0" rIns="0" bIns="0" rtlCol="0"/>
          <a:lstStyle/>
          <a:p>
            <a:endParaRPr/>
          </a:p>
        </p:txBody>
      </p:sp>
      <p:sp>
        <p:nvSpPr>
          <p:cNvPr id="138" name="object 138"/>
          <p:cNvSpPr/>
          <p:nvPr/>
        </p:nvSpPr>
        <p:spPr>
          <a:xfrm>
            <a:off x="3431285" y="3816858"/>
            <a:ext cx="146050" cy="44450"/>
          </a:xfrm>
          <a:custGeom>
            <a:avLst/>
            <a:gdLst/>
            <a:ahLst/>
            <a:cxnLst/>
            <a:rect l="l" t="t" r="r" b="b"/>
            <a:pathLst>
              <a:path w="146050" h="44450">
                <a:moveTo>
                  <a:pt x="145542" y="22098"/>
                </a:moveTo>
                <a:lnTo>
                  <a:pt x="143803" y="13501"/>
                </a:lnTo>
                <a:lnTo>
                  <a:pt x="139065" y="6477"/>
                </a:lnTo>
                <a:lnTo>
                  <a:pt x="132040" y="1738"/>
                </a:lnTo>
                <a:lnTo>
                  <a:pt x="123444" y="0"/>
                </a:lnTo>
                <a:lnTo>
                  <a:pt x="22098" y="0"/>
                </a:lnTo>
                <a:lnTo>
                  <a:pt x="13501" y="1738"/>
                </a:lnTo>
                <a:lnTo>
                  <a:pt x="6476" y="6477"/>
                </a:lnTo>
                <a:lnTo>
                  <a:pt x="1738" y="13501"/>
                </a:lnTo>
                <a:lnTo>
                  <a:pt x="0" y="22098"/>
                </a:lnTo>
                <a:lnTo>
                  <a:pt x="1738" y="30694"/>
                </a:lnTo>
                <a:lnTo>
                  <a:pt x="6476" y="37719"/>
                </a:lnTo>
                <a:lnTo>
                  <a:pt x="13501" y="42457"/>
                </a:lnTo>
                <a:lnTo>
                  <a:pt x="22098" y="44196"/>
                </a:lnTo>
                <a:lnTo>
                  <a:pt x="123444" y="44196"/>
                </a:lnTo>
                <a:lnTo>
                  <a:pt x="132040" y="42457"/>
                </a:lnTo>
                <a:lnTo>
                  <a:pt x="139065" y="37719"/>
                </a:lnTo>
                <a:lnTo>
                  <a:pt x="143803" y="30694"/>
                </a:lnTo>
                <a:lnTo>
                  <a:pt x="145542" y="22098"/>
                </a:lnTo>
                <a:close/>
              </a:path>
            </a:pathLst>
          </a:custGeom>
          <a:solidFill>
            <a:srgbClr val="000000"/>
          </a:solidFill>
        </p:spPr>
        <p:txBody>
          <a:bodyPr wrap="square" lIns="0" tIns="0" rIns="0" bIns="0" rtlCol="0"/>
          <a:lstStyle/>
          <a:p>
            <a:endParaRPr/>
          </a:p>
        </p:txBody>
      </p:sp>
      <p:sp>
        <p:nvSpPr>
          <p:cNvPr id="139" name="object 139"/>
          <p:cNvSpPr/>
          <p:nvPr/>
        </p:nvSpPr>
        <p:spPr>
          <a:xfrm>
            <a:off x="3297935" y="3930015"/>
            <a:ext cx="151130" cy="0"/>
          </a:xfrm>
          <a:custGeom>
            <a:avLst/>
            <a:gdLst/>
            <a:ahLst/>
            <a:cxnLst/>
            <a:rect l="l" t="t" r="r" b="b"/>
            <a:pathLst>
              <a:path w="151129">
                <a:moveTo>
                  <a:pt x="0" y="0"/>
                </a:moveTo>
                <a:lnTo>
                  <a:pt x="150875" y="0"/>
                </a:lnTo>
              </a:path>
            </a:pathLst>
          </a:custGeom>
          <a:ln w="14477">
            <a:solidFill>
              <a:srgbClr val="000000"/>
            </a:solidFill>
          </a:ln>
        </p:spPr>
        <p:txBody>
          <a:bodyPr wrap="square" lIns="0" tIns="0" rIns="0" bIns="0" rtlCol="0"/>
          <a:lstStyle/>
          <a:p>
            <a:endParaRPr/>
          </a:p>
        </p:txBody>
      </p:sp>
      <p:sp>
        <p:nvSpPr>
          <p:cNvPr id="140" name="object 140"/>
          <p:cNvSpPr/>
          <p:nvPr/>
        </p:nvSpPr>
        <p:spPr>
          <a:xfrm>
            <a:off x="3292602" y="3918203"/>
            <a:ext cx="161290" cy="24130"/>
          </a:xfrm>
          <a:custGeom>
            <a:avLst/>
            <a:gdLst/>
            <a:ahLst/>
            <a:cxnLst/>
            <a:rect l="l" t="t" r="r" b="b"/>
            <a:pathLst>
              <a:path w="161289" h="24129">
                <a:moveTo>
                  <a:pt x="160782" y="23622"/>
                </a:moveTo>
                <a:lnTo>
                  <a:pt x="160782" y="0"/>
                </a:lnTo>
                <a:lnTo>
                  <a:pt x="0" y="0"/>
                </a:lnTo>
                <a:lnTo>
                  <a:pt x="0" y="23622"/>
                </a:lnTo>
                <a:lnTo>
                  <a:pt x="5334" y="23622"/>
                </a:lnTo>
                <a:lnTo>
                  <a:pt x="5334" y="9906"/>
                </a:lnTo>
                <a:lnTo>
                  <a:pt x="9906" y="4572"/>
                </a:lnTo>
                <a:lnTo>
                  <a:pt x="9906" y="9906"/>
                </a:lnTo>
                <a:lnTo>
                  <a:pt x="150875" y="9906"/>
                </a:lnTo>
                <a:lnTo>
                  <a:pt x="150875" y="4572"/>
                </a:lnTo>
                <a:lnTo>
                  <a:pt x="156210" y="9906"/>
                </a:lnTo>
                <a:lnTo>
                  <a:pt x="156210" y="23622"/>
                </a:lnTo>
                <a:lnTo>
                  <a:pt x="160782" y="23622"/>
                </a:lnTo>
                <a:close/>
              </a:path>
              <a:path w="161289" h="24129">
                <a:moveTo>
                  <a:pt x="9906" y="9906"/>
                </a:moveTo>
                <a:lnTo>
                  <a:pt x="9906" y="4572"/>
                </a:lnTo>
                <a:lnTo>
                  <a:pt x="5334" y="9906"/>
                </a:lnTo>
                <a:lnTo>
                  <a:pt x="9906" y="9906"/>
                </a:lnTo>
                <a:close/>
              </a:path>
              <a:path w="161289" h="24129">
                <a:moveTo>
                  <a:pt x="9906" y="14478"/>
                </a:moveTo>
                <a:lnTo>
                  <a:pt x="9906" y="9906"/>
                </a:lnTo>
                <a:lnTo>
                  <a:pt x="5334" y="9906"/>
                </a:lnTo>
                <a:lnTo>
                  <a:pt x="5334" y="14478"/>
                </a:lnTo>
                <a:lnTo>
                  <a:pt x="9906" y="14478"/>
                </a:lnTo>
                <a:close/>
              </a:path>
              <a:path w="161289" h="24129">
                <a:moveTo>
                  <a:pt x="156210" y="14478"/>
                </a:moveTo>
                <a:lnTo>
                  <a:pt x="5334" y="14478"/>
                </a:lnTo>
                <a:lnTo>
                  <a:pt x="9906" y="19050"/>
                </a:lnTo>
                <a:lnTo>
                  <a:pt x="9906" y="23622"/>
                </a:lnTo>
                <a:lnTo>
                  <a:pt x="150875" y="23622"/>
                </a:lnTo>
                <a:lnTo>
                  <a:pt x="150875" y="19050"/>
                </a:lnTo>
                <a:lnTo>
                  <a:pt x="156210" y="14478"/>
                </a:lnTo>
                <a:close/>
              </a:path>
              <a:path w="161289" h="24129">
                <a:moveTo>
                  <a:pt x="9906" y="23622"/>
                </a:moveTo>
                <a:lnTo>
                  <a:pt x="9906" y="19050"/>
                </a:lnTo>
                <a:lnTo>
                  <a:pt x="5334" y="14478"/>
                </a:lnTo>
                <a:lnTo>
                  <a:pt x="5334" y="23622"/>
                </a:lnTo>
                <a:lnTo>
                  <a:pt x="9906" y="23622"/>
                </a:lnTo>
                <a:close/>
              </a:path>
              <a:path w="161289" h="24129">
                <a:moveTo>
                  <a:pt x="156210" y="9906"/>
                </a:moveTo>
                <a:lnTo>
                  <a:pt x="150875" y="4572"/>
                </a:lnTo>
                <a:lnTo>
                  <a:pt x="150875" y="9906"/>
                </a:lnTo>
                <a:lnTo>
                  <a:pt x="156210" y="9906"/>
                </a:lnTo>
                <a:close/>
              </a:path>
              <a:path w="161289" h="24129">
                <a:moveTo>
                  <a:pt x="156210" y="14478"/>
                </a:moveTo>
                <a:lnTo>
                  <a:pt x="156210" y="9906"/>
                </a:lnTo>
                <a:lnTo>
                  <a:pt x="150875" y="9906"/>
                </a:lnTo>
                <a:lnTo>
                  <a:pt x="150875" y="14478"/>
                </a:lnTo>
                <a:lnTo>
                  <a:pt x="156210" y="14478"/>
                </a:lnTo>
                <a:close/>
              </a:path>
              <a:path w="161289" h="24129">
                <a:moveTo>
                  <a:pt x="156210" y="23622"/>
                </a:moveTo>
                <a:lnTo>
                  <a:pt x="156210" y="14478"/>
                </a:lnTo>
                <a:lnTo>
                  <a:pt x="150875" y="19050"/>
                </a:lnTo>
                <a:lnTo>
                  <a:pt x="150875" y="23622"/>
                </a:lnTo>
                <a:lnTo>
                  <a:pt x="156210" y="23622"/>
                </a:lnTo>
                <a:close/>
              </a:path>
            </a:pathLst>
          </a:custGeom>
          <a:solidFill>
            <a:srgbClr val="000000"/>
          </a:solidFill>
        </p:spPr>
        <p:txBody>
          <a:bodyPr wrap="square" lIns="0" tIns="0" rIns="0" bIns="0" rtlCol="0"/>
          <a:lstStyle/>
          <a:p>
            <a:endParaRPr/>
          </a:p>
        </p:txBody>
      </p:sp>
      <p:sp>
        <p:nvSpPr>
          <p:cNvPr id="141" name="object 141"/>
          <p:cNvSpPr/>
          <p:nvPr/>
        </p:nvSpPr>
        <p:spPr>
          <a:xfrm>
            <a:off x="3295650" y="4005834"/>
            <a:ext cx="159385" cy="24130"/>
          </a:xfrm>
          <a:custGeom>
            <a:avLst/>
            <a:gdLst/>
            <a:ahLst/>
            <a:cxnLst/>
            <a:rect l="l" t="t" r="r" b="b"/>
            <a:pathLst>
              <a:path w="159385" h="24129">
                <a:moveTo>
                  <a:pt x="159258" y="23622"/>
                </a:moveTo>
                <a:lnTo>
                  <a:pt x="159258" y="0"/>
                </a:lnTo>
                <a:lnTo>
                  <a:pt x="0" y="0"/>
                </a:lnTo>
                <a:lnTo>
                  <a:pt x="0" y="23622"/>
                </a:lnTo>
                <a:lnTo>
                  <a:pt x="5334" y="23622"/>
                </a:lnTo>
                <a:lnTo>
                  <a:pt x="5334" y="9144"/>
                </a:lnTo>
                <a:lnTo>
                  <a:pt x="9905" y="4572"/>
                </a:lnTo>
                <a:lnTo>
                  <a:pt x="9905" y="9144"/>
                </a:lnTo>
                <a:lnTo>
                  <a:pt x="149351" y="9144"/>
                </a:lnTo>
                <a:lnTo>
                  <a:pt x="149351" y="4572"/>
                </a:lnTo>
                <a:lnTo>
                  <a:pt x="154686" y="9144"/>
                </a:lnTo>
                <a:lnTo>
                  <a:pt x="154686" y="23622"/>
                </a:lnTo>
                <a:lnTo>
                  <a:pt x="159258" y="23622"/>
                </a:lnTo>
                <a:close/>
              </a:path>
              <a:path w="159385" h="24129">
                <a:moveTo>
                  <a:pt x="9905" y="9144"/>
                </a:moveTo>
                <a:lnTo>
                  <a:pt x="9905" y="4572"/>
                </a:lnTo>
                <a:lnTo>
                  <a:pt x="5334" y="9144"/>
                </a:lnTo>
                <a:lnTo>
                  <a:pt x="9905" y="9144"/>
                </a:lnTo>
                <a:close/>
              </a:path>
              <a:path w="159385" h="24129">
                <a:moveTo>
                  <a:pt x="9905" y="14478"/>
                </a:moveTo>
                <a:lnTo>
                  <a:pt x="9905" y="9144"/>
                </a:lnTo>
                <a:lnTo>
                  <a:pt x="5334" y="9144"/>
                </a:lnTo>
                <a:lnTo>
                  <a:pt x="5334" y="14478"/>
                </a:lnTo>
                <a:lnTo>
                  <a:pt x="9905" y="14478"/>
                </a:lnTo>
                <a:close/>
              </a:path>
              <a:path w="159385" h="24129">
                <a:moveTo>
                  <a:pt x="154686" y="14478"/>
                </a:moveTo>
                <a:lnTo>
                  <a:pt x="5334" y="14478"/>
                </a:lnTo>
                <a:lnTo>
                  <a:pt x="9905" y="19050"/>
                </a:lnTo>
                <a:lnTo>
                  <a:pt x="9905" y="23622"/>
                </a:lnTo>
                <a:lnTo>
                  <a:pt x="149351" y="23622"/>
                </a:lnTo>
                <a:lnTo>
                  <a:pt x="149351" y="19050"/>
                </a:lnTo>
                <a:lnTo>
                  <a:pt x="154686" y="14478"/>
                </a:lnTo>
                <a:close/>
              </a:path>
              <a:path w="159385" h="24129">
                <a:moveTo>
                  <a:pt x="9905" y="23622"/>
                </a:moveTo>
                <a:lnTo>
                  <a:pt x="9905" y="19050"/>
                </a:lnTo>
                <a:lnTo>
                  <a:pt x="5334" y="14478"/>
                </a:lnTo>
                <a:lnTo>
                  <a:pt x="5334" y="23622"/>
                </a:lnTo>
                <a:lnTo>
                  <a:pt x="9905" y="23622"/>
                </a:lnTo>
                <a:close/>
              </a:path>
              <a:path w="159385" h="24129">
                <a:moveTo>
                  <a:pt x="154686" y="9144"/>
                </a:moveTo>
                <a:lnTo>
                  <a:pt x="149351" y="4572"/>
                </a:lnTo>
                <a:lnTo>
                  <a:pt x="149351" y="9144"/>
                </a:lnTo>
                <a:lnTo>
                  <a:pt x="154686" y="9144"/>
                </a:lnTo>
                <a:close/>
              </a:path>
              <a:path w="159385" h="24129">
                <a:moveTo>
                  <a:pt x="154686" y="14478"/>
                </a:moveTo>
                <a:lnTo>
                  <a:pt x="154686" y="9144"/>
                </a:lnTo>
                <a:lnTo>
                  <a:pt x="149351" y="9144"/>
                </a:lnTo>
                <a:lnTo>
                  <a:pt x="149351" y="14478"/>
                </a:lnTo>
                <a:lnTo>
                  <a:pt x="154686" y="14478"/>
                </a:lnTo>
                <a:close/>
              </a:path>
              <a:path w="159385" h="24129">
                <a:moveTo>
                  <a:pt x="154686" y="23622"/>
                </a:moveTo>
                <a:lnTo>
                  <a:pt x="154686" y="14478"/>
                </a:lnTo>
                <a:lnTo>
                  <a:pt x="149351" y="19050"/>
                </a:lnTo>
                <a:lnTo>
                  <a:pt x="149351" y="23622"/>
                </a:lnTo>
                <a:lnTo>
                  <a:pt x="154686" y="23622"/>
                </a:lnTo>
                <a:close/>
              </a:path>
            </a:pathLst>
          </a:custGeom>
          <a:solidFill>
            <a:srgbClr val="000000"/>
          </a:solidFill>
        </p:spPr>
        <p:txBody>
          <a:bodyPr wrap="square" lIns="0" tIns="0" rIns="0" bIns="0" rtlCol="0"/>
          <a:lstStyle/>
          <a:p>
            <a:endParaRPr/>
          </a:p>
        </p:txBody>
      </p:sp>
      <p:sp>
        <p:nvSpPr>
          <p:cNvPr id="142" name="object 142"/>
          <p:cNvSpPr/>
          <p:nvPr/>
        </p:nvSpPr>
        <p:spPr>
          <a:xfrm>
            <a:off x="3427476" y="3922014"/>
            <a:ext cx="206501" cy="124968"/>
          </a:xfrm>
          <a:prstGeom prst="rect">
            <a:avLst/>
          </a:prstGeom>
          <a:blipFill>
            <a:blip r:embed="rId9" cstate="print"/>
            <a:stretch>
              <a:fillRect/>
            </a:stretch>
          </a:blipFill>
        </p:spPr>
        <p:txBody>
          <a:bodyPr wrap="square" lIns="0" tIns="0" rIns="0" bIns="0" rtlCol="0"/>
          <a:lstStyle/>
          <a:p>
            <a:endParaRPr/>
          </a:p>
        </p:txBody>
      </p:sp>
      <p:sp>
        <p:nvSpPr>
          <p:cNvPr id="143" name="object 143"/>
          <p:cNvSpPr/>
          <p:nvPr/>
        </p:nvSpPr>
        <p:spPr>
          <a:xfrm>
            <a:off x="3429000" y="3649979"/>
            <a:ext cx="146303" cy="672846"/>
          </a:xfrm>
          <a:prstGeom prst="rect">
            <a:avLst/>
          </a:prstGeom>
          <a:blipFill>
            <a:blip r:embed="rId10" cstate="print"/>
            <a:stretch>
              <a:fillRect/>
            </a:stretch>
          </a:blipFill>
        </p:spPr>
        <p:txBody>
          <a:bodyPr wrap="square" lIns="0" tIns="0" rIns="0" bIns="0" rtlCol="0"/>
          <a:lstStyle/>
          <a:p>
            <a:endParaRPr/>
          </a:p>
        </p:txBody>
      </p:sp>
      <p:sp>
        <p:nvSpPr>
          <p:cNvPr id="144" name="object 144"/>
          <p:cNvSpPr/>
          <p:nvPr/>
        </p:nvSpPr>
        <p:spPr>
          <a:xfrm>
            <a:off x="3553205" y="3645408"/>
            <a:ext cx="26670" cy="683260"/>
          </a:xfrm>
          <a:custGeom>
            <a:avLst/>
            <a:gdLst/>
            <a:ahLst/>
            <a:cxnLst/>
            <a:rect l="l" t="t" r="r" b="b"/>
            <a:pathLst>
              <a:path w="26670" h="683260">
                <a:moveTo>
                  <a:pt x="26670" y="682751"/>
                </a:moveTo>
                <a:lnTo>
                  <a:pt x="26670" y="0"/>
                </a:lnTo>
                <a:lnTo>
                  <a:pt x="0" y="0"/>
                </a:lnTo>
                <a:lnTo>
                  <a:pt x="0" y="682751"/>
                </a:lnTo>
                <a:lnTo>
                  <a:pt x="4572" y="682751"/>
                </a:lnTo>
                <a:lnTo>
                  <a:pt x="4572" y="9143"/>
                </a:lnTo>
                <a:lnTo>
                  <a:pt x="9906" y="4571"/>
                </a:lnTo>
                <a:lnTo>
                  <a:pt x="9906" y="9143"/>
                </a:lnTo>
                <a:lnTo>
                  <a:pt x="17526" y="9143"/>
                </a:lnTo>
                <a:lnTo>
                  <a:pt x="17526" y="4571"/>
                </a:lnTo>
                <a:lnTo>
                  <a:pt x="22098" y="9143"/>
                </a:lnTo>
                <a:lnTo>
                  <a:pt x="22098" y="682751"/>
                </a:lnTo>
                <a:lnTo>
                  <a:pt x="26670" y="682751"/>
                </a:lnTo>
                <a:close/>
              </a:path>
              <a:path w="26670" h="683260">
                <a:moveTo>
                  <a:pt x="9906" y="9143"/>
                </a:moveTo>
                <a:lnTo>
                  <a:pt x="9906" y="4571"/>
                </a:lnTo>
                <a:lnTo>
                  <a:pt x="4572" y="9143"/>
                </a:lnTo>
                <a:lnTo>
                  <a:pt x="9906" y="9143"/>
                </a:lnTo>
                <a:close/>
              </a:path>
              <a:path w="26670" h="683260">
                <a:moveTo>
                  <a:pt x="9906" y="672845"/>
                </a:moveTo>
                <a:lnTo>
                  <a:pt x="9906" y="9143"/>
                </a:lnTo>
                <a:lnTo>
                  <a:pt x="4572" y="9143"/>
                </a:lnTo>
                <a:lnTo>
                  <a:pt x="4572" y="672845"/>
                </a:lnTo>
                <a:lnTo>
                  <a:pt x="9906" y="672845"/>
                </a:lnTo>
                <a:close/>
              </a:path>
              <a:path w="26670" h="683260">
                <a:moveTo>
                  <a:pt x="22098" y="672845"/>
                </a:moveTo>
                <a:lnTo>
                  <a:pt x="4572" y="672845"/>
                </a:lnTo>
                <a:lnTo>
                  <a:pt x="9906" y="677417"/>
                </a:lnTo>
                <a:lnTo>
                  <a:pt x="9906" y="682751"/>
                </a:lnTo>
                <a:lnTo>
                  <a:pt x="17526" y="682751"/>
                </a:lnTo>
                <a:lnTo>
                  <a:pt x="17526" y="677417"/>
                </a:lnTo>
                <a:lnTo>
                  <a:pt x="22098" y="672845"/>
                </a:lnTo>
                <a:close/>
              </a:path>
              <a:path w="26670" h="683260">
                <a:moveTo>
                  <a:pt x="9906" y="682751"/>
                </a:moveTo>
                <a:lnTo>
                  <a:pt x="9906" y="677417"/>
                </a:lnTo>
                <a:lnTo>
                  <a:pt x="4572" y="672845"/>
                </a:lnTo>
                <a:lnTo>
                  <a:pt x="4572" y="682751"/>
                </a:lnTo>
                <a:lnTo>
                  <a:pt x="9906" y="682751"/>
                </a:lnTo>
                <a:close/>
              </a:path>
              <a:path w="26670" h="683260">
                <a:moveTo>
                  <a:pt x="22098" y="9143"/>
                </a:moveTo>
                <a:lnTo>
                  <a:pt x="17526" y="4571"/>
                </a:lnTo>
                <a:lnTo>
                  <a:pt x="17526" y="9143"/>
                </a:lnTo>
                <a:lnTo>
                  <a:pt x="22098" y="9143"/>
                </a:lnTo>
                <a:close/>
              </a:path>
              <a:path w="26670" h="683260">
                <a:moveTo>
                  <a:pt x="22098" y="672845"/>
                </a:moveTo>
                <a:lnTo>
                  <a:pt x="22098" y="9143"/>
                </a:lnTo>
                <a:lnTo>
                  <a:pt x="17526" y="9143"/>
                </a:lnTo>
                <a:lnTo>
                  <a:pt x="17526" y="672845"/>
                </a:lnTo>
                <a:lnTo>
                  <a:pt x="22098" y="672845"/>
                </a:lnTo>
                <a:close/>
              </a:path>
              <a:path w="26670" h="683260">
                <a:moveTo>
                  <a:pt x="22098" y="682751"/>
                </a:moveTo>
                <a:lnTo>
                  <a:pt x="22098" y="672845"/>
                </a:lnTo>
                <a:lnTo>
                  <a:pt x="17526" y="677417"/>
                </a:lnTo>
                <a:lnTo>
                  <a:pt x="17526" y="682751"/>
                </a:lnTo>
                <a:lnTo>
                  <a:pt x="22098" y="682751"/>
                </a:lnTo>
                <a:close/>
              </a:path>
            </a:pathLst>
          </a:custGeom>
          <a:solidFill>
            <a:srgbClr val="000000"/>
          </a:solidFill>
        </p:spPr>
        <p:txBody>
          <a:bodyPr wrap="square" lIns="0" tIns="0" rIns="0" bIns="0" rtlCol="0"/>
          <a:lstStyle/>
          <a:p>
            <a:endParaRPr/>
          </a:p>
        </p:txBody>
      </p:sp>
      <p:sp>
        <p:nvSpPr>
          <p:cNvPr id="145" name="object 145"/>
          <p:cNvSpPr/>
          <p:nvPr/>
        </p:nvSpPr>
        <p:spPr>
          <a:xfrm>
            <a:off x="3573779" y="3723894"/>
            <a:ext cx="61722" cy="158495"/>
          </a:xfrm>
          <a:prstGeom prst="rect">
            <a:avLst/>
          </a:prstGeom>
          <a:blipFill>
            <a:blip r:embed="rId11" cstate="print"/>
            <a:stretch>
              <a:fillRect/>
            </a:stretch>
          </a:blipFill>
        </p:spPr>
        <p:txBody>
          <a:bodyPr wrap="square" lIns="0" tIns="0" rIns="0" bIns="0" rtlCol="0"/>
          <a:lstStyle/>
          <a:p>
            <a:endParaRPr/>
          </a:p>
        </p:txBody>
      </p:sp>
      <p:sp>
        <p:nvSpPr>
          <p:cNvPr id="146" name="object 146"/>
          <p:cNvSpPr/>
          <p:nvPr/>
        </p:nvSpPr>
        <p:spPr>
          <a:xfrm>
            <a:off x="3624834" y="4291584"/>
            <a:ext cx="12700" cy="28575"/>
          </a:xfrm>
          <a:custGeom>
            <a:avLst/>
            <a:gdLst/>
            <a:ahLst/>
            <a:cxnLst/>
            <a:rect l="l" t="t" r="r" b="b"/>
            <a:pathLst>
              <a:path w="12700" h="28575">
                <a:moveTo>
                  <a:pt x="12192" y="22097"/>
                </a:moveTo>
                <a:lnTo>
                  <a:pt x="12192" y="6095"/>
                </a:lnTo>
                <a:lnTo>
                  <a:pt x="9905" y="0"/>
                </a:lnTo>
                <a:lnTo>
                  <a:pt x="3047" y="0"/>
                </a:lnTo>
                <a:lnTo>
                  <a:pt x="0" y="6095"/>
                </a:lnTo>
                <a:lnTo>
                  <a:pt x="0" y="22097"/>
                </a:lnTo>
                <a:lnTo>
                  <a:pt x="3048" y="28193"/>
                </a:lnTo>
                <a:lnTo>
                  <a:pt x="9906" y="28193"/>
                </a:lnTo>
                <a:lnTo>
                  <a:pt x="12192" y="22097"/>
                </a:lnTo>
                <a:close/>
              </a:path>
            </a:pathLst>
          </a:custGeom>
          <a:solidFill>
            <a:srgbClr val="333333"/>
          </a:solidFill>
        </p:spPr>
        <p:txBody>
          <a:bodyPr wrap="square" lIns="0" tIns="0" rIns="0" bIns="0" rtlCol="0"/>
          <a:lstStyle/>
          <a:p>
            <a:endParaRPr/>
          </a:p>
        </p:txBody>
      </p:sp>
      <p:sp>
        <p:nvSpPr>
          <p:cNvPr id="147" name="object 147"/>
          <p:cNvSpPr/>
          <p:nvPr/>
        </p:nvSpPr>
        <p:spPr>
          <a:xfrm>
            <a:off x="3570732" y="4293108"/>
            <a:ext cx="62230" cy="59055"/>
          </a:xfrm>
          <a:custGeom>
            <a:avLst/>
            <a:gdLst/>
            <a:ahLst/>
            <a:cxnLst/>
            <a:rect l="l" t="t" r="r" b="b"/>
            <a:pathLst>
              <a:path w="62229" h="59054">
                <a:moveTo>
                  <a:pt x="61722" y="26670"/>
                </a:moveTo>
                <a:lnTo>
                  <a:pt x="60960" y="0"/>
                </a:lnTo>
                <a:lnTo>
                  <a:pt x="0" y="25908"/>
                </a:lnTo>
                <a:lnTo>
                  <a:pt x="762" y="58674"/>
                </a:lnTo>
                <a:lnTo>
                  <a:pt x="61722" y="26670"/>
                </a:lnTo>
                <a:close/>
              </a:path>
            </a:pathLst>
          </a:custGeom>
          <a:solidFill>
            <a:srgbClr val="333333"/>
          </a:solidFill>
        </p:spPr>
        <p:txBody>
          <a:bodyPr wrap="square" lIns="0" tIns="0" rIns="0" bIns="0" rtlCol="0"/>
          <a:lstStyle/>
          <a:p>
            <a:endParaRPr/>
          </a:p>
        </p:txBody>
      </p:sp>
      <p:sp>
        <p:nvSpPr>
          <p:cNvPr id="148" name="object 148"/>
          <p:cNvSpPr/>
          <p:nvPr/>
        </p:nvSpPr>
        <p:spPr>
          <a:xfrm>
            <a:off x="3278885" y="4312158"/>
            <a:ext cx="300990" cy="43180"/>
          </a:xfrm>
          <a:custGeom>
            <a:avLst/>
            <a:gdLst/>
            <a:ahLst/>
            <a:cxnLst/>
            <a:rect l="l" t="t" r="r" b="b"/>
            <a:pathLst>
              <a:path w="300989" h="43179">
                <a:moveTo>
                  <a:pt x="300990" y="21336"/>
                </a:moveTo>
                <a:lnTo>
                  <a:pt x="299370" y="12858"/>
                </a:lnTo>
                <a:lnTo>
                  <a:pt x="294894" y="6096"/>
                </a:lnTo>
                <a:lnTo>
                  <a:pt x="288131" y="1619"/>
                </a:lnTo>
                <a:lnTo>
                  <a:pt x="279654" y="0"/>
                </a:lnTo>
                <a:lnTo>
                  <a:pt x="21336" y="0"/>
                </a:lnTo>
                <a:lnTo>
                  <a:pt x="12858" y="1619"/>
                </a:lnTo>
                <a:lnTo>
                  <a:pt x="6095" y="6096"/>
                </a:lnTo>
                <a:lnTo>
                  <a:pt x="1619" y="12858"/>
                </a:lnTo>
                <a:lnTo>
                  <a:pt x="0" y="21336"/>
                </a:lnTo>
                <a:lnTo>
                  <a:pt x="1619" y="29491"/>
                </a:lnTo>
                <a:lnTo>
                  <a:pt x="6095" y="36290"/>
                </a:lnTo>
                <a:lnTo>
                  <a:pt x="12858" y="40945"/>
                </a:lnTo>
                <a:lnTo>
                  <a:pt x="21336" y="42672"/>
                </a:lnTo>
                <a:lnTo>
                  <a:pt x="279654" y="42672"/>
                </a:lnTo>
                <a:lnTo>
                  <a:pt x="288131" y="40945"/>
                </a:lnTo>
                <a:lnTo>
                  <a:pt x="294894" y="36290"/>
                </a:lnTo>
                <a:lnTo>
                  <a:pt x="299370" y="29491"/>
                </a:lnTo>
                <a:lnTo>
                  <a:pt x="300990" y="21336"/>
                </a:lnTo>
                <a:close/>
              </a:path>
            </a:pathLst>
          </a:custGeom>
          <a:solidFill>
            <a:srgbClr val="DDDDDD"/>
          </a:solidFill>
        </p:spPr>
        <p:txBody>
          <a:bodyPr wrap="square" lIns="0" tIns="0" rIns="0" bIns="0" rtlCol="0"/>
          <a:lstStyle/>
          <a:p>
            <a:endParaRPr/>
          </a:p>
        </p:txBody>
      </p:sp>
      <p:sp>
        <p:nvSpPr>
          <p:cNvPr id="149" name="object 149"/>
          <p:cNvSpPr/>
          <p:nvPr/>
        </p:nvSpPr>
        <p:spPr>
          <a:xfrm>
            <a:off x="3273552" y="4306823"/>
            <a:ext cx="311785" cy="52705"/>
          </a:xfrm>
          <a:custGeom>
            <a:avLst/>
            <a:gdLst/>
            <a:ahLst/>
            <a:cxnLst/>
            <a:rect l="l" t="t" r="r" b="b"/>
            <a:pathLst>
              <a:path w="311785" h="52704">
                <a:moveTo>
                  <a:pt x="762" y="31242"/>
                </a:moveTo>
                <a:lnTo>
                  <a:pt x="761" y="22098"/>
                </a:lnTo>
                <a:lnTo>
                  <a:pt x="0" y="25908"/>
                </a:lnTo>
                <a:lnTo>
                  <a:pt x="0" y="26670"/>
                </a:lnTo>
                <a:lnTo>
                  <a:pt x="762" y="31242"/>
                </a:lnTo>
                <a:close/>
              </a:path>
              <a:path w="311785" h="52704">
                <a:moveTo>
                  <a:pt x="2286" y="36576"/>
                </a:moveTo>
                <a:lnTo>
                  <a:pt x="2285" y="16764"/>
                </a:lnTo>
                <a:lnTo>
                  <a:pt x="761" y="20574"/>
                </a:lnTo>
                <a:lnTo>
                  <a:pt x="762" y="32004"/>
                </a:lnTo>
                <a:lnTo>
                  <a:pt x="2286" y="36576"/>
                </a:lnTo>
                <a:close/>
              </a:path>
              <a:path w="311785" h="52704">
                <a:moveTo>
                  <a:pt x="309372" y="37338"/>
                </a:moveTo>
                <a:lnTo>
                  <a:pt x="309372" y="16002"/>
                </a:lnTo>
                <a:lnTo>
                  <a:pt x="307086" y="12192"/>
                </a:lnTo>
                <a:lnTo>
                  <a:pt x="307086" y="11430"/>
                </a:lnTo>
                <a:lnTo>
                  <a:pt x="306324" y="11430"/>
                </a:lnTo>
                <a:lnTo>
                  <a:pt x="304038" y="8382"/>
                </a:lnTo>
                <a:lnTo>
                  <a:pt x="303276" y="7620"/>
                </a:lnTo>
                <a:lnTo>
                  <a:pt x="300228" y="5334"/>
                </a:lnTo>
                <a:lnTo>
                  <a:pt x="300228" y="4572"/>
                </a:lnTo>
                <a:lnTo>
                  <a:pt x="299466" y="4572"/>
                </a:lnTo>
                <a:lnTo>
                  <a:pt x="295656" y="2286"/>
                </a:lnTo>
                <a:lnTo>
                  <a:pt x="294894" y="2286"/>
                </a:lnTo>
                <a:lnTo>
                  <a:pt x="291084" y="762"/>
                </a:lnTo>
                <a:lnTo>
                  <a:pt x="290322" y="762"/>
                </a:lnTo>
                <a:lnTo>
                  <a:pt x="284988" y="0"/>
                </a:lnTo>
                <a:lnTo>
                  <a:pt x="25908" y="0"/>
                </a:lnTo>
                <a:lnTo>
                  <a:pt x="21336" y="762"/>
                </a:lnTo>
                <a:lnTo>
                  <a:pt x="20574" y="762"/>
                </a:lnTo>
                <a:lnTo>
                  <a:pt x="16763" y="2286"/>
                </a:lnTo>
                <a:lnTo>
                  <a:pt x="16001" y="2286"/>
                </a:lnTo>
                <a:lnTo>
                  <a:pt x="12191" y="4572"/>
                </a:lnTo>
                <a:lnTo>
                  <a:pt x="11429" y="4572"/>
                </a:lnTo>
                <a:lnTo>
                  <a:pt x="11429" y="5334"/>
                </a:lnTo>
                <a:lnTo>
                  <a:pt x="8381" y="7620"/>
                </a:lnTo>
                <a:lnTo>
                  <a:pt x="7619" y="8382"/>
                </a:lnTo>
                <a:lnTo>
                  <a:pt x="5333" y="11430"/>
                </a:lnTo>
                <a:lnTo>
                  <a:pt x="4571" y="11430"/>
                </a:lnTo>
                <a:lnTo>
                  <a:pt x="4571" y="12192"/>
                </a:lnTo>
                <a:lnTo>
                  <a:pt x="2285" y="16002"/>
                </a:lnTo>
                <a:lnTo>
                  <a:pt x="2286" y="37338"/>
                </a:lnTo>
                <a:lnTo>
                  <a:pt x="4572" y="41148"/>
                </a:lnTo>
                <a:lnTo>
                  <a:pt x="5334" y="41910"/>
                </a:lnTo>
                <a:lnTo>
                  <a:pt x="7620" y="44958"/>
                </a:lnTo>
                <a:lnTo>
                  <a:pt x="8382" y="44958"/>
                </a:lnTo>
                <a:lnTo>
                  <a:pt x="8382" y="45720"/>
                </a:lnTo>
                <a:lnTo>
                  <a:pt x="9906" y="46863"/>
                </a:lnTo>
                <a:lnTo>
                  <a:pt x="9906" y="23622"/>
                </a:lnTo>
                <a:lnTo>
                  <a:pt x="10668" y="21717"/>
                </a:lnTo>
                <a:lnTo>
                  <a:pt x="10668" y="20574"/>
                </a:lnTo>
                <a:lnTo>
                  <a:pt x="12192" y="18034"/>
                </a:lnTo>
                <a:lnTo>
                  <a:pt x="12192" y="17526"/>
                </a:lnTo>
                <a:lnTo>
                  <a:pt x="17526" y="12192"/>
                </a:lnTo>
                <a:lnTo>
                  <a:pt x="17526" y="12496"/>
                </a:lnTo>
                <a:lnTo>
                  <a:pt x="20574" y="10668"/>
                </a:lnTo>
                <a:lnTo>
                  <a:pt x="20574" y="11125"/>
                </a:lnTo>
                <a:lnTo>
                  <a:pt x="22860" y="10210"/>
                </a:lnTo>
                <a:lnTo>
                  <a:pt x="22860" y="9906"/>
                </a:lnTo>
                <a:lnTo>
                  <a:pt x="288798" y="9906"/>
                </a:lnTo>
                <a:lnTo>
                  <a:pt x="288798" y="10210"/>
                </a:lnTo>
                <a:lnTo>
                  <a:pt x="291084" y="11125"/>
                </a:lnTo>
                <a:lnTo>
                  <a:pt x="291084" y="10668"/>
                </a:lnTo>
                <a:lnTo>
                  <a:pt x="294132" y="12496"/>
                </a:lnTo>
                <a:lnTo>
                  <a:pt x="294132" y="12192"/>
                </a:lnTo>
                <a:lnTo>
                  <a:pt x="299466" y="17526"/>
                </a:lnTo>
                <a:lnTo>
                  <a:pt x="299466" y="18034"/>
                </a:lnTo>
                <a:lnTo>
                  <a:pt x="300990" y="20574"/>
                </a:lnTo>
                <a:lnTo>
                  <a:pt x="300990" y="21717"/>
                </a:lnTo>
                <a:lnTo>
                  <a:pt x="301752" y="23622"/>
                </a:lnTo>
                <a:lnTo>
                  <a:pt x="301752" y="46863"/>
                </a:lnTo>
                <a:lnTo>
                  <a:pt x="303276" y="45720"/>
                </a:lnTo>
                <a:lnTo>
                  <a:pt x="303276" y="44958"/>
                </a:lnTo>
                <a:lnTo>
                  <a:pt x="304038" y="44958"/>
                </a:lnTo>
                <a:lnTo>
                  <a:pt x="306324" y="41910"/>
                </a:lnTo>
                <a:lnTo>
                  <a:pt x="307086" y="41148"/>
                </a:lnTo>
                <a:lnTo>
                  <a:pt x="309372" y="37338"/>
                </a:lnTo>
                <a:close/>
              </a:path>
              <a:path w="311785" h="52704">
                <a:moveTo>
                  <a:pt x="11430" y="33528"/>
                </a:moveTo>
                <a:lnTo>
                  <a:pt x="9906" y="29718"/>
                </a:lnTo>
                <a:lnTo>
                  <a:pt x="9906" y="46863"/>
                </a:lnTo>
                <a:lnTo>
                  <a:pt x="10668" y="47434"/>
                </a:lnTo>
                <a:lnTo>
                  <a:pt x="10668" y="32766"/>
                </a:lnTo>
                <a:lnTo>
                  <a:pt x="11430" y="33528"/>
                </a:lnTo>
                <a:close/>
              </a:path>
              <a:path w="311785" h="52704">
                <a:moveTo>
                  <a:pt x="11430" y="19812"/>
                </a:moveTo>
                <a:lnTo>
                  <a:pt x="10668" y="20574"/>
                </a:lnTo>
                <a:lnTo>
                  <a:pt x="10668" y="21717"/>
                </a:lnTo>
                <a:lnTo>
                  <a:pt x="11430" y="19812"/>
                </a:lnTo>
                <a:close/>
              </a:path>
              <a:path w="311785" h="52704">
                <a:moveTo>
                  <a:pt x="12954" y="36576"/>
                </a:moveTo>
                <a:lnTo>
                  <a:pt x="10668" y="32766"/>
                </a:lnTo>
                <a:lnTo>
                  <a:pt x="10668" y="47434"/>
                </a:lnTo>
                <a:lnTo>
                  <a:pt x="11430" y="48006"/>
                </a:lnTo>
                <a:lnTo>
                  <a:pt x="12192" y="48768"/>
                </a:lnTo>
                <a:lnTo>
                  <a:pt x="12192" y="35814"/>
                </a:lnTo>
                <a:lnTo>
                  <a:pt x="12954" y="36576"/>
                </a:lnTo>
                <a:close/>
              </a:path>
              <a:path w="311785" h="52704">
                <a:moveTo>
                  <a:pt x="12954" y="16764"/>
                </a:moveTo>
                <a:lnTo>
                  <a:pt x="12192" y="17526"/>
                </a:lnTo>
                <a:lnTo>
                  <a:pt x="12192" y="18034"/>
                </a:lnTo>
                <a:lnTo>
                  <a:pt x="12954" y="16764"/>
                </a:lnTo>
                <a:close/>
              </a:path>
              <a:path w="311785" h="52704">
                <a:moveTo>
                  <a:pt x="15240" y="49987"/>
                </a:moveTo>
                <a:lnTo>
                  <a:pt x="15240" y="38862"/>
                </a:lnTo>
                <a:lnTo>
                  <a:pt x="12192" y="35814"/>
                </a:lnTo>
                <a:lnTo>
                  <a:pt x="12192" y="48768"/>
                </a:lnTo>
                <a:lnTo>
                  <a:pt x="15240" y="49987"/>
                </a:lnTo>
                <a:close/>
              </a:path>
              <a:path w="311785" h="52704">
                <a:moveTo>
                  <a:pt x="17526" y="40386"/>
                </a:moveTo>
                <a:lnTo>
                  <a:pt x="14477" y="38100"/>
                </a:lnTo>
                <a:lnTo>
                  <a:pt x="15240" y="38862"/>
                </a:lnTo>
                <a:lnTo>
                  <a:pt x="15240" y="49987"/>
                </a:lnTo>
                <a:lnTo>
                  <a:pt x="16002" y="50292"/>
                </a:lnTo>
                <a:lnTo>
                  <a:pt x="16002" y="51054"/>
                </a:lnTo>
                <a:lnTo>
                  <a:pt x="16763" y="51054"/>
                </a:lnTo>
                <a:lnTo>
                  <a:pt x="16763" y="40386"/>
                </a:lnTo>
                <a:lnTo>
                  <a:pt x="17526" y="40386"/>
                </a:lnTo>
                <a:close/>
              </a:path>
              <a:path w="311785" h="52704">
                <a:moveTo>
                  <a:pt x="17526" y="12496"/>
                </a:moveTo>
                <a:lnTo>
                  <a:pt x="17526" y="12192"/>
                </a:lnTo>
                <a:lnTo>
                  <a:pt x="16763" y="12954"/>
                </a:lnTo>
                <a:lnTo>
                  <a:pt x="17526" y="12496"/>
                </a:lnTo>
                <a:close/>
              </a:path>
              <a:path w="311785" h="52704">
                <a:moveTo>
                  <a:pt x="20574" y="41910"/>
                </a:moveTo>
                <a:lnTo>
                  <a:pt x="16763" y="40386"/>
                </a:lnTo>
                <a:lnTo>
                  <a:pt x="16763" y="51054"/>
                </a:lnTo>
                <a:lnTo>
                  <a:pt x="19812" y="51663"/>
                </a:lnTo>
                <a:lnTo>
                  <a:pt x="19812" y="41910"/>
                </a:lnTo>
                <a:lnTo>
                  <a:pt x="20574" y="41910"/>
                </a:lnTo>
                <a:close/>
              </a:path>
              <a:path w="311785" h="52704">
                <a:moveTo>
                  <a:pt x="20574" y="11125"/>
                </a:moveTo>
                <a:lnTo>
                  <a:pt x="20574" y="10668"/>
                </a:lnTo>
                <a:lnTo>
                  <a:pt x="19812" y="11430"/>
                </a:lnTo>
                <a:lnTo>
                  <a:pt x="20574" y="11125"/>
                </a:lnTo>
                <a:close/>
              </a:path>
              <a:path w="311785" h="52704">
                <a:moveTo>
                  <a:pt x="23621" y="52578"/>
                </a:moveTo>
                <a:lnTo>
                  <a:pt x="23621" y="43434"/>
                </a:lnTo>
                <a:lnTo>
                  <a:pt x="19812" y="41910"/>
                </a:lnTo>
                <a:lnTo>
                  <a:pt x="19812" y="51663"/>
                </a:lnTo>
                <a:lnTo>
                  <a:pt x="20574" y="51816"/>
                </a:lnTo>
                <a:lnTo>
                  <a:pt x="21336" y="52578"/>
                </a:lnTo>
                <a:lnTo>
                  <a:pt x="23621" y="52578"/>
                </a:lnTo>
                <a:close/>
              </a:path>
              <a:path w="311785" h="52704">
                <a:moveTo>
                  <a:pt x="23621" y="9906"/>
                </a:moveTo>
                <a:lnTo>
                  <a:pt x="22860" y="9906"/>
                </a:lnTo>
                <a:lnTo>
                  <a:pt x="22860" y="10210"/>
                </a:lnTo>
                <a:lnTo>
                  <a:pt x="23621" y="9906"/>
                </a:lnTo>
                <a:close/>
              </a:path>
              <a:path w="311785" h="52704">
                <a:moveTo>
                  <a:pt x="288798" y="42672"/>
                </a:moveTo>
                <a:lnTo>
                  <a:pt x="284988" y="43434"/>
                </a:lnTo>
                <a:lnTo>
                  <a:pt x="26670" y="43434"/>
                </a:lnTo>
                <a:lnTo>
                  <a:pt x="22860" y="42672"/>
                </a:lnTo>
                <a:lnTo>
                  <a:pt x="23621" y="43434"/>
                </a:lnTo>
                <a:lnTo>
                  <a:pt x="23621" y="52578"/>
                </a:lnTo>
                <a:lnTo>
                  <a:pt x="288036" y="52578"/>
                </a:lnTo>
                <a:lnTo>
                  <a:pt x="288036" y="43434"/>
                </a:lnTo>
                <a:lnTo>
                  <a:pt x="288798" y="42672"/>
                </a:lnTo>
                <a:close/>
              </a:path>
              <a:path w="311785" h="52704">
                <a:moveTo>
                  <a:pt x="288798" y="10210"/>
                </a:moveTo>
                <a:lnTo>
                  <a:pt x="288798" y="9906"/>
                </a:lnTo>
                <a:lnTo>
                  <a:pt x="288036" y="9906"/>
                </a:lnTo>
                <a:lnTo>
                  <a:pt x="288798" y="10210"/>
                </a:lnTo>
                <a:close/>
              </a:path>
              <a:path w="311785" h="52704">
                <a:moveTo>
                  <a:pt x="291846" y="51663"/>
                </a:moveTo>
                <a:lnTo>
                  <a:pt x="291846" y="41910"/>
                </a:lnTo>
                <a:lnTo>
                  <a:pt x="288036" y="43434"/>
                </a:lnTo>
                <a:lnTo>
                  <a:pt x="288036" y="52578"/>
                </a:lnTo>
                <a:lnTo>
                  <a:pt x="290322" y="52578"/>
                </a:lnTo>
                <a:lnTo>
                  <a:pt x="291084" y="51816"/>
                </a:lnTo>
                <a:lnTo>
                  <a:pt x="291846" y="51663"/>
                </a:lnTo>
                <a:close/>
              </a:path>
              <a:path w="311785" h="52704">
                <a:moveTo>
                  <a:pt x="291846" y="11430"/>
                </a:moveTo>
                <a:lnTo>
                  <a:pt x="291084" y="10668"/>
                </a:lnTo>
                <a:lnTo>
                  <a:pt x="291084" y="11125"/>
                </a:lnTo>
                <a:lnTo>
                  <a:pt x="291846" y="11430"/>
                </a:lnTo>
                <a:close/>
              </a:path>
              <a:path w="311785" h="52704">
                <a:moveTo>
                  <a:pt x="294894" y="51054"/>
                </a:moveTo>
                <a:lnTo>
                  <a:pt x="294894" y="40386"/>
                </a:lnTo>
                <a:lnTo>
                  <a:pt x="291084" y="41910"/>
                </a:lnTo>
                <a:lnTo>
                  <a:pt x="291846" y="41910"/>
                </a:lnTo>
                <a:lnTo>
                  <a:pt x="291846" y="51663"/>
                </a:lnTo>
                <a:lnTo>
                  <a:pt x="294894" y="51054"/>
                </a:lnTo>
                <a:close/>
              </a:path>
              <a:path w="311785" h="52704">
                <a:moveTo>
                  <a:pt x="294894" y="12954"/>
                </a:moveTo>
                <a:lnTo>
                  <a:pt x="294132" y="12192"/>
                </a:lnTo>
                <a:lnTo>
                  <a:pt x="294132" y="12496"/>
                </a:lnTo>
                <a:lnTo>
                  <a:pt x="294894" y="12954"/>
                </a:lnTo>
                <a:close/>
              </a:path>
              <a:path w="311785" h="52704">
                <a:moveTo>
                  <a:pt x="297180" y="38100"/>
                </a:moveTo>
                <a:lnTo>
                  <a:pt x="294132" y="40386"/>
                </a:lnTo>
                <a:lnTo>
                  <a:pt x="294894" y="40386"/>
                </a:lnTo>
                <a:lnTo>
                  <a:pt x="294894" y="51054"/>
                </a:lnTo>
                <a:lnTo>
                  <a:pt x="295656" y="51054"/>
                </a:lnTo>
                <a:lnTo>
                  <a:pt x="295656" y="50292"/>
                </a:lnTo>
                <a:lnTo>
                  <a:pt x="296418" y="49987"/>
                </a:lnTo>
                <a:lnTo>
                  <a:pt x="296418" y="38862"/>
                </a:lnTo>
                <a:lnTo>
                  <a:pt x="297180" y="38100"/>
                </a:lnTo>
                <a:close/>
              </a:path>
              <a:path w="311785" h="52704">
                <a:moveTo>
                  <a:pt x="299466" y="48768"/>
                </a:moveTo>
                <a:lnTo>
                  <a:pt x="299466" y="35814"/>
                </a:lnTo>
                <a:lnTo>
                  <a:pt x="296418" y="38862"/>
                </a:lnTo>
                <a:lnTo>
                  <a:pt x="296418" y="49987"/>
                </a:lnTo>
                <a:lnTo>
                  <a:pt x="299466" y="48768"/>
                </a:lnTo>
                <a:close/>
              </a:path>
              <a:path w="311785" h="52704">
                <a:moveTo>
                  <a:pt x="299466" y="18034"/>
                </a:moveTo>
                <a:lnTo>
                  <a:pt x="299466" y="17526"/>
                </a:lnTo>
                <a:lnTo>
                  <a:pt x="298704" y="16764"/>
                </a:lnTo>
                <a:lnTo>
                  <a:pt x="299466" y="18034"/>
                </a:lnTo>
                <a:close/>
              </a:path>
              <a:path w="311785" h="52704">
                <a:moveTo>
                  <a:pt x="300990" y="47434"/>
                </a:moveTo>
                <a:lnTo>
                  <a:pt x="300990" y="32766"/>
                </a:lnTo>
                <a:lnTo>
                  <a:pt x="298704" y="36576"/>
                </a:lnTo>
                <a:lnTo>
                  <a:pt x="299466" y="35814"/>
                </a:lnTo>
                <a:lnTo>
                  <a:pt x="299466" y="48768"/>
                </a:lnTo>
                <a:lnTo>
                  <a:pt x="300228" y="48006"/>
                </a:lnTo>
                <a:lnTo>
                  <a:pt x="300990" y="47434"/>
                </a:lnTo>
                <a:close/>
              </a:path>
              <a:path w="311785" h="52704">
                <a:moveTo>
                  <a:pt x="300990" y="21717"/>
                </a:moveTo>
                <a:lnTo>
                  <a:pt x="300990" y="20574"/>
                </a:lnTo>
                <a:lnTo>
                  <a:pt x="300228" y="19812"/>
                </a:lnTo>
                <a:lnTo>
                  <a:pt x="300990" y="21717"/>
                </a:lnTo>
                <a:close/>
              </a:path>
              <a:path w="311785" h="52704">
                <a:moveTo>
                  <a:pt x="301752" y="46863"/>
                </a:moveTo>
                <a:lnTo>
                  <a:pt x="301752" y="29718"/>
                </a:lnTo>
                <a:lnTo>
                  <a:pt x="300228" y="33528"/>
                </a:lnTo>
                <a:lnTo>
                  <a:pt x="300990" y="32766"/>
                </a:lnTo>
                <a:lnTo>
                  <a:pt x="300990" y="47434"/>
                </a:lnTo>
                <a:lnTo>
                  <a:pt x="301752" y="46863"/>
                </a:lnTo>
                <a:close/>
              </a:path>
              <a:path w="311785" h="52704">
                <a:moveTo>
                  <a:pt x="310896" y="32004"/>
                </a:moveTo>
                <a:lnTo>
                  <a:pt x="310896" y="20574"/>
                </a:lnTo>
                <a:lnTo>
                  <a:pt x="309372" y="16764"/>
                </a:lnTo>
                <a:lnTo>
                  <a:pt x="309372" y="36576"/>
                </a:lnTo>
                <a:lnTo>
                  <a:pt x="310896" y="32004"/>
                </a:lnTo>
                <a:close/>
              </a:path>
              <a:path w="311785" h="52704">
                <a:moveTo>
                  <a:pt x="311658" y="26670"/>
                </a:moveTo>
                <a:lnTo>
                  <a:pt x="311658" y="25908"/>
                </a:lnTo>
                <a:lnTo>
                  <a:pt x="310896" y="22098"/>
                </a:lnTo>
                <a:lnTo>
                  <a:pt x="310896" y="31242"/>
                </a:lnTo>
                <a:lnTo>
                  <a:pt x="311658" y="26670"/>
                </a:lnTo>
                <a:close/>
              </a:path>
            </a:pathLst>
          </a:custGeom>
          <a:solidFill>
            <a:srgbClr val="000000"/>
          </a:solidFill>
        </p:spPr>
        <p:txBody>
          <a:bodyPr wrap="square" lIns="0" tIns="0" rIns="0" bIns="0" rtlCol="0"/>
          <a:lstStyle/>
          <a:p>
            <a:endParaRPr/>
          </a:p>
        </p:txBody>
      </p:sp>
      <p:sp>
        <p:nvSpPr>
          <p:cNvPr id="150" name="object 150"/>
          <p:cNvSpPr/>
          <p:nvPr/>
        </p:nvSpPr>
        <p:spPr>
          <a:xfrm>
            <a:off x="3294126" y="4321302"/>
            <a:ext cx="270510" cy="24384"/>
          </a:xfrm>
          <a:prstGeom prst="rect">
            <a:avLst/>
          </a:prstGeom>
          <a:blipFill>
            <a:blip r:embed="rId12" cstate="print"/>
            <a:stretch>
              <a:fillRect/>
            </a:stretch>
          </a:blipFill>
        </p:spPr>
        <p:txBody>
          <a:bodyPr wrap="square" lIns="0" tIns="0" rIns="0" bIns="0" rtlCol="0"/>
          <a:lstStyle/>
          <a:p>
            <a:endParaRPr/>
          </a:p>
        </p:txBody>
      </p:sp>
      <p:sp>
        <p:nvSpPr>
          <p:cNvPr id="151" name="object 151"/>
          <p:cNvSpPr/>
          <p:nvPr/>
        </p:nvSpPr>
        <p:spPr>
          <a:xfrm>
            <a:off x="3289553" y="4316729"/>
            <a:ext cx="280035" cy="33655"/>
          </a:xfrm>
          <a:custGeom>
            <a:avLst/>
            <a:gdLst/>
            <a:ahLst/>
            <a:cxnLst/>
            <a:rect l="l" t="t" r="r" b="b"/>
            <a:pathLst>
              <a:path w="280035" h="33654">
                <a:moveTo>
                  <a:pt x="762" y="19811"/>
                </a:moveTo>
                <a:lnTo>
                  <a:pt x="761" y="13715"/>
                </a:lnTo>
                <a:lnTo>
                  <a:pt x="0" y="13715"/>
                </a:lnTo>
                <a:lnTo>
                  <a:pt x="0" y="19811"/>
                </a:lnTo>
                <a:lnTo>
                  <a:pt x="762" y="19811"/>
                </a:lnTo>
                <a:close/>
              </a:path>
              <a:path w="280035" h="33654">
                <a:moveTo>
                  <a:pt x="1524" y="22859"/>
                </a:moveTo>
                <a:lnTo>
                  <a:pt x="1523" y="10667"/>
                </a:lnTo>
                <a:lnTo>
                  <a:pt x="761" y="12953"/>
                </a:lnTo>
                <a:lnTo>
                  <a:pt x="762" y="20573"/>
                </a:lnTo>
                <a:lnTo>
                  <a:pt x="1524" y="22859"/>
                </a:lnTo>
                <a:close/>
              </a:path>
              <a:path w="280035" h="33654">
                <a:moveTo>
                  <a:pt x="3048" y="25907"/>
                </a:moveTo>
                <a:lnTo>
                  <a:pt x="3047" y="7619"/>
                </a:lnTo>
                <a:lnTo>
                  <a:pt x="1523" y="9905"/>
                </a:lnTo>
                <a:lnTo>
                  <a:pt x="1524" y="23621"/>
                </a:lnTo>
                <a:lnTo>
                  <a:pt x="3048" y="25907"/>
                </a:lnTo>
                <a:close/>
              </a:path>
              <a:path w="280035" h="33654">
                <a:moveTo>
                  <a:pt x="276606" y="26669"/>
                </a:moveTo>
                <a:lnTo>
                  <a:pt x="276606" y="6857"/>
                </a:lnTo>
                <a:lnTo>
                  <a:pt x="272796" y="3047"/>
                </a:lnTo>
                <a:lnTo>
                  <a:pt x="272034" y="3047"/>
                </a:lnTo>
                <a:lnTo>
                  <a:pt x="269748" y="1523"/>
                </a:lnTo>
                <a:lnTo>
                  <a:pt x="268986" y="1523"/>
                </a:lnTo>
                <a:lnTo>
                  <a:pt x="266700" y="761"/>
                </a:lnTo>
                <a:lnTo>
                  <a:pt x="265938" y="761"/>
                </a:lnTo>
                <a:lnTo>
                  <a:pt x="262890" y="0"/>
                </a:lnTo>
                <a:lnTo>
                  <a:pt x="16001" y="0"/>
                </a:lnTo>
                <a:lnTo>
                  <a:pt x="13716" y="761"/>
                </a:lnTo>
                <a:lnTo>
                  <a:pt x="12954" y="761"/>
                </a:lnTo>
                <a:lnTo>
                  <a:pt x="10667" y="1523"/>
                </a:lnTo>
                <a:lnTo>
                  <a:pt x="9905" y="1523"/>
                </a:lnTo>
                <a:lnTo>
                  <a:pt x="7619" y="3047"/>
                </a:lnTo>
                <a:lnTo>
                  <a:pt x="6857" y="3047"/>
                </a:lnTo>
                <a:lnTo>
                  <a:pt x="3047" y="6857"/>
                </a:lnTo>
                <a:lnTo>
                  <a:pt x="3048" y="26669"/>
                </a:lnTo>
                <a:lnTo>
                  <a:pt x="6858" y="30479"/>
                </a:lnTo>
                <a:lnTo>
                  <a:pt x="7620" y="30479"/>
                </a:lnTo>
                <a:lnTo>
                  <a:pt x="7620" y="31241"/>
                </a:lnTo>
                <a:lnTo>
                  <a:pt x="9906" y="32003"/>
                </a:lnTo>
                <a:lnTo>
                  <a:pt x="9906" y="14477"/>
                </a:lnTo>
                <a:lnTo>
                  <a:pt x="10668" y="13334"/>
                </a:lnTo>
                <a:lnTo>
                  <a:pt x="10668" y="12953"/>
                </a:lnTo>
                <a:lnTo>
                  <a:pt x="12954" y="10667"/>
                </a:lnTo>
                <a:lnTo>
                  <a:pt x="12954" y="10921"/>
                </a:lnTo>
                <a:lnTo>
                  <a:pt x="14478" y="9905"/>
                </a:lnTo>
                <a:lnTo>
                  <a:pt x="264414" y="9905"/>
                </a:lnTo>
                <a:lnTo>
                  <a:pt x="264414" y="10159"/>
                </a:lnTo>
                <a:lnTo>
                  <a:pt x="265176" y="10413"/>
                </a:lnTo>
                <a:lnTo>
                  <a:pt x="265176" y="9905"/>
                </a:lnTo>
                <a:lnTo>
                  <a:pt x="266700" y="10921"/>
                </a:lnTo>
                <a:lnTo>
                  <a:pt x="266700" y="10667"/>
                </a:lnTo>
                <a:lnTo>
                  <a:pt x="268986" y="12953"/>
                </a:lnTo>
                <a:lnTo>
                  <a:pt x="268986" y="13334"/>
                </a:lnTo>
                <a:lnTo>
                  <a:pt x="269748" y="14477"/>
                </a:lnTo>
                <a:lnTo>
                  <a:pt x="269748" y="32003"/>
                </a:lnTo>
                <a:lnTo>
                  <a:pt x="272034" y="31241"/>
                </a:lnTo>
                <a:lnTo>
                  <a:pt x="272034" y="30479"/>
                </a:lnTo>
                <a:lnTo>
                  <a:pt x="272796" y="30479"/>
                </a:lnTo>
                <a:lnTo>
                  <a:pt x="276606" y="26669"/>
                </a:lnTo>
                <a:close/>
              </a:path>
              <a:path w="280035" h="33654">
                <a:moveTo>
                  <a:pt x="10668" y="13715"/>
                </a:moveTo>
                <a:lnTo>
                  <a:pt x="9906" y="14477"/>
                </a:lnTo>
                <a:lnTo>
                  <a:pt x="9906" y="16001"/>
                </a:lnTo>
                <a:lnTo>
                  <a:pt x="10668" y="13715"/>
                </a:lnTo>
                <a:close/>
              </a:path>
              <a:path w="280035" h="33654">
                <a:moveTo>
                  <a:pt x="10668" y="19811"/>
                </a:moveTo>
                <a:lnTo>
                  <a:pt x="9906" y="17525"/>
                </a:lnTo>
                <a:lnTo>
                  <a:pt x="9906" y="19049"/>
                </a:lnTo>
                <a:lnTo>
                  <a:pt x="10668" y="19811"/>
                </a:lnTo>
                <a:close/>
              </a:path>
              <a:path w="280035" h="33654">
                <a:moveTo>
                  <a:pt x="11430" y="21335"/>
                </a:moveTo>
                <a:lnTo>
                  <a:pt x="9906" y="19049"/>
                </a:lnTo>
                <a:lnTo>
                  <a:pt x="9906" y="32003"/>
                </a:lnTo>
                <a:lnTo>
                  <a:pt x="10668" y="32003"/>
                </a:lnTo>
                <a:lnTo>
                  <a:pt x="10668" y="20573"/>
                </a:lnTo>
                <a:lnTo>
                  <a:pt x="11430" y="21335"/>
                </a:lnTo>
                <a:close/>
              </a:path>
              <a:path w="280035" h="33654">
                <a:moveTo>
                  <a:pt x="11430" y="12191"/>
                </a:moveTo>
                <a:lnTo>
                  <a:pt x="10668" y="12953"/>
                </a:lnTo>
                <a:lnTo>
                  <a:pt x="10668" y="13334"/>
                </a:lnTo>
                <a:lnTo>
                  <a:pt x="11430" y="12191"/>
                </a:lnTo>
                <a:close/>
              </a:path>
              <a:path w="280035" h="33654">
                <a:moveTo>
                  <a:pt x="12954" y="22859"/>
                </a:moveTo>
                <a:lnTo>
                  <a:pt x="10668" y="20573"/>
                </a:lnTo>
                <a:lnTo>
                  <a:pt x="10668" y="32003"/>
                </a:lnTo>
                <a:lnTo>
                  <a:pt x="12192" y="32511"/>
                </a:lnTo>
                <a:lnTo>
                  <a:pt x="12192" y="22859"/>
                </a:lnTo>
                <a:lnTo>
                  <a:pt x="12954" y="22859"/>
                </a:lnTo>
                <a:close/>
              </a:path>
              <a:path w="280035" h="33654">
                <a:moveTo>
                  <a:pt x="12954" y="10921"/>
                </a:moveTo>
                <a:lnTo>
                  <a:pt x="12954" y="10667"/>
                </a:lnTo>
                <a:lnTo>
                  <a:pt x="12192" y="11429"/>
                </a:lnTo>
                <a:lnTo>
                  <a:pt x="12954" y="10921"/>
                </a:lnTo>
                <a:close/>
              </a:path>
              <a:path w="280035" h="33654">
                <a:moveTo>
                  <a:pt x="14478" y="23621"/>
                </a:moveTo>
                <a:lnTo>
                  <a:pt x="12192" y="22859"/>
                </a:lnTo>
                <a:lnTo>
                  <a:pt x="12192" y="32511"/>
                </a:lnTo>
                <a:lnTo>
                  <a:pt x="12954" y="32765"/>
                </a:lnTo>
                <a:lnTo>
                  <a:pt x="12953" y="33527"/>
                </a:lnTo>
                <a:lnTo>
                  <a:pt x="13715" y="33527"/>
                </a:lnTo>
                <a:lnTo>
                  <a:pt x="13716" y="23621"/>
                </a:lnTo>
                <a:lnTo>
                  <a:pt x="14478" y="23621"/>
                </a:lnTo>
                <a:close/>
              </a:path>
              <a:path w="280035" h="33654">
                <a:moveTo>
                  <a:pt x="16001" y="9905"/>
                </a:moveTo>
                <a:lnTo>
                  <a:pt x="14478" y="9905"/>
                </a:lnTo>
                <a:lnTo>
                  <a:pt x="13716" y="10667"/>
                </a:lnTo>
                <a:lnTo>
                  <a:pt x="16001" y="9905"/>
                </a:lnTo>
                <a:close/>
              </a:path>
              <a:path w="280035" h="33654">
                <a:moveTo>
                  <a:pt x="265938" y="33527"/>
                </a:moveTo>
                <a:lnTo>
                  <a:pt x="265938" y="23621"/>
                </a:lnTo>
                <a:lnTo>
                  <a:pt x="265176" y="23621"/>
                </a:lnTo>
                <a:lnTo>
                  <a:pt x="262128" y="24383"/>
                </a:lnTo>
                <a:lnTo>
                  <a:pt x="13716" y="23621"/>
                </a:lnTo>
                <a:lnTo>
                  <a:pt x="13715" y="33527"/>
                </a:lnTo>
                <a:lnTo>
                  <a:pt x="265938" y="33527"/>
                </a:lnTo>
                <a:close/>
              </a:path>
              <a:path w="280035" h="33654">
                <a:moveTo>
                  <a:pt x="264414" y="10159"/>
                </a:moveTo>
                <a:lnTo>
                  <a:pt x="264414" y="9905"/>
                </a:lnTo>
                <a:lnTo>
                  <a:pt x="263652" y="9905"/>
                </a:lnTo>
                <a:lnTo>
                  <a:pt x="264414" y="10159"/>
                </a:lnTo>
                <a:close/>
              </a:path>
              <a:path w="280035" h="33654">
                <a:moveTo>
                  <a:pt x="265938" y="10667"/>
                </a:moveTo>
                <a:lnTo>
                  <a:pt x="265176" y="9905"/>
                </a:lnTo>
                <a:lnTo>
                  <a:pt x="265176" y="10413"/>
                </a:lnTo>
                <a:lnTo>
                  <a:pt x="265938" y="10667"/>
                </a:lnTo>
                <a:close/>
              </a:path>
              <a:path w="280035" h="33654">
                <a:moveTo>
                  <a:pt x="267462" y="32511"/>
                </a:moveTo>
                <a:lnTo>
                  <a:pt x="267462" y="22859"/>
                </a:lnTo>
                <a:lnTo>
                  <a:pt x="265176" y="23621"/>
                </a:lnTo>
                <a:lnTo>
                  <a:pt x="265938" y="23621"/>
                </a:lnTo>
                <a:lnTo>
                  <a:pt x="265938" y="33527"/>
                </a:lnTo>
                <a:lnTo>
                  <a:pt x="266700" y="33527"/>
                </a:lnTo>
                <a:lnTo>
                  <a:pt x="266700" y="32765"/>
                </a:lnTo>
                <a:lnTo>
                  <a:pt x="267462" y="32511"/>
                </a:lnTo>
                <a:close/>
              </a:path>
              <a:path w="280035" h="33654">
                <a:moveTo>
                  <a:pt x="267462" y="11429"/>
                </a:moveTo>
                <a:lnTo>
                  <a:pt x="266700" y="10667"/>
                </a:lnTo>
                <a:lnTo>
                  <a:pt x="266700" y="10921"/>
                </a:lnTo>
                <a:lnTo>
                  <a:pt x="267462" y="11429"/>
                </a:lnTo>
                <a:close/>
              </a:path>
              <a:path w="280035" h="33654">
                <a:moveTo>
                  <a:pt x="268986" y="32003"/>
                </a:moveTo>
                <a:lnTo>
                  <a:pt x="268986" y="20573"/>
                </a:lnTo>
                <a:lnTo>
                  <a:pt x="266700" y="22859"/>
                </a:lnTo>
                <a:lnTo>
                  <a:pt x="267462" y="22859"/>
                </a:lnTo>
                <a:lnTo>
                  <a:pt x="267462" y="32511"/>
                </a:lnTo>
                <a:lnTo>
                  <a:pt x="268986" y="32003"/>
                </a:lnTo>
                <a:close/>
              </a:path>
              <a:path w="280035" h="33654">
                <a:moveTo>
                  <a:pt x="268986" y="13334"/>
                </a:moveTo>
                <a:lnTo>
                  <a:pt x="268986" y="12953"/>
                </a:lnTo>
                <a:lnTo>
                  <a:pt x="268224" y="12191"/>
                </a:lnTo>
                <a:lnTo>
                  <a:pt x="268986" y="13334"/>
                </a:lnTo>
                <a:close/>
              </a:path>
              <a:path w="280035" h="33654">
                <a:moveTo>
                  <a:pt x="269748" y="32003"/>
                </a:moveTo>
                <a:lnTo>
                  <a:pt x="269748" y="19049"/>
                </a:lnTo>
                <a:lnTo>
                  <a:pt x="268224" y="21335"/>
                </a:lnTo>
                <a:lnTo>
                  <a:pt x="268986" y="20573"/>
                </a:lnTo>
                <a:lnTo>
                  <a:pt x="268986" y="32003"/>
                </a:lnTo>
                <a:lnTo>
                  <a:pt x="269748" y="32003"/>
                </a:lnTo>
                <a:close/>
              </a:path>
              <a:path w="280035" h="33654">
                <a:moveTo>
                  <a:pt x="269748" y="16001"/>
                </a:moveTo>
                <a:lnTo>
                  <a:pt x="269748" y="14477"/>
                </a:lnTo>
                <a:lnTo>
                  <a:pt x="268986" y="13715"/>
                </a:lnTo>
                <a:lnTo>
                  <a:pt x="269748" y="16001"/>
                </a:lnTo>
                <a:close/>
              </a:path>
              <a:path w="280035" h="33654">
                <a:moveTo>
                  <a:pt x="269748" y="19049"/>
                </a:moveTo>
                <a:lnTo>
                  <a:pt x="269748" y="17525"/>
                </a:lnTo>
                <a:lnTo>
                  <a:pt x="268986" y="19811"/>
                </a:lnTo>
                <a:lnTo>
                  <a:pt x="269748" y="19049"/>
                </a:lnTo>
                <a:close/>
              </a:path>
              <a:path w="280035" h="33654">
                <a:moveTo>
                  <a:pt x="278130" y="23621"/>
                </a:moveTo>
                <a:lnTo>
                  <a:pt x="278130" y="9905"/>
                </a:lnTo>
                <a:lnTo>
                  <a:pt x="276606" y="7619"/>
                </a:lnTo>
                <a:lnTo>
                  <a:pt x="276606" y="25907"/>
                </a:lnTo>
                <a:lnTo>
                  <a:pt x="278130" y="23621"/>
                </a:lnTo>
                <a:close/>
              </a:path>
              <a:path w="280035" h="33654">
                <a:moveTo>
                  <a:pt x="278892" y="20573"/>
                </a:moveTo>
                <a:lnTo>
                  <a:pt x="278892" y="12953"/>
                </a:lnTo>
                <a:lnTo>
                  <a:pt x="278130" y="10667"/>
                </a:lnTo>
                <a:lnTo>
                  <a:pt x="278130" y="22859"/>
                </a:lnTo>
                <a:lnTo>
                  <a:pt x="278892" y="20573"/>
                </a:lnTo>
                <a:close/>
              </a:path>
              <a:path w="280035" h="33654">
                <a:moveTo>
                  <a:pt x="279654" y="19811"/>
                </a:moveTo>
                <a:lnTo>
                  <a:pt x="279654" y="13715"/>
                </a:lnTo>
                <a:lnTo>
                  <a:pt x="278892" y="13715"/>
                </a:lnTo>
                <a:lnTo>
                  <a:pt x="278892" y="19811"/>
                </a:lnTo>
                <a:lnTo>
                  <a:pt x="279654" y="19811"/>
                </a:lnTo>
                <a:close/>
              </a:path>
            </a:pathLst>
          </a:custGeom>
          <a:solidFill>
            <a:srgbClr val="000000"/>
          </a:solidFill>
        </p:spPr>
        <p:txBody>
          <a:bodyPr wrap="square" lIns="0" tIns="0" rIns="0" bIns="0" rtlCol="0"/>
          <a:lstStyle/>
          <a:p>
            <a:endParaRPr/>
          </a:p>
        </p:txBody>
      </p:sp>
      <p:sp>
        <p:nvSpPr>
          <p:cNvPr id="152" name="object 152"/>
          <p:cNvSpPr/>
          <p:nvPr/>
        </p:nvSpPr>
        <p:spPr>
          <a:xfrm>
            <a:off x="3321558" y="4224528"/>
            <a:ext cx="40005" cy="43180"/>
          </a:xfrm>
          <a:custGeom>
            <a:avLst/>
            <a:gdLst/>
            <a:ahLst/>
            <a:cxnLst/>
            <a:rect l="l" t="t" r="r" b="b"/>
            <a:pathLst>
              <a:path w="40004" h="43179">
                <a:moveTo>
                  <a:pt x="39624" y="21336"/>
                </a:moveTo>
                <a:lnTo>
                  <a:pt x="38028" y="13180"/>
                </a:lnTo>
                <a:lnTo>
                  <a:pt x="33718" y="6381"/>
                </a:lnTo>
                <a:lnTo>
                  <a:pt x="27408" y="1726"/>
                </a:lnTo>
                <a:lnTo>
                  <a:pt x="19812" y="0"/>
                </a:lnTo>
                <a:lnTo>
                  <a:pt x="11894" y="1726"/>
                </a:lnTo>
                <a:lnTo>
                  <a:pt x="5619" y="6381"/>
                </a:lnTo>
                <a:lnTo>
                  <a:pt x="1488" y="13180"/>
                </a:lnTo>
                <a:lnTo>
                  <a:pt x="0" y="21336"/>
                </a:lnTo>
                <a:lnTo>
                  <a:pt x="1488" y="29813"/>
                </a:lnTo>
                <a:lnTo>
                  <a:pt x="5619" y="36576"/>
                </a:lnTo>
                <a:lnTo>
                  <a:pt x="11894" y="41052"/>
                </a:lnTo>
                <a:lnTo>
                  <a:pt x="19812" y="42672"/>
                </a:lnTo>
                <a:lnTo>
                  <a:pt x="27408" y="41052"/>
                </a:lnTo>
                <a:lnTo>
                  <a:pt x="33718" y="36576"/>
                </a:lnTo>
                <a:lnTo>
                  <a:pt x="38028" y="29813"/>
                </a:lnTo>
                <a:lnTo>
                  <a:pt x="39624" y="21336"/>
                </a:lnTo>
                <a:close/>
              </a:path>
            </a:pathLst>
          </a:custGeom>
          <a:solidFill>
            <a:srgbClr val="33CC33"/>
          </a:solidFill>
        </p:spPr>
        <p:txBody>
          <a:bodyPr wrap="square" lIns="0" tIns="0" rIns="0" bIns="0" rtlCol="0"/>
          <a:lstStyle/>
          <a:p>
            <a:endParaRPr/>
          </a:p>
        </p:txBody>
      </p:sp>
      <p:sp>
        <p:nvSpPr>
          <p:cNvPr id="153" name="object 153"/>
          <p:cNvSpPr/>
          <p:nvPr/>
        </p:nvSpPr>
        <p:spPr>
          <a:xfrm>
            <a:off x="3365753" y="4224528"/>
            <a:ext cx="40005" cy="43180"/>
          </a:xfrm>
          <a:custGeom>
            <a:avLst/>
            <a:gdLst/>
            <a:ahLst/>
            <a:cxnLst/>
            <a:rect l="l" t="t" r="r" b="b"/>
            <a:pathLst>
              <a:path w="40004" h="43179">
                <a:moveTo>
                  <a:pt x="39624" y="21336"/>
                </a:moveTo>
                <a:lnTo>
                  <a:pt x="38135" y="13180"/>
                </a:lnTo>
                <a:lnTo>
                  <a:pt x="34004" y="6381"/>
                </a:lnTo>
                <a:lnTo>
                  <a:pt x="27729" y="1726"/>
                </a:lnTo>
                <a:lnTo>
                  <a:pt x="19812" y="0"/>
                </a:lnTo>
                <a:lnTo>
                  <a:pt x="12215" y="1726"/>
                </a:lnTo>
                <a:lnTo>
                  <a:pt x="5905" y="6381"/>
                </a:lnTo>
                <a:lnTo>
                  <a:pt x="1595" y="13180"/>
                </a:lnTo>
                <a:lnTo>
                  <a:pt x="0" y="21336"/>
                </a:lnTo>
                <a:lnTo>
                  <a:pt x="1595" y="29813"/>
                </a:lnTo>
                <a:lnTo>
                  <a:pt x="5905" y="36576"/>
                </a:lnTo>
                <a:lnTo>
                  <a:pt x="12215" y="41052"/>
                </a:lnTo>
                <a:lnTo>
                  <a:pt x="19812" y="42672"/>
                </a:lnTo>
                <a:lnTo>
                  <a:pt x="27729" y="41052"/>
                </a:lnTo>
                <a:lnTo>
                  <a:pt x="34004" y="36576"/>
                </a:lnTo>
                <a:lnTo>
                  <a:pt x="38135" y="29813"/>
                </a:lnTo>
                <a:lnTo>
                  <a:pt x="39624" y="21336"/>
                </a:lnTo>
                <a:close/>
              </a:path>
            </a:pathLst>
          </a:custGeom>
          <a:solidFill>
            <a:srgbClr val="FF0000"/>
          </a:solidFill>
        </p:spPr>
        <p:txBody>
          <a:bodyPr wrap="square" lIns="0" tIns="0" rIns="0" bIns="0" rtlCol="0"/>
          <a:lstStyle/>
          <a:p>
            <a:endParaRPr/>
          </a:p>
        </p:txBody>
      </p:sp>
      <p:sp>
        <p:nvSpPr>
          <p:cNvPr id="154" name="object 154"/>
          <p:cNvSpPr/>
          <p:nvPr/>
        </p:nvSpPr>
        <p:spPr>
          <a:xfrm>
            <a:off x="3409950" y="4224528"/>
            <a:ext cx="40640" cy="41275"/>
          </a:xfrm>
          <a:custGeom>
            <a:avLst/>
            <a:gdLst/>
            <a:ahLst/>
            <a:cxnLst/>
            <a:rect l="l" t="t" r="r" b="b"/>
            <a:pathLst>
              <a:path w="40639" h="41275">
                <a:moveTo>
                  <a:pt x="40386" y="20574"/>
                </a:moveTo>
                <a:lnTo>
                  <a:pt x="38778" y="12537"/>
                </a:lnTo>
                <a:lnTo>
                  <a:pt x="34385" y="6000"/>
                </a:lnTo>
                <a:lnTo>
                  <a:pt x="27848" y="1607"/>
                </a:lnTo>
                <a:lnTo>
                  <a:pt x="19812" y="0"/>
                </a:lnTo>
                <a:lnTo>
                  <a:pt x="12215" y="1607"/>
                </a:lnTo>
                <a:lnTo>
                  <a:pt x="5905" y="6000"/>
                </a:lnTo>
                <a:lnTo>
                  <a:pt x="1595" y="12537"/>
                </a:lnTo>
                <a:lnTo>
                  <a:pt x="0" y="20574"/>
                </a:lnTo>
                <a:lnTo>
                  <a:pt x="1595" y="28610"/>
                </a:lnTo>
                <a:lnTo>
                  <a:pt x="5905" y="35147"/>
                </a:lnTo>
                <a:lnTo>
                  <a:pt x="12215" y="39540"/>
                </a:lnTo>
                <a:lnTo>
                  <a:pt x="19812" y="41148"/>
                </a:lnTo>
                <a:lnTo>
                  <a:pt x="27848" y="39540"/>
                </a:lnTo>
                <a:lnTo>
                  <a:pt x="34385" y="35147"/>
                </a:lnTo>
                <a:lnTo>
                  <a:pt x="38778" y="28610"/>
                </a:lnTo>
                <a:lnTo>
                  <a:pt x="40386" y="20574"/>
                </a:lnTo>
                <a:close/>
              </a:path>
            </a:pathLst>
          </a:custGeom>
          <a:solidFill>
            <a:srgbClr val="33CC33"/>
          </a:solidFill>
        </p:spPr>
        <p:txBody>
          <a:bodyPr wrap="square" lIns="0" tIns="0" rIns="0" bIns="0" rtlCol="0"/>
          <a:lstStyle/>
          <a:p>
            <a:endParaRPr/>
          </a:p>
        </p:txBody>
      </p:sp>
      <p:sp>
        <p:nvSpPr>
          <p:cNvPr id="155" name="object 155"/>
          <p:cNvSpPr/>
          <p:nvPr/>
        </p:nvSpPr>
        <p:spPr>
          <a:xfrm>
            <a:off x="3521583" y="4064508"/>
            <a:ext cx="0" cy="223520"/>
          </a:xfrm>
          <a:custGeom>
            <a:avLst/>
            <a:gdLst/>
            <a:ahLst/>
            <a:cxnLst/>
            <a:rect l="l" t="t" r="r" b="b"/>
            <a:pathLst>
              <a:path h="223520">
                <a:moveTo>
                  <a:pt x="0" y="0"/>
                </a:moveTo>
                <a:lnTo>
                  <a:pt x="0" y="223265"/>
                </a:lnTo>
              </a:path>
            </a:pathLst>
          </a:custGeom>
          <a:ln w="22098">
            <a:solidFill>
              <a:srgbClr val="292929"/>
            </a:solidFill>
          </a:ln>
        </p:spPr>
        <p:txBody>
          <a:bodyPr wrap="square" lIns="0" tIns="0" rIns="0" bIns="0" rtlCol="0"/>
          <a:lstStyle/>
          <a:p>
            <a:endParaRPr/>
          </a:p>
        </p:txBody>
      </p:sp>
      <p:sp>
        <p:nvSpPr>
          <p:cNvPr id="156" name="object 156"/>
          <p:cNvSpPr/>
          <p:nvPr/>
        </p:nvSpPr>
        <p:spPr>
          <a:xfrm>
            <a:off x="3505961" y="4059173"/>
            <a:ext cx="31750" cy="234315"/>
          </a:xfrm>
          <a:custGeom>
            <a:avLst/>
            <a:gdLst/>
            <a:ahLst/>
            <a:cxnLst/>
            <a:rect l="l" t="t" r="r" b="b"/>
            <a:pathLst>
              <a:path w="31750" h="234314">
                <a:moveTo>
                  <a:pt x="31241" y="233934"/>
                </a:moveTo>
                <a:lnTo>
                  <a:pt x="31241" y="0"/>
                </a:lnTo>
                <a:lnTo>
                  <a:pt x="0" y="0"/>
                </a:lnTo>
                <a:lnTo>
                  <a:pt x="0" y="233934"/>
                </a:lnTo>
                <a:lnTo>
                  <a:pt x="4572" y="233934"/>
                </a:lnTo>
                <a:lnTo>
                  <a:pt x="4572" y="9905"/>
                </a:lnTo>
                <a:lnTo>
                  <a:pt x="9143" y="5334"/>
                </a:lnTo>
                <a:lnTo>
                  <a:pt x="9143" y="9905"/>
                </a:lnTo>
                <a:lnTo>
                  <a:pt x="22098" y="9905"/>
                </a:lnTo>
                <a:lnTo>
                  <a:pt x="22098" y="5334"/>
                </a:lnTo>
                <a:lnTo>
                  <a:pt x="26670" y="9905"/>
                </a:lnTo>
                <a:lnTo>
                  <a:pt x="26670" y="233934"/>
                </a:lnTo>
                <a:lnTo>
                  <a:pt x="31241" y="233934"/>
                </a:lnTo>
                <a:close/>
              </a:path>
              <a:path w="31750" h="234314">
                <a:moveTo>
                  <a:pt x="9143" y="9905"/>
                </a:moveTo>
                <a:lnTo>
                  <a:pt x="9143" y="5334"/>
                </a:lnTo>
                <a:lnTo>
                  <a:pt x="4572" y="9905"/>
                </a:lnTo>
                <a:lnTo>
                  <a:pt x="9143" y="9905"/>
                </a:lnTo>
                <a:close/>
              </a:path>
              <a:path w="31750" h="234314">
                <a:moveTo>
                  <a:pt x="9143" y="224027"/>
                </a:moveTo>
                <a:lnTo>
                  <a:pt x="9143" y="9905"/>
                </a:lnTo>
                <a:lnTo>
                  <a:pt x="4572" y="9905"/>
                </a:lnTo>
                <a:lnTo>
                  <a:pt x="4572" y="224027"/>
                </a:lnTo>
                <a:lnTo>
                  <a:pt x="9143" y="224027"/>
                </a:lnTo>
                <a:close/>
              </a:path>
              <a:path w="31750" h="234314">
                <a:moveTo>
                  <a:pt x="26670" y="224027"/>
                </a:moveTo>
                <a:lnTo>
                  <a:pt x="4572" y="224027"/>
                </a:lnTo>
                <a:lnTo>
                  <a:pt x="9143" y="228600"/>
                </a:lnTo>
                <a:lnTo>
                  <a:pt x="9143" y="233934"/>
                </a:lnTo>
                <a:lnTo>
                  <a:pt x="22098" y="233934"/>
                </a:lnTo>
                <a:lnTo>
                  <a:pt x="22098" y="228600"/>
                </a:lnTo>
                <a:lnTo>
                  <a:pt x="26670" y="224027"/>
                </a:lnTo>
                <a:close/>
              </a:path>
              <a:path w="31750" h="234314">
                <a:moveTo>
                  <a:pt x="9143" y="233934"/>
                </a:moveTo>
                <a:lnTo>
                  <a:pt x="9143" y="228600"/>
                </a:lnTo>
                <a:lnTo>
                  <a:pt x="4572" y="224027"/>
                </a:lnTo>
                <a:lnTo>
                  <a:pt x="4572" y="233934"/>
                </a:lnTo>
                <a:lnTo>
                  <a:pt x="9143" y="233934"/>
                </a:lnTo>
                <a:close/>
              </a:path>
              <a:path w="31750" h="234314">
                <a:moveTo>
                  <a:pt x="26670" y="9905"/>
                </a:moveTo>
                <a:lnTo>
                  <a:pt x="22098" y="5334"/>
                </a:lnTo>
                <a:lnTo>
                  <a:pt x="22098" y="9905"/>
                </a:lnTo>
                <a:lnTo>
                  <a:pt x="26670" y="9905"/>
                </a:lnTo>
                <a:close/>
              </a:path>
              <a:path w="31750" h="234314">
                <a:moveTo>
                  <a:pt x="26670" y="224027"/>
                </a:moveTo>
                <a:lnTo>
                  <a:pt x="26670" y="9905"/>
                </a:lnTo>
                <a:lnTo>
                  <a:pt x="22098" y="9905"/>
                </a:lnTo>
                <a:lnTo>
                  <a:pt x="22098" y="224027"/>
                </a:lnTo>
                <a:lnTo>
                  <a:pt x="26670" y="224027"/>
                </a:lnTo>
                <a:close/>
              </a:path>
              <a:path w="31750" h="234314">
                <a:moveTo>
                  <a:pt x="26670" y="233934"/>
                </a:moveTo>
                <a:lnTo>
                  <a:pt x="26670" y="224027"/>
                </a:lnTo>
                <a:lnTo>
                  <a:pt x="22098" y="228600"/>
                </a:lnTo>
                <a:lnTo>
                  <a:pt x="22098" y="233934"/>
                </a:lnTo>
                <a:lnTo>
                  <a:pt x="26670" y="233934"/>
                </a:lnTo>
                <a:close/>
              </a:path>
            </a:pathLst>
          </a:custGeom>
          <a:solidFill>
            <a:srgbClr val="000000"/>
          </a:solidFill>
        </p:spPr>
        <p:txBody>
          <a:bodyPr wrap="square" lIns="0" tIns="0" rIns="0" bIns="0" rtlCol="0"/>
          <a:lstStyle/>
          <a:p>
            <a:endParaRPr/>
          </a:p>
        </p:txBody>
      </p:sp>
      <p:sp>
        <p:nvSpPr>
          <p:cNvPr id="157" name="object 157"/>
          <p:cNvSpPr/>
          <p:nvPr/>
        </p:nvSpPr>
        <p:spPr>
          <a:xfrm>
            <a:off x="544068" y="4082796"/>
            <a:ext cx="579882" cy="621791"/>
          </a:xfrm>
          <a:prstGeom prst="rect">
            <a:avLst/>
          </a:prstGeom>
          <a:blipFill>
            <a:blip r:embed="rId13" cstate="print"/>
            <a:stretch>
              <a:fillRect/>
            </a:stretch>
          </a:blipFill>
        </p:spPr>
        <p:txBody>
          <a:bodyPr wrap="square" lIns="0" tIns="0" rIns="0" bIns="0" rtlCol="0"/>
          <a:lstStyle/>
          <a:p>
            <a:endParaRPr/>
          </a:p>
        </p:txBody>
      </p:sp>
      <p:sp>
        <p:nvSpPr>
          <p:cNvPr id="158" name="object 158"/>
          <p:cNvSpPr/>
          <p:nvPr/>
        </p:nvSpPr>
        <p:spPr>
          <a:xfrm>
            <a:off x="716280" y="4134611"/>
            <a:ext cx="345947" cy="307085"/>
          </a:xfrm>
          <a:prstGeom prst="rect">
            <a:avLst/>
          </a:prstGeom>
          <a:blipFill>
            <a:blip r:embed="rId14" cstate="print"/>
            <a:stretch>
              <a:fillRect/>
            </a:stretch>
          </a:blipFill>
        </p:spPr>
        <p:txBody>
          <a:bodyPr wrap="square" lIns="0" tIns="0" rIns="0" bIns="0" rtlCol="0"/>
          <a:lstStyle/>
          <a:p>
            <a:endParaRPr/>
          </a:p>
        </p:txBody>
      </p:sp>
      <p:sp>
        <p:nvSpPr>
          <p:cNvPr id="159" name="object 159"/>
          <p:cNvSpPr/>
          <p:nvPr/>
        </p:nvSpPr>
        <p:spPr>
          <a:xfrm>
            <a:off x="8715756" y="4000500"/>
            <a:ext cx="588263" cy="621791"/>
          </a:xfrm>
          <a:prstGeom prst="rect">
            <a:avLst/>
          </a:prstGeom>
          <a:blipFill>
            <a:blip r:embed="rId15" cstate="print"/>
            <a:stretch>
              <a:fillRect/>
            </a:stretch>
          </a:blipFill>
        </p:spPr>
        <p:txBody>
          <a:bodyPr wrap="square" lIns="0" tIns="0" rIns="0" bIns="0" rtlCol="0"/>
          <a:lstStyle/>
          <a:p>
            <a:endParaRPr/>
          </a:p>
        </p:txBody>
      </p:sp>
      <p:sp>
        <p:nvSpPr>
          <p:cNvPr id="160" name="object 160"/>
          <p:cNvSpPr/>
          <p:nvPr/>
        </p:nvSpPr>
        <p:spPr>
          <a:xfrm>
            <a:off x="8778240" y="4050791"/>
            <a:ext cx="345948" cy="307086"/>
          </a:xfrm>
          <a:prstGeom prst="rect">
            <a:avLst/>
          </a:prstGeom>
          <a:blipFill>
            <a:blip r:embed="rId16" cstate="print"/>
            <a:stretch>
              <a:fillRect/>
            </a:stretch>
          </a:blipFill>
        </p:spPr>
        <p:txBody>
          <a:bodyPr wrap="square" lIns="0" tIns="0" rIns="0" bIns="0" rtlCol="0"/>
          <a:lstStyle/>
          <a:p>
            <a:endParaRPr/>
          </a:p>
        </p:txBody>
      </p:sp>
      <p:sp>
        <p:nvSpPr>
          <p:cNvPr id="161" name="Slide Number Placeholder 160"/>
          <p:cNvSpPr>
            <a:spLocks noGrp="1"/>
          </p:cNvSpPr>
          <p:nvPr>
            <p:ph type="sldNum" sz="quarter" idx="7"/>
          </p:nvPr>
        </p:nvSpPr>
        <p:spPr>
          <a:xfrm>
            <a:off x="9193567" y="7083933"/>
            <a:ext cx="394970" cy="205184"/>
          </a:xfrm>
        </p:spPr>
        <p:txBody>
          <a:bodyPr/>
          <a:lstStyle/>
          <a:p>
            <a:pPr marL="12700">
              <a:lnSpc>
                <a:spcPts val="1645"/>
              </a:lnSpc>
            </a:pPr>
            <a:fld id="{81D60167-4931-47E6-BA6A-407CBD079E47}" type="slidenum">
              <a:rPr lang="en-US" spc="-5" smtClean="0"/>
              <a:t>13</a:t>
            </a:fld>
            <a:endParaRPr lang="en-US" spc="-5" dirty="0"/>
          </a:p>
        </p:txBody>
      </p:sp>
    </p:spTree>
    <p:extLst>
      <p:ext uri="{BB962C8B-B14F-4D97-AF65-F5344CB8AC3E}">
        <p14:creationId xmlns:p14="http://schemas.microsoft.com/office/powerpoint/2010/main" val="258239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spc="-5" dirty="0"/>
              <a:t>Chương 3: </a:t>
            </a:r>
            <a:r>
              <a:rPr dirty="0"/>
              <a:t>Tầng </a:t>
            </a:r>
            <a:r>
              <a:rPr spc="-5" dirty="0"/>
              <a:t>giao</a:t>
            </a:r>
            <a:r>
              <a:rPr spc="-160" dirty="0"/>
              <a:t> </a:t>
            </a:r>
            <a:r>
              <a:rPr spc="-5" dirty="0"/>
              <a:t>vận</a:t>
            </a:r>
          </a:p>
        </p:txBody>
      </p:sp>
      <p:sp>
        <p:nvSpPr>
          <p:cNvPr id="4" name="object 4"/>
          <p:cNvSpPr txBox="1"/>
          <p:nvPr/>
        </p:nvSpPr>
        <p:spPr>
          <a:xfrm>
            <a:off x="1193546" y="1780286"/>
            <a:ext cx="5403215" cy="285655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a:t>
            </a:r>
            <a:r>
              <a:rPr lang="en-US" sz="3200" spc="-5" dirty="0" err="1">
                <a:latin typeface="Arial"/>
                <a:cs typeface="Arial"/>
              </a:rPr>
              <a:t>tầng</a:t>
            </a:r>
            <a:r>
              <a:rPr lang="en-US" sz="3200" spc="-5" dirty="0">
                <a:latin typeface="Arial"/>
                <a:cs typeface="Arial"/>
              </a:rPr>
              <a:t> </a:t>
            </a:r>
            <a:r>
              <a:rPr lang="en-US" sz="3200" spc="-5" dirty="0" err="1">
                <a:latin typeface="Arial"/>
                <a:cs typeface="Arial"/>
              </a:rPr>
              <a:t>giao</a:t>
            </a:r>
            <a:r>
              <a:rPr lang="en-US" sz="3200" spc="-5" dirty="0">
                <a:latin typeface="Arial"/>
                <a:cs typeface="Arial"/>
              </a:rPr>
              <a:t> </a:t>
            </a:r>
            <a:r>
              <a:rPr lang="en-US" sz="3200" spc="-5" dirty="0" err="1">
                <a:latin typeface="Arial"/>
                <a:cs typeface="Arial"/>
              </a:rPr>
              <a:t>vận</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dirty="0" err="1">
                <a:latin typeface="Arial"/>
                <a:cs typeface="Arial"/>
              </a:rPr>
              <a:t>Dồn</a:t>
            </a:r>
            <a:r>
              <a:rPr lang="en-US" sz="3200" dirty="0">
                <a:latin typeface="Arial"/>
                <a:cs typeface="Arial"/>
              </a:rPr>
              <a:t> </a:t>
            </a:r>
            <a:r>
              <a:rPr lang="en-US" sz="3200" dirty="0" err="1">
                <a:latin typeface="Arial"/>
                <a:cs typeface="Arial"/>
              </a:rPr>
              <a:t>kênh</a:t>
            </a:r>
            <a:r>
              <a:rPr lang="en-US" sz="3200" dirty="0">
                <a:latin typeface="Arial"/>
                <a:cs typeface="Arial"/>
              </a:rPr>
              <a:t> </a:t>
            </a:r>
            <a:r>
              <a:rPr lang="en-US" sz="3200" dirty="0" err="1">
                <a:latin typeface="Arial"/>
                <a:cs typeface="Arial"/>
              </a:rPr>
              <a:t>và</a:t>
            </a:r>
            <a:r>
              <a:rPr lang="en-US" sz="3200" dirty="0">
                <a:latin typeface="Arial"/>
                <a:cs typeface="Arial"/>
              </a:rPr>
              <a:t> </a:t>
            </a:r>
            <a:r>
              <a:rPr lang="en-US" sz="3200" dirty="0" err="1">
                <a:latin typeface="Arial"/>
                <a:cs typeface="Arial"/>
              </a:rPr>
              <a:t>phân</a:t>
            </a:r>
            <a:r>
              <a:rPr lang="en-US" sz="3200" dirty="0">
                <a:latin typeface="Arial"/>
                <a:cs typeface="Arial"/>
              </a:rPr>
              <a:t> </a:t>
            </a:r>
            <a:r>
              <a:rPr lang="en-US" sz="3200" dirty="0" err="1">
                <a:latin typeface="Arial"/>
                <a:cs typeface="Arial"/>
              </a:rPr>
              <a:t>kênh</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20" dirty="0" err="1">
                <a:solidFill>
                  <a:srgbClr val="FF0000"/>
                </a:solidFill>
                <a:latin typeface="Arial"/>
                <a:cs typeface="Arial"/>
              </a:rPr>
              <a:t>Giao</a:t>
            </a:r>
            <a:r>
              <a:rPr lang="en-US" sz="3200" spc="-20" dirty="0">
                <a:solidFill>
                  <a:srgbClr val="FF0000"/>
                </a:solidFill>
                <a:latin typeface="Arial"/>
                <a:cs typeface="Arial"/>
              </a:rPr>
              <a:t> </a:t>
            </a:r>
            <a:r>
              <a:rPr lang="en-US" sz="3200" spc="-20" dirty="0" err="1">
                <a:solidFill>
                  <a:srgbClr val="FF0000"/>
                </a:solidFill>
                <a:latin typeface="Arial"/>
                <a:cs typeface="Arial"/>
              </a:rPr>
              <a:t>thức</a:t>
            </a:r>
            <a:r>
              <a:rPr sz="3200" spc="35" dirty="0">
                <a:solidFill>
                  <a:srgbClr val="FF0000"/>
                </a:solidFill>
                <a:latin typeface="Arial"/>
                <a:cs typeface="Arial"/>
              </a:rPr>
              <a:t> </a:t>
            </a:r>
            <a:r>
              <a:rPr sz="3200" spc="-5" dirty="0">
                <a:solidFill>
                  <a:srgbClr val="FF0000"/>
                </a:solidFill>
                <a:latin typeface="Arial"/>
                <a:cs typeface="Arial"/>
              </a:rPr>
              <a:t>UDP</a:t>
            </a:r>
            <a:endParaRPr sz="3200" dirty="0">
              <a:solidFill>
                <a:srgbClr val="FF0000"/>
              </a:solidFill>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5" dirty="0" err="1">
                <a:latin typeface="Arial"/>
                <a:cs typeface="Arial"/>
              </a:rPr>
              <a:t>T</a:t>
            </a:r>
            <a:r>
              <a:rPr sz="3200" spc="-5" dirty="0" err="1">
                <a:latin typeface="Arial"/>
                <a:cs typeface="Arial"/>
              </a:rPr>
              <a:t>ruyền</a:t>
            </a:r>
            <a:r>
              <a:rPr sz="3200" spc="-5" dirty="0">
                <a:latin typeface="Arial"/>
                <a:cs typeface="Arial"/>
              </a:rPr>
              <a:t> dữ liệu tin cậy</a:t>
            </a:r>
            <a:endParaRPr sz="3200" dirty="0">
              <a:latin typeface="Arial"/>
              <a:cs typeface="Arial"/>
            </a:endParaRPr>
          </a:p>
          <a:p>
            <a:pPr marL="355600" indent="-342900">
              <a:lnSpc>
                <a:spcPct val="100000"/>
              </a:lnSpc>
              <a:spcBef>
                <a:spcPts val="580"/>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lang="en-US" sz="3200" spc="-20" dirty="0">
                <a:latin typeface="Arial"/>
                <a:cs typeface="Arial"/>
              </a:rPr>
              <a:t> TCP</a:t>
            </a:r>
            <a:endParaRPr sz="3200" dirty="0">
              <a:latin typeface="Arial"/>
              <a:cs typeface="Arial"/>
            </a:endParaRPr>
          </a:p>
        </p:txBody>
      </p:sp>
      <p:sp>
        <p:nvSpPr>
          <p:cNvPr id="5" name="Slide Number Placeholder 4"/>
          <p:cNvSpPr>
            <a:spLocks noGrp="1"/>
          </p:cNvSpPr>
          <p:nvPr>
            <p:ph type="sldNum" sz="quarter" idx="7"/>
          </p:nvPr>
        </p:nvSpPr>
        <p:spPr>
          <a:xfrm>
            <a:off x="9220200" y="7086600"/>
            <a:ext cx="394970" cy="205184"/>
          </a:xfrm>
        </p:spPr>
        <p:txBody>
          <a:bodyPr/>
          <a:lstStyle/>
          <a:p>
            <a:pPr marL="12700">
              <a:lnSpc>
                <a:spcPts val="1645"/>
              </a:lnSpc>
            </a:pPr>
            <a:fld id="{81D60167-4931-47E6-BA6A-407CBD079E47}" type="slidenum">
              <a:rPr lang="en-US" spc="-5" smtClean="0"/>
              <a:t>14</a:t>
            </a:fld>
            <a:endParaRPr lang="en-US" spc="-5" dirty="0"/>
          </a:p>
        </p:txBody>
      </p:sp>
    </p:spTree>
    <p:extLst>
      <p:ext uri="{BB962C8B-B14F-4D97-AF65-F5344CB8AC3E}">
        <p14:creationId xmlns:p14="http://schemas.microsoft.com/office/powerpoint/2010/main" val="84143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UDP</a:t>
            </a:r>
            <a:endParaRPr spc="-5" dirty="0"/>
          </a:p>
        </p:txBody>
      </p:sp>
      <p:sp>
        <p:nvSpPr>
          <p:cNvPr id="4" name="object 4"/>
          <p:cNvSpPr txBox="1"/>
          <p:nvPr/>
        </p:nvSpPr>
        <p:spPr>
          <a:xfrm>
            <a:off x="1193546" y="1780286"/>
            <a:ext cx="6959854" cy="4446730"/>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400" dirty="0">
                <a:latin typeface="Arial"/>
                <a:cs typeface="Arial"/>
              </a:rPr>
              <a:t>RFC 768</a:t>
            </a:r>
          </a:p>
          <a:p>
            <a:pPr marL="355600" indent="-342900">
              <a:lnSpc>
                <a:spcPct val="100000"/>
              </a:lnSpc>
              <a:spcBef>
                <a:spcPts val="675"/>
              </a:spcBef>
              <a:buClr>
                <a:srgbClr val="3333CC"/>
              </a:buClr>
              <a:buSzPct val="83333"/>
              <a:buFont typeface="Wingdings"/>
              <a:buChar char=""/>
              <a:tabLst>
                <a:tab pos="355600" algn="l"/>
              </a:tabLst>
            </a:pPr>
            <a:r>
              <a:rPr lang="en-US" sz="2400" dirty="0" err="1">
                <a:latin typeface="Arial"/>
                <a:cs typeface="Arial"/>
              </a:rPr>
              <a:t>Giao</a:t>
            </a:r>
            <a:r>
              <a:rPr lang="en-US" sz="2400" dirty="0">
                <a:latin typeface="Arial"/>
                <a:cs typeface="Arial"/>
              </a:rPr>
              <a:t> </a:t>
            </a:r>
            <a:r>
              <a:rPr lang="en-US" sz="2400" dirty="0" err="1">
                <a:latin typeface="Arial"/>
                <a:cs typeface="Arial"/>
              </a:rPr>
              <a:t>thức</a:t>
            </a:r>
            <a:r>
              <a:rPr lang="en-US" sz="2400" dirty="0">
                <a:latin typeface="Arial"/>
                <a:cs typeface="Arial"/>
              </a:rPr>
              <a:t> </a:t>
            </a:r>
            <a:r>
              <a:rPr lang="en-US" sz="2400" dirty="0" err="1">
                <a:latin typeface="Arial"/>
                <a:cs typeface="Arial"/>
              </a:rPr>
              <a:t>không</a:t>
            </a:r>
            <a:r>
              <a:rPr lang="en-US" sz="2400" dirty="0">
                <a:latin typeface="Arial"/>
                <a:cs typeface="Arial"/>
              </a:rPr>
              <a:t> </a:t>
            </a:r>
            <a:r>
              <a:rPr lang="en-US" sz="2400" dirty="0" err="1">
                <a:latin typeface="Arial"/>
                <a:cs typeface="Arial"/>
              </a:rPr>
              <a:t>hướng</a:t>
            </a:r>
            <a:r>
              <a:rPr lang="en-US" sz="2400" dirty="0">
                <a:latin typeface="Arial"/>
                <a:cs typeface="Arial"/>
              </a:rPr>
              <a:t> </a:t>
            </a:r>
            <a:r>
              <a:rPr lang="en-US" sz="2400" dirty="0" err="1">
                <a:latin typeface="Arial"/>
                <a:cs typeface="Arial"/>
              </a:rPr>
              <a:t>kết</a:t>
            </a:r>
            <a:r>
              <a:rPr lang="en-US" sz="2400" dirty="0">
                <a:latin typeface="Arial"/>
                <a:cs typeface="Arial"/>
              </a:rPr>
              <a:t> </a:t>
            </a:r>
            <a:r>
              <a:rPr lang="en-US" sz="2400" dirty="0" err="1">
                <a:latin typeface="Arial"/>
                <a:cs typeface="Arial"/>
              </a:rPr>
              <a:t>nối</a:t>
            </a:r>
            <a:r>
              <a:rPr lang="en-US" sz="2400" dirty="0">
                <a:latin typeface="Arial"/>
                <a:cs typeface="Arial"/>
              </a:rPr>
              <a:t> (connectionless)</a:t>
            </a:r>
          </a:p>
          <a:p>
            <a:pPr marL="755650" lvl="1" indent="-285750">
              <a:spcBef>
                <a:spcPts val="675"/>
              </a:spcBef>
              <a:buClr>
                <a:srgbClr val="3333CC"/>
              </a:buClr>
              <a:buSzPct val="75000"/>
              <a:buFont typeface="Wingdings"/>
              <a:buChar char=""/>
              <a:tabLst>
                <a:tab pos="755650" algn="l"/>
              </a:tabLst>
            </a:pPr>
            <a:r>
              <a:rPr lang="en-US" sz="2400" dirty="0" err="1">
                <a:latin typeface="Arial"/>
                <a:cs typeface="Arial"/>
              </a:rPr>
              <a:t>Không</a:t>
            </a:r>
            <a:r>
              <a:rPr lang="en-US" sz="2400" dirty="0">
                <a:latin typeface="Arial"/>
                <a:cs typeface="Arial"/>
              </a:rPr>
              <a:t> </a:t>
            </a:r>
            <a:r>
              <a:rPr lang="en-US" sz="2400" dirty="0" err="1">
                <a:latin typeface="Arial"/>
                <a:cs typeface="Arial"/>
              </a:rPr>
              <a:t>cần</a:t>
            </a:r>
            <a:r>
              <a:rPr lang="en-US" sz="2400" dirty="0">
                <a:latin typeface="Arial"/>
                <a:cs typeface="Arial"/>
              </a:rPr>
              <a:t> </a:t>
            </a:r>
            <a:r>
              <a:rPr lang="en-US" sz="2400" dirty="0" err="1">
                <a:latin typeface="Arial"/>
                <a:cs typeface="Arial"/>
              </a:rPr>
              <a:t>thiết</a:t>
            </a:r>
            <a:r>
              <a:rPr lang="en-US" sz="2400" dirty="0">
                <a:latin typeface="Arial"/>
                <a:cs typeface="Arial"/>
              </a:rPr>
              <a:t> </a:t>
            </a:r>
            <a:r>
              <a:rPr lang="en-US" sz="2400" dirty="0" err="1">
                <a:latin typeface="Arial"/>
                <a:cs typeface="Arial"/>
              </a:rPr>
              <a:t>lập</a:t>
            </a:r>
            <a:r>
              <a:rPr lang="en-US" sz="2400" dirty="0">
                <a:latin typeface="Arial"/>
                <a:cs typeface="Arial"/>
              </a:rPr>
              <a:t> </a:t>
            </a:r>
            <a:r>
              <a:rPr lang="en-US" sz="2400" dirty="0" err="1">
                <a:latin typeface="Arial"/>
                <a:cs typeface="Arial"/>
              </a:rPr>
              <a:t>kết</a:t>
            </a:r>
            <a:r>
              <a:rPr lang="en-US" sz="2400" dirty="0">
                <a:latin typeface="Arial"/>
                <a:cs typeface="Arial"/>
              </a:rPr>
              <a:t> </a:t>
            </a:r>
            <a:r>
              <a:rPr lang="en-US" sz="2400" dirty="0" err="1">
                <a:latin typeface="Arial"/>
                <a:cs typeface="Arial"/>
              </a:rPr>
              <a:t>nối</a:t>
            </a:r>
            <a:endParaRPr lang="en-US" sz="2400"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2400" dirty="0" err="1">
                <a:latin typeface="Arial"/>
                <a:cs typeface="Arial"/>
              </a:rPr>
              <a:t>Tiêu</a:t>
            </a:r>
            <a:r>
              <a:rPr lang="en-US" sz="2400" dirty="0">
                <a:latin typeface="Arial"/>
                <a:cs typeface="Arial"/>
              </a:rPr>
              <a:t> </a:t>
            </a:r>
            <a:r>
              <a:rPr lang="en-US" sz="2400" dirty="0" err="1">
                <a:latin typeface="Arial"/>
                <a:cs typeface="Arial"/>
              </a:rPr>
              <a:t>đề</a:t>
            </a:r>
            <a:r>
              <a:rPr lang="en-US" sz="2400" dirty="0">
                <a:latin typeface="Arial"/>
                <a:cs typeface="Arial"/>
              </a:rPr>
              <a:t> </a:t>
            </a:r>
            <a:r>
              <a:rPr lang="en-US" sz="2400" dirty="0" err="1">
                <a:latin typeface="Arial"/>
                <a:cs typeface="Arial"/>
              </a:rPr>
              <a:t>gói</a:t>
            </a:r>
            <a:r>
              <a:rPr lang="en-US" sz="2400" dirty="0">
                <a:latin typeface="Arial"/>
                <a:cs typeface="Arial"/>
              </a:rPr>
              <a:t> tin </a:t>
            </a:r>
            <a:r>
              <a:rPr lang="en-US" sz="2400" dirty="0" err="1">
                <a:latin typeface="Arial"/>
                <a:cs typeface="Arial"/>
              </a:rPr>
              <a:t>nhỏ</a:t>
            </a:r>
            <a:r>
              <a:rPr lang="en-US" sz="2400" dirty="0">
                <a:latin typeface="Arial"/>
                <a:cs typeface="Arial"/>
              </a:rPr>
              <a:t>: 8 bytes (so </a:t>
            </a:r>
            <a:r>
              <a:rPr lang="en-US" sz="2400" dirty="0" err="1">
                <a:latin typeface="Arial"/>
                <a:cs typeface="Arial"/>
              </a:rPr>
              <a:t>với</a:t>
            </a:r>
            <a:r>
              <a:rPr lang="en-US" sz="2400" dirty="0">
                <a:latin typeface="Arial"/>
                <a:cs typeface="Arial"/>
              </a:rPr>
              <a:t> 20 bytes </a:t>
            </a:r>
            <a:r>
              <a:rPr lang="en-US" sz="2400" dirty="0" err="1">
                <a:latin typeface="Arial"/>
                <a:cs typeface="Arial"/>
              </a:rPr>
              <a:t>của</a:t>
            </a:r>
            <a:r>
              <a:rPr lang="en-US" sz="2400"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2400" dirty="0">
                <a:latin typeface="Arial"/>
                <a:cs typeface="Arial"/>
              </a:rPr>
              <a:t>UDP </a:t>
            </a:r>
            <a:r>
              <a:rPr lang="en-US" sz="2400" dirty="0" err="1">
                <a:latin typeface="Arial"/>
                <a:cs typeface="Arial"/>
              </a:rPr>
              <a:t>có</a:t>
            </a:r>
            <a:r>
              <a:rPr lang="en-US" sz="2400" dirty="0">
                <a:latin typeface="Arial"/>
                <a:cs typeface="Arial"/>
              </a:rPr>
              <a:t> </a:t>
            </a:r>
            <a:r>
              <a:rPr lang="en-US" sz="2400" dirty="0" err="1">
                <a:latin typeface="Arial"/>
                <a:cs typeface="Arial"/>
              </a:rPr>
              <a:t>những</a:t>
            </a:r>
            <a:r>
              <a:rPr lang="en-US" sz="2400" dirty="0">
                <a:latin typeface="Arial"/>
                <a:cs typeface="Arial"/>
              </a:rPr>
              <a:t> </a:t>
            </a:r>
            <a:r>
              <a:rPr lang="en-US" sz="2400" dirty="0" err="1">
                <a:latin typeface="Arial"/>
                <a:cs typeface="Arial"/>
              </a:rPr>
              <a:t>chức</a:t>
            </a:r>
            <a:r>
              <a:rPr lang="en-US" sz="2400" dirty="0">
                <a:latin typeface="Arial"/>
                <a:cs typeface="Arial"/>
              </a:rPr>
              <a:t> </a:t>
            </a:r>
            <a:r>
              <a:rPr lang="en-US" sz="2400" dirty="0" err="1">
                <a:latin typeface="Arial"/>
                <a:cs typeface="Arial"/>
              </a:rPr>
              <a:t>năng</a:t>
            </a:r>
            <a:r>
              <a:rPr lang="en-US" sz="2400" dirty="0">
                <a:latin typeface="Arial"/>
                <a:cs typeface="Arial"/>
              </a:rPr>
              <a:t> </a:t>
            </a:r>
            <a:r>
              <a:rPr lang="en-US" sz="2400" dirty="0" err="1">
                <a:latin typeface="Arial"/>
                <a:cs typeface="Arial"/>
              </a:rPr>
              <a:t>cơ</a:t>
            </a:r>
            <a:r>
              <a:rPr lang="en-US" sz="2400" dirty="0">
                <a:latin typeface="Arial"/>
                <a:cs typeface="Arial"/>
              </a:rPr>
              <a:t> </a:t>
            </a:r>
            <a:r>
              <a:rPr lang="en-US" sz="2400" dirty="0" err="1">
                <a:latin typeface="Arial"/>
                <a:cs typeface="Arial"/>
              </a:rPr>
              <a:t>bản</a:t>
            </a:r>
            <a:r>
              <a:rPr lang="en-US" sz="2400" dirty="0">
                <a:latin typeface="Arial"/>
                <a:cs typeface="Arial"/>
              </a:rPr>
              <a:t> </a:t>
            </a:r>
            <a:r>
              <a:rPr lang="en-US" sz="2400" dirty="0" err="1">
                <a:latin typeface="Arial"/>
                <a:cs typeface="Arial"/>
              </a:rPr>
              <a:t>gì</a:t>
            </a:r>
            <a:r>
              <a:rPr lang="en-US" sz="2400" dirty="0">
                <a:latin typeface="Arial"/>
                <a:cs typeface="Arial"/>
              </a:rPr>
              <a:t>?</a:t>
            </a:r>
          </a:p>
          <a:p>
            <a:pPr marL="755650" lvl="1" indent="-285750">
              <a:lnSpc>
                <a:spcPct val="100000"/>
              </a:lnSpc>
              <a:spcBef>
                <a:spcPts val="455"/>
              </a:spcBef>
              <a:buClr>
                <a:srgbClr val="3333CC"/>
              </a:buClr>
              <a:buSzPct val="75000"/>
              <a:buFont typeface="Wingdings"/>
              <a:buChar char=""/>
              <a:tabLst>
                <a:tab pos="755650" algn="l"/>
              </a:tabLst>
            </a:pPr>
            <a:r>
              <a:rPr lang="en-US" sz="2400" dirty="0" err="1">
                <a:latin typeface="Arial"/>
                <a:cs typeface="Arial"/>
              </a:rPr>
              <a:t>Dồn</a:t>
            </a:r>
            <a:r>
              <a:rPr lang="en-US" sz="2400" dirty="0">
                <a:latin typeface="Arial"/>
                <a:cs typeface="Arial"/>
              </a:rPr>
              <a:t> </a:t>
            </a:r>
            <a:r>
              <a:rPr lang="en-US" sz="2400" dirty="0" err="1">
                <a:latin typeface="Arial"/>
                <a:cs typeface="Arial"/>
              </a:rPr>
              <a:t>kênh</a:t>
            </a:r>
            <a:r>
              <a:rPr lang="en-US" sz="2400" dirty="0">
                <a:latin typeface="Arial"/>
                <a:cs typeface="Arial"/>
              </a:rPr>
              <a:t>/ </a:t>
            </a:r>
            <a:r>
              <a:rPr lang="en-US" sz="2400" dirty="0" err="1">
                <a:latin typeface="Arial"/>
                <a:cs typeface="Arial"/>
              </a:rPr>
              <a:t>phân</a:t>
            </a:r>
            <a:r>
              <a:rPr lang="en-US" sz="2400" dirty="0">
                <a:latin typeface="Arial"/>
                <a:cs typeface="Arial"/>
              </a:rPr>
              <a:t> </a:t>
            </a:r>
            <a:r>
              <a:rPr lang="en-US" sz="2400" dirty="0" err="1">
                <a:latin typeface="Arial"/>
                <a:cs typeface="Arial"/>
              </a:rPr>
              <a:t>kênh</a:t>
            </a:r>
            <a:endParaRPr lang="en-US" sz="2400" dirty="0">
              <a:latin typeface="Arial"/>
              <a:cs typeface="Arial"/>
            </a:endParaRPr>
          </a:p>
          <a:p>
            <a:pPr marL="755650" lvl="1" indent="-285750">
              <a:lnSpc>
                <a:spcPct val="100000"/>
              </a:lnSpc>
              <a:spcBef>
                <a:spcPts val="455"/>
              </a:spcBef>
              <a:buClr>
                <a:srgbClr val="3333CC"/>
              </a:buClr>
              <a:buSzPct val="75000"/>
              <a:buFont typeface="Wingdings"/>
              <a:buChar char=""/>
              <a:tabLst>
                <a:tab pos="755650" algn="l"/>
              </a:tabLst>
            </a:pPr>
            <a:r>
              <a:rPr lang="en-US" sz="2400" dirty="0" err="1">
                <a:latin typeface="Arial"/>
                <a:cs typeface="Arial"/>
              </a:rPr>
              <a:t>Phát</a:t>
            </a:r>
            <a:r>
              <a:rPr lang="en-US" sz="2400" dirty="0">
                <a:latin typeface="Arial"/>
                <a:cs typeface="Arial"/>
              </a:rPr>
              <a:t> </a:t>
            </a:r>
            <a:r>
              <a:rPr lang="en-US" sz="2400" dirty="0" err="1">
                <a:latin typeface="Arial"/>
                <a:cs typeface="Arial"/>
              </a:rPr>
              <a:t>hiện</a:t>
            </a:r>
            <a:r>
              <a:rPr lang="en-US" sz="2400" dirty="0">
                <a:latin typeface="Arial"/>
                <a:cs typeface="Arial"/>
              </a:rPr>
              <a:t> </a:t>
            </a:r>
            <a:r>
              <a:rPr lang="en-US" sz="2400" dirty="0" err="1">
                <a:latin typeface="Arial"/>
                <a:cs typeface="Arial"/>
              </a:rPr>
              <a:t>lỗi</a:t>
            </a:r>
            <a:r>
              <a:rPr lang="en-US" sz="2400" dirty="0">
                <a:latin typeface="Arial"/>
                <a:cs typeface="Arial"/>
              </a:rPr>
              <a:t> bit </a:t>
            </a:r>
            <a:r>
              <a:rPr lang="en-US" sz="2400" dirty="0" err="1">
                <a:latin typeface="Arial"/>
                <a:cs typeface="Arial"/>
              </a:rPr>
              <a:t>đơn</a:t>
            </a:r>
            <a:r>
              <a:rPr lang="en-US" sz="2400" dirty="0">
                <a:latin typeface="Arial"/>
                <a:cs typeface="Arial"/>
              </a:rPr>
              <a:t> </a:t>
            </a:r>
            <a:r>
              <a:rPr lang="en-US" sz="2400" dirty="0" err="1">
                <a:latin typeface="Arial"/>
                <a:cs typeface="Arial"/>
              </a:rPr>
              <a:t>giản</a:t>
            </a:r>
            <a:r>
              <a:rPr lang="en-US" sz="2400" dirty="0">
                <a:latin typeface="Arial"/>
                <a:cs typeface="Arial"/>
              </a:rPr>
              <a:t> (</a:t>
            </a:r>
            <a:r>
              <a:rPr lang="en-US" sz="2400" dirty="0" err="1">
                <a:latin typeface="Arial"/>
                <a:cs typeface="Arial"/>
              </a:rPr>
              <a:t>dùng</a:t>
            </a:r>
            <a:r>
              <a:rPr lang="en-US" sz="2400" dirty="0">
                <a:latin typeface="Arial"/>
                <a:cs typeface="Arial"/>
              </a:rPr>
              <a:t> checksum)</a:t>
            </a:r>
          </a:p>
          <a:p>
            <a:pPr marL="355600" indent="-342900">
              <a:lnSpc>
                <a:spcPct val="100000"/>
              </a:lnSpc>
              <a:spcBef>
                <a:spcPts val="675"/>
              </a:spcBef>
              <a:buClr>
                <a:srgbClr val="3333CC"/>
              </a:buClr>
              <a:buSzPct val="83333"/>
              <a:buFont typeface="Wingdings"/>
              <a:buChar char=""/>
              <a:tabLst>
                <a:tab pos="355600" algn="l"/>
              </a:tabLst>
            </a:pPr>
            <a:endParaRPr lang="en-US" sz="2400"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endParaRPr sz="24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15</a:t>
            </a:fld>
            <a:endParaRPr lang="en-US" spc="-5" dirty="0"/>
          </a:p>
        </p:txBody>
      </p:sp>
    </p:spTree>
    <p:extLst>
      <p:ext uri="{BB962C8B-B14F-4D97-AF65-F5344CB8AC3E}">
        <p14:creationId xmlns:p14="http://schemas.microsoft.com/office/powerpoint/2010/main" val="1270539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925322"/>
            <a:ext cx="3517900" cy="635635"/>
          </a:xfrm>
          <a:prstGeom prst="rect">
            <a:avLst/>
          </a:prstGeom>
        </p:spPr>
        <p:txBody>
          <a:bodyPr vert="horz" wrap="square" lIns="0" tIns="12700" rIns="0" bIns="0" rtlCol="0">
            <a:spAutoFit/>
          </a:bodyPr>
          <a:lstStyle/>
          <a:p>
            <a:pPr marL="12700">
              <a:lnSpc>
                <a:spcPct val="100000"/>
              </a:lnSpc>
              <a:spcBef>
                <a:spcPts val="100"/>
              </a:spcBef>
            </a:pPr>
            <a:r>
              <a:rPr sz="4000" spc="-5" dirty="0"/>
              <a:t>UDP</a:t>
            </a:r>
            <a:r>
              <a:rPr sz="4000" spc="-150" dirty="0"/>
              <a:t> </a:t>
            </a:r>
            <a:r>
              <a:rPr sz="4000" spc="-5" dirty="0"/>
              <a:t>checksum</a:t>
            </a:r>
            <a:endParaRPr sz="4000"/>
          </a:p>
        </p:txBody>
      </p:sp>
      <p:sp>
        <p:nvSpPr>
          <p:cNvPr id="3" name="object 3"/>
          <p:cNvSpPr txBox="1"/>
          <p:nvPr/>
        </p:nvSpPr>
        <p:spPr>
          <a:xfrm>
            <a:off x="1221739" y="2915666"/>
            <a:ext cx="3496310" cy="3821559"/>
          </a:xfrm>
          <a:prstGeom prst="rect">
            <a:avLst/>
          </a:prstGeom>
        </p:spPr>
        <p:txBody>
          <a:bodyPr vert="horz" wrap="square" lIns="0" tIns="12700" rIns="0" bIns="0" rtlCol="0">
            <a:spAutoFit/>
          </a:bodyPr>
          <a:lstStyle/>
          <a:p>
            <a:pPr marL="12700">
              <a:lnSpc>
                <a:spcPts val="3345"/>
              </a:lnSpc>
              <a:spcBef>
                <a:spcPts val="100"/>
              </a:spcBef>
            </a:pPr>
            <a:r>
              <a:rPr sz="2800" dirty="0">
                <a:solidFill>
                  <a:srgbClr val="CC0000"/>
                </a:solidFill>
                <a:latin typeface="Arial"/>
                <a:cs typeface="Arial"/>
              </a:rPr>
              <a:t>Bên</a:t>
            </a:r>
            <a:r>
              <a:rPr sz="2800" spc="-5" dirty="0">
                <a:solidFill>
                  <a:srgbClr val="CC0000"/>
                </a:solidFill>
                <a:latin typeface="Arial"/>
                <a:cs typeface="Arial"/>
              </a:rPr>
              <a:t> gửi:</a:t>
            </a:r>
            <a:endParaRPr sz="2800" dirty="0">
              <a:latin typeface="Arial"/>
              <a:cs typeface="Arial"/>
            </a:endParaRPr>
          </a:p>
          <a:p>
            <a:pPr marL="355600" marR="113030" indent="-342900">
              <a:lnSpc>
                <a:spcPts val="1920"/>
              </a:lnSpc>
              <a:spcBef>
                <a:spcPts val="450"/>
              </a:spcBef>
              <a:buClr>
                <a:srgbClr val="3333CC"/>
              </a:buClr>
              <a:buSzPct val="85000"/>
              <a:buFont typeface="Wingdings"/>
              <a:buChar char=""/>
              <a:tabLst>
                <a:tab pos="354965" algn="l"/>
                <a:tab pos="355600" algn="l"/>
              </a:tabLst>
            </a:pPr>
            <a:r>
              <a:rPr sz="2000" spc="-5" dirty="0">
                <a:latin typeface="Arial"/>
                <a:cs typeface="Arial"/>
              </a:rPr>
              <a:t>coi dữ liệu của segment,  bao gồm </a:t>
            </a:r>
            <a:r>
              <a:rPr sz="2000" spc="-5" dirty="0" err="1">
                <a:latin typeface="Arial"/>
                <a:cs typeface="Arial"/>
              </a:rPr>
              <a:t>cả</a:t>
            </a:r>
            <a:r>
              <a:rPr sz="2000" spc="-5" dirty="0">
                <a:latin typeface="Arial"/>
                <a:cs typeface="Arial"/>
              </a:rPr>
              <a:t> </a:t>
            </a:r>
            <a:r>
              <a:rPr sz="2000" spc="-25" dirty="0">
                <a:latin typeface="Arial"/>
                <a:cs typeface="Arial"/>
              </a:rPr>
              <a:t>header</a:t>
            </a:r>
            <a:r>
              <a:rPr lang="en-US" sz="2000" spc="-25" dirty="0">
                <a:latin typeface="Arial"/>
                <a:cs typeface="Arial"/>
              </a:rPr>
              <a:t> </a:t>
            </a:r>
            <a:r>
              <a:rPr lang="en-US" sz="2000" spc="-25" dirty="0" err="1">
                <a:latin typeface="Arial"/>
                <a:cs typeface="Arial"/>
              </a:rPr>
              <a:t>gồm</a:t>
            </a:r>
            <a:r>
              <a:rPr lang="en-US" sz="2000" spc="-25" dirty="0">
                <a:latin typeface="Arial"/>
                <a:cs typeface="Arial"/>
              </a:rPr>
              <a:t> </a:t>
            </a:r>
            <a:r>
              <a:rPr lang="en-US" sz="2000" spc="-25" dirty="0" err="1">
                <a:latin typeface="Arial"/>
                <a:cs typeface="Arial"/>
              </a:rPr>
              <a:t>các</a:t>
            </a:r>
            <a:r>
              <a:rPr lang="en-US" sz="2000" spc="-25" dirty="0">
                <a:latin typeface="Arial"/>
                <a:cs typeface="Arial"/>
              </a:rPr>
              <a:t> </a:t>
            </a:r>
            <a:r>
              <a:rPr lang="en-US" sz="2000" spc="-25" dirty="0" err="1">
                <a:latin typeface="Arial"/>
                <a:cs typeface="Arial"/>
              </a:rPr>
              <a:t>từ</a:t>
            </a:r>
            <a:r>
              <a:rPr lang="en-US" sz="2000" spc="-25" dirty="0">
                <a:latin typeface="Arial"/>
                <a:cs typeface="Arial"/>
              </a:rPr>
              <a:t> </a:t>
            </a:r>
            <a:r>
              <a:rPr sz="2000" spc="-5" dirty="0">
                <a:latin typeface="Arial"/>
                <a:cs typeface="Arial"/>
              </a:rPr>
              <a:t>16 </a:t>
            </a:r>
            <a:r>
              <a:rPr sz="2000" spc="-10" dirty="0">
                <a:latin typeface="Arial"/>
                <a:cs typeface="Arial"/>
              </a:rPr>
              <a:t>bít</a:t>
            </a:r>
            <a:endParaRPr sz="2000" dirty="0">
              <a:latin typeface="Arial"/>
              <a:cs typeface="Arial"/>
            </a:endParaRPr>
          </a:p>
          <a:p>
            <a:pPr marL="755650" lvl="1" indent="-285750">
              <a:lnSpc>
                <a:spcPct val="100000"/>
              </a:lnSpc>
              <a:spcBef>
                <a:spcPts val="455"/>
              </a:spcBef>
              <a:buClr>
                <a:srgbClr val="3333CC"/>
              </a:buClr>
              <a:buSzPct val="75000"/>
              <a:buFont typeface="Wingdings"/>
              <a:buChar char=""/>
              <a:tabLst>
                <a:tab pos="755650" algn="l"/>
              </a:tabLst>
            </a:pPr>
            <a:r>
              <a:rPr lang="en-US" sz="2000" dirty="0" err="1">
                <a:latin typeface="Arial"/>
                <a:cs typeface="Arial"/>
              </a:rPr>
              <a:t>Tính</a:t>
            </a:r>
            <a:r>
              <a:rPr lang="en-US" sz="2000" dirty="0">
                <a:latin typeface="Arial"/>
                <a:cs typeface="Arial"/>
              </a:rPr>
              <a:t> </a:t>
            </a:r>
            <a:r>
              <a:rPr lang="en-US" sz="2000" dirty="0" err="1">
                <a:latin typeface="Arial"/>
                <a:cs typeface="Arial"/>
              </a:rPr>
              <a:t>giá</a:t>
            </a:r>
            <a:r>
              <a:rPr lang="en-US" sz="2000" dirty="0">
                <a:latin typeface="Arial"/>
                <a:cs typeface="Arial"/>
              </a:rPr>
              <a:t> </a:t>
            </a:r>
            <a:r>
              <a:rPr lang="en-US" sz="2000" dirty="0" err="1">
                <a:latin typeface="Arial"/>
                <a:cs typeface="Arial"/>
              </a:rPr>
              <a:t>trị</a:t>
            </a:r>
            <a:r>
              <a:rPr lang="en-US" sz="2000" dirty="0">
                <a:latin typeface="Arial"/>
                <a:cs typeface="Arial"/>
              </a:rPr>
              <a:t> </a:t>
            </a:r>
            <a:r>
              <a:rPr lang="en-US" sz="2000" dirty="0" err="1">
                <a:latin typeface="Arial"/>
                <a:cs typeface="Arial"/>
              </a:rPr>
              <a:t>bù</a:t>
            </a:r>
            <a:r>
              <a:rPr lang="en-US" sz="2000" dirty="0">
                <a:latin typeface="Arial"/>
                <a:cs typeface="Arial"/>
              </a:rPr>
              <a:t> </a:t>
            </a:r>
            <a:r>
              <a:rPr lang="en-US" sz="2000" dirty="0" err="1">
                <a:latin typeface="Arial"/>
                <a:cs typeface="Arial"/>
              </a:rPr>
              <a:t>một</a:t>
            </a:r>
            <a:r>
              <a:rPr lang="en-US" sz="2000" dirty="0">
                <a:latin typeface="Arial"/>
                <a:cs typeface="Arial"/>
              </a:rPr>
              <a:t> </a:t>
            </a:r>
            <a:r>
              <a:rPr lang="en-US" sz="2000" dirty="0" err="1">
                <a:latin typeface="Arial"/>
                <a:cs typeface="Arial"/>
              </a:rPr>
              <a:t>của</a:t>
            </a:r>
            <a:r>
              <a:rPr lang="en-US" sz="2000" dirty="0">
                <a:latin typeface="Arial"/>
                <a:cs typeface="Arial"/>
              </a:rPr>
              <a:t> </a:t>
            </a:r>
            <a:r>
              <a:rPr lang="en-US" sz="2000" dirty="0" err="1">
                <a:latin typeface="Arial"/>
                <a:cs typeface="Arial"/>
              </a:rPr>
              <a:t>tổng</a:t>
            </a:r>
            <a:r>
              <a:rPr lang="en-US" sz="2000" dirty="0">
                <a:latin typeface="Arial"/>
                <a:cs typeface="Arial"/>
              </a:rPr>
              <a:t> </a:t>
            </a:r>
            <a:r>
              <a:rPr lang="en-US" sz="2000" dirty="0" err="1">
                <a:latin typeface="Arial"/>
                <a:cs typeface="Arial"/>
              </a:rPr>
              <a:t>các</a:t>
            </a:r>
            <a:r>
              <a:rPr lang="en-US" sz="2000" dirty="0">
                <a:latin typeface="Arial"/>
                <a:cs typeface="Arial"/>
              </a:rPr>
              <a:t> </a:t>
            </a:r>
            <a:r>
              <a:rPr lang="en-US" sz="2000" dirty="0" err="1">
                <a:latin typeface="Arial"/>
                <a:cs typeface="Arial"/>
              </a:rPr>
              <a:t>từ</a:t>
            </a:r>
            <a:r>
              <a:rPr lang="en-US" sz="2000" dirty="0">
                <a:latin typeface="Arial"/>
                <a:cs typeface="Arial"/>
              </a:rPr>
              <a:t> 16 bit </a:t>
            </a:r>
            <a:r>
              <a:rPr lang="en-US" sz="2000" dirty="0" err="1">
                <a:latin typeface="Arial"/>
                <a:cs typeface="Arial"/>
              </a:rPr>
              <a:t>trong</a:t>
            </a:r>
            <a:r>
              <a:rPr lang="en-US" sz="2000" dirty="0">
                <a:latin typeface="Arial"/>
                <a:cs typeface="Arial"/>
              </a:rPr>
              <a:t> segment (RFC 1071)</a:t>
            </a:r>
          </a:p>
          <a:p>
            <a:pPr marL="755650" lvl="1" indent="-285750">
              <a:lnSpc>
                <a:spcPct val="100000"/>
              </a:lnSpc>
              <a:spcBef>
                <a:spcPts val="455"/>
              </a:spcBef>
              <a:buClr>
                <a:srgbClr val="3333CC"/>
              </a:buClr>
              <a:buSzPct val="75000"/>
              <a:buFont typeface="Wingdings"/>
              <a:buChar char=""/>
              <a:tabLst>
                <a:tab pos="755650" algn="l"/>
              </a:tabLst>
            </a:pPr>
            <a:r>
              <a:rPr lang="en-US" sz="2000" dirty="0" err="1">
                <a:latin typeface="Arial"/>
                <a:cs typeface="Arial"/>
              </a:rPr>
              <a:t>Giá</a:t>
            </a:r>
            <a:r>
              <a:rPr lang="en-US" sz="2000" dirty="0">
                <a:latin typeface="Arial"/>
                <a:cs typeface="Arial"/>
              </a:rPr>
              <a:t> </a:t>
            </a:r>
            <a:r>
              <a:rPr lang="en-US" sz="2000" dirty="0" err="1">
                <a:latin typeface="Arial"/>
                <a:cs typeface="Arial"/>
              </a:rPr>
              <a:t>trị</a:t>
            </a:r>
            <a:r>
              <a:rPr lang="en-US" sz="2000" dirty="0">
                <a:latin typeface="Arial"/>
                <a:cs typeface="Arial"/>
              </a:rPr>
              <a:t> checksum </a:t>
            </a:r>
            <a:r>
              <a:rPr lang="en-US" sz="2000" dirty="0" err="1">
                <a:latin typeface="Arial"/>
                <a:cs typeface="Arial"/>
              </a:rPr>
              <a:t>nhận</a:t>
            </a:r>
            <a:r>
              <a:rPr lang="en-US" sz="2000" dirty="0">
                <a:latin typeface="Arial"/>
                <a:cs typeface="Arial"/>
              </a:rPr>
              <a:t> </a:t>
            </a:r>
            <a:r>
              <a:rPr lang="en-US" sz="2000" dirty="0" err="1">
                <a:latin typeface="Arial"/>
                <a:cs typeface="Arial"/>
              </a:rPr>
              <a:t>được</a:t>
            </a:r>
            <a:r>
              <a:rPr lang="en-US" sz="2000" dirty="0">
                <a:latin typeface="Arial"/>
                <a:cs typeface="Arial"/>
              </a:rPr>
              <a:t> </a:t>
            </a:r>
            <a:r>
              <a:rPr lang="en-US" sz="2000" dirty="0" err="1">
                <a:latin typeface="Arial"/>
                <a:cs typeface="Arial"/>
              </a:rPr>
              <a:t>được</a:t>
            </a:r>
            <a:r>
              <a:rPr lang="en-US" sz="2000" dirty="0">
                <a:latin typeface="Arial"/>
                <a:cs typeface="Arial"/>
              </a:rPr>
              <a:t> </a:t>
            </a:r>
            <a:r>
              <a:rPr lang="en-US" sz="2000" dirty="0" err="1">
                <a:latin typeface="Arial"/>
                <a:cs typeface="Arial"/>
              </a:rPr>
              <a:t>đặt</a:t>
            </a:r>
            <a:r>
              <a:rPr lang="en-US" sz="2000" dirty="0">
                <a:latin typeface="Arial"/>
                <a:cs typeface="Arial"/>
              </a:rPr>
              <a:t> </a:t>
            </a:r>
            <a:r>
              <a:rPr lang="en-US" sz="2000" dirty="0" err="1">
                <a:latin typeface="Arial"/>
                <a:cs typeface="Arial"/>
              </a:rPr>
              <a:t>vào</a:t>
            </a:r>
            <a:r>
              <a:rPr lang="en-US" sz="2000" dirty="0">
                <a:latin typeface="Arial"/>
                <a:cs typeface="Arial"/>
              </a:rPr>
              <a:t> </a:t>
            </a:r>
            <a:r>
              <a:rPr lang="en-US" sz="2000" dirty="0" err="1">
                <a:latin typeface="Arial"/>
                <a:cs typeface="Arial"/>
              </a:rPr>
              <a:t>trường</a:t>
            </a:r>
            <a:r>
              <a:rPr lang="en-US" sz="2000" dirty="0">
                <a:latin typeface="Arial"/>
                <a:cs typeface="Arial"/>
              </a:rPr>
              <a:t> checksum </a:t>
            </a:r>
            <a:r>
              <a:rPr lang="en-US" sz="2000" dirty="0" err="1">
                <a:latin typeface="Arial"/>
                <a:cs typeface="Arial"/>
              </a:rPr>
              <a:t>trong</a:t>
            </a:r>
            <a:r>
              <a:rPr lang="en-US" sz="2000" dirty="0">
                <a:latin typeface="Arial"/>
                <a:cs typeface="Arial"/>
              </a:rPr>
              <a:t> </a:t>
            </a:r>
            <a:r>
              <a:rPr lang="en-US" sz="2000" dirty="0" err="1">
                <a:latin typeface="Arial"/>
                <a:cs typeface="Arial"/>
              </a:rPr>
              <a:t>gói</a:t>
            </a:r>
            <a:r>
              <a:rPr lang="en-US" sz="2000" dirty="0">
                <a:latin typeface="Arial"/>
                <a:cs typeface="Arial"/>
              </a:rPr>
              <a:t> </a:t>
            </a: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UDP</a:t>
            </a:r>
          </a:p>
          <a:p>
            <a:pPr marL="355600" marR="5080" indent="-342900">
              <a:lnSpc>
                <a:spcPts val="1920"/>
              </a:lnSpc>
              <a:spcBef>
                <a:spcPts val="480"/>
              </a:spcBef>
              <a:buClr>
                <a:srgbClr val="3333CC"/>
              </a:buClr>
              <a:buSzPct val="85000"/>
              <a:buFont typeface="Wingdings"/>
              <a:buChar char=""/>
              <a:tabLst>
                <a:tab pos="354965" algn="l"/>
                <a:tab pos="355600" algn="l"/>
              </a:tabLst>
            </a:pPr>
            <a:endParaRPr lang="en-US" sz="2000" spc="-10" dirty="0">
              <a:latin typeface="Arial"/>
              <a:cs typeface="Arial"/>
            </a:endParaRPr>
          </a:p>
        </p:txBody>
      </p:sp>
      <p:sp>
        <p:nvSpPr>
          <p:cNvPr id="4" name="object 4"/>
          <p:cNvSpPr txBox="1"/>
          <p:nvPr/>
        </p:nvSpPr>
        <p:spPr>
          <a:xfrm>
            <a:off x="5184140" y="2882137"/>
            <a:ext cx="1648460" cy="452755"/>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CC0000"/>
                </a:solidFill>
                <a:latin typeface="Arial"/>
                <a:cs typeface="Arial"/>
              </a:rPr>
              <a:t>Bên</a:t>
            </a:r>
            <a:r>
              <a:rPr sz="2800" spc="-85" dirty="0">
                <a:solidFill>
                  <a:srgbClr val="CC0000"/>
                </a:solidFill>
                <a:latin typeface="Arial"/>
                <a:cs typeface="Arial"/>
              </a:rPr>
              <a:t> </a:t>
            </a:r>
            <a:r>
              <a:rPr sz="2800" dirty="0">
                <a:solidFill>
                  <a:srgbClr val="CC0000"/>
                </a:solidFill>
                <a:latin typeface="Arial"/>
                <a:cs typeface="Arial"/>
              </a:rPr>
              <a:t>nhận:</a:t>
            </a:r>
            <a:endParaRPr sz="2800">
              <a:latin typeface="Arial"/>
              <a:cs typeface="Arial"/>
            </a:endParaRPr>
          </a:p>
        </p:txBody>
      </p:sp>
      <p:sp>
        <p:nvSpPr>
          <p:cNvPr id="5" name="object 5"/>
          <p:cNvSpPr txBox="1"/>
          <p:nvPr/>
        </p:nvSpPr>
        <p:spPr>
          <a:xfrm>
            <a:off x="5184140" y="3372865"/>
            <a:ext cx="3878579" cy="2974532"/>
          </a:xfrm>
          <a:prstGeom prst="rect">
            <a:avLst/>
          </a:prstGeom>
        </p:spPr>
        <p:txBody>
          <a:bodyPr vert="horz" wrap="square" lIns="0" tIns="12065" rIns="0" bIns="0" rtlCol="0">
            <a:spAutoFit/>
          </a:bodyPr>
          <a:lstStyle/>
          <a:p>
            <a:pPr marL="355600" marR="6350" indent="-342900">
              <a:lnSpc>
                <a:spcPct val="100000"/>
              </a:lnSpc>
              <a:spcBef>
                <a:spcPts val="95"/>
              </a:spcBef>
              <a:buClr>
                <a:srgbClr val="3333CC"/>
              </a:buClr>
              <a:buSzPct val="85000"/>
              <a:buFont typeface="Wingdings"/>
              <a:buChar char=""/>
              <a:tabLst>
                <a:tab pos="354965" algn="l"/>
                <a:tab pos="355600" algn="l"/>
              </a:tabLst>
            </a:pPr>
            <a:r>
              <a:rPr lang="en-US" sz="2000" spc="-5" dirty="0" err="1">
                <a:latin typeface="Arial"/>
                <a:cs typeface="Arial"/>
              </a:rPr>
              <a:t>Tính</a:t>
            </a:r>
            <a:r>
              <a:rPr lang="en-US" sz="2000" spc="-5" dirty="0">
                <a:latin typeface="Arial"/>
                <a:cs typeface="Arial"/>
              </a:rPr>
              <a:t> </a:t>
            </a:r>
            <a:r>
              <a:rPr lang="en-US" sz="2000" spc="-5" dirty="0" err="1">
                <a:latin typeface="Arial"/>
                <a:cs typeface="Arial"/>
              </a:rPr>
              <a:t>tổng</a:t>
            </a:r>
            <a:r>
              <a:rPr lang="en-US" sz="2000" spc="-5" dirty="0">
                <a:latin typeface="Arial"/>
                <a:cs typeface="Arial"/>
              </a:rPr>
              <a:t> </a:t>
            </a:r>
            <a:r>
              <a:rPr lang="en-US" sz="2000" spc="-5" dirty="0" err="1">
                <a:latin typeface="Arial"/>
                <a:cs typeface="Arial"/>
              </a:rPr>
              <a:t>của</a:t>
            </a:r>
            <a:r>
              <a:rPr lang="en-US" sz="2000" spc="-5" dirty="0">
                <a:latin typeface="Arial"/>
                <a:cs typeface="Arial"/>
              </a:rPr>
              <a:t> </a:t>
            </a:r>
            <a:r>
              <a:rPr lang="en-US" sz="2000" spc="-5" dirty="0" err="1">
                <a:latin typeface="Arial"/>
                <a:cs typeface="Arial"/>
              </a:rPr>
              <a:t>các</a:t>
            </a:r>
            <a:r>
              <a:rPr lang="en-US" sz="2000" spc="-5" dirty="0">
                <a:latin typeface="Arial"/>
                <a:cs typeface="Arial"/>
              </a:rPr>
              <a:t> </a:t>
            </a:r>
            <a:r>
              <a:rPr lang="en-US" sz="2000" spc="-5" dirty="0" err="1">
                <a:latin typeface="Arial"/>
                <a:cs typeface="Arial"/>
              </a:rPr>
              <a:t>từ</a:t>
            </a:r>
            <a:r>
              <a:rPr lang="en-US" sz="2000" spc="-5" dirty="0">
                <a:latin typeface="Arial"/>
                <a:cs typeface="Arial"/>
              </a:rPr>
              <a:t> 16 bit (</a:t>
            </a:r>
            <a:r>
              <a:rPr lang="en-US" sz="2000" spc="-5" dirty="0" err="1">
                <a:latin typeface="Arial"/>
                <a:cs typeface="Arial"/>
              </a:rPr>
              <a:t>cả</a:t>
            </a:r>
            <a:r>
              <a:rPr lang="en-US" sz="2000" spc="-5" dirty="0">
                <a:latin typeface="Arial"/>
                <a:cs typeface="Arial"/>
              </a:rPr>
              <a:t> checksum)</a:t>
            </a:r>
            <a:endParaRPr sz="2000" dirty="0">
              <a:latin typeface="Arial"/>
              <a:cs typeface="Arial"/>
            </a:endParaRPr>
          </a:p>
          <a:p>
            <a:pPr marL="755650" lvl="1" indent="-285750">
              <a:lnSpc>
                <a:spcPct val="100000"/>
              </a:lnSpc>
              <a:spcBef>
                <a:spcPts val="480"/>
              </a:spcBef>
              <a:buClr>
                <a:srgbClr val="3333CC"/>
              </a:buClr>
              <a:buSzPct val="75000"/>
              <a:buFont typeface="Wingdings"/>
              <a:buChar char=""/>
              <a:tabLst>
                <a:tab pos="755650" algn="l"/>
              </a:tabLst>
            </a:pPr>
            <a:r>
              <a:rPr lang="en-US" sz="2000" spc="-10" dirty="0" err="1">
                <a:latin typeface="Arial"/>
                <a:cs typeface="Arial"/>
              </a:rPr>
              <a:t>Nếu</a:t>
            </a:r>
            <a:r>
              <a:rPr lang="en-US" sz="2000" spc="-10" dirty="0">
                <a:latin typeface="Arial"/>
                <a:cs typeface="Arial"/>
              </a:rPr>
              <a:t> </a:t>
            </a:r>
            <a:r>
              <a:rPr lang="en-US" sz="2000" spc="-10" dirty="0" err="1">
                <a:latin typeface="Arial"/>
                <a:cs typeface="Arial"/>
              </a:rPr>
              <a:t>tổng</a:t>
            </a:r>
            <a:r>
              <a:rPr lang="en-US" sz="2000" spc="-10" dirty="0">
                <a:latin typeface="Arial"/>
                <a:cs typeface="Arial"/>
              </a:rPr>
              <a:t> </a:t>
            </a:r>
            <a:r>
              <a:rPr lang="en-US" sz="2000" spc="-10" dirty="0" err="1">
                <a:latin typeface="Arial"/>
                <a:cs typeface="Arial"/>
              </a:rPr>
              <a:t>thu</a:t>
            </a:r>
            <a:r>
              <a:rPr lang="en-US" sz="2000" spc="-10" dirty="0">
                <a:latin typeface="Arial"/>
                <a:cs typeface="Arial"/>
              </a:rPr>
              <a:t> </a:t>
            </a:r>
            <a:r>
              <a:rPr lang="en-US" sz="2000" spc="-10" dirty="0" err="1">
                <a:latin typeface="Arial"/>
                <a:cs typeface="Arial"/>
              </a:rPr>
              <a:t>được</a:t>
            </a:r>
            <a:r>
              <a:rPr lang="en-US" sz="2000" spc="-10" dirty="0">
                <a:latin typeface="Arial"/>
                <a:cs typeface="Arial"/>
              </a:rPr>
              <a:t> </a:t>
            </a:r>
            <a:r>
              <a:rPr lang="en-US" sz="2000" i="1" spc="-10" dirty="0" err="1">
                <a:solidFill>
                  <a:srgbClr val="FF0000"/>
                </a:solidFill>
                <a:latin typeface="Arial"/>
                <a:cs typeface="Arial"/>
              </a:rPr>
              <a:t>toàn</a:t>
            </a:r>
            <a:r>
              <a:rPr lang="en-US" sz="2000" i="1" spc="-10" dirty="0">
                <a:solidFill>
                  <a:srgbClr val="FF0000"/>
                </a:solidFill>
                <a:latin typeface="Arial"/>
                <a:cs typeface="Arial"/>
              </a:rPr>
              <a:t> </a:t>
            </a:r>
            <a:r>
              <a:rPr lang="en-US" sz="2000" i="1" spc="-10" dirty="0" err="1">
                <a:solidFill>
                  <a:srgbClr val="FF0000"/>
                </a:solidFill>
                <a:latin typeface="Arial"/>
                <a:cs typeface="Arial"/>
              </a:rPr>
              <a:t>các</a:t>
            </a:r>
            <a:r>
              <a:rPr lang="en-US" sz="2000" i="1" spc="-10" dirty="0">
                <a:solidFill>
                  <a:srgbClr val="FF0000"/>
                </a:solidFill>
                <a:latin typeface="Arial"/>
                <a:cs typeface="Arial"/>
              </a:rPr>
              <a:t> bit 1</a:t>
            </a:r>
            <a:r>
              <a:rPr lang="en-US" sz="2000" spc="-10" dirty="0">
                <a:latin typeface="Arial"/>
                <a:cs typeface="Arial"/>
              </a:rPr>
              <a:t>, </a:t>
            </a:r>
            <a:r>
              <a:rPr lang="en-US" sz="2000" spc="-10" dirty="0" err="1">
                <a:latin typeface="Arial"/>
                <a:cs typeface="Arial"/>
              </a:rPr>
              <a:t>cho</a:t>
            </a:r>
            <a:r>
              <a:rPr lang="en-US" sz="2000" spc="-10" dirty="0">
                <a:latin typeface="Arial"/>
                <a:cs typeface="Arial"/>
              </a:rPr>
              <a:t> </a:t>
            </a:r>
            <a:r>
              <a:rPr lang="en-US" sz="2000" spc="-10" dirty="0" err="1">
                <a:latin typeface="Arial"/>
                <a:cs typeface="Arial"/>
              </a:rPr>
              <a:t>biết</a:t>
            </a:r>
            <a:r>
              <a:rPr lang="en-US" sz="2000" spc="-10" dirty="0">
                <a:latin typeface="Arial"/>
                <a:cs typeface="Arial"/>
              </a:rPr>
              <a:t> </a:t>
            </a:r>
            <a:r>
              <a:rPr lang="en-US" sz="2000" spc="-10" dirty="0" err="1">
                <a:latin typeface="Arial"/>
                <a:cs typeface="Arial"/>
              </a:rPr>
              <a:t>dữ</a:t>
            </a:r>
            <a:r>
              <a:rPr lang="en-US" sz="2000" spc="-10" dirty="0">
                <a:latin typeface="Arial"/>
                <a:cs typeface="Arial"/>
              </a:rPr>
              <a:t> </a:t>
            </a:r>
            <a:r>
              <a:rPr lang="en-US" sz="2000" spc="-10" dirty="0" err="1">
                <a:latin typeface="Arial"/>
                <a:cs typeface="Arial"/>
              </a:rPr>
              <a:t>liệu</a:t>
            </a:r>
            <a:r>
              <a:rPr lang="en-US" sz="2000" spc="-10" dirty="0">
                <a:latin typeface="Arial"/>
                <a:cs typeface="Arial"/>
              </a:rPr>
              <a:t> </a:t>
            </a:r>
            <a:r>
              <a:rPr lang="en-US" sz="2000" spc="-10" dirty="0" err="1">
                <a:latin typeface="Arial"/>
                <a:cs typeface="Arial"/>
              </a:rPr>
              <a:t>nhận</a:t>
            </a:r>
            <a:r>
              <a:rPr lang="en-US" sz="2000" spc="-10" dirty="0">
                <a:latin typeface="Arial"/>
                <a:cs typeface="Arial"/>
              </a:rPr>
              <a:t> </a:t>
            </a:r>
            <a:r>
              <a:rPr lang="en-US" sz="2000" spc="-10" dirty="0" err="1">
                <a:latin typeface="Arial"/>
                <a:cs typeface="Arial"/>
              </a:rPr>
              <a:t>được</a:t>
            </a:r>
            <a:r>
              <a:rPr lang="en-US" sz="2000" spc="-10" dirty="0">
                <a:latin typeface="Arial"/>
                <a:cs typeface="Arial"/>
              </a:rPr>
              <a:t> </a:t>
            </a:r>
            <a:r>
              <a:rPr lang="en-US" sz="2000" i="1" spc="-10" dirty="0" err="1">
                <a:solidFill>
                  <a:srgbClr val="FF0000"/>
                </a:solidFill>
                <a:latin typeface="Arial"/>
                <a:cs typeface="Arial"/>
              </a:rPr>
              <a:t>không</a:t>
            </a:r>
            <a:r>
              <a:rPr lang="en-US" sz="2000" i="1" spc="-10" dirty="0">
                <a:solidFill>
                  <a:srgbClr val="FF0000"/>
                </a:solidFill>
                <a:latin typeface="Arial"/>
                <a:cs typeface="Arial"/>
              </a:rPr>
              <a:t> </a:t>
            </a:r>
            <a:r>
              <a:rPr lang="en-US" sz="2000" i="1" spc="-10" dirty="0" err="1">
                <a:solidFill>
                  <a:srgbClr val="FF0000"/>
                </a:solidFill>
                <a:latin typeface="Arial"/>
                <a:cs typeface="Arial"/>
              </a:rPr>
              <a:t>có</a:t>
            </a:r>
            <a:r>
              <a:rPr lang="en-US" sz="2000" i="1" spc="-10" dirty="0">
                <a:solidFill>
                  <a:srgbClr val="FF0000"/>
                </a:solidFill>
                <a:latin typeface="Arial"/>
                <a:cs typeface="Arial"/>
              </a:rPr>
              <a:t> </a:t>
            </a:r>
            <a:r>
              <a:rPr lang="en-US" sz="2000" i="1" spc="-10" dirty="0" err="1">
                <a:solidFill>
                  <a:srgbClr val="FF0000"/>
                </a:solidFill>
                <a:latin typeface="Arial"/>
                <a:cs typeface="Arial"/>
              </a:rPr>
              <a:t>lỗi</a:t>
            </a:r>
            <a:endParaRPr lang="en-US" sz="2000" i="1" spc="-10" dirty="0">
              <a:solidFill>
                <a:srgbClr val="FF0000"/>
              </a:solidFill>
              <a:latin typeface="Arial"/>
              <a:cs typeface="Arial"/>
            </a:endParaRPr>
          </a:p>
          <a:p>
            <a:pPr marL="755650" lvl="1" indent="-285750">
              <a:spcBef>
                <a:spcPts val="480"/>
              </a:spcBef>
              <a:buClr>
                <a:srgbClr val="3333CC"/>
              </a:buClr>
              <a:buSzPct val="75000"/>
              <a:buFont typeface="Wingdings"/>
              <a:buChar char=""/>
              <a:tabLst>
                <a:tab pos="755650" algn="l"/>
              </a:tabLst>
            </a:pPr>
            <a:r>
              <a:rPr lang="vi-VN" sz="2000" spc="-10" dirty="0">
                <a:latin typeface="Arial"/>
                <a:cs typeface="Arial"/>
              </a:rPr>
              <a:t>Nếu tổng thu được </a:t>
            </a:r>
            <a:r>
              <a:rPr lang="en-US" sz="2000" spc="-10" dirty="0" err="1">
                <a:latin typeface="Arial"/>
                <a:cs typeface="Arial"/>
              </a:rPr>
              <a:t>có</a:t>
            </a:r>
            <a:r>
              <a:rPr lang="en-US" sz="2000" spc="-10" dirty="0">
                <a:latin typeface="Arial"/>
                <a:cs typeface="Arial"/>
              </a:rPr>
              <a:t> </a:t>
            </a:r>
            <a:r>
              <a:rPr lang="en-US" sz="2000" spc="-10" dirty="0" err="1">
                <a:solidFill>
                  <a:srgbClr val="FF0000"/>
                </a:solidFill>
                <a:latin typeface="Arial"/>
                <a:cs typeface="Arial"/>
              </a:rPr>
              <a:t>một</a:t>
            </a:r>
            <a:r>
              <a:rPr lang="en-US" sz="2000" spc="-10" dirty="0">
                <a:solidFill>
                  <a:srgbClr val="FF0000"/>
                </a:solidFill>
                <a:latin typeface="Arial"/>
                <a:cs typeface="Arial"/>
              </a:rPr>
              <a:t> bit </a:t>
            </a:r>
            <a:r>
              <a:rPr lang="en-US" sz="2000" spc="-10" dirty="0" err="1">
                <a:solidFill>
                  <a:srgbClr val="FF0000"/>
                </a:solidFill>
                <a:latin typeface="Arial"/>
                <a:cs typeface="Arial"/>
              </a:rPr>
              <a:t>nào</a:t>
            </a:r>
            <a:r>
              <a:rPr lang="en-US" sz="2000" spc="-10" dirty="0">
                <a:solidFill>
                  <a:srgbClr val="FF0000"/>
                </a:solidFill>
                <a:latin typeface="Arial"/>
                <a:cs typeface="Arial"/>
              </a:rPr>
              <a:t> </a:t>
            </a:r>
            <a:r>
              <a:rPr lang="en-US" sz="2000" spc="-10" dirty="0" err="1">
                <a:solidFill>
                  <a:srgbClr val="FF0000"/>
                </a:solidFill>
                <a:latin typeface="Arial"/>
                <a:cs typeface="Arial"/>
              </a:rPr>
              <a:t>đó</a:t>
            </a:r>
            <a:r>
              <a:rPr lang="en-US" sz="2000" spc="-10" dirty="0">
                <a:solidFill>
                  <a:srgbClr val="FF0000"/>
                </a:solidFill>
                <a:latin typeface="Arial"/>
                <a:cs typeface="Arial"/>
              </a:rPr>
              <a:t> </a:t>
            </a:r>
            <a:r>
              <a:rPr lang="en-US" sz="2000" spc="-10" dirty="0" err="1">
                <a:solidFill>
                  <a:srgbClr val="FF0000"/>
                </a:solidFill>
                <a:latin typeface="Arial"/>
                <a:cs typeface="Arial"/>
              </a:rPr>
              <a:t>bằng</a:t>
            </a:r>
            <a:r>
              <a:rPr lang="en-US" sz="2000" spc="-10" dirty="0">
                <a:solidFill>
                  <a:srgbClr val="FF0000"/>
                </a:solidFill>
                <a:latin typeface="Arial"/>
                <a:cs typeface="Arial"/>
              </a:rPr>
              <a:t> 0</a:t>
            </a:r>
            <a:r>
              <a:rPr lang="vi-VN" sz="2000" spc="-10" dirty="0">
                <a:latin typeface="Arial"/>
                <a:cs typeface="Arial"/>
              </a:rPr>
              <a:t>, cho biết dữ liệu nhận được </a:t>
            </a:r>
            <a:r>
              <a:rPr lang="vi-VN" sz="2000" i="1" spc="-10" dirty="0">
                <a:solidFill>
                  <a:srgbClr val="FF0000"/>
                </a:solidFill>
                <a:latin typeface="Arial"/>
                <a:cs typeface="Arial"/>
              </a:rPr>
              <a:t>có lỗi</a:t>
            </a:r>
            <a:endParaRPr lang="vi-VN" sz="2000" i="1" dirty="0">
              <a:solidFill>
                <a:srgbClr val="FF0000"/>
              </a:solidFill>
              <a:latin typeface="Arial"/>
              <a:cs typeface="Arial"/>
            </a:endParaRPr>
          </a:p>
          <a:p>
            <a:pPr marL="755650" lvl="1" indent="-285750">
              <a:lnSpc>
                <a:spcPct val="100000"/>
              </a:lnSpc>
              <a:spcBef>
                <a:spcPts val="480"/>
              </a:spcBef>
              <a:buClr>
                <a:srgbClr val="3333CC"/>
              </a:buClr>
              <a:buSzPct val="75000"/>
              <a:buFont typeface="Wingdings"/>
              <a:buChar char=""/>
              <a:tabLst>
                <a:tab pos="755650" algn="l"/>
              </a:tabLst>
            </a:pPr>
            <a:endParaRPr sz="2000" dirty="0">
              <a:latin typeface="Arial"/>
              <a:cs typeface="Arial"/>
            </a:endParaRPr>
          </a:p>
        </p:txBody>
      </p:sp>
      <p:sp>
        <p:nvSpPr>
          <p:cNvPr id="6" name="object 6"/>
          <p:cNvSpPr txBox="1"/>
          <p:nvPr/>
        </p:nvSpPr>
        <p:spPr>
          <a:xfrm>
            <a:off x="1231645" y="1928875"/>
            <a:ext cx="7907273" cy="450764"/>
          </a:xfrm>
          <a:prstGeom prst="rect">
            <a:avLst/>
          </a:prstGeom>
        </p:spPr>
        <p:txBody>
          <a:bodyPr vert="horz" wrap="square" lIns="0" tIns="78105" rIns="0" bIns="0" rtlCol="0">
            <a:spAutoFit/>
          </a:bodyPr>
          <a:lstStyle/>
          <a:p>
            <a:pPr marL="354965" marR="5080" indent="-342900">
              <a:lnSpc>
                <a:spcPts val="2860"/>
              </a:lnSpc>
              <a:spcBef>
                <a:spcPts val="615"/>
              </a:spcBef>
            </a:pPr>
            <a:r>
              <a:rPr sz="2800" i="1" dirty="0">
                <a:solidFill>
                  <a:srgbClr val="CC0000"/>
                </a:solidFill>
                <a:latin typeface="Arial"/>
                <a:cs typeface="Arial"/>
              </a:rPr>
              <a:t>Mục đích: </a:t>
            </a:r>
            <a:r>
              <a:rPr sz="2800" dirty="0">
                <a:latin typeface="Arial"/>
                <a:cs typeface="Arial"/>
              </a:rPr>
              <a:t>phát hiện </a:t>
            </a:r>
            <a:r>
              <a:rPr sz="2800" spc="-5" dirty="0" err="1">
                <a:latin typeface="Arial"/>
                <a:cs typeface="Arial"/>
              </a:rPr>
              <a:t>lỗi</a:t>
            </a:r>
            <a:r>
              <a:rPr sz="2800" spc="-5" dirty="0">
                <a:latin typeface="Arial"/>
                <a:cs typeface="Arial"/>
              </a:rPr>
              <a:t> </a:t>
            </a:r>
            <a:r>
              <a:rPr lang="en-US" sz="2800" dirty="0">
                <a:latin typeface="Arial"/>
                <a:cs typeface="Arial"/>
              </a:rPr>
              <a:t>bit </a:t>
            </a:r>
            <a:r>
              <a:rPr sz="2800" dirty="0" err="1">
                <a:latin typeface="Arial"/>
                <a:cs typeface="Arial"/>
              </a:rPr>
              <a:t>trong</a:t>
            </a:r>
            <a:r>
              <a:rPr sz="2800" dirty="0">
                <a:latin typeface="Arial"/>
                <a:cs typeface="Arial"/>
              </a:rPr>
              <a:t> segment đã</a:t>
            </a:r>
            <a:r>
              <a:rPr sz="2800" spc="-5" dirty="0">
                <a:latin typeface="Arial"/>
                <a:cs typeface="Arial"/>
              </a:rPr>
              <a:t> </a:t>
            </a:r>
            <a:r>
              <a:rPr sz="2800" dirty="0">
                <a:latin typeface="Arial"/>
                <a:cs typeface="Arial"/>
              </a:rPr>
              <a:t>gửi</a:t>
            </a:r>
          </a:p>
        </p:txBody>
      </p:sp>
      <p:sp>
        <p:nvSpPr>
          <p:cNvPr id="8" name="Slide Number Placeholder 7"/>
          <p:cNvSpPr>
            <a:spLocks noGrp="1"/>
          </p:cNvSpPr>
          <p:nvPr>
            <p:ph type="sldNum" sz="quarter" idx="7"/>
          </p:nvPr>
        </p:nvSpPr>
        <p:spPr/>
        <p:txBody>
          <a:bodyPr/>
          <a:lstStyle/>
          <a:p>
            <a:pPr marL="12700">
              <a:lnSpc>
                <a:spcPts val="1645"/>
              </a:lnSpc>
            </a:pPr>
            <a:fld id="{81D60167-4931-47E6-BA6A-407CBD079E47}" type="slidenum">
              <a:rPr lang="en-US" spc="-5" smtClean="0"/>
              <a:t>16</a:t>
            </a:fld>
            <a:endParaRPr lang="en-US" spc="-5" dirty="0"/>
          </a:p>
        </p:txBody>
      </p:sp>
    </p:spTree>
    <p:extLst>
      <p:ext uri="{BB962C8B-B14F-4D97-AF65-F5344CB8AC3E}">
        <p14:creationId xmlns:p14="http://schemas.microsoft.com/office/powerpoint/2010/main" val="701126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US" spc="-5" dirty="0" err="1"/>
              <a:t>Ví</a:t>
            </a:r>
            <a:r>
              <a:rPr lang="en-US" spc="-5" dirty="0"/>
              <a:t> </a:t>
            </a:r>
            <a:r>
              <a:rPr lang="en-US" spc="-5" dirty="0" err="1"/>
              <a:t>dụ</a:t>
            </a:r>
            <a:r>
              <a:rPr lang="en-US" spc="-5" dirty="0"/>
              <a:t>: Internet Checksum </a:t>
            </a:r>
            <a:endParaRPr lang="en-US" dirty="0"/>
          </a:p>
        </p:txBody>
      </p:sp>
      <p:sp>
        <p:nvSpPr>
          <p:cNvPr id="3" name="Text Placeholder 2"/>
          <p:cNvSpPr>
            <a:spLocks noGrp="1"/>
          </p:cNvSpPr>
          <p:nvPr>
            <p:ph type="body" idx="1"/>
          </p:nvPr>
        </p:nvSpPr>
        <p:spPr>
          <a:xfrm>
            <a:off x="780541" y="2133600"/>
            <a:ext cx="8497316" cy="4801314"/>
          </a:xfrm>
        </p:spPr>
        <p:txBody>
          <a:bodyPr/>
          <a:lstStyle/>
          <a:p>
            <a:pPr marL="342900" indent="-342900">
              <a:buClr>
                <a:srgbClr val="0070C0"/>
              </a:buClr>
              <a:buFont typeface="Wingdings" panose="05000000000000000000" pitchFamily="2" charset="2"/>
              <a:buChar char="q"/>
            </a:pPr>
            <a:r>
              <a:rPr lang="en-US" dirty="0" err="1"/>
              <a:t>Giả</a:t>
            </a:r>
            <a:r>
              <a:rPr lang="en-US" dirty="0"/>
              <a:t> </a:t>
            </a:r>
            <a:r>
              <a:rPr lang="en-US" dirty="0" err="1"/>
              <a:t>sử</a:t>
            </a:r>
            <a:r>
              <a:rPr lang="en-US" dirty="0"/>
              <a:t> </a:t>
            </a:r>
            <a:r>
              <a:rPr lang="en-US" dirty="0" err="1"/>
              <a:t>có</a:t>
            </a:r>
            <a:r>
              <a:rPr lang="en-US" dirty="0"/>
              <a:t> 2 </a:t>
            </a:r>
            <a:r>
              <a:rPr lang="en-US" dirty="0" err="1"/>
              <a:t>từ</a:t>
            </a:r>
            <a:r>
              <a:rPr lang="en-US" dirty="0"/>
              <a:t> 16 bit</a:t>
            </a:r>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r>
              <a:rPr lang="en-US" dirty="0" err="1"/>
              <a:t>Lưu</a:t>
            </a:r>
            <a:r>
              <a:rPr lang="en-US" dirty="0"/>
              <a:t> ý: </a:t>
            </a:r>
            <a:r>
              <a:rPr lang="en-US" dirty="0" err="1"/>
              <a:t>khi</a:t>
            </a:r>
            <a:r>
              <a:rPr lang="en-US" dirty="0"/>
              <a:t> </a:t>
            </a:r>
            <a:r>
              <a:rPr lang="en-US" dirty="0" err="1"/>
              <a:t>cộng</a:t>
            </a:r>
            <a:r>
              <a:rPr lang="en-US" dirty="0"/>
              <a:t> </a:t>
            </a:r>
            <a:r>
              <a:rPr lang="en-US" dirty="0" err="1"/>
              <a:t>các</a:t>
            </a:r>
            <a:r>
              <a:rPr lang="en-US" dirty="0"/>
              <a:t> </a:t>
            </a:r>
            <a:r>
              <a:rPr lang="en-US" dirty="0" err="1"/>
              <a:t>số</a:t>
            </a:r>
            <a:r>
              <a:rPr lang="en-US" dirty="0"/>
              <a:t>, bit </a:t>
            </a:r>
            <a:r>
              <a:rPr lang="en-US" dirty="0" err="1"/>
              <a:t>nhớ</a:t>
            </a:r>
            <a:r>
              <a:rPr lang="en-US" dirty="0"/>
              <a:t> </a:t>
            </a:r>
            <a:r>
              <a:rPr lang="en-US" dirty="0" err="1"/>
              <a:t>cao</a:t>
            </a:r>
            <a:r>
              <a:rPr lang="en-US" dirty="0"/>
              <a:t> </a:t>
            </a:r>
            <a:r>
              <a:rPr lang="en-US" dirty="0" err="1"/>
              <a:t>nhất</a:t>
            </a:r>
            <a:r>
              <a:rPr lang="en-US" dirty="0"/>
              <a:t> </a:t>
            </a:r>
            <a:r>
              <a:rPr lang="en-US" dirty="0" err="1"/>
              <a:t>cần</a:t>
            </a:r>
            <a:r>
              <a:rPr lang="en-US" dirty="0"/>
              <a:t> </a:t>
            </a:r>
            <a:r>
              <a:rPr lang="en-US" dirty="0" err="1"/>
              <a:t>được</a:t>
            </a:r>
            <a:r>
              <a:rPr lang="en-US" dirty="0"/>
              <a:t> </a:t>
            </a:r>
            <a:r>
              <a:rPr lang="en-US" dirty="0" err="1"/>
              <a:t>cộng</a:t>
            </a:r>
            <a:r>
              <a:rPr lang="en-US" dirty="0"/>
              <a:t> </a:t>
            </a:r>
            <a:r>
              <a:rPr lang="en-US" dirty="0" err="1"/>
              <a:t>vào</a:t>
            </a:r>
            <a:r>
              <a:rPr lang="en-US" dirty="0"/>
              <a:t> </a:t>
            </a:r>
            <a:r>
              <a:rPr lang="en-US" dirty="0" err="1"/>
              <a:t>kết</a:t>
            </a:r>
            <a:r>
              <a:rPr lang="en-US" dirty="0"/>
              <a:t> </a:t>
            </a:r>
            <a:r>
              <a:rPr lang="en-US" dirty="0" err="1"/>
              <a:t>quả</a:t>
            </a:r>
            <a:endParaRPr lang="en-US" dirty="0"/>
          </a:p>
          <a:p>
            <a:endParaRPr lang="en-US" dirty="0"/>
          </a:p>
        </p:txBody>
      </p:sp>
      <p:sp>
        <p:nvSpPr>
          <p:cNvPr id="4" name="Slide Number Placeholder 3"/>
          <p:cNvSpPr>
            <a:spLocks noGrp="1"/>
          </p:cNvSpPr>
          <p:nvPr>
            <p:ph type="sldNum" sz="quarter" idx="7"/>
          </p:nvPr>
        </p:nvSpPr>
        <p:spPr/>
        <p:txBody>
          <a:bodyPr/>
          <a:lstStyle/>
          <a:p>
            <a:pPr marL="12700">
              <a:lnSpc>
                <a:spcPts val="1645"/>
              </a:lnSpc>
            </a:pPr>
            <a:fld id="{81D60167-4931-47E6-BA6A-407CBD079E47}" type="slidenum">
              <a:rPr lang="en-US" spc="-5" smtClean="0"/>
              <a:t>17</a:t>
            </a:fld>
            <a:endParaRPr lang="en-US" spc="-5" dirty="0"/>
          </a:p>
        </p:txBody>
      </p:sp>
      <p:pic>
        <p:nvPicPr>
          <p:cNvPr id="5" name="Picture 4"/>
          <p:cNvPicPr>
            <a:picLocks noChangeAspect="1"/>
          </p:cNvPicPr>
          <p:nvPr/>
        </p:nvPicPr>
        <p:blipFill>
          <a:blip r:embed="rId3"/>
          <a:stretch>
            <a:fillRect/>
          </a:stretch>
        </p:blipFill>
        <p:spPr>
          <a:xfrm>
            <a:off x="1073219" y="2700583"/>
            <a:ext cx="8460670" cy="2633417"/>
          </a:xfrm>
          <a:prstGeom prst="rect">
            <a:avLst/>
          </a:prstGeom>
        </p:spPr>
      </p:pic>
    </p:spTree>
    <p:extLst>
      <p:ext uri="{BB962C8B-B14F-4D97-AF65-F5344CB8AC3E}">
        <p14:creationId xmlns:p14="http://schemas.microsoft.com/office/powerpoint/2010/main" val="4227619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US" spc="-5" dirty="0" err="1"/>
              <a:t>Ví</a:t>
            </a:r>
            <a:r>
              <a:rPr lang="en-US" spc="-5" dirty="0"/>
              <a:t> </a:t>
            </a:r>
            <a:r>
              <a:rPr lang="en-US" spc="-5" dirty="0" err="1"/>
              <a:t>dụ</a:t>
            </a:r>
            <a:r>
              <a:rPr lang="en-US" spc="-5" dirty="0"/>
              <a:t>: Internet Checksum </a:t>
            </a:r>
            <a:endParaRPr lang="en-US" dirty="0"/>
          </a:p>
        </p:txBody>
      </p:sp>
      <p:sp>
        <p:nvSpPr>
          <p:cNvPr id="3" name="Text Placeholder 2"/>
          <p:cNvSpPr>
            <a:spLocks noGrp="1"/>
          </p:cNvSpPr>
          <p:nvPr>
            <p:ph type="body" idx="1"/>
          </p:nvPr>
        </p:nvSpPr>
        <p:spPr>
          <a:xfrm>
            <a:off x="780541" y="2133600"/>
            <a:ext cx="8497316" cy="4431983"/>
          </a:xfrm>
        </p:spPr>
        <p:txBody>
          <a:bodyPr/>
          <a:lstStyle/>
          <a:p>
            <a:pPr marL="342900" indent="-342900">
              <a:buClr>
                <a:srgbClr val="0070C0"/>
              </a:buClr>
              <a:buFont typeface="Wingdings" panose="05000000000000000000" pitchFamily="2" charset="2"/>
              <a:buChar char="q"/>
            </a:pPr>
            <a:r>
              <a:rPr lang="en-US" dirty="0" err="1"/>
              <a:t>Dữ</a:t>
            </a:r>
            <a:r>
              <a:rPr lang="en-US" dirty="0"/>
              <a:t> </a:t>
            </a:r>
            <a:r>
              <a:rPr lang="en-US" dirty="0" err="1"/>
              <a:t>liệu</a:t>
            </a:r>
            <a:r>
              <a:rPr lang="en-US" dirty="0"/>
              <a:t> </a:t>
            </a:r>
            <a:r>
              <a:rPr lang="en-US" dirty="0" err="1"/>
              <a:t>truyền</a:t>
            </a:r>
            <a:r>
              <a:rPr lang="en-US" dirty="0"/>
              <a:t> </a:t>
            </a:r>
            <a:r>
              <a:rPr lang="en-US" dirty="0" err="1"/>
              <a:t>đi</a:t>
            </a:r>
            <a:r>
              <a:rPr lang="en-US" dirty="0"/>
              <a:t>: 2 </a:t>
            </a:r>
            <a:r>
              <a:rPr lang="en-US" dirty="0" err="1"/>
              <a:t>từ</a:t>
            </a:r>
            <a:r>
              <a:rPr lang="en-US" dirty="0"/>
              <a:t> 16 bit + 16 bit checksum</a:t>
            </a:r>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r>
              <a:rPr lang="en-US" dirty="0" err="1"/>
              <a:t>Dữ</a:t>
            </a:r>
            <a:r>
              <a:rPr lang="en-US" dirty="0"/>
              <a:t> </a:t>
            </a:r>
            <a:r>
              <a:rPr lang="en-US" dirty="0" err="1"/>
              <a:t>liệu</a:t>
            </a:r>
            <a:r>
              <a:rPr lang="en-US" dirty="0"/>
              <a:t> </a:t>
            </a:r>
            <a:r>
              <a:rPr lang="en-US" dirty="0" err="1"/>
              <a:t>nhận</a:t>
            </a:r>
            <a:r>
              <a:rPr lang="en-US" dirty="0"/>
              <a:t> </a:t>
            </a:r>
            <a:r>
              <a:rPr lang="en-US" dirty="0" err="1"/>
              <a:t>được</a:t>
            </a:r>
            <a:r>
              <a:rPr lang="en-US" dirty="0"/>
              <a:t> </a:t>
            </a:r>
            <a:r>
              <a:rPr lang="en-US" dirty="0" err="1"/>
              <a:t>không</a:t>
            </a:r>
            <a:r>
              <a:rPr lang="en-US" dirty="0"/>
              <a:t> </a:t>
            </a:r>
            <a:r>
              <a:rPr lang="en-US" dirty="0" err="1"/>
              <a:t>có</a:t>
            </a:r>
            <a:r>
              <a:rPr lang="en-US" dirty="0"/>
              <a:t> </a:t>
            </a:r>
            <a:r>
              <a:rPr lang="en-US" dirty="0" err="1"/>
              <a:t>lỗi</a:t>
            </a:r>
            <a:r>
              <a:rPr lang="en-US" dirty="0"/>
              <a:t>: </a:t>
            </a:r>
            <a:r>
              <a:rPr lang="en-US" dirty="0" err="1"/>
              <a:t>cộng</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từ</a:t>
            </a:r>
            <a:r>
              <a:rPr lang="en-US" dirty="0"/>
              <a:t> 16 bit </a:t>
            </a:r>
            <a:r>
              <a:rPr lang="en-US" dirty="0" err="1"/>
              <a:t>kể</a:t>
            </a:r>
            <a:r>
              <a:rPr lang="en-US" dirty="0"/>
              <a:t> </a:t>
            </a:r>
            <a:r>
              <a:rPr lang="en-US" dirty="0" err="1"/>
              <a:t>cả</a:t>
            </a:r>
            <a:r>
              <a:rPr lang="en-US" dirty="0"/>
              <a:t> checksum </a:t>
            </a:r>
            <a:r>
              <a:rPr lang="en-US" dirty="0" err="1"/>
              <a:t>thì</a:t>
            </a:r>
            <a:r>
              <a:rPr lang="en-US" dirty="0"/>
              <a:t> </a:t>
            </a:r>
            <a:r>
              <a:rPr lang="en-US" dirty="0" err="1"/>
              <a:t>thu</a:t>
            </a:r>
            <a:r>
              <a:rPr lang="en-US" dirty="0"/>
              <a:t> </a:t>
            </a:r>
            <a:r>
              <a:rPr lang="en-US" dirty="0" err="1"/>
              <a:t>được</a:t>
            </a:r>
            <a:r>
              <a:rPr lang="en-US" dirty="0"/>
              <a:t> </a:t>
            </a:r>
            <a:r>
              <a:rPr lang="en-US" dirty="0" err="1"/>
              <a:t>tổng</a:t>
            </a:r>
            <a:r>
              <a:rPr lang="en-US" dirty="0"/>
              <a:t> </a:t>
            </a:r>
            <a:r>
              <a:rPr lang="en-US" dirty="0" err="1"/>
              <a:t>gồm</a:t>
            </a:r>
            <a:r>
              <a:rPr lang="en-US" dirty="0"/>
              <a:t> </a:t>
            </a:r>
            <a:r>
              <a:rPr lang="en-US" dirty="0" err="1"/>
              <a:t>các</a:t>
            </a:r>
            <a:r>
              <a:rPr lang="en-US" dirty="0"/>
              <a:t> bit 1</a:t>
            </a:r>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endParaRPr lang="en-US" dirty="0"/>
          </a:p>
        </p:txBody>
      </p:sp>
      <p:sp>
        <p:nvSpPr>
          <p:cNvPr id="4" name="Slide Number Placeholder 3"/>
          <p:cNvSpPr>
            <a:spLocks noGrp="1"/>
          </p:cNvSpPr>
          <p:nvPr>
            <p:ph type="sldNum" sz="quarter" idx="7"/>
          </p:nvPr>
        </p:nvSpPr>
        <p:spPr/>
        <p:txBody>
          <a:bodyPr/>
          <a:lstStyle/>
          <a:p>
            <a:pPr marL="12700">
              <a:lnSpc>
                <a:spcPts val="1645"/>
              </a:lnSpc>
            </a:pPr>
            <a:fld id="{81D60167-4931-47E6-BA6A-407CBD079E47}" type="slidenum">
              <a:rPr lang="en-US" spc="-5" smtClean="0"/>
              <a:t>18</a:t>
            </a:fld>
            <a:endParaRPr lang="en-US" spc="-5" dirty="0"/>
          </a:p>
        </p:txBody>
      </p:sp>
      <p:pic>
        <p:nvPicPr>
          <p:cNvPr id="6" name="Picture 5"/>
          <p:cNvPicPr>
            <a:picLocks noChangeAspect="1"/>
          </p:cNvPicPr>
          <p:nvPr/>
        </p:nvPicPr>
        <p:blipFill>
          <a:blip r:embed="rId3"/>
          <a:stretch>
            <a:fillRect/>
          </a:stretch>
        </p:blipFill>
        <p:spPr>
          <a:xfrm>
            <a:off x="1319211" y="2743200"/>
            <a:ext cx="7419975" cy="1295400"/>
          </a:xfrm>
          <a:prstGeom prst="rect">
            <a:avLst/>
          </a:prstGeom>
        </p:spPr>
      </p:pic>
      <p:pic>
        <p:nvPicPr>
          <p:cNvPr id="5" name="Picture 4"/>
          <p:cNvPicPr>
            <a:picLocks noChangeAspect="1"/>
          </p:cNvPicPr>
          <p:nvPr/>
        </p:nvPicPr>
        <p:blipFill>
          <a:blip r:embed="rId4"/>
          <a:stretch>
            <a:fillRect/>
          </a:stretch>
        </p:blipFill>
        <p:spPr>
          <a:xfrm>
            <a:off x="1524000" y="5099685"/>
            <a:ext cx="7362825" cy="2657475"/>
          </a:xfrm>
          <a:prstGeom prst="rect">
            <a:avLst/>
          </a:prstGeom>
        </p:spPr>
      </p:pic>
    </p:spTree>
    <p:extLst>
      <p:ext uri="{BB962C8B-B14F-4D97-AF65-F5344CB8AC3E}">
        <p14:creationId xmlns:p14="http://schemas.microsoft.com/office/powerpoint/2010/main" val="3638006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US" spc="-5" dirty="0" err="1"/>
              <a:t>Ví</a:t>
            </a:r>
            <a:r>
              <a:rPr lang="en-US" spc="-5" dirty="0"/>
              <a:t> </a:t>
            </a:r>
            <a:r>
              <a:rPr lang="en-US" spc="-5" dirty="0" err="1"/>
              <a:t>dụ</a:t>
            </a:r>
            <a:r>
              <a:rPr lang="en-US" spc="-5" dirty="0"/>
              <a:t>: Internet Checksum </a:t>
            </a:r>
            <a:endParaRPr lang="en-US" dirty="0"/>
          </a:p>
        </p:txBody>
      </p:sp>
      <p:sp>
        <p:nvSpPr>
          <p:cNvPr id="3" name="Text Placeholder 2"/>
          <p:cNvSpPr>
            <a:spLocks noGrp="1"/>
          </p:cNvSpPr>
          <p:nvPr>
            <p:ph type="body" idx="1"/>
          </p:nvPr>
        </p:nvSpPr>
        <p:spPr>
          <a:xfrm>
            <a:off x="780540" y="1600200"/>
            <a:ext cx="8497316" cy="4431983"/>
          </a:xfrm>
        </p:spPr>
        <p:txBody>
          <a:bodyPr/>
          <a:lstStyle/>
          <a:p>
            <a:pPr marL="342900" indent="-342900">
              <a:buClr>
                <a:srgbClr val="0070C0"/>
              </a:buClr>
              <a:buFont typeface="Wingdings" panose="05000000000000000000" pitchFamily="2" charset="2"/>
              <a:buChar char="q"/>
            </a:pPr>
            <a:r>
              <a:rPr lang="en-US" dirty="0" err="1"/>
              <a:t>Dữ</a:t>
            </a:r>
            <a:r>
              <a:rPr lang="en-US" dirty="0"/>
              <a:t> </a:t>
            </a:r>
            <a:r>
              <a:rPr lang="en-US" dirty="0" err="1"/>
              <a:t>liệu</a:t>
            </a:r>
            <a:r>
              <a:rPr lang="en-US" dirty="0"/>
              <a:t> </a:t>
            </a:r>
            <a:r>
              <a:rPr lang="en-US" dirty="0" err="1"/>
              <a:t>truyền</a:t>
            </a:r>
            <a:r>
              <a:rPr lang="en-US" dirty="0"/>
              <a:t> </a:t>
            </a:r>
            <a:r>
              <a:rPr lang="en-US" dirty="0" err="1"/>
              <a:t>đi</a:t>
            </a:r>
            <a:r>
              <a:rPr lang="en-US" dirty="0"/>
              <a:t>: 2 </a:t>
            </a:r>
            <a:r>
              <a:rPr lang="en-US" dirty="0" err="1"/>
              <a:t>từ</a:t>
            </a:r>
            <a:r>
              <a:rPr lang="en-US" dirty="0"/>
              <a:t> 16 bit + 16 bit checksum</a:t>
            </a:r>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r>
              <a:rPr lang="en-US" dirty="0" err="1"/>
              <a:t>Dữ</a:t>
            </a:r>
            <a:r>
              <a:rPr lang="en-US" dirty="0"/>
              <a:t> </a:t>
            </a:r>
            <a:r>
              <a:rPr lang="en-US" dirty="0" err="1"/>
              <a:t>liệu</a:t>
            </a:r>
            <a:r>
              <a:rPr lang="en-US" dirty="0"/>
              <a:t> </a:t>
            </a:r>
            <a:r>
              <a:rPr lang="en-US" dirty="0" err="1"/>
              <a:t>nhận</a:t>
            </a:r>
            <a:r>
              <a:rPr lang="en-US" dirty="0"/>
              <a:t> </a:t>
            </a:r>
            <a:r>
              <a:rPr lang="en-US" dirty="0" err="1"/>
              <a:t>được</a:t>
            </a:r>
            <a:r>
              <a:rPr lang="en-US" dirty="0"/>
              <a:t> </a:t>
            </a:r>
            <a:r>
              <a:rPr lang="en-US" dirty="0" err="1"/>
              <a:t>có</a:t>
            </a:r>
            <a:r>
              <a:rPr lang="en-US" dirty="0"/>
              <a:t> </a:t>
            </a:r>
            <a:r>
              <a:rPr lang="en-US" dirty="0" err="1"/>
              <a:t>lỗi</a:t>
            </a:r>
            <a:r>
              <a:rPr lang="en-US" dirty="0"/>
              <a:t>: </a:t>
            </a:r>
            <a:r>
              <a:rPr lang="en-US" dirty="0" err="1"/>
              <a:t>cộng</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từ</a:t>
            </a:r>
            <a:r>
              <a:rPr lang="en-US" dirty="0"/>
              <a:t> 16 bit </a:t>
            </a:r>
            <a:r>
              <a:rPr lang="en-US" dirty="0" err="1"/>
              <a:t>kể</a:t>
            </a:r>
            <a:r>
              <a:rPr lang="en-US" dirty="0"/>
              <a:t> </a:t>
            </a:r>
            <a:r>
              <a:rPr lang="en-US" dirty="0" err="1"/>
              <a:t>cả</a:t>
            </a:r>
            <a:r>
              <a:rPr lang="en-US" dirty="0"/>
              <a:t> checksum </a:t>
            </a:r>
            <a:r>
              <a:rPr lang="en-US" dirty="0" err="1"/>
              <a:t>thì</a:t>
            </a:r>
            <a:r>
              <a:rPr lang="en-US" dirty="0"/>
              <a:t> </a:t>
            </a:r>
            <a:r>
              <a:rPr lang="en-US" dirty="0" err="1"/>
              <a:t>thu</a:t>
            </a:r>
            <a:r>
              <a:rPr lang="en-US" dirty="0"/>
              <a:t> </a:t>
            </a:r>
            <a:r>
              <a:rPr lang="en-US" dirty="0" err="1"/>
              <a:t>được</a:t>
            </a:r>
            <a:r>
              <a:rPr lang="en-US" dirty="0"/>
              <a:t> </a:t>
            </a:r>
            <a:r>
              <a:rPr lang="en-US" dirty="0" err="1"/>
              <a:t>tổng</a:t>
            </a:r>
            <a:r>
              <a:rPr lang="en-US" dirty="0"/>
              <a:t> </a:t>
            </a:r>
            <a:r>
              <a:rPr lang="en-US" dirty="0" err="1"/>
              <a:t>có</a:t>
            </a:r>
            <a:r>
              <a:rPr lang="en-US" dirty="0"/>
              <a:t> </a:t>
            </a:r>
            <a:r>
              <a:rPr lang="en-US" dirty="0" err="1"/>
              <a:t>một</a:t>
            </a:r>
            <a:r>
              <a:rPr lang="en-US" dirty="0"/>
              <a:t> bit </a:t>
            </a:r>
            <a:r>
              <a:rPr lang="en-US" dirty="0" err="1"/>
              <a:t>nào</a:t>
            </a:r>
            <a:r>
              <a:rPr lang="en-US" dirty="0"/>
              <a:t> </a:t>
            </a:r>
            <a:r>
              <a:rPr lang="en-US" dirty="0" err="1"/>
              <a:t>đó</a:t>
            </a:r>
            <a:r>
              <a:rPr lang="en-US" dirty="0"/>
              <a:t> </a:t>
            </a:r>
            <a:r>
              <a:rPr lang="en-US" dirty="0" err="1"/>
              <a:t>bằng</a:t>
            </a:r>
            <a:r>
              <a:rPr lang="en-US" dirty="0"/>
              <a:t> 0</a:t>
            </a:r>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pPr marL="342900" indent="-342900">
              <a:buClr>
                <a:srgbClr val="0070C0"/>
              </a:buClr>
              <a:buFont typeface="Wingdings" panose="05000000000000000000" pitchFamily="2" charset="2"/>
              <a:buChar char="q"/>
            </a:pPr>
            <a:endParaRPr lang="en-US" dirty="0"/>
          </a:p>
          <a:p>
            <a:endParaRPr lang="en-US" dirty="0"/>
          </a:p>
        </p:txBody>
      </p:sp>
      <p:sp>
        <p:nvSpPr>
          <p:cNvPr id="4" name="Slide Number Placeholder 3"/>
          <p:cNvSpPr>
            <a:spLocks noGrp="1"/>
          </p:cNvSpPr>
          <p:nvPr>
            <p:ph type="sldNum" sz="quarter" idx="7"/>
          </p:nvPr>
        </p:nvSpPr>
        <p:spPr/>
        <p:txBody>
          <a:bodyPr/>
          <a:lstStyle/>
          <a:p>
            <a:pPr marL="12700">
              <a:lnSpc>
                <a:spcPts val="1645"/>
              </a:lnSpc>
            </a:pPr>
            <a:fld id="{81D60167-4931-47E6-BA6A-407CBD079E47}" type="slidenum">
              <a:rPr lang="en-US" spc="-5" smtClean="0"/>
              <a:t>19</a:t>
            </a:fld>
            <a:endParaRPr lang="en-US" spc="-5" dirty="0"/>
          </a:p>
        </p:txBody>
      </p:sp>
      <p:pic>
        <p:nvPicPr>
          <p:cNvPr id="6" name="Picture 5"/>
          <p:cNvPicPr>
            <a:picLocks noChangeAspect="1"/>
          </p:cNvPicPr>
          <p:nvPr/>
        </p:nvPicPr>
        <p:blipFill>
          <a:blip r:embed="rId3"/>
          <a:stretch>
            <a:fillRect/>
          </a:stretch>
        </p:blipFill>
        <p:spPr>
          <a:xfrm>
            <a:off x="1319210" y="2178302"/>
            <a:ext cx="7419975" cy="1295400"/>
          </a:xfrm>
          <a:prstGeom prst="rect">
            <a:avLst/>
          </a:prstGeom>
        </p:spPr>
      </p:pic>
      <p:pic>
        <p:nvPicPr>
          <p:cNvPr id="5" name="Picture 4"/>
          <p:cNvPicPr>
            <a:picLocks noChangeAspect="1"/>
          </p:cNvPicPr>
          <p:nvPr/>
        </p:nvPicPr>
        <p:blipFill>
          <a:blip r:embed="rId4"/>
          <a:stretch>
            <a:fillRect/>
          </a:stretch>
        </p:blipFill>
        <p:spPr>
          <a:xfrm>
            <a:off x="1290777" y="4752942"/>
            <a:ext cx="6934200" cy="2558481"/>
          </a:xfrm>
          <a:prstGeom prst="rect">
            <a:avLst/>
          </a:prstGeom>
        </p:spPr>
      </p:pic>
    </p:spTree>
    <p:extLst>
      <p:ext uri="{BB962C8B-B14F-4D97-AF65-F5344CB8AC3E}">
        <p14:creationId xmlns:p14="http://schemas.microsoft.com/office/powerpoint/2010/main" val="3091986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17D61-3465-6A96-5912-5844BBB5AD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41F6B4-F30C-546B-4FBA-264D7B52032F}"/>
              </a:ext>
            </a:extLst>
          </p:cNvPr>
          <p:cNvSpPr>
            <a:spLocks noGrp="1"/>
          </p:cNvSpPr>
          <p:nvPr>
            <p:ph idx="1"/>
          </p:nvPr>
        </p:nvSpPr>
        <p:spPr>
          <a:xfrm>
            <a:off x="758931" y="1371600"/>
            <a:ext cx="8774957" cy="6401753"/>
          </a:xfrm>
        </p:spPr>
        <p:txBody>
          <a:bodyPr/>
          <a:lstStyle/>
          <a:p>
            <a:pPr marL="424339" indent="-424339">
              <a:buFont typeface="+mj-lt"/>
              <a:buAutoNum type="arabicPeriod"/>
            </a:pPr>
            <a:r>
              <a:rPr lang="en-US" sz="3200" dirty="0" err="1"/>
              <a:t>Giả</a:t>
            </a:r>
            <a:r>
              <a:rPr lang="en-US" sz="3200" dirty="0"/>
              <a:t> </a:t>
            </a:r>
            <a:r>
              <a:rPr lang="en-US" sz="3200" dirty="0" err="1"/>
              <a:t>sử</a:t>
            </a:r>
            <a:r>
              <a:rPr lang="en-US" sz="3200" dirty="0"/>
              <a:t> </a:t>
            </a:r>
            <a:r>
              <a:rPr lang="en-US" sz="3200" dirty="0" err="1"/>
              <a:t>có</a:t>
            </a:r>
            <a:r>
              <a:rPr lang="en-US" sz="3200" dirty="0"/>
              <a:t> </a:t>
            </a:r>
            <a:r>
              <a:rPr lang="en-US" sz="3200" dirty="0" err="1"/>
              <a:t>các</a:t>
            </a:r>
            <a:r>
              <a:rPr lang="en-US" sz="3200" dirty="0"/>
              <a:t> byte </a:t>
            </a:r>
            <a:r>
              <a:rPr lang="en-US" sz="3200" dirty="0" err="1"/>
              <a:t>sau</a:t>
            </a:r>
            <a:r>
              <a:rPr lang="en-US" sz="3200" dirty="0"/>
              <a:t>: 871C23B5</a:t>
            </a:r>
            <a:r>
              <a:rPr lang="en-US" sz="3200" baseline="-25000" dirty="0"/>
              <a:t>H</a:t>
            </a:r>
            <a:r>
              <a:rPr lang="en-US" sz="3200" dirty="0"/>
              <a:t>. </a:t>
            </a:r>
            <a:r>
              <a:rPr lang="en-US" sz="3200" dirty="0" err="1"/>
              <a:t>Tính</a:t>
            </a:r>
            <a:r>
              <a:rPr lang="en-US" sz="3200" dirty="0"/>
              <a:t> Internet Checksum </a:t>
            </a:r>
            <a:r>
              <a:rPr lang="en-US" sz="3200" dirty="0" err="1"/>
              <a:t>của</a:t>
            </a:r>
            <a:r>
              <a:rPr lang="en-US" sz="3200" dirty="0"/>
              <a:t> </a:t>
            </a:r>
            <a:r>
              <a:rPr lang="en-US" sz="3200" dirty="0" err="1"/>
              <a:t>các</a:t>
            </a:r>
            <a:r>
              <a:rPr lang="en-US" sz="3200" dirty="0"/>
              <a:t> byte </a:t>
            </a:r>
            <a:r>
              <a:rPr lang="en-US" sz="3200" dirty="0" err="1"/>
              <a:t>này</a:t>
            </a:r>
            <a:r>
              <a:rPr lang="en-US" sz="3200" dirty="0"/>
              <a:t>.</a:t>
            </a:r>
          </a:p>
          <a:p>
            <a:pPr marL="424339" indent="-424339">
              <a:buFont typeface="+mj-lt"/>
              <a:buAutoNum type="arabicPeriod"/>
            </a:pPr>
            <a:r>
              <a:rPr lang="en-US" sz="3200" dirty="0"/>
              <a:t>Cho </a:t>
            </a:r>
            <a:r>
              <a:rPr lang="en-US" sz="3200" dirty="0" err="1"/>
              <a:t>hai</a:t>
            </a:r>
            <a:r>
              <a:rPr lang="en-US" sz="3200" dirty="0"/>
              <a:t> </a:t>
            </a:r>
            <a:r>
              <a:rPr lang="en-US" sz="3200" dirty="0" err="1"/>
              <a:t>số</a:t>
            </a:r>
            <a:r>
              <a:rPr lang="en-US" sz="3200" dirty="0"/>
              <a:t> AFDC</a:t>
            </a:r>
            <a:r>
              <a:rPr lang="en-US" sz="3200" baseline="-25000" dirty="0"/>
              <a:t>H</a:t>
            </a:r>
            <a:r>
              <a:rPr lang="en-US" sz="3200" dirty="0"/>
              <a:t> </a:t>
            </a:r>
            <a:r>
              <a:rPr lang="en-US" sz="3200" dirty="0" err="1"/>
              <a:t>và</a:t>
            </a:r>
            <a:r>
              <a:rPr lang="en-US" sz="3200" dirty="0"/>
              <a:t> 2F7A</a:t>
            </a:r>
            <a:r>
              <a:rPr lang="en-US" sz="3200" baseline="-25000" dirty="0"/>
              <a:t>H</a:t>
            </a:r>
            <a:r>
              <a:rPr lang="en-US" sz="3200" dirty="0"/>
              <a:t>. </a:t>
            </a:r>
            <a:r>
              <a:rPr lang="en-US" sz="3200" dirty="0" err="1"/>
              <a:t>Tính</a:t>
            </a:r>
            <a:r>
              <a:rPr lang="en-US" sz="3200" dirty="0"/>
              <a:t> Internet checksum </a:t>
            </a:r>
            <a:r>
              <a:rPr lang="en-US" sz="3200" dirty="0" err="1"/>
              <a:t>của</a:t>
            </a:r>
            <a:r>
              <a:rPr lang="en-US" sz="3200" dirty="0"/>
              <a:t> </a:t>
            </a:r>
            <a:r>
              <a:rPr lang="en-US" sz="3200" dirty="0" err="1"/>
              <a:t>hai</a:t>
            </a:r>
            <a:r>
              <a:rPr lang="en-US" sz="3200" dirty="0"/>
              <a:t> </a:t>
            </a:r>
            <a:r>
              <a:rPr lang="en-US" sz="3200" dirty="0" err="1"/>
              <a:t>số</a:t>
            </a:r>
            <a:r>
              <a:rPr lang="en-US" sz="3200" dirty="0"/>
              <a:t> </a:t>
            </a:r>
            <a:r>
              <a:rPr lang="en-US" sz="3200" dirty="0" err="1"/>
              <a:t>này</a:t>
            </a:r>
            <a:r>
              <a:rPr lang="en-US" sz="3200" dirty="0"/>
              <a:t>.</a:t>
            </a:r>
          </a:p>
          <a:p>
            <a:pPr marL="424339" indent="-424339">
              <a:buFont typeface="+mj-lt"/>
              <a:buAutoNum type="arabicPeriod"/>
            </a:pPr>
            <a:r>
              <a:rPr lang="en-US" sz="3200" dirty="0" err="1"/>
              <a:t>Dữ</a:t>
            </a:r>
            <a:r>
              <a:rPr lang="en-US" sz="3200" dirty="0"/>
              <a:t> </a:t>
            </a:r>
            <a:r>
              <a:rPr lang="en-US" sz="3200" dirty="0" err="1"/>
              <a:t>liệu</a:t>
            </a:r>
            <a:r>
              <a:rPr lang="en-US" sz="3200" dirty="0"/>
              <a:t> </a:t>
            </a:r>
            <a:r>
              <a:rPr lang="en-US" sz="3200" dirty="0" err="1"/>
              <a:t>nhận</a:t>
            </a:r>
            <a:r>
              <a:rPr lang="en-US" sz="3200" dirty="0"/>
              <a:t> </a:t>
            </a:r>
            <a:r>
              <a:rPr lang="en-US" sz="3200" dirty="0" err="1"/>
              <a:t>được</a:t>
            </a:r>
            <a:r>
              <a:rPr lang="en-US" sz="3200" dirty="0"/>
              <a:t> ở </a:t>
            </a:r>
            <a:r>
              <a:rPr lang="en-US" sz="3200" dirty="0" err="1"/>
              <a:t>máy</a:t>
            </a:r>
            <a:r>
              <a:rPr lang="en-US" sz="3200" dirty="0"/>
              <a:t> </a:t>
            </a:r>
            <a:r>
              <a:rPr lang="en-US" sz="3200" dirty="0" err="1"/>
              <a:t>thu</a:t>
            </a:r>
            <a:r>
              <a:rPr lang="en-US" sz="3200" dirty="0"/>
              <a:t> (</a:t>
            </a:r>
            <a:r>
              <a:rPr lang="en-US" sz="3200" dirty="0" err="1"/>
              <a:t>bao</a:t>
            </a:r>
            <a:r>
              <a:rPr lang="en-US" sz="3200" dirty="0"/>
              <a:t> </a:t>
            </a:r>
            <a:r>
              <a:rPr lang="en-US" sz="3200" dirty="0" err="1"/>
              <a:t>gồm</a:t>
            </a:r>
            <a:r>
              <a:rPr lang="en-US" sz="3200" dirty="0"/>
              <a:t> </a:t>
            </a:r>
            <a:r>
              <a:rPr lang="en-US" sz="3200" dirty="0" err="1"/>
              <a:t>cả</a:t>
            </a:r>
            <a:r>
              <a:rPr lang="en-US" sz="3200" dirty="0"/>
              <a:t> </a:t>
            </a:r>
            <a:r>
              <a:rPr lang="en-US" sz="3200" dirty="0" err="1"/>
              <a:t>từ</a:t>
            </a:r>
            <a:r>
              <a:rPr lang="en-US" sz="3200" dirty="0"/>
              <a:t> checksum) </a:t>
            </a:r>
            <a:r>
              <a:rPr lang="en-US" sz="3200" dirty="0" err="1"/>
              <a:t>như</a:t>
            </a:r>
            <a:r>
              <a:rPr lang="en-US" sz="3200" dirty="0"/>
              <a:t> </a:t>
            </a:r>
            <a:r>
              <a:rPr lang="en-US" sz="3200" dirty="0" err="1"/>
              <a:t>sau</a:t>
            </a:r>
            <a:r>
              <a:rPr lang="en-US" sz="3200" dirty="0"/>
              <a:t>: 6B17A2683280. </a:t>
            </a:r>
            <a:r>
              <a:rPr lang="en-US" sz="3200" dirty="0" err="1"/>
              <a:t>Xác</a:t>
            </a:r>
            <a:r>
              <a:rPr lang="en-US" sz="3200" dirty="0"/>
              <a:t> </a:t>
            </a:r>
            <a:r>
              <a:rPr lang="en-US" sz="3200" dirty="0" err="1"/>
              <a:t>định</a:t>
            </a:r>
            <a:r>
              <a:rPr lang="en-US" sz="3200" dirty="0"/>
              <a:t> </a:t>
            </a:r>
            <a:r>
              <a:rPr lang="en-US" sz="3200" dirty="0" err="1"/>
              <a:t>lỗi</a:t>
            </a:r>
            <a:r>
              <a:rPr lang="en-US" sz="3200" dirty="0"/>
              <a:t> </a:t>
            </a:r>
            <a:r>
              <a:rPr lang="en-US" sz="3200" dirty="0" err="1"/>
              <a:t>của</a:t>
            </a:r>
            <a:r>
              <a:rPr lang="en-US" sz="3200" dirty="0"/>
              <a:t> </a:t>
            </a:r>
            <a:r>
              <a:rPr lang="en-US" sz="3200" dirty="0" err="1"/>
              <a:t>dữ</a:t>
            </a:r>
            <a:r>
              <a:rPr lang="en-US" sz="3200" dirty="0"/>
              <a:t> </a:t>
            </a:r>
            <a:r>
              <a:rPr lang="en-US" sz="3200" dirty="0" err="1"/>
              <a:t>liệu</a:t>
            </a:r>
            <a:r>
              <a:rPr lang="en-US" sz="3200" dirty="0"/>
              <a:t> </a:t>
            </a:r>
            <a:r>
              <a:rPr lang="en-US" sz="3200" dirty="0" err="1"/>
              <a:t>nhận</a:t>
            </a:r>
            <a:r>
              <a:rPr lang="en-US" sz="3200" dirty="0"/>
              <a:t> </a:t>
            </a:r>
            <a:r>
              <a:rPr lang="en-US" sz="3200" dirty="0" err="1"/>
              <a:t>được</a:t>
            </a:r>
            <a:r>
              <a:rPr lang="en-US" sz="3200" dirty="0"/>
              <a:t>.</a:t>
            </a:r>
          </a:p>
          <a:p>
            <a:pPr marL="424339" indent="-424339">
              <a:buFont typeface="+mj-lt"/>
              <a:buAutoNum type="arabicPeriod"/>
            </a:pPr>
            <a:r>
              <a:rPr lang="en-US" sz="3200" dirty="0" err="1"/>
              <a:t>Gói</a:t>
            </a:r>
            <a:r>
              <a:rPr lang="en-US" sz="3200" dirty="0"/>
              <a:t> </a:t>
            </a:r>
            <a:r>
              <a:rPr lang="en-US" sz="3200" dirty="0" err="1"/>
              <a:t>dữ</a:t>
            </a:r>
            <a:r>
              <a:rPr lang="en-US" sz="3200" dirty="0"/>
              <a:t> </a:t>
            </a:r>
            <a:r>
              <a:rPr lang="en-US" sz="3200" dirty="0" err="1"/>
              <a:t>liệu</a:t>
            </a:r>
            <a:r>
              <a:rPr lang="en-US" sz="3200" dirty="0"/>
              <a:t> </a:t>
            </a:r>
            <a:r>
              <a:rPr lang="en-US" sz="3200" dirty="0" err="1"/>
              <a:t>nhận</a:t>
            </a:r>
            <a:r>
              <a:rPr lang="en-US" sz="3200" dirty="0"/>
              <a:t> </a:t>
            </a:r>
            <a:r>
              <a:rPr lang="en-US" sz="3200" dirty="0" err="1"/>
              <a:t>được</a:t>
            </a:r>
            <a:r>
              <a:rPr lang="en-US" sz="3200" dirty="0"/>
              <a:t> ở </a:t>
            </a:r>
            <a:r>
              <a:rPr lang="en-US" sz="3200" dirty="0" err="1"/>
              <a:t>tầng</a:t>
            </a:r>
            <a:r>
              <a:rPr lang="en-US" sz="3200" dirty="0"/>
              <a:t> </a:t>
            </a:r>
            <a:r>
              <a:rPr lang="en-US" sz="3200" dirty="0" err="1"/>
              <a:t>giao</a:t>
            </a:r>
            <a:r>
              <a:rPr lang="en-US" sz="3200" dirty="0"/>
              <a:t> </a:t>
            </a:r>
            <a:r>
              <a:rPr lang="en-US" sz="3200" dirty="0" err="1"/>
              <a:t>vận</a:t>
            </a:r>
            <a:r>
              <a:rPr lang="en-US" sz="3200" dirty="0"/>
              <a:t> </a:t>
            </a:r>
            <a:r>
              <a:rPr lang="en-US" sz="3200" dirty="0" err="1"/>
              <a:t>phía</a:t>
            </a:r>
            <a:r>
              <a:rPr lang="en-US" sz="3200" dirty="0"/>
              <a:t> </a:t>
            </a:r>
            <a:r>
              <a:rPr lang="en-US" sz="3200" dirty="0" err="1"/>
              <a:t>bên</a:t>
            </a:r>
            <a:r>
              <a:rPr lang="en-US" sz="3200" dirty="0"/>
              <a:t> </a:t>
            </a:r>
            <a:r>
              <a:rPr lang="en-US" sz="3200" dirty="0" err="1"/>
              <a:t>nhận</a:t>
            </a:r>
            <a:r>
              <a:rPr lang="en-US" sz="3200" dirty="0"/>
              <a:t> </a:t>
            </a:r>
            <a:r>
              <a:rPr lang="en-US" sz="3200" dirty="0" err="1"/>
              <a:t>gồm</a:t>
            </a:r>
            <a:r>
              <a:rPr lang="en-US" sz="3200" dirty="0"/>
              <a:t> </a:t>
            </a:r>
            <a:r>
              <a:rPr lang="en-US" sz="3200" dirty="0" err="1"/>
              <a:t>cả</a:t>
            </a:r>
            <a:r>
              <a:rPr lang="en-US" sz="3200" dirty="0"/>
              <a:t> </a:t>
            </a:r>
            <a:r>
              <a:rPr lang="en-US" sz="3200" dirty="0" err="1"/>
              <a:t>dữ</a:t>
            </a:r>
            <a:r>
              <a:rPr lang="en-US" sz="3200" dirty="0"/>
              <a:t> </a:t>
            </a:r>
            <a:r>
              <a:rPr lang="en-US" sz="3200" dirty="0" err="1"/>
              <a:t>liệu</a:t>
            </a:r>
            <a:r>
              <a:rPr lang="en-US" sz="3200" dirty="0"/>
              <a:t> </a:t>
            </a:r>
            <a:r>
              <a:rPr lang="en-US" sz="3200" dirty="0" err="1"/>
              <a:t>và</a:t>
            </a:r>
            <a:r>
              <a:rPr lang="en-US" sz="3200" dirty="0"/>
              <a:t> checksum </a:t>
            </a:r>
            <a:r>
              <a:rPr lang="en-US" sz="3200" dirty="0" err="1"/>
              <a:t>như</a:t>
            </a:r>
            <a:r>
              <a:rPr lang="en-US" sz="3200" dirty="0"/>
              <a:t> </a:t>
            </a:r>
            <a:r>
              <a:rPr lang="en-US" sz="3200" dirty="0" err="1"/>
              <a:t>sau</a:t>
            </a:r>
            <a:r>
              <a:rPr lang="en-US" sz="3200" dirty="0"/>
              <a:t>: 1100 1101 0110 11101101 1100 1010 1001 0101 0101 1110 0111. </a:t>
            </a:r>
            <a:r>
              <a:rPr lang="en-US" sz="3200" dirty="0" err="1"/>
              <a:t>Xác</a:t>
            </a:r>
            <a:r>
              <a:rPr lang="en-US" sz="3200" dirty="0"/>
              <a:t> </a:t>
            </a:r>
            <a:r>
              <a:rPr lang="en-US" sz="3200" dirty="0" err="1"/>
              <a:t>định</a:t>
            </a:r>
            <a:r>
              <a:rPr lang="en-US" sz="3200" dirty="0"/>
              <a:t> </a:t>
            </a:r>
            <a:r>
              <a:rPr lang="en-US" sz="3200" dirty="0" err="1"/>
              <a:t>lỗi</a:t>
            </a:r>
            <a:r>
              <a:rPr lang="en-US" sz="3200" dirty="0"/>
              <a:t> </a:t>
            </a:r>
            <a:r>
              <a:rPr lang="en-US" sz="3200" dirty="0" err="1"/>
              <a:t>của</a:t>
            </a:r>
            <a:r>
              <a:rPr lang="en-US" sz="3200" dirty="0"/>
              <a:t> </a:t>
            </a:r>
            <a:r>
              <a:rPr lang="en-US" sz="3200" dirty="0" err="1"/>
              <a:t>dữ</a:t>
            </a:r>
            <a:r>
              <a:rPr lang="en-US" sz="3200" dirty="0"/>
              <a:t> </a:t>
            </a:r>
            <a:r>
              <a:rPr lang="en-US" sz="3200" dirty="0" err="1"/>
              <a:t>liệu</a:t>
            </a:r>
            <a:r>
              <a:rPr lang="en-US" sz="3200" dirty="0"/>
              <a:t> </a:t>
            </a:r>
            <a:r>
              <a:rPr lang="en-US" sz="3200" dirty="0" err="1"/>
              <a:t>nhận</a:t>
            </a:r>
            <a:r>
              <a:rPr lang="en-US" sz="3200" dirty="0"/>
              <a:t> </a:t>
            </a:r>
            <a:r>
              <a:rPr lang="en-US" sz="3200" dirty="0" err="1"/>
              <a:t>được</a:t>
            </a:r>
            <a:r>
              <a:rPr lang="en-US" sz="3200" dirty="0"/>
              <a:t>. </a:t>
            </a:r>
          </a:p>
          <a:p>
            <a:pPr marL="424339" indent="-424339">
              <a:buFont typeface="+mj-lt"/>
              <a:buAutoNum type="arabicPeriod"/>
            </a:pPr>
            <a:endParaRPr lang="en-US" sz="3200" dirty="0"/>
          </a:p>
        </p:txBody>
      </p:sp>
      <p:sp>
        <p:nvSpPr>
          <p:cNvPr id="3" name="Title 2">
            <a:extLst>
              <a:ext uri="{FF2B5EF4-FFF2-40B4-BE49-F238E27FC236}">
                <a16:creationId xmlns:a16="http://schemas.microsoft.com/office/drawing/2014/main" id="{A15E7C6B-8FA3-3CCA-B717-E707F6FBD795}"/>
              </a:ext>
            </a:extLst>
          </p:cNvPr>
          <p:cNvSpPr>
            <a:spLocks noGrp="1"/>
          </p:cNvSpPr>
          <p:nvPr>
            <p:ph type="title"/>
          </p:nvPr>
        </p:nvSpPr>
        <p:spPr>
          <a:xfrm>
            <a:off x="780541" y="550418"/>
            <a:ext cx="8497316" cy="553998"/>
          </a:xfrm>
        </p:spPr>
        <p:txBody>
          <a:bodyPr/>
          <a:lstStyle/>
          <a:p>
            <a:r>
              <a:rPr lang="en-US" dirty="0" err="1"/>
              <a:t>Bài</a:t>
            </a:r>
            <a:r>
              <a:rPr lang="en-US" dirty="0"/>
              <a:t> </a:t>
            </a:r>
            <a:r>
              <a:rPr lang="en-US" dirty="0" err="1"/>
              <a:t>tập</a:t>
            </a:r>
            <a:r>
              <a:rPr lang="en-US" dirty="0"/>
              <a:t> </a:t>
            </a:r>
            <a:r>
              <a:rPr lang="en-US" dirty="0" err="1"/>
              <a:t>áp</a:t>
            </a:r>
            <a:r>
              <a:rPr lang="en-US" dirty="0"/>
              <a:t> </a:t>
            </a:r>
            <a:r>
              <a:rPr lang="en-US" dirty="0" err="1"/>
              <a:t>dụng</a:t>
            </a:r>
            <a:endParaRPr lang="en-US" dirty="0"/>
          </a:p>
        </p:txBody>
      </p:sp>
      <p:sp>
        <p:nvSpPr>
          <p:cNvPr id="4" name="Slide Number Placeholder 3">
            <a:extLst>
              <a:ext uri="{FF2B5EF4-FFF2-40B4-BE49-F238E27FC236}">
                <a16:creationId xmlns:a16="http://schemas.microsoft.com/office/drawing/2014/main" id="{5E983323-BFCD-7B4E-61ED-476A50B8432C}"/>
              </a:ext>
            </a:extLst>
          </p:cNvPr>
          <p:cNvSpPr>
            <a:spLocks noGrp="1"/>
          </p:cNvSpPr>
          <p:nvPr>
            <p:ph type="sldNum" sz="quarter" idx="4294967295"/>
          </p:nvPr>
        </p:nvSpPr>
        <p:spPr/>
        <p:txBody>
          <a:bodyPr/>
          <a:lstStyle/>
          <a:p>
            <a:fld id="{074D0A86-005F-4F28-AD1F-4CB63EDD1482}" type="slidenum">
              <a:rPr lang="en-US" smtClean="0"/>
              <a:pPr/>
              <a:t>20</a:t>
            </a:fld>
            <a:endParaRPr lang="en-US" dirty="0"/>
          </a:p>
        </p:txBody>
      </p:sp>
    </p:spTree>
    <p:extLst>
      <p:ext uri="{BB962C8B-B14F-4D97-AF65-F5344CB8AC3E}">
        <p14:creationId xmlns:p14="http://schemas.microsoft.com/office/powerpoint/2010/main" val="94440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463" y="903223"/>
            <a:ext cx="6777737" cy="566822"/>
          </a:xfrm>
          <a:prstGeom prst="rect">
            <a:avLst/>
          </a:prstGeom>
        </p:spPr>
        <p:txBody>
          <a:bodyPr vert="horz" wrap="square" lIns="0" tIns="12700" rIns="0" bIns="0" rtlCol="0">
            <a:spAutoFit/>
          </a:bodyPr>
          <a:lstStyle/>
          <a:p>
            <a:pPr marL="12700">
              <a:lnSpc>
                <a:spcPct val="100000"/>
              </a:lnSpc>
              <a:spcBef>
                <a:spcPts val="100"/>
              </a:spcBef>
            </a:pPr>
            <a:r>
              <a:rPr lang="en-US" dirty="0" err="1"/>
              <a:t>Cấu</a:t>
            </a:r>
            <a:r>
              <a:rPr lang="en-US" dirty="0"/>
              <a:t> </a:t>
            </a:r>
            <a:r>
              <a:rPr lang="en-US" dirty="0" err="1"/>
              <a:t>trúc</a:t>
            </a:r>
            <a:r>
              <a:rPr lang="en-US" dirty="0"/>
              <a:t> </a:t>
            </a:r>
            <a:r>
              <a:rPr dirty="0"/>
              <a:t>UDP</a:t>
            </a:r>
            <a:r>
              <a:rPr lang="en-US" dirty="0"/>
              <a:t> </a:t>
            </a:r>
            <a:r>
              <a:rPr dirty="0"/>
              <a:t>segment</a:t>
            </a:r>
          </a:p>
        </p:txBody>
      </p:sp>
      <p:sp>
        <p:nvSpPr>
          <p:cNvPr id="15" name="object 15"/>
          <p:cNvSpPr txBox="1"/>
          <p:nvPr/>
        </p:nvSpPr>
        <p:spPr>
          <a:xfrm>
            <a:off x="3352800" y="4890997"/>
            <a:ext cx="4541251" cy="843821"/>
          </a:xfrm>
          <a:prstGeom prst="rect">
            <a:avLst/>
          </a:prstGeom>
        </p:spPr>
        <p:txBody>
          <a:bodyPr vert="horz" wrap="square" lIns="0" tIns="12700" rIns="0" bIns="0" rtlCol="0">
            <a:spAutoFit/>
          </a:bodyPr>
          <a:lstStyle/>
          <a:p>
            <a:pPr marL="12700" marR="1275080" indent="514984" algn="r">
              <a:lnSpc>
                <a:spcPct val="100000"/>
              </a:lnSpc>
              <a:spcBef>
                <a:spcPts val="100"/>
              </a:spcBef>
            </a:pPr>
            <a:r>
              <a:rPr lang="en-US" sz="1800" dirty="0">
                <a:latin typeface="Tahoma"/>
                <a:cs typeface="Tahoma"/>
              </a:rPr>
              <a:t>L</a:t>
            </a:r>
            <a:r>
              <a:rPr sz="1800" dirty="0">
                <a:latin typeface="Tahoma"/>
                <a:cs typeface="Tahoma"/>
              </a:rPr>
              <a:t>ength</a:t>
            </a:r>
            <a:r>
              <a:rPr lang="en-US" sz="1800" dirty="0">
                <a:latin typeface="Tahoma"/>
                <a:cs typeface="Tahoma"/>
              </a:rPr>
              <a:t>: </a:t>
            </a:r>
            <a:r>
              <a:rPr lang="en-US" sz="1800" dirty="0" err="1">
                <a:latin typeface="Tahoma"/>
                <a:cs typeface="Tahoma"/>
              </a:rPr>
              <a:t>độ</a:t>
            </a:r>
            <a:r>
              <a:rPr lang="en-US" sz="1800" dirty="0">
                <a:latin typeface="Tahoma"/>
                <a:cs typeface="Tahoma"/>
              </a:rPr>
              <a:t> </a:t>
            </a:r>
            <a:r>
              <a:rPr lang="en-US" sz="1800" dirty="0" err="1">
                <a:latin typeface="Tahoma"/>
                <a:cs typeface="Tahoma"/>
              </a:rPr>
              <a:t>dài</a:t>
            </a:r>
            <a:r>
              <a:rPr lang="en-US" sz="1800" dirty="0">
                <a:latin typeface="Tahoma"/>
                <a:cs typeface="Tahoma"/>
              </a:rPr>
              <a:t> </a:t>
            </a:r>
            <a:r>
              <a:rPr lang="en-US" sz="1800" dirty="0" err="1">
                <a:latin typeface="Tahoma"/>
                <a:cs typeface="Tahoma"/>
              </a:rPr>
              <a:t>toàn</a:t>
            </a:r>
            <a:r>
              <a:rPr lang="en-US" sz="1800" dirty="0">
                <a:latin typeface="Tahoma"/>
                <a:cs typeface="Tahoma"/>
              </a:rPr>
              <a:t> </a:t>
            </a:r>
            <a:r>
              <a:rPr lang="en-US" sz="1800" dirty="0" err="1">
                <a:latin typeface="Tahoma"/>
                <a:cs typeface="Tahoma"/>
              </a:rPr>
              <a:t>bộ</a:t>
            </a:r>
            <a:r>
              <a:rPr lang="en-US" sz="1800" dirty="0">
                <a:latin typeface="Tahoma"/>
                <a:cs typeface="Tahoma"/>
              </a:rPr>
              <a:t> </a:t>
            </a:r>
            <a:r>
              <a:rPr lang="en-US" sz="1800" dirty="0" err="1">
                <a:latin typeface="Tahoma"/>
                <a:cs typeface="Tahoma"/>
              </a:rPr>
              <a:t>gói</a:t>
            </a:r>
            <a:r>
              <a:rPr lang="en-US" sz="1800" dirty="0">
                <a:latin typeface="Tahoma"/>
                <a:cs typeface="Tahoma"/>
              </a:rPr>
              <a:t> UDP segment (</a:t>
            </a:r>
            <a:r>
              <a:rPr lang="en-US" sz="1800" dirty="0" err="1">
                <a:latin typeface="Tahoma"/>
                <a:cs typeface="Tahoma"/>
              </a:rPr>
              <a:t>bao</a:t>
            </a:r>
            <a:r>
              <a:rPr lang="en-US" sz="1800" dirty="0">
                <a:latin typeface="Tahoma"/>
                <a:cs typeface="Tahoma"/>
              </a:rPr>
              <a:t> </a:t>
            </a:r>
            <a:r>
              <a:rPr lang="en-US" sz="1800" dirty="0" err="1">
                <a:latin typeface="Tahoma"/>
                <a:cs typeface="Tahoma"/>
              </a:rPr>
              <a:t>gồm</a:t>
            </a:r>
            <a:r>
              <a:rPr lang="en-US" sz="1800" dirty="0">
                <a:latin typeface="Tahoma"/>
                <a:cs typeface="Tahoma"/>
              </a:rPr>
              <a:t> </a:t>
            </a:r>
            <a:r>
              <a:rPr lang="en-US" sz="1800" dirty="0" err="1">
                <a:latin typeface="Tahoma"/>
                <a:cs typeface="Tahoma"/>
              </a:rPr>
              <a:t>cả</a:t>
            </a:r>
            <a:r>
              <a:rPr lang="en-US" sz="1800" dirty="0">
                <a:latin typeface="Tahoma"/>
                <a:cs typeface="Tahoma"/>
              </a:rPr>
              <a:t> header), </a:t>
            </a:r>
            <a:r>
              <a:rPr lang="en-US" sz="1800" dirty="0" err="1">
                <a:latin typeface="Tahoma"/>
                <a:cs typeface="Tahoma"/>
              </a:rPr>
              <a:t>tính</a:t>
            </a:r>
            <a:r>
              <a:rPr lang="en-US" sz="1800" dirty="0">
                <a:latin typeface="Tahoma"/>
                <a:cs typeface="Tahoma"/>
              </a:rPr>
              <a:t> </a:t>
            </a:r>
            <a:r>
              <a:rPr sz="1800" dirty="0" err="1">
                <a:latin typeface="Tahoma"/>
                <a:cs typeface="Tahoma"/>
              </a:rPr>
              <a:t>theo</a:t>
            </a:r>
            <a:r>
              <a:rPr sz="1800" dirty="0">
                <a:latin typeface="Tahoma"/>
                <a:cs typeface="Tahoma"/>
              </a:rPr>
              <a:t>  bytes</a:t>
            </a:r>
            <a:endParaRPr sz="2800" dirty="0">
              <a:latin typeface="Arial"/>
              <a:cs typeface="Arial"/>
            </a:endParaRPr>
          </a:p>
        </p:txBody>
      </p:sp>
      <p:sp>
        <p:nvSpPr>
          <p:cNvPr id="17" name="Slide Number Placeholder 16"/>
          <p:cNvSpPr>
            <a:spLocks noGrp="1"/>
          </p:cNvSpPr>
          <p:nvPr>
            <p:ph type="sldNum" sz="quarter" idx="7"/>
          </p:nvPr>
        </p:nvSpPr>
        <p:spPr>
          <a:xfrm>
            <a:off x="9175115" y="7086600"/>
            <a:ext cx="394970" cy="205184"/>
          </a:xfrm>
        </p:spPr>
        <p:txBody>
          <a:bodyPr/>
          <a:lstStyle/>
          <a:p>
            <a:pPr marL="12700">
              <a:lnSpc>
                <a:spcPts val="1645"/>
              </a:lnSpc>
            </a:pPr>
            <a:fld id="{81D60167-4931-47E6-BA6A-407CBD079E47}" type="slidenum">
              <a:rPr spc="-5" smtClean="0"/>
              <a:t>21</a:t>
            </a:fld>
            <a:endParaRPr spc="-5" dirty="0"/>
          </a:p>
        </p:txBody>
      </p:sp>
      <p:pic>
        <p:nvPicPr>
          <p:cNvPr id="16" name="Picture 15"/>
          <p:cNvPicPr>
            <a:picLocks noChangeAspect="1"/>
          </p:cNvPicPr>
          <p:nvPr/>
        </p:nvPicPr>
        <p:blipFill>
          <a:blip r:embed="rId2"/>
          <a:stretch>
            <a:fillRect/>
          </a:stretch>
        </p:blipFill>
        <p:spPr>
          <a:xfrm>
            <a:off x="1007111" y="1981201"/>
            <a:ext cx="7070090" cy="2398640"/>
          </a:xfrm>
          <a:prstGeom prst="rect">
            <a:avLst/>
          </a:prstGeom>
        </p:spPr>
      </p:pic>
      <p:sp>
        <p:nvSpPr>
          <p:cNvPr id="19" name="object 14"/>
          <p:cNvSpPr/>
          <p:nvPr/>
        </p:nvSpPr>
        <p:spPr>
          <a:xfrm flipV="1">
            <a:off x="2590800" y="3581399"/>
            <a:ext cx="1295400" cy="1309597"/>
          </a:xfrm>
          <a:custGeom>
            <a:avLst/>
            <a:gdLst/>
            <a:ahLst/>
            <a:cxnLst/>
            <a:rect l="l" t="t" r="r" b="b"/>
            <a:pathLst>
              <a:path w="2876550" h="918210">
                <a:moveTo>
                  <a:pt x="69887" y="872568"/>
                </a:moveTo>
                <a:lnTo>
                  <a:pt x="61722" y="845820"/>
                </a:lnTo>
                <a:lnTo>
                  <a:pt x="0" y="904494"/>
                </a:lnTo>
                <a:lnTo>
                  <a:pt x="57912" y="913970"/>
                </a:lnTo>
                <a:lnTo>
                  <a:pt x="57912" y="876300"/>
                </a:lnTo>
                <a:lnTo>
                  <a:pt x="69887" y="872568"/>
                </a:lnTo>
                <a:close/>
              </a:path>
              <a:path w="2876550" h="918210">
                <a:moveTo>
                  <a:pt x="75448" y="890787"/>
                </a:moveTo>
                <a:lnTo>
                  <a:pt x="69887" y="872568"/>
                </a:lnTo>
                <a:lnTo>
                  <a:pt x="57912" y="876300"/>
                </a:lnTo>
                <a:lnTo>
                  <a:pt x="63246" y="894588"/>
                </a:lnTo>
                <a:lnTo>
                  <a:pt x="75448" y="890787"/>
                </a:lnTo>
                <a:close/>
              </a:path>
              <a:path w="2876550" h="918210">
                <a:moveTo>
                  <a:pt x="83820" y="918210"/>
                </a:moveTo>
                <a:lnTo>
                  <a:pt x="75448" y="890787"/>
                </a:lnTo>
                <a:lnTo>
                  <a:pt x="63246" y="894588"/>
                </a:lnTo>
                <a:lnTo>
                  <a:pt x="57912" y="876300"/>
                </a:lnTo>
                <a:lnTo>
                  <a:pt x="57912" y="913970"/>
                </a:lnTo>
                <a:lnTo>
                  <a:pt x="83820" y="918210"/>
                </a:lnTo>
                <a:close/>
              </a:path>
              <a:path w="2876550" h="918210">
                <a:moveTo>
                  <a:pt x="2876550" y="18287"/>
                </a:moveTo>
                <a:lnTo>
                  <a:pt x="2870454" y="0"/>
                </a:lnTo>
                <a:lnTo>
                  <a:pt x="69887" y="872568"/>
                </a:lnTo>
                <a:lnTo>
                  <a:pt x="75448" y="890787"/>
                </a:lnTo>
                <a:lnTo>
                  <a:pt x="2876550" y="18287"/>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828601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Các</a:t>
            </a:r>
            <a:r>
              <a:rPr lang="en-US" spc="-5" dirty="0"/>
              <a:t> </a:t>
            </a:r>
            <a:r>
              <a:rPr lang="en-US" spc="-5" dirty="0" err="1"/>
              <a:t>vấn</a:t>
            </a:r>
            <a:r>
              <a:rPr lang="en-US" spc="-5" dirty="0"/>
              <a:t> </a:t>
            </a:r>
            <a:r>
              <a:rPr lang="en-US" spc="-5" dirty="0" err="1"/>
              <a:t>đề</a:t>
            </a:r>
            <a:r>
              <a:rPr lang="en-US" spc="-5" dirty="0"/>
              <a:t> </a:t>
            </a:r>
            <a:r>
              <a:rPr lang="en-US" spc="-5" dirty="0" err="1"/>
              <a:t>của</a:t>
            </a:r>
            <a:r>
              <a:rPr lang="en-US" spc="-5" dirty="0"/>
              <a:t> UDP</a:t>
            </a:r>
            <a:endParaRPr spc="-5" dirty="0"/>
          </a:p>
        </p:txBody>
      </p:sp>
      <p:sp>
        <p:nvSpPr>
          <p:cNvPr id="4" name="object 4"/>
          <p:cNvSpPr txBox="1"/>
          <p:nvPr/>
        </p:nvSpPr>
        <p:spPr>
          <a:xfrm>
            <a:off x="1193546" y="1780286"/>
            <a:ext cx="8044434" cy="3243837"/>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Không</a:t>
            </a:r>
            <a:r>
              <a:rPr lang="en-US" sz="2800" spc="-5" dirty="0">
                <a:latin typeface="Arial"/>
                <a:cs typeface="Arial"/>
              </a:rPr>
              <a:t> </a:t>
            </a:r>
            <a:r>
              <a:rPr lang="en-US" sz="2800" spc="-5" dirty="0" err="1">
                <a:latin typeface="Arial"/>
                <a:cs typeface="Arial"/>
              </a:rPr>
              <a:t>có</a:t>
            </a:r>
            <a:r>
              <a:rPr lang="en-US" sz="2800" spc="-5" dirty="0">
                <a:latin typeface="Arial"/>
                <a:cs typeface="Arial"/>
              </a:rPr>
              <a:t> </a:t>
            </a:r>
            <a:r>
              <a:rPr lang="en-US" sz="2800" spc="-5" dirty="0" err="1">
                <a:latin typeface="Arial"/>
                <a:cs typeface="Arial"/>
              </a:rPr>
              <a:t>kiểm</a:t>
            </a:r>
            <a:r>
              <a:rPr lang="en-US" sz="2800" spc="-5" dirty="0">
                <a:latin typeface="Arial"/>
                <a:cs typeface="Arial"/>
              </a:rPr>
              <a:t> </a:t>
            </a:r>
            <a:r>
              <a:rPr lang="en-US" sz="2800" spc="-5" dirty="0" err="1">
                <a:latin typeface="Arial"/>
                <a:cs typeface="Arial"/>
              </a:rPr>
              <a:t>soát</a:t>
            </a:r>
            <a:r>
              <a:rPr lang="en-US" sz="2800" spc="-5" dirty="0">
                <a:latin typeface="Arial"/>
                <a:cs typeface="Arial"/>
              </a:rPr>
              <a:t> </a:t>
            </a:r>
            <a:r>
              <a:rPr lang="en-US" sz="2800" spc="-5" dirty="0" err="1">
                <a:latin typeface="Arial"/>
                <a:cs typeface="Arial"/>
              </a:rPr>
              <a:t>tắc</a:t>
            </a:r>
            <a:r>
              <a:rPr lang="en-US" sz="2800" spc="-5" dirty="0">
                <a:latin typeface="Arial"/>
                <a:cs typeface="Arial"/>
              </a:rPr>
              <a:t> </a:t>
            </a:r>
            <a:r>
              <a:rPr lang="en-US" sz="2800" spc="-5" dirty="0" err="1">
                <a:latin typeface="Arial"/>
                <a:cs typeface="Arial"/>
              </a:rPr>
              <a:t>nghẽn</a:t>
            </a:r>
            <a:endParaRPr lang="en-US" sz="2800" spc="-5" dirty="0">
              <a:latin typeface="Arial"/>
              <a:cs typeface="Arial"/>
            </a:endParaRPr>
          </a:p>
          <a:p>
            <a:pPr marL="812800" lvl="1" indent="-342900">
              <a:spcBef>
                <a:spcPts val="675"/>
              </a:spcBef>
              <a:buClr>
                <a:srgbClr val="3333CC"/>
              </a:buClr>
              <a:buSzPct val="83333"/>
              <a:buFont typeface="Courier New" panose="02070309020205020404" pitchFamily="49" charset="0"/>
              <a:buChar char="o"/>
              <a:tabLst>
                <a:tab pos="355600" algn="l"/>
              </a:tabLst>
            </a:pPr>
            <a:r>
              <a:rPr lang="en-US" sz="2400" spc="-5" dirty="0">
                <a:latin typeface="Arial"/>
                <a:cs typeface="Arial"/>
              </a:rPr>
              <a:t>UDP </a:t>
            </a:r>
            <a:r>
              <a:rPr lang="en-US" sz="2400" spc="-5" dirty="0" err="1">
                <a:latin typeface="Arial"/>
                <a:cs typeface="Arial"/>
              </a:rPr>
              <a:t>cứ</a:t>
            </a:r>
            <a:r>
              <a:rPr lang="en-US" sz="2400" spc="-5" dirty="0">
                <a:latin typeface="Arial"/>
                <a:cs typeface="Arial"/>
              </a:rPr>
              <a:t> </a:t>
            </a:r>
            <a:r>
              <a:rPr lang="en-US" sz="2400" spc="-5" dirty="0" err="1">
                <a:latin typeface="Arial"/>
                <a:cs typeface="Arial"/>
              </a:rPr>
              <a:t>gửi</a:t>
            </a:r>
            <a:r>
              <a:rPr lang="en-US" sz="2400" spc="-5" dirty="0">
                <a:latin typeface="Arial"/>
                <a:cs typeface="Arial"/>
              </a:rPr>
              <a:t> </a:t>
            </a:r>
            <a:r>
              <a:rPr lang="en-US" sz="2400" spc="-5" dirty="0" err="1">
                <a:latin typeface="Arial"/>
                <a:cs typeface="Arial"/>
              </a:rPr>
              <a:t>dữ</a:t>
            </a:r>
            <a:r>
              <a:rPr lang="en-US" sz="2400" spc="-5" dirty="0">
                <a:latin typeface="Arial"/>
                <a:cs typeface="Arial"/>
              </a:rPr>
              <a:t> </a:t>
            </a:r>
            <a:r>
              <a:rPr lang="en-US" sz="2400" spc="-5" dirty="0" err="1">
                <a:latin typeface="Arial"/>
                <a:cs typeface="Arial"/>
              </a:rPr>
              <a:t>liệu</a:t>
            </a:r>
            <a:r>
              <a:rPr lang="en-US" sz="2400" spc="-5" dirty="0">
                <a:latin typeface="Arial"/>
                <a:cs typeface="Arial"/>
              </a:rPr>
              <a:t> </a:t>
            </a:r>
            <a:r>
              <a:rPr lang="en-US" sz="2400" spc="-5" dirty="0" err="1">
                <a:latin typeface="Arial"/>
                <a:cs typeface="Arial"/>
              </a:rPr>
              <a:t>nhanh</a:t>
            </a:r>
            <a:r>
              <a:rPr lang="en-US" sz="2400" spc="-5" dirty="0">
                <a:latin typeface="Arial"/>
                <a:cs typeface="Arial"/>
              </a:rPr>
              <a:t> </a:t>
            </a:r>
            <a:r>
              <a:rPr lang="en-US" sz="2400" spc="-5" dirty="0" err="1">
                <a:latin typeface="Arial"/>
                <a:cs typeface="Arial"/>
              </a:rPr>
              <a:t>nhất</a:t>
            </a:r>
            <a:r>
              <a:rPr lang="en-US" sz="2400" spc="-5" dirty="0">
                <a:latin typeface="Arial"/>
                <a:cs typeface="Arial"/>
              </a:rPr>
              <a:t>, </a:t>
            </a:r>
            <a:r>
              <a:rPr lang="en-US" sz="2400" spc="-5" dirty="0" err="1">
                <a:latin typeface="Arial"/>
                <a:cs typeface="Arial"/>
              </a:rPr>
              <a:t>nhiều</a:t>
            </a:r>
            <a:r>
              <a:rPr lang="en-US" sz="2400" spc="-5" dirty="0">
                <a:latin typeface="Arial"/>
                <a:cs typeface="Arial"/>
              </a:rPr>
              <a:t> </a:t>
            </a:r>
            <a:r>
              <a:rPr lang="en-US" sz="2400" spc="-5" dirty="0" err="1">
                <a:latin typeface="Arial"/>
                <a:cs typeface="Arial"/>
              </a:rPr>
              <a:t>nhất</a:t>
            </a:r>
            <a:r>
              <a:rPr lang="en-US" sz="2400" spc="-5" dirty="0">
                <a:latin typeface="Arial"/>
                <a:cs typeface="Arial"/>
              </a:rPr>
              <a:t> </a:t>
            </a:r>
            <a:r>
              <a:rPr lang="en-US" sz="2400" spc="-5" dirty="0" err="1">
                <a:latin typeface="Arial"/>
                <a:cs typeface="Arial"/>
              </a:rPr>
              <a:t>có</a:t>
            </a:r>
            <a:r>
              <a:rPr lang="en-US" sz="2400" spc="-5" dirty="0">
                <a:latin typeface="Arial"/>
                <a:cs typeface="Arial"/>
              </a:rPr>
              <a:t> </a:t>
            </a:r>
            <a:r>
              <a:rPr lang="en-US" sz="2400" spc="-5" dirty="0" err="1">
                <a:latin typeface="Arial"/>
                <a:cs typeface="Arial"/>
              </a:rPr>
              <a:t>thể</a:t>
            </a:r>
            <a:endParaRPr lang="en-US" sz="2400" spc="-5" dirty="0">
              <a:latin typeface="Arial"/>
              <a:cs typeface="Arial"/>
            </a:endParaRPr>
          </a:p>
          <a:p>
            <a:pPr marL="469900" lvl="1">
              <a:spcBef>
                <a:spcPts val="675"/>
              </a:spcBef>
              <a:buClr>
                <a:srgbClr val="3333CC"/>
              </a:buClr>
              <a:buSzPct val="83333"/>
              <a:tabLst>
                <a:tab pos="355600" algn="l"/>
              </a:tabLst>
            </a:pPr>
            <a:r>
              <a:rPr lang="en-US" sz="2400" spc="-5" dirty="0">
                <a:latin typeface="Arial"/>
                <a:cs typeface="Arial"/>
                <a:sym typeface="Symbol" panose="05050102010706020507" pitchFamily="18" charset="2"/>
              </a:rPr>
              <a:t> </a:t>
            </a:r>
            <a:r>
              <a:rPr lang="en-US" sz="2400" spc="-5" dirty="0" err="1">
                <a:latin typeface="Arial"/>
                <a:cs typeface="Arial"/>
                <a:sym typeface="Symbol" panose="05050102010706020507" pitchFamily="18" charset="2"/>
              </a:rPr>
              <a:t>làm</a:t>
            </a:r>
            <a:r>
              <a:rPr lang="en-US" sz="2400" spc="-5" dirty="0">
                <a:latin typeface="Arial"/>
                <a:cs typeface="Arial"/>
                <a:sym typeface="Symbol" panose="05050102010706020507" pitchFamily="18" charset="2"/>
              </a:rPr>
              <a:t> Internet </a:t>
            </a:r>
            <a:r>
              <a:rPr lang="en-US" sz="2400" spc="-5" dirty="0" err="1">
                <a:latin typeface="Arial"/>
                <a:cs typeface="Arial"/>
                <a:sym typeface="Symbol" panose="05050102010706020507" pitchFamily="18" charset="2"/>
              </a:rPr>
              <a:t>quá</a:t>
            </a:r>
            <a:r>
              <a:rPr lang="en-US" sz="2400" spc="-5" dirty="0">
                <a:latin typeface="Arial"/>
                <a:cs typeface="Arial"/>
                <a:sym typeface="Symbol" panose="05050102010706020507" pitchFamily="18" charset="2"/>
              </a:rPr>
              <a:t> </a:t>
            </a:r>
            <a:r>
              <a:rPr lang="en-US" sz="2400" spc="-5" dirty="0" err="1">
                <a:latin typeface="Arial"/>
                <a:cs typeface="Arial"/>
                <a:sym typeface="Symbol" panose="05050102010706020507" pitchFamily="18" charset="2"/>
              </a:rPr>
              <a:t>tải</a:t>
            </a:r>
            <a:endParaRPr lang="en-US" sz="24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Không</a:t>
            </a:r>
            <a:r>
              <a:rPr lang="en-US" sz="2800" spc="-5" dirty="0">
                <a:latin typeface="Arial"/>
                <a:cs typeface="Arial"/>
              </a:rPr>
              <a:t> </a:t>
            </a:r>
            <a:r>
              <a:rPr lang="en-US" sz="2800" spc="-5" dirty="0" err="1">
                <a:latin typeface="Arial"/>
                <a:cs typeface="Arial"/>
              </a:rPr>
              <a:t>đảm</a:t>
            </a:r>
            <a:r>
              <a:rPr lang="en-US" sz="2800" spc="-5" dirty="0">
                <a:latin typeface="Arial"/>
                <a:cs typeface="Arial"/>
              </a:rPr>
              <a:t> </a:t>
            </a:r>
            <a:r>
              <a:rPr lang="en-US" sz="2800" spc="-5" dirty="0" err="1">
                <a:latin typeface="Arial"/>
                <a:cs typeface="Arial"/>
              </a:rPr>
              <a:t>bảo</a:t>
            </a:r>
            <a:r>
              <a:rPr lang="en-US" sz="2800" spc="-5" dirty="0">
                <a:latin typeface="Arial"/>
                <a:cs typeface="Arial"/>
              </a:rPr>
              <a:t> </a:t>
            </a:r>
            <a:r>
              <a:rPr lang="en-US" sz="2800" spc="-5" dirty="0" err="1">
                <a:latin typeface="Arial"/>
                <a:cs typeface="Arial"/>
              </a:rPr>
              <a:t>độ</a:t>
            </a:r>
            <a:r>
              <a:rPr lang="en-US" sz="2800" spc="-5" dirty="0">
                <a:latin typeface="Arial"/>
                <a:cs typeface="Arial"/>
              </a:rPr>
              <a:t> tin </a:t>
            </a:r>
            <a:r>
              <a:rPr lang="en-US" sz="2800" spc="-5" dirty="0" err="1">
                <a:latin typeface="Arial"/>
                <a:cs typeface="Arial"/>
              </a:rPr>
              <a:t>cậy</a:t>
            </a:r>
            <a:endParaRPr lang="en-US" sz="2800" spc="-5" dirty="0">
              <a:latin typeface="Arial"/>
              <a:cs typeface="Arial"/>
            </a:endParaRPr>
          </a:p>
          <a:p>
            <a:pPr marL="812800" lvl="1" indent="-342900">
              <a:spcBef>
                <a:spcPts val="675"/>
              </a:spcBef>
              <a:buClr>
                <a:srgbClr val="3333CC"/>
              </a:buClr>
              <a:buSzPct val="83333"/>
              <a:buFont typeface="Courier New" panose="02070309020205020404" pitchFamily="49" charset="0"/>
              <a:buChar char="o"/>
              <a:tabLst>
                <a:tab pos="355600" algn="l"/>
              </a:tabLst>
            </a:pPr>
            <a:r>
              <a:rPr lang="en-US" sz="2400" spc="-5" dirty="0" err="1">
                <a:latin typeface="Arial"/>
                <a:cs typeface="Arial"/>
              </a:rPr>
              <a:t>Các</a:t>
            </a:r>
            <a:r>
              <a:rPr lang="en-US" sz="2400" spc="-5" dirty="0">
                <a:latin typeface="Arial"/>
                <a:cs typeface="Arial"/>
              </a:rPr>
              <a:t> </a:t>
            </a:r>
            <a:r>
              <a:rPr lang="en-US" sz="2400" spc="-5" dirty="0" err="1">
                <a:latin typeface="Arial"/>
                <a:cs typeface="Arial"/>
              </a:rPr>
              <a:t>ứng</a:t>
            </a:r>
            <a:r>
              <a:rPr lang="en-US" sz="2400" spc="-5" dirty="0">
                <a:latin typeface="Arial"/>
                <a:cs typeface="Arial"/>
              </a:rPr>
              <a:t> </a:t>
            </a:r>
            <a:r>
              <a:rPr lang="en-US" sz="2400" spc="-5" dirty="0" err="1">
                <a:latin typeface="Arial"/>
                <a:cs typeface="Arial"/>
              </a:rPr>
              <a:t>dụng</a:t>
            </a:r>
            <a:r>
              <a:rPr lang="en-US" sz="2400" spc="-5" dirty="0">
                <a:latin typeface="Arial"/>
                <a:cs typeface="Arial"/>
              </a:rPr>
              <a:t> </a:t>
            </a:r>
            <a:r>
              <a:rPr lang="en-US" sz="2400" spc="-5" dirty="0" err="1">
                <a:latin typeface="Arial"/>
                <a:cs typeface="Arial"/>
              </a:rPr>
              <a:t>phải</a:t>
            </a:r>
            <a:r>
              <a:rPr lang="en-US" sz="2400" spc="-5" dirty="0">
                <a:latin typeface="Arial"/>
                <a:cs typeface="Arial"/>
              </a:rPr>
              <a:t> </a:t>
            </a:r>
            <a:r>
              <a:rPr lang="en-US" sz="2400" spc="-5" dirty="0" err="1">
                <a:latin typeface="Arial"/>
                <a:cs typeface="Arial"/>
              </a:rPr>
              <a:t>cài</a:t>
            </a:r>
            <a:r>
              <a:rPr lang="en-US" sz="2400" spc="-5" dirty="0">
                <a:latin typeface="Arial"/>
                <a:cs typeface="Arial"/>
              </a:rPr>
              <a:t> </a:t>
            </a:r>
            <a:r>
              <a:rPr lang="en-US" sz="2400" spc="-5" dirty="0" err="1">
                <a:latin typeface="Arial"/>
                <a:cs typeface="Arial"/>
              </a:rPr>
              <a:t>đặt</a:t>
            </a:r>
            <a:r>
              <a:rPr lang="en-US" sz="2400" spc="-5" dirty="0">
                <a:latin typeface="Arial"/>
                <a:cs typeface="Arial"/>
              </a:rPr>
              <a:t> </a:t>
            </a:r>
            <a:r>
              <a:rPr lang="en-US" sz="2400" spc="-5" dirty="0" err="1">
                <a:latin typeface="Arial"/>
                <a:cs typeface="Arial"/>
              </a:rPr>
              <a:t>cơ</a:t>
            </a:r>
            <a:r>
              <a:rPr lang="en-US" sz="2400" spc="-5" dirty="0">
                <a:latin typeface="Arial"/>
                <a:cs typeface="Arial"/>
              </a:rPr>
              <a:t> </a:t>
            </a:r>
            <a:r>
              <a:rPr lang="en-US" sz="2400" spc="-5" dirty="0" err="1">
                <a:latin typeface="Arial"/>
                <a:cs typeface="Arial"/>
              </a:rPr>
              <a:t>chế</a:t>
            </a:r>
            <a:r>
              <a:rPr lang="en-US" sz="2400" spc="-5" dirty="0">
                <a:latin typeface="Arial"/>
                <a:cs typeface="Arial"/>
              </a:rPr>
              <a:t> </a:t>
            </a:r>
            <a:r>
              <a:rPr lang="en-US" sz="2400" spc="-5" dirty="0" err="1">
                <a:latin typeface="Arial"/>
                <a:cs typeface="Arial"/>
              </a:rPr>
              <a:t>tự</a:t>
            </a:r>
            <a:r>
              <a:rPr lang="en-US" sz="2400" spc="-5" dirty="0">
                <a:latin typeface="Arial"/>
                <a:cs typeface="Arial"/>
              </a:rPr>
              <a:t> </a:t>
            </a:r>
            <a:r>
              <a:rPr lang="en-US" sz="2400" spc="-5" dirty="0" err="1">
                <a:latin typeface="Arial"/>
                <a:cs typeface="Arial"/>
              </a:rPr>
              <a:t>kiểm</a:t>
            </a:r>
            <a:r>
              <a:rPr lang="en-US" sz="2400" spc="-5" dirty="0">
                <a:latin typeface="Arial"/>
                <a:cs typeface="Arial"/>
              </a:rPr>
              <a:t> </a:t>
            </a:r>
            <a:r>
              <a:rPr lang="en-US" sz="2400" spc="-5" dirty="0" err="1">
                <a:latin typeface="Arial"/>
                <a:cs typeface="Arial"/>
              </a:rPr>
              <a:t>soát</a:t>
            </a:r>
            <a:r>
              <a:rPr lang="en-US" sz="2400" spc="-5" dirty="0">
                <a:latin typeface="Arial"/>
                <a:cs typeface="Arial"/>
              </a:rPr>
              <a:t> </a:t>
            </a:r>
            <a:r>
              <a:rPr lang="en-US" sz="2400" spc="-5" dirty="0" err="1">
                <a:latin typeface="Arial"/>
                <a:cs typeface="Arial"/>
              </a:rPr>
              <a:t>độ</a:t>
            </a:r>
            <a:r>
              <a:rPr lang="en-US" sz="2400" spc="-5" dirty="0">
                <a:latin typeface="Arial"/>
                <a:cs typeface="Arial"/>
              </a:rPr>
              <a:t> tin </a:t>
            </a:r>
            <a:r>
              <a:rPr lang="en-US" sz="2400" spc="-5" dirty="0" err="1">
                <a:latin typeface="Arial"/>
                <a:cs typeface="Arial"/>
              </a:rPr>
              <a:t>cậy</a:t>
            </a:r>
            <a:endParaRPr lang="en-US" sz="2400" spc="-5" dirty="0">
              <a:latin typeface="Arial"/>
              <a:cs typeface="Arial"/>
            </a:endParaRPr>
          </a:p>
          <a:p>
            <a:pPr marL="812800" lvl="1" indent="-342900">
              <a:spcBef>
                <a:spcPts val="675"/>
              </a:spcBef>
              <a:buClr>
                <a:srgbClr val="3333CC"/>
              </a:buClr>
              <a:buSzPct val="83333"/>
              <a:buFont typeface="Courier New" panose="02070309020205020404" pitchFamily="49" charset="0"/>
              <a:buChar char="o"/>
              <a:tabLst>
                <a:tab pos="355600" algn="l"/>
              </a:tabLst>
            </a:pPr>
            <a:r>
              <a:rPr lang="en-US" sz="2400" spc="-5" dirty="0" err="1">
                <a:latin typeface="Arial"/>
                <a:cs typeface="Arial"/>
              </a:rPr>
              <a:t>Việc</a:t>
            </a:r>
            <a:r>
              <a:rPr lang="en-US" sz="2400" spc="-5" dirty="0">
                <a:latin typeface="Arial"/>
                <a:cs typeface="Arial"/>
              </a:rPr>
              <a:t> </a:t>
            </a:r>
            <a:r>
              <a:rPr lang="en-US" sz="2400" spc="-5" dirty="0" err="1">
                <a:latin typeface="Arial"/>
                <a:cs typeface="Arial"/>
              </a:rPr>
              <a:t>phát</a:t>
            </a:r>
            <a:r>
              <a:rPr lang="en-US" sz="2400" spc="-5" dirty="0">
                <a:latin typeface="Arial"/>
                <a:cs typeface="Arial"/>
              </a:rPr>
              <a:t> </a:t>
            </a:r>
            <a:r>
              <a:rPr lang="en-US" sz="2400" spc="-5" dirty="0" err="1">
                <a:latin typeface="Arial"/>
                <a:cs typeface="Arial"/>
              </a:rPr>
              <a:t>triển</a:t>
            </a:r>
            <a:r>
              <a:rPr lang="en-US" sz="2400" spc="-5" dirty="0">
                <a:latin typeface="Arial"/>
                <a:cs typeface="Arial"/>
              </a:rPr>
              <a:t> </a:t>
            </a:r>
            <a:r>
              <a:rPr lang="en-US" sz="2400" spc="-5" dirty="0" err="1">
                <a:latin typeface="Arial"/>
                <a:cs typeface="Arial"/>
              </a:rPr>
              <a:t>ứng</a:t>
            </a:r>
            <a:r>
              <a:rPr lang="en-US" sz="2400" spc="-5" dirty="0">
                <a:latin typeface="Arial"/>
                <a:cs typeface="Arial"/>
              </a:rPr>
              <a:t> </a:t>
            </a:r>
            <a:r>
              <a:rPr lang="en-US" sz="2400" spc="-5" dirty="0" err="1">
                <a:latin typeface="Arial"/>
                <a:cs typeface="Arial"/>
              </a:rPr>
              <a:t>dụng</a:t>
            </a:r>
            <a:r>
              <a:rPr lang="en-US" sz="2400" spc="-5" dirty="0">
                <a:latin typeface="Arial"/>
                <a:cs typeface="Arial"/>
              </a:rPr>
              <a:t> </a:t>
            </a:r>
            <a:r>
              <a:rPr lang="en-US" sz="2400" spc="-5" dirty="0" err="1">
                <a:latin typeface="Arial"/>
                <a:cs typeface="Arial"/>
              </a:rPr>
              <a:t>sẽ</a:t>
            </a:r>
            <a:r>
              <a:rPr lang="en-US" sz="2400" spc="-5" dirty="0">
                <a:latin typeface="Arial"/>
                <a:cs typeface="Arial"/>
              </a:rPr>
              <a:t> </a:t>
            </a:r>
            <a:r>
              <a:rPr lang="en-US" sz="2400" spc="-5" dirty="0" err="1">
                <a:latin typeface="Arial"/>
                <a:cs typeface="Arial"/>
              </a:rPr>
              <a:t>phức</a:t>
            </a:r>
            <a:r>
              <a:rPr lang="en-US" sz="2400" spc="-5" dirty="0">
                <a:latin typeface="Arial"/>
                <a:cs typeface="Arial"/>
              </a:rPr>
              <a:t> </a:t>
            </a:r>
            <a:r>
              <a:rPr lang="en-US" sz="2400" spc="-5" dirty="0" err="1">
                <a:latin typeface="Arial"/>
                <a:cs typeface="Arial"/>
              </a:rPr>
              <a:t>tạp</a:t>
            </a:r>
            <a:r>
              <a:rPr lang="en-US" sz="2400" spc="-5" dirty="0">
                <a:latin typeface="Arial"/>
                <a:cs typeface="Arial"/>
              </a:rPr>
              <a:t> </a:t>
            </a:r>
            <a:r>
              <a:rPr lang="en-US" sz="2400" spc="-5" dirty="0" err="1">
                <a:latin typeface="Arial"/>
                <a:cs typeface="Arial"/>
              </a:rPr>
              <a:t>hơn</a:t>
            </a:r>
            <a:endParaRPr sz="2400" dirty="0">
              <a:latin typeface="Arial"/>
              <a:cs typeface="Arial"/>
            </a:endParaRPr>
          </a:p>
        </p:txBody>
      </p:sp>
      <p:sp>
        <p:nvSpPr>
          <p:cNvPr id="2" name="Slide Number Placeholder 1"/>
          <p:cNvSpPr>
            <a:spLocks noGrp="1"/>
          </p:cNvSpPr>
          <p:nvPr>
            <p:ph type="sldNum" sz="quarter" idx="7"/>
          </p:nvPr>
        </p:nvSpPr>
        <p:spPr/>
        <p:txBody>
          <a:bodyPr/>
          <a:lstStyle/>
          <a:p>
            <a:pPr marL="12700">
              <a:lnSpc>
                <a:spcPts val="1645"/>
              </a:lnSpc>
            </a:pPr>
            <a:fld id="{81D60167-4931-47E6-BA6A-407CBD079E47}" type="slidenum">
              <a:rPr lang="en-US" spc="-5" smtClean="0"/>
              <a:t>22</a:t>
            </a:fld>
            <a:endParaRPr lang="en-US" spc="-5" dirty="0"/>
          </a:p>
        </p:txBody>
      </p:sp>
    </p:spTree>
    <p:extLst>
      <p:ext uri="{BB962C8B-B14F-4D97-AF65-F5344CB8AC3E}">
        <p14:creationId xmlns:p14="http://schemas.microsoft.com/office/powerpoint/2010/main" val="3288255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spc="-5" dirty="0"/>
              <a:t>Chương 3: </a:t>
            </a:r>
            <a:r>
              <a:rPr dirty="0"/>
              <a:t>Tầng </a:t>
            </a:r>
            <a:r>
              <a:rPr spc="-5" dirty="0"/>
              <a:t>giao</a:t>
            </a:r>
            <a:r>
              <a:rPr spc="-160" dirty="0"/>
              <a:t> </a:t>
            </a:r>
            <a:r>
              <a:rPr spc="-5" dirty="0"/>
              <a:t>vận</a:t>
            </a:r>
          </a:p>
        </p:txBody>
      </p:sp>
      <p:sp>
        <p:nvSpPr>
          <p:cNvPr id="4" name="object 4"/>
          <p:cNvSpPr txBox="1"/>
          <p:nvPr/>
        </p:nvSpPr>
        <p:spPr>
          <a:xfrm>
            <a:off x="1193546" y="1780286"/>
            <a:ext cx="5403215" cy="285655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a:t>
            </a:r>
            <a:r>
              <a:rPr lang="en-US" sz="3200" spc="-5" dirty="0" err="1">
                <a:latin typeface="Arial"/>
                <a:cs typeface="Arial"/>
              </a:rPr>
              <a:t>tầng</a:t>
            </a:r>
            <a:r>
              <a:rPr lang="en-US" sz="3200" spc="-5" dirty="0">
                <a:latin typeface="Arial"/>
                <a:cs typeface="Arial"/>
              </a:rPr>
              <a:t> </a:t>
            </a:r>
            <a:r>
              <a:rPr lang="en-US" sz="3200" spc="-5" dirty="0" err="1">
                <a:latin typeface="Arial"/>
                <a:cs typeface="Arial"/>
              </a:rPr>
              <a:t>giao</a:t>
            </a:r>
            <a:r>
              <a:rPr lang="en-US" sz="3200" spc="-5" dirty="0">
                <a:latin typeface="Arial"/>
                <a:cs typeface="Arial"/>
              </a:rPr>
              <a:t> </a:t>
            </a:r>
            <a:r>
              <a:rPr lang="en-US" sz="3200" spc="-5" dirty="0" err="1">
                <a:latin typeface="Arial"/>
                <a:cs typeface="Arial"/>
              </a:rPr>
              <a:t>vận</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dirty="0" err="1">
                <a:latin typeface="Arial"/>
                <a:cs typeface="Arial"/>
              </a:rPr>
              <a:t>Dồn</a:t>
            </a:r>
            <a:r>
              <a:rPr lang="en-US" sz="3200" dirty="0">
                <a:latin typeface="Arial"/>
                <a:cs typeface="Arial"/>
              </a:rPr>
              <a:t> </a:t>
            </a:r>
            <a:r>
              <a:rPr lang="en-US" sz="3200" dirty="0" err="1">
                <a:latin typeface="Arial"/>
                <a:cs typeface="Arial"/>
              </a:rPr>
              <a:t>kênh</a:t>
            </a:r>
            <a:r>
              <a:rPr lang="en-US" sz="3200" dirty="0">
                <a:latin typeface="Arial"/>
                <a:cs typeface="Arial"/>
              </a:rPr>
              <a:t> </a:t>
            </a:r>
            <a:r>
              <a:rPr lang="en-US" sz="3200" dirty="0" err="1">
                <a:latin typeface="Arial"/>
                <a:cs typeface="Arial"/>
              </a:rPr>
              <a:t>và</a:t>
            </a:r>
            <a:r>
              <a:rPr lang="en-US" sz="3200" dirty="0">
                <a:latin typeface="Arial"/>
                <a:cs typeface="Arial"/>
              </a:rPr>
              <a:t> </a:t>
            </a:r>
            <a:r>
              <a:rPr lang="en-US" sz="3200" dirty="0" err="1">
                <a:latin typeface="Arial"/>
                <a:cs typeface="Arial"/>
              </a:rPr>
              <a:t>phân</a:t>
            </a:r>
            <a:r>
              <a:rPr lang="en-US" sz="3200" dirty="0">
                <a:latin typeface="Arial"/>
                <a:cs typeface="Arial"/>
              </a:rPr>
              <a:t> </a:t>
            </a:r>
            <a:r>
              <a:rPr lang="en-US" sz="3200" dirty="0" err="1">
                <a:latin typeface="Arial"/>
                <a:cs typeface="Arial"/>
              </a:rPr>
              <a:t>kênh</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sz="3200" spc="35" dirty="0">
                <a:latin typeface="Arial"/>
                <a:cs typeface="Arial"/>
              </a:rPr>
              <a:t> </a:t>
            </a:r>
            <a:r>
              <a:rPr sz="3200" spc="-5" dirty="0">
                <a:latin typeface="Arial"/>
                <a:cs typeface="Arial"/>
              </a:rPr>
              <a:t>UDP</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5" dirty="0" err="1">
                <a:solidFill>
                  <a:srgbClr val="FF0000"/>
                </a:solidFill>
                <a:latin typeface="Arial"/>
                <a:cs typeface="Arial"/>
              </a:rPr>
              <a:t>T</a:t>
            </a:r>
            <a:r>
              <a:rPr sz="3200" spc="-5" dirty="0" err="1">
                <a:solidFill>
                  <a:srgbClr val="FF0000"/>
                </a:solidFill>
                <a:latin typeface="Arial"/>
                <a:cs typeface="Arial"/>
              </a:rPr>
              <a:t>ruyền</a:t>
            </a:r>
            <a:r>
              <a:rPr sz="3200" spc="-5" dirty="0">
                <a:solidFill>
                  <a:srgbClr val="FF0000"/>
                </a:solidFill>
                <a:latin typeface="Arial"/>
                <a:cs typeface="Arial"/>
              </a:rPr>
              <a:t> dữ liệu tin cậy</a:t>
            </a:r>
            <a:endParaRPr sz="3200" dirty="0">
              <a:solidFill>
                <a:srgbClr val="FF0000"/>
              </a:solidFill>
              <a:latin typeface="Arial"/>
              <a:cs typeface="Arial"/>
            </a:endParaRPr>
          </a:p>
          <a:p>
            <a:pPr marL="355600" indent="-342900">
              <a:lnSpc>
                <a:spcPct val="100000"/>
              </a:lnSpc>
              <a:spcBef>
                <a:spcPts val="580"/>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lang="en-US" sz="3200" spc="-20" dirty="0">
                <a:latin typeface="Arial"/>
                <a:cs typeface="Arial"/>
              </a:rPr>
              <a:t> TCP</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23</a:t>
            </a:fld>
            <a:endParaRPr lang="en-US" spc="-5" dirty="0"/>
          </a:p>
        </p:txBody>
      </p:sp>
    </p:spTree>
    <p:extLst>
      <p:ext uri="{BB962C8B-B14F-4D97-AF65-F5344CB8AC3E}">
        <p14:creationId xmlns:p14="http://schemas.microsoft.com/office/powerpoint/2010/main" val="2720189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9"/>
            <a:ext cx="8753348" cy="1125982"/>
          </a:xfrm>
        </p:spPr>
        <p:txBody>
          <a:bodyPr/>
          <a:lstStyle/>
          <a:p>
            <a:r>
              <a:rPr lang="en-US" dirty="0" err="1"/>
              <a:t>Sơ</a:t>
            </a:r>
            <a:r>
              <a:rPr lang="en-US" dirty="0"/>
              <a:t> </a:t>
            </a:r>
            <a:r>
              <a:rPr lang="en-US" dirty="0" err="1"/>
              <a:t>đồ</a:t>
            </a:r>
            <a:r>
              <a:rPr lang="en-US" dirty="0"/>
              <a:t> </a:t>
            </a:r>
            <a:r>
              <a:rPr lang="en-US" dirty="0" err="1"/>
              <a:t>cấu</a:t>
            </a:r>
            <a:r>
              <a:rPr lang="en-US" dirty="0"/>
              <a:t> </a:t>
            </a:r>
            <a:r>
              <a:rPr lang="en-US" dirty="0" err="1"/>
              <a:t>trúc</a:t>
            </a:r>
            <a:r>
              <a:rPr lang="en-US" dirty="0"/>
              <a:t> </a:t>
            </a:r>
            <a:r>
              <a:rPr lang="en-US" dirty="0" err="1"/>
              <a:t>của</a:t>
            </a:r>
            <a:r>
              <a:rPr lang="en-US" dirty="0"/>
              <a:t> </a:t>
            </a:r>
            <a:r>
              <a:rPr lang="en-US" dirty="0" err="1"/>
              <a:t>quá</a:t>
            </a:r>
            <a:r>
              <a:rPr lang="en-US" dirty="0"/>
              <a:t> </a:t>
            </a:r>
            <a:r>
              <a:rPr lang="en-US" dirty="0" err="1"/>
              <a:t>trình</a:t>
            </a:r>
            <a:r>
              <a:rPr lang="en-US" dirty="0"/>
              <a:t> </a:t>
            </a:r>
            <a:r>
              <a:rPr lang="en-US" dirty="0" err="1"/>
              <a:t>truyền</a:t>
            </a:r>
            <a:r>
              <a:rPr lang="en-US" dirty="0"/>
              <a:t> </a:t>
            </a:r>
            <a:r>
              <a:rPr lang="en-US" dirty="0" err="1"/>
              <a:t>dữ</a:t>
            </a:r>
            <a:r>
              <a:rPr lang="en-US" dirty="0"/>
              <a:t> </a:t>
            </a:r>
            <a:r>
              <a:rPr lang="en-US" dirty="0" err="1"/>
              <a:t>liệu</a:t>
            </a:r>
            <a:r>
              <a:rPr lang="en-US" dirty="0"/>
              <a:t> tin </a:t>
            </a:r>
            <a:r>
              <a:rPr lang="en-US" dirty="0" err="1"/>
              <a:t>cậy</a:t>
            </a:r>
            <a:r>
              <a:rPr lang="en-US" dirty="0"/>
              <a:t>:</a:t>
            </a:r>
            <a:br>
              <a:rPr lang="en-US" dirty="0"/>
            </a:br>
            <a:endParaRPr lang="en-US" dirty="0"/>
          </a:p>
        </p:txBody>
      </p:sp>
      <p:sp>
        <p:nvSpPr>
          <p:cNvPr id="3" name="Text Placeholder 2"/>
          <p:cNvSpPr>
            <a:spLocks noGrp="1"/>
          </p:cNvSpPr>
          <p:nvPr>
            <p:ph type="body" idx="1"/>
          </p:nvPr>
        </p:nvSpPr>
        <p:spPr>
          <a:xfrm>
            <a:off x="4495800" y="6564239"/>
            <a:ext cx="5038089" cy="339027"/>
          </a:xfrm>
        </p:spPr>
        <p:txBody>
          <a:bodyPr/>
          <a:lstStyle/>
          <a:p>
            <a:r>
              <a:rPr lang="en-US" sz="1600" dirty="0"/>
              <a:t>a) </a:t>
            </a:r>
            <a:r>
              <a:rPr lang="en-US" sz="1600" dirty="0" err="1"/>
              <a:t>Dịch</a:t>
            </a:r>
            <a:r>
              <a:rPr lang="en-US" sz="1600" dirty="0"/>
              <a:t> </a:t>
            </a:r>
            <a:r>
              <a:rPr lang="en-US" sz="1600" dirty="0" err="1"/>
              <a:t>vụ</a:t>
            </a:r>
            <a:r>
              <a:rPr lang="en-US" sz="1600" dirty="0"/>
              <a:t> </a:t>
            </a:r>
            <a:r>
              <a:rPr lang="en-US" sz="1600" dirty="0" err="1"/>
              <a:t>cung</a:t>
            </a:r>
            <a:r>
              <a:rPr lang="en-US" sz="1600" dirty="0"/>
              <a:t> </a:t>
            </a:r>
            <a:r>
              <a:rPr lang="en-US" sz="1600" dirty="0" err="1"/>
              <a:t>cấp</a:t>
            </a:r>
            <a:r>
              <a:rPr lang="en-US" sz="1600" dirty="0"/>
              <a:t>                      b) </a:t>
            </a:r>
            <a:r>
              <a:rPr lang="en-US" sz="1600" dirty="0" err="1"/>
              <a:t>Cài</a:t>
            </a:r>
            <a:r>
              <a:rPr lang="en-US" sz="1600" dirty="0"/>
              <a:t> </a:t>
            </a:r>
            <a:r>
              <a:rPr lang="en-US" sz="1600" dirty="0" err="1"/>
              <a:t>đặt</a:t>
            </a:r>
            <a:r>
              <a:rPr lang="en-US" sz="1600" dirty="0"/>
              <a:t> </a:t>
            </a:r>
            <a:r>
              <a:rPr lang="en-US" sz="1600" dirty="0" err="1"/>
              <a:t>dịch</a:t>
            </a:r>
            <a:r>
              <a:rPr lang="en-US" sz="1600" dirty="0"/>
              <a:t> </a:t>
            </a:r>
            <a:r>
              <a:rPr lang="en-US" sz="1600" dirty="0" err="1"/>
              <a:t>vụ</a:t>
            </a:r>
            <a:endParaRPr lang="en-US" sz="1600" dirty="0"/>
          </a:p>
        </p:txBody>
      </p:sp>
      <p:sp>
        <p:nvSpPr>
          <p:cNvPr id="5" name="TextBox 4"/>
          <p:cNvSpPr txBox="1"/>
          <p:nvPr/>
        </p:nvSpPr>
        <p:spPr>
          <a:xfrm>
            <a:off x="4602480" y="7101205"/>
            <a:ext cx="5486400" cy="830997"/>
          </a:xfrm>
          <a:prstGeom prst="rect">
            <a:avLst/>
          </a:prstGeom>
          <a:noFill/>
        </p:spPr>
        <p:txBody>
          <a:bodyPr wrap="square" rtlCol="0">
            <a:spAutoFit/>
          </a:bodyPr>
          <a:lstStyle/>
          <a:p>
            <a:r>
              <a:rPr lang="en-US" sz="1600" dirty="0" err="1">
                <a:solidFill>
                  <a:srgbClr val="FF0000"/>
                </a:solidFill>
              </a:rPr>
              <a:t>rdt</a:t>
            </a:r>
            <a:r>
              <a:rPr lang="en-US" sz="1600" dirty="0">
                <a:solidFill>
                  <a:srgbClr val="FF0000"/>
                </a:solidFill>
              </a:rPr>
              <a:t> </a:t>
            </a:r>
            <a:r>
              <a:rPr lang="pt-BR" sz="1600" dirty="0">
                <a:latin typeface="Arial"/>
                <a:cs typeface="Arial"/>
              </a:rPr>
              <a:t>-</a:t>
            </a:r>
            <a:r>
              <a:rPr lang="pt-BR" sz="1600" dirty="0">
                <a:solidFill>
                  <a:srgbClr val="CC0000"/>
                </a:solidFill>
                <a:latin typeface="Arial"/>
                <a:cs typeface="Arial"/>
              </a:rPr>
              <a:t> </a:t>
            </a:r>
            <a:r>
              <a:rPr lang="pt-BR" sz="1600" u="heavy" dirty="0">
                <a:solidFill>
                  <a:srgbClr val="CC0000"/>
                </a:solidFill>
                <a:uFill>
                  <a:solidFill>
                    <a:srgbClr val="CC0000"/>
                  </a:solidFill>
                </a:uFill>
                <a:latin typeface="Arial"/>
                <a:cs typeface="Arial"/>
              </a:rPr>
              <a:t>r</a:t>
            </a:r>
            <a:r>
              <a:rPr lang="pt-BR" sz="1600" dirty="0">
                <a:latin typeface="Arial"/>
                <a:cs typeface="Arial"/>
              </a:rPr>
              <a:t>eliable</a:t>
            </a:r>
            <a:r>
              <a:rPr lang="pt-BR" sz="1600" dirty="0">
                <a:solidFill>
                  <a:srgbClr val="CC0000"/>
                </a:solidFill>
                <a:latin typeface="Arial"/>
                <a:cs typeface="Arial"/>
              </a:rPr>
              <a:t> </a:t>
            </a:r>
            <a:r>
              <a:rPr lang="pt-BR" sz="1600" u="heavy" dirty="0">
                <a:solidFill>
                  <a:srgbClr val="CC0000"/>
                </a:solidFill>
                <a:uFill>
                  <a:solidFill>
                    <a:srgbClr val="CC0000"/>
                  </a:solidFill>
                </a:uFill>
                <a:latin typeface="Arial"/>
                <a:cs typeface="Arial"/>
              </a:rPr>
              <a:t>d</a:t>
            </a:r>
            <a:r>
              <a:rPr lang="pt-BR" sz="1600" dirty="0">
                <a:latin typeface="Arial"/>
                <a:cs typeface="Arial"/>
              </a:rPr>
              <a:t>ata</a:t>
            </a:r>
            <a:r>
              <a:rPr lang="pt-BR" sz="1600" dirty="0">
                <a:solidFill>
                  <a:srgbClr val="CC0000"/>
                </a:solidFill>
                <a:latin typeface="Arial"/>
                <a:cs typeface="Arial"/>
              </a:rPr>
              <a:t> </a:t>
            </a:r>
            <a:r>
              <a:rPr lang="pt-BR" sz="1600" u="heavy" dirty="0">
                <a:solidFill>
                  <a:srgbClr val="CC0000"/>
                </a:solidFill>
                <a:uFill>
                  <a:solidFill>
                    <a:srgbClr val="CC0000"/>
                  </a:solidFill>
                </a:uFill>
                <a:latin typeface="Arial"/>
                <a:cs typeface="Arial"/>
              </a:rPr>
              <a:t>t</a:t>
            </a:r>
            <a:r>
              <a:rPr lang="pt-BR" sz="1600" dirty="0">
                <a:latin typeface="Arial"/>
                <a:cs typeface="Arial"/>
              </a:rPr>
              <a:t>ransfer  protocol</a:t>
            </a:r>
          </a:p>
          <a:p>
            <a:r>
              <a:rPr lang="en-US" sz="1600" dirty="0" err="1">
                <a:solidFill>
                  <a:srgbClr val="FF0000"/>
                </a:solidFill>
              </a:rPr>
              <a:t>udt</a:t>
            </a:r>
            <a:r>
              <a:rPr lang="en-US" sz="1600" dirty="0">
                <a:solidFill>
                  <a:srgbClr val="FF0000"/>
                </a:solidFill>
              </a:rPr>
              <a:t> </a:t>
            </a:r>
            <a:r>
              <a:rPr lang="pt-BR" sz="1600" dirty="0">
                <a:latin typeface="Arial"/>
                <a:cs typeface="Arial"/>
              </a:rPr>
              <a:t>-</a:t>
            </a:r>
            <a:r>
              <a:rPr lang="pt-BR" sz="1600" dirty="0">
                <a:solidFill>
                  <a:srgbClr val="CC0000"/>
                </a:solidFill>
                <a:latin typeface="Arial"/>
                <a:cs typeface="Arial"/>
              </a:rPr>
              <a:t> </a:t>
            </a:r>
            <a:r>
              <a:rPr lang="pt-BR" sz="1600" u="sng" dirty="0">
                <a:solidFill>
                  <a:srgbClr val="CC0000"/>
                </a:solidFill>
                <a:latin typeface="Arial"/>
                <a:cs typeface="Arial"/>
              </a:rPr>
              <a:t>u</a:t>
            </a:r>
            <a:r>
              <a:rPr lang="pt-BR" sz="1600" dirty="0">
                <a:latin typeface="Arial"/>
                <a:cs typeface="Arial"/>
              </a:rPr>
              <a:t>n</a:t>
            </a:r>
            <a:r>
              <a:rPr lang="pt-BR" sz="1600" dirty="0">
                <a:uFill>
                  <a:solidFill>
                    <a:srgbClr val="CC0000"/>
                  </a:solidFill>
                </a:uFill>
                <a:latin typeface="Arial"/>
                <a:cs typeface="Arial"/>
              </a:rPr>
              <a:t>r</a:t>
            </a:r>
            <a:r>
              <a:rPr lang="pt-BR" sz="1600" dirty="0">
                <a:latin typeface="Arial"/>
                <a:cs typeface="Arial"/>
              </a:rPr>
              <a:t>eliable</a:t>
            </a:r>
            <a:r>
              <a:rPr lang="pt-BR" sz="1600" dirty="0">
                <a:solidFill>
                  <a:srgbClr val="CC0000"/>
                </a:solidFill>
                <a:latin typeface="Arial"/>
                <a:cs typeface="Arial"/>
              </a:rPr>
              <a:t> </a:t>
            </a:r>
            <a:r>
              <a:rPr lang="pt-BR" sz="1600" u="heavy" dirty="0">
                <a:solidFill>
                  <a:srgbClr val="CC0000"/>
                </a:solidFill>
                <a:uFill>
                  <a:solidFill>
                    <a:srgbClr val="CC0000"/>
                  </a:solidFill>
                </a:uFill>
                <a:latin typeface="Arial"/>
                <a:cs typeface="Arial"/>
              </a:rPr>
              <a:t>d</a:t>
            </a:r>
            <a:r>
              <a:rPr lang="pt-BR" sz="1600" dirty="0">
                <a:latin typeface="Arial"/>
                <a:cs typeface="Arial"/>
              </a:rPr>
              <a:t>ata</a:t>
            </a:r>
            <a:r>
              <a:rPr lang="pt-BR" sz="1600" dirty="0">
                <a:solidFill>
                  <a:srgbClr val="CC0000"/>
                </a:solidFill>
                <a:latin typeface="Arial"/>
                <a:cs typeface="Arial"/>
              </a:rPr>
              <a:t> </a:t>
            </a:r>
            <a:r>
              <a:rPr lang="pt-BR" sz="1600" u="heavy" dirty="0">
                <a:solidFill>
                  <a:srgbClr val="CC0000"/>
                </a:solidFill>
                <a:uFill>
                  <a:solidFill>
                    <a:srgbClr val="CC0000"/>
                  </a:solidFill>
                </a:uFill>
                <a:latin typeface="Arial"/>
                <a:cs typeface="Arial"/>
              </a:rPr>
              <a:t>t</a:t>
            </a:r>
            <a:r>
              <a:rPr lang="pt-BR" sz="1600" dirty="0">
                <a:latin typeface="Arial"/>
                <a:cs typeface="Arial"/>
              </a:rPr>
              <a:t>ransfer  protocol </a:t>
            </a:r>
            <a:endParaRPr lang="en-US" sz="1600" dirty="0"/>
          </a:p>
          <a:p>
            <a:r>
              <a:rPr lang="pt-BR" sz="1600" dirty="0">
                <a:latin typeface="Arial"/>
                <a:cs typeface="Arial"/>
              </a:rPr>
              <a:t> </a:t>
            </a:r>
            <a:endParaRPr lang="en-US" sz="1600" dirty="0"/>
          </a:p>
        </p:txBody>
      </p:sp>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24</a:t>
            </a:fld>
            <a:endParaRPr lang="en-US" spc="-5" dirty="0"/>
          </a:p>
        </p:txBody>
      </p:sp>
      <p:pic>
        <p:nvPicPr>
          <p:cNvPr id="7" name="Picture 6"/>
          <p:cNvPicPr>
            <a:picLocks noChangeAspect="1"/>
          </p:cNvPicPr>
          <p:nvPr/>
        </p:nvPicPr>
        <p:blipFill>
          <a:blip r:embed="rId3"/>
          <a:stretch>
            <a:fillRect/>
          </a:stretch>
        </p:blipFill>
        <p:spPr>
          <a:xfrm>
            <a:off x="2877057" y="2411769"/>
            <a:ext cx="7372859" cy="3990408"/>
          </a:xfrm>
          <a:prstGeom prst="rect">
            <a:avLst/>
          </a:prstGeom>
        </p:spPr>
      </p:pic>
      <p:sp>
        <p:nvSpPr>
          <p:cNvPr id="8" name="object 4"/>
          <p:cNvSpPr txBox="1"/>
          <p:nvPr/>
        </p:nvSpPr>
        <p:spPr>
          <a:xfrm>
            <a:off x="780541" y="1684035"/>
            <a:ext cx="2096516" cy="444160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400" spc="-5" dirty="0" err="1">
                <a:latin typeface="Arial"/>
                <a:cs typeface="Arial"/>
              </a:rPr>
              <a:t>Truyền</a:t>
            </a:r>
            <a:r>
              <a:rPr lang="en-US" sz="2400" spc="-5" dirty="0">
                <a:latin typeface="Arial"/>
                <a:cs typeface="Arial"/>
              </a:rPr>
              <a:t> </a:t>
            </a:r>
            <a:r>
              <a:rPr lang="en-US" sz="2400" spc="-5" dirty="0" err="1">
                <a:latin typeface="Arial"/>
                <a:cs typeface="Arial"/>
              </a:rPr>
              <a:t>dữ</a:t>
            </a:r>
            <a:r>
              <a:rPr lang="en-US" sz="2400" spc="-5" dirty="0">
                <a:latin typeface="Arial"/>
                <a:cs typeface="Arial"/>
              </a:rPr>
              <a:t> </a:t>
            </a:r>
            <a:r>
              <a:rPr lang="en-US" sz="2400" spc="-5" dirty="0" err="1">
                <a:latin typeface="Arial"/>
                <a:cs typeface="Arial"/>
              </a:rPr>
              <a:t>liệu</a:t>
            </a:r>
            <a:r>
              <a:rPr lang="en-US" sz="2400" spc="-5" dirty="0">
                <a:latin typeface="Arial"/>
                <a:cs typeface="Arial"/>
              </a:rPr>
              <a:t> tin </a:t>
            </a:r>
            <a:r>
              <a:rPr lang="en-US" sz="2400" spc="-5" dirty="0" err="1">
                <a:latin typeface="Arial"/>
                <a:cs typeface="Arial"/>
              </a:rPr>
              <a:t>cậy</a:t>
            </a:r>
            <a:r>
              <a:rPr lang="en-US" sz="2400" spc="-5" dirty="0">
                <a:latin typeface="Arial"/>
                <a:cs typeface="Arial"/>
              </a:rPr>
              <a:t>: </a:t>
            </a:r>
            <a:endParaRPr sz="2400" dirty="0">
              <a:latin typeface="Arial"/>
              <a:cs typeface="Arial"/>
            </a:endParaRPr>
          </a:p>
          <a:p>
            <a:pPr marL="927100" lvl="1" indent="-457200">
              <a:spcBef>
                <a:spcPts val="575"/>
              </a:spcBef>
              <a:buClr>
                <a:srgbClr val="3333CC"/>
              </a:buClr>
              <a:buSzPct val="83333"/>
              <a:buFont typeface="+mj-lt"/>
              <a:buAutoNum type="arabicParenR"/>
              <a:tabLst>
                <a:tab pos="355600" algn="l"/>
              </a:tabLst>
            </a:pP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a:t>
            </a:r>
            <a:r>
              <a:rPr lang="en-US" sz="2000" dirty="0" err="1">
                <a:latin typeface="Arial"/>
                <a:cs typeface="Arial"/>
              </a:rPr>
              <a:t>không</a:t>
            </a:r>
            <a:r>
              <a:rPr lang="en-US" sz="2000" dirty="0">
                <a:latin typeface="Arial"/>
                <a:cs typeface="Arial"/>
              </a:rPr>
              <a:t> </a:t>
            </a:r>
            <a:r>
              <a:rPr lang="en-US" sz="2000" dirty="0" err="1">
                <a:latin typeface="Arial"/>
                <a:cs typeface="Arial"/>
              </a:rPr>
              <a:t>bị</a:t>
            </a:r>
            <a:r>
              <a:rPr lang="en-US" sz="2000" dirty="0">
                <a:latin typeface="Arial"/>
                <a:cs typeface="Arial"/>
              </a:rPr>
              <a:t> </a:t>
            </a:r>
            <a:r>
              <a:rPr lang="en-US" sz="2000" dirty="0" err="1">
                <a:latin typeface="Arial"/>
                <a:cs typeface="Arial"/>
              </a:rPr>
              <a:t>mất</a:t>
            </a:r>
            <a:endParaRPr lang="en-US" sz="2000" dirty="0">
              <a:latin typeface="Arial"/>
              <a:cs typeface="Arial"/>
            </a:endParaRPr>
          </a:p>
          <a:p>
            <a:pPr marL="927100" lvl="1" indent="-457200">
              <a:spcBef>
                <a:spcPts val="575"/>
              </a:spcBef>
              <a:buClr>
                <a:srgbClr val="3333CC"/>
              </a:buClr>
              <a:buSzPct val="83333"/>
              <a:buFont typeface="+mj-lt"/>
              <a:buAutoNum type="arabicParenR"/>
              <a:tabLst>
                <a:tab pos="355600" algn="l"/>
              </a:tabLst>
            </a:pP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a:t>
            </a:r>
            <a:r>
              <a:rPr lang="en-US" sz="2000" dirty="0" err="1">
                <a:latin typeface="Arial"/>
                <a:cs typeface="Arial"/>
              </a:rPr>
              <a:t>không</a:t>
            </a:r>
            <a:r>
              <a:rPr lang="en-US" sz="2000" dirty="0">
                <a:latin typeface="Arial"/>
                <a:cs typeface="Arial"/>
              </a:rPr>
              <a:t> </a:t>
            </a:r>
            <a:r>
              <a:rPr lang="en-US" sz="2000" dirty="0" err="1">
                <a:latin typeface="Arial"/>
                <a:cs typeface="Arial"/>
              </a:rPr>
              <a:t>bị</a:t>
            </a:r>
            <a:r>
              <a:rPr lang="en-US" sz="2000" dirty="0">
                <a:latin typeface="Arial"/>
                <a:cs typeface="Arial"/>
              </a:rPr>
              <a:t> </a:t>
            </a:r>
            <a:r>
              <a:rPr lang="en-US" sz="2000" dirty="0" err="1">
                <a:latin typeface="Arial"/>
                <a:cs typeface="Arial"/>
              </a:rPr>
              <a:t>lỗi</a:t>
            </a:r>
            <a:endParaRPr lang="en-US" sz="2000" dirty="0">
              <a:latin typeface="Arial"/>
              <a:cs typeface="Arial"/>
            </a:endParaRPr>
          </a:p>
          <a:p>
            <a:pPr marL="927100" lvl="1" indent="-457200">
              <a:spcBef>
                <a:spcPts val="575"/>
              </a:spcBef>
              <a:buClr>
                <a:srgbClr val="3333CC"/>
              </a:buClr>
              <a:buSzPct val="83333"/>
              <a:buFont typeface="+mj-lt"/>
              <a:buAutoNum type="arabicParenR"/>
              <a:tabLst>
                <a:tab pos="355600" algn="l"/>
              </a:tabLst>
            </a:pPr>
            <a:r>
              <a:rPr lang="vi-VN" sz="2000" dirty="0">
                <a:latin typeface="Arial"/>
                <a:cs typeface="Arial"/>
              </a:rPr>
              <a:t>Dữ liệu nhận được theo đúng trình tự gửi</a:t>
            </a:r>
          </a:p>
        </p:txBody>
      </p:sp>
    </p:spTree>
    <p:extLst>
      <p:ext uri="{BB962C8B-B14F-4D97-AF65-F5344CB8AC3E}">
        <p14:creationId xmlns:p14="http://schemas.microsoft.com/office/powerpoint/2010/main" val="958012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8528051" cy="566822"/>
          </a:xfrm>
          <a:prstGeom prst="rect">
            <a:avLst/>
          </a:prstGeom>
        </p:spPr>
        <p:txBody>
          <a:bodyPr vert="horz" wrap="square" lIns="0" tIns="12700" rIns="0" bIns="0" rtlCol="0">
            <a:spAutoFit/>
          </a:bodyPr>
          <a:lstStyle/>
          <a:p>
            <a:pPr marL="12700">
              <a:lnSpc>
                <a:spcPct val="100000"/>
              </a:lnSpc>
              <a:spcBef>
                <a:spcPts val="100"/>
              </a:spcBef>
            </a:pPr>
            <a:r>
              <a:rPr lang="en-US" spc="-5" dirty="0" err="1"/>
              <a:t>Xây</a:t>
            </a:r>
            <a:r>
              <a:rPr lang="en-US" spc="-5" dirty="0"/>
              <a:t> </a:t>
            </a:r>
            <a:r>
              <a:rPr lang="en-US" spc="-5" dirty="0" err="1"/>
              <a:t>dựng</a:t>
            </a:r>
            <a:r>
              <a:rPr lang="en-US" spc="-5" dirty="0"/>
              <a:t> </a:t>
            </a:r>
            <a:r>
              <a:rPr lang="en-US" spc="-5" dirty="0" err="1"/>
              <a:t>giao</a:t>
            </a:r>
            <a:r>
              <a:rPr lang="en-US" spc="-5" dirty="0"/>
              <a:t> </a:t>
            </a:r>
            <a:r>
              <a:rPr lang="en-US" spc="-5" dirty="0" err="1"/>
              <a:t>thức</a:t>
            </a:r>
            <a:r>
              <a:rPr lang="en-US" spc="-5" dirty="0"/>
              <a:t> </a:t>
            </a:r>
            <a:r>
              <a:rPr lang="en-US" spc="-5" dirty="0" err="1"/>
              <a:t>truyền</a:t>
            </a:r>
            <a:r>
              <a:rPr lang="en-US" spc="-5" dirty="0"/>
              <a:t> </a:t>
            </a:r>
            <a:r>
              <a:rPr lang="en-US" spc="-5" dirty="0" err="1"/>
              <a:t>dữ</a:t>
            </a:r>
            <a:r>
              <a:rPr lang="en-US" spc="-5" dirty="0"/>
              <a:t> </a:t>
            </a:r>
            <a:r>
              <a:rPr lang="en-US" spc="-5" dirty="0" err="1"/>
              <a:t>liệu</a:t>
            </a:r>
            <a:r>
              <a:rPr lang="en-US" spc="-5" dirty="0"/>
              <a:t> tin </a:t>
            </a:r>
            <a:r>
              <a:rPr lang="en-US" spc="-5" dirty="0" err="1"/>
              <a:t>cậy</a:t>
            </a:r>
            <a:endParaRPr spc="-5" dirty="0"/>
          </a:p>
        </p:txBody>
      </p:sp>
      <p:sp>
        <p:nvSpPr>
          <p:cNvPr id="4" name="object 4"/>
          <p:cNvSpPr txBox="1"/>
          <p:nvPr/>
        </p:nvSpPr>
        <p:spPr>
          <a:xfrm>
            <a:off x="1193546" y="1780286"/>
            <a:ext cx="8327644" cy="1284326"/>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400" spc="-5" dirty="0" err="1">
                <a:latin typeface="Arial"/>
                <a:cs typeface="Arial"/>
              </a:rPr>
              <a:t>Cách</a:t>
            </a:r>
            <a:r>
              <a:rPr lang="en-US" sz="2400" spc="-5" dirty="0">
                <a:latin typeface="Arial"/>
                <a:cs typeface="Arial"/>
              </a:rPr>
              <a:t> </a:t>
            </a:r>
            <a:r>
              <a:rPr lang="en-US" sz="2400" spc="-5" dirty="0" err="1">
                <a:latin typeface="Arial"/>
                <a:cs typeface="Arial"/>
              </a:rPr>
              <a:t>tiếp</a:t>
            </a:r>
            <a:r>
              <a:rPr lang="en-US" sz="2400" spc="-5" dirty="0">
                <a:latin typeface="Arial"/>
                <a:cs typeface="Arial"/>
              </a:rPr>
              <a:t> </a:t>
            </a:r>
            <a:r>
              <a:rPr lang="en-US" sz="2400" spc="-5" dirty="0" err="1">
                <a:latin typeface="Arial"/>
                <a:cs typeface="Arial"/>
              </a:rPr>
              <a:t>cận</a:t>
            </a:r>
            <a:r>
              <a:rPr lang="en-US" sz="2400" spc="-5" dirty="0">
                <a:latin typeface="Arial"/>
                <a:cs typeface="Arial"/>
              </a:rPr>
              <a:t>: </a:t>
            </a:r>
          </a:p>
          <a:p>
            <a:pPr marL="812800" lvl="1" indent="-342900">
              <a:spcBef>
                <a:spcPts val="675"/>
              </a:spcBef>
              <a:buClr>
                <a:srgbClr val="3333CC"/>
              </a:buClr>
              <a:buSzPct val="83333"/>
              <a:buFont typeface="Courier New" panose="02070309020205020404" pitchFamily="49" charset="0"/>
              <a:buChar char="o"/>
              <a:tabLst>
                <a:tab pos="355600" algn="l"/>
              </a:tabLst>
            </a:pPr>
            <a:r>
              <a:rPr lang="vi-VN" sz="2400" dirty="0">
                <a:latin typeface="Arial"/>
                <a:cs typeface="Arial"/>
              </a:rPr>
              <a:t>từng bước phát triển giao thức truyền dữ liệu tin cậy  giữa bên gửi và bên nhận</a:t>
            </a: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25</a:t>
            </a:fld>
            <a:endParaRPr lang="en-US" spc="-5" dirty="0"/>
          </a:p>
        </p:txBody>
      </p:sp>
    </p:spTree>
    <p:extLst>
      <p:ext uri="{BB962C8B-B14F-4D97-AF65-F5344CB8AC3E}">
        <p14:creationId xmlns:p14="http://schemas.microsoft.com/office/powerpoint/2010/main" val="2262687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5539" y="1758188"/>
            <a:ext cx="7639050" cy="3490699"/>
          </a:xfrm>
          <a:prstGeom prst="rect">
            <a:avLst/>
          </a:prstGeom>
        </p:spPr>
        <p:txBody>
          <a:bodyPr vert="horz" wrap="square" lIns="0" tIns="12700" rIns="0" bIns="0" rtlCol="0">
            <a:spAutoFit/>
          </a:bodyPr>
          <a:lstStyle/>
          <a:p>
            <a:pPr marL="355600" indent="-342900">
              <a:lnSpc>
                <a:spcPts val="2825"/>
              </a:lnSpc>
              <a:spcBef>
                <a:spcPts val="100"/>
              </a:spcBef>
              <a:buClr>
                <a:srgbClr val="3333CC"/>
              </a:buClr>
              <a:buSzPct val="83333"/>
              <a:buFont typeface="Wingdings"/>
              <a:buChar char=""/>
              <a:tabLst>
                <a:tab pos="355600" algn="l"/>
              </a:tabLst>
            </a:pPr>
            <a:r>
              <a:rPr lang="en-US" sz="2800" dirty="0" err="1">
                <a:latin typeface="Arial"/>
                <a:cs typeface="Arial"/>
              </a:rPr>
              <a:t>Phát</a:t>
            </a:r>
            <a:r>
              <a:rPr lang="en-US" sz="2800" dirty="0">
                <a:latin typeface="Arial"/>
                <a:cs typeface="Arial"/>
              </a:rPr>
              <a:t> </a:t>
            </a:r>
            <a:r>
              <a:rPr lang="en-US" sz="2800" dirty="0" err="1">
                <a:latin typeface="Arial"/>
                <a:cs typeface="Arial"/>
              </a:rPr>
              <a:t>hiện</a:t>
            </a:r>
            <a:r>
              <a:rPr lang="en-US" sz="2800" dirty="0">
                <a:latin typeface="Arial"/>
                <a:cs typeface="Arial"/>
              </a:rPr>
              <a:t> </a:t>
            </a:r>
            <a:r>
              <a:rPr lang="en-US" sz="2800" dirty="0" err="1">
                <a:latin typeface="Arial"/>
                <a:cs typeface="Arial"/>
              </a:rPr>
              <a:t>lỗi</a:t>
            </a:r>
            <a:r>
              <a:rPr lang="en-US" sz="2800" dirty="0">
                <a:latin typeface="Arial"/>
                <a:cs typeface="Arial"/>
              </a:rPr>
              <a:t>?</a:t>
            </a:r>
            <a:endParaRPr sz="2800" dirty="0">
              <a:latin typeface="Arial"/>
              <a:cs typeface="Arial"/>
            </a:endParaRPr>
          </a:p>
          <a:p>
            <a:pPr marL="755650" lvl="1" indent="-285750">
              <a:lnSpc>
                <a:spcPts val="2270"/>
              </a:lnSpc>
              <a:buClr>
                <a:srgbClr val="3333CC"/>
              </a:buClr>
              <a:buSzPct val="75000"/>
              <a:buFont typeface="Wingdings"/>
              <a:buChar char=""/>
              <a:tabLst>
                <a:tab pos="755650" algn="l"/>
              </a:tabLst>
            </a:pPr>
            <a:r>
              <a:rPr lang="en-US" sz="2400" dirty="0" err="1">
                <a:latin typeface="Arial"/>
                <a:cs typeface="Arial"/>
              </a:rPr>
              <a:t>Ví</a:t>
            </a:r>
            <a:r>
              <a:rPr lang="en-US" sz="2400" dirty="0">
                <a:latin typeface="Arial"/>
                <a:cs typeface="Arial"/>
              </a:rPr>
              <a:t> </a:t>
            </a:r>
            <a:r>
              <a:rPr lang="en-US" sz="2400" dirty="0" err="1">
                <a:latin typeface="Arial"/>
                <a:cs typeface="Arial"/>
              </a:rPr>
              <a:t>dụ</a:t>
            </a:r>
            <a:r>
              <a:rPr lang="en-US" sz="2400" dirty="0">
                <a:latin typeface="Arial"/>
                <a:cs typeface="Arial"/>
              </a:rPr>
              <a:t>, </a:t>
            </a:r>
            <a:r>
              <a:rPr sz="2400" dirty="0" err="1">
                <a:latin typeface="Arial"/>
                <a:cs typeface="Arial"/>
              </a:rPr>
              <a:t>dùng</a:t>
            </a:r>
            <a:r>
              <a:rPr sz="2400" dirty="0">
                <a:latin typeface="Arial"/>
                <a:cs typeface="Arial"/>
              </a:rPr>
              <a:t> checksum để phát </a:t>
            </a:r>
            <a:r>
              <a:rPr sz="2400" dirty="0" err="1">
                <a:latin typeface="Arial"/>
                <a:cs typeface="Arial"/>
              </a:rPr>
              <a:t>hiện</a:t>
            </a:r>
            <a:r>
              <a:rPr sz="2400" dirty="0">
                <a:latin typeface="Arial"/>
                <a:cs typeface="Arial"/>
              </a:rPr>
              <a:t> b</a:t>
            </a:r>
            <a:r>
              <a:rPr lang="en-US" sz="2400" dirty="0">
                <a:latin typeface="Arial"/>
                <a:cs typeface="Arial"/>
              </a:rPr>
              <a:t>it</a:t>
            </a:r>
            <a:r>
              <a:rPr sz="2400" dirty="0">
                <a:latin typeface="Arial"/>
                <a:cs typeface="Arial"/>
              </a:rPr>
              <a:t> bị lỗi</a:t>
            </a:r>
          </a:p>
          <a:p>
            <a:pPr marL="355600" indent="-342900">
              <a:lnSpc>
                <a:spcPts val="2805"/>
              </a:lnSpc>
              <a:buClr>
                <a:srgbClr val="3333CC"/>
              </a:buClr>
              <a:buSzPct val="83333"/>
              <a:buFont typeface="Wingdings"/>
              <a:buChar char=""/>
              <a:tabLst>
                <a:tab pos="355600" algn="l"/>
              </a:tabLst>
            </a:pPr>
            <a:r>
              <a:rPr lang="en-US" sz="2800" dirty="0" err="1">
                <a:latin typeface="Arial"/>
                <a:cs typeface="Arial"/>
              </a:rPr>
              <a:t>Làm</a:t>
            </a:r>
            <a:r>
              <a:rPr lang="en-US" sz="2800" dirty="0">
                <a:latin typeface="Arial"/>
                <a:cs typeface="Arial"/>
              </a:rPr>
              <a:t> </a:t>
            </a:r>
            <a:r>
              <a:rPr lang="en-US" sz="2800" dirty="0" err="1">
                <a:latin typeface="Arial"/>
                <a:cs typeface="Arial"/>
              </a:rPr>
              <a:t>thế</a:t>
            </a:r>
            <a:r>
              <a:rPr lang="en-US" sz="2800" dirty="0">
                <a:latin typeface="Arial"/>
                <a:cs typeface="Arial"/>
              </a:rPr>
              <a:t> </a:t>
            </a:r>
            <a:r>
              <a:rPr lang="en-US" sz="2800" dirty="0" err="1">
                <a:latin typeface="Arial"/>
                <a:cs typeface="Arial"/>
              </a:rPr>
              <a:t>nào</a:t>
            </a:r>
            <a:r>
              <a:rPr lang="en-US" sz="2800" dirty="0">
                <a:latin typeface="Arial"/>
                <a:cs typeface="Arial"/>
              </a:rPr>
              <a:t> </a:t>
            </a:r>
            <a:r>
              <a:rPr lang="en-US" sz="2800" dirty="0" err="1">
                <a:latin typeface="Arial"/>
                <a:cs typeface="Arial"/>
              </a:rPr>
              <a:t>để</a:t>
            </a:r>
            <a:r>
              <a:rPr lang="en-US" sz="2800" dirty="0">
                <a:latin typeface="Arial"/>
                <a:cs typeface="Arial"/>
              </a:rPr>
              <a:t> </a:t>
            </a:r>
            <a:r>
              <a:rPr lang="en-US" sz="2800" dirty="0" err="1">
                <a:latin typeface="Arial"/>
                <a:cs typeface="Arial"/>
              </a:rPr>
              <a:t>báo</a:t>
            </a:r>
            <a:r>
              <a:rPr lang="en-US" sz="2800" dirty="0">
                <a:latin typeface="Arial"/>
                <a:cs typeface="Arial"/>
              </a:rPr>
              <a:t> </a:t>
            </a:r>
            <a:r>
              <a:rPr lang="en-US" sz="2800" dirty="0" err="1">
                <a:latin typeface="Arial"/>
                <a:cs typeface="Arial"/>
              </a:rPr>
              <a:t>cho</a:t>
            </a:r>
            <a:r>
              <a:rPr lang="en-US" sz="2800" dirty="0">
                <a:latin typeface="Arial"/>
                <a:cs typeface="Arial"/>
              </a:rPr>
              <a:t> </a:t>
            </a:r>
            <a:r>
              <a:rPr lang="en-US" sz="2800" dirty="0" err="1">
                <a:latin typeface="Arial"/>
                <a:cs typeface="Arial"/>
              </a:rPr>
              <a:t>bên</a:t>
            </a:r>
            <a:r>
              <a:rPr lang="en-US" sz="2800" dirty="0">
                <a:latin typeface="Arial"/>
                <a:cs typeface="Arial"/>
              </a:rPr>
              <a:t> </a:t>
            </a:r>
            <a:r>
              <a:rPr lang="en-US" sz="2800" dirty="0" err="1">
                <a:latin typeface="Arial"/>
                <a:cs typeface="Arial"/>
              </a:rPr>
              <a:t>gửi</a:t>
            </a:r>
            <a:r>
              <a:rPr lang="en-US" sz="2800" dirty="0">
                <a:latin typeface="Arial"/>
                <a:cs typeface="Arial"/>
              </a:rPr>
              <a:t>?</a:t>
            </a:r>
            <a:endParaRPr sz="2800" dirty="0">
              <a:latin typeface="Arial"/>
              <a:cs typeface="Arial"/>
            </a:endParaRPr>
          </a:p>
          <a:p>
            <a:pPr marL="755650" marR="5080" lvl="1" indent="-285750">
              <a:lnSpc>
                <a:spcPct val="100000"/>
              </a:lnSpc>
              <a:spcBef>
                <a:spcPts val="1080"/>
              </a:spcBef>
              <a:buClr>
                <a:srgbClr val="3333CC"/>
              </a:buClr>
              <a:buSzPct val="75000"/>
              <a:buFont typeface="Wingdings"/>
              <a:buChar char=""/>
              <a:tabLst>
                <a:tab pos="755650" algn="l"/>
              </a:tabLst>
            </a:pPr>
            <a:r>
              <a:rPr sz="2400" i="1" dirty="0">
                <a:solidFill>
                  <a:srgbClr val="CC0000"/>
                </a:solidFill>
                <a:latin typeface="Arial"/>
                <a:cs typeface="Arial"/>
              </a:rPr>
              <a:t>acknowledgements (ACKs): </a:t>
            </a:r>
            <a:r>
              <a:rPr sz="2400" dirty="0">
                <a:latin typeface="Arial"/>
                <a:cs typeface="Arial"/>
              </a:rPr>
              <a:t>bên nhận thông báo cho bên gửi là  gói tin đã nhận không có lỗi</a:t>
            </a:r>
          </a:p>
          <a:p>
            <a:pPr marL="755650" marR="384810" lvl="1" indent="-285750">
              <a:lnSpc>
                <a:spcPct val="100000"/>
              </a:lnSpc>
              <a:spcBef>
                <a:spcPts val="484"/>
              </a:spcBef>
              <a:buClr>
                <a:srgbClr val="3333CC"/>
              </a:buClr>
              <a:buSzPct val="75000"/>
              <a:buFont typeface="Wingdings"/>
              <a:buChar char=""/>
              <a:tabLst>
                <a:tab pos="755650" algn="l"/>
              </a:tabLst>
            </a:pPr>
            <a:r>
              <a:rPr sz="2400" i="1" dirty="0">
                <a:solidFill>
                  <a:srgbClr val="CC0000"/>
                </a:solidFill>
                <a:latin typeface="Arial"/>
                <a:cs typeface="Arial"/>
              </a:rPr>
              <a:t>negative acknowledgements (NAKs): </a:t>
            </a:r>
            <a:r>
              <a:rPr sz="2400" dirty="0">
                <a:latin typeface="Arial"/>
                <a:cs typeface="Arial"/>
              </a:rPr>
              <a:t>bên nhận thông báo  cho bên gửi là gói tin </a:t>
            </a:r>
            <a:r>
              <a:rPr sz="2400" dirty="0" err="1">
                <a:latin typeface="Arial"/>
                <a:cs typeface="Arial"/>
              </a:rPr>
              <a:t>có</a:t>
            </a:r>
            <a:r>
              <a:rPr sz="2400" dirty="0">
                <a:latin typeface="Arial"/>
                <a:cs typeface="Arial"/>
              </a:rPr>
              <a:t> </a:t>
            </a:r>
            <a:r>
              <a:rPr sz="2400" dirty="0" err="1">
                <a:latin typeface="Arial"/>
                <a:cs typeface="Arial"/>
              </a:rPr>
              <a:t>lỗi</a:t>
            </a:r>
            <a:endParaRPr lang="en-US" sz="2400" dirty="0">
              <a:latin typeface="Arial"/>
              <a:cs typeface="Arial"/>
            </a:endParaRPr>
          </a:p>
          <a:p>
            <a:pPr marL="355600" marR="384810" indent="-342900">
              <a:lnSpc>
                <a:spcPts val="2805"/>
              </a:lnSpc>
              <a:spcBef>
                <a:spcPts val="484"/>
              </a:spcBef>
              <a:buClr>
                <a:srgbClr val="3333CC"/>
              </a:buClr>
              <a:buSzPct val="83333"/>
              <a:buFont typeface="Wingdings"/>
              <a:buChar char=""/>
              <a:tabLst>
                <a:tab pos="355600" algn="l"/>
              </a:tabLst>
            </a:pPr>
            <a:r>
              <a:rPr lang="en-US" sz="2800" dirty="0" err="1">
                <a:latin typeface="Arial"/>
                <a:cs typeface="Arial"/>
              </a:rPr>
              <a:t>Phản</a:t>
            </a:r>
            <a:r>
              <a:rPr lang="en-US" sz="2800" dirty="0">
                <a:latin typeface="Arial"/>
                <a:cs typeface="Arial"/>
              </a:rPr>
              <a:t> </a:t>
            </a:r>
            <a:r>
              <a:rPr lang="en-US" sz="2800" dirty="0" err="1">
                <a:latin typeface="Arial"/>
                <a:cs typeface="Arial"/>
              </a:rPr>
              <a:t>ứng</a:t>
            </a:r>
            <a:r>
              <a:rPr lang="en-US" sz="2800" dirty="0">
                <a:latin typeface="Arial"/>
                <a:cs typeface="Arial"/>
              </a:rPr>
              <a:t> </a:t>
            </a:r>
            <a:r>
              <a:rPr lang="en-US" sz="2800" dirty="0" err="1">
                <a:latin typeface="Arial"/>
                <a:cs typeface="Arial"/>
              </a:rPr>
              <a:t>của</a:t>
            </a:r>
            <a:r>
              <a:rPr lang="en-US" sz="2800" dirty="0">
                <a:latin typeface="Arial"/>
                <a:cs typeface="Arial"/>
              </a:rPr>
              <a:t> </a:t>
            </a:r>
            <a:r>
              <a:rPr lang="en-US" sz="2800" dirty="0" err="1">
                <a:latin typeface="Arial"/>
                <a:cs typeface="Arial"/>
              </a:rPr>
              <a:t>bên</a:t>
            </a:r>
            <a:r>
              <a:rPr lang="en-US" sz="2800" dirty="0">
                <a:latin typeface="Arial"/>
                <a:cs typeface="Arial"/>
              </a:rPr>
              <a:t> </a:t>
            </a:r>
            <a:r>
              <a:rPr lang="en-US" sz="2800" dirty="0" err="1">
                <a:latin typeface="Arial"/>
                <a:cs typeface="Arial"/>
              </a:rPr>
              <a:t>gửi</a:t>
            </a:r>
            <a:r>
              <a:rPr lang="en-US" sz="2800" dirty="0">
                <a:latin typeface="Arial"/>
                <a:cs typeface="Arial"/>
              </a:rPr>
              <a:t>?</a:t>
            </a:r>
            <a:endParaRPr sz="2800" dirty="0">
              <a:latin typeface="Arial"/>
              <a:cs typeface="Arial"/>
            </a:endParaRPr>
          </a:p>
          <a:p>
            <a:pPr marL="755650" lvl="1" indent="-285750">
              <a:lnSpc>
                <a:spcPts val="2325"/>
              </a:lnSpc>
              <a:spcBef>
                <a:spcPts val="475"/>
              </a:spcBef>
              <a:buClr>
                <a:srgbClr val="3333CC"/>
              </a:buClr>
              <a:buSzPct val="75000"/>
              <a:buFont typeface="Wingdings"/>
              <a:buChar char=""/>
              <a:tabLst>
                <a:tab pos="755650" algn="l"/>
              </a:tabLst>
            </a:pPr>
            <a:r>
              <a:rPr sz="2400" dirty="0">
                <a:latin typeface="Arial"/>
                <a:cs typeface="Arial"/>
              </a:rPr>
              <a:t>bên gửi truyền lại gói tin khi nhận </a:t>
            </a:r>
            <a:r>
              <a:rPr sz="2400" dirty="0" err="1">
                <a:latin typeface="Arial"/>
                <a:cs typeface="Arial"/>
              </a:rPr>
              <a:t>được</a:t>
            </a:r>
            <a:r>
              <a:rPr sz="2400" dirty="0">
                <a:latin typeface="Arial"/>
                <a:cs typeface="Arial"/>
              </a:rPr>
              <a:t> NAK</a:t>
            </a:r>
          </a:p>
        </p:txBody>
      </p:sp>
      <p:sp>
        <p:nvSpPr>
          <p:cNvPr id="3" name="object 3"/>
          <p:cNvSpPr txBox="1">
            <a:spLocks noGrp="1"/>
          </p:cNvSpPr>
          <p:nvPr>
            <p:ph type="title"/>
          </p:nvPr>
        </p:nvSpPr>
        <p:spPr>
          <a:xfrm>
            <a:off x="762000" y="304800"/>
            <a:ext cx="8989061" cy="628377"/>
          </a:xfrm>
          <a:prstGeom prst="rect">
            <a:avLst/>
          </a:prstGeom>
        </p:spPr>
        <p:txBody>
          <a:bodyPr vert="horz" wrap="square" lIns="0" tIns="12700" rIns="0" bIns="0" rtlCol="0">
            <a:spAutoFit/>
          </a:bodyPr>
          <a:lstStyle/>
          <a:p>
            <a:pPr marL="12700">
              <a:lnSpc>
                <a:spcPct val="100000"/>
              </a:lnSpc>
              <a:spcBef>
                <a:spcPts val="100"/>
              </a:spcBef>
            </a:pPr>
            <a:r>
              <a:rPr lang="en-US" sz="4000" dirty="0" err="1"/>
              <a:t>Kênh</a:t>
            </a:r>
            <a:r>
              <a:rPr lang="en-US" sz="4000" dirty="0"/>
              <a:t> </a:t>
            </a:r>
            <a:r>
              <a:rPr lang="en-US" sz="4000" dirty="0" err="1"/>
              <a:t>có</a:t>
            </a:r>
            <a:r>
              <a:rPr lang="en-US" sz="4000" dirty="0"/>
              <a:t> </a:t>
            </a:r>
            <a:r>
              <a:rPr lang="en-US" sz="4000" dirty="0" err="1"/>
              <a:t>lỗi</a:t>
            </a:r>
            <a:r>
              <a:rPr lang="en-US" sz="4000" dirty="0"/>
              <a:t> bit, </a:t>
            </a:r>
            <a:r>
              <a:rPr lang="en-US" sz="4000" dirty="0" err="1"/>
              <a:t>không</a:t>
            </a:r>
            <a:r>
              <a:rPr lang="en-US" sz="4000" dirty="0"/>
              <a:t> </a:t>
            </a:r>
            <a:r>
              <a:rPr lang="en-US" sz="4000" dirty="0" err="1"/>
              <a:t>bị</a:t>
            </a:r>
            <a:r>
              <a:rPr lang="en-US" sz="4000" dirty="0"/>
              <a:t> </a:t>
            </a:r>
            <a:r>
              <a:rPr lang="en-US" sz="4000" dirty="0" err="1"/>
              <a:t>mất</a:t>
            </a:r>
            <a:r>
              <a:rPr lang="en-US" sz="4000" dirty="0"/>
              <a:t> tin</a:t>
            </a:r>
            <a:endParaRPr sz="4000" dirty="0"/>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26</a:t>
            </a:fld>
            <a:endParaRPr lang="en-US" spc="-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2000" y="304800"/>
            <a:ext cx="8989061" cy="628377"/>
          </a:xfrm>
          <a:prstGeom prst="rect">
            <a:avLst/>
          </a:prstGeom>
        </p:spPr>
        <p:txBody>
          <a:bodyPr vert="horz" wrap="square" lIns="0" tIns="12700" rIns="0" bIns="0" rtlCol="0">
            <a:spAutoFit/>
          </a:bodyPr>
          <a:lstStyle/>
          <a:p>
            <a:pPr marL="12700">
              <a:lnSpc>
                <a:spcPct val="100000"/>
              </a:lnSpc>
              <a:spcBef>
                <a:spcPts val="100"/>
              </a:spcBef>
            </a:pPr>
            <a:r>
              <a:rPr lang="en-US" sz="4000" dirty="0" err="1"/>
              <a:t>Hoạt</a:t>
            </a:r>
            <a:r>
              <a:rPr lang="en-US" sz="4000" dirty="0"/>
              <a:t> </a:t>
            </a:r>
            <a:r>
              <a:rPr lang="en-US" sz="4000" dirty="0" err="1"/>
              <a:t>động</a:t>
            </a:r>
            <a:endParaRPr sz="4000" dirty="0"/>
          </a:p>
        </p:txBody>
      </p:sp>
      <p:sp>
        <p:nvSpPr>
          <p:cNvPr id="2" name="Slide Number Placeholder 1"/>
          <p:cNvSpPr>
            <a:spLocks noGrp="1"/>
          </p:cNvSpPr>
          <p:nvPr>
            <p:ph type="sldNum" sz="quarter" idx="7"/>
          </p:nvPr>
        </p:nvSpPr>
        <p:spPr/>
        <p:txBody>
          <a:bodyPr/>
          <a:lstStyle/>
          <a:p>
            <a:pPr marL="12700">
              <a:lnSpc>
                <a:spcPts val="1645"/>
              </a:lnSpc>
            </a:pPr>
            <a:fld id="{81D60167-4931-47E6-BA6A-407CBD079E47}" type="slidenum">
              <a:rPr lang="en-US" spc="-5" smtClean="0"/>
              <a:t>27</a:t>
            </a:fld>
            <a:endParaRPr lang="en-US" spc="-5" dirty="0"/>
          </a:p>
        </p:txBody>
      </p:sp>
      <p:pic>
        <p:nvPicPr>
          <p:cNvPr id="4" name="Picture 3"/>
          <p:cNvPicPr>
            <a:picLocks noChangeAspect="1"/>
          </p:cNvPicPr>
          <p:nvPr/>
        </p:nvPicPr>
        <p:blipFill>
          <a:blip r:embed="rId3"/>
          <a:stretch>
            <a:fillRect/>
          </a:stretch>
        </p:blipFill>
        <p:spPr>
          <a:xfrm>
            <a:off x="1295400" y="1295400"/>
            <a:ext cx="7171763" cy="6051175"/>
          </a:xfrm>
          <a:prstGeom prst="rect">
            <a:avLst/>
          </a:prstGeom>
        </p:spPr>
      </p:pic>
    </p:spTree>
    <p:extLst>
      <p:ext uri="{BB962C8B-B14F-4D97-AF65-F5344CB8AC3E}">
        <p14:creationId xmlns:p14="http://schemas.microsoft.com/office/powerpoint/2010/main" val="1701915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758188"/>
            <a:ext cx="3502661" cy="2282676"/>
          </a:xfrm>
          <a:prstGeom prst="rect">
            <a:avLst/>
          </a:prstGeom>
        </p:spPr>
        <p:txBody>
          <a:bodyPr vert="horz" wrap="square" lIns="0" tIns="12700" rIns="0" bIns="0" rtlCol="0">
            <a:spAutoFit/>
          </a:bodyPr>
          <a:lstStyle/>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Cần</a:t>
            </a:r>
            <a:r>
              <a:rPr lang="en-US" sz="2400" dirty="0">
                <a:latin typeface="Arial"/>
                <a:cs typeface="Arial"/>
              </a:rPr>
              <a:t> </a:t>
            </a:r>
            <a:r>
              <a:rPr lang="en-US" sz="2400" dirty="0" err="1">
                <a:latin typeface="Arial"/>
                <a:cs typeface="Arial"/>
              </a:rPr>
              <a:t>truyền</a:t>
            </a:r>
            <a:r>
              <a:rPr lang="en-US" sz="2400" dirty="0">
                <a:latin typeface="Arial"/>
                <a:cs typeface="Arial"/>
              </a:rPr>
              <a:t> </a:t>
            </a:r>
            <a:r>
              <a:rPr lang="en-US" sz="2400" dirty="0" err="1">
                <a:latin typeface="Arial"/>
                <a:cs typeface="Arial"/>
              </a:rPr>
              <a:t>lại</a:t>
            </a:r>
            <a:endParaRPr lang="en-US" sz="2400" dirty="0">
              <a:latin typeface="Arial"/>
              <a:cs typeface="Arial"/>
            </a:endParaRPr>
          </a:p>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Xử</a:t>
            </a:r>
            <a:r>
              <a:rPr lang="en-US" sz="2400" dirty="0">
                <a:latin typeface="Arial"/>
                <a:cs typeface="Arial"/>
              </a:rPr>
              <a:t> </a:t>
            </a:r>
            <a:r>
              <a:rPr lang="en-US" sz="2400" dirty="0" err="1">
                <a:latin typeface="Arial"/>
                <a:cs typeface="Arial"/>
              </a:rPr>
              <a:t>lý</a:t>
            </a:r>
            <a:r>
              <a:rPr lang="en-US" sz="2400" dirty="0">
                <a:latin typeface="Arial"/>
                <a:cs typeface="Arial"/>
              </a:rPr>
              <a:t> </a:t>
            </a:r>
            <a:r>
              <a:rPr lang="en-US" sz="2400" dirty="0" err="1">
                <a:latin typeface="Arial"/>
                <a:cs typeface="Arial"/>
              </a:rPr>
              <a:t>việc</a:t>
            </a:r>
            <a:r>
              <a:rPr lang="en-US" sz="2400" dirty="0">
                <a:latin typeface="Arial"/>
                <a:cs typeface="Arial"/>
              </a:rPr>
              <a:t> </a:t>
            </a:r>
            <a:r>
              <a:rPr lang="en-US" sz="2400" dirty="0" err="1">
                <a:latin typeface="Arial"/>
                <a:cs typeface="Arial"/>
              </a:rPr>
              <a:t>lặp</a:t>
            </a:r>
            <a:r>
              <a:rPr lang="en-US" sz="2400" dirty="0">
                <a:latin typeface="Arial"/>
                <a:cs typeface="Arial"/>
              </a:rPr>
              <a:t> </a:t>
            </a:r>
            <a:r>
              <a:rPr lang="en-US" sz="2400" dirty="0" err="1">
                <a:latin typeface="Arial"/>
                <a:cs typeface="Arial"/>
              </a:rPr>
              <a:t>gói</a:t>
            </a:r>
            <a:r>
              <a:rPr lang="en-US" sz="2400" dirty="0">
                <a:latin typeface="Arial"/>
                <a:cs typeface="Arial"/>
              </a:rPr>
              <a:t> </a:t>
            </a:r>
            <a:r>
              <a:rPr lang="en-US" sz="2400" dirty="0" err="1">
                <a:latin typeface="Arial"/>
                <a:cs typeface="Arial"/>
              </a:rPr>
              <a:t>như</a:t>
            </a:r>
            <a:r>
              <a:rPr lang="en-US" sz="2400" dirty="0">
                <a:latin typeface="Arial"/>
                <a:cs typeface="Arial"/>
              </a:rPr>
              <a:t> </a:t>
            </a:r>
            <a:r>
              <a:rPr lang="en-US" sz="2400" dirty="0" err="1">
                <a:latin typeface="Arial"/>
                <a:cs typeface="Arial"/>
              </a:rPr>
              <a:t>thế</a:t>
            </a:r>
            <a:r>
              <a:rPr lang="en-US" sz="2400" dirty="0">
                <a:latin typeface="Arial"/>
                <a:cs typeface="Arial"/>
              </a:rPr>
              <a:t> </a:t>
            </a:r>
            <a:r>
              <a:rPr lang="en-US" sz="2400" dirty="0" err="1">
                <a:latin typeface="Arial"/>
                <a:cs typeface="Arial"/>
              </a:rPr>
              <a:t>nào</a:t>
            </a:r>
            <a:r>
              <a:rPr lang="en-US" sz="2400" dirty="0">
                <a:latin typeface="Arial"/>
                <a:cs typeface="Arial"/>
              </a:rPr>
              <a:t>?</a:t>
            </a:r>
            <a:endParaRPr sz="2400" dirty="0">
              <a:latin typeface="Arial"/>
              <a:cs typeface="Arial"/>
            </a:endParaRP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Bên</a:t>
            </a:r>
            <a:r>
              <a:rPr lang="en-US" sz="2000" dirty="0">
                <a:latin typeface="Arial"/>
                <a:cs typeface="Arial"/>
              </a:rPr>
              <a:t> </a:t>
            </a:r>
            <a:r>
              <a:rPr lang="en-US" sz="2000" dirty="0" err="1">
                <a:latin typeface="Arial"/>
                <a:cs typeface="Arial"/>
              </a:rPr>
              <a:t>gửi</a:t>
            </a:r>
            <a:r>
              <a:rPr lang="en-US" sz="2000" dirty="0">
                <a:latin typeface="Arial"/>
                <a:cs typeface="Arial"/>
              </a:rPr>
              <a:t>: </a:t>
            </a:r>
            <a:r>
              <a:rPr lang="en-US" sz="2000" dirty="0" err="1">
                <a:latin typeface="Arial"/>
                <a:cs typeface="Arial"/>
              </a:rPr>
              <a:t>thêm</a:t>
            </a:r>
            <a:r>
              <a:rPr lang="en-US" sz="2000" dirty="0">
                <a:latin typeface="Arial"/>
                <a:cs typeface="Arial"/>
              </a:rPr>
              <a:t> </a:t>
            </a:r>
            <a:r>
              <a:rPr lang="en-US" sz="2000" dirty="0" err="1">
                <a:latin typeface="Arial"/>
                <a:cs typeface="Arial"/>
              </a:rPr>
              <a:t>seq</a:t>
            </a:r>
            <a:r>
              <a:rPr lang="en-US" sz="2000" dirty="0">
                <a:latin typeface="Arial"/>
                <a:cs typeface="Arial"/>
              </a:rPr>
              <a:t> #</a:t>
            </a: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Bên</a:t>
            </a:r>
            <a:r>
              <a:rPr lang="en-US" sz="2000" dirty="0">
                <a:latin typeface="Arial"/>
                <a:cs typeface="Arial"/>
              </a:rPr>
              <a:t> </a:t>
            </a:r>
            <a:r>
              <a:rPr lang="en-US" sz="2000" dirty="0" err="1">
                <a:latin typeface="Arial"/>
                <a:cs typeface="Arial"/>
              </a:rPr>
              <a:t>nhận</a:t>
            </a:r>
            <a:r>
              <a:rPr lang="en-US" sz="2000" dirty="0">
                <a:latin typeface="Arial"/>
                <a:cs typeface="Arial"/>
              </a:rPr>
              <a:t>: </a:t>
            </a:r>
            <a:r>
              <a:rPr lang="en-US" sz="2000" dirty="0" err="1">
                <a:latin typeface="Arial"/>
                <a:cs typeface="Arial"/>
              </a:rPr>
              <a:t>hủy</a:t>
            </a:r>
            <a:r>
              <a:rPr lang="en-US" sz="2000" dirty="0">
                <a:latin typeface="Arial"/>
                <a:cs typeface="Arial"/>
              </a:rPr>
              <a:t> packet </a:t>
            </a:r>
            <a:r>
              <a:rPr lang="en-US" sz="2000" dirty="0" err="1">
                <a:latin typeface="Arial"/>
                <a:cs typeface="Arial"/>
              </a:rPr>
              <a:t>trùng</a:t>
            </a:r>
            <a:r>
              <a:rPr lang="en-US" sz="2000" dirty="0">
                <a:latin typeface="Arial"/>
                <a:cs typeface="Arial"/>
              </a:rPr>
              <a:t> </a:t>
            </a:r>
            <a:r>
              <a:rPr lang="en-US" sz="2000" dirty="0" err="1">
                <a:latin typeface="Arial"/>
                <a:cs typeface="Arial"/>
              </a:rPr>
              <a:t>lặp</a:t>
            </a:r>
            <a:endParaRPr lang="en-US" sz="2000" dirty="0">
              <a:latin typeface="Arial"/>
              <a:cs typeface="Arial"/>
            </a:endParaRPr>
          </a:p>
          <a:p>
            <a:pPr marL="755650" lvl="1" indent="-285750">
              <a:lnSpc>
                <a:spcPts val="2270"/>
              </a:lnSpc>
              <a:buClr>
                <a:srgbClr val="3333CC"/>
              </a:buClr>
              <a:buSzPct val="75000"/>
              <a:buFont typeface="Wingdings"/>
              <a:buChar char=""/>
              <a:tabLst>
                <a:tab pos="755650" algn="l"/>
              </a:tabLst>
            </a:pPr>
            <a:endParaRPr sz="2000" dirty="0">
              <a:latin typeface="Arial"/>
              <a:cs typeface="Arial"/>
            </a:endParaRPr>
          </a:p>
        </p:txBody>
      </p:sp>
      <p:sp>
        <p:nvSpPr>
          <p:cNvPr id="3" name="object 3"/>
          <p:cNvSpPr txBox="1">
            <a:spLocks noGrp="1"/>
          </p:cNvSpPr>
          <p:nvPr>
            <p:ph type="title"/>
          </p:nvPr>
        </p:nvSpPr>
        <p:spPr>
          <a:xfrm>
            <a:off x="762000" y="304800"/>
            <a:ext cx="8989061" cy="628377"/>
          </a:xfrm>
          <a:prstGeom prst="rect">
            <a:avLst/>
          </a:prstGeom>
        </p:spPr>
        <p:txBody>
          <a:bodyPr vert="horz" wrap="square" lIns="0" tIns="12700" rIns="0" bIns="0" rtlCol="0">
            <a:spAutoFit/>
          </a:bodyPr>
          <a:lstStyle/>
          <a:p>
            <a:pPr marL="12700">
              <a:lnSpc>
                <a:spcPct val="100000"/>
              </a:lnSpc>
              <a:spcBef>
                <a:spcPts val="100"/>
              </a:spcBef>
            </a:pPr>
            <a:r>
              <a:rPr lang="en-US" sz="4000" dirty="0" err="1"/>
              <a:t>Lỗi</a:t>
            </a:r>
            <a:r>
              <a:rPr lang="en-US" sz="4000" dirty="0"/>
              <a:t> ACK/NAK</a:t>
            </a:r>
            <a:endParaRPr sz="4000" dirty="0"/>
          </a:p>
        </p:txBody>
      </p:sp>
      <p:graphicFrame>
        <p:nvGraphicFramePr>
          <p:cNvPr id="5" name="Object 4"/>
          <p:cNvGraphicFramePr>
            <a:graphicFrameLocks noChangeAspect="1"/>
          </p:cNvGraphicFramePr>
          <p:nvPr>
            <p:extLst>
              <p:ext uri="{D42A27DB-BD31-4B8C-83A1-F6EECF244321}">
                <p14:modId xmlns:p14="http://schemas.microsoft.com/office/powerpoint/2010/main" val="3149218312"/>
              </p:ext>
            </p:extLst>
          </p:nvPr>
        </p:nvGraphicFramePr>
        <p:xfrm>
          <a:off x="4551679" y="1090271"/>
          <a:ext cx="4972232" cy="5655900"/>
        </p:xfrm>
        <a:graphic>
          <a:graphicData uri="http://schemas.openxmlformats.org/presentationml/2006/ole">
            <mc:AlternateContent xmlns:mc="http://schemas.openxmlformats.org/markup-compatibility/2006">
              <mc:Choice xmlns:v="urn:schemas-microsoft-com:vml" Requires="v">
                <p:oleObj name="Bitmap Image" r:id="rId3" imgW="4541400" imgH="3535560" progId="Paint.Picture">
                  <p:embed/>
                </p:oleObj>
              </mc:Choice>
              <mc:Fallback>
                <p:oleObj name="Bitmap Image" r:id="rId3" imgW="4541400" imgH="3535560" progId="Paint.Picture">
                  <p:embed/>
                  <p:pic>
                    <p:nvPicPr>
                      <p:cNvPr id="0" name=""/>
                      <p:cNvPicPr/>
                      <p:nvPr/>
                    </p:nvPicPr>
                    <p:blipFill>
                      <a:blip r:embed="rId4"/>
                      <a:stretch>
                        <a:fillRect/>
                      </a:stretch>
                    </p:blipFill>
                    <p:spPr>
                      <a:xfrm>
                        <a:off x="4551679" y="1090271"/>
                        <a:ext cx="4972232" cy="5655900"/>
                      </a:xfrm>
                      <a:prstGeom prst="rect">
                        <a:avLst/>
                      </a:prstGeom>
                    </p:spPr>
                  </p:pic>
                </p:oleObj>
              </mc:Fallback>
            </mc:AlternateContent>
          </a:graphicData>
        </a:graphic>
      </p:graphicFrame>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28</a:t>
            </a:fld>
            <a:endParaRPr lang="en-US" spc="-5" dirty="0"/>
          </a:p>
        </p:txBody>
      </p:sp>
      <mc:AlternateContent xmlns:mc="http://schemas.openxmlformats.org/markup-compatibility/2006" xmlns:p14="http://schemas.microsoft.com/office/powerpoint/2010/main">
        <mc:Choice Requires="p14">
          <p:contentPart p14:bwMode="auto" r:id="rId5">
            <p14:nvContentPartPr>
              <p14:cNvPr id="14" name="Ink 13"/>
              <p14:cNvContentPartPr/>
              <p14:nvPr/>
            </p14:nvContentPartPr>
            <p14:xfrm>
              <a:off x="8078400" y="3141000"/>
              <a:ext cx="132480" cy="26640"/>
            </p14:xfrm>
          </p:contentPart>
        </mc:Choice>
        <mc:Fallback xmlns="">
          <p:pic>
            <p:nvPicPr>
              <p:cNvPr id="14" name="Ink 13"/>
              <p:cNvPicPr/>
              <p:nvPr/>
            </p:nvPicPr>
            <p:blipFill>
              <a:blip r:embed="rId7"/>
              <a:stretch>
                <a:fillRect/>
              </a:stretch>
            </p:blipFill>
            <p:spPr>
              <a:xfrm>
                <a:off x="8069040" y="3131640"/>
                <a:ext cx="151200" cy="45360"/>
              </a:xfrm>
              <a:prstGeom prst="rect">
                <a:avLst/>
              </a:prstGeom>
            </p:spPr>
          </p:pic>
        </mc:Fallback>
      </mc:AlternateContent>
    </p:spTree>
    <p:extLst>
      <p:ext uri="{BB962C8B-B14F-4D97-AF65-F5344CB8AC3E}">
        <p14:creationId xmlns:p14="http://schemas.microsoft.com/office/powerpoint/2010/main" val="854805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5144" y="880364"/>
            <a:ext cx="70377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Giải</a:t>
            </a:r>
            <a:r>
              <a:rPr lang="en-US" spc="-5" dirty="0"/>
              <a:t> </a:t>
            </a:r>
            <a:r>
              <a:rPr lang="en-US" spc="-5" dirty="0" err="1"/>
              <a:t>pháp</a:t>
            </a:r>
            <a:r>
              <a:rPr lang="en-US" spc="-5" dirty="0"/>
              <a:t> </a:t>
            </a:r>
            <a:r>
              <a:rPr spc="-5" dirty="0" err="1"/>
              <a:t>không</a:t>
            </a:r>
            <a:r>
              <a:rPr spc="-5" dirty="0"/>
              <a:t> dùng</a:t>
            </a:r>
            <a:r>
              <a:rPr spc="-100" dirty="0"/>
              <a:t> </a:t>
            </a:r>
            <a:r>
              <a:rPr spc="-5" dirty="0"/>
              <a:t>NAK</a:t>
            </a:r>
          </a:p>
        </p:txBody>
      </p:sp>
      <p:graphicFrame>
        <p:nvGraphicFramePr>
          <p:cNvPr id="5" name="Object 4"/>
          <p:cNvGraphicFramePr>
            <a:graphicFrameLocks noChangeAspect="1"/>
          </p:cNvGraphicFramePr>
          <p:nvPr>
            <p:extLst>
              <p:ext uri="{D42A27DB-BD31-4B8C-83A1-F6EECF244321}">
                <p14:modId xmlns:p14="http://schemas.microsoft.com/office/powerpoint/2010/main" val="2444452837"/>
              </p:ext>
            </p:extLst>
          </p:nvPr>
        </p:nvGraphicFramePr>
        <p:xfrm>
          <a:off x="1981200" y="3016970"/>
          <a:ext cx="6081650" cy="4755430"/>
        </p:xfrm>
        <a:graphic>
          <a:graphicData uri="http://schemas.openxmlformats.org/presentationml/2006/ole">
            <mc:AlternateContent xmlns:mc="http://schemas.openxmlformats.org/markup-compatibility/2006">
              <mc:Choice xmlns:v="urn:schemas-microsoft-com:vml" Requires="v">
                <p:oleObj name="Bitmap Image" r:id="rId3" imgW="4229280" imgH="3947040" progId="Paint.Picture">
                  <p:embed/>
                </p:oleObj>
              </mc:Choice>
              <mc:Fallback>
                <p:oleObj name="Bitmap Image" r:id="rId3" imgW="4229280" imgH="3947040" progId="Paint.Picture">
                  <p:embed/>
                  <p:pic>
                    <p:nvPicPr>
                      <p:cNvPr id="0" name=""/>
                      <p:cNvPicPr/>
                      <p:nvPr/>
                    </p:nvPicPr>
                    <p:blipFill>
                      <a:blip r:embed="rId4"/>
                      <a:stretch>
                        <a:fillRect/>
                      </a:stretch>
                    </p:blipFill>
                    <p:spPr>
                      <a:xfrm>
                        <a:off x="1981200" y="3016970"/>
                        <a:ext cx="6081650" cy="4755430"/>
                      </a:xfrm>
                      <a:prstGeom prst="rect">
                        <a:avLst/>
                      </a:prstGeom>
                    </p:spPr>
                  </p:pic>
                </p:oleObj>
              </mc:Fallback>
            </mc:AlternateContent>
          </a:graphicData>
        </a:graphic>
      </p:graphicFrame>
      <p:sp>
        <p:nvSpPr>
          <p:cNvPr id="3" name="Slide Number Placeholder 2"/>
          <p:cNvSpPr>
            <a:spLocks noGrp="1"/>
          </p:cNvSpPr>
          <p:nvPr>
            <p:ph type="sldNum" sz="quarter" idx="7"/>
          </p:nvPr>
        </p:nvSpPr>
        <p:spPr/>
        <p:txBody>
          <a:bodyPr/>
          <a:lstStyle/>
          <a:p>
            <a:pPr marL="12700">
              <a:lnSpc>
                <a:spcPts val="1645"/>
              </a:lnSpc>
            </a:pPr>
            <a:fld id="{81D60167-4931-47E6-BA6A-407CBD079E47}" type="slidenum">
              <a:rPr lang="en-US" spc="-5" smtClean="0"/>
              <a:t>29</a:t>
            </a:fld>
            <a:endParaRPr lang="en-US" spc="-5" dirty="0"/>
          </a:p>
        </p:txBody>
      </p:sp>
      <p:sp>
        <p:nvSpPr>
          <p:cNvPr id="6" name="object 2"/>
          <p:cNvSpPr txBox="1"/>
          <p:nvPr/>
        </p:nvSpPr>
        <p:spPr>
          <a:xfrm>
            <a:off x="1130299" y="1619151"/>
            <a:ext cx="7993380" cy="1397819"/>
          </a:xfrm>
          <a:prstGeom prst="rect">
            <a:avLst/>
          </a:prstGeom>
        </p:spPr>
        <p:txBody>
          <a:bodyPr vert="horz" wrap="square" lIns="0" tIns="12700" rIns="0" bIns="0" rtlCol="0">
            <a:spAutoFit/>
          </a:bodyPr>
          <a:lstStyle/>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Dùng</a:t>
            </a:r>
            <a:r>
              <a:rPr lang="en-US" sz="2400" dirty="0">
                <a:latin typeface="Arial"/>
                <a:cs typeface="Arial"/>
              </a:rPr>
              <a:t> ACK </a:t>
            </a:r>
            <a:r>
              <a:rPr lang="en-US" sz="2400" dirty="0" err="1">
                <a:latin typeface="Arial"/>
                <a:cs typeface="Arial"/>
              </a:rPr>
              <a:t>cho</a:t>
            </a:r>
            <a:r>
              <a:rPr lang="en-US" sz="2400" dirty="0">
                <a:latin typeface="Arial"/>
                <a:cs typeface="Arial"/>
              </a:rPr>
              <a:t> </a:t>
            </a:r>
            <a:r>
              <a:rPr lang="en-US" sz="2400" dirty="0" err="1">
                <a:latin typeface="Arial"/>
                <a:cs typeface="Arial"/>
              </a:rPr>
              <a:t>gói</a:t>
            </a:r>
            <a:r>
              <a:rPr lang="en-US" sz="2400" dirty="0">
                <a:latin typeface="Arial"/>
                <a:cs typeface="Arial"/>
              </a:rPr>
              <a:t> tin </a:t>
            </a:r>
            <a:r>
              <a:rPr lang="en-US" sz="2400" dirty="0" err="1">
                <a:latin typeface="Arial"/>
                <a:cs typeface="Arial"/>
              </a:rPr>
              <a:t>cuối</a:t>
            </a:r>
            <a:r>
              <a:rPr lang="en-US" sz="2400" dirty="0">
                <a:latin typeface="Arial"/>
                <a:cs typeface="Arial"/>
              </a:rPr>
              <a:t> </a:t>
            </a:r>
            <a:r>
              <a:rPr lang="en-US" sz="2400" dirty="0" err="1">
                <a:latin typeface="Arial"/>
                <a:cs typeface="Arial"/>
              </a:rPr>
              <a:t>cùng</a:t>
            </a:r>
            <a:r>
              <a:rPr lang="en-US" sz="2400" dirty="0">
                <a:latin typeface="Arial"/>
                <a:cs typeface="Arial"/>
              </a:rPr>
              <a:t> </a:t>
            </a:r>
            <a:r>
              <a:rPr lang="en-US" sz="2400" dirty="0" err="1">
                <a:latin typeface="Arial"/>
                <a:cs typeface="Arial"/>
              </a:rPr>
              <a:t>đã</a:t>
            </a:r>
            <a:r>
              <a:rPr lang="en-US" sz="2400" dirty="0">
                <a:latin typeface="Arial"/>
                <a:cs typeface="Arial"/>
              </a:rPr>
              <a:t> </a:t>
            </a:r>
            <a:r>
              <a:rPr lang="en-US" sz="2400" dirty="0" err="1">
                <a:latin typeface="Arial"/>
                <a:cs typeface="Arial"/>
              </a:rPr>
              <a:t>nhận</a:t>
            </a:r>
            <a:r>
              <a:rPr lang="en-US" sz="2400" dirty="0">
                <a:latin typeface="Arial"/>
                <a:cs typeface="Arial"/>
              </a:rPr>
              <a:t> </a:t>
            </a:r>
            <a:r>
              <a:rPr lang="en-US" sz="2400" dirty="0" err="1">
                <a:latin typeface="Arial"/>
                <a:cs typeface="Arial"/>
              </a:rPr>
              <a:t>được</a:t>
            </a:r>
            <a:r>
              <a:rPr lang="en-US" sz="2400" dirty="0">
                <a:latin typeface="Arial"/>
                <a:cs typeface="Arial"/>
              </a:rPr>
              <a:t> </a:t>
            </a:r>
            <a:r>
              <a:rPr lang="en-US" sz="2400" dirty="0" err="1">
                <a:latin typeface="Arial"/>
                <a:cs typeface="Arial"/>
              </a:rPr>
              <a:t>đúng</a:t>
            </a:r>
            <a:endParaRPr lang="en-US" sz="2400" dirty="0">
              <a:latin typeface="Arial"/>
              <a:cs typeface="Arial"/>
            </a:endParaRPr>
          </a:p>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Nếu</a:t>
            </a:r>
            <a:r>
              <a:rPr lang="en-US" sz="2400" dirty="0">
                <a:latin typeface="Arial"/>
                <a:cs typeface="Arial"/>
              </a:rPr>
              <a:t> </a:t>
            </a:r>
            <a:r>
              <a:rPr lang="en-US" sz="2400" dirty="0" err="1">
                <a:latin typeface="Arial"/>
                <a:cs typeface="Arial"/>
              </a:rPr>
              <a:t>nhận</a:t>
            </a:r>
            <a:r>
              <a:rPr lang="en-US" sz="2400" dirty="0">
                <a:latin typeface="Arial"/>
                <a:cs typeface="Arial"/>
              </a:rPr>
              <a:t> 2 ACK </a:t>
            </a:r>
            <a:r>
              <a:rPr lang="en-US" sz="2400" dirty="0" err="1">
                <a:latin typeface="Arial"/>
                <a:cs typeface="Arial"/>
              </a:rPr>
              <a:t>cho</a:t>
            </a:r>
            <a:r>
              <a:rPr lang="en-US" sz="2400" dirty="0">
                <a:latin typeface="Arial"/>
                <a:cs typeface="Arial"/>
              </a:rPr>
              <a:t> </a:t>
            </a:r>
            <a:r>
              <a:rPr lang="en-US" sz="2400" dirty="0" err="1">
                <a:latin typeface="Arial"/>
                <a:cs typeface="Arial"/>
              </a:rPr>
              <a:t>cùng</a:t>
            </a:r>
            <a:r>
              <a:rPr lang="en-US" sz="2400" dirty="0">
                <a:latin typeface="Arial"/>
                <a:cs typeface="Arial"/>
              </a:rPr>
              <a:t> </a:t>
            </a:r>
            <a:r>
              <a:rPr lang="en-US" sz="2400" dirty="0" err="1">
                <a:latin typeface="Arial"/>
                <a:cs typeface="Arial"/>
              </a:rPr>
              <a:t>một</a:t>
            </a:r>
            <a:r>
              <a:rPr lang="en-US" sz="2400" dirty="0">
                <a:latin typeface="Arial"/>
                <a:cs typeface="Arial"/>
              </a:rPr>
              <a:t> </a:t>
            </a:r>
            <a:r>
              <a:rPr lang="en-US" sz="2400" dirty="0" err="1">
                <a:latin typeface="Arial"/>
                <a:cs typeface="Arial"/>
              </a:rPr>
              <a:t>gói</a:t>
            </a:r>
            <a:r>
              <a:rPr lang="en-US" sz="2400" dirty="0">
                <a:latin typeface="Arial"/>
                <a:cs typeface="Arial"/>
              </a:rPr>
              <a:t> </a:t>
            </a:r>
            <a:r>
              <a:rPr lang="en-US" sz="2400" dirty="0" err="1">
                <a:latin typeface="Arial"/>
                <a:cs typeface="Arial"/>
              </a:rPr>
              <a:t>dữ</a:t>
            </a:r>
            <a:r>
              <a:rPr lang="en-US" sz="2400" dirty="0">
                <a:latin typeface="Arial"/>
                <a:cs typeface="Arial"/>
              </a:rPr>
              <a:t> </a:t>
            </a:r>
            <a:r>
              <a:rPr lang="en-US" sz="2400" dirty="0" err="1">
                <a:latin typeface="Arial"/>
                <a:cs typeface="Arial"/>
              </a:rPr>
              <a:t>liệu</a:t>
            </a:r>
            <a:r>
              <a:rPr lang="en-US" sz="2400" dirty="0">
                <a:latin typeface="Arial"/>
                <a:cs typeface="Arial"/>
              </a:rPr>
              <a:t>=&gt; </a:t>
            </a:r>
            <a:r>
              <a:rPr lang="en-US" sz="2400" dirty="0" err="1">
                <a:latin typeface="Arial"/>
                <a:cs typeface="Arial"/>
              </a:rPr>
              <a:t>bên</a:t>
            </a:r>
            <a:r>
              <a:rPr lang="en-US" sz="2400" dirty="0">
                <a:latin typeface="Arial"/>
                <a:cs typeface="Arial"/>
              </a:rPr>
              <a:t> </a:t>
            </a:r>
            <a:r>
              <a:rPr lang="en-US" sz="2400" dirty="0" err="1">
                <a:latin typeface="Arial"/>
                <a:cs typeface="Arial"/>
              </a:rPr>
              <a:t>gửi</a:t>
            </a:r>
            <a:r>
              <a:rPr lang="en-US" sz="2400" dirty="0">
                <a:latin typeface="Arial"/>
                <a:cs typeface="Arial"/>
              </a:rPr>
              <a:t> </a:t>
            </a:r>
            <a:r>
              <a:rPr lang="en-US" sz="2400" dirty="0" err="1">
                <a:latin typeface="Arial"/>
                <a:cs typeface="Arial"/>
              </a:rPr>
              <a:t>gửi</a:t>
            </a:r>
            <a:r>
              <a:rPr lang="en-US" sz="2400" dirty="0">
                <a:latin typeface="Arial"/>
                <a:cs typeface="Arial"/>
              </a:rPr>
              <a:t> </a:t>
            </a:r>
            <a:r>
              <a:rPr lang="en-US" sz="2400" dirty="0" err="1">
                <a:latin typeface="Arial"/>
                <a:cs typeface="Arial"/>
              </a:rPr>
              <a:t>lại</a:t>
            </a:r>
            <a:r>
              <a:rPr lang="en-US" sz="2400" dirty="0">
                <a:latin typeface="Arial"/>
                <a:cs typeface="Arial"/>
              </a:rPr>
              <a:t> </a:t>
            </a:r>
            <a:r>
              <a:rPr lang="en-US" sz="2400">
                <a:latin typeface="Arial"/>
                <a:cs typeface="Arial"/>
              </a:rPr>
              <a:t>gói</a:t>
            </a:r>
            <a:r>
              <a:rPr lang="en-US" sz="2400" dirty="0">
                <a:latin typeface="Arial"/>
                <a:cs typeface="Arial"/>
              </a:rPr>
              <a:t> </a:t>
            </a:r>
            <a:r>
              <a:rPr lang="en-US" sz="2400" dirty="0" err="1">
                <a:latin typeface="Arial"/>
                <a:cs typeface="Arial"/>
              </a:rPr>
              <a:t>dữ</a:t>
            </a:r>
            <a:r>
              <a:rPr lang="en-US" sz="2400" dirty="0">
                <a:latin typeface="Arial"/>
                <a:cs typeface="Arial"/>
              </a:rPr>
              <a:t> </a:t>
            </a:r>
            <a:r>
              <a:rPr lang="en-US" sz="2400" dirty="0" err="1">
                <a:latin typeface="Arial"/>
                <a:cs typeface="Arial"/>
              </a:rPr>
              <a:t>liệu</a:t>
            </a:r>
            <a:endParaRPr lang="en-US" sz="2000" dirty="0">
              <a:latin typeface="Arial"/>
              <a:cs typeface="Arial"/>
            </a:endParaRPr>
          </a:p>
          <a:p>
            <a:pPr marL="755650" lvl="1" indent="-285750">
              <a:lnSpc>
                <a:spcPts val="2270"/>
              </a:lnSpc>
              <a:buClr>
                <a:srgbClr val="3333CC"/>
              </a:buClr>
              <a:buSzPct val="75000"/>
              <a:buFont typeface="Wingdings"/>
              <a:buChar char=""/>
              <a:tabLst>
                <a:tab pos="755650" algn="l"/>
              </a:tabLst>
            </a:pPr>
            <a:endParaRPr sz="2000"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1447800"/>
            <a:ext cx="7617461" cy="3475310"/>
          </a:xfrm>
          <a:prstGeom prst="rect">
            <a:avLst/>
          </a:prstGeom>
        </p:spPr>
        <p:txBody>
          <a:bodyPr vert="horz" wrap="square" lIns="0" tIns="12700" rIns="0" bIns="0" rtlCol="0">
            <a:spAutoFit/>
          </a:bodyPr>
          <a:lstStyle/>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Dữ</a:t>
            </a:r>
            <a:r>
              <a:rPr lang="en-US" sz="2400" dirty="0">
                <a:latin typeface="Arial"/>
                <a:cs typeface="Arial"/>
              </a:rPr>
              <a:t> </a:t>
            </a:r>
            <a:r>
              <a:rPr lang="en-US" sz="2400" dirty="0" err="1">
                <a:latin typeface="Arial"/>
                <a:cs typeface="Arial"/>
              </a:rPr>
              <a:t>liệu</a:t>
            </a:r>
            <a:r>
              <a:rPr lang="en-US" sz="2400" dirty="0">
                <a:latin typeface="Arial"/>
                <a:cs typeface="Arial"/>
              </a:rPr>
              <a:t> </a:t>
            </a:r>
            <a:r>
              <a:rPr lang="en-US" sz="2400" dirty="0" err="1">
                <a:latin typeface="Arial"/>
                <a:cs typeface="Arial"/>
              </a:rPr>
              <a:t>và</a:t>
            </a:r>
            <a:r>
              <a:rPr lang="en-US" sz="2400" dirty="0">
                <a:latin typeface="Arial"/>
                <a:cs typeface="Arial"/>
              </a:rPr>
              <a:t> ACK </a:t>
            </a:r>
            <a:r>
              <a:rPr lang="en-US" sz="2400" dirty="0" err="1">
                <a:latin typeface="Arial"/>
                <a:cs typeface="Arial"/>
              </a:rPr>
              <a:t>có</a:t>
            </a:r>
            <a:r>
              <a:rPr lang="en-US" sz="2400" dirty="0">
                <a:latin typeface="Arial"/>
                <a:cs typeface="Arial"/>
              </a:rPr>
              <a:t> </a:t>
            </a:r>
            <a:r>
              <a:rPr lang="en-US" sz="2400" dirty="0" err="1">
                <a:latin typeface="Arial"/>
                <a:cs typeface="Arial"/>
              </a:rPr>
              <a:t>thể</a:t>
            </a:r>
            <a:r>
              <a:rPr lang="en-US" sz="2400" dirty="0">
                <a:latin typeface="Arial"/>
                <a:cs typeface="Arial"/>
              </a:rPr>
              <a:t> </a:t>
            </a:r>
            <a:r>
              <a:rPr lang="en-US" sz="2400" dirty="0" err="1">
                <a:latin typeface="Arial"/>
                <a:cs typeface="Arial"/>
              </a:rPr>
              <a:t>bị</a:t>
            </a:r>
            <a:r>
              <a:rPr lang="en-US" sz="2400" dirty="0">
                <a:latin typeface="Arial"/>
                <a:cs typeface="Arial"/>
              </a:rPr>
              <a:t> </a:t>
            </a:r>
            <a:r>
              <a:rPr lang="en-US" sz="2400" dirty="0" err="1">
                <a:latin typeface="Arial"/>
                <a:cs typeface="Arial"/>
              </a:rPr>
              <a:t>mất</a:t>
            </a:r>
            <a:endParaRPr sz="2400" dirty="0">
              <a:latin typeface="Arial"/>
              <a:cs typeface="Arial"/>
            </a:endParaRP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bên</a:t>
            </a:r>
            <a:r>
              <a:rPr lang="en-US" sz="2000" dirty="0">
                <a:latin typeface="Arial"/>
                <a:cs typeface="Arial"/>
              </a:rPr>
              <a:t> </a:t>
            </a:r>
            <a:r>
              <a:rPr lang="en-US" sz="2000" dirty="0" err="1">
                <a:latin typeface="Arial"/>
                <a:cs typeface="Arial"/>
              </a:rPr>
              <a:t>gửi</a:t>
            </a:r>
            <a:r>
              <a:rPr lang="en-US" sz="2000" dirty="0">
                <a:latin typeface="Arial"/>
                <a:cs typeface="Arial"/>
              </a:rPr>
              <a:t> </a:t>
            </a:r>
            <a:r>
              <a:rPr lang="en-US" sz="2000" dirty="0" err="1">
                <a:latin typeface="Arial"/>
                <a:cs typeface="Arial"/>
              </a:rPr>
              <a:t>đợi</a:t>
            </a:r>
            <a:r>
              <a:rPr lang="en-US" sz="2000" dirty="0">
                <a:latin typeface="Arial"/>
                <a:cs typeface="Arial"/>
              </a:rPr>
              <a:t> </a:t>
            </a:r>
            <a:r>
              <a:rPr lang="en-US" sz="2000" dirty="0" err="1">
                <a:latin typeface="Arial"/>
                <a:cs typeface="Arial"/>
              </a:rPr>
              <a:t>một</a:t>
            </a:r>
            <a:r>
              <a:rPr lang="en-US" sz="2000" dirty="0">
                <a:latin typeface="Arial"/>
                <a:cs typeface="Arial"/>
              </a:rPr>
              <a:t> </a:t>
            </a:r>
            <a:r>
              <a:rPr lang="en-US" sz="2000" dirty="0" err="1">
                <a:latin typeface="Arial"/>
                <a:cs typeface="Arial"/>
              </a:rPr>
              <a:t>khoảng</a:t>
            </a:r>
            <a:r>
              <a:rPr lang="en-US" sz="2000" dirty="0">
                <a:latin typeface="Arial"/>
                <a:cs typeface="Arial"/>
              </a:rPr>
              <a:t> </a:t>
            </a:r>
            <a:r>
              <a:rPr lang="en-US" sz="2000" dirty="0" err="1">
                <a:latin typeface="Arial"/>
                <a:cs typeface="Arial"/>
              </a:rPr>
              <a:t>thời</a:t>
            </a:r>
            <a:r>
              <a:rPr lang="en-US" sz="2000" dirty="0">
                <a:latin typeface="Arial"/>
                <a:cs typeface="Arial"/>
              </a:rPr>
              <a:t> </a:t>
            </a:r>
            <a:r>
              <a:rPr lang="en-US" sz="2000" dirty="0" err="1">
                <a:latin typeface="Arial"/>
                <a:cs typeface="Arial"/>
              </a:rPr>
              <a:t>gian</a:t>
            </a:r>
            <a:r>
              <a:rPr lang="en-US" sz="2000" dirty="0">
                <a:latin typeface="Arial"/>
                <a:cs typeface="Arial"/>
              </a:rPr>
              <a:t> </a:t>
            </a:r>
            <a:r>
              <a:rPr lang="en-US" sz="2000" dirty="0" err="1">
                <a:latin typeface="Arial"/>
                <a:cs typeface="Arial"/>
              </a:rPr>
              <a:t>hợp</a:t>
            </a:r>
            <a:r>
              <a:rPr lang="en-US" sz="2000" dirty="0">
                <a:latin typeface="Arial"/>
                <a:cs typeface="Arial"/>
              </a:rPr>
              <a:t> </a:t>
            </a:r>
            <a:r>
              <a:rPr lang="en-US" sz="2000" dirty="0" err="1">
                <a:latin typeface="Arial"/>
                <a:cs typeface="Arial"/>
              </a:rPr>
              <a:t>lý</a:t>
            </a:r>
            <a:r>
              <a:rPr lang="en-US" sz="2000" dirty="0">
                <a:latin typeface="Arial"/>
                <a:cs typeface="Arial"/>
              </a:rPr>
              <a:t> (</a:t>
            </a:r>
            <a:r>
              <a:rPr lang="en-US" sz="2000" dirty="0" err="1">
                <a:latin typeface="Arial"/>
                <a:cs typeface="Arial"/>
              </a:rPr>
              <a:t>thời</a:t>
            </a:r>
            <a:r>
              <a:rPr lang="en-US" sz="2000" dirty="0">
                <a:latin typeface="Arial"/>
                <a:cs typeface="Arial"/>
              </a:rPr>
              <a:t> </a:t>
            </a:r>
            <a:r>
              <a:rPr lang="en-US" sz="2000" dirty="0" err="1">
                <a:latin typeface="Arial"/>
                <a:cs typeface="Arial"/>
              </a:rPr>
              <a:t>gian</a:t>
            </a:r>
            <a:r>
              <a:rPr lang="en-US" sz="2000" dirty="0">
                <a:latin typeface="Arial"/>
                <a:cs typeface="Arial"/>
              </a:rPr>
              <a:t> </a:t>
            </a:r>
            <a:r>
              <a:rPr lang="en-US" sz="2000" dirty="0" err="1">
                <a:latin typeface="Arial"/>
                <a:cs typeface="Arial"/>
              </a:rPr>
              <a:t>chờ</a:t>
            </a:r>
            <a:r>
              <a:rPr lang="en-US" sz="2000" dirty="0">
                <a:latin typeface="Arial"/>
                <a:cs typeface="Arial"/>
              </a:rPr>
              <a:t> -timeout) </a:t>
            </a:r>
            <a:r>
              <a:rPr lang="en-US" sz="2000" dirty="0" err="1">
                <a:latin typeface="Arial"/>
                <a:cs typeface="Arial"/>
              </a:rPr>
              <a:t>cho</a:t>
            </a:r>
            <a:r>
              <a:rPr lang="en-US" sz="2000" dirty="0">
                <a:latin typeface="Arial"/>
                <a:cs typeface="Arial"/>
              </a:rPr>
              <a:t> ACK</a:t>
            </a: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Hết</a:t>
            </a:r>
            <a:r>
              <a:rPr lang="en-US" sz="2000" dirty="0">
                <a:latin typeface="Arial"/>
                <a:cs typeface="Arial"/>
              </a:rPr>
              <a:t> </a:t>
            </a:r>
            <a:r>
              <a:rPr lang="en-US" sz="2000" dirty="0" err="1">
                <a:latin typeface="Arial"/>
                <a:cs typeface="Arial"/>
              </a:rPr>
              <a:t>timout</a:t>
            </a:r>
            <a:r>
              <a:rPr lang="en-US" sz="2000" dirty="0">
                <a:latin typeface="Arial"/>
                <a:cs typeface="Arial"/>
              </a:rPr>
              <a:t> </a:t>
            </a:r>
            <a:r>
              <a:rPr lang="en-US" sz="2000" dirty="0" err="1">
                <a:latin typeface="Arial"/>
                <a:cs typeface="Arial"/>
              </a:rPr>
              <a:t>nếu</a:t>
            </a:r>
            <a:r>
              <a:rPr lang="en-US" sz="2000" dirty="0">
                <a:latin typeface="Arial"/>
                <a:cs typeface="Arial"/>
              </a:rPr>
              <a:t> </a:t>
            </a:r>
            <a:r>
              <a:rPr lang="en-US" sz="2000" dirty="0" err="1">
                <a:latin typeface="Arial"/>
                <a:cs typeface="Arial"/>
              </a:rPr>
              <a:t>không</a:t>
            </a:r>
            <a:r>
              <a:rPr lang="en-US" sz="2000" dirty="0">
                <a:latin typeface="Arial"/>
                <a:cs typeface="Arial"/>
              </a:rPr>
              <a:t> </a:t>
            </a:r>
            <a:r>
              <a:rPr lang="en-US" sz="2000" dirty="0" err="1">
                <a:latin typeface="Arial"/>
                <a:cs typeface="Arial"/>
              </a:rPr>
              <a:t>có</a:t>
            </a:r>
            <a:r>
              <a:rPr lang="en-US" sz="2000" dirty="0">
                <a:latin typeface="Arial"/>
                <a:cs typeface="Arial"/>
              </a:rPr>
              <a:t> ACK </a:t>
            </a:r>
            <a:r>
              <a:rPr lang="en-US" sz="2000" dirty="0" err="1">
                <a:latin typeface="Arial"/>
                <a:cs typeface="Arial"/>
              </a:rPr>
              <a:t>sẽ</a:t>
            </a:r>
            <a:r>
              <a:rPr lang="en-US" sz="2000" dirty="0">
                <a:latin typeface="Arial"/>
                <a:cs typeface="Arial"/>
              </a:rPr>
              <a:t> </a:t>
            </a:r>
            <a:r>
              <a:rPr lang="en-US" sz="2000" dirty="0" err="1">
                <a:latin typeface="Arial"/>
                <a:cs typeface="Arial"/>
              </a:rPr>
              <a:t>truyền</a:t>
            </a:r>
            <a:r>
              <a:rPr lang="en-US" sz="2000" dirty="0">
                <a:latin typeface="Arial"/>
                <a:cs typeface="Arial"/>
              </a:rPr>
              <a:t> </a:t>
            </a:r>
            <a:r>
              <a:rPr lang="en-US" sz="2000" dirty="0" err="1">
                <a:latin typeface="Arial"/>
                <a:cs typeface="Arial"/>
              </a:rPr>
              <a:t>lại</a:t>
            </a:r>
            <a:r>
              <a:rPr lang="en-US" sz="2000" dirty="0">
                <a:latin typeface="Arial"/>
                <a:cs typeface="Arial"/>
              </a:rPr>
              <a:t> </a:t>
            </a:r>
          </a:p>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Thời</a:t>
            </a:r>
            <a:r>
              <a:rPr lang="en-US" sz="2400" dirty="0">
                <a:latin typeface="Arial"/>
                <a:cs typeface="Arial"/>
              </a:rPr>
              <a:t> </a:t>
            </a:r>
            <a:r>
              <a:rPr lang="en-US" sz="2400" dirty="0" err="1">
                <a:latin typeface="Arial"/>
                <a:cs typeface="Arial"/>
              </a:rPr>
              <a:t>gian</a:t>
            </a:r>
            <a:r>
              <a:rPr lang="en-US" sz="2400" dirty="0">
                <a:latin typeface="Arial"/>
                <a:cs typeface="Arial"/>
              </a:rPr>
              <a:t> </a:t>
            </a:r>
            <a:r>
              <a:rPr lang="en-US" sz="2400" dirty="0" err="1">
                <a:latin typeface="Arial"/>
                <a:cs typeface="Arial"/>
              </a:rPr>
              <a:t>chờ</a:t>
            </a:r>
            <a:r>
              <a:rPr lang="en-US" sz="2400" dirty="0">
                <a:latin typeface="Arial"/>
                <a:cs typeface="Arial"/>
              </a:rPr>
              <a:t> </a:t>
            </a:r>
            <a:r>
              <a:rPr lang="en-US" sz="2400" dirty="0" err="1">
                <a:latin typeface="Arial"/>
                <a:cs typeface="Arial"/>
              </a:rPr>
              <a:t>là</a:t>
            </a:r>
            <a:r>
              <a:rPr lang="en-US" sz="2400" dirty="0">
                <a:latin typeface="Arial"/>
                <a:cs typeface="Arial"/>
              </a:rPr>
              <a:t> </a:t>
            </a:r>
            <a:r>
              <a:rPr lang="en-US" sz="2400" dirty="0" err="1">
                <a:latin typeface="Arial"/>
                <a:cs typeface="Arial"/>
              </a:rPr>
              <a:t>bao</a:t>
            </a:r>
            <a:r>
              <a:rPr lang="en-US" sz="2400" dirty="0">
                <a:latin typeface="Arial"/>
                <a:cs typeface="Arial"/>
              </a:rPr>
              <a:t> </a:t>
            </a:r>
            <a:r>
              <a:rPr lang="en-US" sz="2400" dirty="0" err="1">
                <a:latin typeface="Arial"/>
                <a:cs typeface="Arial"/>
              </a:rPr>
              <a:t>lâu</a:t>
            </a:r>
            <a:r>
              <a:rPr lang="en-US" sz="2400" dirty="0">
                <a:latin typeface="Arial"/>
                <a:cs typeface="Arial"/>
              </a:rPr>
              <a:t>?</a:t>
            </a: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Ít</a:t>
            </a:r>
            <a:r>
              <a:rPr lang="en-US" sz="2000" dirty="0">
                <a:latin typeface="Arial"/>
                <a:cs typeface="Arial"/>
              </a:rPr>
              <a:t> </a:t>
            </a:r>
            <a:r>
              <a:rPr lang="en-US" sz="2000" dirty="0" err="1">
                <a:latin typeface="Arial"/>
                <a:cs typeface="Arial"/>
              </a:rPr>
              <a:t>nhất</a:t>
            </a:r>
            <a:r>
              <a:rPr lang="en-US" sz="2000" dirty="0">
                <a:latin typeface="Arial"/>
                <a:cs typeface="Arial"/>
              </a:rPr>
              <a:t> </a:t>
            </a:r>
            <a:r>
              <a:rPr lang="en-US" sz="2000" dirty="0" err="1">
                <a:latin typeface="Arial"/>
                <a:cs typeface="Arial"/>
              </a:rPr>
              <a:t>là</a:t>
            </a:r>
            <a:r>
              <a:rPr lang="en-US" sz="2000" dirty="0">
                <a:latin typeface="Arial"/>
                <a:cs typeface="Arial"/>
              </a:rPr>
              <a:t> 1 RTT (Round Trip Time)</a:t>
            </a: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Mỗi</a:t>
            </a:r>
            <a:r>
              <a:rPr lang="en-US" sz="2000" dirty="0">
                <a:latin typeface="Arial"/>
                <a:cs typeface="Arial"/>
              </a:rPr>
              <a:t> </a:t>
            </a:r>
            <a:r>
              <a:rPr lang="en-US" sz="2000" dirty="0" err="1">
                <a:latin typeface="Arial"/>
                <a:cs typeface="Arial"/>
              </a:rPr>
              <a:t>gói</a:t>
            </a:r>
            <a:r>
              <a:rPr lang="en-US" sz="2000" dirty="0">
                <a:latin typeface="Arial"/>
                <a:cs typeface="Arial"/>
              </a:rPr>
              <a:t> tin </a:t>
            </a:r>
            <a:r>
              <a:rPr lang="en-US" sz="2000" dirty="0" err="1">
                <a:latin typeface="Arial"/>
                <a:cs typeface="Arial"/>
              </a:rPr>
              <a:t>gửi</a:t>
            </a:r>
            <a:r>
              <a:rPr lang="en-US" sz="2000" dirty="0">
                <a:latin typeface="Arial"/>
                <a:cs typeface="Arial"/>
              </a:rPr>
              <a:t> </a:t>
            </a:r>
            <a:r>
              <a:rPr lang="en-US" sz="2000" dirty="0" err="1">
                <a:latin typeface="Arial"/>
                <a:cs typeface="Arial"/>
              </a:rPr>
              <a:t>đi</a:t>
            </a:r>
            <a:r>
              <a:rPr lang="en-US" sz="2000" dirty="0">
                <a:latin typeface="Arial"/>
                <a:cs typeface="Arial"/>
              </a:rPr>
              <a:t> </a:t>
            </a:r>
            <a:r>
              <a:rPr lang="en-US" sz="2000" dirty="0" err="1">
                <a:latin typeface="Arial"/>
                <a:cs typeface="Arial"/>
              </a:rPr>
              <a:t>cần</a:t>
            </a:r>
            <a:r>
              <a:rPr lang="en-US" sz="2000" dirty="0">
                <a:latin typeface="Arial"/>
                <a:cs typeface="Arial"/>
              </a:rPr>
              <a:t> 1 timer</a:t>
            </a:r>
          </a:p>
          <a:p>
            <a:pPr marL="355600" indent="-342900">
              <a:lnSpc>
                <a:spcPts val="2825"/>
              </a:lnSpc>
              <a:spcBef>
                <a:spcPts val="100"/>
              </a:spcBef>
              <a:buClr>
                <a:srgbClr val="3333CC"/>
              </a:buClr>
              <a:buSzPct val="83333"/>
              <a:buFont typeface="Wingdings"/>
              <a:buChar char=""/>
              <a:tabLst>
                <a:tab pos="355600" algn="l"/>
              </a:tabLst>
            </a:pPr>
            <a:r>
              <a:rPr lang="en-US" sz="2400" dirty="0" err="1">
                <a:latin typeface="Arial"/>
                <a:cs typeface="Arial"/>
              </a:rPr>
              <a:t>Nếu</a:t>
            </a:r>
            <a:r>
              <a:rPr lang="en-US" sz="2400" dirty="0">
                <a:latin typeface="Arial"/>
                <a:cs typeface="Arial"/>
              </a:rPr>
              <a:t> </a:t>
            </a:r>
            <a:r>
              <a:rPr lang="en-US" sz="2400" dirty="0" err="1">
                <a:latin typeface="Arial"/>
                <a:cs typeface="Arial"/>
              </a:rPr>
              <a:t>gói</a:t>
            </a:r>
            <a:r>
              <a:rPr lang="en-US" sz="2400" dirty="0">
                <a:latin typeface="Arial"/>
                <a:cs typeface="Arial"/>
              </a:rPr>
              <a:t> tin </a:t>
            </a:r>
            <a:r>
              <a:rPr lang="en-US" sz="2400" dirty="0" err="1">
                <a:latin typeface="Arial"/>
                <a:cs typeface="Arial"/>
              </a:rPr>
              <a:t>vẫn</a:t>
            </a:r>
            <a:r>
              <a:rPr lang="en-US" sz="2400" dirty="0">
                <a:latin typeface="Arial"/>
                <a:cs typeface="Arial"/>
              </a:rPr>
              <a:t> </a:t>
            </a:r>
            <a:r>
              <a:rPr lang="en-US" sz="2400" dirty="0" err="1">
                <a:latin typeface="Arial"/>
                <a:cs typeface="Arial"/>
              </a:rPr>
              <a:t>đến</a:t>
            </a:r>
            <a:r>
              <a:rPr lang="en-US" sz="2400" dirty="0">
                <a:latin typeface="Arial"/>
                <a:cs typeface="Arial"/>
              </a:rPr>
              <a:t> </a:t>
            </a:r>
            <a:r>
              <a:rPr lang="en-US" sz="2400" dirty="0" err="1">
                <a:latin typeface="Arial"/>
                <a:cs typeface="Arial"/>
              </a:rPr>
              <a:t>đích</a:t>
            </a:r>
            <a:r>
              <a:rPr lang="en-US" sz="2400" dirty="0">
                <a:latin typeface="Arial"/>
                <a:cs typeface="Arial"/>
              </a:rPr>
              <a:t> </a:t>
            </a:r>
            <a:r>
              <a:rPr lang="en-US" sz="2400" dirty="0" err="1">
                <a:latin typeface="Arial"/>
                <a:cs typeface="Arial"/>
              </a:rPr>
              <a:t>và</a:t>
            </a:r>
            <a:r>
              <a:rPr lang="en-US" sz="2400" dirty="0">
                <a:latin typeface="Arial"/>
                <a:cs typeface="Arial"/>
              </a:rPr>
              <a:t> ACK </a:t>
            </a:r>
            <a:r>
              <a:rPr lang="en-US" sz="2400" dirty="0" err="1">
                <a:latin typeface="Arial"/>
                <a:cs typeface="Arial"/>
              </a:rPr>
              <a:t>bị</a:t>
            </a:r>
            <a:r>
              <a:rPr lang="en-US" sz="2400" dirty="0">
                <a:latin typeface="Arial"/>
                <a:cs typeface="Arial"/>
              </a:rPr>
              <a:t> </a:t>
            </a:r>
            <a:r>
              <a:rPr lang="en-US" sz="2400" dirty="0" err="1">
                <a:latin typeface="Arial"/>
                <a:cs typeface="Arial"/>
              </a:rPr>
              <a:t>mất</a:t>
            </a:r>
            <a:r>
              <a:rPr lang="en-US" sz="2400" dirty="0">
                <a:latin typeface="Arial"/>
                <a:cs typeface="Arial"/>
              </a:rPr>
              <a:t>?</a:t>
            </a:r>
          </a:p>
          <a:p>
            <a:pPr marL="755650" lvl="1" indent="-285750">
              <a:lnSpc>
                <a:spcPts val="2270"/>
              </a:lnSpc>
              <a:buClr>
                <a:srgbClr val="3333CC"/>
              </a:buClr>
              <a:buSzPct val="75000"/>
              <a:buFont typeface="Wingdings"/>
              <a:buChar char=""/>
              <a:tabLst>
                <a:tab pos="755650" algn="l"/>
              </a:tabLst>
            </a:pPr>
            <a:r>
              <a:rPr lang="en-US" sz="2000" dirty="0" err="1">
                <a:latin typeface="Arial"/>
                <a:cs typeface="Arial"/>
              </a:rPr>
              <a:t>Truyền</a:t>
            </a:r>
            <a:r>
              <a:rPr lang="en-US" sz="2000" dirty="0">
                <a:latin typeface="Arial"/>
                <a:cs typeface="Arial"/>
              </a:rPr>
              <a:t> </a:t>
            </a:r>
            <a:r>
              <a:rPr lang="en-US" sz="2000" dirty="0" err="1">
                <a:latin typeface="Arial"/>
                <a:cs typeface="Arial"/>
              </a:rPr>
              <a:t>lại</a:t>
            </a:r>
            <a:r>
              <a:rPr lang="en-US" sz="2000" dirty="0">
                <a:latin typeface="Arial"/>
                <a:cs typeface="Arial"/>
              </a:rPr>
              <a:t> </a:t>
            </a:r>
            <a:r>
              <a:rPr lang="en-US" sz="2000" dirty="0" err="1">
                <a:latin typeface="Arial"/>
                <a:cs typeface="Arial"/>
              </a:rPr>
              <a:t>gói</a:t>
            </a:r>
            <a:r>
              <a:rPr lang="en-US" sz="2000" dirty="0">
                <a:latin typeface="Arial"/>
                <a:cs typeface="Arial"/>
              </a:rPr>
              <a:t> tin </a:t>
            </a:r>
            <a:r>
              <a:rPr lang="en-US" sz="2000" dirty="0" err="1">
                <a:latin typeface="Arial"/>
                <a:cs typeface="Arial"/>
              </a:rPr>
              <a:t>và</a:t>
            </a:r>
            <a:r>
              <a:rPr lang="en-US" sz="2000" dirty="0">
                <a:latin typeface="Arial"/>
                <a:cs typeface="Arial"/>
              </a:rPr>
              <a:t> </a:t>
            </a:r>
            <a:r>
              <a:rPr lang="en-US" sz="2000" dirty="0" err="1">
                <a:latin typeface="Arial"/>
                <a:cs typeface="Arial"/>
              </a:rPr>
              <a:t>xảy</a:t>
            </a:r>
            <a:r>
              <a:rPr lang="en-US" sz="2000" dirty="0">
                <a:latin typeface="Arial"/>
                <a:cs typeface="Arial"/>
              </a:rPr>
              <a:t> </a:t>
            </a:r>
            <a:r>
              <a:rPr lang="en-US" sz="2000" dirty="0" err="1">
                <a:latin typeface="Arial"/>
                <a:cs typeface="Arial"/>
              </a:rPr>
              <a:t>ra</a:t>
            </a:r>
            <a:r>
              <a:rPr lang="en-US" sz="2000" dirty="0">
                <a:latin typeface="Arial"/>
                <a:cs typeface="Arial"/>
              </a:rPr>
              <a:t> </a:t>
            </a:r>
            <a:r>
              <a:rPr lang="en-US" sz="2000" dirty="0" err="1">
                <a:latin typeface="Arial"/>
                <a:cs typeface="Arial"/>
              </a:rPr>
              <a:t>trùng</a:t>
            </a:r>
            <a:r>
              <a:rPr lang="en-US" sz="2000" dirty="0">
                <a:latin typeface="Arial"/>
                <a:cs typeface="Arial"/>
              </a:rPr>
              <a:t> </a:t>
            </a:r>
            <a:r>
              <a:rPr lang="en-US" sz="2000" dirty="0" err="1">
                <a:latin typeface="Arial"/>
                <a:cs typeface="Arial"/>
              </a:rPr>
              <a:t>lặp</a:t>
            </a:r>
            <a:r>
              <a:rPr lang="en-US" sz="2000" dirty="0">
                <a:latin typeface="Arial"/>
                <a:cs typeface="Arial"/>
              </a:rPr>
              <a:t> </a:t>
            </a:r>
            <a:r>
              <a:rPr lang="en-US" sz="2000" dirty="0" err="1">
                <a:latin typeface="Arial"/>
                <a:cs typeface="Arial"/>
              </a:rPr>
              <a:t>gói</a:t>
            </a:r>
            <a:r>
              <a:rPr lang="en-US" sz="2000" dirty="0">
                <a:latin typeface="Arial"/>
                <a:cs typeface="Arial"/>
              </a:rPr>
              <a:t> tin =&gt; </a:t>
            </a:r>
            <a:r>
              <a:rPr lang="en-US" sz="2000" dirty="0" err="1">
                <a:latin typeface="Arial"/>
                <a:cs typeface="Arial"/>
              </a:rPr>
              <a:t>Dùng</a:t>
            </a:r>
            <a:r>
              <a:rPr lang="en-US" sz="2000" dirty="0">
                <a:latin typeface="Arial"/>
                <a:cs typeface="Arial"/>
              </a:rPr>
              <a:t> </a:t>
            </a:r>
            <a:r>
              <a:rPr lang="en-US" sz="2000" dirty="0" err="1">
                <a:latin typeface="Arial"/>
                <a:cs typeface="Arial"/>
              </a:rPr>
              <a:t>số</a:t>
            </a:r>
            <a:r>
              <a:rPr lang="en-US" sz="2000" dirty="0">
                <a:latin typeface="Arial"/>
                <a:cs typeface="Arial"/>
              </a:rPr>
              <a:t> </a:t>
            </a:r>
            <a:r>
              <a:rPr lang="en-US" sz="2000" dirty="0" err="1">
                <a:latin typeface="Arial"/>
                <a:cs typeface="Arial"/>
              </a:rPr>
              <a:t>hiệu</a:t>
            </a:r>
            <a:r>
              <a:rPr lang="en-US" sz="2000" dirty="0">
                <a:latin typeface="Arial"/>
                <a:cs typeface="Arial"/>
              </a:rPr>
              <a:t> </a:t>
            </a:r>
            <a:r>
              <a:rPr lang="en-US" sz="2000" dirty="0" err="1">
                <a:latin typeface="Arial"/>
                <a:cs typeface="Arial"/>
              </a:rPr>
              <a:t>gói</a:t>
            </a:r>
            <a:r>
              <a:rPr lang="en-US" sz="2000" dirty="0">
                <a:latin typeface="Arial"/>
                <a:cs typeface="Arial"/>
              </a:rPr>
              <a:t> tin </a:t>
            </a:r>
            <a:r>
              <a:rPr lang="en-US" sz="2000" dirty="0" err="1">
                <a:latin typeface="Arial"/>
                <a:cs typeface="Arial"/>
              </a:rPr>
              <a:t>để</a:t>
            </a:r>
            <a:r>
              <a:rPr lang="en-US" sz="2000" dirty="0">
                <a:latin typeface="Arial"/>
                <a:cs typeface="Arial"/>
              </a:rPr>
              <a:t> </a:t>
            </a:r>
            <a:r>
              <a:rPr lang="en-US" sz="2000" dirty="0" err="1">
                <a:latin typeface="Arial"/>
                <a:cs typeface="Arial"/>
              </a:rPr>
              <a:t>phát</a:t>
            </a:r>
            <a:r>
              <a:rPr lang="en-US" sz="2000" dirty="0">
                <a:latin typeface="Arial"/>
                <a:cs typeface="Arial"/>
              </a:rPr>
              <a:t> </a:t>
            </a:r>
            <a:r>
              <a:rPr lang="en-US" sz="2000" dirty="0" err="1">
                <a:latin typeface="Arial"/>
                <a:cs typeface="Arial"/>
              </a:rPr>
              <a:t>hiện</a:t>
            </a:r>
            <a:r>
              <a:rPr lang="en-US" sz="2000" dirty="0">
                <a:latin typeface="Arial"/>
                <a:cs typeface="Arial"/>
              </a:rPr>
              <a:t> </a:t>
            </a:r>
            <a:r>
              <a:rPr lang="en-US" sz="2000" dirty="0" err="1">
                <a:latin typeface="Arial"/>
                <a:cs typeface="Arial"/>
              </a:rPr>
              <a:t>trùng</a:t>
            </a:r>
            <a:r>
              <a:rPr lang="en-US" sz="2000" dirty="0">
                <a:latin typeface="Arial"/>
                <a:cs typeface="Arial"/>
              </a:rPr>
              <a:t> </a:t>
            </a:r>
            <a:r>
              <a:rPr lang="en-US" sz="2000" dirty="0" err="1">
                <a:latin typeface="Arial"/>
                <a:cs typeface="Arial"/>
              </a:rPr>
              <a:t>lặp</a:t>
            </a:r>
            <a:endParaRPr lang="en-US" sz="2000" dirty="0">
              <a:latin typeface="Arial"/>
              <a:cs typeface="Arial"/>
            </a:endParaRPr>
          </a:p>
          <a:p>
            <a:pPr marL="755650" lvl="1" indent="-285750">
              <a:lnSpc>
                <a:spcPts val="2270"/>
              </a:lnSpc>
              <a:buClr>
                <a:srgbClr val="3333CC"/>
              </a:buClr>
              <a:buSzPct val="75000"/>
              <a:buFont typeface="Wingdings"/>
              <a:buChar char=""/>
              <a:tabLst>
                <a:tab pos="755650" algn="l"/>
              </a:tabLst>
            </a:pPr>
            <a:endParaRPr sz="2000" dirty="0">
              <a:latin typeface="Arial"/>
              <a:cs typeface="Arial"/>
            </a:endParaRPr>
          </a:p>
        </p:txBody>
      </p:sp>
      <p:sp>
        <p:nvSpPr>
          <p:cNvPr id="3" name="object 3"/>
          <p:cNvSpPr txBox="1">
            <a:spLocks noGrp="1"/>
          </p:cNvSpPr>
          <p:nvPr>
            <p:ph type="title"/>
          </p:nvPr>
        </p:nvSpPr>
        <p:spPr>
          <a:xfrm>
            <a:off x="762000" y="304800"/>
            <a:ext cx="8989061" cy="628377"/>
          </a:xfrm>
          <a:prstGeom prst="rect">
            <a:avLst/>
          </a:prstGeom>
        </p:spPr>
        <p:txBody>
          <a:bodyPr vert="horz" wrap="square" lIns="0" tIns="12700" rIns="0" bIns="0" rtlCol="0">
            <a:spAutoFit/>
          </a:bodyPr>
          <a:lstStyle/>
          <a:p>
            <a:pPr marL="12700">
              <a:lnSpc>
                <a:spcPct val="100000"/>
              </a:lnSpc>
              <a:spcBef>
                <a:spcPts val="100"/>
              </a:spcBef>
            </a:pPr>
            <a:r>
              <a:rPr lang="en-US" sz="4000" dirty="0" err="1"/>
              <a:t>Kênh</a:t>
            </a:r>
            <a:r>
              <a:rPr lang="en-US" sz="4000" dirty="0"/>
              <a:t> </a:t>
            </a:r>
            <a:r>
              <a:rPr lang="en-US" sz="4000" dirty="0" err="1"/>
              <a:t>có</a:t>
            </a:r>
            <a:r>
              <a:rPr lang="en-US" sz="4000" dirty="0"/>
              <a:t> </a:t>
            </a:r>
            <a:r>
              <a:rPr lang="en-US" sz="4000" dirty="0" err="1"/>
              <a:t>lỗi</a:t>
            </a:r>
            <a:r>
              <a:rPr lang="en-US" sz="4000" dirty="0"/>
              <a:t> </a:t>
            </a:r>
            <a:r>
              <a:rPr lang="en-US" sz="4000" dirty="0" err="1"/>
              <a:t>và</a:t>
            </a:r>
            <a:r>
              <a:rPr lang="en-US" sz="4000" dirty="0"/>
              <a:t> </a:t>
            </a:r>
            <a:r>
              <a:rPr lang="en-US" sz="4000" dirty="0" err="1"/>
              <a:t>mất</a:t>
            </a:r>
            <a:r>
              <a:rPr lang="en-US" sz="4000" dirty="0"/>
              <a:t> </a:t>
            </a:r>
            <a:r>
              <a:rPr lang="en-US" sz="4000" dirty="0" err="1"/>
              <a:t>gói</a:t>
            </a:r>
            <a:r>
              <a:rPr lang="en-US" sz="4000" dirty="0"/>
              <a:t> tin</a:t>
            </a:r>
            <a:endParaRPr sz="4000" dirty="0"/>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30</a:t>
            </a:fld>
            <a:endParaRPr lang="en-US" spc="-5" dirty="0"/>
          </a:p>
        </p:txBody>
      </p:sp>
    </p:spTree>
    <p:extLst>
      <p:ext uri="{BB962C8B-B14F-4D97-AF65-F5344CB8AC3E}">
        <p14:creationId xmlns:p14="http://schemas.microsoft.com/office/powerpoint/2010/main" val="2642684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43630" y="1550968"/>
            <a:ext cx="1087120"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dirty="0">
              <a:latin typeface="Tahoma"/>
              <a:cs typeface="Tahoma"/>
            </a:endParaRPr>
          </a:p>
        </p:txBody>
      </p:sp>
      <p:sp>
        <p:nvSpPr>
          <p:cNvPr id="3" name="object 3"/>
          <p:cNvSpPr txBox="1"/>
          <p:nvPr/>
        </p:nvSpPr>
        <p:spPr>
          <a:xfrm>
            <a:off x="3251708" y="3438397"/>
            <a:ext cx="1057910" cy="525780"/>
          </a:xfrm>
          <a:prstGeom prst="rect">
            <a:avLst/>
          </a:prstGeom>
        </p:spPr>
        <p:txBody>
          <a:bodyPr vert="horz" wrap="square" lIns="0" tIns="60325" rIns="0" bIns="0" rtlCol="0">
            <a:spAutoFit/>
          </a:bodyPr>
          <a:lstStyle/>
          <a:p>
            <a:pPr marL="192405" marR="5080" indent="-180340">
              <a:lnSpc>
                <a:spcPts val="1780"/>
              </a:lnSpc>
              <a:spcBef>
                <a:spcPts val="475"/>
              </a:spcBef>
            </a:pPr>
            <a:r>
              <a:rPr sz="1800" dirty="0">
                <a:latin typeface="Tahoma"/>
                <a:cs typeface="Tahoma"/>
              </a:rPr>
              <a:t>nhận pkt1  gửi ack1</a:t>
            </a:r>
          </a:p>
        </p:txBody>
      </p:sp>
      <p:sp>
        <p:nvSpPr>
          <p:cNvPr id="4" name="object 4"/>
          <p:cNvSpPr txBox="1"/>
          <p:nvPr/>
        </p:nvSpPr>
        <p:spPr>
          <a:xfrm>
            <a:off x="3257788" y="4294116"/>
            <a:ext cx="1051560" cy="495300"/>
          </a:xfrm>
          <a:prstGeom prst="rect">
            <a:avLst/>
          </a:prstGeom>
        </p:spPr>
        <p:txBody>
          <a:bodyPr vert="horz" wrap="square" lIns="0" tIns="92075" rIns="0" bIns="0" rtlCol="0">
            <a:spAutoFit/>
          </a:bodyPr>
          <a:lstStyle/>
          <a:p>
            <a:pPr marL="186055" marR="5080" indent="-173990">
              <a:lnSpc>
                <a:spcPct val="71100"/>
              </a:lnSpc>
              <a:spcBef>
                <a:spcPts val="725"/>
              </a:spcBef>
            </a:pPr>
            <a:r>
              <a:rPr sz="1800" dirty="0">
                <a:latin typeface="Tahoma"/>
                <a:cs typeface="Tahoma"/>
              </a:rPr>
              <a:t>nhận pkt0  gửi ack0</a:t>
            </a:r>
          </a:p>
        </p:txBody>
      </p:sp>
      <p:sp>
        <p:nvSpPr>
          <p:cNvPr id="5" name="object 5"/>
          <p:cNvSpPr txBox="1"/>
          <p:nvPr/>
        </p:nvSpPr>
        <p:spPr>
          <a:xfrm>
            <a:off x="737085" y="3001771"/>
            <a:ext cx="1061720" cy="518795"/>
          </a:xfrm>
          <a:prstGeom prst="rect">
            <a:avLst/>
          </a:prstGeom>
        </p:spPr>
        <p:txBody>
          <a:bodyPr vert="horz" wrap="square" lIns="0" tIns="67945" rIns="0" bIns="0" rtlCol="0">
            <a:spAutoFit/>
          </a:bodyPr>
          <a:lstStyle/>
          <a:p>
            <a:pPr marL="36195" marR="5080" indent="-24130">
              <a:lnSpc>
                <a:spcPct val="79700"/>
              </a:lnSpc>
              <a:spcBef>
                <a:spcPts val="535"/>
              </a:spcBef>
            </a:pPr>
            <a:r>
              <a:rPr sz="1800" dirty="0">
                <a:latin typeface="Tahoma"/>
                <a:cs typeface="Tahoma"/>
              </a:rPr>
              <a:t>nhận ack0  gửi pkt1</a:t>
            </a:r>
          </a:p>
        </p:txBody>
      </p:sp>
      <p:sp>
        <p:nvSpPr>
          <p:cNvPr id="6" name="object 6"/>
          <p:cNvSpPr txBox="1"/>
          <p:nvPr/>
        </p:nvSpPr>
        <p:spPr>
          <a:xfrm>
            <a:off x="726409" y="3855958"/>
            <a:ext cx="1061720" cy="539115"/>
          </a:xfrm>
          <a:prstGeom prst="rect">
            <a:avLst/>
          </a:prstGeom>
        </p:spPr>
        <p:txBody>
          <a:bodyPr vert="horz" wrap="square" lIns="0" tIns="50165" rIns="0" bIns="0" rtlCol="0">
            <a:spAutoFit/>
          </a:bodyPr>
          <a:lstStyle/>
          <a:p>
            <a:pPr marL="46990" marR="5080" indent="-34290">
              <a:lnSpc>
                <a:spcPts val="1880"/>
              </a:lnSpc>
              <a:spcBef>
                <a:spcPts val="395"/>
              </a:spcBef>
            </a:pPr>
            <a:r>
              <a:rPr sz="1800" dirty="0">
                <a:latin typeface="Tahoma"/>
                <a:cs typeface="Tahoma"/>
              </a:rPr>
              <a:t>nhận ack1  gửi pkt0</a:t>
            </a:r>
          </a:p>
        </p:txBody>
      </p:sp>
      <p:sp>
        <p:nvSpPr>
          <p:cNvPr id="7" name="object 7"/>
          <p:cNvSpPr txBox="1"/>
          <p:nvPr/>
        </p:nvSpPr>
        <p:spPr>
          <a:xfrm>
            <a:off x="829845" y="1377696"/>
            <a:ext cx="988060" cy="1221488"/>
          </a:xfrm>
          <a:prstGeom prst="rect">
            <a:avLst/>
          </a:prstGeom>
        </p:spPr>
        <p:txBody>
          <a:bodyPr vert="horz" wrap="square" lIns="0" tIns="168275" rIns="0" bIns="0" rtlCol="0">
            <a:spAutoFit/>
          </a:bodyPr>
          <a:lstStyle/>
          <a:p>
            <a:pPr marL="120014">
              <a:lnSpc>
                <a:spcPct val="100000"/>
              </a:lnSpc>
              <a:spcBef>
                <a:spcPts val="1325"/>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12700">
              <a:lnSpc>
                <a:spcPct val="100000"/>
              </a:lnSpc>
              <a:spcBef>
                <a:spcPts val="1040"/>
              </a:spcBef>
            </a:pPr>
            <a:r>
              <a:rPr sz="1800" dirty="0">
                <a:latin typeface="Tahoma"/>
                <a:cs typeface="Tahoma"/>
              </a:rPr>
              <a:t>gửi pkt0</a:t>
            </a:r>
          </a:p>
        </p:txBody>
      </p:sp>
      <p:sp>
        <p:nvSpPr>
          <p:cNvPr id="8" name="object 8"/>
          <p:cNvSpPr txBox="1"/>
          <p:nvPr/>
        </p:nvSpPr>
        <p:spPr>
          <a:xfrm>
            <a:off x="3247090" y="2541508"/>
            <a:ext cx="1065530" cy="511175"/>
          </a:xfrm>
          <a:prstGeom prst="rect">
            <a:avLst/>
          </a:prstGeom>
        </p:spPr>
        <p:txBody>
          <a:bodyPr vert="horz" wrap="square" lIns="0" tIns="75565" rIns="0" bIns="0" rtlCol="0">
            <a:spAutoFit/>
          </a:bodyPr>
          <a:lstStyle/>
          <a:p>
            <a:pPr marL="200025" marR="5080" indent="-187960">
              <a:lnSpc>
                <a:spcPct val="76900"/>
              </a:lnSpc>
              <a:spcBef>
                <a:spcPts val="595"/>
              </a:spcBef>
            </a:pPr>
            <a:r>
              <a:rPr sz="1800" dirty="0">
                <a:latin typeface="Tahoma"/>
                <a:cs typeface="Tahoma"/>
              </a:rPr>
              <a:t>nhận pkt0  gửi ack0</a:t>
            </a:r>
            <a:endParaRPr sz="1800">
              <a:latin typeface="Tahoma"/>
              <a:cs typeface="Tahoma"/>
            </a:endParaRPr>
          </a:p>
        </p:txBody>
      </p:sp>
      <p:sp>
        <p:nvSpPr>
          <p:cNvPr id="9" name="object 9"/>
          <p:cNvSpPr/>
          <p:nvPr/>
        </p:nvSpPr>
        <p:spPr>
          <a:xfrm>
            <a:off x="1803654" y="2439161"/>
            <a:ext cx="1475740" cy="392430"/>
          </a:xfrm>
          <a:custGeom>
            <a:avLst/>
            <a:gdLst/>
            <a:ahLst/>
            <a:cxnLst/>
            <a:rect l="l" t="t" r="r" b="b"/>
            <a:pathLst>
              <a:path w="1475739" h="392430">
                <a:moveTo>
                  <a:pt x="1394691" y="337152"/>
                </a:moveTo>
                <a:lnTo>
                  <a:pt x="6857" y="0"/>
                </a:lnTo>
                <a:lnTo>
                  <a:pt x="0" y="27432"/>
                </a:lnTo>
                <a:lnTo>
                  <a:pt x="1388130" y="364657"/>
                </a:lnTo>
                <a:lnTo>
                  <a:pt x="1394691" y="337152"/>
                </a:lnTo>
                <a:close/>
              </a:path>
              <a:path w="1475739" h="392430">
                <a:moveTo>
                  <a:pt x="1408938" y="386185"/>
                </a:moveTo>
                <a:lnTo>
                  <a:pt x="1408938" y="340613"/>
                </a:lnTo>
                <a:lnTo>
                  <a:pt x="1402080" y="368045"/>
                </a:lnTo>
                <a:lnTo>
                  <a:pt x="1388130" y="364657"/>
                </a:lnTo>
                <a:lnTo>
                  <a:pt x="1381505" y="392429"/>
                </a:lnTo>
                <a:lnTo>
                  <a:pt x="1408938" y="386185"/>
                </a:lnTo>
                <a:close/>
              </a:path>
              <a:path w="1475739" h="392430">
                <a:moveTo>
                  <a:pt x="1408938" y="340613"/>
                </a:moveTo>
                <a:lnTo>
                  <a:pt x="1394691" y="337152"/>
                </a:lnTo>
                <a:lnTo>
                  <a:pt x="1388130" y="364657"/>
                </a:lnTo>
                <a:lnTo>
                  <a:pt x="1402080" y="368045"/>
                </a:lnTo>
                <a:lnTo>
                  <a:pt x="1408938" y="340613"/>
                </a:lnTo>
                <a:close/>
              </a:path>
              <a:path w="1475739" h="392430">
                <a:moveTo>
                  <a:pt x="1475232" y="371093"/>
                </a:moveTo>
                <a:lnTo>
                  <a:pt x="1401317" y="309371"/>
                </a:lnTo>
                <a:lnTo>
                  <a:pt x="1394691" y="337152"/>
                </a:lnTo>
                <a:lnTo>
                  <a:pt x="1408938" y="340613"/>
                </a:lnTo>
                <a:lnTo>
                  <a:pt x="1408938" y="386185"/>
                </a:lnTo>
                <a:lnTo>
                  <a:pt x="1475232" y="371093"/>
                </a:lnTo>
                <a:close/>
              </a:path>
            </a:pathLst>
          </a:custGeom>
          <a:solidFill>
            <a:srgbClr val="000099"/>
          </a:solidFill>
        </p:spPr>
        <p:txBody>
          <a:bodyPr wrap="square" lIns="0" tIns="0" rIns="0" bIns="0" rtlCol="0"/>
          <a:lstStyle/>
          <a:p>
            <a:endParaRPr/>
          </a:p>
        </p:txBody>
      </p:sp>
      <p:sp>
        <p:nvSpPr>
          <p:cNvPr id="10" name="object 10"/>
          <p:cNvSpPr txBox="1"/>
          <p:nvPr/>
        </p:nvSpPr>
        <p:spPr>
          <a:xfrm>
            <a:off x="2283205" y="2324354"/>
            <a:ext cx="41020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pkt0</a:t>
            </a:r>
            <a:endParaRPr sz="1600">
              <a:latin typeface="Arial"/>
              <a:cs typeface="Arial"/>
            </a:endParaRPr>
          </a:p>
        </p:txBody>
      </p:sp>
      <p:sp>
        <p:nvSpPr>
          <p:cNvPr id="11" name="object 11"/>
          <p:cNvSpPr/>
          <p:nvPr/>
        </p:nvSpPr>
        <p:spPr>
          <a:xfrm>
            <a:off x="1797557" y="4150614"/>
            <a:ext cx="1474470" cy="392430"/>
          </a:xfrm>
          <a:custGeom>
            <a:avLst/>
            <a:gdLst/>
            <a:ahLst/>
            <a:cxnLst/>
            <a:rect l="l" t="t" r="r" b="b"/>
            <a:pathLst>
              <a:path w="1474470" h="392429">
                <a:moveTo>
                  <a:pt x="1394861" y="336441"/>
                </a:moveTo>
                <a:lnTo>
                  <a:pt x="6095" y="0"/>
                </a:lnTo>
                <a:lnTo>
                  <a:pt x="0" y="27432"/>
                </a:lnTo>
                <a:lnTo>
                  <a:pt x="1388130" y="364657"/>
                </a:lnTo>
                <a:lnTo>
                  <a:pt x="1394861" y="336441"/>
                </a:lnTo>
                <a:close/>
              </a:path>
              <a:path w="1474470" h="392429">
                <a:moveTo>
                  <a:pt x="1408937" y="386134"/>
                </a:moveTo>
                <a:lnTo>
                  <a:pt x="1408937" y="339851"/>
                </a:lnTo>
                <a:lnTo>
                  <a:pt x="1402080" y="368045"/>
                </a:lnTo>
                <a:lnTo>
                  <a:pt x="1388130" y="364657"/>
                </a:lnTo>
                <a:lnTo>
                  <a:pt x="1381505" y="392429"/>
                </a:lnTo>
                <a:lnTo>
                  <a:pt x="1408937" y="386134"/>
                </a:lnTo>
                <a:close/>
              </a:path>
              <a:path w="1474470" h="392429">
                <a:moveTo>
                  <a:pt x="1408937" y="339851"/>
                </a:moveTo>
                <a:lnTo>
                  <a:pt x="1394861" y="336441"/>
                </a:lnTo>
                <a:lnTo>
                  <a:pt x="1388130" y="364657"/>
                </a:lnTo>
                <a:lnTo>
                  <a:pt x="1402080" y="368045"/>
                </a:lnTo>
                <a:lnTo>
                  <a:pt x="1408937" y="339851"/>
                </a:lnTo>
                <a:close/>
              </a:path>
              <a:path w="1474470" h="392429">
                <a:moveTo>
                  <a:pt x="1474470" y="371093"/>
                </a:moveTo>
                <a:lnTo>
                  <a:pt x="1401317" y="309371"/>
                </a:lnTo>
                <a:lnTo>
                  <a:pt x="1394861" y="336441"/>
                </a:lnTo>
                <a:lnTo>
                  <a:pt x="1408937" y="339851"/>
                </a:lnTo>
                <a:lnTo>
                  <a:pt x="1408937" y="386134"/>
                </a:lnTo>
                <a:lnTo>
                  <a:pt x="1474470" y="371093"/>
                </a:lnTo>
                <a:close/>
              </a:path>
            </a:pathLst>
          </a:custGeom>
          <a:solidFill>
            <a:srgbClr val="000099"/>
          </a:solidFill>
        </p:spPr>
        <p:txBody>
          <a:bodyPr wrap="square" lIns="0" tIns="0" rIns="0" bIns="0" rtlCol="0"/>
          <a:lstStyle/>
          <a:p>
            <a:endParaRPr/>
          </a:p>
        </p:txBody>
      </p:sp>
      <p:sp>
        <p:nvSpPr>
          <p:cNvPr id="12" name="object 12"/>
          <p:cNvSpPr/>
          <p:nvPr/>
        </p:nvSpPr>
        <p:spPr>
          <a:xfrm>
            <a:off x="1811273" y="3305555"/>
            <a:ext cx="1475740" cy="393700"/>
          </a:xfrm>
          <a:custGeom>
            <a:avLst/>
            <a:gdLst/>
            <a:ahLst/>
            <a:cxnLst/>
            <a:rect l="l" t="t" r="r" b="b"/>
            <a:pathLst>
              <a:path w="1475739" h="393700">
                <a:moveTo>
                  <a:pt x="1395228" y="337283"/>
                </a:moveTo>
                <a:lnTo>
                  <a:pt x="6857" y="0"/>
                </a:lnTo>
                <a:lnTo>
                  <a:pt x="0" y="28194"/>
                </a:lnTo>
                <a:lnTo>
                  <a:pt x="1388312" y="365463"/>
                </a:lnTo>
                <a:lnTo>
                  <a:pt x="1395228" y="337283"/>
                </a:lnTo>
                <a:close/>
              </a:path>
              <a:path w="1475739" h="393700">
                <a:moveTo>
                  <a:pt x="1408938" y="386724"/>
                </a:moveTo>
                <a:lnTo>
                  <a:pt x="1408938" y="340613"/>
                </a:lnTo>
                <a:lnTo>
                  <a:pt x="1402080" y="368807"/>
                </a:lnTo>
                <a:lnTo>
                  <a:pt x="1388312" y="365463"/>
                </a:lnTo>
                <a:lnTo>
                  <a:pt x="1381505" y="393191"/>
                </a:lnTo>
                <a:lnTo>
                  <a:pt x="1408938" y="386724"/>
                </a:lnTo>
                <a:close/>
              </a:path>
              <a:path w="1475739" h="393700">
                <a:moveTo>
                  <a:pt x="1408938" y="340613"/>
                </a:moveTo>
                <a:lnTo>
                  <a:pt x="1395228" y="337283"/>
                </a:lnTo>
                <a:lnTo>
                  <a:pt x="1388312" y="365463"/>
                </a:lnTo>
                <a:lnTo>
                  <a:pt x="1402080" y="368807"/>
                </a:lnTo>
                <a:lnTo>
                  <a:pt x="1408938" y="340613"/>
                </a:lnTo>
                <a:close/>
              </a:path>
              <a:path w="1475739" h="393700">
                <a:moveTo>
                  <a:pt x="1475232" y="371093"/>
                </a:moveTo>
                <a:lnTo>
                  <a:pt x="1402080" y="309371"/>
                </a:lnTo>
                <a:lnTo>
                  <a:pt x="1395228" y="337283"/>
                </a:lnTo>
                <a:lnTo>
                  <a:pt x="1408938" y="340613"/>
                </a:lnTo>
                <a:lnTo>
                  <a:pt x="1408938" y="386724"/>
                </a:lnTo>
                <a:lnTo>
                  <a:pt x="1475232" y="371093"/>
                </a:lnTo>
                <a:close/>
              </a:path>
            </a:pathLst>
          </a:custGeom>
          <a:solidFill>
            <a:srgbClr val="000099"/>
          </a:solidFill>
        </p:spPr>
        <p:txBody>
          <a:bodyPr wrap="square" lIns="0" tIns="0" rIns="0" bIns="0" rtlCol="0"/>
          <a:lstStyle/>
          <a:p>
            <a:endParaRPr/>
          </a:p>
        </p:txBody>
      </p:sp>
      <p:sp>
        <p:nvSpPr>
          <p:cNvPr id="13" name="object 13"/>
          <p:cNvSpPr/>
          <p:nvPr/>
        </p:nvSpPr>
        <p:spPr>
          <a:xfrm>
            <a:off x="1800605" y="3737609"/>
            <a:ext cx="1475740" cy="392430"/>
          </a:xfrm>
          <a:custGeom>
            <a:avLst/>
            <a:gdLst/>
            <a:ahLst/>
            <a:cxnLst/>
            <a:rect l="l" t="t" r="r" b="b"/>
            <a:pathLst>
              <a:path w="1475739" h="392429">
                <a:moveTo>
                  <a:pt x="80062" y="337269"/>
                </a:moveTo>
                <a:lnTo>
                  <a:pt x="73152" y="309372"/>
                </a:lnTo>
                <a:lnTo>
                  <a:pt x="0" y="371094"/>
                </a:lnTo>
                <a:lnTo>
                  <a:pt x="66293" y="386185"/>
                </a:lnTo>
                <a:lnTo>
                  <a:pt x="66293" y="340614"/>
                </a:lnTo>
                <a:lnTo>
                  <a:pt x="80062" y="337269"/>
                </a:lnTo>
                <a:close/>
              </a:path>
              <a:path w="1475739" h="392429">
                <a:moveTo>
                  <a:pt x="86819" y="364550"/>
                </a:moveTo>
                <a:lnTo>
                  <a:pt x="80062" y="337269"/>
                </a:lnTo>
                <a:lnTo>
                  <a:pt x="66293" y="340614"/>
                </a:lnTo>
                <a:lnTo>
                  <a:pt x="72390" y="368046"/>
                </a:lnTo>
                <a:lnTo>
                  <a:pt x="86819" y="364550"/>
                </a:lnTo>
                <a:close/>
              </a:path>
              <a:path w="1475739" h="392429">
                <a:moveTo>
                  <a:pt x="93726" y="392430"/>
                </a:moveTo>
                <a:lnTo>
                  <a:pt x="86819" y="364550"/>
                </a:lnTo>
                <a:lnTo>
                  <a:pt x="72390" y="368046"/>
                </a:lnTo>
                <a:lnTo>
                  <a:pt x="66293" y="340614"/>
                </a:lnTo>
                <a:lnTo>
                  <a:pt x="66293" y="386185"/>
                </a:lnTo>
                <a:lnTo>
                  <a:pt x="93726" y="392430"/>
                </a:lnTo>
                <a:close/>
              </a:path>
              <a:path w="1475739" h="392429">
                <a:moveTo>
                  <a:pt x="1475232" y="28193"/>
                </a:moveTo>
                <a:lnTo>
                  <a:pt x="1468374" y="0"/>
                </a:lnTo>
                <a:lnTo>
                  <a:pt x="80062" y="337269"/>
                </a:lnTo>
                <a:lnTo>
                  <a:pt x="86819" y="364550"/>
                </a:lnTo>
                <a:lnTo>
                  <a:pt x="1475232" y="28193"/>
                </a:lnTo>
                <a:close/>
              </a:path>
            </a:pathLst>
          </a:custGeom>
          <a:solidFill>
            <a:srgbClr val="008000"/>
          </a:solidFill>
        </p:spPr>
        <p:txBody>
          <a:bodyPr wrap="square" lIns="0" tIns="0" rIns="0" bIns="0" rtlCol="0"/>
          <a:lstStyle/>
          <a:p>
            <a:endParaRPr/>
          </a:p>
        </p:txBody>
      </p:sp>
      <p:sp>
        <p:nvSpPr>
          <p:cNvPr id="14" name="object 14"/>
          <p:cNvSpPr txBox="1"/>
          <p:nvPr/>
        </p:nvSpPr>
        <p:spPr>
          <a:xfrm>
            <a:off x="2270251" y="3663950"/>
            <a:ext cx="455930" cy="66675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ack1</a:t>
            </a:r>
            <a:endParaRPr sz="1600" dirty="0">
              <a:latin typeface="Arial"/>
              <a:cs typeface="Arial"/>
            </a:endParaRPr>
          </a:p>
          <a:p>
            <a:pPr marL="20320">
              <a:lnSpc>
                <a:spcPct val="100000"/>
              </a:lnSpc>
              <a:spcBef>
                <a:spcPts val="1205"/>
              </a:spcBef>
            </a:pPr>
            <a:r>
              <a:rPr sz="1600" dirty="0" err="1">
                <a:solidFill>
                  <a:srgbClr val="00009A"/>
                </a:solidFill>
                <a:latin typeface="Arial"/>
                <a:cs typeface="Arial"/>
              </a:rPr>
              <a:t>pkt</a:t>
            </a:r>
            <a:r>
              <a:rPr lang="en-GB" sz="1600" dirty="0">
                <a:solidFill>
                  <a:srgbClr val="00009A"/>
                </a:solidFill>
                <a:latin typeface="Arial"/>
                <a:cs typeface="Arial"/>
              </a:rPr>
              <a:t>0</a:t>
            </a:r>
            <a:endParaRPr sz="1600" dirty="0">
              <a:latin typeface="Arial"/>
              <a:cs typeface="Arial"/>
            </a:endParaRPr>
          </a:p>
        </p:txBody>
      </p:sp>
      <p:sp>
        <p:nvSpPr>
          <p:cNvPr id="15" name="object 15"/>
          <p:cNvSpPr/>
          <p:nvPr/>
        </p:nvSpPr>
        <p:spPr>
          <a:xfrm>
            <a:off x="1792985" y="2881883"/>
            <a:ext cx="1474470" cy="392430"/>
          </a:xfrm>
          <a:custGeom>
            <a:avLst/>
            <a:gdLst/>
            <a:ahLst/>
            <a:cxnLst/>
            <a:rect l="l" t="t" r="r" b="b"/>
            <a:pathLst>
              <a:path w="1474470" h="392429">
                <a:moveTo>
                  <a:pt x="79778" y="337152"/>
                </a:moveTo>
                <a:lnTo>
                  <a:pt x="73152" y="309372"/>
                </a:lnTo>
                <a:lnTo>
                  <a:pt x="0" y="371094"/>
                </a:lnTo>
                <a:lnTo>
                  <a:pt x="65531" y="386134"/>
                </a:lnTo>
                <a:lnTo>
                  <a:pt x="65531" y="340614"/>
                </a:lnTo>
                <a:lnTo>
                  <a:pt x="79778" y="337152"/>
                </a:lnTo>
                <a:close/>
              </a:path>
              <a:path w="1474470" h="392429">
                <a:moveTo>
                  <a:pt x="86341" y="364664"/>
                </a:moveTo>
                <a:lnTo>
                  <a:pt x="79778" y="337152"/>
                </a:lnTo>
                <a:lnTo>
                  <a:pt x="65531" y="340614"/>
                </a:lnTo>
                <a:lnTo>
                  <a:pt x="72390" y="368046"/>
                </a:lnTo>
                <a:lnTo>
                  <a:pt x="86341" y="364664"/>
                </a:lnTo>
                <a:close/>
              </a:path>
              <a:path w="1474470" h="392429">
                <a:moveTo>
                  <a:pt x="92964" y="392430"/>
                </a:moveTo>
                <a:lnTo>
                  <a:pt x="86341" y="364664"/>
                </a:lnTo>
                <a:lnTo>
                  <a:pt x="72390" y="368046"/>
                </a:lnTo>
                <a:lnTo>
                  <a:pt x="65531" y="340614"/>
                </a:lnTo>
                <a:lnTo>
                  <a:pt x="65531" y="386134"/>
                </a:lnTo>
                <a:lnTo>
                  <a:pt x="92964" y="392430"/>
                </a:lnTo>
                <a:close/>
              </a:path>
              <a:path w="1474470" h="392429">
                <a:moveTo>
                  <a:pt x="1474470" y="28193"/>
                </a:moveTo>
                <a:lnTo>
                  <a:pt x="1467612" y="0"/>
                </a:lnTo>
                <a:lnTo>
                  <a:pt x="79778" y="337152"/>
                </a:lnTo>
                <a:lnTo>
                  <a:pt x="86341" y="364664"/>
                </a:lnTo>
                <a:lnTo>
                  <a:pt x="1474470" y="28193"/>
                </a:lnTo>
                <a:close/>
              </a:path>
            </a:pathLst>
          </a:custGeom>
          <a:solidFill>
            <a:srgbClr val="008000"/>
          </a:solidFill>
        </p:spPr>
        <p:txBody>
          <a:bodyPr wrap="square" lIns="0" tIns="0" rIns="0" bIns="0" rtlCol="0"/>
          <a:lstStyle/>
          <a:p>
            <a:endParaRPr/>
          </a:p>
        </p:txBody>
      </p:sp>
      <p:sp>
        <p:nvSpPr>
          <p:cNvPr id="16" name="object 16"/>
          <p:cNvSpPr txBox="1"/>
          <p:nvPr/>
        </p:nvSpPr>
        <p:spPr>
          <a:xfrm>
            <a:off x="2265679" y="2693466"/>
            <a:ext cx="455930" cy="775335"/>
          </a:xfrm>
          <a:prstGeom prst="rect">
            <a:avLst/>
          </a:prstGeom>
        </p:spPr>
        <p:txBody>
          <a:bodyPr vert="horz" wrap="square" lIns="0" tIns="12065" rIns="0" bIns="0" rtlCol="0">
            <a:spAutoFit/>
          </a:bodyPr>
          <a:lstStyle/>
          <a:p>
            <a:pPr marL="19685" marR="5080" indent="-7620">
              <a:lnSpc>
                <a:spcPct val="153800"/>
              </a:lnSpc>
              <a:spcBef>
                <a:spcPts val="95"/>
              </a:spcBef>
            </a:pPr>
            <a:r>
              <a:rPr sz="1600" dirty="0">
                <a:solidFill>
                  <a:srgbClr val="008000"/>
                </a:solidFill>
                <a:latin typeface="Arial"/>
                <a:cs typeface="Arial"/>
              </a:rPr>
              <a:t>ack0  </a:t>
            </a:r>
            <a:r>
              <a:rPr sz="1600" dirty="0">
                <a:solidFill>
                  <a:srgbClr val="00009A"/>
                </a:solidFill>
                <a:latin typeface="Arial"/>
                <a:cs typeface="Arial"/>
              </a:rPr>
              <a:t>pkt1</a:t>
            </a:r>
            <a:endParaRPr sz="1600">
              <a:latin typeface="Arial"/>
              <a:cs typeface="Arial"/>
            </a:endParaRPr>
          </a:p>
        </p:txBody>
      </p:sp>
      <p:sp>
        <p:nvSpPr>
          <p:cNvPr id="17" name="object 17"/>
          <p:cNvSpPr/>
          <p:nvPr/>
        </p:nvSpPr>
        <p:spPr>
          <a:xfrm>
            <a:off x="1786127" y="4580382"/>
            <a:ext cx="1475740" cy="393700"/>
          </a:xfrm>
          <a:custGeom>
            <a:avLst/>
            <a:gdLst/>
            <a:ahLst/>
            <a:cxnLst/>
            <a:rect l="l" t="t" r="r" b="b"/>
            <a:pathLst>
              <a:path w="1475739" h="393700">
                <a:moveTo>
                  <a:pt x="80003" y="337283"/>
                </a:moveTo>
                <a:lnTo>
                  <a:pt x="73152" y="309372"/>
                </a:lnTo>
                <a:lnTo>
                  <a:pt x="0" y="371094"/>
                </a:lnTo>
                <a:lnTo>
                  <a:pt x="66293" y="386724"/>
                </a:lnTo>
                <a:lnTo>
                  <a:pt x="66293" y="340614"/>
                </a:lnTo>
                <a:lnTo>
                  <a:pt x="80003" y="337283"/>
                </a:lnTo>
                <a:close/>
              </a:path>
              <a:path w="1475739" h="393700">
                <a:moveTo>
                  <a:pt x="86745" y="364751"/>
                </a:moveTo>
                <a:lnTo>
                  <a:pt x="80003" y="337283"/>
                </a:lnTo>
                <a:lnTo>
                  <a:pt x="66293" y="340614"/>
                </a:lnTo>
                <a:lnTo>
                  <a:pt x="73152" y="368046"/>
                </a:lnTo>
                <a:lnTo>
                  <a:pt x="86745" y="364751"/>
                </a:lnTo>
                <a:close/>
              </a:path>
              <a:path w="1475739" h="393700">
                <a:moveTo>
                  <a:pt x="93726" y="393192"/>
                </a:moveTo>
                <a:lnTo>
                  <a:pt x="86745" y="364751"/>
                </a:lnTo>
                <a:lnTo>
                  <a:pt x="73152" y="368046"/>
                </a:lnTo>
                <a:lnTo>
                  <a:pt x="66293" y="340614"/>
                </a:lnTo>
                <a:lnTo>
                  <a:pt x="66293" y="386724"/>
                </a:lnTo>
                <a:lnTo>
                  <a:pt x="93726" y="393192"/>
                </a:lnTo>
                <a:close/>
              </a:path>
              <a:path w="1475739" h="393700">
                <a:moveTo>
                  <a:pt x="1475232" y="28193"/>
                </a:moveTo>
                <a:lnTo>
                  <a:pt x="1468374" y="0"/>
                </a:lnTo>
                <a:lnTo>
                  <a:pt x="80003" y="337283"/>
                </a:lnTo>
                <a:lnTo>
                  <a:pt x="86745" y="364751"/>
                </a:lnTo>
                <a:lnTo>
                  <a:pt x="1475232" y="28193"/>
                </a:lnTo>
                <a:close/>
              </a:path>
            </a:pathLst>
          </a:custGeom>
          <a:solidFill>
            <a:srgbClr val="008000"/>
          </a:solidFill>
        </p:spPr>
        <p:txBody>
          <a:bodyPr wrap="square" lIns="0" tIns="0" rIns="0" bIns="0" rtlCol="0"/>
          <a:lstStyle/>
          <a:p>
            <a:endParaRPr/>
          </a:p>
        </p:txBody>
      </p:sp>
      <p:sp>
        <p:nvSpPr>
          <p:cNvPr id="18" name="object 18"/>
          <p:cNvSpPr txBox="1"/>
          <p:nvPr/>
        </p:nvSpPr>
        <p:spPr>
          <a:xfrm>
            <a:off x="2260345" y="4516628"/>
            <a:ext cx="455930" cy="259045"/>
          </a:xfrm>
          <a:prstGeom prst="rect">
            <a:avLst/>
          </a:prstGeom>
        </p:spPr>
        <p:txBody>
          <a:bodyPr vert="horz" wrap="square" lIns="0" tIns="12700" rIns="0" bIns="0" rtlCol="0">
            <a:spAutoFit/>
          </a:bodyPr>
          <a:lstStyle/>
          <a:p>
            <a:pPr marL="12700">
              <a:lnSpc>
                <a:spcPct val="100000"/>
              </a:lnSpc>
              <a:spcBef>
                <a:spcPts val="100"/>
              </a:spcBef>
            </a:pPr>
            <a:r>
              <a:rPr sz="1600" dirty="0" err="1">
                <a:solidFill>
                  <a:srgbClr val="008000"/>
                </a:solidFill>
                <a:latin typeface="Arial"/>
                <a:cs typeface="Arial"/>
              </a:rPr>
              <a:t>ack</a:t>
            </a:r>
            <a:r>
              <a:rPr lang="en-GB" sz="1600" dirty="0">
                <a:solidFill>
                  <a:srgbClr val="008000"/>
                </a:solidFill>
                <a:latin typeface="Arial"/>
                <a:cs typeface="Arial"/>
              </a:rPr>
              <a:t>0</a:t>
            </a:r>
            <a:endParaRPr sz="1600" dirty="0">
              <a:latin typeface="Arial"/>
              <a:cs typeface="Arial"/>
            </a:endParaRPr>
          </a:p>
        </p:txBody>
      </p:sp>
      <p:sp>
        <p:nvSpPr>
          <p:cNvPr id="19" name="object 19"/>
          <p:cNvSpPr txBox="1"/>
          <p:nvPr/>
        </p:nvSpPr>
        <p:spPr>
          <a:xfrm>
            <a:off x="1797050" y="5600192"/>
            <a:ext cx="18465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(a) không mất gói</a:t>
            </a:r>
            <a:endParaRPr sz="1800">
              <a:latin typeface="Tahoma"/>
              <a:cs typeface="Tahoma"/>
            </a:endParaRPr>
          </a:p>
        </p:txBody>
      </p:sp>
      <p:sp>
        <p:nvSpPr>
          <p:cNvPr id="20" name="object 20"/>
          <p:cNvSpPr txBox="1"/>
          <p:nvPr/>
        </p:nvSpPr>
        <p:spPr>
          <a:xfrm>
            <a:off x="8004428" y="1496636"/>
            <a:ext cx="1087120"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dirty="0">
              <a:latin typeface="Tahoma"/>
              <a:cs typeface="Tahoma"/>
            </a:endParaRPr>
          </a:p>
        </p:txBody>
      </p:sp>
      <p:sp>
        <p:nvSpPr>
          <p:cNvPr id="21" name="object 21"/>
          <p:cNvSpPr txBox="1"/>
          <p:nvPr/>
        </p:nvSpPr>
        <p:spPr>
          <a:xfrm>
            <a:off x="7807706" y="4727702"/>
            <a:ext cx="1059180" cy="511175"/>
          </a:xfrm>
          <a:prstGeom prst="rect">
            <a:avLst/>
          </a:prstGeom>
        </p:spPr>
        <p:txBody>
          <a:bodyPr vert="horz" wrap="square" lIns="0" tIns="75565" rIns="0" bIns="0" rtlCol="0">
            <a:spAutoFit/>
          </a:bodyPr>
          <a:lstStyle/>
          <a:p>
            <a:pPr marL="193675" marR="5080" indent="-181610">
              <a:lnSpc>
                <a:spcPct val="77000"/>
              </a:lnSpc>
              <a:spcBef>
                <a:spcPts val="595"/>
              </a:spcBef>
            </a:pPr>
            <a:r>
              <a:rPr sz="1800" dirty="0">
                <a:latin typeface="Tahoma"/>
                <a:cs typeface="Tahoma"/>
              </a:rPr>
              <a:t>nhận pkt1  gửi ack1</a:t>
            </a:r>
            <a:endParaRPr sz="1800">
              <a:latin typeface="Tahoma"/>
              <a:cs typeface="Tahoma"/>
            </a:endParaRPr>
          </a:p>
        </p:txBody>
      </p:sp>
      <p:sp>
        <p:nvSpPr>
          <p:cNvPr id="22" name="object 22"/>
          <p:cNvSpPr txBox="1"/>
          <p:nvPr/>
        </p:nvSpPr>
        <p:spPr>
          <a:xfrm>
            <a:off x="7816072" y="5568950"/>
            <a:ext cx="1050925" cy="495300"/>
          </a:xfrm>
          <a:prstGeom prst="rect">
            <a:avLst/>
          </a:prstGeom>
        </p:spPr>
        <p:txBody>
          <a:bodyPr vert="horz" wrap="square" lIns="0" tIns="92075" rIns="0" bIns="0" rtlCol="0">
            <a:spAutoFit/>
          </a:bodyPr>
          <a:lstStyle/>
          <a:p>
            <a:pPr marL="185420" marR="5080" indent="-173355">
              <a:lnSpc>
                <a:spcPct val="71100"/>
              </a:lnSpc>
              <a:spcBef>
                <a:spcPts val="725"/>
              </a:spcBef>
            </a:pPr>
            <a:r>
              <a:rPr sz="1800" dirty="0">
                <a:latin typeface="Tahoma"/>
                <a:cs typeface="Tahoma"/>
              </a:rPr>
              <a:t>nhận pkt0  gửi ack0</a:t>
            </a:r>
          </a:p>
        </p:txBody>
      </p:sp>
      <p:sp>
        <p:nvSpPr>
          <p:cNvPr id="23" name="object 23"/>
          <p:cNvSpPr txBox="1"/>
          <p:nvPr/>
        </p:nvSpPr>
        <p:spPr>
          <a:xfrm>
            <a:off x="5294591" y="2998731"/>
            <a:ext cx="1061720" cy="518795"/>
          </a:xfrm>
          <a:prstGeom prst="rect">
            <a:avLst/>
          </a:prstGeom>
        </p:spPr>
        <p:txBody>
          <a:bodyPr vert="horz" wrap="square" lIns="0" tIns="67945" rIns="0" bIns="0" rtlCol="0">
            <a:spAutoFit/>
          </a:bodyPr>
          <a:lstStyle/>
          <a:p>
            <a:pPr marL="36830" marR="5080" indent="-24765">
              <a:lnSpc>
                <a:spcPct val="79700"/>
              </a:lnSpc>
              <a:spcBef>
                <a:spcPts val="535"/>
              </a:spcBef>
            </a:pPr>
            <a:r>
              <a:rPr sz="1800" dirty="0">
                <a:latin typeface="Tahoma"/>
                <a:cs typeface="Tahoma"/>
              </a:rPr>
              <a:t>nhận ack0  gửi pkt1</a:t>
            </a:r>
            <a:endParaRPr sz="1800">
              <a:latin typeface="Tahoma"/>
              <a:cs typeface="Tahoma"/>
            </a:endParaRPr>
          </a:p>
        </p:txBody>
      </p:sp>
      <p:sp>
        <p:nvSpPr>
          <p:cNvPr id="24" name="object 24"/>
          <p:cNvSpPr txBox="1"/>
          <p:nvPr/>
        </p:nvSpPr>
        <p:spPr>
          <a:xfrm>
            <a:off x="5283916" y="5130792"/>
            <a:ext cx="1061720" cy="539115"/>
          </a:xfrm>
          <a:prstGeom prst="rect">
            <a:avLst/>
          </a:prstGeom>
        </p:spPr>
        <p:txBody>
          <a:bodyPr vert="horz" wrap="square" lIns="0" tIns="50165" rIns="0" bIns="0" rtlCol="0">
            <a:spAutoFit/>
          </a:bodyPr>
          <a:lstStyle/>
          <a:p>
            <a:pPr marL="47625" marR="5080" indent="-35560">
              <a:lnSpc>
                <a:spcPts val="1880"/>
              </a:lnSpc>
              <a:spcBef>
                <a:spcPts val="395"/>
              </a:spcBef>
            </a:pPr>
            <a:r>
              <a:rPr sz="1800" dirty="0">
                <a:latin typeface="Tahoma"/>
                <a:cs typeface="Tahoma"/>
              </a:rPr>
              <a:t>nhận ack1  gửi pkt0</a:t>
            </a:r>
          </a:p>
        </p:txBody>
      </p:sp>
      <p:sp>
        <p:nvSpPr>
          <p:cNvPr id="25" name="object 25"/>
          <p:cNvSpPr txBox="1"/>
          <p:nvPr/>
        </p:nvSpPr>
        <p:spPr>
          <a:xfrm>
            <a:off x="5313486" y="1330831"/>
            <a:ext cx="988060" cy="1221488"/>
          </a:xfrm>
          <a:prstGeom prst="rect">
            <a:avLst/>
          </a:prstGeom>
        </p:spPr>
        <p:txBody>
          <a:bodyPr vert="horz" wrap="square" lIns="0" tIns="168275" rIns="0" bIns="0" rtlCol="0">
            <a:spAutoFit/>
          </a:bodyPr>
          <a:lstStyle/>
          <a:p>
            <a:pPr marL="120014">
              <a:lnSpc>
                <a:spcPct val="100000"/>
              </a:lnSpc>
              <a:spcBef>
                <a:spcPts val="1325"/>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12700">
              <a:lnSpc>
                <a:spcPct val="100000"/>
              </a:lnSpc>
              <a:spcBef>
                <a:spcPts val="1040"/>
              </a:spcBef>
            </a:pPr>
            <a:r>
              <a:rPr sz="1800" dirty="0">
                <a:latin typeface="Tahoma"/>
                <a:cs typeface="Tahoma"/>
              </a:rPr>
              <a:t>gửi pkt0</a:t>
            </a:r>
          </a:p>
        </p:txBody>
      </p:sp>
      <p:sp>
        <p:nvSpPr>
          <p:cNvPr id="26" name="object 26"/>
          <p:cNvSpPr txBox="1"/>
          <p:nvPr/>
        </p:nvSpPr>
        <p:spPr>
          <a:xfrm>
            <a:off x="7804597" y="2538468"/>
            <a:ext cx="1065530" cy="511175"/>
          </a:xfrm>
          <a:prstGeom prst="rect">
            <a:avLst/>
          </a:prstGeom>
        </p:spPr>
        <p:txBody>
          <a:bodyPr vert="horz" wrap="square" lIns="0" tIns="75565" rIns="0" bIns="0" rtlCol="0">
            <a:spAutoFit/>
          </a:bodyPr>
          <a:lstStyle/>
          <a:p>
            <a:pPr marL="200025" marR="5080" indent="-187960">
              <a:lnSpc>
                <a:spcPct val="77000"/>
              </a:lnSpc>
              <a:spcBef>
                <a:spcPts val="595"/>
              </a:spcBef>
            </a:pPr>
            <a:r>
              <a:rPr sz="1800" dirty="0">
                <a:latin typeface="Tahoma"/>
                <a:cs typeface="Tahoma"/>
              </a:rPr>
              <a:t>nhận pkt0  gửi ack0</a:t>
            </a:r>
            <a:endParaRPr sz="1800">
              <a:latin typeface="Tahoma"/>
              <a:cs typeface="Tahoma"/>
            </a:endParaRPr>
          </a:p>
        </p:txBody>
      </p:sp>
      <p:sp>
        <p:nvSpPr>
          <p:cNvPr id="27" name="object 27"/>
          <p:cNvSpPr/>
          <p:nvPr/>
        </p:nvSpPr>
        <p:spPr>
          <a:xfrm>
            <a:off x="6361176" y="2436114"/>
            <a:ext cx="1475740" cy="392430"/>
          </a:xfrm>
          <a:custGeom>
            <a:avLst/>
            <a:gdLst/>
            <a:ahLst/>
            <a:cxnLst/>
            <a:rect l="l" t="t" r="r" b="b"/>
            <a:pathLst>
              <a:path w="1475740" h="392430">
                <a:moveTo>
                  <a:pt x="1395345" y="336557"/>
                </a:moveTo>
                <a:lnTo>
                  <a:pt x="6858" y="0"/>
                </a:lnTo>
                <a:lnTo>
                  <a:pt x="0" y="27432"/>
                </a:lnTo>
                <a:lnTo>
                  <a:pt x="1388371" y="364715"/>
                </a:lnTo>
                <a:lnTo>
                  <a:pt x="1395345" y="336557"/>
                </a:lnTo>
                <a:close/>
              </a:path>
              <a:path w="1475740" h="392430">
                <a:moveTo>
                  <a:pt x="1408938" y="386185"/>
                </a:moveTo>
                <a:lnTo>
                  <a:pt x="1408938" y="339851"/>
                </a:lnTo>
                <a:lnTo>
                  <a:pt x="1402080" y="368045"/>
                </a:lnTo>
                <a:lnTo>
                  <a:pt x="1388371" y="364715"/>
                </a:lnTo>
                <a:lnTo>
                  <a:pt x="1381506" y="392429"/>
                </a:lnTo>
                <a:lnTo>
                  <a:pt x="1408938" y="386185"/>
                </a:lnTo>
                <a:close/>
              </a:path>
              <a:path w="1475740" h="392430">
                <a:moveTo>
                  <a:pt x="1408938" y="339851"/>
                </a:moveTo>
                <a:lnTo>
                  <a:pt x="1395345" y="336557"/>
                </a:lnTo>
                <a:lnTo>
                  <a:pt x="1388371" y="364715"/>
                </a:lnTo>
                <a:lnTo>
                  <a:pt x="1402080" y="368045"/>
                </a:lnTo>
                <a:lnTo>
                  <a:pt x="1408938" y="339851"/>
                </a:lnTo>
                <a:close/>
              </a:path>
              <a:path w="1475740" h="392430">
                <a:moveTo>
                  <a:pt x="1475232" y="371093"/>
                </a:moveTo>
                <a:lnTo>
                  <a:pt x="1402080" y="309371"/>
                </a:lnTo>
                <a:lnTo>
                  <a:pt x="1395345" y="336557"/>
                </a:lnTo>
                <a:lnTo>
                  <a:pt x="1408938" y="339851"/>
                </a:lnTo>
                <a:lnTo>
                  <a:pt x="1408938" y="386185"/>
                </a:lnTo>
                <a:lnTo>
                  <a:pt x="1475232" y="371093"/>
                </a:lnTo>
                <a:close/>
              </a:path>
            </a:pathLst>
          </a:custGeom>
          <a:solidFill>
            <a:srgbClr val="000099"/>
          </a:solidFill>
        </p:spPr>
        <p:txBody>
          <a:bodyPr wrap="square" lIns="0" tIns="0" rIns="0" bIns="0" rtlCol="0"/>
          <a:lstStyle/>
          <a:p>
            <a:endParaRPr/>
          </a:p>
        </p:txBody>
      </p:sp>
      <p:sp>
        <p:nvSpPr>
          <p:cNvPr id="28" name="object 28"/>
          <p:cNvSpPr txBox="1"/>
          <p:nvPr/>
        </p:nvSpPr>
        <p:spPr>
          <a:xfrm>
            <a:off x="6840728" y="2320543"/>
            <a:ext cx="41020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pkt0</a:t>
            </a:r>
            <a:endParaRPr sz="1600">
              <a:latin typeface="Arial"/>
              <a:cs typeface="Arial"/>
            </a:endParaRPr>
          </a:p>
        </p:txBody>
      </p:sp>
      <p:sp>
        <p:nvSpPr>
          <p:cNvPr id="29" name="object 29"/>
          <p:cNvSpPr/>
          <p:nvPr/>
        </p:nvSpPr>
        <p:spPr>
          <a:xfrm>
            <a:off x="6355079" y="5425440"/>
            <a:ext cx="1474470" cy="392430"/>
          </a:xfrm>
          <a:custGeom>
            <a:avLst/>
            <a:gdLst/>
            <a:ahLst/>
            <a:cxnLst/>
            <a:rect l="l" t="t" r="r" b="b"/>
            <a:pathLst>
              <a:path w="1474470" h="392429">
                <a:moveTo>
                  <a:pt x="1394861" y="336439"/>
                </a:moveTo>
                <a:lnTo>
                  <a:pt x="6858" y="0"/>
                </a:lnTo>
                <a:lnTo>
                  <a:pt x="0" y="27432"/>
                </a:lnTo>
                <a:lnTo>
                  <a:pt x="1388130" y="364657"/>
                </a:lnTo>
                <a:lnTo>
                  <a:pt x="1394861" y="336439"/>
                </a:lnTo>
                <a:close/>
              </a:path>
              <a:path w="1474470" h="392429">
                <a:moveTo>
                  <a:pt x="1408938" y="386134"/>
                </a:moveTo>
                <a:lnTo>
                  <a:pt x="1408938" y="339851"/>
                </a:lnTo>
                <a:lnTo>
                  <a:pt x="1402080" y="368045"/>
                </a:lnTo>
                <a:lnTo>
                  <a:pt x="1388130" y="364657"/>
                </a:lnTo>
                <a:lnTo>
                  <a:pt x="1381506" y="392429"/>
                </a:lnTo>
                <a:lnTo>
                  <a:pt x="1408938" y="386134"/>
                </a:lnTo>
                <a:close/>
              </a:path>
              <a:path w="1474470" h="392429">
                <a:moveTo>
                  <a:pt x="1408938" y="339851"/>
                </a:moveTo>
                <a:lnTo>
                  <a:pt x="1394861" y="336439"/>
                </a:lnTo>
                <a:lnTo>
                  <a:pt x="1388130" y="364657"/>
                </a:lnTo>
                <a:lnTo>
                  <a:pt x="1402080" y="368045"/>
                </a:lnTo>
                <a:lnTo>
                  <a:pt x="1408938" y="339851"/>
                </a:lnTo>
                <a:close/>
              </a:path>
              <a:path w="1474470" h="392429">
                <a:moveTo>
                  <a:pt x="1474470" y="371093"/>
                </a:moveTo>
                <a:lnTo>
                  <a:pt x="1401318" y="309371"/>
                </a:lnTo>
                <a:lnTo>
                  <a:pt x="1394861" y="336439"/>
                </a:lnTo>
                <a:lnTo>
                  <a:pt x="1408938" y="339851"/>
                </a:lnTo>
                <a:lnTo>
                  <a:pt x="1408938" y="386134"/>
                </a:lnTo>
                <a:lnTo>
                  <a:pt x="1474470" y="371093"/>
                </a:lnTo>
                <a:close/>
              </a:path>
            </a:pathLst>
          </a:custGeom>
          <a:solidFill>
            <a:srgbClr val="000099"/>
          </a:solidFill>
        </p:spPr>
        <p:txBody>
          <a:bodyPr wrap="square" lIns="0" tIns="0" rIns="0" bIns="0" rtlCol="0"/>
          <a:lstStyle/>
          <a:p>
            <a:endParaRPr/>
          </a:p>
        </p:txBody>
      </p:sp>
      <p:sp>
        <p:nvSpPr>
          <p:cNvPr id="30" name="object 30"/>
          <p:cNvSpPr/>
          <p:nvPr/>
        </p:nvSpPr>
        <p:spPr>
          <a:xfrm>
            <a:off x="6358128" y="5012435"/>
            <a:ext cx="1475740" cy="392430"/>
          </a:xfrm>
          <a:custGeom>
            <a:avLst/>
            <a:gdLst/>
            <a:ahLst/>
            <a:cxnLst/>
            <a:rect l="l" t="t" r="r" b="b"/>
            <a:pathLst>
              <a:path w="1475740" h="392429">
                <a:moveTo>
                  <a:pt x="80062" y="337269"/>
                </a:moveTo>
                <a:lnTo>
                  <a:pt x="73152" y="309372"/>
                </a:lnTo>
                <a:lnTo>
                  <a:pt x="0" y="371094"/>
                </a:lnTo>
                <a:lnTo>
                  <a:pt x="66293" y="386185"/>
                </a:lnTo>
                <a:lnTo>
                  <a:pt x="66293" y="340614"/>
                </a:lnTo>
                <a:lnTo>
                  <a:pt x="80062" y="337269"/>
                </a:lnTo>
                <a:close/>
              </a:path>
              <a:path w="1475740" h="392429">
                <a:moveTo>
                  <a:pt x="86862" y="364722"/>
                </a:moveTo>
                <a:lnTo>
                  <a:pt x="80062" y="337269"/>
                </a:lnTo>
                <a:lnTo>
                  <a:pt x="66293" y="340614"/>
                </a:lnTo>
                <a:lnTo>
                  <a:pt x="73152" y="368046"/>
                </a:lnTo>
                <a:lnTo>
                  <a:pt x="86862" y="364722"/>
                </a:lnTo>
                <a:close/>
              </a:path>
              <a:path w="1475740" h="392429">
                <a:moveTo>
                  <a:pt x="93726" y="392430"/>
                </a:moveTo>
                <a:lnTo>
                  <a:pt x="86862" y="364722"/>
                </a:lnTo>
                <a:lnTo>
                  <a:pt x="73152" y="368046"/>
                </a:lnTo>
                <a:lnTo>
                  <a:pt x="66293" y="340614"/>
                </a:lnTo>
                <a:lnTo>
                  <a:pt x="66293" y="386185"/>
                </a:lnTo>
                <a:lnTo>
                  <a:pt x="93726" y="392430"/>
                </a:lnTo>
                <a:close/>
              </a:path>
              <a:path w="1475740" h="392429">
                <a:moveTo>
                  <a:pt x="1475232" y="28193"/>
                </a:moveTo>
                <a:lnTo>
                  <a:pt x="1468374" y="0"/>
                </a:lnTo>
                <a:lnTo>
                  <a:pt x="80062" y="337269"/>
                </a:lnTo>
                <a:lnTo>
                  <a:pt x="86862" y="364722"/>
                </a:lnTo>
                <a:lnTo>
                  <a:pt x="1475232" y="28193"/>
                </a:lnTo>
                <a:close/>
              </a:path>
            </a:pathLst>
          </a:custGeom>
          <a:solidFill>
            <a:srgbClr val="008000"/>
          </a:solidFill>
        </p:spPr>
        <p:txBody>
          <a:bodyPr wrap="square" lIns="0" tIns="0" rIns="0" bIns="0" rtlCol="0"/>
          <a:lstStyle/>
          <a:p>
            <a:endParaRPr/>
          </a:p>
        </p:txBody>
      </p:sp>
      <p:sp>
        <p:nvSpPr>
          <p:cNvPr id="31" name="object 31"/>
          <p:cNvSpPr txBox="1"/>
          <p:nvPr/>
        </p:nvSpPr>
        <p:spPr>
          <a:xfrm>
            <a:off x="6827773" y="4938776"/>
            <a:ext cx="455930" cy="66675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ack1</a:t>
            </a:r>
            <a:endParaRPr sz="1600" dirty="0">
              <a:latin typeface="Arial"/>
              <a:cs typeface="Arial"/>
            </a:endParaRPr>
          </a:p>
          <a:p>
            <a:pPr marL="20955">
              <a:lnSpc>
                <a:spcPct val="100000"/>
              </a:lnSpc>
              <a:spcBef>
                <a:spcPts val="1205"/>
              </a:spcBef>
            </a:pPr>
            <a:r>
              <a:rPr sz="1600" dirty="0">
                <a:solidFill>
                  <a:srgbClr val="00009A"/>
                </a:solidFill>
                <a:latin typeface="Arial"/>
                <a:cs typeface="Arial"/>
              </a:rPr>
              <a:t>pkt</a:t>
            </a:r>
            <a:r>
              <a:rPr lang="en-US" sz="1600" dirty="0">
                <a:solidFill>
                  <a:srgbClr val="00009A"/>
                </a:solidFill>
                <a:latin typeface="Arial"/>
                <a:cs typeface="Arial"/>
              </a:rPr>
              <a:t>0</a:t>
            </a:r>
            <a:endParaRPr sz="1600" dirty="0">
              <a:latin typeface="Arial"/>
              <a:cs typeface="Arial"/>
            </a:endParaRPr>
          </a:p>
        </p:txBody>
      </p:sp>
      <p:sp>
        <p:nvSpPr>
          <p:cNvPr id="32" name="object 32"/>
          <p:cNvSpPr/>
          <p:nvPr/>
        </p:nvSpPr>
        <p:spPr>
          <a:xfrm>
            <a:off x="6350508" y="2878835"/>
            <a:ext cx="1474470" cy="392430"/>
          </a:xfrm>
          <a:custGeom>
            <a:avLst/>
            <a:gdLst/>
            <a:ahLst/>
            <a:cxnLst/>
            <a:rect l="l" t="t" r="r" b="b"/>
            <a:pathLst>
              <a:path w="1474470" h="392429">
                <a:moveTo>
                  <a:pt x="79779" y="337154"/>
                </a:moveTo>
                <a:lnTo>
                  <a:pt x="73152" y="309372"/>
                </a:lnTo>
                <a:lnTo>
                  <a:pt x="0" y="371094"/>
                </a:lnTo>
                <a:lnTo>
                  <a:pt x="65532" y="386134"/>
                </a:lnTo>
                <a:lnTo>
                  <a:pt x="65532" y="340614"/>
                </a:lnTo>
                <a:lnTo>
                  <a:pt x="79779" y="337154"/>
                </a:lnTo>
                <a:close/>
              </a:path>
              <a:path w="1474470" h="392429">
                <a:moveTo>
                  <a:pt x="86341" y="364664"/>
                </a:moveTo>
                <a:lnTo>
                  <a:pt x="79779" y="337154"/>
                </a:lnTo>
                <a:lnTo>
                  <a:pt x="65532" y="340614"/>
                </a:lnTo>
                <a:lnTo>
                  <a:pt x="72390" y="368046"/>
                </a:lnTo>
                <a:lnTo>
                  <a:pt x="86341" y="364664"/>
                </a:lnTo>
                <a:close/>
              </a:path>
              <a:path w="1474470" h="392429">
                <a:moveTo>
                  <a:pt x="92964" y="392430"/>
                </a:moveTo>
                <a:lnTo>
                  <a:pt x="86341" y="364664"/>
                </a:lnTo>
                <a:lnTo>
                  <a:pt x="72390" y="368046"/>
                </a:lnTo>
                <a:lnTo>
                  <a:pt x="65532" y="340614"/>
                </a:lnTo>
                <a:lnTo>
                  <a:pt x="65532" y="386134"/>
                </a:lnTo>
                <a:lnTo>
                  <a:pt x="92964" y="392430"/>
                </a:lnTo>
                <a:close/>
              </a:path>
              <a:path w="1474470" h="392429">
                <a:moveTo>
                  <a:pt x="1474470" y="28193"/>
                </a:moveTo>
                <a:lnTo>
                  <a:pt x="1468374" y="0"/>
                </a:lnTo>
                <a:lnTo>
                  <a:pt x="79779" y="337154"/>
                </a:lnTo>
                <a:lnTo>
                  <a:pt x="86341" y="364664"/>
                </a:lnTo>
                <a:lnTo>
                  <a:pt x="1474470" y="28193"/>
                </a:lnTo>
                <a:close/>
              </a:path>
            </a:pathLst>
          </a:custGeom>
          <a:solidFill>
            <a:srgbClr val="008000"/>
          </a:solidFill>
        </p:spPr>
        <p:txBody>
          <a:bodyPr wrap="square" lIns="0" tIns="0" rIns="0" bIns="0" rtlCol="0"/>
          <a:lstStyle/>
          <a:p>
            <a:endParaRPr/>
          </a:p>
        </p:txBody>
      </p:sp>
      <p:sp>
        <p:nvSpPr>
          <p:cNvPr id="33" name="object 33"/>
          <p:cNvSpPr/>
          <p:nvPr/>
        </p:nvSpPr>
        <p:spPr>
          <a:xfrm>
            <a:off x="6343650" y="5855208"/>
            <a:ext cx="1475740" cy="392430"/>
          </a:xfrm>
          <a:custGeom>
            <a:avLst/>
            <a:gdLst/>
            <a:ahLst/>
            <a:cxnLst/>
            <a:rect l="l" t="t" r="r" b="b"/>
            <a:pathLst>
              <a:path w="1475740" h="392429">
                <a:moveTo>
                  <a:pt x="80540" y="337152"/>
                </a:moveTo>
                <a:lnTo>
                  <a:pt x="73914" y="309372"/>
                </a:lnTo>
                <a:lnTo>
                  <a:pt x="0" y="371094"/>
                </a:lnTo>
                <a:lnTo>
                  <a:pt x="66293" y="386185"/>
                </a:lnTo>
                <a:lnTo>
                  <a:pt x="66293" y="340614"/>
                </a:lnTo>
                <a:lnTo>
                  <a:pt x="80540" y="337152"/>
                </a:lnTo>
                <a:close/>
              </a:path>
              <a:path w="1475740" h="392429">
                <a:moveTo>
                  <a:pt x="87103" y="364664"/>
                </a:moveTo>
                <a:lnTo>
                  <a:pt x="80540" y="337152"/>
                </a:lnTo>
                <a:lnTo>
                  <a:pt x="66293" y="340614"/>
                </a:lnTo>
                <a:lnTo>
                  <a:pt x="73152" y="368046"/>
                </a:lnTo>
                <a:lnTo>
                  <a:pt x="87103" y="364664"/>
                </a:lnTo>
                <a:close/>
              </a:path>
              <a:path w="1475740" h="392429">
                <a:moveTo>
                  <a:pt x="93726" y="392430"/>
                </a:moveTo>
                <a:lnTo>
                  <a:pt x="87103" y="364664"/>
                </a:lnTo>
                <a:lnTo>
                  <a:pt x="73152" y="368046"/>
                </a:lnTo>
                <a:lnTo>
                  <a:pt x="66293" y="340614"/>
                </a:lnTo>
                <a:lnTo>
                  <a:pt x="66293" y="386185"/>
                </a:lnTo>
                <a:lnTo>
                  <a:pt x="93726" y="392430"/>
                </a:lnTo>
                <a:close/>
              </a:path>
              <a:path w="1475740" h="392429">
                <a:moveTo>
                  <a:pt x="1475232" y="28193"/>
                </a:moveTo>
                <a:lnTo>
                  <a:pt x="1468374" y="0"/>
                </a:lnTo>
                <a:lnTo>
                  <a:pt x="80540" y="337152"/>
                </a:lnTo>
                <a:lnTo>
                  <a:pt x="87103" y="364664"/>
                </a:lnTo>
                <a:lnTo>
                  <a:pt x="1475232" y="28193"/>
                </a:lnTo>
                <a:close/>
              </a:path>
            </a:pathLst>
          </a:custGeom>
          <a:solidFill>
            <a:srgbClr val="008000"/>
          </a:solidFill>
        </p:spPr>
        <p:txBody>
          <a:bodyPr wrap="square" lIns="0" tIns="0" rIns="0" bIns="0" rtlCol="0"/>
          <a:lstStyle/>
          <a:p>
            <a:endParaRPr/>
          </a:p>
        </p:txBody>
      </p:sp>
      <p:sp>
        <p:nvSpPr>
          <p:cNvPr id="34" name="object 34"/>
          <p:cNvSpPr txBox="1"/>
          <p:nvPr/>
        </p:nvSpPr>
        <p:spPr>
          <a:xfrm>
            <a:off x="6826250" y="5790691"/>
            <a:ext cx="438784"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Tahoma"/>
                <a:cs typeface="Tahoma"/>
              </a:rPr>
              <a:t>ack</a:t>
            </a:r>
            <a:r>
              <a:rPr lang="en-US" sz="1600" dirty="0">
                <a:solidFill>
                  <a:srgbClr val="008000"/>
                </a:solidFill>
                <a:latin typeface="Tahoma"/>
                <a:cs typeface="Tahoma"/>
              </a:rPr>
              <a:t>0</a:t>
            </a:r>
            <a:endParaRPr sz="1600" dirty="0">
              <a:latin typeface="Tahoma"/>
              <a:cs typeface="Tahoma"/>
            </a:endParaRPr>
          </a:p>
        </p:txBody>
      </p:sp>
      <p:sp>
        <p:nvSpPr>
          <p:cNvPr id="35" name="object 35"/>
          <p:cNvSpPr txBox="1"/>
          <p:nvPr/>
        </p:nvSpPr>
        <p:spPr>
          <a:xfrm>
            <a:off x="6542023" y="6508495"/>
            <a:ext cx="14624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(b) có mất gói</a:t>
            </a:r>
            <a:endParaRPr sz="1800">
              <a:latin typeface="Tahoma"/>
              <a:cs typeface="Tahoma"/>
            </a:endParaRPr>
          </a:p>
        </p:txBody>
      </p:sp>
      <p:sp>
        <p:nvSpPr>
          <p:cNvPr id="36" name="object 36"/>
          <p:cNvSpPr/>
          <p:nvPr/>
        </p:nvSpPr>
        <p:spPr>
          <a:xfrm>
            <a:off x="6368796" y="3302508"/>
            <a:ext cx="874394" cy="268605"/>
          </a:xfrm>
          <a:custGeom>
            <a:avLst/>
            <a:gdLst/>
            <a:ahLst/>
            <a:cxnLst/>
            <a:rect l="l" t="t" r="r" b="b"/>
            <a:pathLst>
              <a:path w="874395" h="268604">
                <a:moveTo>
                  <a:pt x="794804" y="212712"/>
                </a:moveTo>
                <a:lnTo>
                  <a:pt x="7620" y="0"/>
                </a:lnTo>
                <a:lnTo>
                  <a:pt x="0" y="28194"/>
                </a:lnTo>
                <a:lnTo>
                  <a:pt x="787054" y="240870"/>
                </a:lnTo>
                <a:lnTo>
                  <a:pt x="794804" y="212712"/>
                </a:lnTo>
                <a:close/>
              </a:path>
              <a:path w="874395" h="268604">
                <a:moveTo>
                  <a:pt x="808482" y="262386"/>
                </a:moveTo>
                <a:lnTo>
                  <a:pt x="808482" y="216407"/>
                </a:lnTo>
                <a:lnTo>
                  <a:pt x="800862" y="244601"/>
                </a:lnTo>
                <a:lnTo>
                  <a:pt x="787054" y="240870"/>
                </a:lnTo>
                <a:lnTo>
                  <a:pt x="779526" y="268223"/>
                </a:lnTo>
                <a:lnTo>
                  <a:pt x="808482" y="262386"/>
                </a:lnTo>
                <a:close/>
              </a:path>
              <a:path w="874395" h="268604">
                <a:moveTo>
                  <a:pt x="808482" y="216407"/>
                </a:moveTo>
                <a:lnTo>
                  <a:pt x="794804" y="212712"/>
                </a:lnTo>
                <a:lnTo>
                  <a:pt x="787054" y="240870"/>
                </a:lnTo>
                <a:lnTo>
                  <a:pt x="800862" y="244601"/>
                </a:lnTo>
                <a:lnTo>
                  <a:pt x="808482" y="216407"/>
                </a:lnTo>
                <a:close/>
              </a:path>
              <a:path w="874395" h="268604">
                <a:moveTo>
                  <a:pt x="874014" y="249173"/>
                </a:moveTo>
                <a:lnTo>
                  <a:pt x="802386" y="185165"/>
                </a:lnTo>
                <a:lnTo>
                  <a:pt x="794804" y="212712"/>
                </a:lnTo>
                <a:lnTo>
                  <a:pt x="808482" y="216407"/>
                </a:lnTo>
                <a:lnTo>
                  <a:pt x="808482" y="262386"/>
                </a:lnTo>
                <a:lnTo>
                  <a:pt x="874014" y="249173"/>
                </a:lnTo>
                <a:close/>
              </a:path>
            </a:pathLst>
          </a:custGeom>
          <a:solidFill>
            <a:srgbClr val="000099"/>
          </a:solidFill>
        </p:spPr>
        <p:txBody>
          <a:bodyPr wrap="square" lIns="0" tIns="0" rIns="0" bIns="0" rtlCol="0"/>
          <a:lstStyle/>
          <a:p>
            <a:endParaRPr/>
          </a:p>
        </p:txBody>
      </p:sp>
      <p:sp>
        <p:nvSpPr>
          <p:cNvPr id="37" name="object 37"/>
          <p:cNvSpPr txBox="1"/>
          <p:nvPr/>
        </p:nvSpPr>
        <p:spPr>
          <a:xfrm>
            <a:off x="7180580" y="3391915"/>
            <a:ext cx="1822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ahoma"/>
                <a:cs typeface="Tahoma"/>
              </a:rPr>
              <a:t>X</a:t>
            </a:r>
            <a:endParaRPr sz="1800">
              <a:latin typeface="Tahoma"/>
              <a:cs typeface="Tahoma"/>
            </a:endParaRPr>
          </a:p>
        </p:txBody>
      </p:sp>
      <p:sp>
        <p:nvSpPr>
          <p:cNvPr id="38" name="object 38"/>
          <p:cNvSpPr txBox="1"/>
          <p:nvPr/>
        </p:nvSpPr>
        <p:spPr>
          <a:xfrm>
            <a:off x="6823201" y="2691180"/>
            <a:ext cx="1055864" cy="1181734"/>
          </a:xfrm>
          <a:prstGeom prst="rect">
            <a:avLst/>
          </a:prstGeom>
        </p:spPr>
        <p:txBody>
          <a:bodyPr vert="horz" wrap="square" lIns="0" tIns="12700" rIns="0" bIns="0" rtlCol="0">
            <a:spAutoFit/>
          </a:bodyPr>
          <a:lstStyle/>
          <a:p>
            <a:pPr marL="20320" marR="176530" indent="-7620">
              <a:lnSpc>
                <a:spcPct val="153400"/>
              </a:lnSpc>
              <a:spcBef>
                <a:spcPts val="100"/>
              </a:spcBef>
            </a:pPr>
            <a:r>
              <a:rPr sz="1600" dirty="0">
                <a:solidFill>
                  <a:srgbClr val="008000"/>
                </a:solidFill>
                <a:latin typeface="Arial"/>
                <a:cs typeface="Arial"/>
              </a:rPr>
              <a:t>ack0  </a:t>
            </a:r>
            <a:r>
              <a:rPr sz="1600" dirty="0">
                <a:solidFill>
                  <a:srgbClr val="00009A"/>
                </a:solidFill>
                <a:latin typeface="Arial"/>
                <a:cs typeface="Arial"/>
              </a:rPr>
              <a:t>pkt1</a:t>
            </a:r>
            <a:endParaRPr sz="1600" dirty="0">
              <a:latin typeface="Arial"/>
              <a:cs typeface="Arial"/>
            </a:endParaRPr>
          </a:p>
          <a:p>
            <a:pPr marL="269240">
              <a:lnSpc>
                <a:spcPct val="100000"/>
              </a:lnSpc>
              <a:spcBef>
                <a:spcPts val="1175"/>
              </a:spcBef>
            </a:pPr>
            <a:r>
              <a:rPr sz="1700" i="1" dirty="0">
                <a:solidFill>
                  <a:srgbClr val="FF0000"/>
                </a:solidFill>
                <a:latin typeface="Tahoma"/>
                <a:cs typeface="Tahoma"/>
              </a:rPr>
              <a:t>mất</a:t>
            </a:r>
            <a:endParaRPr sz="1700" dirty="0">
              <a:latin typeface="Tahoma"/>
              <a:cs typeface="Tahoma"/>
            </a:endParaRPr>
          </a:p>
        </p:txBody>
      </p:sp>
      <p:sp>
        <p:nvSpPr>
          <p:cNvPr id="39" name="object 39"/>
          <p:cNvSpPr/>
          <p:nvPr/>
        </p:nvSpPr>
        <p:spPr>
          <a:xfrm>
            <a:off x="6375653" y="3473196"/>
            <a:ext cx="0" cy="1032510"/>
          </a:xfrm>
          <a:custGeom>
            <a:avLst/>
            <a:gdLst/>
            <a:ahLst/>
            <a:cxnLst/>
            <a:rect l="l" t="t" r="r" b="b"/>
            <a:pathLst>
              <a:path h="1032510">
                <a:moveTo>
                  <a:pt x="0" y="0"/>
                </a:moveTo>
                <a:lnTo>
                  <a:pt x="0" y="1032510"/>
                </a:lnTo>
              </a:path>
            </a:pathLst>
          </a:custGeom>
          <a:ln w="28955">
            <a:solidFill>
              <a:srgbClr val="000000"/>
            </a:solidFill>
          </a:ln>
        </p:spPr>
        <p:txBody>
          <a:bodyPr wrap="square" lIns="0" tIns="0" rIns="0" bIns="0" rtlCol="0"/>
          <a:lstStyle/>
          <a:p>
            <a:endParaRPr/>
          </a:p>
        </p:txBody>
      </p:sp>
      <p:sp>
        <p:nvSpPr>
          <p:cNvPr id="40" name="object 40"/>
          <p:cNvSpPr/>
          <p:nvPr/>
        </p:nvSpPr>
        <p:spPr>
          <a:xfrm>
            <a:off x="6253734" y="3472053"/>
            <a:ext cx="117475" cy="0"/>
          </a:xfrm>
          <a:custGeom>
            <a:avLst/>
            <a:gdLst/>
            <a:ahLst/>
            <a:cxnLst/>
            <a:rect l="l" t="t" r="r" b="b"/>
            <a:pathLst>
              <a:path w="117475">
                <a:moveTo>
                  <a:pt x="0" y="0"/>
                </a:moveTo>
                <a:lnTo>
                  <a:pt x="117348" y="0"/>
                </a:lnTo>
              </a:path>
            </a:pathLst>
          </a:custGeom>
          <a:ln w="28194">
            <a:solidFill>
              <a:srgbClr val="000000"/>
            </a:solidFill>
          </a:ln>
        </p:spPr>
        <p:txBody>
          <a:bodyPr wrap="square" lIns="0" tIns="0" rIns="0" bIns="0" rtlCol="0"/>
          <a:lstStyle/>
          <a:p>
            <a:endParaRPr/>
          </a:p>
        </p:txBody>
      </p:sp>
      <p:sp>
        <p:nvSpPr>
          <p:cNvPr id="41" name="object 41"/>
          <p:cNvSpPr/>
          <p:nvPr/>
        </p:nvSpPr>
        <p:spPr>
          <a:xfrm>
            <a:off x="6253734" y="4505705"/>
            <a:ext cx="117475" cy="0"/>
          </a:xfrm>
          <a:custGeom>
            <a:avLst/>
            <a:gdLst/>
            <a:ahLst/>
            <a:cxnLst/>
            <a:rect l="l" t="t" r="r" b="b"/>
            <a:pathLst>
              <a:path w="117475">
                <a:moveTo>
                  <a:pt x="0" y="0"/>
                </a:moveTo>
                <a:lnTo>
                  <a:pt x="117348" y="0"/>
                </a:lnTo>
              </a:path>
            </a:pathLst>
          </a:custGeom>
          <a:ln w="28955">
            <a:solidFill>
              <a:srgbClr val="000000"/>
            </a:solidFill>
          </a:ln>
        </p:spPr>
        <p:txBody>
          <a:bodyPr wrap="square" lIns="0" tIns="0" rIns="0" bIns="0" rtlCol="0"/>
          <a:lstStyle/>
          <a:p>
            <a:endParaRPr/>
          </a:p>
        </p:txBody>
      </p:sp>
      <p:sp>
        <p:nvSpPr>
          <p:cNvPr id="42" name="object 42"/>
          <p:cNvSpPr/>
          <p:nvPr/>
        </p:nvSpPr>
        <p:spPr>
          <a:xfrm>
            <a:off x="6378702" y="4594859"/>
            <a:ext cx="1475740" cy="392430"/>
          </a:xfrm>
          <a:custGeom>
            <a:avLst/>
            <a:gdLst/>
            <a:ahLst/>
            <a:cxnLst/>
            <a:rect l="l" t="t" r="r" b="b"/>
            <a:pathLst>
              <a:path w="1475740" h="392429">
                <a:moveTo>
                  <a:pt x="1395169" y="337269"/>
                </a:moveTo>
                <a:lnTo>
                  <a:pt x="6858" y="0"/>
                </a:lnTo>
                <a:lnTo>
                  <a:pt x="0" y="28194"/>
                </a:lnTo>
                <a:lnTo>
                  <a:pt x="1388369" y="364722"/>
                </a:lnTo>
                <a:lnTo>
                  <a:pt x="1395169" y="337269"/>
                </a:lnTo>
                <a:close/>
              </a:path>
              <a:path w="1475740" h="392429">
                <a:moveTo>
                  <a:pt x="1408938" y="386185"/>
                </a:moveTo>
                <a:lnTo>
                  <a:pt x="1408938" y="340613"/>
                </a:lnTo>
                <a:lnTo>
                  <a:pt x="1402080" y="368045"/>
                </a:lnTo>
                <a:lnTo>
                  <a:pt x="1388369" y="364722"/>
                </a:lnTo>
                <a:lnTo>
                  <a:pt x="1381506" y="392429"/>
                </a:lnTo>
                <a:lnTo>
                  <a:pt x="1408938" y="386185"/>
                </a:lnTo>
                <a:close/>
              </a:path>
              <a:path w="1475740" h="392429">
                <a:moveTo>
                  <a:pt x="1408938" y="340613"/>
                </a:moveTo>
                <a:lnTo>
                  <a:pt x="1395169" y="337269"/>
                </a:lnTo>
                <a:lnTo>
                  <a:pt x="1388369" y="364722"/>
                </a:lnTo>
                <a:lnTo>
                  <a:pt x="1402080" y="368045"/>
                </a:lnTo>
                <a:lnTo>
                  <a:pt x="1408938" y="340613"/>
                </a:lnTo>
                <a:close/>
              </a:path>
              <a:path w="1475740" h="392429">
                <a:moveTo>
                  <a:pt x="1475232" y="371093"/>
                </a:moveTo>
                <a:lnTo>
                  <a:pt x="1402080" y="309371"/>
                </a:lnTo>
                <a:lnTo>
                  <a:pt x="1395169" y="337269"/>
                </a:lnTo>
                <a:lnTo>
                  <a:pt x="1408938" y="340613"/>
                </a:lnTo>
                <a:lnTo>
                  <a:pt x="1408938" y="386185"/>
                </a:lnTo>
                <a:lnTo>
                  <a:pt x="1475232" y="371093"/>
                </a:lnTo>
                <a:close/>
              </a:path>
            </a:pathLst>
          </a:custGeom>
          <a:solidFill>
            <a:srgbClr val="000099"/>
          </a:solidFill>
        </p:spPr>
        <p:txBody>
          <a:bodyPr wrap="square" lIns="0" tIns="0" rIns="0" bIns="0" rtlCol="0"/>
          <a:lstStyle/>
          <a:p>
            <a:endParaRPr/>
          </a:p>
        </p:txBody>
      </p:sp>
      <p:sp>
        <p:nvSpPr>
          <p:cNvPr id="43" name="object 43"/>
          <p:cNvSpPr txBox="1"/>
          <p:nvPr/>
        </p:nvSpPr>
        <p:spPr>
          <a:xfrm>
            <a:off x="6840728" y="4487672"/>
            <a:ext cx="41020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pkt1</a:t>
            </a:r>
            <a:endParaRPr sz="1600">
              <a:latin typeface="Arial"/>
              <a:cs typeface="Arial"/>
            </a:endParaRPr>
          </a:p>
        </p:txBody>
      </p:sp>
      <p:sp>
        <p:nvSpPr>
          <p:cNvPr id="44" name="object 44"/>
          <p:cNvSpPr/>
          <p:nvPr/>
        </p:nvSpPr>
        <p:spPr>
          <a:xfrm>
            <a:off x="5051297" y="4087367"/>
            <a:ext cx="399288" cy="478536"/>
          </a:xfrm>
          <a:prstGeom prst="rect">
            <a:avLst/>
          </a:prstGeom>
          <a:blipFill>
            <a:blip r:embed="rId2" cstate="print"/>
            <a:stretch>
              <a:fillRect/>
            </a:stretch>
          </a:blipFill>
        </p:spPr>
        <p:txBody>
          <a:bodyPr wrap="square" lIns="0" tIns="0" rIns="0" bIns="0" rtlCol="0"/>
          <a:lstStyle/>
          <a:p>
            <a:endParaRPr/>
          </a:p>
        </p:txBody>
      </p:sp>
      <p:sp>
        <p:nvSpPr>
          <p:cNvPr id="45" name="object 45"/>
          <p:cNvSpPr txBox="1"/>
          <p:nvPr/>
        </p:nvSpPr>
        <p:spPr>
          <a:xfrm>
            <a:off x="5095746" y="4261311"/>
            <a:ext cx="1254333" cy="512961"/>
          </a:xfrm>
          <a:prstGeom prst="rect">
            <a:avLst/>
          </a:prstGeom>
        </p:spPr>
        <p:txBody>
          <a:bodyPr vert="horz" wrap="square" lIns="0" tIns="12700" rIns="0" bIns="0" rtlCol="0">
            <a:spAutoFit/>
          </a:bodyPr>
          <a:lstStyle/>
          <a:p>
            <a:pPr marL="370840">
              <a:lnSpc>
                <a:spcPts val="2000"/>
              </a:lnSpc>
              <a:spcBef>
                <a:spcPts val="100"/>
              </a:spcBef>
            </a:pPr>
            <a:r>
              <a:rPr sz="1900" i="1" dirty="0">
                <a:solidFill>
                  <a:srgbClr val="FF0000"/>
                </a:solidFill>
                <a:latin typeface="Tahoma"/>
                <a:cs typeface="Tahoma"/>
              </a:rPr>
              <a:t>timeout</a:t>
            </a:r>
            <a:endParaRPr sz="1900" dirty="0">
              <a:latin typeface="Tahoma"/>
              <a:cs typeface="Tahoma"/>
            </a:endParaRPr>
          </a:p>
          <a:p>
            <a:pPr marL="12700">
              <a:lnSpc>
                <a:spcPts val="1880"/>
              </a:lnSpc>
            </a:pPr>
            <a:r>
              <a:rPr sz="1800" dirty="0">
                <a:latin typeface="Tahoma"/>
                <a:cs typeface="Tahoma"/>
              </a:rPr>
              <a:t>gửi  lại pkt1</a:t>
            </a:r>
          </a:p>
        </p:txBody>
      </p:sp>
      <p:sp>
        <p:nvSpPr>
          <p:cNvPr id="46" name="object 46"/>
          <p:cNvSpPr txBox="1">
            <a:spLocks noGrp="1"/>
          </p:cNvSpPr>
          <p:nvPr>
            <p:ph type="title"/>
          </p:nvPr>
        </p:nvSpPr>
        <p:spPr>
          <a:xfrm>
            <a:off x="913891" y="687577"/>
            <a:ext cx="2794635" cy="635635"/>
          </a:xfrm>
          <a:prstGeom prst="rect">
            <a:avLst/>
          </a:prstGeom>
        </p:spPr>
        <p:txBody>
          <a:bodyPr vert="horz" wrap="square" lIns="0" tIns="12700" rIns="0" bIns="0" rtlCol="0">
            <a:spAutoFit/>
          </a:bodyPr>
          <a:lstStyle/>
          <a:p>
            <a:pPr marL="12700">
              <a:lnSpc>
                <a:spcPct val="100000"/>
              </a:lnSpc>
              <a:spcBef>
                <a:spcPts val="100"/>
              </a:spcBef>
            </a:pPr>
            <a:r>
              <a:rPr lang="en-US" sz="4000" dirty="0"/>
              <a:t>Minh </a:t>
            </a:r>
            <a:r>
              <a:rPr lang="en-US" sz="4000" dirty="0" err="1"/>
              <a:t>họa</a:t>
            </a:r>
            <a:endParaRPr sz="4000" dirty="0"/>
          </a:p>
        </p:txBody>
      </p:sp>
      <p:sp>
        <p:nvSpPr>
          <p:cNvPr id="48" name="Slide Number Placeholder 47"/>
          <p:cNvSpPr>
            <a:spLocks noGrp="1"/>
          </p:cNvSpPr>
          <p:nvPr>
            <p:ph type="sldNum" sz="quarter" idx="7"/>
          </p:nvPr>
        </p:nvSpPr>
        <p:spPr/>
        <p:txBody>
          <a:bodyPr/>
          <a:lstStyle/>
          <a:p>
            <a:pPr marL="12700">
              <a:lnSpc>
                <a:spcPts val="1645"/>
              </a:lnSpc>
            </a:pPr>
            <a:fld id="{81D60167-4931-47E6-BA6A-407CBD079E47}" type="slidenum">
              <a:rPr lang="en-US" spc="-5" smtClean="0"/>
              <a:t>31</a:t>
            </a:fld>
            <a:endParaRPr lang="en-US" spc="-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3891" y="719581"/>
            <a:ext cx="2515870" cy="574040"/>
          </a:xfrm>
          <a:prstGeom prst="rect">
            <a:avLst/>
          </a:prstGeom>
        </p:spPr>
        <p:txBody>
          <a:bodyPr vert="horz" wrap="square" lIns="0" tIns="12700" rIns="0" bIns="0" rtlCol="0">
            <a:spAutoFit/>
          </a:bodyPr>
          <a:lstStyle/>
          <a:p>
            <a:pPr marL="12700">
              <a:lnSpc>
                <a:spcPct val="100000"/>
              </a:lnSpc>
              <a:spcBef>
                <a:spcPts val="100"/>
              </a:spcBef>
            </a:pPr>
            <a:r>
              <a:rPr lang="en-US" dirty="0"/>
              <a:t>Minh </a:t>
            </a:r>
            <a:r>
              <a:rPr lang="en-US" dirty="0" err="1"/>
              <a:t>họa</a:t>
            </a:r>
            <a:endParaRPr dirty="0"/>
          </a:p>
        </p:txBody>
      </p:sp>
      <p:sp>
        <p:nvSpPr>
          <p:cNvPr id="3" name="object 3"/>
          <p:cNvSpPr txBox="1"/>
          <p:nvPr/>
        </p:nvSpPr>
        <p:spPr>
          <a:xfrm>
            <a:off x="3329432" y="3201415"/>
            <a:ext cx="1057910" cy="525780"/>
          </a:xfrm>
          <a:prstGeom prst="rect">
            <a:avLst/>
          </a:prstGeom>
        </p:spPr>
        <p:txBody>
          <a:bodyPr vert="horz" wrap="square" lIns="0" tIns="60325" rIns="0" bIns="0" rtlCol="0">
            <a:spAutoFit/>
          </a:bodyPr>
          <a:lstStyle/>
          <a:p>
            <a:pPr marL="192405" marR="5080" indent="-180340">
              <a:lnSpc>
                <a:spcPts val="1780"/>
              </a:lnSpc>
              <a:spcBef>
                <a:spcPts val="475"/>
              </a:spcBef>
            </a:pPr>
            <a:r>
              <a:rPr sz="1800" dirty="0">
                <a:latin typeface="Tahoma"/>
                <a:cs typeface="Tahoma"/>
              </a:rPr>
              <a:t>nhận pkt1  gửi ack1</a:t>
            </a:r>
          </a:p>
        </p:txBody>
      </p:sp>
      <p:sp>
        <p:nvSpPr>
          <p:cNvPr id="4" name="object 4"/>
          <p:cNvSpPr/>
          <p:nvPr/>
        </p:nvSpPr>
        <p:spPr>
          <a:xfrm>
            <a:off x="1878329" y="3076955"/>
            <a:ext cx="1474470" cy="393700"/>
          </a:xfrm>
          <a:custGeom>
            <a:avLst/>
            <a:gdLst/>
            <a:ahLst/>
            <a:cxnLst/>
            <a:rect l="l" t="t" r="r" b="b"/>
            <a:pathLst>
              <a:path w="1474470" h="393700">
                <a:moveTo>
                  <a:pt x="1394748" y="337166"/>
                </a:moveTo>
                <a:lnTo>
                  <a:pt x="6857" y="0"/>
                </a:lnTo>
                <a:lnTo>
                  <a:pt x="0" y="28194"/>
                </a:lnTo>
                <a:lnTo>
                  <a:pt x="1388073" y="365405"/>
                </a:lnTo>
                <a:lnTo>
                  <a:pt x="1394748" y="337166"/>
                </a:lnTo>
                <a:close/>
              </a:path>
              <a:path w="1474470" h="393700">
                <a:moveTo>
                  <a:pt x="1408938" y="386671"/>
                </a:moveTo>
                <a:lnTo>
                  <a:pt x="1408938" y="340613"/>
                </a:lnTo>
                <a:lnTo>
                  <a:pt x="1402080" y="368807"/>
                </a:lnTo>
                <a:lnTo>
                  <a:pt x="1388073" y="365405"/>
                </a:lnTo>
                <a:lnTo>
                  <a:pt x="1381505" y="393191"/>
                </a:lnTo>
                <a:lnTo>
                  <a:pt x="1408938" y="386671"/>
                </a:lnTo>
                <a:close/>
              </a:path>
              <a:path w="1474470" h="393700">
                <a:moveTo>
                  <a:pt x="1408938" y="340613"/>
                </a:moveTo>
                <a:lnTo>
                  <a:pt x="1394748" y="337166"/>
                </a:lnTo>
                <a:lnTo>
                  <a:pt x="1388073" y="365405"/>
                </a:lnTo>
                <a:lnTo>
                  <a:pt x="1402080" y="368807"/>
                </a:lnTo>
                <a:lnTo>
                  <a:pt x="1408938" y="340613"/>
                </a:lnTo>
                <a:close/>
              </a:path>
              <a:path w="1474470" h="393700">
                <a:moveTo>
                  <a:pt x="1474470" y="371093"/>
                </a:moveTo>
                <a:lnTo>
                  <a:pt x="1401317" y="309371"/>
                </a:lnTo>
                <a:lnTo>
                  <a:pt x="1394748" y="337166"/>
                </a:lnTo>
                <a:lnTo>
                  <a:pt x="1408938" y="340613"/>
                </a:lnTo>
                <a:lnTo>
                  <a:pt x="1408938" y="386671"/>
                </a:lnTo>
                <a:lnTo>
                  <a:pt x="1474470" y="371093"/>
                </a:lnTo>
                <a:close/>
              </a:path>
            </a:pathLst>
          </a:custGeom>
          <a:solidFill>
            <a:srgbClr val="000099"/>
          </a:solidFill>
        </p:spPr>
        <p:txBody>
          <a:bodyPr wrap="square" lIns="0" tIns="0" rIns="0" bIns="0" rtlCol="0"/>
          <a:lstStyle/>
          <a:p>
            <a:endParaRPr/>
          </a:p>
        </p:txBody>
      </p:sp>
      <p:sp>
        <p:nvSpPr>
          <p:cNvPr id="5" name="object 5"/>
          <p:cNvSpPr txBox="1"/>
          <p:nvPr/>
        </p:nvSpPr>
        <p:spPr>
          <a:xfrm>
            <a:off x="3285997" y="4349750"/>
            <a:ext cx="1659255" cy="721995"/>
          </a:xfrm>
          <a:prstGeom prst="rect">
            <a:avLst/>
          </a:prstGeom>
        </p:spPr>
        <p:txBody>
          <a:bodyPr vert="horz" wrap="square" lIns="0" tIns="12700" rIns="0" bIns="0" rtlCol="0">
            <a:spAutoFit/>
          </a:bodyPr>
          <a:lstStyle/>
          <a:p>
            <a:pPr marL="52705">
              <a:lnSpc>
                <a:spcPts val="2140"/>
              </a:lnSpc>
              <a:spcBef>
                <a:spcPts val="100"/>
              </a:spcBef>
            </a:pPr>
            <a:r>
              <a:rPr sz="1800" dirty="0">
                <a:latin typeface="Tahoma"/>
                <a:cs typeface="Tahoma"/>
              </a:rPr>
              <a:t>nhận pkt1</a:t>
            </a:r>
          </a:p>
          <a:p>
            <a:pPr marL="12700">
              <a:lnSpc>
                <a:spcPts val="1420"/>
              </a:lnSpc>
            </a:pPr>
            <a:r>
              <a:rPr sz="1400" dirty="0">
                <a:latin typeface="Tahoma"/>
                <a:cs typeface="Tahoma"/>
              </a:rPr>
              <a:t>(phát hiện trùng lặp)</a:t>
            </a:r>
          </a:p>
          <a:p>
            <a:pPr marL="244475">
              <a:lnSpc>
                <a:spcPts val="1925"/>
              </a:lnSpc>
            </a:pPr>
            <a:r>
              <a:rPr sz="1800" dirty="0">
                <a:latin typeface="Tahoma"/>
                <a:cs typeface="Tahoma"/>
              </a:rPr>
              <a:t>gửi ack1</a:t>
            </a:r>
          </a:p>
        </p:txBody>
      </p:sp>
      <p:sp>
        <p:nvSpPr>
          <p:cNvPr id="6" name="object 6"/>
          <p:cNvSpPr txBox="1"/>
          <p:nvPr/>
        </p:nvSpPr>
        <p:spPr>
          <a:xfrm>
            <a:off x="3323320" y="5346445"/>
            <a:ext cx="1050925" cy="495300"/>
          </a:xfrm>
          <a:prstGeom prst="rect">
            <a:avLst/>
          </a:prstGeom>
        </p:spPr>
        <p:txBody>
          <a:bodyPr vert="horz" wrap="square" lIns="0" tIns="92075" rIns="0" bIns="0" rtlCol="0">
            <a:spAutoFit/>
          </a:bodyPr>
          <a:lstStyle/>
          <a:p>
            <a:pPr marL="185420" marR="5080" indent="-173355">
              <a:lnSpc>
                <a:spcPct val="71100"/>
              </a:lnSpc>
              <a:spcBef>
                <a:spcPts val="725"/>
              </a:spcBef>
            </a:pPr>
            <a:r>
              <a:rPr sz="1800" dirty="0" err="1">
                <a:latin typeface="Tahoma"/>
                <a:cs typeface="Tahoma"/>
              </a:rPr>
              <a:t>nhận</a:t>
            </a:r>
            <a:r>
              <a:rPr sz="1800" dirty="0">
                <a:latin typeface="Tahoma"/>
                <a:cs typeface="Tahoma"/>
              </a:rPr>
              <a:t> pkt</a:t>
            </a:r>
            <a:r>
              <a:rPr lang="en-US" sz="1800" dirty="0">
                <a:latin typeface="Tahoma"/>
                <a:cs typeface="Tahoma"/>
              </a:rPr>
              <a:t>0</a:t>
            </a:r>
            <a:r>
              <a:rPr sz="1800" dirty="0">
                <a:latin typeface="Tahoma"/>
                <a:cs typeface="Tahoma"/>
              </a:rPr>
              <a:t>  </a:t>
            </a:r>
            <a:r>
              <a:rPr sz="1800" dirty="0" err="1">
                <a:latin typeface="Tahoma"/>
                <a:cs typeface="Tahoma"/>
              </a:rPr>
              <a:t>gửi</a:t>
            </a:r>
            <a:r>
              <a:rPr sz="1800" dirty="0">
                <a:latin typeface="Tahoma"/>
                <a:cs typeface="Tahoma"/>
              </a:rPr>
              <a:t> ack</a:t>
            </a:r>
            <a:r>
              <a:rPr lang="en-US" sz="1800" dirty="0">
                <a:latin typeface="Tahoma"/>
                <a:cs typeface="Tahoma"/>
              </a:rPr>
              <a:t>0</a:t>
            </a:r>
            <a:endParaRPr sz="1800" dirty="0">
              <a:latin typeface="Tahoma"/>
              <a:cs typeface="Tahoma"/>
            </a:endParaRPr>
          </a:p>
        </p:txBody>
      </p:sp>
      <p:sp>
        <p:nvSpPr>
          <p:cNvPr id="7" name="object 7"/>
          <p:cNvSpPr txBox="1"/>
          <p:nvPr/>
        </p:nvSpPr>
        <p:spPr>
          <a:xfrm>
            <a:off x="802594" y="2776227"/>
            <a:ext cx="1061720" cy="519430"/>
          </a:xfrm>
          <a:prstGeom prst="rect">
            <a:avLst/>
          </a:prstGeom>
        </p:spPr>
        <p:txBody>
          <a:bodyPr vert="horz" wrap="square" lIns="0" tIns="65405" rIns="0" bIns="0" rtlCol="0">
            <a:spAutoFit/>
          </a:bodyPr>
          <a:lstStyle/>
          <a:p>
            <a:pPr marL="36195" marR="5080" indent="-24130">
              <a:lnSpc>
                <a:spcPts val="1730"/>
              </a:lnSpc>
              <a:spcBef>
                <a:spcPts val="515"/>
              </a:spcBef>
            </a:pPr>
            <a:r>
              <a:rPr sz="1800" dirty="0">
                <a:latin typeface="Tahoma"/>
                <a:cs typeface="Tahoma"/>
              </a:rPr>
              <a:t>nhận ack0  gửi pkt1</a:t>
            </a:r>
            <a:endParaRPr sz="1800">
              <a:latin typeface="Tahoma"/>
              <a:cs typeface="Tahoma"/>
            </a:endParaRPr>
          </a:p>
        </p:txBody>
      </p:sp>
      <p:sp>
        <p:nvSpPr>
          <p:cNvPr id="8" name="object 8"/>
          <p:cNvSpPr txBox="1"/>
          <p:nvPr/>
        </p:nvSpPr>
        <p:spPr>
          <a:xfrm>
            <a:off x="791164" y="4908311"/>
            <a:ext cx="1061720" cy="539750"/>
          </a:xfrm>
          <a:prstGeom prst="rect">
            <a:avLst/>
          </a:prstGeom>
        </p:spPr>
        <p:txBody>
          <a:bodyPr vert="horz" wrap="square" lIns="0" tIns="48895" rIns="0" bIns="0" rtlCol="0">
            <a:spAutoFit/>
          </a:bodyPr>
          <a:lstStyle/>
          <a:p>
            <a:pPr marL="47625" marR="5080" indent="-35560">
              <a:lnSpc>
                <a:spcPts val="1889"/>
              </a:lnSpc>
              <a:spcBef>
                <a:spcPts val="385"/>
              </a:spcBef>
            </a:pPr>
            <a:r>
              <a:rPr sz="1800" dirty="0">
                <a:latin typeface="Tahoma"/>
                <a:cs typeface="Tahoma"/>
              </a:rPr>
              <a:t>nhận ack1  gửi pkt0</a:t>
            </a:r>
          </a:p>
        </p:txBody>
      </p:sp>
      <p:sp>
        <p:nvSpPr>
          <p:cNvPr id="9" name="object 9"/>
          <p:cNvSpPr txBox="1"/>
          <p:nvPr/>
        </p:nvSpPr>
        <p:spPr>
          <a:xfrm>
            <a:off x="837670" y="1266256"/>
            <a:ext cx="4079874" cy="898323"/>
          </a:xfrm>
          <a:prstGeom prst="rect">
            <a:avLst/>
          </a:prstGeom>
        </p:spPr>
        <p:txBody>
          <a:bodyPr vert="horz" wrap="square" lIns="0" tIns="168275" rIns="0" bIns="0" rtlCol="0">
            <a:spAutoFit/>
          </a:bodyPr>
          <a:lstStyle/>
          <a:p>
            <a:pPr marL="119380">
              <a:lnSpc>
                <a:spcPct val="100000"/>
              </a:lnSpc>
              <a:spcBef>
                <a:spcPts val="1325"/>
              </a:spcBef>
              <a:tabLst>
                <a:tab pos="2522855" algn="l"/>
              </a:tabLst>
            </a:pPr>
            <a:r>
              <a:rPr sz="2100" i="1" u="heavy" dirty="0">
                <a:solidFill>
                  <a:srgbClr val="00009A"/>
                </a:solidFill>
                <a:uFill>
                  <a:solidFill>
                    <a:srgbClr val="000099"/>
                  </a:solidFill>
                </a:uFill>
                <a:latin typeface="Tahoma"/>
                <a:cs typeface="Tahoma"/>
              </a:rPr>
              <a:t>Bên gửi</a:t>
            </a:r>
            <a:r>
              <a:rPr sz="2100" i="1" dirty="0">
                <a:solidFill>
                  <a:srgbClr val="00009A"/>
                </a:solidFill>
                <a:latin typeface="Tahoma"/>
                <a:cs typeface="Tahoma"/>
              </a:rPr>
              <a:t>	</a:t>
            </a:r>
            <a:r>
              <a:rPr sz="3150" i="1" u="heavy" baseline="1322" dirty="0">
                <a:solidFill>
                  <a:srgbClr val="008000"/>
                </a:solidFill>
                <a:uFill>
                  <a:solidFill>
                    <a:srgbClr val="008000"/>
                  </a:solidFill>
                </a:uFill>
                <a:latin typeface="Tahoma"/>
                <a:cs typeface="Tahoma"/>
              </a:rPr>
              <a:t>Bên nhận</a:t>
            </a:r>
            <a:endParaRPr sz="3150" baseline="1322" dirty="0">
              <a:latin typeface="Tahoma"/>
              <a:cs typeface="Tahoma"/>
            </a:endParaRPr>
          </a:p>
          <a:p>
            <a:pPr marL="12700">
              <a:lnSpc>
                <a:spcPct val="100000"/>
              </a:lnSpc>
              <a:spcBef>
                <a:spcPts val="1040"/>
              </a:spcBef>
            </a:pPr>
            <a:r>
              <a:rPr sz="1800" dirty="0">
                <a:latin typeface="Tahoma"/>
                <a:cs typeface="Tahoma"/>
              </a:rPr>
              <a:t>gửi pkt0</a:t>
            </a:r>
          </a:p>
        </p:txBody>
      </p:sp>
      <p:sp>
        <p:nvSpPr>
          <p:cNvPr id="10" name="object 10"/>
          <p:cNvSpPr txBox="1"/>
          <p:nvPr/>
        </p:nvSpPr>
        <p:spPr>
          <a:xfrm>
            <a:off x="3311845" y="2315987"/>
            <a:ext cx="1065530" cy="511175"/>
          </a:xfrm>
          <a:prstGeom prst="rect">
            <a:avLst/>
          </a:prstGeom>
        </p:spPr>
        <p:txBody>
          <a:bodyPr vert="horz" wrap="square" lIns="0" tIns="75565" rIns="0" bIns="0" rtlCol="0">
            <a:spAutoFit/>
          </a:bodyPr>
          <a:lstStyle/>
          <a:p>
            <a:pPr marL="200025" marR="5080" indent="-187960">
              <a:lnSpc>
                <a:spcPct val="76900"/>
              </a:lnSpc>
              <a:spcBef>
                <a:spcPts val="595"/>
              </a:spcBef>
            </a:pPr>
            <a:r>
              <a:rPr sz="1800" dirty="0">
                <a:latin typeface="Tahoma"/>
                <a:cs typeface="Tahoma"/>
              </a:rPr>
              <a:t>nhận pkt0  gửi ack0</a:t>
            </a:r>
            <a:endParaRPr sz="1800">
              <a:latin typeface="Tahoma"/>
              <a:cs typeface="Tahoma"/>
            </a:endParaRPr>
          </a:p>
        </p:txBody>
      </p:sp>
      <p:sp>
        <p:nvSpPr>
          <p:cNvPr id="11" name="object 11"/>
          <p:cNvSpPr/>
          <p:nvPr/>
        </p:nvSpPr>
        <p:spPr>
          <a:xfrm>
            <a:off x="1868423" y="2213610"/>
            <a:ext cx="1475740" cy="392430"/>
          </a:xfrm>
          <a:custGeom>
            <a:avLst/>
            <a:gdLst/>
            <a:ahLst/>
            <a:cxnLst/>
            <a:rect l="l" t="t" r="r" b="b"/>
            <a:pathLst>
              <a:path w="1475739" h="392430">
                <a:moveTo>
                  <a:pt x="1395169" y="337269"/>
                </a:moveTo>
                <a:lnTo>
                  <a:pt x="6857" y="0"/>
                </a:lnTo>
                <a:lnTo>
                  <a:pt x="0" y="28194"/>
                </a:lnTo>
                <a:lnTo>
                  <a:pt x="1388369" y="364722"/>
                </a:lnTo>
                <a:lnTo>
                  <a:pt x="1395169" y="337269"/>
                </a:lnTo>
                <a:close/>
              </a:path>
              <a:path w="1475739" h="392430">
                <a:moveTo>
                  <a:pt x="1408938" y="386185"/>
                </a:moveTo>
                <a:lnTo>
                  <a:pt x="1408938" y="340613"/>
                </a:lnTo>
                <a:lnTo>
                  <a:pt x="1402080" y="368045"/>
                </a:lnTo>
                <a:lnTo>
                  <a:pt x="1388369" y="364722"/>
                </a:lnTo>
                <a:lnTo>
                  <a:pt x="1381505" y="392429"/>
                </a:lnTo>
                <a:lnTo>
                  <a:pt x="1408938" y="386185"/>
                </a:lnTo>
                <a:close/>
              </a:path>
              <a:path w="1475739" h="392430">
                <a:moveTo>
                  <a:pt x="1408938" y="340613"/>
                </a:moveTo>
                <a:lnTo>
                  <a:pt x="1395169" y="337269"/>
                </a:lnTo>
                <a:lnTo>
                  <a:pt x="1388369" y="364722"/>
                </a:lnTo>
                <a:lnTo>
                  <a:pt x="1402080" y="368045"/>
                </a:lnTo>
                <a:lnTo>
                  <a:pt x="1408938" y="340613"/>
                </a:lnTo>
                <a:close/>
              </a:path>
              <a:path w="1475739" h="392430">
                <a:moveTo>
                  <a:pt x="1475232" y="371093"/>
                </a:moveTo>
                <a:lnTo>
                  <a:pt x="1402080" y="309371"/>
                </a:lnTo>
                <a:lnTo>
                  <a:pt x="1395169" y="337269"/>
                </a:lnTo>
                <a:lnTo>
                  <a:pt x="1408938" y="340613"/>
                </a:lnTo>
                <a:lnTo>
                  <a:pt x="1408938" y="386185"/>
                </a:lnTo>
                <a:lnTo>
                  <a:pt x="1475232" y="371093"/>
                </a:lnTo>
                <a:close/>
              </a:path>
            </a:pathLst>
          </a:custGeom>
          <a:solidFill>
            <a:srgbClr val="000099"/>
          </a:solidFill>
        </p:spPr>
        <p:txBody>
          <a:bodyPr wrap="square" lIns="0" tIns="0" rIns="0" bIns="0" rtlCol="0"/>
          <a:lstStyle/>
          <a:p>
            <a:endParaRPr/>
          </a:p>
        </p:txBody>
      </p:sp>
      <p:sp>
        <p:nvSpPr>
          <p:cNvPr id="12" name="object 12"/>
          <p:cNvSpPr txBox="1"/>
          <p:nvPr/>
        </p:nvSpPr>
        <p:spPr>
          <a:xfrm>
            <a:off x="2347976" y="2098801"/>
            <a:ext cx="41020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pkt0</a:t>
            </a:r>
            <a:endParaRPr sz="1600">
              <a:latin typeface="Arial"/>
              <a:cs typeface="Arial"/>
            </a:endParaRPr>
          </a:p>
        </p:txBody>
      </p:sp>
      <p:sp>
        <p:nvSpPr>
          <p:cNvPr id="13" name="object 13"/>
          <p:cNvSpPr/>
          <p:nvPr/>
        </p:nvSpPr>
        <p:spPr>
          <a:xfrm>
            <a:off x="1862327" y="5202935"/>
            <a:ext cx="1475740" cy="392430"/>
          </a:xfrm>
          <a:custGeom>
            <a:avLst/>
            <a:gdLst/>
            <a:ahLst/>
            <a:cxnLst/>
            <a:rect l="l" t="t" r="r" b="b"/>
            <a:pathLst>
              <a:path w="1475739" h="392429">
                <a:moveTo>
                  <a:pt x="1395169" y="337269"/>
                </a:moveTo>
                <a:lnTo>
                  <a:pt x="6857" y="0"/>
                </a:lnTo>
                <a:lnTo>
                  <a:pt x="0" y="28194"/>
                </a:lnTo>
                <a:lnTo>
                  <a:pt x="1388369" y="364722"/>
                </a:lnTo>
                <a:lnTo>
                  <a:pt x="1395169" y="337269"/>
                </a:lnTo>
                <a:close/>
              </a:path>
              <a:path w="1475739" h="392429">
                <a:moveTo>
                  <a:pt x="1408938" y="386185"/>
                </a:moveTo>
                <a:lnTo>
                  <a:pt x="1408938" y="340613"/>
                </a:lnTo>
                <a:lnTo>
                  <a:pt x="1402080" y="368045"/>
                </a:lnTo>
                <a:lnTo>
                  <a:pt x="1388369" y="364722"/>
                </a:lnTo>
                <a:lnTo>
                  <a:pt x="1381505" y="392429"/>
                </a:lnTo>
                <a:lnTo>
                  <a:pt x="1408938" y="386185"/>
                </a:lnTo>
                <a:close/>
              </a:path>
              <a:path w="1475739" h="392429">
                <a:moveTo>
                  <a:pt x="1408938" y="340613"/>
                </a:moveTo>
                <a:lnTo>
                  <a:pt x="1395169" y="337269"/>
                </a:lnTo>
                <a:lnTo>
                  <a:pt x="1388369" y="364722"/>
                </a:lnTo>
                <a:lnTo>
                  <a:pt x="1402080" y="368045"/>
                </a:lnTo>
                <a:lnTo>
                  <a:pt x="1408938" y="340613"/>
                </a:lnTo>
                <a:close/>
              </a:path>
              <a:path w="1475739" h="392429">
                <a:moveTo>
                  <a:pt x="1475232" y="371093"/>
                </a:moveTo>
                <a:lnTo>
                  <a:pt x="1402080" y="309371"/>
                </a:lnTo>
                <a:lnTo>
                  <a:pt x="1395169" y="337269"/>
                </a:lnTo>
                <a:lnTo>
                  <a:pt x="1408938" y="340613"/>
                </a:lnTo>
                <a:lnTo>
                  <a:pt x="1408938" y="386185"/>
                </a:lnTo>
                <a:lnTo>
                  <a:pt x="1475232" y="371093"/>
                </a:lnTo>
                <a:close/>
              </a:path>
            </a:pathLst>
          </a:custGeom>
          <a:solidFill>
            <a:srgbClr val="000099"/>
          </a:solidFill>
        </p:spPr>
        <p:txBody>
          <a:bodyPr wrap="square" lIns="0" tIns="0" rIns="0" bIns="0" rtlCol="0"/>
          <a:lstStyle/>
          <a:p>
            <a:endParaRPr/>
          </a:p>
        </p:txBody>
      </p:sp>
      <p:sp>
        <p:nvSpPr>
          <p:cNvPr id="14" name="object 14"/>
          <p:cNvSpPr/>
          <p:nvPr/>
        </p:nvSpPr>
        <p:spPr>
          <a:xfrm>
            <a:off x="1865376" y="4789932"/>
            <a:ext cx="1475740" cy="393700"/>
          </a:xfrm>
          <a:custGeom>
            <a:avLst/>
            <a:gdLst/>
            <a:ahLst/>
            <a:cxnLst/>
            <a:rect l="l" t="t" r="r" b="b"/>
            <a:pathLst>
              <a:path w="1475739" h="393700">
                <a:moveTo>
                  <a:pt x="80003" y="337283"/>
                </a:moveTo>
                <a:lnTo>
                  <a:pt x="73152" y="309372"/>
                </a:lnTo>
                <a:lnTo>
                  <a:pt x="0" y="371094"/>
                </a:lnTo>
                <a:lnTo>
                  <a:pt x="66293" y="386724"/>
                </a:lnTo>
                <a:lnTo>
                  <a:pt x="66293" y="340614"/>
                </a:lnTo>
                <a:lnTo>
                  <a:pt x="80003" y="337283"/>
                </a:lnTo>
                <a:close/>
              </a:path>
              <a:path w="1475739" h="393700">
                <a:moveTo>
                  <a:pt x="86745" y="364751"/>
                </a:moveTo>
                <a:lnTo>
                  <a:pt x="80003" y="337283"/>
                </a:lnTo>
                <a:lnTo>
                  <a:pt x="66293" y="340614"/>
                </a:lnTo>
                <a:lnTo>
                  <a:pt x="73152" y="368046"/>
                </a:lnTo>
                <a:lnTo>
                  <a:pt x="86745" y="364751"/>
                </a:lnTo>
                <a:close/>
              </a:path>
              <a:path w="1475739" h="393700">
                <a:moveTo>
                  <a:pt x="93726" y="393192"/>
                </a:moveTo>
                <a:lnTo>
                  <a:pt x="86745" y="364751"/>
                </a:lnTo>
                <a:lnTo>
                  <a:pt x="73152" y="368046"/>
                </a:lnTo>
                <a:lnTo>
                  <a:pt x="66293" y="340614"/>
                </a:lnTo>
                <a:lnTo>
                  <a:pt x="66293" y="386724"/>
                </a:lnTo>
                <a:lnTo>
                  <a:pt x="93726" y="393192"/>
                </a:lnTo>
                <a:close/>
              </a:path>
              <a:path w="1475739" h="393700">
                <a:moveTo>
                  <a:pt x="1475232" y="28193"/>
                </a:moveTo>
                <a:lnTo>
                  <a:pt x="1468374" y="0"/>
                </a:lnTo>
                <a:lnTo>
                  <a:pt x="80003" y="337283"/>
                </a:lnTo>
                <a:lnTo>
                  <a:pt x="86745" y="364751"/>
                </a:lnTo>
                <a:lnTo>
                  <a:pt x="1475232" y="28193"/>
                </a:lnTo>
                <a:close/>
              </a:path>
            </a:pathLst>
          </a:custGeom>
          <a:solidFill>
            <a:srgbClr val="008000"/>
          </a:solidFill>
        </p:spPr>
        <p:txBody>
          <a:bodyPr wrap="square" lIns="0" tIns="0" rIns="0" bIns="0" rtlCol="0"/>
          <a:lstStyle/>
          <a:p>
            <a:endParaRPr/>
          </a:p>
        </p:txBody>
      </p:sp>
      <p:sp>
        <p:nvSpPr>
          <p:cNvPr id="15" name="object 15"/>
          <p:cNvSpPr txBox="1"/>
          <p:nvPr/>
        </p:nvSpPr>
        <p:spPr>
          <a:xfrm>
            <a:off x="2335022" y="4716272"/>
            <a:ext cx="455930" cy="66675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ack1</a:t>
            </a:r>
            <a:endParaRPr sz="1600" dirty="0">
              <a:latin typeface="Arial"/>
              <a:cs typeface="Arial"/>
            </a:endParaRPr>
          </a:p>
          <a:p>
            <a:pPr marL="20955">
              <a:lnSpc>
                <a:spcPct val="100000"/>
              </a:lnSpc>
              <a:spcBef>
                <a:spcPts val="1205"/>
              </a:spcBef>
            </a:pPr>
            <a:r>
              <a:rPr sz="1600" dirty="0">
                <a:solidFill>
                  <a:srgbClr val="00009A"/>
                </a:solidFill>
                <a:latin typeface="Arial"/>
                <a:cs typeface="Arial"/>
              </a:rPr>
              <a:t>pkt</a:t>
            </a:r>
            <a:r>
              <a:rPr lang="en-US" sz="1600" dirty="0">
                <a:solidFill>
                  <a:srgbClr val="00009A"/>
                </a:solidFill>
                <a:latin typeface="Arial"/>
                <a:cs typeface="Arial"/>
              </a:rPr>
              <a:t>0</a:t>
            </a:r>
            <a:endParaRPr sz="1600" dirty="0">
              <a:latin typeface="Arial"/>
              <a:cs typeface="Arial"/>
            </a:endParaRPr>
          </a:p>
        </p:txBody>
      </p:sp>
      <p:sp>
        <p:nvSpPr>
          <p:cNvPr id="16" name="object 16"/>
          <p:cNvSpPr/>
          <p:nvPr/>
        </p:nvSpPr>
        <p:spPr>
          <a:xfrm>
            <a:off x="1857755" y="2656332"/>
            <a:ext cx="1475740" cy="393700"/>
          </a:xfrm>
          <a:custGeom>
            <a:avLst/>
            <a:gdLst/>
            <a:ahLst/>
            <a:cxnLst/>
            <a:rect l="l" t="t" r="r" b="b"/>
            <a:pathLst>
              <a:path w="1475739" h="393700">
                <a:moveTo>
                  <a:pt x="80003" y="337283"/>
                </a:moveTo>
                <a:lnTo>
                  <a:pt x="73152" y="309372"/>
                </a:lnTo>
                <a:lnTo>
                  <a:pt x="0" y="371094"/>
                </a:lnTo>
                <a:lnTo>
                  <a:pt x="66293" y="386724"/>
                </a:lnTo>
                <a:lnTo>
                  <a:pt x="66293" y="340614"/>
                </a:lnTo>
                <a:lnTo>
                  <a:pt x="80003" y="337283"/>
                </a:lnTo>
                <a:close/>
              </a:path>
              <a:path w="1475739" h="393700">
                <a:moveTo>
                  <a:pt x="86702" y="364578"/>
                </a:moveTo>
                <a:lnTo>
                  <a:pt x="80003" y="337283"/>
                </a:lnTo>
                <a:lnTo>
                  <a:pt x="66293" y="340614"/>
                </a:lnTo>
                <a:lnTo>
                  <a:pt x="72390" y="368046"/>
                </a:lnTo>
                <a:lnTo>
                  <a:pt x="86702" y="364578"/>
                </a:lnTo>
                <a:close/>
              </a:path>
              <a:path w="1475739" h="393700">
                <a:moveTo>
                  <a:pt x="93726" y="393192"/>
                </a:moveTo>
                <a:lnTo>
                  <a:pt x="86702" y="364578"/>
                </a:lnTo>
                <a:lnTo>
                  <a:pt x="72390" y="368046"/>
                </a:lnTo>
                <a:lnTo>
                  <a:pt x="66293" y="340614"/>
                </a:lnTo>
                <a:lnTo>
                  <a:pt x="66293" y="386724"/>
                </a:lnTo>
                <a:lnTo>
                  <a:pt x="93726" y="393192"/>
                </a:lnTo>
                <a:close/>
              </a:path>
              <a:path w="1475739" h="393700">
                <a:moveTo>
                  <a:pt x="1475232" y="28193"/>
                </a:moveTo>
                <a:lnTo>
                  <a:pt x="1468374" y="0"/>
                </a:lnTo>
                <a:lnTo>
                  <a:pt x="80003" y="337283"/>
                </a:lnTo>
                <a:lnTo>
                  <a:pt x="86702" y="364578"/>
                </a:lnTo>
                <a:lnTo>
                  <a:pt x="1475232" y="28193"/>
                </a:lnTo>
                <a:close/>
              </a:path>
            </a:pathLst>
          </a:custGeom>
          <a:solidFill>
            <a:srgbClr val="008000"/>
          </a:solidFill>
        </p:spPr>
        <p:txBody>
          <a:bodyPr wrap="square" lIns="0" tIns="0" rIns="0" bIns="0" rtlCol="0"/>
          <a:lstStyle/>
          <a:p>
            <a:endParaRPr/>
          </a:p>
        </p:txBody>
      </p:sp>
      <p:sp>
        <p:nvSpPr>
          <p:cNvPr id="17" name="object 17"/>
          <p:cNvSpPr txBox="1"/>
          <p:nvPr/>
        </p:nvSpPr>
        <p:spPr>
          <a:xfrm>
            <a:off x="2330450" y="2470962"/>
            <a:ext cx="455930" cy="769620"/>
          </a:xfrm>
          <a:prstGeom prst="rect">
            <a:avLst/>
          </a:prstGeom>
        </p:spPr>
        <p:txBody>
          <a:bodyPr vert="horz" wrap="square" lIns="0" tIns="12700" rIns="0" bIns="0" rtlCol="0">
            <a:spAutoFit/>
          </a:bodyPr>
          <a:lstStyle/>
          <a:p>
            <a:pPr marL="22225" marR="5080" indent="-10160">
              <a:lnSpc>
                <a:spcPct val="152500"/>
              </a:lnSpc>
              <a:spcBef>
                <a:spcPts val="100"/>
              </a:spcBef>
            </a:pPr>
            <a:r>
              <a:rPr sz="1600" dirty="0">
                <a:solidFill>
                  <a:srgbClr val="008000"/>
                </a:solidFill>
                <a:latin typeface="Arial"/>
                <a:cs typeface="Arial"/>
              </a:rPr>
              <a:t>ack0  </a:t>
            </a:r>
            <a:r>
              <a:rPr sz="1600" dirty="0">
                <a:solidFill>
                  <a:srgbClr val="00009A"/>
                </a:solidFill>
                <a:latin typeface="Arial"/>
                <a:cs typeface="Arial"/>
              </a:rPr>
              <a:t>pkt1</a:t>
            </a:r>
            <a:endParaRPr sz="1600" dirty="0">
              <a:latin typeface="Arial"/>
              <a:cs typeface="Arial"/>
            </a:endParaRPr>
          </a:p>
        </p:txBody>
      </p:sp>
      <p:sp>
        <p:nvSpPr>
          <p:cNvPr id="18" name="object 18"/>
          <p:cNvSpPr/>
          <p:nvPr/>
        </p:nvSpPr>
        <p:spPr>
          <a:xfrm>
            <a:off x="1851660" y="5633465"/>
            <a:ext cx="1474470" cy="392430"/>
          </a:xfrm>
          <a:custGeom>
            <a:avLst/>
            <a:gdLst/>
            <a:ahLst/>
            <a:cxnLst/>
            <a:rect l="l" t="t" r="r" b="b"/>
            <a:pathLst>
              <a:path w="1474470" h="392429">
                <a:moveTo>
                  <a:pt x="79723" y="336412"/>
                </a:moveTo>
                <a:lnTo>
                  <a:pt x="73152" y="308610"/>
                </a:lnTo>
                <a:lnTo>
                  <a:pt x="0" y="371094"/>
                </a:lnTo>
                <a:lnTo>
                  <a:pt x="65531" y="386134"/>
                </a:lnTo>
                <a:lnTo>
                  <a:pt x="65531" y="339852"/>
                </a:lnTo>
                <a:lnTo>
                  <a:pt x="79723" y="336412"/>
                </a:lnTo>
                <a:close/>
              </a:path>
              <a:path w="1474470" h="392429">
                <a:moveTo>
                  <a:pt x="86396" y="364643"/>
                </a:moveTo>
                <a:lnTo>
                  <a:pt x="79723" y="336412"/>
                </a:lnTo>
                <a:lnTo>
                  <a:pt x="65531" y="339852"/>
                </a:lnTo>
                <a:lnTo>
                  <a:pt x="72390" y="368046"/>
                </a:lnTo>
                <a:lnTo>
                  <a:pt x="86396" y="364643"/>
                </a:lnTo>
                <a:close/>
              </a:path>
              <a:path w="1474470" h="392429">
                <a:moveTo>
                  <a:pt x="92964" y="392430"/>
                </a:moveTo>
                <a:lnTo>
                  <a:pt x="86396" y="364643"/>
                </a:lnTo>
                <a:lnTo>
                  <a:pt x="72390" y="368046"/>
                </a:lnTo>
                <a:lnTo>
                  <a:pt x="65531" y="339852"/>
                </a:lnTo>
                <a:lnTo>
                  <a:pt x="65531" y="386134"/>
                </a:lnTo>
                <a:lnTo>
                  <a:pt x="92964" y="392430"/>
                </a:lnTo>
                <a:close/>
              </a:path>
              <a:path w="1474470" h="392429">
                <a:moveTo>
                  <a:pt x="1474470" y="27432"/>
                </a:moveTo>
                <a:lnTo>
                  <a:pt x="1467612" y="0"/>
                </a:lnTo>
                <a:lnTo>
                  <a:pt x="79723" y="336412"/>
                </a:lnTo>
                <a:lnTo>
                  <a:pt x="86396" y="364643"/>
                </a:lnTo>
                <a:lnTo>
                  <a:pt x="1474470" y="27432"/>
                </a:lnTo>
                <a:close/>
              </a:path>
            </a:pathLst>
          </a:custGeom>
          <a:solidFill>
            <a:srgbClr val="008000"/>
          </a:solidFill>
        </p:spPr>
        <p:txBody>
          <a:bodyPr wrap="square" lIns="0" tIns="0" rIns="0" bIns="0" rtlCol="0"/>
          <a:lstStyle/>
          <a:p>
            <a:endParaRPr/>
          </a:p>
        </p:txBody>
      </p:sp>
      <p:sp>
        <p:nvSpPr>
          <p:cNvPr id="19" name="object 19"/>
          <p:cNvSpPr txBox="1"/>
          <p:nvPr/>
        </p:nvSpPr>
        <p:spPr>
          <a:xfrm>
            <a:off x="2363470" y="5568950"/>
            <a:ext cx="455930"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a:t>
            </a:r>
            <a:r>
              <a:rPr lang="en-US" sz="1600" dirty="0">
                <a:solidFill>
                  <a:srgbClr val="008000"/>
                </a:solidFill>
                <a:latin typeface="Arial"/>
                <a:cs typeface="Arial"/>
              </a:rPr>
              <a:t>0</a:t>
            </a:r>
            <a:endParaRPr sz="1600" dirty="0">
              <a:latin typeface="Arial"/>
              <a:cs typeface="Arial"/>
            </a:endParaRPr>
          </a:p>
        </p:txBody>
      </p:sp>
      <p:sp>
        <p:nvSpPr>
          <p:cNvPr id="20" name="object 20"/>
          <p:cNvSpPr txBox="1"/>
          <p:nvPr/>
        </p:nvSpPr>
        <p:spPr>
          <a:xfrm>
            <a:off x="1723898" y="6285991"/>
            <a:ext cx="12458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(c) mất ACK</a:t>
            </a:r>
            <a:endParaRPr sz="1800">
              <a:latin typeface="Tahoma"/>
              <a:cs typeface="Tahoma"/>
            </a:endParaRPr>
          </a:p>
        </p:txBody>
      </p:sp>
      <p:sp>
        <p:nvSpPr>
          <p:cNvPr id="21" name="object 21"/>
          <p:cNvSpPr/>
          <p:nvPr/>
        </p:nvSpPr>
        <p:spPr>
          <a:xfrm>
            <a:off x="2438400" y="3488435"/>
            <a:ext cx="915669" cy="246379"/>
          </a:xfrm>
          <a:custGeom>
            <a:avLst/>
            <a:gdLst/>
            <a:ahLst/>
            <a:cxnLst/>
            <a:rect l="l" t="t" r="r" b="b"/>
            <a:pathLst>
              <a:path w="915670" h="246379">
                <a:moveTo>
                  <a:pt x="81044" y="190329"/>
                </a:moveTo>
                <a:lnTo>
                  <a:pt x="74675" y="162306"/>
                </a:lnTo>
                <a:lnTo>
                  <a:pt x="0" y="223266"/>
                </a:lnTo>
                <a:lnTo>
                  <a:pt x="67055" y="239621"/>
                </a:lnTo>
                <a:lnTo>
                  <a:pt x="67055" y="193548"/>
                </a:lnTo>
                <a:lnTo>
                  <a:pt x="81044" y="190329"/>
                </a:lnTo>
                <a:close/>
              </a:path>
              <a:path w="915670" h="246379">
                <a:moveTo>
                  <a:pt x="87437" y="218458"/>
                </a:moveTo>
                <a:lnTo>
                  <a:pt x="81044" y="190329"/>
                </a:lnTo>
                <a:lnTo>
                  <a:pt x="67055" y="193548"/>
                </a:lnTo>
                <a:lnTo>
                  <a:pt x="73151" y="221742"/>
                </a:lnTo>
                <a:lnTo>
                  <a:pt x="87437" y="218458"/>
                </a:lnTo>
                <a:close/>
              </a:path>
              <a:path w="915670" h="246379">
                <a:moveTo>
                  <a:pt x="93725" y="246126"/>
                </a:moveTo>
                <a:lnTo>
                  <a:pt x="87437" y="218458"/>
                </a:lnTo>
                <a:lnTo>
                  <a:pt x="73151" y="221742"/>
                </a:lnTo>
                <a:lnTo>
                  <a:pt x="67055" y="193548"/>
                </a:lnTo>
                <a:lnTo>
                  <a:pt x="67055" y="239621"/>
                </a:lnTo>
                <a:lnTo>
                  <a:pt x="93725" y="246126"/>
                </a:lnTo>
                <a:close/>
              </a:path>
              <a:path w="915670" h="246379">
                <a:moveTo>
                  <a:pt x="915161" y="28194"/>
                </a:moveTo>
                <a:lnTo>
                  <a:pt x="908303" y="0"/>
                </a:lnTo>
                <a:lnTo>
                  <a:pt x="81044" y="190329"/>
                </a:lnTo>
                <a:lnTo>
                  <a:pt x="87437" y="218458"/>
                </a:lnTo>
                <a:lnTo>
                  <a:pt x="915161" y="28194"/>
                </a:lnTo>
                <a:close/>
              </a:path>
            </a:pathLst>
          </a:custGeom>
          <a:solidFill>
            <a:srgbClr val="008000"/>
          </a:solidFill>
        </p:spPr>
        <p:txBody>
          <a:bodyPr wrap="square" lIns="0" tIns="0" rIns="0" bIns="0" rtlCol="0"/>
          <a:lstStyle/>
          <a:p>
            <a:endParaRPr/>
          </a:p>
        </p:txBody>
      </p:sp>
      <p:sp>
        <p:nvSpPr>
          <p:cNvPr id="22" name="object 22"/>
          <p:cNvSpPr txBox="1"/>
          <p:nvPr/>
        </p:nvSpPr>
        <p:spPr>
          <a:xfrm>
            <a:off x="2425700" y="3370580"/>
            <a:ext cx="455930"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ack1</a:t>
            </a:r>
            <a:endParaRPr sz="1600" dirty="0">
              <a:latin typeface="Arial"/>
              <a:cs typeface="Arial"/>
            </a:endParaRPr>
          </a:p>
        </p:txBody>
      </p:sp>
      <p:sp>
        <p:nvSpPr>
          <p:cNvPr id="23" name="object 23"/>
          <p:cNvSpPr txBox="1"/>
          <p:nvPr/>
        </p:nvSpPr>
        <p:spPr>
          <a:xfrm>
            <a:off x="2309876" y="3548126"/>
            <a:ext cx="1822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ahoma"/>
                <a:cs typeface="Tahoma"/>
              </a:rPr>
              <a:t>X</a:t>
            </a:r>
            <a:endParaRPr sz="1800">
              <a:latin typeface="Tahoma"/>
              <a:cs typeface="Tahoma"/>
            </a:endParaRPr>
          </a:p>
        </p:txBody>
      </p:sp>
      <p:sp>
        <p:nvSpPr>
          <p:cNvPr id="24" name="object 24"/>
          <p:cNvSpPr txBox="1"/>
          <p:nvPr/>
        </p:nvSpPr>
        <p:spPr>
          <a:xfrm>
            <a:off x="2068321" y="3746105"/>
            <a:ext cx="512573" cy="273152"/>
          </a:xfrm>
          <a:prstGeom prst="rect">
            <a:avLst/>
          </a:prstGeom>
        </p:spPr>
        <p:txBody>
          <a:bodyPr vert="horz" wrap="square" lIns="0" tIns="11430" rIns="0" bIns="0" rtlCol="0">
            <a:spAutoFit/>
          </a:bodyPr>
          <a:lstStyle/>
          <a:p>
            <a:pPr marL="12700">
              <a:lnSpc>
                <a:spcPct val="100000"/>
              </a:lnSpc>
              <a:spcBef>
                <a:spcPts val="90"/>
              </a:spcBef>
            </a:pPr>
            <a:r>
              <a:rPr sz="1700" i="1" dirty="0">
                <a:solidFill>
                  <a:srgbClr val="FF0000"/>
                </a:solidFill>
                <a:latin typeface="Tahoma"/>
                <a:cs typeface="Tahoma"/>
              </a:rPr>
              <a:t>mất</a:t>
            </a:r>
            <a:endParaRPr sz="1700" dirty="0">
              <a:latin typeface="Tahoma"/>
              <a:cs typeface="Tahoma"/>
            </a:endParaRPr>
          </a:p>
        </p:txBody>
      </p:sp>
      <p:sp>
        <p:nvSpPr>
          <p:cNvPr id="25" name="object 25"/>
          <p:cNvSpPr/>
          <p:nvPr/>
        </p:nvSpPr>
        <p:spPr>
          <a:xfrm>
            <a:off x="1883282" y="3250692"/>
            <a:ext cx="0" cy="1032510"/>
          </a:xfrm>
          <a:custGeom>
            <a:avLst/>
            <a:gdLst/>
            <a:ahLst/>
            <a:cxnLst/>
            <a:rect l="l" t="t" r="r" b="b"/>
            <a:pathLst>
              <a:path h="1032510">
                <a:moveTo>
                  <a:pt x="0" y="0"/>
                </a:moveTo>
                <a:lnTo>
                  <a:pt x="0" y="1032509"/>
                </a:lnTo>
              </a:path>
            </a:pathLst>
          </a:custGeom>
          <a:ln w="28193">
            <a:solidFill>
              <a:srgbClr val="000000"/>
            </a:solidFill>
          </a:ln>
        </p:spPr>
        <p:txBody>
          <a:bodyPr wrap="square" lIns="0" tIns="0" rIns="0" bIns="0" rtlCol="0"/>
          <a:lstStyle/>
          <a:p>
            <a:endParaRPr/>
          </a:p>
        </p:txBody>
      </p:sp>
      <p:sp>
        <p:nvSpPr>
          <p:cNvPr id="26" name="object 26"/>
          <p:cNvSpPr/>
          <p:nvPr/>
        </p:nvSpPr>
        <p:spPr>
          <a:xfrm>
            <a:off x="1760982" y="3249929"/>
            <a:ext cx="117475" cy="0"/>
          </a:xfrm>
          <a:custGeom>
            <a:avLst/>
            <a:gdLst/>
            <a:ahLst/>
            <a:cxnLst/>
            <a:rect l="l" t="t" r="r" b="b"/>
            <a:pathLst>
              <a:path w="117475">
                <a:moveTo>
                  <a:pt x="0" y="0"/>
                </a:moveTo>
                <a:lnTo>
                  <a:pt x="117348" y="0"/>
                </a:lnTo>
              </a:path>
            </a:pathLst>
          </a:custGeom>
          <a:ln w="28955">
            <a:solidFill>
              <a:srgbClr val="000000"/>
            </a:solidFill>
          </a:ln>
        </p:spPr>
        <p:txBody>
          <a:bodyPr wrap="square" lIns="0" tIns="0" rIns="0" bIns="0" rtlCol="0"/>
          <a:lstStyle/>
          <a:p>
            <a:endParaRPr/>
          </a:p>
        </p:txBody>
      </p:sp>
      <p:sp>
        <p:nvSpPr>
          <p:cNvPr id="27" name="object 27"/>
          <p:cNvSpPr/>
          <p:nvPr/>
        </p:nvSpPr>
        <p:spPr>
          <a:xfrm>
            <a:off x="1760982" y="4283583"/>
            <a:ext cx="117475" cy="0"/>
          </a:xfrm>
          <a:custGeom>
            <a:avLst/>
            <a:gdLst/>
            <a:ahLst/>
            <a:cxnLst/>
            <a:rect l="l" t="t" r="r" b="b"/>
            <a:pathLst>
              <a:path w="117475">
                <a:moveTo>
                  <a:pt x="0" y="0"/>
                </a:moveTo>
                <a:lnTo>
                  <a:pt x="117348" y="0"/>
                </a:lnTo>
              </a:path>
            </a:pathLst>
          </a:custGeom>
          <a:ln w="28194">
            <a:solidFill>
              <a:srgbClr val="000000"/>
            </a:solidFill>
          </a:ln>
        </p:spPr>
        <p:txBody>
          <a:bodyPr wrap="square" lIns="0" tIns="0" rIns="0" bIns="0" rtlCol="0"/>
          <a:lstStyle/>
          <a:p>
            <a:endParaRPr/>
          </a:p>
        </p:txBody>
      </p:sp>
      <p:sp>
        <p:nvSpPr>
          <p:cNvPr id="28" name="object 28"/>
          <p:cNvSpPr/>
          <p:nvPr/>
        </p:nvSpPr>
        <p:spPr>
          <a:xfrm>
            <a:off x="1885950" y="4372355"/>
            <a:ext cx="1475740" cy="393700"/>
          </a:xfrm>
          <a:custGeom>
            <a:avLst/>
            <a:gdLst/>
            <a:ahLst/>
            <a:cxnLst/>
            <a:rect l="l" t="t" r="r" b="b"/>
            <a:pathLst>
              <a:path w="1475739" h="393700">
                <a:moveTo>
                  <a:pt x="1395228" y="337283"/>
                </a:moveTo>
                <a:lnTo>
                  <a:pt x="6857" y="0"/>
                </a:lnTo>
                <a:lnTo>
                  <a:pt x="0" y="28194"/>
                </a:lnTo>
                <a:lnTo>
                  <a:pt x="1388312" y="365463"/>
                </a:lnTo>
                <a:lnTo>
                  <a:pt x="1395228" y="337283"/>
                </a:lnTo>
                <a:close/>
              </a:path>
              <a:path w="1475739" h="393700">
                <a:moveTo>
                  <a:pt x="1408938" y="386724"/>
                </a:moveTo>
                <a:lnTo>
                  <a:pt x="1408938" y="340613"/>
                </a:lnTo>
                <a:lnTo>
                  <a:pt x="1402080" y="368807"/>
                </a:lnTo>
                <a:lnTo>
                  <a:pt x="1388312" y="365463"/>
                </a:lnTo>
                <a:lnTo>
                  <a:pt x="1381505" y="393191"/>
                </a:lnTo>
                <a:lnTo>
                  <a:pt x="1408938" y="386724"/>
                </a:lnTo>
                <a:close/>
              </a:path>
              <a:path w="1475739" h="393700">
                <a:moveTo>
                  <a:pt x="1408938" y="340613"/>
                </a:moveTo>
                <a:lnTo>
                  <a:pt x="1395228" y="337283"/>
                </a:lnTo>
                <a:lnTo>
                  <a:pt x="1388312" y="365463"/>
                </a:lnTo>
                <a:lnTo>
                  <a:pt x="1402080" y="368807"/>
                </a:lnTo>
                <a:lnTo>
                  <a:pt x="1408938" y="340613"/>
                </a:lnTo>
                <a:close/>
              </a:path>
              <a:path w="1475739" h="393700">
                <a:moveTo>
                  <a:pt x="1475232" y="371093"/>
                </a:moveTo>
                <a:lnTo>
                  <a:pt x="1402080" y="309371"/>
                </a:lnTo>
                <a:lnTo>
                  <a:pt x="1395228" y="337283"/>
                </a:lnTo>
                <a:lnTo>
                  <a:pt x="1408938" y="340613"/>
                </a:lnTo>
                <a:lnTo>
                  <a:pt x="1408938" y="386724"/>
                </a:lnTo>
                <a:lnTo>
                  <a:pt x="1475232" y="371093"/>
                </a:lnTo>
                <a:close/>
              </a:path>
            </a:pathLst>
          </a:custGeom>
          <a:solidFill>
            <a:srgbClr val="000099"/>
          </a:solidFill>
        </p:spPr>
        <p:txBody>
          <a:bodyPr wrap="square" lIns="0" tIns="0" rIns="0" bIns="0" rtlCol="0"/>
          <a:lstStyle/>
          <a:p>
            <a:endParaRPr/>
          </a:p>
        </p:txBody>
      </p:sp>
      <p:sp>
        <p:nvSpPr>
          <p:cNvPr id="29" name="object 29"/>
          <p:cNvSpPr txBox="1"/>
          <p:nvPr/>
        </p:nvSpPr>
        <p:spPr>
          <a:xfrm>
            <a:off x="2347976" y="4265930"/>
            <a:ext cx="410209"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pkt1</a:t>
            </a:r>
            <a:endParaRPr sz="1600">
              <a:latin typeface="Arial"/>
              <a:cs typeface="Arial"/>
            </a:endParaRPr>
          </a:p>
        </p:txBody>
      </p:sp>
      <p:sp>
        <p:nvSpPr>
          <p:cNvPr id="30" name="object 30"/>
          <p:cNvSpPr/>
          <p:nvPr/>
        </p:nvSpPr>
        <p:spPr>
          <a:xfrm>
            <a:off x="370458" y="3780751"/>
            <a:ext cx="399288" cy="477012"/>
          </a:xfrm>
          <a:prstGeom prst="rect">
            <a:avLst/>
          </a:prstGeom>
          <a:blipFill>
            <a:blip r:embed="rId2" cstate="print"/>
            <a:stretch>
              <a:fillRect/>
            </a:stretch>
          </a:blipFill>
        </p:spPr>
        <p:txBody>
          <a:bodyPr wrap="square" lIns="0" tIns="0" rIns="0" bIns="0" rtlCol="0"/>
          <a:lstStyle/>
          <a:p>
            <a:endParaRPr/>
          </a:p>
        </p:txBody>
      </p:sp>
      <p:sp>
        <p:nvSpPr>
          <p:cNvPr id="31" name="object 31"/>
          <p:cNvSpPr txBox="1"/>
          <p:nvPr/>
        </p:nvSpPr>
        <p:spPr>
          <a:xfrm>
            <a:off x="475824" y="4042976"/>
            <a:ext cx="1325036" cy="512961"/>
          </a:xfrm>
          <a:prstGeom prst="rect">
            <a:avLst/>
          </a:prstGeom>
        </p:spPr>
        <p:txBody>
          <a:bodyPr vert="horz" wrap="square" lIns="0" tIns="12700" rIns="0" bIns="0" rtlCol="0">
            <a:spAutoFit/>
          </a:bodyPr>
          <a:lstStyle/>
          <a:p>
            <a:pPr marL="370840">
              <a:lnSpc>
                <a:spcPts val="2000"/>
              </a:lnSpc>
              <a:spcBef>
                <a:spcPts val="100"/>
              </a:spcBef>
            </a:pPr>
            <a:r>
              <a:rPr sz="1900" i="1" dirty="0">
                <a:solidFill>
                  <a:srgbClr val="FF0000"/>
                </a:solidFill>
                <a:latin typeface="Tahoma"/>
                <a:cs typeface="Tahoma"/>
              </a:rPr>
              <a:t>timeout</a:t>
            </a:r>
            <a:endParaRPr sz="1900" dirty="0">
              <a:latin typeface="Tahoma"/>
              <a:cs typeface="Tahoma"/>
            </a:endParaRPr>
          </a:p>
          <a:p>
            <a:pPr marL="12700">
              <a:lnSpc>
                <a:spcPts val="1880"/>
              </a:lnSpc>
            </a:pPr>
            <a:r>
              <a:rPr sz="1800" dirty="0">
                <a:latin typeface="Tahoma"/>
                <a:cs typeface="Tahoma"/>
              </a:rPr>
              <a:t>gửi  lại pkt1</a:t>
            </a:r>
          </a:p>
        </p:txBody>
      </p:sp>
      <p:sp>
        <p:nvSpPr>
          <p:cNvPr id="32" name="object 32"/>
          <p:cNvSpPr txBox="1"/>
          <p:nvPr/>
        </p:nvSpPr>
        <p:spPr>
          <a:xfrm>
            <a:off x="8031719" y="3206750"/>
            <a:ext cx="1057275" cy="525780"/>
          </a:xfrm>
          <a:prstGeom prst="rect">
            <a:avLst/>
          </a:prstGeom>
        </p:spPr>
        <p:txBody>
          <a:bodyPr vert="horz" wrap="square" lIns="0" tIns="60325" rIns="0" bIns="0" rtlCol="0">
            <a:spAutoFit/>
          </a:bodyPr>
          <a:lstStyle/>
          <a:p>
            <a:pPr marL="191135" marR="5080" indent="-179070">
              <a:lnSpc>
                <a:spcPts val="1780"/>
              </a:lnSpc>
              <a:spcBef>
                <a:spcPts val="475"/>
              </a:spcBef>
            </a:pPr>
            <a:r>
              <a:rPr sz="1800" dirty="0">
                <a:latin typeface="Tahoma"/>
                <a:cs typeface="Tahoma"/>
              </a:rPr>
              <a:t>nhận pkt1  gửi ack1</a:t>
            </a:r>
          </a:p>
        </p:txBody>
      </p:sp>
      <p:sp>
        <p:nvSpPr>
          <p:cNvPr id="33" name="object 33"/>
          <p:cNvSpPr txBox="1"/>
          <p:nvPr/>
        </p:nvSpPr>
        <p:spPr>
          <a:xfrm>
            <a:off x="8106409" y="4616873"/>
            <a:ext cx="165862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(phát hiện trùng lặp)</a:t>
            </a:r>
          </a:p>
        </p:txBody>
      </p:sp>
      <p:sp>
        <p:nvSpPr>
          <p:cNvPr id="34" name="object 34"/>
          <p:cNvSpPr/>
          <p:nvPr/>
        </p:nvSpPr>
        <p:spPr>
          <a:xfrm>
            <a:off x="6580631" y="3082289"/>
            <a:ext cx="1474470" cy="392430"/>
          </a:xfrm>
          <a:custGeom>
            <a:avLst/>
            <a:gdLst/>
            <a:ahLst/>
            <a:cxnLst/>
            <a:rect l="l" t="t" r="r" b="b"/>
            <a:pathLst>
              <a:path w="1474470" h="392430">
                <a:moveTo>
                  <a:pt x="1394861" y="336441"/>
                </a:moveTo>
                <a:lnTo>
                  <a:pt x="6096" y="0"/>
                </a:lnTo>
                <a:lnTo>
                  <a:pt x="0" y="27432"/>
                </a:lnTo>
                <a:lnTo>
                  <a:pt x="1388130" y="364657"/>
                </a:lnTo>
                <a:lnTo>
                  <a:pt x="1394861" y="336441"/>
                </a:lnTo>
                <a:close/>
              </a:path>
              <a:path w="1474470" h="392430">
                <a:moveTo>
                  <a:pt x="1408938" y="386134"/>
                </a:moveTo>
                <a:lnTo>
                  <a:pt x="1408938" y="339851"/>
                </a:lnTo>
                <a:lnTo>
                  <a:pt x="1402080" y="368045"/>
                </a:lnTo>
                <a:lnTo>
                  <a:pt x="1388130" y="364657"/>
                </a:lnTo>
                <a:lnTo>
                  <a:pt x="1381506" y="392429"/>
                </a:lnTo>
                <a:lnTo>
                  <a:pt x="1408938" y="386134"/>
                </a:lnTo>
                <a:close/>
              </a:path>
              <a:path w="1474470" h="392430">
                <a:moveTo>
                  <a:pt x="1408938" y="339851"/>
                </a:moveTo>
                <a:lnTo>
                  <a:pt x="1394861" y="336441"/>
                </a:lnTo>
                <a:lnTo>
                  <a:pt x="1388130" y="364657"/>
                </a:lnTo>
                <a:lnTo>
                  <a:pt x="1402080" y="368045"/>
                </a:lnTo>
                <a:lnTo>
                  <a:pt x="1408938" y="339851"/>
                </a:lnTo>
                <a:close/>
              </a:path>
              <a:path w="1474470" h="392430">
                <a:moveTo>
                  <a:pt x="1474470" y="371093"/>
                </a:moveTo>
                <a:lnTo>
                  <a:pt x="1401318" y="309371"/>
                </a:lnTo>
                <a:lnTo>
                  <a:pt x="1394861" y="336441"/>
                </a:lnTo>
                <a:lnTo>
                  <a:pt x="1408938" y="339851"/>
                </a:lnTo>
                <a:lnTo>
                  <a:pt x="1408938" y="386134"/>
                </a:lnTo>
                <a:lnTo>
                  <a:pt x="1474470" y="371093"/>
                </a:lnTo>
                <a:close/>
              </a:path>
            </a:pathLst>
          </a:custGeom>
          <a:solidFill>
            <a:srgbClr val="000099"/>
          </a:solidFill>
        </p:spPr>
        <p:txBody>
          <a:bodyPr wrap="square" lIns="0" tIns="0" rIns="0" bIns="0" rtlCol="0"/>
          <a:lstStyle/>
          <a:p>
            <a:endParaRPr/>
          </a:p>
        </p:txBody>
      </p:sp>
      <p:sp>
        <p:nvSpPr>
          <p:cNvPr id="35" name="object 35"/>
          <p:cNvSpPr txBox="1"/>
          <p:nvPr/>
        </p:nvSpPr>
        <p:spPr>
          <a:xfrm>
            <a:off x="8027923" y="1237027"/>
            <a:ext cx="1087120"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a:latin typeface="Tahoma"/>
              <a:cs typeface="Tahoma"/>
            </a:endParaRPr>
          </a:p>
        </p:txBody>
      </p:sp>
      <p:sp>
        <p:nvSpPr>
          <p:cNvPr id="36" name="object 36"/>
          <p:cNvSpPr txBox="1"/>
          <p:nvPr/>
        </p:nvSpPr>
        <p:spPr>
          <a:xfrm>
            <a:off x="8106409" y="4374132"/>
            <a:ext cx="10401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nhận pkt1</a:t>
            </a:r>
          </a:p>
        </p:txBody>
      </p:sp>
      <p:sp>
        <p:nvSpPr>
          <p:cNvPr id="37" name="object 37"/>
          <p:cNvSpPr txBox="1"/>
          <p:nvPr/>
        </p:nvSpPr>
        <p:spPr>
          <a:xfrm>
            <a:off x="5504157" y="2780784"/>
            <a:ext cx="1061720" cy="519430"/>
          </a:xfrm>
          <a:prstGeom prst="rect">
            <a:avLst/>
          </a:prstGeom>
        </p:spPr>
        <p:txBody>
          <a:bodyPr vert="horz" wrap="square" lIns="0" tIns="67310" rIns="0" bIns="0" rtlCol="0">
            <a:spAutoFit/>
          </a:bodyPr>
          <a:lstStyle/>
          <a:p>
            <a:pPr marL="36830" marR="5080" indent="-24765">
              <a:lnSpc>
                <a:spcPct val="80000"/>
              </a:lnSpc>
              <a:spcBef>
                <a:spcPts val="530"/>
              </a:spcBef>
            </a:pPr>
            <a:r>
              <a:rPr sz="1800" dirty="0">
                <a:latin typeface="Tahoma"/>
                <a:cs typeface="Tahoma"/>
              </a:rPr>
              <a:t>nhận ack0  gửi pkt1</a:t>
            </a:r>
            <a:endParaRPr sz="1800">
              <a:latin typeface="Tahoma"/>
              <a:cs typeface="Tahoma"/>
            </a:endParaRPr>
          </a:p>
        </p:txBody>
      </p:sp>
      <p:sp>
        <p:nvSpPr>
          <p:cNvPr id="38" name="object 38"/>
          <p:cNvSpPr txBox="1"/>
          <p:nvPr/>
        </p:nvSpPr>
        <p:spPr>
          <a:xfrm>
            <a:off x="5517095" y="1087306"/>
            <a:ext cx="987425" cy="1221488"/>
          </a:xfrm>
          <a:prstGeom prst="rect">
            <a:avLst/>
          </a:prstGeom>
        </p:spPr>
        <p:txBody>
          <a:bodyPr vert="horz" wrap="square" lIns="0" tIns="168275" rIns="0" bIns="0" rtlCol="0">
            <a:spAutoFit/>
          </a:bodyPr>
          <a:lstStyle/>
          <a:p>
            <a:pPr marL="119380">
              <a:lnSpc>
                <a:spcPct val="100000"/>
              </a:lnSpc>
              <a:spcBef>
                <a:spcPts val="1325"/>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12700">
              <a:lnSpc>
                <a:spcPct val="100000"/>
              </a:lnSpc>
              <a:spcBef>
                <a:spcPts val="1040"/>
              </a:spcBef>
            </a:pPr>
            <a:r>
              <a:rPr sz="1800" dirty="0">
                <a:latin typeface="Tahoma"/>
                <a:cs typeface="Tahoma"/>
              </a:rPr>
              <a:t>gửi pkt0</a:t>
            </a:r>
          </a:p>
        </p:txBody>
      </p:sp>
      <p:sp>
        <p:nvSpPr>
          <p:cNvPr id="39" name="object 39"/>
          <p:cNvSpPr txBox="1"/>
          <p:nvPr/>
        </p:nvSpPr>
        <p:spPr>
          <a:xfrm>
            <a:off x="8014161" y="2320544"/>
            <a:ext cx="1065530" cy="511175"/>
          </a:xfrm>
          <a:prstGeom prst="rect">
            <a:avLst/>
          </a:prstGeom>
        </p:spPr>
        <p:txBody>
          <a:bodyPr vert="horz" wrap="square" lIns="0" tIns="75565" rIns="0" bIns="0" rtlCol="0">
            <a:spAutoFit/>
          </a:bodyPr>
          <a:lstStyle/>
          <a:p>
            <a:pPr marL="200025" marR="5080" indent="-187960">
              <a:lnSpc>
                <a:spcPct val="76900"/>
              </a:lnSpc>
              <a:spcBef>
                <a:spcPts val="595"/>
              </a:spcBef>
            </a:pPr>
            <a:r>
              <a:rPr sz="1800" dirty="0">
                <a:latin typeface="Tahoma"/>
                <a:cs typeface="Tahoma"/>
              </a:rPr>
              <a:t>nhận pkt0  gửi ack0</a:t>
            </a:r>
            <a:endParaRPr sz="1800">
              <a:latin typeface="Tahoma"/>
              <a:cs typeface="Tahoma"/>
            </a:endParaRPr>
          </a:p>
        </p:txBody>
      </p:sp>
      <p:sp>
        <p:nvSpPr>
          <p:cNvPr id="40" name="object 40"/>
          <p:cNvSpPr/>
          <p:nvPr/>
        </p:nvSpPr>
        <p:spPr>
          <a:xfrm>
            <a:off x="6570726" y="2218182"/>
            <a:ext cx="1475740" cy="393700"/>
          </a:xfrm>
          <a:custGeom>
            <a:avLst/>
            <a:gdLst/>
            <a:ahLst/>
            <a:cxnLst/>
            <a:rect l="l" t="t" r="r" b="b"/>
            <a:pathLst>
              <a:path w="1475740" h="393700">
                <a:moveTo>
                  <a:pt x="1395228" y="337283"/>
                </a:moveTo>
                <a:lnTo>
                  <a:pt x="6857" y="0"/>
                </a:lnTo>
                <a:lnTo>
                  <a:pt x="0" y="28194"/>
                </a:lnTo>
                <a:lnTo>
                  <a:pt x="1388486" y="364751"/>
                </a:lnTo>
                <a:lnTo>
                  <a:pt x="1395228" y="337283"/>
                </a:lnTo>
                <a:close/>
              </a:path>
              <a:path w="1475740" h="393700">
                <a:moveTo>
                  <a:pt x="1408937" y="386724"/>
                </a:moveTo>
                <a:lnTo>
                  <a:pt x="1408937" y="340613"/>
                </a:lnTo>
                <a:lnTo>
                  <a:pt x="1402079" y="368045"/>
                </a:lnTo>
                <a:lnTo>
                  <a:pt x="1388486" y="364751"/>
                </a:lnTo>
                <a:lnTo>
                  <a:pt x="1381505" y="393191"/>
                </a:lnTo>
                <a:lnTo>
                  <a:pt x="1408937" y="386724"/>
                </a:lnTo>
                <a:close/>
              </a:path>
              <a:path w="1475740" h="393700">
                <a:moveTo>
                  <a:pt x="1408937" y="340613"/>
                </a:moveTo>
                <a:lnTo>
                  <a:pt x="1395228" y="337283"/>
                </a:lnTo>
                <a:lnTo>
                  <a:pt x="1388486" y="364751"/>
                </a:lnTo>
                <a:lnTo>
                  <a:pt x="1402079" y="368045"/>
                </a:lnTo>
                <a:lnTo>
                  <a:pt x="1408937" y="340613"/>
                </a:lnTo>
                <a:close/>
              </a:path>
              <a:path w="1475740" h="393700">
                <a:moveTo>
                  <a:pt x="1475231" y="371093"/>
                </a:moveTo>
                <a:lnTo>
                  <a:pt x="1402079" y="309371"/>
                </a:lnTo>
                <a:lnTo>
                  <a:pt x="1395228" y="337283"/>
                </a:lnTo>
                <a:lnTo>
                  <a:pt x="1408937" y="340613"/>
                </a:lnTo>
                <a:lnTo>
                  <a:pt x="1408937" y="386724"/>
                </a:lnTo>
                <a:lnTo>
                  <a:pt x="1475231" y="371093"/>
                </a:lnTo>
                <a:close/>
              </a:path>
            </a:pathLst>
          </a:custGeom>
          <a:solidFill>
            <a:srgbClr val="000099"/>
          </a:solidFill>
        </p:spPr>
        <p:txBody>
          <a:bodyPr wrap="square" lIns="0" tIns="0" rIns="0" bIns="0" rtlCol="0"/>
          <a:lstStyle/>
          <a:p>
            <a:endParaRPr/>
          </a:p>
        </p:txBody>
      </p:sp>
      <p:sp>
        <p:nvSpPr>
          <p:cNvPr id="41" name="object 41"/>
          <p:cNvSpPr txBox="1"/>
          <p:nvPr/>
        </p:nvSpPr>
        <p:spPr>
          <a:xfrm>
            <a:off x="7050278" y="2103374"/>
            <a:ext cx="409575"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009A"/>
                </a:solidFill>
                <a:latin typeface="Arial"/>
                <a:cs typeface="Arial"/>
              </a:rPr>
              <a:t>pkt0</a:t>
            </a:r>
            <a:endParaRPr sz="1600">
              <a:latin typeface="Arial"/>
              <a:cs typeface="Arial"/>
            </a:endParaRPr>
          </a:p>
        </p:txBody>
      </p:sp>
      <p:sp>
        <p:nvSpPr>
          <p:cNvPr id="42" name="object 42"/>
          <p:cNvSpPr/>
          <p:nvPr/>
        </p:nvSpPr>
        <p:spPr>
          <a:xfrm>
            <a:off x="6560057" y="2661666"/>
            <a:ext cx="1474470" cy="392430"/>
          </a:xfrm>
          <a:custGeom>
            <a:avLst/>
            <a:gdLst/>
            <a:ahLst/>
            <a:cxnLst/>
            <a:rect l="l" t="t" r="r" b="b"/>
            <a:pathLst>
              <a:path w="1474470" h="392430">
                <a:moveTo>
                  <a:pt x="79723" y="336413"/>
                </a:moveTo>
                <a:lnTo>
                  <a:pt x="73152" y="308610"/>
                </a:lnTo>
                <a:lnTo>
                  <a:pt x="0" y="371094"/>
                </a:lnTo>
                <a:lnTo>
                  <a:pt x="65532" y="386134"/>
                </a:lnTo>
                <a:lnTo>
                  <a:pt x="65532" y="339852"/>
                </a:lnTo>
                <a:lnTo>
                  <a:pt x="79723" y="336413"/>
                </a:lnTo>
                <a:close/>
              </a:path>
              <a:path w="1474470" h="392430">
                <a:moveTo>
                  <a:pt x="86396" y="364643"/>
                </a:moveTo>
                <a:lnTo>
                  <a:pt x="79723" y="336413"/>
                </a:lnTo>
                <a:lnTo>
                  <a:pt x="65532" y="339852"/>
                </a:lnTo>
                <a:lnTo>
                  <a:pt x="72390" y="368046"/>
                </a:lnTo>
                <a:lnTo>
                  <a:pt x="86396" y="364643"/>
                </a:lnTo>
                <a:close/>
              </a:path>
              <a:path w="1474470" h="392430">
                <a:moveTo>
                  <a:pt x="92964" y="392430"/>
                </a:moveTo>
                <a:lnTo>
                  <a:pt x="86396" y="364643"/>
                </a:lnTo>
                <a:lnTo>
                  <a:pt x="72390" y="368046"/>
                </a:lnTo>
                <a:lnTo>
                  <a:pt x="65532" y="339852"/>
                </a:lnTo>
                <a:lnTo>
                  <a:pt x="65532" y="386134"/>
                </a:lnTo>
                <a:lnTo>
                  <a:pt x="92964" y="392430"/>
                </a:lnTo>
                <a:close/>
              </a:path>
              <a:path w="1474470" h="392430">
                <a:moveTo>
                  <a:pt x="1474470" y="27432"/>
                </a:moveTo>
                <a:lnTo>
                  <a:pt x="1468374" y="0"/>
                </a:lnTo>
                <a:lnTo>
                  <a:pt x="79723" y="336413"/>
                </a:lnTo>
                <a:lnTo>
                  <a:pt x="86396" y="364643"/>
                </a:lnTo>
                <a:lnTo>
                  <a:pt x="1474470" y="27432"/>
                </a:lnTo>
                <a:close/>
              </a:path>
            </a:pathLst>
          </a:custGeom>
          <a:solidFill>
            <a:srgbClr val="008000"/>
          </a:solidFill>
        </p:spPr>
        <p:txBody>
          <a:bodyPr wrap="square" lIns="0" tIns="0" rIns="0" bIns="0" rtlCol="0"/>
          <a:lstStyle/>
          <a:p>
            <a:endParaRPr/>
          </a:p>
        </p:txBody>
      </p:sp>
      <p:sp>
        <p:nvSpPr>
          <p:cNvPr id="43" name="object 43"/>
          <p:cNvSpPr txBox="1"/>
          <p:nvPr/>
        </p:nvSpPr>
        <p:spPr>
          <a:xfrm>
            <a:off x="7032752" y="2475534"/>
            <a:ext cx="455930" cy="769620"/>
          </a:xfrm>
          <a:prstGeom prst="rect">
            <a:avLst/>
          </a:prstGeom>
        </p:spPr>
        <p:txBody>
          <a:bodyPr vert="horz" wrap="square" lIns="0" tIns="12700" rIns="0" bIns="0" rtlCol="0">
            <a:spAutoFit/>
          </a:bodyPr>
          <a:lstStyle/>
          <a:p>
            <a:pPr marL="21590" marR="5080" indent="-9525">
              <a:lnSpc>
                <a:spcPct val="152500"/>
              </a:lnSpc>
              <a:spcBef>
                <a:spcPts val="100"/>
              </a:spcBef>
            </a:pPr>
            <a:r>
              <a:rPr sz="1600" dirty="0">
                <a:solidFill>
                  <a:srgbClr val="008000"/>
                </a:solidFill>
                <a:latin typeface="Arial"/>
                <a:cs typeface="Arial"/>
              </a:rPr>
              <a:t>ack0  </a:t>
            </a:r>
            <a:r>
              <a:rPr sz="1600" dirty="0">
                <a:solidFill>
                  <a:srgbClr val="00009A"/>
                </a:solidFill>
                <a:latin typeface="Arial"/>
                <a:cs typeface="Arial"/>
              </a:rPr>
              <a:t>pkt1</a:t>
            </a:r>
            <a:endParaRPr sz="1600">
              <a:latin typeface="Arial"/>
              <a:cs typeface="Arial"/>
            </a:endParaRPr>
          </a:p>
        </p:txBody>
      </p:sp>
      <p:sp>
        <p:nvSpPr>
          <p:cNvPr id="44" name="object 44"/>
          <p:cNvSpPr txBox="1"/>
          <p:nvPr/>
        </p:nvSpPr>
        <p:spPr>
          <a:xfrm>
            <a:off x="5695441" y="6596126"/>
            <a:ext cx="344347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(d) timeout </a:t>
            </a:r>
            <a:r>
              <a:rPr lang="en-US" sz="1800" dirty="0" err="1">
                <a:latin typeface="Tahoma"/>
                <a:cs typeface="Tahoma"/>
              </a:rPr>
              <a:t>quá</a:t>
            </a:r>
            <a:r>
              <a:rPr lang="en-US" sz="1800" dirty="0">
                <a:latin typeface="Tahoma"/>
                <a:cs typeface="Tahoma"/>
              </a:rPr>
              <a:t> </a:t>
            </a:r>
            <a:r>
              <a:rPr lang="en-US" sz="1800" dirty="0" err="1">
                <a:latin typeface="Tahoma"/>
                <a:cs typeface="Tahoma"/>
              </a:rPr>
              <a:t>ngắn</a:t>
            </a:r>
            <a:r>
              <a:rPr sz="1800" dirty="0">
                <a:latin typeface="Tahoma"/>
                <a:cs typeface="Tahoma"/>
              </a:rPr>
              <a:t>/ ACK tới trễ</a:t>
            </a:r>
          </a:p>
        </p:txBody>
      </p:sp>
      <p:sp>
        <p:nvSpPr>
          <p:cNvPr id="45" name="object 45"/>
          <p:cNvSpPr/>
          <p:nvPr/>
        </p:nvSpPr>
        <p:spPr>
          <a:xfrm>
            <a:off x="6585204" y="3256026"/>
            <a:ext cx="0" cy="1032510"/>
          </a:xfrm>
          <a:custGeom>
            <a:avLst/>
            <a:gdLst/>
            <a:ahLst/>
            <a:cxnLst/>
            <a:rect l="l" t="t" r="r" b="b"/>
            <a:pathLst>
              <a:path h="1032510">
                <a:moveTo>
                  <a:pt x="0" y="0"/>
                </a:moveTo>
                <a:lnTo>
                  <a:pt x="0" y="1032509"/>
                </a:lnTo>
              </a:path>
            </a:pathLst>
          </a:custGeom>
          <a:ln w="28955">
            <a:solidFill>
              <a:srgbClr val="000000"/>
            </a:solidFill>
          </a:ln>
        </p:spPr>
        <p:txBody>
          <a:bodyPr wrap="square" lIns="0" tIns="0" rIns="0" bIns="0" rtlCol="0"/>
          <a:lstStyle/>
          <a:p>
            <a:endParaRPr/>
          </a:p>
        </p:txBody>
      </p:sp>
      <p:sp>
        <p:nvSpPr>
          <p:cNvPr id="46" name="object 46"/>
          <p:cNvSpPr/>
          <p:nvPr/>
        </p:nvSpPr>
        <p:spPr>
          <a:xfrm>
            <a:off x="6463284" y="3254882"/>
            <a:ext cx="117475" cy="0"/>
          </a:xfrm>
          <a:custGeom>
            <a:avLst/>
            <a:gdLst/>
            <a:ahLst/>
            <a:cxnLst/>
            <a:rect l="l" t="t" r="r" b="b"/>
            <a:pathLst>
              <a:path w="117475">
                <a:moveTo>
                  <a:pt x="0" y="0"/>
                </a:moveTo>
                <a:lnTo>
                  <a:pt x="117347" y="0"/>
                </a:lnTo>
              </a:path>
            </a:pathLst>
          </a:custGeom>
          <a:ln w="28194">
            <a:solidFill>
              <a:srgbClr val="000000"/>
            </a:solidFill>
          </a:ln>
        </p:spPr>
        <p:txBody>
          <a:bodyPr wrap="square" lIns="0" tIns="0" rIns="0" bIns="0" rtlCol="0"/>
          <a:lstStyle/>
          <a:p>
            <a:endParaRPr/>
          </a:p>
        </p:txBody>
      </p:sp>
      <p:sp>
        <p:nvSpPr>
          <p:cNvPr id="47" name="object 47"/>
          <p:cNvSpPr/>
          <p:nvPr/>
        </p:nvSpPr>
        <p:spPr>
          <a:xfrm>
            <a:off x="6463284" y="4288154"/>
            <a:ext cx="117475" cy="0"/>
          </a:xfrm>
          <a:custGeom>
            <a:avLst/>
            <a:gdLst/>
            <a:ahLst/>
            <a:cxnLst/>
            <a:rect l="l" t="t" r="r" b="b"/>
            <a:pathLst>
              <a:path w="117475">
                <a:moveTo>
                  <a:pt x="0" y="0"/>
                </a:moveTo>
                <a:lnTo>
                  <a:pt x="117347" y="0"/>
                </a:lnTo>
              </a:path>
            </a:pathLst>
          </a:custGeom>
          <a:ln w="28194">
            <a:solidFill>
              <a:srgbClr val="000000"/>
            </a:solidFill>
          </a:ln>
        </p:spPr>
        <p:txBody>
          <a:bodyPr wrap="square" lIns="0" tIns="0" rIns="0" bIns="0" rtlCol="0"/>
          <a:lstStyle/>
          <a:p>
            <a:endParaRPr/>
          </a:p>
        </p:txBody>
      </p:sp>
      <p:sp>
        <p:nvSpPr>
          <p:cNvPr id="48" name="object 48"/>
          <p:cNvSpPr/>
          <p:nvPr/>
        </p:nvSpPr>
        <p:spPr>
          <a:xfrm>
            <a:off x="6588252" y="4377690"/>
            <a:ext cx="1475740" cy="392430"/>
          </a:xfrm>
          <a:custGeom>
            <a:avLst/>
            <a:gdLst/>
            <a:ahLst/>
            <a:cxnLst/>
            <a:rect l="l" t="t" r="r" b="b"/>
            <a:pathLst>
              <a:path w="1475740" h="392429">
                <a:moveTo>
                  <a:pt x="1395345" y="336557"/>
                </a:moveTo>
                <a:lnTo>
                  <a:pt x="6857" y="0"/>
                </a:lnTo>
                <a:lnTo>
                  <a:pt x="0" y="27432"/>
                </a:lnTo>
                <a:lnTo>
                  <a:pt x="1388371" y="364715"/>
                </a:lnTo>
                <a:lnTo>
                  <a:pt x="1395345" y="336557"/>
                </a:lnTo>
                <a:close/>
              </a:path>
              <a:path w="1475740" h="392429">
                <a:moveTo>
                  <a:pt x="1408937" y="386185"/>
                </a:moveTo>
                <a:lnTo>
                  <a:pt x="1408937" y="339851"/>
                </a:lnTo>
                <a:lnTo>
                  <a:pt x="1402079" y="368045"/>
                </a:lnTo>
                <a:lnTo>
                  <a:pt x="1388371" y="364715"/>
                </a:lnTo>
                <a:lnTo>
                  <a:pt x="1381505" y="392429"/>
                </a:lnTo>
                <a:lnTo>
                  <a:pt x="1408937" y="386185"/>
                </a:lnTo>
                <a:close/>
              </a:path>
              <a:path w="1475740" h="392429">
                <a:moveTo>
                  <a:pt x="1408937" y="339851"/>
                </a:moveTo>
                <a:lnTo>
                  <a:pt x="1395345" y="336557"/>
                </a:lnTo>
                <a:lnTo>
                  <a:pt x="1388371" y="364715"/>
                </a:lnTo>
                <a:lnTo>
                  <a:pt x="1402079" y="368045"/>
                </a:lnTo>
                <a:lnTo>
                  <a:pt x="1408937" y="339851"/>
                </a:lnTo>
                <a:close/>
              </a:path>
              <a:path w="1475740" h="392429">
                <a:moveTo>
                  <a:pt x="1475231" y="371093"/>
                </a:moveTo>
                <a:lnTo>
                  <a:pt x="1402079" y="309371"/>
                </a:lnTo>
                <a:lnTo>
                  <a:pt x="1395345" y="336557"/>
                </a:lnTo>
                <a:lnTo>
                  <a:pt x="1408937" y="339851"/>
                </a:lnTo>
                <a:lnTo>
                  <a:pt x="1408937" y="386185"/>
                </a:lnTo>
                <a:lnTo>
                  <a:pt x="1475231" y="371093"/>
                </a:lnTo>
                <a:close/>
              </a:path>
            </a:pathLst>
          </a:custGeom>
          <a:solidFill>
            <a:srgbClr val="000099"/>
          </a:solidFill>
        </p:spPr>
        <p:txBody>
          <a:bodyPr wrap="square" lIns="0" tIns="0" rIns="0" bIns="0" rtlCol="0"/>
          <a:lstStyle/>
          <a:p>
            <a:endParaRPr/>
          </a:p>
        </p:txBody>
      </p:sp>
      <p:sp>
        <p:nvSpPr>
          <p:cNvPr id="49" name="object 49"/>
          <p:cNvSpPr/>
          <p:nvPr/>
        </p:nvSpPr>
        <p:spPr>
          <a:xfrm>
            <a:off x="5260847" y="3870197"/>
            <a:ext cx="399288" cy="478536"/>
          </a:xfrm>
          <a:prstGeom prst="rect">
            <a:avLst/>
          </a:prstGeom>
          <a:blipFill>
            <a:blip r:embed="rId3" cstate="print"/>
            <a:stretch>
              <a:fillRect/>
            </a:stretch>
          </a:blipFill>
        </p:spPr>
        <p:txBody>
          <a:bodyPr wrap="square" lIns="0" tIns="0" rIns="0" bIns="0" rtlCol="0"/>
          <a:lstStyle/>
          <a:p>
            <a:endParaRPr/>
          </a:p>
        </p:txBody>
      </p:sp>
      <p:sp>
        <p:nvSpPr>
          <p:cNvPr id="50" name="object 50"/>
          <p:cNvSpPr/>
          <p:nvPr/>
        </p:nvSpPr>
        <p:spPr>
          <a:xfrm>
            <a:off x="7370826" y="3496055"/>
            <a:ext cx="690880" cy="568960"/>
          </a:xfrm>
          <a:custGeom>
            <a:avLst/>
            <a:gdLst/>
            <a:ahLst/>
            <a:cxnLst/>
            <a:rect l="l" t="t" r="r" b="b"/>
            <a:pathLst>
              <a:path w="690879" h="568960">
                <a:moveTo>
                  <a:pt x="690371" y="22098"/>
                </a:moveTo>
                <a:lnTo>
                  <a:pt x="672083" y="0"/>
                </a:lnTo>
                <a:lnTo>
                  <a:pt x="0" y="546354"/>
                </a:lnTo>
                <a:lnTo>
                  <a:pt x="18287" y="568452"/>
                </a:lnTo>
                <a:lnTo>
                  <a:pt x="690371" y="22098"/>
                </a:lnTo>
                <a:close/>
              </a:path>
            </a:pathLst>
          </a:custGeom>
          <a:solidFill>
            <a:srgbClr val="008000"/>
          </a:solidFill>
        </p:spPr>
        <p:txBody>
          <a:bodyPr wrap="square" lIns="0" tIns="0" rIns="0" bIns="0" rtlCol="0"/>
          <a:lstStyle/>
          <a:p>
            <a:endParaRPr/>
          </a:p>
        </p:txBody>
      </p:sp>
      <p:sp>
        <p:nvSpPr>
          <p:cNvPr id="51" name="object 51"/>
          <p:cNvSpPr txBox="1"/>
          <p:nvPr/>
        </p:nvSpPr>
        <p:spPr>
          <a:xfrm>
            <a:off x="7083806" y="3681476"/>
            <a:ext cx="455930" cy="25904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8000"/>
                </a:solidFill>
                <a:latin typeface="Arial"/>
                <a:cs typeface="Arial"/>
              </a:rPr>
              <a:t>ack1</a:t>
            </a:r>
            <a:endParaRPr sz="1600" dirty="0">
              <a:latin typeface="Arial"/>
              <a:cs typeface="Arial"/>
            </a:endParaRPr>
          </a:p>
        </p:txBody>
      </p:sp>
      <p:sp>
        <p:nvSpPr>
          <p:cNvPr id="52" name="object 52"/>
          <p:cNvSpPr/>
          <p:nvPr/>
        </p:nvSpPr>
        <p:spPr>
          <a:xfrm>
            <a:off x="7131557" y="4064508"/>
            <a:ext cx="240792" cy="205739"/>
          </a:xfrm>
          <a:prstGeom prst="rect">
            <a:avLst/>
          </a:prstGeom>
          <a:blipFill>
            <a:blip r:embed="rId4" cstate="print"/>
            <a:stretch>
              <a:fillRect/>
            </a:stretch>
          </a:blipFill>
        </p:spPr>
        <p:txBody>
          <a:bodyPr wrap="square" lIns="0" tIns="0" rIns="0" bIns="0" rtlCol="0"/>
          <a:lstStyle/>
          <a:p>
            <a:endParaRPr/>
          </a:p>
        </p:txBody>
      </p:sp>
      <p:sp>
        <p:nvSpPr>
          <p:cNvPr id="53" name="object 53"/>
          <p:cNvSpPr/>
          <p:nvPr/>
        </p:nvSpPr>
        <p:spPr>
          <a:xfrm>
            <a:off x="6482334" y="4040885"/>
            <a:ext cx="918210" cy="750570"/>
          </a:xfrm>
          <a:custGeom>
            <a:avLst/>
            <a:gdLst/>
            <a:ahLst/>
            <a:cxnLst/>
            <a:rect l="l" t="t" r="r" b="b"/>
            <a:pathLst>
              <a:path w="918209" h="750570">
                <a:moveTo>
                  <a:pt x="57410" y="685300"/>
                </a:moveTo>
                <a:lnTo>
                  <a:pt x="39624" y="662940"/>
                </a:lnTo>
                <a:lnTo>
                  <a:pt x="0" y="750570"/>
                </a:lnTo>
                <a:lnTo>
                  <a:pt x="46482" y="740283"/>
                </a:lnTo>
                <a:lnTo>
                  <a:pt x="46482" y="694182"/>
                </a:lnTo>
                <a:lnTo>
                  <a:pt x="57410" y="685300"/>
                </a:lnTo>
                <a:close/>
              </a:path>
              <a:path w="918209" h="750570">
                <a:moveTo>
                  <a:pt x="74968" y="707372"/>
                </a:moveTo>
                <a:lnTo>
                  <a:pt x="57410" y="685300"/>
                </a:lnTo>
                <a:lnTo>
                  <a:pt x="46482" y="694182"/>
                </a:lnTo>
                <a:lnTo>
                  <a:pt x="64008" y="716280"/>
                </a:lnTo>
                <a:lnTo>
                  <a:pt x="74968" y="707372"/>
                </a:lnTo>
                <a:close/>
              </a:path>
              <a:path w="918209" h="750570">
                <a:moveTo>
                  <a:pt x="92964" y="729996"/>
                </a:moveTo>
                <a:lnTo>
                  <a:pt x="74968" y="707372"/>
                </a:lnTo>
                <a:lnTo>
                  <a:pt x="64008" y="716280"/>
                </a:lnTo>
                <a:lnTo>
                  <a:pt x="46482" y="694182"/>
                </a:lnTo>
                <a:lnTo>
                  <a:pt x="46482" y="740283"/>
                </a:lnTo>
                <a:lnTo>
                  <a:pt x="92964" y="729996"/>
                </a:lnTo>
                <a:close/>
              </a:path>
              <a:path w="918209" h="750570">
                <a:moveTo>
                  <a:pt x="918210" y="22098"/>
                </a:moveTo>
                <a:lnTo>
                  <a:pt x="900684" y="0"/>
                </a:lnTo>
                <a:lnTo>
                  <a:pt x="57410" y="685300"/>
                </a:lnTo>
                <a:lnTo>
                  <a:pt x="74968" y="707372"/>
                </a:lnTo>
                <a:lnTo>
                  <a:pt x="918210" y="22098"/>
                </a:lnTo>
                <a:close/>
              </a:path>
            </a:pathLst>
          </a:custGeom>
          <a:solidFill>
            <a:srgbClr val="008000"/>
          </a:solidFill>
        </p:spPr>
        <p:txBody>
          <a:bodyPr wrap="square" lIns="0" tIns="0" rIns="0" bIns="0" rtlCol="0"/>
          <a:lstStyle/>
          <a:p>
            <a:endParaRPr/>
          </a:p>
        </p:txBody>
      </p:sp>
      <p:sp>
        <p:nvSpPr>
          <p:cNvPr id="55" name="object 55"/>
          <p:cNvSpPr/>
          <p:nvPr/>
        </p:nvSpPr>
        <p:spPr>
          <a:xfrm>
            <a:off x="6605778" y="4930139"/>
            <a:ext cx="1475740" cy="392430"/>
          </a:xfrm>
          <a:custGeom>
            <a:avLst/>
            <a:gdLst/>
            <a:ahLst/>
            <a:cxnLst/>
            <a:rect l="l" t="t" r="r" b="b"/>
            <a:pathLst>
              <a:path w="1475740" h="392429">
                <a:moveTo>
                  <a:pt x="80062" y="337269"/>
                </a:moveTo>
                <a:lnTo>
                  <a:pt x="73152" y="309372"/>
                </a:lnTo>
                <a:lnTo>
                  <a:pt x="0" y="371094"/>
                </a:lnTo>
                <a:lnTo>
                  <a:pt x="66293" y="386185"/>
                </a:lnTo>
                <a:lnTo>
                  <a:pt x="66293" y="340614"/>
                </a:lnTo>
                <a:lnTo>
                  <a:pt x="80062" y="337269"/>
                </a:lnTo>
                <a:close/>
              </a:path>
              <a:path w="1475740" h="392429">
                <a:moveTo>
                  <a:pt x="86862" y="364722"/>
                </a:moveTo>
                <a:lnTo>
                  <a:pt x="80062" y="337269"/>
                </a:lnTo>
                <a:lnTo>
                  <a:pt x="66293" y="340614"/>
                </a:lnTo>
                <a:lnTo>
                  <a:pt x="73152" y="368046"/>
                </a:lnTo>
                <a:lnTo>
                  <a:pt x="86862" y="364722"/>
                </a:lnTo>
                <a:close/>
              </a:path>
              <a:path w="1475740" h="392429">
                <a:moveTo>
                  <a:pt x="93726" y="392430"/>
                </a:moveTo>
                <a:lnTo>
                  <a:pt x="86862" y="364722"/>
                </a:lnTo>
                <a:lnTo>
                  <a:pt x="73152" y="368046"/>
                </a:lnTo>
                <a:lnTo>
                  <a:pt x="66293" y="340614"/>
                </a:lnTo>
                <a:lnTo>
                  <a:pt x="66293" y="386185"/>
                </a:lnTo>
                <a:lnTo>
                  <a:pt x="93726" y="392430"/>
                </a:lnTo>
                <a:close/>
              </a:path>
              <a:path w="1475740" h="392429">
                <a:moveTo>
                  <a:pt x="1475232" y="28193"/>
                </a:moveTo>
                <a:lnTo>
                  <a:pt x="1468374" y="0"/>
                </a:lnTo>
                <a:lnTo>
                  <a:pt x="80062" y="337269"/>
                </a:lnTo>
                <a:lnTo>
                  <a:pt x="86862" y="364722"/>
                </a:lnTo>
                <a:lnTo>
                  <a:pt x="1475232" y="28193"/>
                </a:lnTo>
                <a:close/>
              </a:path>
            </a:pathLst>
          </a:custGeom>
          <a:solidFill>
            <a:srgbClr val="008000"/>
          </a:solidFill>
        </p:spPr>
        <p:txBody>
          <a:bodyPr wrap="square" lIns="0" tIns="0" rIns="0" bIns="0" rtlCol="0"/>
          <a:lstStyle/>
          <a:p>
            <a:endParaRPr/>
          </a:p>
        </p:txBody>
      </p:sp>
      <p:sp>
        <p:nvSpPr>
          <p:cNvPr id="57" name="object 57"/>
          <p:cNvSpPr txBox="1"/>
          <p:nvPr/>
        </p:nvSpPr>
        <p:spPr>
          <a:xfrm>
            <a:off x="5305297" y="4044141"/>
            <a:ext cx="1271270" cy="1051570"/>
          </a:xfrm>
          <a:prstGeom prst="rect">
            <a:avLst/>
          </a:prstGeom>
        </p:spPr>
        <p:txBody>
          <a:bodyPr vert="horz" wrap="square" lIns="0" tIns="12700" rIns="0" bIns="0" rtlCol="0">
            <a:spAutoFit/>
          </a:bodyPr>
          <a:lstStyle/>
          <a:p>
            <a:pPr marL="370840">
              <a:lnSpc>
                <a:spcPts val="2000"/>
              </a:lnSpc>
              <a:spcBef>
                <a:spcPts val="100"/>
              </a:spcBef>
            </a:pPr>
            <a:r>
              <a:rPr sz="1900" i="1" dirty="0">
                <a:solidFill>
                  <a:srgbClr val="FF0000"/>
                </a:solidFill>
                <a:latin typeface="Tahoma"/>
                <a:cs typeface="Tahoma"/>
              </a:rPr>
              <a:t>timeout</a:t>
            </a:r>
            <a:endParaRPr sz="1900" dirty="0">
              <a:latin typeface="Tahoma"/>
              <a:cs typeface="Tahoma"/>
            </a:endParaRPr>
          </a:p>
          <a:p>
            <a:pPr marL="12700">
              <a:lnSpc>
                <a:spcPts val="1880"/>
              </a:lnSpc>
            </a:pPr>
            <a:r>
              <a:rPr sz="1800" dirty="0">
                <a:latin typeface="Tahoma"/>
                <a:cs typeface="Tahoma"/>
              </a:rPr>
              <a:t>gửi  lại pkt1</a:t>
            </a:r>
          </a:p>
          <a:p>
            <a:pPr marL="222250" marR="5080" algn="ctr">
              <a:lnSpc>
                <a:spcPts val="1800"/>
              </a:lnSpc>
              <a:spcBef>
                <a:spcPts val="620"/>
              </a:spcBef>
            </a:pPr>
            <a:r>
              <a:rPr sz="1800" dirty="0">
                <a:latin typeface="Tahoma"/>
                <a:cs typeface="Tahoma"/>
              </a:rPr>
              <a:t>nhận ack1  </a:t>
            </a:r>
            <a:r>
              <a:rPr sz="1800" dirty="0" err="1">
                <a:latin typeface="Tahoma"/>
                <a:cs typeface="Tahoma"/>
              </a:rPr>
              <a:t>gửi</a:t>
            </a:r>
            <a:r>
              <a:rPr sz="1800" dirty="0">
                <a:latin typeface="Tahoma"/>
                <a:cs typeface="Tahoma"/>
              </a:rPr>
              <a:t> pkt0</a:t>
            </a:r>
          </a:p>
        </p:txBody>
      </p:sp>
      <p:sp>
        <p:nvSpPr>
          <p:cNvPr id="58" name="object 58"/>
          <p:cNvSpPr/>
          <p:nvPr/>
        </p:nvSpPr>
        <p:spPr>
          <a:xfrm>
            <a:off x="6513576" y="4798314"/>
            <a:ext cx="1551940" cy="430530"/>
          </a:xfrm>
          <a:custGeom>
            <a:avLst/>
            <a:gdLst/>
            <a:ahLst/>
            <a:cxnLst/>
            <a:rect l="l" t="t" r="r" b="b"/>
            <a:pathLst>
              <a:path w="1551940" h="430529">
                <a:moveTo>
                  <a:pt x="1471935" y="375138"/>
                </a:moveTo>
                <a:lnTo>
                  <a:pt x="6857" y="0"/>
                </a:lnTo>
                <a:lnTo>
                  <a:pt x="0" y="27432"/>
                </a:lnTo>
                <a:lnTo>
                  <a:pt x="1464671" y="403414"/>
                </a:lnTo>
                <a:lnTo>
                  <a:pt x="1471935" y="375138"/>
                </a:lnTo>
                <a:close/>
              </a:path>
              <a:path w="1551940" h="430529">
                <a:moveTo>
                  <a:pt x="1485899" y="424570"/>
                </a:moveTo>
                <a:lnTo>
                  <a:pt x="1485899" y="378713"/>
                </a:lnTo>
                <a:lnTo>
                  <a:pt x="1478279" y="406907"/>
                </a:lnTo>
                <a:lnTo>
                  <a:pt x="1464671" y="403414"/>
                </a:lnTo>
                <a:lnTo>
                  <a:pt x="1457705" y="430529"/>
                </a:lnTo>
                <a:lnTo>
                  <a:pt x="1485899" y="424570"/>
                </a:lnTo>
                <a:close/>
              </a:path>
              <a:path w="1551940" h="430529">
                <a:moveTo>
                  <a:pt x="1485899" y="378713"/>
                </a:moveTo>
                <a:lnTo>
                  <a:pt x="1471935" y="375138"/>
                </a:lnTo>
                <a:lnTo>
                  <a:pt x="1464671" y="403414"/>
                </a:lnTo>
                <a:lnTo>
                  <a:pt x="1478279" y="406907"/>
                </a:lnTo>
                <a:lnTo>
                  <a:pt x="1485899" y="378713"/>
                </a:lnTo>
                <a:close/>
              </a:path>
              <a:path w="1551940" h="430529">
                <a:moveTo>
                  <a:pt x="1551431" y="410717"/>
                </a:moveTo>
                <a:lnTo>
                  <a:pt x="1479041" y="347471"/>
                </a:lnTo>
                <a:lnTo>
                  <a:pt x="1471935" y="375138"/>
                </a:lnTo>
                <a:lnTo>
                  <a:pt x="1485899" y="378713"/>
                </a:lnTo>
                <a:lnTo>
                  <a:pt x="1485899" y="424570"/>
                </a:lnTo>
                <a:lnTo>
                  <a:pt x="1551431" y="410717"/>
                </a:lnTo>
                <a:close/>
              </a:path>
            </a:pathLst>
          </a:custGeom>
          <a:solidFill>
            <a:srgbClr val="000099"/>
          </a:solidFill>
        </p:spPr>
        <p:txBody>
          <a:bodyPr wrap="square" lIns="0" tIns="0" rIns="0" bIns="0" rtlCol="0"/>
          <a:lstStyle/>
          <a:p>
            <a:endParaRPr/>
          </a:p>
        </p:txBody>
      </p:sp>
      <p:sp>
        <p:nvSpPr>
          <p:cNvPr id="59" name="object 59"/>
          <p:cNvSpPr/>
          <p:nvPr/>
        </p:nvSpPr>
        <p:spPr>
          <a:xfrm>
            <a:off x="6553200" y="5306042"/>
            <a:ext cx="1475740" cy="392430"/>
          </a:xfrm>
          <a:custGeom>
            <a:avLst/>
            <a:gdLst/>
            <a:ahLst/>
            <a:cxnLst/>
            <a:rect l="l" t="t" r="r" b="b"/>
            <a:pathLst>
              <a:path w="1475740" h="392429">
                <a:moveTo>
                  <a:pt x="80540" y="337152"/>
                </a:moveTo>
                <a:lnTo>
                  <a:pt x="73914" y="309372"/>
                </a:lnTo>
                <a:lnTo>
                  <a:pt x="0" y="371094"/>
                </a:lnTo>
                <a:lnTo>
                  <a:pt x="66293" y="386185"/>
                </a:lnTo>
                <a:lnTo>
                  <a:pt x="66293" y="340614"/>
                </a:lnTo>
                <a:lnTo>
                  <a:pt x="80540" y="337152"/>
                </a:lnTo>
                <a:close/>
              </a:path>
              <a:path w="1475740" h="392429">
                <a:moveTo>
                  <a:pt x="87101" y="364657"/>
                </a:moveTo>
                <a:lnTo>
                  <a:pt x="80540" y="337152"/>
                </a:lnTo>
                <a:lnTo>
                  <a:pt x="66293" y="340614"/>
                </a:lnTo>
                <a:lnTo>
                  <a:pt x="73152" y="368046"/>
                </a:lnTo>
                <a:lnTo>
                  <a:pt x="87101" y="364657"/>
                </a:lnTo>
                <a:close/>
              </a:path>
              <a:path w="1475740" h="392429">
                <a:moveTo>
                  <a:pt x="93726" y="392430"/>
                </a:moveTo>
                <a:lnTo>
                  <a:pt x="87101" y="364657"/>
                </a:lnTo>
                <a:lnTo>
                  <a:pt x="73152" y="368046"/>
                </a:lnTo>
                <a:lnTo>
                  <a:pt x="66293" y="340614"/>
                </a:lnTo>
                <a:lnTo>
                  <a:pt x="66293" y="386185"/>
                </a:lnTo>
                <a:lnTo>
                  <a:pt x="93726" y="392430"/>
                </a:lnTo>
                <a:close/>
              </a:path>
              <a:path w="1475740" h="392429">
                <a:moveTo>
                  <a:pt x="1475232" y="27432"/>
                </a:moveTo>
                <a:lnTo>
                  <a:pt x="1468374" y="0"/>
                </a:lnTo>
                <a:lnTo>
                  <a:pt x="80540" y="337152"/>
                </a:lnTo>
                <a:lnTo>
                  <a:pt x="87101" y="364657"/>
                </a:lnTo>
                <a:lnTo>
                  <a:pt x="1475232" y="27432"/>
                </a:lnTo>
                <a:close/>
              </a:path>
            </a:pathLst>
          </a:custGeom>
          <a:solidFill>
            <a:srgbClr val="008000"/>
          </a:solidFill>
        </p:spPr>
        <p:txBody>
          <a:bodyPr wrap="square" lIns="0" tIns="0" rIns="0" bIns="0" rtlCol="0"/>
          <a:lstStyle/>
          <a:p>
            <a:endParaRPr/>
          </a:p>
        </p:txBody>
      </p:sp>
      <p:sp>
        <p:nvSpPr>
          <p:cNvPr id="60" name="object 60"/>
          <p:cNvSpPr txBox="1"/>
          <p:nvPr/>
        </p:nvSpPr>
        <p:spPr>
          <a:xfrm>
            <a:off x="6770623" y="4270502"/>
            <a:ext cx="1047115" cy="1532214"/>
          </a:xfrm>
          <a:prstGeom prst="rect">
            <a:avLst/>
          </a:prstGeom>
        </p:spPr>
        <p:txBody>
          <a:bodyPr vert="horz" wrap="square" lIns="0" tIns="12700" rIns="0" bIns="0" rtlCol="0">
            <a:spAutoFit/>
          </a:bodyPr>
          <a:lstStyle/>
          <a:p>
            <a:pPr marL="292100">
              <a:lnSpc>
                <a:spcPct val="100000"/>
              </a:lnSpc>
              <a:spcBef>
                <a:spcPts val="100"/>
              </a:spcBef>
            </a:pPr>
            <a:r>
              <a:rPr sz="1600" dirty="0">
                <a:solidFill>
                  <a:srgbClr val="00009A"/>
                </a:solidFill>
                <a:latin typeface="Arial"/>
                <a:cs typeface="Arial"/>
              </a:rPr>
              <a:t>pkt1</a:t>
            </a:r>
            <a:endParaRPr sz="1600" dirty="0">
              <a:latin typeface="Arial"/>
              <a:cs typeface="Arial"/>
            </a:endParaRPr>
          </a:p>
          <a:p>
            <a:pPr marL="12700" marR="384175" indent="257175">
              <a:lnSpc>
                <a:spcPct val="120300"/>
              </a:lnSpc>
              <a:spcBef>
                <a:spcPts val="805"/>
              </a:spcBef>
            </a:pPr>
            <a:r>
              <a:rPr sz="1600" dirty="0">
                <a:solidFill>
                  <a:srgbClr val="00009A"/>
                </a:solidFill>
                <a:latin typeface="Arial"/>
                <a:cs typeface="Arial"/>
              </a:rPr>
              <a:t>pkt</a:t>
            </a:r>
            <a:r>
              <a:rPr lang="en-US" sz="1600" dirty="0">
                <a:solidFill>
                  <a:srgbClr val="00009A"/>
                </a:solidFill>
                <a:latin typeface="Arial"/>
                <a:cs typeface="Arial"/>
              </a:rPr>
              <a:t>0</a:t>
            </a:r>
            <a:r>
              <a:rPr sz="1600" dirty="0">
                <a:solidFill>
                  <a:srgbClr val="00009A"/>
                </a:solidFill>
                <a:latin typeface="Arial"/>
                <a:cs typeface="Arial"/>
              </a:rPr>
              <a:t>  </a:t>
            </a:r>
            <a:r>
              <a:rPr sz="1600" dirty="0">
                <a:solidFill>
                  <a:srgbClr val="008000"/>
                </a:solidFill>
                <a:latin typeface="Arial"/>
                <a:cs typeface="Arial"/>
              </a:rPr>
              <a:t>ack1</a:t>
            </a:r>
            <a:endParaRPr sz="1600" dirty="0">
              <a:latin typeface="Arial"/>
              <a:cs typeface="Arial"/>
            </a:endParaRPr>
          </a:p>
          <a:p>
            <a:pPr marL="346075">
              <a:lnSpc>
                <a:spcPts val="1820"/>
              </a:lnSpc>
            </a:pPr>
            <a:r>
              <a:rPr sz="1600" dirty="0">
                <a:solidFill>
                  <a:srgbClr val="008000"/>
                </a:solidFill>
                <a:latin typeface="Arial"/>
                <a:cs typeface="Arial"/>
              </a:rPr>
              <a:t>ack0</a:t>
            </a:r>
            <a:endParaRPr sz="1600" dirty="0">
              <a:latin typeface="Arial"/>
              <a:cs typeface="Arial"/>
            </a:endParaRPr>
          </a:p>
          <a:p>
            <a:pPr marL="269875">
              <a:lnSpc>
                <a:spcPct val="100000"/>
              </a:lnSpc>
              <a:spcBef>
                <a:spcPts val="770"/>
              </a:spcBef>
            </a:pPr>
            <a:endParaRPr sz="1600" dirty="0">
              <a:latin typeface="Arial"/>
              <a:cs typeface="Arial"/>
            </a:endParaRPr>
          </a:p>
        </p:txBody>
      </p:sp>
      <p:sp>
        <p:nvSpPr>
          <p:cNvPr id="61" name="object 61"/>
          <p:cNvSpPr txBox="1"/>
          <p:nvPr/>
        </p:nvSpPr>
        <p:spPr>
          <a:xfrm>
            <a:off x="8055356" y="4786376"/>
            <a:ext cx="1659255" cy="752385"/>
          </a:xfrm>
          <a:prstGeom prst="rect">
            <a:avLst/>
          </a:prstGeom>
        </p:spPr>
        <p:txBody>
          <a:bodyPr vert="horz" wrap="square" lIns="0" tIns="12700" rIns="0" bIns="0" rtlCol="0">
            <a:spAutoFit/>
          </a:bodyPr>
          <a:lstStyle/>
          <a:p>
            <a:pPr marL="83820" indent="184785">
              <a:lnSpc>
                <a:spcPts val="2140"/>
              </a:lnSpc>
              <a:spcBef>
                <a:spcPts val="100"/>
              </a:spcBef>
            </a:pPr>
            <a:r>
              <a:rPr sz="1800" dirty="0">
                <a:latin typeface="Tahoma"/>
                <a:cs typeface="Tahoma"/>
              </a:rPr>
              <a:t>gửi ack1</a:t>
            </a:r>
          </a:p>
          <a:p>
            <a:pPr marL="255904" marR="542290" indent="-172720">
              <a:lnSpc>
                <a:spcPct val="71100"/>
              </a:lnSpc>
              <a:spcBef>
                <a:spcPts val="605"/>
              </a:spcBef>
            </a:pPr>
            <a:r>
              <a:rPr sz="1800" dirty="0">
                <a:latin typeface="Tahoma"/>
                <a:cs typeface="Tahoma"/>
              </a:rPr>
              <a:t>nhận pkt0  </a:t>
            </a:r>
            <a:r>
              <a:rPr sz="1800" dirty="0" err="1">
                <a:latin typeface="Tahoma"/>
                <a:cs typeface="Tahoma"/>
              </a:rPr>
              <a:t>gửi</a:t>
            </a:r>
            <a:r>
              <a:rPr sz="1800" dirty="0">
                <a:latin typeface="Tahoma"/>
                <a:cs typeface="Tahoma"/>
              </a:rPr>
              <a:t> ack0</a:t>
            </a:r>
          </a:p>
        </p:txBody>
      </p:sp>
      <p:sp>
        <p:nvSpPr>
          <p:cNvPr id="63" name="Slide Number Placeholder 62"/>
          <p:cNvSpPr>
            <a:spLocks noGrp="1"/>
          </p:cNvSpPr>
          <p:nvPr>
            <p:ph type="sldNum" sz="quarter" idx="7"/>
          </p:nvPr>
        </p:nvSpPr>
        <p:spPr/>
        <p:txBody>
          <a:bodyPr/>
          <a:lstStyle/>
          <a:p>
            <a:pPr marL="12700">
              <a:lnSpc>
                <a:spcPts val="1645"/>
              </a:lnSpc>
            </a:pPr>
            <a:fld id="{81D60167-4931-47E6-BA6A-407CBD079E47}" type="slidenum">
              <a:rPr lang="en-US" spc="-5" smtClean="0"/>
              <a:t>32</a:t>
            </a:fld>
            <a:endParaRPr lang="en-US" spc="-5" dirty="0"/>
          </a:p>
        </p:txBody>
      </p:sp>
      <p:sp>
        <p:nvSpPr>
          <p:cNvPr id="62" name="TextBox 61"/>
          <p:cNvSpPr txBox="1"/>
          <p:nvPr/>
        </p:nvSpPr>
        <p:spPr>
          <a:xfrm>
            <a:off x="4969907" y="5081565"/>
            <a:ext cx="1849467" cy="738664"/>
          </a:xfrm>
          <a:prstGeom prst="rect">
            <a:avLst/>
          </a:prstGeom>
          <a:noFill/>
        </p:spPr>
        <p:txBody>
          <a:bodyPr wrap="square" rtlCol="0">
            <a:spAutoFit/>
          </a:bodyPr>
          <a:lstStyle/>
          <a:p>
            <a:r>
              <a:rPr lang="en-US" dirty="0" err="1">
                <a:latin typeface="Tahoma"/>
                <a:cs typeface="Tahoma"/>
              </a:rPr>
              <a:t>nhận</a:t>
            </a:r>
            <a:r>
              <a:rPr lang="en-US" dirty="0">
                <a:latin typeface="Tahoma"/>
                <a:cs typeface="Tahoma"/>
              </a:rPr>
              <a:t> ack1 </a:t>
            </a:r>
            <a:r>
              <a:rPr lang="en-US" sz="1200" dirty="0">
                <a:latin typeface="Tahoma"/>
                <a:cs typeface="Tahoma"/>
              </a:rPr>
              <a:t>(</a:t>
            </a:r>
            <a:r>
              <a:rPr lang="en-US" sz="1200" dirty="0" err="1">
                <a:latin typeface="Tahoma"/>
                <a:cs typeface="Tahoma"/>
              </a:rPr>
              <a:t>phát</a:t>
            </a:r>
            <a:r>
              <a:rPr lang="en-US" sz="1200" dirty="0">
                <a:latin typeface="Tahoma"/>
                <a:cs typeface="Tahoma"/>
              </a:rPr>
              <a:t> </a:t>
            </a:r>
            <a:r>
              <a:rPr lang="en-US" sz="1200" dirty="0" err="1">
                <a:latin typeface="Tahoma"/>
                <a:cs typeface="Tahoma"/>
              </a:rPr>
              <a:t>hiện</a:t>
            </a:r>
            <a:r>
              <a:rPr lang="en-US" sz="1200" dirty="0">
                <a:latin typeface="Tahoma"/>
                <a:cs typeface="Tahoma"/>
              </a:rPr>
              <a:t> </a:t>
            </a:r>
            <a:r>
              <a:rPr lang="en-US" sz="1200" dirty="0" err="1">
                <a:latin typeface="Tahoma"/>
                <a:cs typeface="Tahoma"/>
              </a:rPr>
              <a:t>trùng</a:t>
            </a:r>
            <a:r>
              <a:rPr lang="en-US" sz="1200" dirty="0">
                <a:latin typeface="Tahoma"/>
                <a:cs typeface="Tahoma"/>
              </a:rPr>
              <a:t> </a:t>
            </a:r>
            <a:r>
              <a:rPr lang="en-US" sz="1200" dirty="0" err="1">
                <a:latin typeface="Tahoma"/>
                <a:cs typeface="Tahoma"/>
              </a:rPr>
              <a:t>lặp</a:t>
            </a:r>
            <a:r>
              <a:rPr lang="en-US" sz="1200" dirty="0">
                <a:latin typeface="Tahoma"/>
                <a:cs typeface="Tahoma"/>
              </a:rPr>
              <a:t> ack1 &gt; </a:t>
            </a:r>
            <a:r>
              <a:rPr lang="en-US" sz="1200" dirty="0" err="1">
                <a:latin typeface="Tahoma"/>
                <a:cs typeface="Tahoma"/>
              </a:rPr>
              <a:t>bỏ</a:t>
            </a:r>
            <a:r>
              <a:rPr lang="en-US" sz="1200" dirty="0">
                <a:latin typeface="Tahoma"/>
                <a:cs typeface="Tahoma"/>
              </a:rPr>
              <a:t> qua)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US" dirty="0" err="1"/>
              <a:t>Truyền</a:t>
            </a:r>
            <a:r>
              <a:rPr lang="en-US" dirty="0"/>
              <a:t> </a:t>
            </a:r>
            <a:r>
              <a:rPr lang="en-US" dirty="0" err="1"/>
              <a:t>theo</a:t>
            </a:r>
            <a:r>
              <a:rPr lang="en-US" dirty="0"/>
              <a:t> </a:t>
            </a:r>
            <a:r>
              <a:rPr lang="en-US" dirty="0" err="1"/>
              <a:t>kiểu</a:t>
            </a:r>
            <a:r>
              <a:rPr lang="en-US" dirty="0"/>
              <a:t> pipeline</a:t>
            </a:r>
          </a:p>
        </p:txBody>
      </p:sp>
      <p:pic>
        <p:nvPicPr>
          <p:cNvPr id="5" name="Picture 4"/>
          <p:cNvPicPr>
            <a:picLocks noChangeAspect="1"/>
          </p:cNvPicPr>
          <p:nvPr/>
        </p:nvPicPr>
        <p:blipFill>
          <a:blip r:embed="rId3"/>
          <a:stretch>
            <a:fillRect/>
          </a:stretch>
        </p:blipFill>
        <p:spPr>
          <a:xfrm>
            <a:off x="484629" y="1436128"/>
            <a:ext cx="9049260" cy="3048000"/>
          </a:xfrm>
          <a:prstGeom prst="rect">
            <a:avLst/>
          </a:prstGeom>
        </p:spPr>
      </p:pic>
      <p:sp>
        <p:nvSpPr>
          <p:cNvPr id="6" name="object 4"/>
          <p:cNvSpPr txBox="1"/>
          <p:nvPr/>
        </p:nvSpPr>
        <p:spPr>
          <a:xfrm>
            <a:off x="914400" y="4876800"/>
            <a:ext cx="8763000" cy="1877437"/>
          </a:xfrm>
          <a:prstGeom prst="rect">
            <a:avLst/>
          </a:prstGeom>
        </p:spPr>
        <p:txBody>
          <a:bodyPr vert="horz" wrap="square" lIns="0" tIns="12700" rIns="0" bIns="0" rtlCol="0">
            <a:spAutoFit/>
          </a:bodyPr>
          <a:lstStyle/>
          <a:p>
            <a:pPr marL="355600" marR="5080" indent="-342900">
              <a:spcBef>
                <a:spcPts val="100"/>
              </a:spcBef>
              <a:buClr>
                <a:srgbClr val="3333CC"/>
              </a:buClr>
              <a:buSzPct val="83333"/>
              <a:buFont typeface="Wingdings"/>
              <a:buChar char=""/>
              <a:tabLst>
                <a:tab pos="355600" algn="l"/>
              </a:tabLst>
            </a:pPr>
            <a:r>
              <a:rPr lang="vi-VN" sz="2400" spc="-5" dirty="0">
                <a:latin typeface="Arial"/>
                <a:cs typeface="Arial"/>
              </a:rPr>
              <a:t>Giao thức được xử lý liên tục (Pipelined protocols):  bên gửi cho phép nhiều gói tin chưa được ACK</a:t>
            </a:r>
          </a:p>
          <a:p>
            <a:pPr marL="755650" indent="-285750">
              <a:lnSpc>
                <a:spcPct val="100000"/>
              </a:lnSpc>
              <a:spcBef>
                <a:spcPts val="489"/>
              </a:spcBef>
              <a:buClr>
                <a:srgbClr val="3333CC"/>
              </a:buClr>
              <a:buSzPct val="75000"/>
              <a:buFont typeface="Wingdings"/>
              <a:buChar char=""/>
              <a:tabLst>
                <a:tab pos="755650" algn="l"/>
              </a:tabLst>
            </a:pPr>
            <a:r>
              <a:rPr lang="vi-VN" sz="2000" spc="-5" dirty="0">
                <a:latin typeface="Arial"/>
                <a:cs typeface="Arial"/>
              </a:rPr>
              <a:t>cần tăng dải </a:t>
            </a:r>
            <a:r>
              <a:rPr lang="vi-VN" sz="2000" spc="-10" dirty="0">
                <a:latin typeface="Arial"/>
                <a:cs typeface="Arial"/>
              </a:rPr>
              <a:t>sequence</a:t>
            </a:r>
            <a:r>
              <a:rPr lang="vi-VN" sz="2000" spc="-5" dirty="0">
                <a:latin typeface="Arial"/>
                <a:cs typeface="Arial"/>
              </a:rPr>
              <a:t> </a:t>
            </a:r>
            <a:r>
              <a:rPr lang="vi-VN" sz="2000" spc="-10" dirty="0">
                <a:latin typeface="Arial"/>
                <a:cs typeface="Arial"/>
              </a:rPr>
              <a:t>number</a:t>
            </a:r>
            <a:endParaRPr lang="vi-VN" sz="2000" dirty="0">
              <a:latin typeface="Arial"/>
              <a:cs typeface="Arial"/>
            </a:endParaRPr>
          </a:p>
          <a:p>
            <a:pPr marL="755650" indent="-285750">
              <a:lnSpc>
                <a:spcPct val="100000"/>
              </a:lnSpc>
              <a:spcBef>
                <a:spcPts val="480"/>
              </a:spcBef>
              <a:buClr>
                <a:srgbClr val="3333CC"/>
              </a:buClr>
              <a:buSzPct val="75000"/>
              <a:buFont typeface="Wingdings"/>
              <a:buChar char=""/>
              <a:tabLst>
                <a:tab pos="755650" algn="l"/>
              </a:tabLst>
            </a:pPr>
            <a:r>
              <a:rPr lang="vi-VN" sz="2000" spc="-5" dirty="0">
                <a:latin typeface="Arial"/>
                <a:cs typeface="Arial"/>
              </a:rPr>
              <a:t>vùng đệm tại bên gửi và bên</a:t>
            </a:r>
            <a:r>
              <a:rPr lang="vi-VN" sz="2000" spc="-20" dirty="0">
                <a:latin typeface="Arial"/>
                <a:cs typeface="Arial"/>
              </a:rPr>
              <a:t> </a:t>
            </a:r>
            <a:r>
              <a:rPr lang="vi-VN" sz="2000" spc="-10" dirty="0">
                <a:latin typeface="Arial"/>
                <a:cs typeface="Arial"/>
              </a:rPr>
              <a:t>nhận</a:t>
            </a:r>
            <a:endParaRPr lang="en-US" sz="2400" spc="-5" dirty="0">
              <a:latin typeface="Arial"/>
              <a:cs typeface="Arial"/>
            </a:endParaRPr>
          </a:p>
          <a:p>
            <a:pPr marL="355600" marR="5080" indent="-342900">
              <a:lnSpc>
                <a:spcPct val="100000"/>
              </a:lnSpc>
              <a:spcBef>
                <a:spcPts val="100"/>
              </a:spcBef>
              <a:buClr>
                <a:srgbClr val="3333CC"/>
              </a:buClr>
              <a:buSzPct val="83333"/>
              <a:buFont typeface="Wingdings"/>
              <a:buChar char=""/>
              <a:tabLst>
                <a:tab pos="355600" algn="l"/>
              </a:tabLst>
            </a:pPr>
            <a:r>
              <a:rPr sz="2400" spc="-5" dirty="0" err="1">
                <a:latin typeface="Arial"/>
                <a:cs typeface="Arial"/>
              </a:rPr>
              <a:t>Hai</a:t>
            </a:r>
            <a:r>
              <a:rPr sz="2400" spc="-5" dirty="0">
                <a:latin typeface="Arial"/>
                <a:cs typeface="Arial"/>
              </a:rPr>
              <a:t> </a:t>
            </a:r>
            <a:r>
              <a:rPr sz="2400" spc="-5" dirty="0" err="1">
                <a:latin typeface="Arial"/>
                <a:cs typeface="Arial"/>
              </a:rPr>
              <a:t>dạng</a:t>
            </a:r>
            <a:r>
              <a:rPr sz="2400" spc="-5" dirty="0">
                <a:latin typeface="Arial"/>
                <a:cs typeface="Arial"/>
              </a:rPr>
              <a:t> </a:t>
            </a:r>
            <a:r>
              <a:rPr sz="2400" spc="-5" dirty="0" err="1">
                <a:latin typeface="Arial"/>
                <a:cs typeface="Arial"/>
              </a:rPr>
              <a:t>của</a:t>
            </a:r>
            <a:r>
              <a:rPr sz="2400" spc="-5" dirty="0">
                <a:latin typeface="Arial"/>
                <a:cs typeface="Arial"/>
              </a:rPr>
              <a:t> pipelined protocols: </a:t>
            </a:r>
            <a:r>
              <a:rPr sz="2400" i="1" spc="-5" dirty="0">
                <a:solidFill>
                  <a:srgbClr val="CC0000"/>
                </a:solidFill>
                <a:latin typeface="Arial"/>
                <a:cs typeface="Arial"/>
              </a:rPr>
              <a:t>go-Back-N, selective repeat</a:t>
            </a:r>
            <a:endParaRPr sz="2400" dirty="0">
              <a:latin typeface="Arial"/>
              <a:cs typeface="Arial"/>
            </a:endParaRPr>
          </a:p>
        </p:txBody>
      </p:sp>
      <p:sp>
        <p:nvSpPr>
          <p:cNvPr id="3" name="Slide Number Placeholder 2"/>
          <p:cNvSpPr>
            <a:spLocks noGrp="1"/>
          </p:cNvSpPr>
          <p:nvPr>
            <p:ph type="sldNum" sz="quarter" idx="7"/>
          </p:nvPr>
        </p:nvSpPr>
        <p:spPr/>
        <p:txBody>
          <a:bodyPr/>
          <a:lstStyle/>
          <a:p>
            <a:pPr marL="12700">
              <a:lnSpc>
                <a:spcPts val="1645"/>
              </a:lnSpc>
            </a:pPr>
            <a:fld id="{81D60167-4931-47E6-BA6A-407CBD079E47}" type="slidenum">
              <a:rPr lang="en-US" spc="-5" smtClean="0"/>
              <a:t>33</a:t>
            </a:fld>
            <a:endParaRPr lang="en-US" spc="-5" dirty="0"/>
          </a:p>
        </p:txBody>
      </p:sp>
    </p:spTree>
    <p:extLst>
      <p:ext uri="{BB962C8B-B14F-4D97-AF65-F5344CB8AC3E}">
        <p14:creationId xmlns:p14="http://schemas.microsoft.com/office/powerpoint/2010/main" val="1393393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8" y="924559"/>
            <a:ext cx="8989061" cy="566822"/>
          </a:xfrm>
          <a:prstGeom prst="rect">
            <a:avLst/>
          </a:prstGeom>
        </p:spPr>
        <p:txBody>
          <a:bodyPr vert="horz" wrap="square" lIns="0" tIns="12700" rIns="0" bIns="0" rtlCol="0">
            <a:spAutoFit/>
          </a:bodyPr>
          <a:lstStyle/>
          <a:p>
            <a:pPr marL="12700">
              <a:lnSpc>
                <a:spcPct val="100000"/>
              </a:lnSpc>
              <a:spcBef>
                <a:spcPts val="100"/>
              </a:spcBef>
            </a:pPr>
            <a:r>
              <a:rPr lang="en-US" spc="-5" dirty="0" err="1"/>
              <a:t>Hiệu</a:t>
            </a:r>
            <a:r>
              <a:rPr lang="en-US" spc="-5" dirty="0"/>
              <a:t> </a:t>
            </a:r>
            <a:r>
              <a:rPr lang="en-US" spc="-5" dirty="0" err="1"/>
              <a:t>năng</a:t>
            </a:r>
            <a:r>
              <a:rPr lang="en-US" spc="-5" dirty="0"/>
              <a:t> </a:t>
            </a:r>
            <a:r>
              <a:rPr lang="en-US" spc="-5" dirty="0" err="1"/>
              <a:t>của</a:t>
            </a:r>
            <a:r>
              <a:rPr lang="en-US" spc="-5" dirty="0"/>
              <a:t> </a:t>
            </a:r>
            <a:r>
              <a:rPr lang="en-US" spc="-5" dirty="0" err="1"/>
              <a:t>kiểu</a:t>
            </a:r>
            <a:r>
              <a:rPr lang="en-US" spc="-5" dirty="0"/>
              <a:t> </a:t>
            </a:r>
            <a:r>
              <a:rPr dirty="0" err="1"/>
              <a:t>xử</a:t>
            </a:r>
            <a:r>
              <a:rPr dirty="0"/>
              <a:t> </a:t>
            </a:r>
            <a:r>
              <a:rPr spc="-5" dirty="0"/>
              <a:t>lý</a:t>
            </a:r>
            <a:r>
              <a:rPr spc="-90" dirty="0"/>
              <a:t> </a:t>
            </a:r>
            <a:r>
              <a:rPr dirty="0"/>
              <a:t>stop-and-wait</a:t>
            </a:r>
          </a:p>
        </p:txBody>
      </p:sp>
      <p:sp>
        <p:nvSpPr>
          <p:cNvPr id="3" name="object 3"/>
          <p:cNvSpPr/>
          <p:nvPr/>
        </p:nvSpPr>
        <p:spPr>
          <a:xfrm>
            <a:off x="4013453" y="2455164"/>
            <a:ext cx="2231390" cy="931544"/>
          </a:xfrm>
          <a:custGeom>
            <a:avLst/>
            <a:gdLst/>
            <a:ahLst/>
            <a:cxnLst/>
            <a:rect l="l" t="t" r="r" b="b"/>
            <a:pathLst>
              <a:path w="2231390" h="931545">
                <a:moveTo>
                  <a:pt x="2231136" y="922019"/>
                </a:moveTo>
                <a:lnTo>
                  <a:pt x="3810" y="0"/>
                </a:lnTo>
                <a:lnTo>
                  <a:pt x="0" y="8382"/>
                </a:lnTo>
                <a:lnTo>
                  <a:pt x="2227326" y="931163"/>
                </a:lnTo>
                <a:lnTo>
                  <a:pt x="2231136" y="922019"/>
                </a:lnTo>
                <a:close/>
              </a:path>
            </a:pathLst>
          </a:custGeom>
          <a:solidFill>
            <a:srgbClr val="000000"/>
          </a:solidFill>
        </p:spPr>
        <p:txBody>
          <a:bodyPr wrap="square" lIns="0" tIns="0" rIns="0" bIns="0" rtlCol="0"/>
          <a:lstStyle/>
          <a:p>
            <a:endParaRPr/>
          </a:p>
        </p:txBody>
      </p:sp>
      <p:sp>
        <p:nvSpPr>
          <p:cNvPr id="4" name="object 4"/>
          <p:cNvSpPr/>
          <p:nvPr/>
        </p:nvSpPr>
        <p:spPr>
          <a:xfrm>
            <a:off x="3989070" y="2240279"/>
            <a:ext cx="76200" cy="2913380"/>
          </a:xfrm>
          <a:custGeom>
            <a:avLst/>
            <a:gdLst/>
            <a:ahLst/>
            <a:cxnLst/>
            <a:rect l="l" t="t" r="r" b="b"/>
            <a:pathLst>
              <a:path w="76200" h="2913379">
                <a:moveTo>
                  <a:pt x="42672" y="2905350"/>
                </a:moveTo>
                <a:lnTo>
                  <a:pt x="42672" y="2849880"/>
                </a:lnTo>
                <a:lnTo>
                  <a:pt x="33528" y="2849880"/>
                </a:lnTo>
                <a:lnTo>
                  <a:pt x="33420" y="2836926"/>
                </a:lnTo>
                <a:lnTo>
                  <a:pt x="0" y="2836926"/>
                </a:lnTo>
                <a:lnTo>
                  <a:pt x="38862" y="2913126"/>
                </a:lnTo>
                <a:lnTo>
                  <a:pt x="42672" y="2905350"/>
                </a:lnTo>
                <a:close/>
              </a:path>
              <a:path w="76200" h="2913379">
                <a:moveTo>
                  <a:pt x="42568" y="2836926"/>
                </a:moveTo>
                <a:lnTo>
                  <a:pt x="19812" y="0"/>
                </a:lnTo>
                <a:lnTo>
                  <a:pt x="9906" y="0"/>
                </a:lnTo>
                <a:lnTo>
                  <a:pt x="33420" y="2836926"/>
                </a:lnTo>
                <a:lnTo>
                  <a:pt x="42568" y="2836926"/>
                </a:lnTo>
                <a:close/>
              </a:path>
              <a:path w="76200" h="2913379">
                <a:moveTo>
                  <a:pt x="42672" y="2849880"/>
                </a:moveTo>
                <a:lnTo>
                  <a:pt x="42568" y="2836926"/>
                </a:lnTo>
                <a:lnTo>
                  <a:pt x="33420" y="2836926"/>
                </a:lnTo>
                <a:lnTo>
                  <a:pt x="33528" y="2849880"/>
                </a:lnTo>
                <a:lnTo>
                  <a:pt x="42672" y="2849880"/>
                </a:lnTo>
                <a:close/>
              </a:path>
              <a:path w="76200" h="2913379">
                <a:moveTo>
                  <a:pt x="76200" y="2836926"/>
                </a:moveTo>
                <a:lnTo>
                  <a:pt x="42568" y="2836926"/>
                </a:lnTo>
                <a:lnTo>
                  <a:pt x="42672" y="2905350"/>
                </a:lnTo>
                <a:lnTo>
                  <a:pt x="76200" y="2836926"/>
                </a:lnTo>
                <a:close/>
              </a:path>
            </a:pathLst>
          </a:custGeom>
          <a:solidFill>
            <a:srgbClr val="000000"/>
          </a:solidFill>
        </p:spPr>
        <p:txBody>
          <a:bodyPr wrap="square" lIns="0" tIns="0" rIns="0" bIns="0" rtlCol="0"/>
          <a:lstStyle/>
          <a:p>
            <a:endParaRPr/>
          </a:p>
        </p:txBody>
      </p:sp>
      <p:sp>
        <p:nvSpPr>
          <p:cNvPr id="5" name="object 5"/>
          <p:cNvSpPr/>
          <p:nvPr/>
        </p:nvSpPr>
        <p:spPr>
          <a:xfrm>
            <a:off x="6214871" y="2253233"/>
            <a:ext cx="76200" cy="2890520"/>
          </a:xfrm>
          <a:custGeom>
            <a:avLst/>
            <a:gdLst/>
            <a:ahLst/>
            <a:cxnLst/>
            <a:rect l="l" t="t" r="r" b="b"/>
            <a:pathLst>
              <a:path w="76200" h="2890520">
                <a:moveTo>
                  <a:pt x="42672" y="2882490"/>
                </a:moveTo>
                <a:lnTo>
                  <a:pt x="42672" y="2827020"/>
                </a:lnTo>
                <a:lnTo>
                  <a:pt x="33528" y="2827020"/>
                </a:lnTo>
                <a:lnTo>
                  <a:pt x="33430" y="2814493"/>
                </a:lnTo>
                <a:lnTo>
                  <a:pt x="0" y="2814828"/>
                </a:lnTo>
                <a:lnTo>
                  <a:pt x="38862" y="2890266"/>
                </a:lnTo>
                <a:lnTo>
                  <a:pt x="42672" y="2882490"/>
                </a:lnTo>
                <a:close/>
              </a:path>
              <a:path w="76200" h="2890520">
                <a:moveTo>
                  <a:pt x="42576" y="2814402"/>
                </a:moveTo>
                <a:lnTo>
                  <a:pt x="21336" y="0"/>
                </a:lnTo>
                <a:lnTo>
                  <a:pt x="11430" y="0"/>
                </a:lnTo>
                <a:lnTo>
                  <a:pt x="33430" y="2814493"/>
                </a:lnTo>
                <a:lnTo>
                  <a:pt x="42576" y="2814402"/>
                </a:lnTo>
                <a:close/>
              </a:path>
              <a:path w="76200" h="2890520">
                <a:moveTo>
                  <a:pt x="42672" y="2827020"/>
                </a:moveTo>
                <a:lnTo>
                  <a:pt x="42576" y="2814402"/>
                </a:lnTo>
                <a:lnTo>
                  <a:pt x="33430" y="2814493"/>
                </a:lnTo>
                <a:lnTo>
                  <a:pt x="33528" y="2827020"/>
                </a:lnTo>
                <a:lnTo>
                  <a:pt x="42672" y="2827020"/>
                </a:lnTo>
                <a:close/>
              </a:path>
              <a:path w="76200" h="2890520">
                <a:moveTo>
                  <a:pt x="76200" y="2814066"/>
                </a:moveTo>
                <a:lnTo>
                  <a:pt x="42576" y="2814402"/>
                </a:lnTo>
                <a:lnTo>
                  <a:pt x="42672" y="2882490"/>
                </a:lnTo>
                <a:lnTo>
                  <a:pt x="76200" y="2814066"/>
                </a:lnTo>
                <a:close/>
              </a:path>
            </a:pathLst>
          </a:custGeom>
          <a:solidFill>
            <a:srgbClr val="000000"/>
          </a:solidFill>
        </p:spPr>
        <p:txBody>
          <a:bodyPr wrap="square" lIns="0" tIns="0" rIns="0" bIns="0" rtlCol="0"/>
          <a:lstStyle/>
          <a:p>
            <a:endParaRPr/>
          </a:p>
        </p:txBody>
      </p:sp>
      <p:sp>
        <p:nvSpPr>
          <p:cNvPr id="6" name="object 6"/>
          <p:cNvSpPr/>
          <p:nvPr/>
        </p:nvSpPr>
        <p:spPr>
          <a:xfrm>
            <a:off x="3475482" y="1840229"/>
            <a:ext cx="1232535" cy="414655"/>
          </a:xfrm>
          <a:custGeom>
            <a:avLst/>
            <a:gdLst/>
            <a:ahLst/>
            <a:cxnLst/>
            <a:rect l="l" t="t" r="r" b="b"/>
            <a:pathLst>
              <a:path w="1232535" h="414655">
                <a:moveTo>
                  <a:pt x="0" y="0"/>
                </a:moveTo>
                <a:lnTo>
                  <a:pt x="0" y="414528"/>
                </a:lnTo>
                <a:lnTo>
                  <a:pt x="1232153" y="414528"/>
                </a:lnTo>
                <a:lnTo>
                  <a:pt x="1232153" y="0"/>
                </a:lnTo>
                <a:lnTo>
                  <a:pt x="0" y="0"/>
                </a:lnTo>
                <a:close/>
              </a:path>
            </a:pathLst>
          </a:custGeom>
          <a:solidFill>
            <a:srgbClr val="FFFFFF"/>
          </a:solidFill>
        </p:spPr>
        <p:txBody>
          <a:bodyPr wrap="square" lIns="0" tIns="0" rIns="0" bIns="0" rtlCol="0"/>
          <a:lstStyle/>
          <a:p>
            <a:endParaRPr/>
          </a:p>
        </p:txBody>
      </p:sp>
      <p:sp>
        <p:nvSpPr>
          <p:cNvPr id="7" name="object 7"/>
          <p:cNvSpPr/>
          <p:nvPr/>
        </p:nvSpPr>
        <p:spPr>
          <a:xfrm>
            <a:off x="40325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8" name="object 8"/>
          <p:cNvSpPr/>
          <p:nvPr/>
        </p:nvSpPr>
        <p:spPr>
          <a:xfrm>
            <a:off x="40995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9" name="object 9"/>
          <p:cNvSpPr/>
          <p:nvPr/>
        </p:nvSpPr>
        <p:spPr>
          <a:xfrm>
            <a:off x="41658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0" name="object 10"/>
          <p:cNvSpPr/>
          <p:nvPr/>
        </p:nvSpPr>
        <p:spPr>
          <a:xfrm>
            <a:off x="42329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1" name="object 11"/>
          <p:cNvSpPr/>
          <p:nvPr/>
        </p:nvSpPr>
        <p:spPr>
          <a:xfrm>
            <a:off x="42992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2" name="object 12"/>
          <p:cNvSpPr/>
          <p:nvPr/>
        </p:nvSpPr>
        <p:spPr>
          <a:xfrm>
            <a:off x="43662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3" name="object 13"/>
          <p:cNvSpPr/>
          <p:nvPr/>
        </p:nvSpPr>
        <p:spPr>
          <a:xfrm>
            <a:off x="44325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4" name="object 14"/>
          <p:cNvSpPr/>
          <p:nvPr/>
        </p:nvSpPr>
        <p:spPr>
          <a:xfrm>
            <a:off x="44996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5" name="object 15"/>
          <p:cNvSpPr/>
          <p:nvPr/>
        </p:nvSpPr>
        <p:spPr>
          <a:xfrm>
            <a:off x="45659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6" name="object 16"/>
          <p:cNvSpPr/>
          <p:nvPr/>
        </p:nvSpPr>
        <p:spPr>
          <a:xfrm>
            <a:off x="46329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7" name="object 17"/>
          <p:cNvSpPr/>
          <p:nvPr/>
        </p:nvSpPr>
        <p:spPr>
          <a:xfrm>
            <a:off x="46992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8" name="object 18"/>
          <p:cNvSpPr/>
          <p:nvPr/>
        </p:nvSpPr>
        <p:spPr>
          <a:xfrm>
            <a:off x="47663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9" name="object 19"/>
          <p:cNvSpPr/>
          <p:nvPr/>
        </p:nvSpPr>
        <p:spPr>
          <a:xfrm>
            <a:off x="48326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0" name="object 20"/>
          <p:cNvSpPr/>
          <p:nvPr/>
        </p:nvSpPr>
        <p:spPr>
          <a:xfrm>
            <a:off x="48996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1" name="object 21"/>
          <p:cNvSpPr/>
          <p:nvPr/>
        </p:nvSpPr>
        <p:spPr>
          <a:xfrm>
            <a:off x="49659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2" name="object 22"/>
          <p:cNvSpPr/>
          <p:nvPr/>
        </p:nvSpPr>
        <p:spPr>
          <a:xfrm>
            <a:off x="50330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3" name="object 23"/>
          <p:cNvSpPr/>
          <p:nvPr/>
        </p:nvSpPr>
        <p:spPr>
          <a:xfrm>
            <a:off x="50993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4" name="object 24"/>
          <p:cNvSpPr/>
          <p:nvPr/>
        </p:nvSpPr>
        <p:spPr>
          <a:xfrm>
            <a:off x="51663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5" name="object 25"/>
          <p:cNvSpPr/>
          <p:nvPr/>
        </p:nvSpPr>
        <p:spPr>
          <a:xfrm>
            <a:off x="52326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6" name="object 26"/>
          <p:cNvSpPr/>
          <p:nvPr/>
        </p:nvSpPr>
        <p:spPr>
          <a:xfrm>
            <a:off x="52997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7" name="object 27"/>
          <p:cNvSpPr/>
          <p:nvPr/>
        </p:nvSpPr>
        <p:spPr>
          <a:xfrm>
            <a:off x="53660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8" name="object 28"/>
          <p:cNvSpPr/>
          <p:nvPr/>
        </p:nvSpPr>
        <p:spPr>
          <a:xfrm>
            <a:off x="54330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29" name="object 29"/>
          <p:cNvSpPr/>
          <p:nvPr/>
        </p:nvSpPr>
        <p:spPr>
          <a:xfrm>
            <a:off x="54993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0" name="object 30"/>
          <p:cNvSpPr/>
          <p:nvPr/>
        </p:nvSpPr>
        <p:spPr>
          <a:xfrm>
            <a:off x="55664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1" name="object 31"/>
          <p:cNvSpPr/>
          <p:nvPr/>
        </p:nvSpPr>
        <p:spPr>
          <a:xfrm>
            <a:off x="56327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2" name="object 32"/>
          <p:cNvSpPr/>
          <p:nvPr/>
        </p:nvSpPr>
        <p:spPr>
          <a:xfrm>
            <a:off x="56997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3" name="object 33"/>
          <p:cNvSpPr/>
          <p:nvPr/>
        </p:nvSpPr>
        <p:spPr>
          <a:xfrm>
            <a:off x="57660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4" name="object 34"/>
          <p:cNvSpPr/>
          <p:nvPr/>
        </p:nvSpPr>
        <p:spPr>
          <a:xfrm>
            <a:off x="58331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5" name="object 35"/>
          <p:cNvSpPr/>
          <p:nvPr/>
        </p:nvSpPr>
        <p:spPr>
          <a:xfrm>
            <a:off x="58994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6" name="object 36"/>
          <p:cNvSpPr/>
          <p:nvPr/>
        </p:nvSpPr>
        <p:spPr>
          <a:xfrm>
            <a:off x="596645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7" name="object 37"/>
          <p:cNvSpPr/>
          <p:nvPr/>
        </p:nvSpPr>
        <p:spPr>
          <a:xfrm>
            <a:off x="603275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8" name="object 38"/>
          <p:cNvSpPr/>
          <p:nvPr/>
        </p:nvSpPr>
        <p:spPr>
          <a:xfrm>
            <a:off x="6099809"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39" name="object 39"/>
          <p:cNvSpPr/>
          <p:nvPr/>
        </p:nvSpPr>
        <p:spPr>
          <a:xfrm>
            <a:off x="6166103" y="4561332"/>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40" name="object 40"/>
          <p:cNvSpPr/>
          <p:nvPr/>
        </p:nvSpPr>
        <p:spPr>
          <a:xfrm>
            <a:off x="4030979" y="3618738"/>
            <a:ext cx="2213610" cy="931544"/>
          </a:xfrm>
          <a:custGeom>
            <a:avLst/>
            <a:gdLst/>
            <a:ahLst/>
            <a:cxnLst/>
            <a:rect l="l" t="t" r="r" b="b"/>
            <a:pathLst>
              <a:path w="2213610" h="931545">
                <a:moveTo>
                  <a:pt x="2213610" y="8381"/>
                </a:moveTo>
                <a:lnTo>
                  <a:pt x="2209800" y="0"/>
                </a:lnTo>
                <a:lnTo>
                  <a:pt x="0" y="922019"/>
                </a:lnTo>
                <a:lnTo>
                  <a:pt x="3810" y="931163"/>
                </a:lnTo>
                <a:lnTo>
                  <a:pt x="2213610" y="8381"/>
                </a:lnTo>
                <a:close/>
              </a:path>
            </a:pathLst>
          </a:custGeom>
          <a:solidFill>
            <a:srgbClr val="000000"/>
          </a:solidFill>
        </p:spPr>
        <p:txBody>
          <a:bodyPr wrap="square" lIns="0" tIns="0" rIns="0" bIns="0" rtlCol="0"/>
          <a:lstStyle/>
          <a:p>
            <a:endParaRPr/>
          </a:p>
        </p:txBody>
      </p:sp>
      <p:sp>
        <p:nvSpPr>
          <p:cNvPr id="41" name="object 41"/>
          <p:cNvSpPr/>
          <p:nvPr/>
        </p:nvSpPr>
        <p:spPr>
          <a:xfrm>
            <a:off x="4010405" y="2452877"/>
            <a:ext cx="2232025" cy="1156335"/>
          </a:xfrm>
          <a:custGeom>
            <a:avLst/>
            <a:gdLst/>
            <a:ahLst/>
            <a:cxnLst/>
            <a:rect l="l" t="t" r="r" b="b"/>
            <a:pathLst>
              <a:path w="2232025" h="1156335">
                <a:moveTo>
                  <a:pt x="2231898" y="1155953"/>
                </a:moveTo>
                <a:lnTo>
                  <a:pt x="2226564" y="913637"/>
                </a:lnTo>
                <a:lnTo>
                  <a:pt x="0" y="0"/>
                </a:lnTo>
                <a:lnTo>
                  <a:pt x="0" y="240791"/>
                </a:lnTo>
                <a:lnTo>
                  <a:pt x="2231898" y="1155953"/>
                </a:lnTo>
                <a:close/>
              </a:path>
            </a:pathLst>
          </a:custGeom>
          <a:solidFill>
            <a:srgbClr val="00CCFF"/>
          </a:solidFill>
        </p:spPr>
        <p:txBody>
          <a:bodyPr wrap="square" lIns="0" tIns="0" rIns="0" bIns="0" rtlCol="0"/>
          <a:lstStyle/>
          <a:p>
            <a:endParaRPr/>
          </a:p>
        </p:txBody>
      </p:sp>
      <p:sp>
        <p:nvSpPr>
          <p:cNvPr id="42" name="object 42"/>
          <p:cNvSpPr/>
          <p:nvPr/>
        </p:nvSpPr>
        <p:spPr>
          <a:xfrm>
            <a:off x="4005834" y="2448305"/>
            <a:ext cx="2241550" cy="1165225"/>
          </a:xfrm>
          <a:custGeom>
            <a:avLst/>
            <a:gdLst/>
            <a:ahLst/>
            <a:cxnLst/>
            <a:rect l="l" t="t" r="r" b="b"/>
            <a:pathLst>
              <a:path w="2241550" h="1165225">
                <a:moveTo>
                  <a:pt x="2241042" y="1162050"/>
                </a:moveTo>
                <a:lnTo>
                  <a:pt x="2241042" y="1160526"/>
                </a:lnTo>
                <a:lnTo>
                  <a:pt x="2235708" y="918210"/>
                </a:lnTo>
                <a:lnTo>
                  <a:pt x="2235708" y="916685"/>
                </a:lnTo>
                <a:lnTo>
                  <a:pt x="2234946" y="915162"/>
                </a:lnTo>
                <a:lnTo>
                  <a:pt x="2232660" y="914400"/>
                </a:lnTo>
                <a:lnTo>
                  <a:pt x="6096" y="0"/>
                </a:lnTo>
                <a:lnTo>
                  <a:pt x="3047" y="0"/>
                </a:lnTo>
                <a:lnTo>
                  <a:pt x="1523" y="762"/>
                </a:lnTo>
                <a:lnTo>
                  <a:pt x="761" y="1524"/>
                </a:lnTo>
                <a:lnTo>
                  <a:pt x="0" y="3048"/>
                </a:lnTo>
                <a:lnTo>
                  <a:pt x="0" y="247650"/>
                </a:lnTo>
                <a:lnTo>
                  <a:pt x="762" y="249174"/>
                </a:lnTo>
                <a:lnTo>
                  <a:pt x="3048" y="249936"/>
                </a:lnTo>
                <a:lnTo>
                  <a:pt x="3048" y="9144"/>
                </a:lnTo>
                <a:lnTo>
                  <a:pt x="9143" y="4572"/>
                </a:lnTo>
                <a:lnTo>
                  <a:pt x="9143" y="11645"/>
                </a:lnTo>
                <a:lnTo>
                  <a:pt x="2226564" y="921531"/>
                </a:lnTo>
                <a:lnTo>
                  <a:pt x="2226564" y="918972"/>
                </a:lnTo>
                <a:lnTo>
                  <a:pt x="2229612" y="922782"/>
                </a:lnTo>
                <a:lnTo>
                  <a:pt x="2229612" y="1057002"/>
                </a:lnTo>
                <a:lnTo>
                  <a:pt x="2231733" y="1153077"/>
                </a:lnTo>
                <a:lnTo>
                  <a:pt x="2238756" y="1155954"/>
                </a:lnTo>
                <a:lnTo>
                  <a:pt x="2238756" y="1164717"/>
                </a:lnTo>
                <a:lnTo>
                  <a:pt x="2239518" y="1164336"/>
                </a:lnTo>
                <a:lnTo>
                  <a:pt x="2240280" y="1163574"/>
                </a:lnTo>
                <a:lnTo>
                  <a:pt x="2241042" y="1162050"/>
                </a:lnTo>
                <a:close/>
              </a:path>
              <a:path w="2241550" h="1165225">
                <a:moveTo>
                  <a:pt x="9143" y="11645"/>
                </a:moveTo>
                <a:lnTo>
                  <a:pt x="9143" y="4572"/>
                </a:lnTo>
                <a:lnTo>
                  <a:pt x="3048" y="9144"/>
                </a:lnTo>
                <a:lnTo>
                  <a:pt x="9143" y="11645"/>
                </a:lnTo>
                <a:close/>
              </a:path>
              <a:path w="2241550" h="1165225">
                <a:moveTo>
                  <a:pt x="9144" y="242802"/>
                </a:moveTo>
                <a:lnTo>
                  <a:pt x="9143" y="11645"/>
                </a:lnTo>
                <a:lnTo>
                  <a:pt x="3048" y="9144"/>
                </a:lnTo>
                <a:lnTo>
                  <a:pt x="3048" y="249936"/>
                </a:lnTo>
                <a:lnTo>
                  <a:pt x="6095" y="251185"/>
                </a:lnTo>
                <a:lnTo>
                  <a:pt x="6096" y="241554"/>
                </a:lnTo>
                <a:lnTo>
                  <a:pt x="9144" y="242802"/>
                </a:lnTo>
                <a:close/>
              </a:path>
              <a:path w="2241550" h="1165225">
                <a:moveTo>
                  <a:pt x="2238756" y="1164717"/>
                </a:moveTo>
                <a:lnTo>
                  <a:pt x="2238756" y="1155954"/>
                </a:lnTo>
                <a:lnTo>
                  <a:pt x="2231898" y="1160526"/>
                </a:lnTo>
                <a:lnTo>
                  <a:pt x="2231733" y="1153077"/>
                </a:lnTo>
                <a:lnTo>
                  <a:pt x="6096" y="241554"/>
                </a:lnTo>
                <a:lnTo>
                  <a:pt x="9144" y="245364"/>
                </a:lnTo>
                <a:lnTo>
                  <a:pt x="9144" y="252435"/>
                </a:lnTo>
                <a:lnTo>
                  <a:pt x="2234946" y="1165098"/>
                </a:lnTo>
                <a:lnTo>
                  <a:pt x="2237994" y="1165098"/>
                </a:lnTo>
                <a:lnTo>
                  <a:pt x="2238756" y="1164717"/>
                </a:lnTo>
                <a:close/>
              </a:path>
              <a:path w="2241550" h="1165225">
                <a:moveTo>
                  <a:pt x="9144" y="252435"/>
                </a:moveTo>
                <a:lnTo>
                  <a:pt x="9144" y="245364"/>
                </a:lnTo>
                <a:lnTo>
                  <a:pt x="6096" y="241554"/>
                </a:lnTo>
                <a:lnTo>
                  <a:pt x="6095" y="251185"/>
                </a:lnTo>
                <a:lnTo>
                  <a:pt x="9144" y="252435"/>
                </a:lnTo>
                <a:close/>
              </a:path>
              <a:path w="2241550" h="1165225">
                <a:moveTo>
                  <a:pt x="2229612" y="922782"/>
                </a:moveTo>
                <a:lnTo>
                  <a:pt x="2226564" y="918972"/>
                </a:lnTo>
                <a:lnTo>
                  <a:pt x="2226621" y="921554"/>
                </a:lnTo>
                <a:lnTo>
                  <a:pt x="2229612" y="922782"/>
                </a:lnTo>
                <a:close/>
              </a:path>
              <a:path w="2241550" h="1165225">
                <a:moveTo>
                  <a:pt x="2226621" y="921554"/>
                </a:moveTo>
                <a:lnTo>
                  <a:pt x="2226564" y="918972"/>
                </a:lnTo>
                <a:lnTo>
                  <a:pt x="2226564" y="921531"/>
                </a:lnTo>
                <a:close/>
              </a:path>
              <a:path w="2241550" h="1165225">
                <a:moveTo>
                  <a:pt x="2229612" y="1057002"/>
                </a:moveTo>
                <a:lnTo>
                  <a:pt x="2229612" y="922782"/>
                </a:lnTo>
                <a:lnTo>
                  <a:pt x="2226621" y="921554"/>
                </a:lnTo>
                <a:lnTo>
                  <a:pt x="2229612" y="1057002"/>
                </a:lnTo>
                <a:close/>
              </a:path>
              <a:path w="2241550" h="1165225">
                <a:moveTo>
                  <a:pt x="2238756" y="1155954"/>
                </a:moveTo>
                <a:lnTo>
                  <a:pt x="2231733" y="1153077"/>
                </a:lnTo>
                <a:lnTo>
                  <a:pt x="2231898" y="1160526"/>
                </a:lnTo>
                <a:lnTo>
                  <a:pt x="2238756" y="1155954"/>
                </a:lnTo>
                <a:close/>
              </a:path>
            </a:pathLst>
          </a:custGeom>
          <a:solidFill>
            <a:srgbClr val="000000"/>
          </a:solidFill>
        </p:spPr>
        <p:txBody>
          <a:bodyPr wrap="square" lIns="0" tIns="0" rIns="0" bIns="0" rtlCol="0"/>
          <a:lstStyle/>
          <a:p>
            <a:endParaRPr/>
          </a:p>
        </p:txBody>
      </p:sp>
      <p:sp>
        <p:nvSpPr>
          <p:cNvPr id="43" name="object 43"/>
          <p:cNvSpPr/>
          <p:nvPr/>
        </p:nvSpPr>
        <p:spPr>
          <a:xfrm>
            <a:off x="3877055" y="4553330"/>
            <a:ext cx="133350" cy="0"/>
          </a:xfrm>
          <a:custGeom>
            <a:avLst/>
            <a:gdLst/>
            <a:ahLst/>
            <a:cxnLst/>
            <a:rect l="l" t="t" r="r" b="b"/>
            <a:pathLst>
              <a:path w="133350">
                <a:moveTo>
                  <a:pt x="0" y="0"/>
                </a:moveTo>
                <a:lnTo>
                  <a:pt x="133350" y="0"/>
                </a:lnTo>
              </a:path>
            </a:pathLst>
          </a:custGeom>
          <a:ln w="9905">
            <a:solidFill>
              <a:srgbClr val="000000"/>
            </a:solidFill>
          </a:ln>
        </p:spPr>
        <p:txBody>
          <a:bodyPr wrap="square" lIns="0" tIns="0" rIns="0" bIns="0" rtlCol="0"/>
          <a:lstStyle/>
          <a:p>
            <a:endParaRPr/>
          </a:p>
        </p:txBody>
      </p:sp>
      <p:sp>
        <p:nvSpPr>
          <p:cNvPr id="44" name="object 44"/>
          <p:cNvSpPr txBox="1"/>
          <p:nvPr/>
        </p:nvSpPr>
        <p:spPr>
          <a:xfrm>
            <a:off x="3564128" y="3452876"/>
            <a:ext cx="417195" cy="269875"/>
          </a:xfrm>
          <a:prstGeom prst="rect">
            <a:avLst/>
          </a:prstGeom>
        </p:spPr>
        <p:txBody>
          <a:bodyPr vert="horz" wrap="square" lIns="0" tIns="12700" rIns="0" bIns="0" rtlCol="0">
            <a:spAutoFit/>
          </a:bodyPr>
          <a:lstStyle/>
          <a:p>
            <a:pPr marL="12700">
              <a:lnSpc>
                <a:spcPct val="100000"/>
              </a:lnSpc>
              <a:spcBef>
                <a:spcPts val="100"/>
              </a:spcBef>
            </a:pPr>
            <a:r>
              <a:rPr sz="1600" spc="-30" dirty="0">
                <a:solidFill>
                  <a:srgbClr val="CC0000"/>
                </a:solidFill>
                <a:latin typeface="Arial"/>
                <a:cs typeface="Arial"/>
              </a:rPr>
              <a:t>R</a:t>
            </a:r>
            <a:r>
              <a:rPr sz="1600" spc="-5" dirty="0">
                <a:solidFill>
                  <a:srgbClr val="CC0000"/>
                </a:solidFill>
                <a:latin typeface="Arial"/>
                <a:cs typeface="Arial"/>
              </a:rPr>
              <a:t>T</a:t>
            </a:r>
            <a:r>
              <a:rPr sz="1600" dirty="0">
                <a:solidFill>
                  <a:srgbClr val="CC0000"/>
                </a:solidFill>
                <a:latin typeface="Arial"/>
                <a:cs typeface="Arial"/>
              </a:rPr>
              <a:t>T</a:t>
            </a:r>
            <a:endParaRPr sz="1600">
              <a:latin typeface="Arial"/>
              <a:cs typeface="Arial"/>
            </a:endParaRPr>
          </a:p>
        </p:txBody>
      </p:sp>
      <p:sp>
        <p:nvSpPr>
          <p:cNvPr id="45" name="object 45"/>
          <p:cNvSpPr/>
          <p:nvPr/>
        </p:nvSpPr>
        <p:spPr>
          <a:xfrm>
            <a:off x="3872484" y="3733800"/>
            <a:ext cx="76200" cy="811530"/>
          </a:xfrm>
          <a:custGeom>
            <a:avLst/>
            <a:gdLst/>
            <a:ahLst/>
            <a:cxnLst/>
            <a:rect l="l" t="t" r="r" b="b"/>
            <a:pathLst>
              <a:path w="76200" h="811529">
                <a:moveTo>
                  <a:pt x="43433" y="803513"/>
                </a:moveTo>
                <a:lnTo>
                  <a:pt x="43433" y="748284"/>
                </a:lnTo>
                <a:lnTo>
                  <a:pt x="33527" y="748284"/>
                </a:lnTo>
                <a:lnTo>
                  <a:pt x="33357" y="735424"/>
                </a:lnTo>
                <a:lnTo>
                  <a:pt x="0" y="736092"/>
                </a:lnTo>
                <a:lnTo>
                  <a:pt x="39623" y="811530"/>
                </a:lnTo>
                <a:lnTo>
                  <a:pt x="43433" y="803513"/>
                </a:lnTo>
                <a:close/>
              </a:path>
              <a:path w="76200" h="811529">
                <a:moveTo>
                  <a:pt x="43247" y="735227"/>
                </a:moveTo>
                <a:lnTo>
                  <a:pt x="32765" y="0"/>
                </a:lnTo>
                <a:lnTo>
                  <a:pt x="23621" y="762"/>
                </a:lnTo>
                <a:lnTo>
                  <a:pt x="33357" y="735424"/>
                </a:lnTo>
                <a:lnTo>
                  <a:pt x="43247" y="735227"/>
                </a:lnTo>
                <a:close/>
              </a:path>
              <a:path w="76200" h="811529">
                <a:moveTo>
                  <a:pt x="43433" y="748284"/>
                </a:moveTo>
                <a:lnTo>
                  <a:pt x="43247" y="735227"/>
                </a:lnTo>
                <a:lnTo>
                  <a:pt x="33357" y="735424"/>
                </a:lnTo>
                <a:lnTo>
                  <a:pt x="33527" y="748284"/>
                </a:lnTo>
                <a:lnTo>
                  <a:pt x="43433" y="748284"/>
                </a:lnTo>
                <a:close/>
              </a:path>
              <a:path w="76200" h="811529">
                <a:moveTo>
                  <a:pt x="76199" y="734568"/>
                </a:moveTo>
                <a:lnTo>
                  <a:pt x="43247" y="735227"/>
                </a:lnTo>
                <a:lnTo>
                  <a:pt x="43433" y="748284"/>
                </a:lnTo>
                <a:lnTo>
                  <a:pt x="43433" y="803513"/>
                </a:lnTo>
                <a:lnTo>
                  <a:pt x="76199" y="734568"/>
                </a:lnTo>
                <a:close/>
              </a:path>
            </a:pathLst>
          </a:custGeom>
          <a:solidFill>
            <a:srgbClr val="000000"/>
          </a:solidFill>
        </p:spPr>
        <p:txBody>
          <a:bodyPr wrap="square" lIns="0" tIns="0" rIns="0" bIns="0" rtlCol="0"/>
          <a:lstStyle/>
          <a:p>
            <a:endParaRPr/>
          </a:p>
        </p:txBody>
      </p:sp>
      <p:sp>
        <p:nvSpPr>
          <p:cNvPr id="46" name="object 46"/>
          <p:cNvSpPr/>
          <p:nvPr/>
        </p:nvSpPr>
        <p:spPr>
          <a:xfrm>
            <a:off x="3870197" y="2716529"/>
            <a:ext cx="76200" cy="768350"/>
          </a:xfrm>
          <a:custGeom>
            <a:avLst/>
            <a:gdLst/>
            <a:ahLst/>
            <a:cxnLst/>
            <a:rect l="l" t="t" r="r" b="b"/>
            <a:pathLst>
              <a:path w="76200" h="768350">
                <a:moveTo>
                  <a:pt x="76200" y="76200"/>
                </a:moveTo>
                <a:lnTo>
                  <a:pt x="38862" y="0"/>
                </a:lnTo>
                <a:lnTo>
                  <a:pt x="0" y="76200"/>
                </a:lnTo>
                <a:lnTo>
                  <a:pt x="33471" y="76200"/>
                </a:lnTo>
                <a:lnTo>
                  <a:pt x="33528" y="63246"/>
                </a:lnTo>
                <a:lnTo>
                  <a:pt x="43434" y="63246"/>
                </a:lnTo>
                <a:lnTo>
                  <a:pt x="43434" y="76200"/>
                </a:lnTo>
                <a:lnTo>
                  <a:pt x="76200" y="76200"/>
                </a:lnTo>
                <a:close/>
              </a:path>
              <a:path w="76200" h="768350">
                <a:moveTo>
                  <a:pt x="43377" y="76200"/>
                </a:moveTo>
                <a:lnTo>
                  <a:pt x="33471" y="76200"/>
                </a:lnTo>
                <a:lnTo>
                  <a:pt x="30480" y="768096"/>
                </a:lnTo>
                <a:lnTo>
                  <a:pt x="40386" y="768096"/>
                </a:lnTo>
                <a:lnTo>
                  <a:pt x="43377" y="76200"/>
                </a:lnTo>
                <a:close/>
              </a:path>
              <a:path w="76200" h="768350">
                <a:moveTo>
                  <a:pt x="43434" y="63246"/>
                </a:moveTo>
                <a:lnTo>
                  <a:pt x="33528" y="63246"/>
                </a:lnTo>
                <a:lnTo>
                  <a:pt x="33471" y="76200"/>
                </a:lnTo>
                <a:lnTo>
                  <a:pt x="43377" y="76200"/>
                </a:lnTo>
                <a:lnTo>
                  <a:pt x="43434" y="63246"/>
                </a:lnTo>
                <a:close/>
              </a:path>
              <a:path w="76200" h="768350">
                <a:moveTo>
                  <a:pt x="43434" y="76200"/>
                </a:moveTo>
                <a:lnTo>
                  <a:pt x="43434" y="63246"/>
                </a:lnTo>
                <a:lnTo>
                  <a:pt x="43377" y="76200"/>
                </a:lnTo>
                <a:close/>
              </a:path>
            </a:pathLst>
          </a:custGeom>
          <a:solidFill>
            <a:srgbClr val="000000"/>
          </a:solidFill>
        </p:spPr>
        <p:txBody>
          <a:bodyPr wrap="square" lIns="0" tIns="0" rIns="0" bIns="0" rtlCol="0"/>
          <a:lstStyle/>
          <a:p>
            <a:endParaRPr/>
          </a:p>
        </p:txBody>
      </p:sp>
      <p:sp>
        <p:nvSpPr>
          <p:cNvPr id="47" name="object 47"/>
          <p:cNvSpPr txBox="1"/>
          <p:nvPr/>
        </p:nvSpPr>
        <p:spPr>
          <a:xfrm>
            <a:off x="775080" y="1758264"/>
            <a:ext cx="6337299" cy="1153008"/>
          </a:xfrm>
          <a:prstGeom prst="rect">
            <a:avLst/>
          </a:prstGeom>
        </p:spPr>
        <p:txBody>
          <a:bodyPr vert="horz" wrap="square" lIns="0" tIns="12700" rIns="0" bIns="0" rtlCol="0">
            <a:spAutoFit/>
          </a:bodyPr>
          <a:lstStyle/>
          <a:p>
            <a:pPr marL="12700" marR="5080" indent="3281045">
              <a:lnSpc>
                <a:spcPct val="142800"/>
              </a:lnSpc>
              <a:spcBef>
                <a:spcPts val="100"/>
              </a:spcBef>
              <a:tabLst>
                <a:tab pos="5426075" algn="l"/>
                <a:tab pos="5591175" algn="l"/>
              </a:tabLst>
            </a:pPr>
            <a:r>
              <a:rPr sz="1600" spc="-5" dirty="0">
                <a:latin typeface="Arial"/>
                <a:cs typeface="Arial"/>
              </a:rPr>
              <a:t>Bên</a:t>
            </a:r>
            <a:r>
              <a:rPr sz="1600" dirty="0">
                <a:latin typeface="Arial"/>
                <a:cs typeface="Arial"/>
              </a:rPr>
              <a:t> </a:t>
            </a:r>
            <a:r>
              <a:rPr sz="1600" spc="-5" dirty="0">
                <a:latin typeface="Arial"/>
                <a:cs typeface="Arial"/>
              </a:rPr>
              <a:t>gửi	Bên</a:t>
            </a:r>
            <a:r>
              <a:rPr sz="1600" spc="-90" dirty="0">
                <a:latin typeface="Arial"/>
                <a:cs typeface="Arial"/>
              </a:rPr>
              <a:t> </a:t>
            </a:r>
            <a:r>
              <a:rPr sz="1600" spc="-5" dirty="0">
                <a:latin typeface="Arial"/>
                <a:cs typeface="Arial"/>
              </a:rPr>
              <a:t>nhận  bít đầu tiên của gói tin được</a:t>
            </a:r>
            <a:r>
              <a:rPr sz="1600" spc="-20" dirty="0">
                <a:latin typeface="Arial"/>
                <a:cs typeface="Arial"/>
              </a:rPr>
              <a:t> </a:t>
            </a:r>
            <a:r>
              <a:rPr sz="1600" spc="-5" dirty="0">
                <a:latin typeface="Arial"/>
                <a:cs typeface="Arial"/>
              </a:rPr>
              <a:t>truyền,</a:t>
            </a:r>
            <a:r>
              <a:rPr sz="1600" spc="-170" dirty="0">
                <a:latin typeface="Arial"/>
                <a:cs typeface="Arial"/>
              </a:rPr>
              <a:t> </a:t>
            </a:r>
            <a:r>
              <a:rPr sz="1600" u="sng" dirty="0">
                <a:uFill>
                  <a:solidFill>
                    <a:srgbClr val="000000"/>
                  </a:solidFill>
                </a:uFill>
                <a:latin typeface="Times New Roman"/>
                <a:cs typeface="Times New Roman"/>
              </a:rPr>
              <a:t> 		</a:t>
            </a:r>
            <a:endParaRPr sz="1600" dirty="0">
              <a:latin typeface="Times New Roman"/>
              <a:cs typeface="Times New Roman"/>
            </a:endParaRPr>
          </a:p>
          <a:p>
            <a:pPr marR="92710" algn="ctr">
              <a:lnSpc>
                <a:spcPts val="1739"/>
              </a:lnSpc>
            </a:pPr>
            <a:r>
              <a:rPr sz="1600" dirty="0">
                <a:latin typeface="Arial"/>
                <a:cs typeface="Arial"/>
              </a:rPr>
              <a:t>t =</a:t>
            </a:r>
            <a:r>
              <a:rPr sz="1600" spc="5" dirty="0">
                <a:latin typeface="Arial"/>
                <a:cs typeface="Arial"/>
              </a:rPr>
              <a:t> </a:t>
            </a:r>
            <a:r>
              <a:rPr sz="1600" dirty="0">
                <a:latin typeface="Arial"/>
                <a:cs typeface="Arial"/>
              </a:rPr>
              <a:t>0</a:t>
            </a:r>
            <a:r>
              <a:rPr sz="1600" spc="-165" dirty="0">
                <a:latin typeface="Arial"/>
                <a:cs typeface="Arial"/>
              </a:rPr>
              <a:t> </a:t>
            </a:r>
            <a:r>
              <a:rPr sz="1600" u="sng" dirty="0">
                <a:uFill>
                  <a:solidFill>
                    <a:srgbClr val="000000"/>
                  </a:solidFill>
                </a:uFill>
                <a:latin typeface="Times New Roman"/>
                <a:cs typeface="Times New Roman"/>
              </a:rPr>
              <a:t> </a:t>
            </a:r>
            <a:r>
              <a:rPr sz="1600" u="sng" spc="-165" dirty="0">
                <a:uFill>
                  <a:solidFill>
                    <a:srgbClr val="000000"/>
                  </a:solidFill>
                </a:uFill>
                <a:latin typeface="Times New Roman"/>
                <a:cs typeface="Times New Roman"/>
              </a:rPr>
              <a:t> </a:t>
            </a:r>
            <a:endParaRPr sz="1600" dirty="0">
              <a:latin typeface="Times New Roman"/>
              <a:cs typeface="Times New Roman"/>
            </a:endParaRPr>
          </a:p>
          <a:p>
            <a:pPr marL="76200">
              <a:lnSpc>
                <a:spcPts val="1739"/>
              </a:lnSpc>
            </a:pPr>
            <a:r>
              <a:rPr sz="1600" spc="-5" dirty="0">
                <a:latin typeface="Arial"/>
                <a:cs typeface="Arial"/>
              </a:rPr>
              <a:t>bít cuối cùng được truyền, </a:t>
            </a:r>
            <a:r>
              <a:rPr sz="1600" dirty="0">
                <a:solidFill>
                  <a:srgbClr val="CC0000"/>
                </a:solidFill>
                <a:latin typeface="Arial"/>
                <a:cs typeface="Arial"/>
              </a:rPr>
              <a:t>t = L /</a:t>
            </a:r>
            <a:r>
              <a:rPr sz="1600" spc="-15" dirty="0">
                <a:solidFill>
                  <a:srgbClr val="CC0000"/>
                </a:solidFill>
                <a:latin typeface="Arial"/>
                <a:cs typeface="Arial"/>
              </a:rPr>
              <a:t> </a:t>
            </a:r>
            <a:r>
              <a:rPr sz="1600" dirty="0">
                <a:solidFill>
                  <a:srgbClr val="CC0000"/>
                </a:solidFill>
                <a:latin typeface="Arial"/>
                <a:cs typeface="Arial"/>
              </a:rPr>
              <a:t>R</a:t>
            </a:r>
            <a:endParaRPr sz="1600" dirty="0">
              <a:latin typeface="Arial"/>
              <a:cs typeface="Arial"/>
            </a:endParaRPr>
          </a:p>
        </p:txBody>
      </p:sp>
      <p:sp>
        <p:nvSpPr>
          <p:cNvPr id="48" name="object 48"/>
          <p:cNvSpPr/>
          <p:nvPr/>
        </p:nvSpPr>
        <p:spPr>
          <a:xfrm>
            <a:off x="6218682" y="3367278"/>
            <a:ext cx="133350" cy="0"/>
          </a:xfrm>
          <a:custGeom>
            <a:avLst/>
            <a:gdLst/>
            <a:ahLst/>
            <a:cxnLst/>
            <a:rect l="l" t="t" r="r" b="b"/>
            <a:pathLst>
              <a:path w="133350">
                <a:moveTo>
                  <a:pt x="0" y="0"/>
                </a:moveTo>
                <a:lnTo>
                  <a:pt x="133350" y="0"/>
                </a:lnTo>
              </a:path>
            </a:pathLst>
          </a:custGeom>
          <a:ln w="9144">
            <a:solidFill>
              <a:srgbClr val="000000"/>
            </a:solidFill>
          </a:ln>
        </p:spPr>
        <p:txBody>
          <a:bodyPr wrap="square" lIns="0" tIns="0" rIns="0" bIns="0" rtlCol="0"/>
          <a:lstStyle/>
          <a:p>
            <a:endParaRPr/>
          </a:p>
        </p:txBody>
      </p:sp>
      <p:sp>
        <p:nvSpPr>
          <p:cNvPr id="49" name="object 49"/>
          <p:cNvSpPr/>
          <p:nvPr/>
        </p:nvSpPr>
        <p:spPr>
          <a:xfrm>
            <a:off x="6242303" y="3616833"/>
            <a:ext cx="127635" cy="0"/>
          </a:xfrm>
          <a:custGeom>
            <a:avLst/>
            <a:gdLst/>
            <a:ahLst/>
            <a:cxnLst/>
            <a:rect l="l" t="t" r="r" b="b"/>
            <a:pathLst>
              <a:path w="127635">
                <a:moveTo>
                  <a:pt x="0" y="0"/>
                </a:moveTo>
                <a:lnTo>
                  <a:pt x="127253" y="0"/>
                </a:lnTo>
              </a:path>
            </a:pathLst>
          </a:custGeom>
          <a:ln w="9905">
            <a:solidFill>
              <a:srgbClr val="000000"/>
            </a:solidFill>
          </a:ln>
        </p:spPr>
        <p:txBody>
          <a:bodyPr wrap="square" lIns="0" tIns="0" rIns="0" bIns="0" rtlCol="0"/>
          <a:lstStyle/>
          <a:p>
            <a:endParaRPr/>
          </a:p>
        </p:txBody>
      </p:sp>
      <p:sp>
        <p:nvSpPr>
          <p:cNvPr id="50" name="object 50"/>
          <p:cNvSpPr txBox="1"/>
          <p:nvPr/>
        </p:nvSpPr>
        <p:spPr>
          <a:xfrm>
            <a:off x="6378194" y="3217417"/>
            <a:ext cx="3105785" cy="52197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nhận được bít đầu</a:t>
            </a:r>
            <a:r>
              <a:rPr sz="1600" dirty="0">
                <a:latin typeface="Arial"/>
                <a:cs typeface="Arial"/>
              </a:rPr>
              <a:t> </a:t>
            </a:r>
            <a:r>
              <a:rPr sz="1600" spc="-5" dirty="0">
                <a:latin typeface="Arial"/>
                <a:cs typeface="Arial"/>
              </a:rPr>
              <a:t>tiên</a:t>
            </a:r>
            <a:endParaRPr sz="1600">
              <a:latin typeface="Arial"/>
              <a:cs typeface="Arial"/>
            </a:endParaRPr>
          </a:p>
          <a:p>
            <a:pPr marL="18415">
              <a:lnSpc>
                <a:spcPct val="100000"/>
              </a:lnSpc>
              <a:spcBef>
                <a:spcPts val="65"/>
              </a:spcBef>
            </a:pPr>
            <a:r>
              <a:rPr sz="1600" spc="-5" dirty="0">
                <a:latin typeface="Arial"/>
                <a:cs typeface="Arial"/>
              </a:rPr>
              <a:t>nhận được bít cuối cùng, gửi</a:t>
            </a:r>
            <a:r>
              <a:rPr sz="1600" spc="-114" dirty="0">
                <a:latin typeface="Arial"/>
                <a:cs typeface="Arial"/>
              </a:rPr>
              <a:t> </a:t>
            </a:r>
            <a:r>
              <a:rPr sz="1600" spc="-5" dirty="0">
                <a:latin typeface="Arial"/>
                <a:cs typeface="Arial"/>
              </a:rPr>
              <a:t>ACK</a:t>
            </a:r>
            <a:endParaRPr sz="1600">
              <a:latin typeface="Arial"/>
              <a:cs typeface="Arial"/>
            </a:endParaRPr>
          </a:p>
        </p:txBody>
      </p:sp>
      <p:sp>
        <p:nvSpPr>
          <p:cNvPr id="51" name="object 51"/>
          <p:cNvSpPr txBox="1"/>
          <p:nvPr/>
        </p:nvSpPr>
        <p:spPr>
          <a:xfrm>
            <a:off x="1502919" y="4252978"/>
            <a:ext cx="2385695" cy="513080"/>
          </a:xfrm>
          <a:prstGeom prst="rect">
            <a:avLst/>
          </a:prstGeom>
        </p:spPr>
        <p:txBody>
          <a:bodyPr vert="horz" wrap="square" lIns="0" tIns="12700" rIns="0" bIns="0" rtlCol="0">
            <a:spAutoFit/>
          </a:bodyPr>
          <a:lstStyle/>
          <a:p>
            <a:pPr marL="12700">
              <a:lnSpc>
                <a:spcPts val="1914"/>
              </a:lnSpc>
              <a:spcBef>
                <a:spcPts val="100"/>
              </a:spcBef>
            </a:pPr>
            <a:r>
              <a:rPr sz="1600" spc="-5" dirty="0">
                <a:latin typeface="Arial"/>
                <a:cs typeface="Arial"/>
              </a:rPr>
              <a:t>nhận ACK, gửi gói tin</a:t>
            </a:r>
            <a:r>
              <a:rPr sz="1600" spc="-130" dirty="0">
                <a:latin typeface="Arial"/>
                <a:cs typeface="Arial"/>
              </a:rPr>
              <a:t> </a:t>
            </a:r>
            <a:r>
              <a:rPr sz="1600" spc="-5" dirty="0">
                <a:latin typeface="Arial"/>
                <a:cs typeface="Arial"/>
              </a:rPr>
              <a:t>tiếp,</a:t>
            </a:r>
            <a:endParaRPr sz="1600">
              <a:latin typeface="Arial"/>
              <a:cs typeface="Arial"/>
            </a:endParaRPr>
          </a:p>
          <a:p>
            <a:pPr marL="1038225">
              <a:lnSpc>
                <a:spcPts val="1914"/>
              </a:lnSpc>
            </a:pPr>
            <a:r>
              <a:rPr sz="1600" dirty="0">
                <a:solidFill>
                  <a:srgbClr val="CC0000"/>
                </a:solidFill>
                <a:latin typeface="Arial"/>
                <a:cs typeface="Arial"/>
              </a:rPr>
              <a:t>t = </a:t>
            </a:r>
            <a:r>
              <a:rPr sz="1600" spc="-15" dirty="0">
                <a:solidFill>
                  <a:srgbClr val="CC0000"/>
                </a:solidFill>
                <a:latin typeface="Arial"/>
                <a:cs typeface="Arial"/>
              </a:rPr>
              <a:t>RTT </a:t>
            </a:r>
            <a:r>
              <a:rPr sz="1600" dirty="0">
                <a:solidFill>
                  <a:srgbClr val="CC0000"/>
                </a:solidFill>
                <a:latin typeface="Arial"/>
                <a:cs typeface="Arial"/>
              </a:rPr>
              <a:t>+ L /</a:t>
            </a:r>
            <a:r>
              <a:rPr sz="1600" spc="-140" dirty="0">
                <a:solidFill>
                  <a:srgbClr val="CC0000"/>
                </a:solidFill>
                <a:latin typeface="Arial"/>
                <a:cs typeface="Arial"/>
              </a:rPr>
              <a:t> </a:t>
            </a:r>
            <a:r>
              <a:rPr sz="1600" dirty="0">
                <a:solidFill>
                  <a:srgbClr val="CC0000"/>
                </a:solidFill>
                <a:latin typeface="Arial"/>
                <a:cs typeface="Arial"/>
              </a:rPr>
              <a:t>R</a:t>
            </a:r>
            <a:endParaRPr sz="1600">
              <a:latin typeface="Arial"/>
              <a:cs typeface="Arial"/>
            </a:endParaRPr>
          </a:p>
        </p:txBody>
      </p:sp>
      <p:sp>
        <p:nvSpPr>
          <p:cNvPr id="52" name="object 52"/>
          <p:cNvSpPr/>
          <p:nvPr/>
        </p:nvSpPr>
        <p:spPr>
          <a:xfrm>
            <a:off x="4027932" y="4561332"/>
            <a:ext cx="1418843" cy="577595"/>
          </a:xfrm>
          <a:prstGeom prst="rect">
            <a:avLst/>
          </a:prstGeom>
          <a:blipFill>
            <a:blip r:embed="rId3" cstate="print"/>
            <a:stretch>
              <a:fillRect/>
            </a:stretch>
          </a:blipFill>
        </p:spPr>
        <p:txBody>
          <a:bodyPr wrap="square" lIns="0" tIns="0" rIns="0" bIns="0" rtlCol="0"/>
          <a:lstStyle/>
          <a:p>
            <a:endParaRPr/>
          </a:p>
        </p:txBody>
      </p:sp>
      <p:sp>
        <p:nvSpPr>
          <p:cNvPr id="53" name="object 53"/>
          <p:cNvSpPr/>
          <p:nvPr/>
        </p:nvSpPr>
        <p:spPr>
          <a:xfrm>
            <a:off x="4019550" y="4549140"/>
            <a:ext cx="736600" cy="309880"/>
          </a:xfrm>
          <a:custGeom>
            <a:avLst/>
            <a:gdLst/>
            <a:ahLst/>
            <a:cxnLst/>
            <a:rect l="l" t="t" r="r" b="b"/>
            <a:pathLst>
              <a:path w="736600" h="309879">
                <a:moveTo>
                  <a:pt x="736092" y="300227"/>
                </a:moveTo>
                <a:lnTo>
                  <a:pt x="3810" y="0"/>
                </a:lnTo>
                <a:lnTo>
                  <a:pt x="0" y="8382"/>
                </a:lnTo>
                <a:lnTo>
                  <a:pt x="733044" y="309371"/>
                </a:lnTo>
                <a:lnTo>
                  <a:pt x="736092" y="300227"/>
                </a:lnTo>
                <a:close/>
              </a:path>
            </a:pathLst>
          </a:custGeom>
          <a:solidFill>
            <a:srgbClr val="000000"/>
          </a:solidFill>
        </p:spPr>
        <p:txBody>
          <a:bodyPr wrap="square" lIns="0" tIns="0" rIns="0" bIns="0" rtlCol="0"/>
          <a:lstStyle/>
          <a:p>
            <a:endParaRPr/>
          </a:p>
        </p:txBody>
      </p:sp>
      <p:sp>
        <p:nvSpPr>
          <p:cNvPr id="54" name="object 54"/>
          <p:cNvSpPr/>
          <p:nvPr/>
        </p:nvSpPr>
        <p:spPr>
          <a:xfrm>
            <a:off x="4757928" y="4848605"/>
            <a:ext cx="537210" cy="240029"/>
          </a:xfrm>
          <a:custGeom>
            <a:avLst/>
            <a:gdLst/>
            <a:ahLst/>
            <a:cxnLst/>
            <a:rect l="l" t="t" r="r" b="b"/>
            <a:pathLst>
              <a:path w="537210" h="240029">
                <a:moveTo>
                  <a:pt x="12954" y="3809"/>
                </a:moveTo>
                <a:lnTo>
                  <a:pt x="3810" y="0"/>
                </a:lnTo>
                <a:lnTo>
                  <a:pt x="0" y="9144"/>
                </a:lnTo>
                <a:lnTo>
                  <a:pt x="9144" y="12954"/>
                </a:lnTo>
                <a:lnTo>
                  <a:pt x="12954" y="3809"/>
                </a:lnTo>
                <a:close/>
              </a:path>
              <a:path w="537210" h="240029">
                <a:moveTo>
                  <a:pt x="30480" y="11429"/>
                </a:moveTo>
                <a:lnTo>
                  <a:pt x="21336" y="7619"/>
                </a:lnTo>
                <a:lnTo>
                  <a:pt x="17526" y="16764"/>
                </a:lnTo>
                <a:lnTo>
                  <a:pt x="26670" y="20574"/>
                </a:lnTo>
                <a:lnTo>
                  <a:pt x="30480" y="11429"/>
                </a:lnTo>
                <a:close/>
              </a:path>
              <a:path w="537210" h="240029">
                <a:moveTo>
                  <a:pt x="48006" y="19049"/>
                </a:moveTo>
                <a:lnTo>
                  <a:pt x="38862" y="15239"/>
                </a:lnTo>
                <a:lnTo>
                  <a:pt x="35052" y="24383"/>
                </a:lnTo>
                <a:lnTo>
                  <a:pt x="44196" y="28194"/>
                </a:lnTo>
                <a:lnTo>
                  <a:pt x="48006" y="19049"/>
                </a:lnTo>
                <a:close/>
              </a:path>
              <a:path w="537210" h="240029">
                <a:moveTo>
                  <a:pt x="65532" y="26669"/>
                </a:moveTo>
                <a:lnTo>
                  <a:pt x="56388" y="22859"/>
                </a:lnTo>
                <a:lnTo>
                  <a:pt x="52578" y="32003"/>
                </a:lnTo>
                <a:lnTo>
                  <a:pt x="61722" y="35813"/>
                </a:lnTo>
                <a:lnTo>
                  <a:pt x="65532" y="26669"/>
                </a:lnTo>
                <a:close/>
              </a:path>
              <a:path w="537210" h="240029">
                <a:moveTo>
                  <a:pt x="83058" y="34290"/>
                </a:moveTo>
                <a:lnTo>
                  <a:pt x="73914" y="30479"/>
                </a:lnTo>
                <a:lnTo>
                  <a:pt x="70104" y="39623"/>
                </a:lnTo>
                <a:lnTo>
                  <a:pt x="79248" y="43433"/>
                </a:lnTo>
                <a:lnTo>
                  <a:pt x="83058" y="34290"/>
                </a:lnTo>
                <a:close/>
              </a:path>
              <a:path w="537210" h="240029">
                <a:moveTo>
                  <a:pt x="100584" y="41909"/>
                </a:moveTo>
                <a:lnTo>
                  <a:pt x="91440" y="38099"/>
                </a:lnTo>
                <a:lnTo>
                  <a:pt x="87630" y="47243"/>
                </a:lnTo>
                <a:lnTo>
                  <a:pt x="96774" y="51053"/>
                </a:lnTo>
                <a:lnTo>
                  <a:pt x="100584" y="41909"/>
                </a:lnTo>
                <a:close/>
              </a:path>
              <a:path w="537210" h="240029">
                <a:moveTo>
                  <a:pt x="118110" y="49529"/>
                </a:moveTo>
                <a:lnTo>
                  <a:pt x="108966" y="45719"/>
                </a:lnTo>
                <a:lnTo>
                  <a:pt x="105156" y="54863"/>
                </a:lnTo>
                <a:lnTo>
                  <a:pt x="114300" y="58673"/>
                </a:lnTo>
                <a:lnTo>
                  <a:pt x="118110" y="49529"/>
                </a:lnTo>
                <a:close/>
              </a:path>
              <a:path w="537210" h="240029">
                <a:moveTo>
                  <a:pt x="134874" y="57149"/>
                </a:moveTo>
                <a:lnTo>
                  <a:pt x="126492" y="53339"/>
                </a:lnTo>
                <a:lnTo>
                  <a:pt x="122682" y="61721"/>
                </a:lnTo>
                <a:lnTo>
                  <a:pt x="131064" y="65531"/>
                </a:lnTo>
                <a:lnTo>
                  <a:pt x="134874" y="57149"/>
                </a:lnTo>
                <a:close/>
              </a:path>
              <a:path w="537210" h="240029">
                <a:moveTo>
                  <a:pt x="152400" y="64769"/>
                </a:moveTo>
                <a:lnTo>
                  <a:pt x="144018" y="60959"/>
                </a:lnTo>
                <a:lnTo>
                  <a:pt x="140208" y="69341"/>
                </a:lnTo>
                <a:lnTo>
                  <a:pt x="148590" y="73151"/>
                </a:lnTo>
                <a:lnTo>
                  <a:pt x="152400" y="64769"/>
                </a:lnTo>
                <a:close/>
              </a:path>
              <a:path w="537210" h="240029">
                <a:moveTo>
                  <a:pt x="169926" y="72389"/>
                </a:moveTo>
                <a:lnTo>
                  <a:pt x="161544" y="68580"/>
                </a:lnTo>
                <a:lnTo>
                  <a:pt x="157734" y="76961"/>
                </a:lnTo>
                <a:lnTo>
                  <a:pt x="166116" y="80772"/>
                </a:lnTo>
                <a:lnTo>
                  <a:pt x="169926" y="72389"/>
                </a:lnTo>
                <a:close/>
              </a:path>
              <a:path w="537210" h="240029">
                <a:moveTo>
                  <a:pt x="187452" y="80009"/>
                </a:moveTo>
                <a:lnTo>
                  <a:pt x="179070" y="76199"/>
                </a:lnTo>
                <a:lnTo>
                  <a:pt x="175260" y="84581"/>
                </a:lnTo>
                <a:lnTo>
                  <a:pt x="183642" y="88391"/>
                </a:lnTo>
                <a:lnTo>
                  <a:pt x="187452" y="80009"/>
                </a:lnTo>
                <a:close/>
              </a:path>
              <a:path w="537210" h="240029">
                <a:moveTo>
                  <a:pt x="204978" y="87630"/>
                </a:moveTo>
                <a:lnTo>
                  <a:pt x="196596" y="83819"/>
                </a:lnTo>
                <a:lnTo>
                  <a:pt x="192786" y="92201"/>
                </a:lnTo>
                <a:lnTo>
                  <a:pt x="201168" y="96012"/>
                </a:lnTo>
                <a:lnTo>
                  <a:pt x="204978" y="87630"/>
                </a:lnTo>
                <a:close/>
              </a:path>
              <a:path w="537210" h="240029">
                <a:moveTo>
                  <a:pt x="222504" y="95249"/>
                </a:moveTo>
                <a:lnTo>
                  <a:pt x="214122" y="91439"/>
                </a:lnTo>
                <a:lnTo>
                  <a:pt x="210312" y="99822"/>
                </a:lnTo>
                <a:lnTo>
                  <a:pt x="218694" y="103631"/>
                </a:lnTo>
                <a:lnTo>
                  <a:pt x="222504" y="95249"/>
                </a:lnTo>
                <a:close/>
              </a:path>
              <a:path w="537210" h="240029">
                <a:moveTo>
                  <a:pt x="240030" y="102869"/>
                </a:moveTo>
                <a:lnTo>
                  <a:pt x="231648" y="99059"/>
                </a:lnTo>
                <a:lnTo>
                  <a:pt x="227838" y="107441"/>
                </a:lnTo>
                <a:lnTo>
                  <a:pt x="236220" y="111251"/>
                </a:lnTo>
                <a:lnTo>
                  <a:pt x="240030" y="102869"/>
                </a:lnTo>
                <a:close/>
              </a:path>
              <a:path w="537210" h="240029">
                <a:moveTo>
                  <a:pt x="257556" y="110489"/>
                </a:moveTo>
                <a:lnTo>
                  <a:pt x="249174" y="106679"/>
                </a:lnTo>
                <a:lnTo>
                  <a:pt x="245364" y="115061"/>
                </a:lnTo>
                <a:lnTo>
                  <a:pt x="253746" y="118871"/>
                </a:lnTo>
                <a:lnTo>
                  <a:pt x="257556" y="110489"/>
                </a:lnTo>
                <a:close/>
              </a:path>
              <a:path w="537210" h="240029">
                <a:moveTo>
                  <a:pt x="275082" y="117347"/>
                </a:moveTo>
                <a:lnTo>
                  <a:pt x="266700" y="114299"/>
                </a:lnTo>
                <a:lnTo>
                  <a:pt x="262890" y="122681"/>
                </a:lnTo>
                <a:lnTo>
                  <a:pt x="271272" y="126491"/>
                </a:lnTo>
                <a:lnTo>
                  <a:pt x="275082" y="117347"/>
                </a:lnTo>
                <a:close/>
              </a:path>
              <a:path w="537210" h="240029">
                <a:moveTo>
                  <a:pt x="292608" y="124967"/>
                </a:moveTo>
                <a:lnTo>
                  <a:pt x="283464" y="121157"/>
                </a:lnTo>
                <a:lnTo>
                  <a:pt x="279654" y="130301"/>
                </a:lnTo>
                <a:lnTo>
                  <a:pt x="288798" y="134111"/>
                </a:lnTo>
                <a:lnTo>
                  <a:pt x="292608" y="124967"/>
                </a:lnTo>
                <a:close/>
              </a:path>
              <a:path w="537210" h="240029">
                <a:moveTo>
                  <a:pt x="310134" y="132587"/>
                </a:moveTo>
                <a:lnTo>
                  <a:pt x="300990" y="128777"/>
                </a:lnTo>
                <a:lnTo>
                  <a:pt x="297180" y="137921"/>
                </a:lnTo>
                <a:lnTo>
                  <a:pt x="306324" y="141731"/>
                </a:lnTo>
                <a:lnTo>
                  <a:pt x="310134" y="132587"/>
                </a:lnTo>
                <a:close/>
              </a:path>
              <a:path w="537210" h="240029">
                <a:moveTo>
                  <a:pt x="327660" y="140207"/>
                </a:moveTo>
                <a:lnTo>
                  <a:pt x="318516" y="136397"/>
                </a:lnTo>
                <a:lnTo>
                  <a:pt x="314706" y="145542"/>
                </a:lnTo>
                <a:lnTo>
                  <a:pt x="323850" y="149351"/>
                </a:lnTo>
                <a:lnTo>
                  <a:pt x="327660" y="140207"/>
                </a:lnTo>
                <a:close/>
              </a:path>
              <a:path w="537210" h="240029">
                <a:moveTo>
                  <a:pt x="345186" y="147827"/>
                </a:moveTo>
                <a:lnTo>
                  <a:pt x="336042" y="144017"/>
                </a:lnTo>
                <a:lnTo>
                  <a:pt x="332232" y="153161"/>
                </a:lnTo>
                <a:lnTo>
                  <a:pt x="341376" y="156971"/>
                </a:lnTo>
                <a:lnTo>
                  <a:pt x="345186" y="147827"/>
                </a:lnTo>
                <a:close/>
              </a:path>
              <a:path w="537210" h="240029">
                <a:moveTo>
                  <a:pt x="362712" y="155447"/>
                </a:moveTo>
                <a:lnTo>
                  <a:pt x="353568" y="151637"/>
                </a:lnTo>
                <a:lnTo>
                  <a:pt x="349758" y="160781"/>
                </a:lnTo>
                <a:lnTo>
                  <a:pt x="358902" y="164592"/>
                </a:lnTo>
                <a:lnTo>
                  <a:pt x="362712" y="155447"/>
                </a:lnTo>
                <a:close/>
              </a:path>
              <a:path w="537210" h="240029">
                <a:moveTo>
                  <a:pt x="380238" y="163067"/>
                </a:moveTo>
                <a:lnTo>
                  <a:pt x="371094" y="159257"/>
                </a:lnTo>
                <a:lnTo>
                  <a:pt x="367284" y="168401"/>
                </a:lnTo>
                <a:lnTo>
                  <a:pt x="376428" y="172211"/>
                </a:lnTo>
                <a:lnTo>
                  <a:pt x="380238" y="163067"/>
                </a:lnTo>
                <a:close/>
              </a:path>
              <a:path w="537210" h="240029">
                <a:moveTo>
                  <a:pt x="397764" y="170687"/>
                </a:moveTo>
                <a:lnTo>
                  <a:pt x="388620" y="166877"/>
                </a:lnTo>
                <a:lnTo>
                  <a:pt x="384810" y="176021"/>
                </a:lnTo>
                <a:lnTo>
                  <a:pt x="393954" y="179831"/>
                </a:lnTo>
                <a:lnTo>
                  <a:pt x="397764" y="170687"/>
                </a:lnTo>
                <a:close/>
              </a:path>
              <a:path w="537210" h="240029">
                <a:moveTo>
                  <a:pt x="415290" y="178307"/>
                </a:moveTo>
                <a:lnTo>
                  <a:pt x="406146" y="174497"/>
                </a:lnTo>
                <a:lnTo>
                  <a:pt x="402336" y="182879"/>
                </a:lnTo>
                <a:lnTo>
                  <a:pt x="411480" y="186689"/>
                </a:lnTo>
                <a:lnTo>
                  <a:pt x="415290" y="178307"/>
                </a:lnTo>
                <a:close/>
              </a:path>
              <a:path w="537210" h="240029">
                <a:moveTo>
                  <a:pt x="432054" y="185927"/>
                </a:moveTo>
                <a:lnTo>
                  <a:pt x="423672" y="182117"/>
                </a:lnTo>
                <a:lnTo>
                  <a:pt x="419862" y="190499"/>
                </a:lnTo>
                <a:lnTo>
                  <a:pt x="428244" y="194310"/>
                </a:lnTo>
                <a:lnTo>
                  <a:pt x="432054" y="185927"/>
                </a:lnTo>
                <a:close/>
              </a:path>
              <a:path w="537210" h="240029">
                <a:moveTo>
                  <a:pt x="449580" y="193547"/>
                </a:moveTo>
                <a:lnTo>
                  <a:pt x="441198" y="189737"/>
                </a:lnTo>
                <a:lnTo>
                  <a:pt x="437388" y="198119"/>
                </a:lnTo>
                <a:lnTo>
                  <a:pt x="445770" y="201929"/>
                </a:lnTo>
                <a:lnTo>
                  <a:pt x="449580" y="193547"/>
                </a:lnTo>
                <a:close/>
              </a:path>
              <a:path w="537210" h="240029">
                <a:moveTo>
                  <a:pt x="467106" y="201167"/>
                </a:moveTo>
                <a:lnTo>
                  <a:pt x="458724" y="197357"/>
                </a:lnTo>
                <a:lnTo>
                  <a:pt x="454914" y="205739"/>
                </a:lnTo>
                <a:lnTo>
                  <a:pt x="463296" y="209549"/>
                </a:lnTo>
                <a:lnTo>
                  <a:pt x="467106" y="201167"/>
                </a:lnTo>
                <a:close/>
              </a:path>
              <a:path w="537210" h="240029">
                <a:moveTo>
                  <a:pt x="484632" y="208787"/>
                </a:moveTo>
                <a:lnTo>
                  <a:pt x="476250" y="204977"/>
                </a:lnTo>
                <a:lnTo>
                  <a:pt x="472440" y="213359"/>
                </a:lnTo>
                <a:lnTo>
                  <a:pt x="480822" y="217169"/>
                </a:lnTo>
                <a:lnTo>
                  <a:pt x="484632" y="208787"/>
                </a:lnTo>
                <a:close/>
              </a:path>
              <a:path w="537210" h="240029">
                <a:moveTo>
                  <a:pt x="502158" y="216407"/>
                </a:moveTo>
                <a:lnTo>
                  <a:pt x="493776" y="212597"/>
                </a:lnTo>
                <a:lnTo>
                  <a:pt x="489966" y="220979"/>
                </a:lnTo>
                <a:lnTo>
                  <a:pt x="498348" y="224789"/>
                </a:lnTo>
                <a:lnTo>
                  <a:pt x="502158" y="216407"/>
                </a:lnTo>
                <a:close/>
              </a:path>
              <a:path w="537210" h="240029">
                <a:moveTo>
                  <a:pt x="519684" y="224027"/>
                </a:moveTo>
                <a:lnTo>
                  <a:pt x="511302" y="220217"/>
                </a:lnTo>
                <a:lnTo>
                  <a:pt x="507492" y="228599"/>
                </a:lnTo>
                <a:lnTo>
                  <a:pt x="515874" y="232409"/>
                </a:lnTo>
                <a:lnTo>
                  <a:pt x="519684" y="224027"/>
                </a:lnTo>
                <a:close/>
              </a:path>
              <a:path w="537210" h="240029">
                <a:moveTo>
                  <a:pt x="537210" y="231647"/>
                </a:moveTo>
                <a:lnTo>
                  <a:pt x="528828" y="227837"/>
                </a:lnTo>
                <a:lnTo>
                  <a:pt x="525018" y="236219"/>
                </a:lnTo>
                <a:lnTo>
                  <a:pt x="533400" y="240029"/>
                </a:lnTo>
                <a:lnTo>
                  <a:pt x="537210" y="231647"/>
                </a:lnTo>
                <a:close/>
              </a:path>
            </a:pathLst>
          </a:custGeom>
          <a:solidFill>
            <a:srgbClr val="000000"/>
          </a:solidFill>
        </p:spPr>
        <p:txBody>
          <a:bodyPr wrap="square" lIns="0" tIns="0" rIns="0" bIns="0" rtlCol="0"/>
          <a:lstStyle/>
          <a:p>
            <a:endParaRPr/>
          </a:p>
        </p:txBody>
      </p:sp>
      <p:sp>
        <p:nvSpPr>
          <p:cNvPr id="55" name="object 55"/>
          <p:cNvSpPr/>
          <p:nvPr/>
        </p:nvSpPr>
        <p:spPr>
          <a:xfrm>
            <a:off x="4019550" y="4789932"/>
            <a:ext cx="321310" cy="132715"/>
          </a:xfrm>
          <a:custGeom>
            <a:avLst/>
            <a:gdLst/>
            <a:ahLst/>
            <a:cxnLst/>
            <a:rect l="l" t="t" r="r" b="b"/>
            <a:pathLst>
              <a:path w="321310" h="132714">
                <a:moveTo>
                  <a:pt x="320802" y="124205"/>
                </a:moveTo>
                <a:lnTo>
                  <a:pt x="3810" y="0"/>
                </a:lnTo>
                <a:lnTo>
                  <a:pt x="0" y="9144"/>
                </a:lnTo>
                <a:lnTo>
                  <a:pt x="317754" y="132587"/>
                </a:lnTo>
                <a:lnTo>
                  <a:pt x="320802" y="124205"/>
                </a:lnTo>
                <a:close/>
              </a:path>
            </a:pathLst>
          </a:custGeom>
          <a:solidFill>
            <a:srgbClr val="000000"/>
          </a:solidFill>
        </p:spPr>
        <p:txBody>
          <a:bodyPr wrap="square" lIns="0" tIns="0" rIns="0" bIns="0" rtlCol="0"/>
          <a:lstStyle/>
          <a:p>
            <a:endParaRPr/>
          </a:p>
        </p:txBody>
      </p:sp>
      <p:sp>
        <p:nvSpPr>
          <p:cNvPr id="56" name="object 56"/>
          <p:cNvSpPr/>
          <p:nvPr/>
        </p:nvSpPr>
        <p:spPr>
          <a:xfrm>
            <a:off x="4343400" y="4914138"/>
            <a:ext cx="537210" cy="240029"/>
          </a:xfrm>
          <a:custGeom>
            <a:avLst/>
            <a:gdLst/>
            <a:ahLst/>
            <a:cxnLst/>
            <a:rect l="l" t="t" r="r" b="b"/>
            <a:pathLst>
              <a:path w="537210" h="240029">
                <a:moveTo>
                  <a:pt x="12954" y="3809"/>
                </a:moveTo>
                <a:lnTo>
                  <a:pt x="3810" y="0"/>
                </a:lnTo>
                <a:lnTo>
                  <a:pt x="0" y="8382"/>
                </a:lnTo>
                <a:lnTo>
                  <a:pt x="9144" y="12192"/>
                </a:lnTo>
                <a:lnTo>
                  <a:pt x="12954" y="3809"/>
                </a:lnTo>
                <a:close/>
              </a:path>
              <a:path w="537210" h="240029">
                <a:moveTo>
                  <a:pt x="29718" y="11429"/>
                </a:moveTo>
                <a:lnTo>
                  <a:pt x="21336" y="7619"/>
                </a:lnTo>
                <a:lnTo>
                  <a:pt x="17526" y="16002"/>
                </a:lnTo>
                <a:lnTo>
                  <a:pt x="25908" y="19812"/>
                </a:lnTo>
                <a:lnTo>
                  <a:pt x="29718" y="11429"/>
                </a:lnTo>
                <a:close/>
              </a:path>
              <a:path w="537210" h="240029">
                <a:moveTo>
                  <a:pt x="47244" y="19049"/>
                </a:moveTo>
                <a:lnTo>
                  <a:pt x="38862" y="15239"/>
                </a:lnTo>
                <a:lnTo>
                  <a:pt x="35052" y="23621"/>
                </a:lnTo>
                <a:lnTo>
                  <a:pt x="43434" y="27432"/>
                </a:lnTo>
                <a:lnTo>
                  <a:pt x="47244" y="19049"/>
                </a:lnTo>
                <a:close/>
              </a:path>
              <a:path w="537210" h="240029">
                <a:moveTo>
                  <a:pt x="64770" y="26669"/>
                </a:moveTo>
                <a:lnTo>
                  <a:pt x="56388" y="22859"/>
                </a:lnTo>
                <a:lnTo>
                  <a:pt x="52578" y="31241"/>
                </a:lnTo>
                <a:lnTo>
                  <a:pt x="60960" y="35051"/>
                </a:lnTo>
                <a:lnTo>
                  <a:pt x="64770" y="26669"/>
                </a:lnTo>
                <a:close/>
              </a:path>
              <a:path w="537210" h="240029">
                <a:moveTo>
                  <a:pt x="82296" y="34290"/>
                </a:moveTo>
                <a:lnTo>
                  <a:pt x="73914" y="30479"/>
                </a:lnTo>
                <a:lnTo>
                  <a:pt x="70104" y="38861"/>
                </a:lnTo>
                <a:lnTo>
                  <a:pt x="78486" y="42671"/>
                </a:lnTo>
                <a:lnTo>
                  <a:pt x="82296" y="34290"/>
                </a:lnTo>
                <a:close/>
              </a:path>
              <a:path w="537210" h="240029">
                <a:moveTo>
                  <a:pt x="99822" y="41909"/>
                </a:moveTo>
                <a:lnTo>
                  <a:pt x="91440" y="38099"/>
                </a:lnTo>
                <a:lnTo>
                  <a:pt x="87630" y="46481"/>
                </a:lnTo>
                <a:lnTo>
                  <a:pt x="96012" y="50291"/>
                </a:lnTo>
                <a:lnTo>
                  <a:pt x="99822" y="41909"/>
                </a:lnTo>
                <a:close/>
              </a:path>
              <a:path w="537210" h="240029">
                <a:moveTo>
                  <a:pt x="117348" y="49529"/>
                </a:moveTo>
                <a:lnTo>
                  <a:pt x="108966" y="45719"/>
                </a:lnTo>
                <a:lnTo>
                  <a:pt x="105156" y="54101"/>
                </a:lnTo>
                <a:lnTo>
                  <a:pt x="113538" y="57911"/>
                </a:lnTo>
                <a:lnTo>
                  <a:pt x="117348" y="49529"/>
                </a:lnTo>
                <a:close/>
              </a:path>
              <a:path w="537210" h="240029">
                <a:moveTo>
                  <a:pt x="134874" y="57149"/>
                </a:moveTo>
                <a:lnTo>
                  <a:pt x="126492" y="53339"/>
                </a:lnTo>
                <a:lnTo>
                  <a:pt x="122682" y="61721"/>
                </a:lnTo>
                <a:lnTo>
                  <a:pt x="131064" y="65531"/>
                </a:lnTo>
                <a:lnTo>
                  <a:pt x="134874" y="57149"/>
                </a:lnTo>
                <a:close/>
              </a:path>
              <a:path w="537210" h="240029">
                <a:moveTo>
                  <a:pt x="152400" y="64769"/>
                </a:moveTo>
                <a:lnTo>
                  <a:pt x="144018" y="60959"/>
                </a:lnTo>
                <a:lnTo>
                  <a:pt x="140208" y="69341"/>
                </a:lnTo>
                <a:lnTo>
                  <a:pt x="148590" y="73151"/>
                </a:lnTo>
                <a:lnTo>
                  <a:pt x="152400" y="64769"/>
                </a:lnTo>
                <a:close/>
              </a:path>
              <a:path w="537210" h="240029">
                <a:moveTo>
                  <a:pt x="169926" y="71627"/>
                </a:moveTo>
                <a:lnTo>
                  <a:pt x="160782" y="67817"/>
                </a:lnTo>
                <a:lnTo>
                  <a:pt x="156972" y="76961"/>
                </a:lnTo>
                <a:lnTo>
                  <a:pt x="166116" y="80772"/>
                </a:lnTo>
                <a:lnTo>
                  <a:pt x="169926" y="71627"/>
                </a:lnTo>
                <a:close/>
              </a:path>
              <a:path w="537210" h="240029">
                <a:moveTo>
                  <a:pt x="187452" y="79247"/>
                </a:moveTo>
                <a:lnTo>
                  <a:pt x="178308" y="75437"/>
                </a:lnTo>
                <a:lnTo>
                  <a:pt x="174498" y="84581"/>
                </a:lnTo>
                <a:lnTo>
                  <a:pt x="183642" y="88391"/>
                </a:lnTo>
                <a:lnTo>
                  <a:pt x="187452" y="79247"/>
                </a:lnTo>
                <a:close/>
              </a:path>
              <a:path w="537210" h="240029">
                <a:moveTo>
                  <a:pt x="204978" y="86867"/>
                </a:moveTo>
                <a:lnTo>
                  <a:pt x="195834" y="83057"/>
                </a:lnTo>
                <a:lnTo>
                  <a:pt x="192024" y="92201"/>
                </a:lnTo>
                <a:lnTo>
                  <a:pt x="201168" y="96012"/>
                </a:lnTo>
                <a:lnTo>
                  <a:pt x="204978" y="86867"/>
                </a:lnTo>
                <a:close/>
              </a:path>
              <a:path w="537210" h="240029">
                <a:moveTo>
                  <a:pt x="222504" y="94488"/>
                </a:moveTo>
                <a:lnTo>
                  <a:pt x="213360" y="90677"/>
                </a:lnTo>
                <a:lnTo>
                  <a:pt x="209550" y="99822"/>
                </a:lnTo>
                <a:lnTo>
                  <a:pt x="218694" y="103631"/>
                </a:lnTo>
                <a:lnTo>
                  <a:pt x="222504" y="94488"/>
                </a:lnTo>
                <a:close/>
              </a:path>
              <a:path w="537210" h="240029">
                <a:moveTo>
                  <a:pt x="240030" y="102107"/>
                </a:moveTo>
                <a:lnTo>
                  <a:pt x="230886" y="98297"/>
                </a:lnTo>
                <a:lnTo>
                  <a:pt x="227076" y="107441"/>
                </a:lnTo>
                <a:lnTo>
                  <a:pt x="236220" y="111251"/>
                </a:lnTo>
                <a:lnTo>
                  <a:pt x="240030" y="102107"/>
                </a:lnTo>
                <a:close/>
              </a:path>
              <a:path w="537210" h="240029">
                <a:moveTo>
                  <a:pt x="257556" y="109727"/>
                </a:moveTo>
                <a:lnTo>
                  <a:pt x="248412" y="105917"/>
                </a:lnTo>
                <a:lnTo>
                  <a:pt x="244602" y="115061"/>
                </a:lnTo>
                <a:lnTo>
                  <a:pt x="253746" y="118871"/>
                </a:lnTo>
                <a:lnTo>
                  <a:pt x="257556" y="109727"/>
                </a:lnTo>
                <a:close/>
              </a:path>
              <a:path w="537210" h="240029">
                <a:moveTo>
                  <a:pt x="275082" y="117347"/>
                </a:moveTo>
                <a:lnTo>
                  <a:pt x="265938" y="113537"/>
                </a:lnTo>
                <a:lnTo>
                  <a:pt x="262128" y="122681"/>
                </a:lnTo>
                <a:lnTo>
                  <a:pt x="271272" y="126491"/>
                </a:lnTo>
                <a:lnTo>
                  <a:pt x="275082" y="117347"/>
                </a:lnTo>
                <a:close/>
              </a:path>
              <a:path w="537210" h="240029">
                <a:moveTo>
                  <a:pt x="291846" y="124967"/>
                </a:moveTo>
                <a:lnTo>
                  <a:pt x="283464" y="121157"/>
                </a:lnTo>
                <a:lnTo>
                  <a:pt x="279654" y="130301"/>
                </a:lnTo>
                <a:lnTo>
                  <a:pt x="288036" y="134111"/>
                </a:lnTo>
                <a:lnTo>
                  <a:pt x="291846" y="124967"/>
                </a:lnTo>
                <a:close/>
              </a:path>
              <a:path w="537210" h="240029">
                <a:moveTo>
                  <a:pt x="309372" y="132587"/>
                </a:moveTo>
                <a:lnTo>
                  <a:pt x="300990" y="128777"/>
                </a:lnTo>
                <a:lnTo>
                  <a:pt x="297180" y="137921"/>
                </a:lnTo>
                <a:lnTo>
                  <a:pt x="305562" y="141731"/>
                </a:lnTo>
                <a:lnTo>
                  <a:pt x="309372" y="132587"/>
                </a:lnTo>
                <a:close/>
              </a:path>
              <a:path w="537210" h="240029">
                <a:moveTo>
                  <a:pt x="326898" y="140207"/>
                </a:moveTo>
                <a:lnTo>
                  <a:pt x="318516" y="136397"/>
                </a:lnTo>
                <a:lnTo>
                  <a:pt x="314706" y="145542"/>
                </a:lnTo>
                <a:lnTo>
                  <a:pt x="323088" y="149351"/>
                </a:lnTo>
                <a:lnTo>
                  <a:pt x="326898" y="140207"/>
                </a:lnTo>
                <a:close/>
              </a:path>
              <a:path w="537210" h="240029">
                <a:moveTo>
                  <a:pt x="344424" y="147827"/>
                </a:moveTo>
                <a:lnTo>
                  <a:pt x="336042" y="144017"/>
                </a:lnTo>
                <a:lnTo>
                  <a:pt x="332232" y="152399"/>
                </a:lnTo>
                <a:lnTo>
                  <a:pt x="340614" y="156210"/>
                </a:lnTo>
                <a:lnTo>
                  <a:pt x="344424" y="147827"/>
                </a:lnTo>
                <a:close/>
              </a:path>
              <a:path w="537210" h="240029">
                <a:moveTo>
                  <a:pt x="361950" y="155447"/>
                </a:moveTo>
                <a:lnTo>
                  <a:pt x="353568" y="151637"/>
                </a:lnTo>
                <a:lnTo>
                  <a:pt x="349758" y="160019"/>
                </a:lnTo>
                <a:lnTo>
                  <a:pt x="358140" y="163829"/>
                </a:lnTo>
                <a:lnTo>
                  <a:pt x="361950" y="155447"/>
                </a:lnTo>
                <a:close/>
              </a:path>
              <a:path w="537210" h="240029">
                <a:moveTo>
                  <a:pt x="379476" y="163067"/>
                </a:moveTo>
                <a:lnTo>
                  <a:pt x="371094" y="159257"/>
                </a:lnTo>
                <a:lnTo>
                  <a:pt x="367284" y="167639"/>
                </a:lnTo>
                <a:lnTo>
                  <a:pt x="375666" y="171449"/>
                </a:lnTo>
                <a:lnTo>
                  <a:pt x="379476" y="163067"/>
                </a:lnTo>
                <a:close/>
              </a:path>
              <a:path w="537210" h="240029">
                <a:moveTo>
                  <a:pt x="397002" y="170687"/>
                </a:moveTo>
                <a:lnTo>
                  <a:pt x="388620" y="166877"/>
                </a:lnTo>
                <a:lnTo>
                  <a:pt x="384810" y="175260"/>
                </a:lnTo>
                <a:lnTo>
                  <a:pt x="393192" y="179069"/>
                </a:lnTo>
                <a:lnTo>
                  <a:pt x="397002" y="170687"/>
                </a:lnTo>
                <a:close/>
              </a:path>
              <a:path w="537210" h="240029">
                <a:moveTo>
                  <a:pt x="414528" y="178307"/>
                </a:moveTo>
                <a:lnTo>
                  <a:pt x="406146" y="174497"/>
                </a:lnTo>
                <a:lnTo>
                  <a:pt x="402336" y="182879"/>
                </a:lnTo>
                <a:lnTo>
                  <a:pt x="410718" y="186689"/>
                </a:lnTo>
                <a:lnTo>
                  <a:pt x="414528" y="178307"/>
                </a:lnTo>
                <a:close/>
              </a:path>
              <a:path w="537210" h="240029">
                <a:moveTo>
                  <a:pt x="432054" y="185927"/>
                </a:moveTo>
                <a:lnTo>
                  <a:pt x="422910" y="182117"/>
                </a:lnTo>
                <a:lnTo>
                  <a:pt x="419100" y="190499"/>
                </a:lnTo>
                <a:lnTo>
                  <a:pt x="428244" y="194310"/>
                </a:lnTo>
                <a:lnTo>
                  <a:pt x="432054" y="185927"/>
                </a:lnTo>
                <a:close/>
              </a:path>
              <a:path w="537210" h="240029">
                <a:moveTo>
                  <a:pt x="449580" y="193547"/>
                </a:moveTo>
                <a:lnTo>
                  <a:pt x="440436" y="189737"/>
                </a:lnTo>
                <a:lnTo>
                  <a:pt x="436626" y="198119"/>
                </a:lnTo>
                <a:lnTo>
                  <a:pt x="445770" y="201929"/>
                </a:lnTo>
                <a:lnTo>
                  <a:pt x="449580" y="193547"/>
                </a:lnTo>
                <a:close/>
              </a:path>
              <a:path w="537210" h="240029">
                <a:moveTo>
                  <a:pt x="467106" y="201167"/>
                </a:moveTo>
                <a:lnTo>
                  <a:pt x="457962" y="197357"/>
                </a:lnTo>
                <a:lnTo>
                  <a:pt x="454152" y="205739"/>
                </a:lnTo>
                <a:lnTo>
                  <a:pt x="463296" y="209549"/>
                </a:lnTo>
                <a:lnTo>
                  <a:pt x="467106" y="201167"/>
                </a:lnTo>
                <a:close/>
              </a:path>
              <a:path w="537210" h="240029">
                <a:moveTo>
                  <a:pt x="484632" y="208787"/>
                </a:moveTo>
                <a:lnTo>
                  <a:pt x="475488" y="204977"/>
                </a:lnTo>
                <a:lnTo>
                  <a:pt x="471678" y="213359"/>
                </a:lnTo>
                <a:lnTo>
                  <a:pt x="480822" y="217169"/>
                </a:lnTo>
                <a:lnTo>
                  <a:pt x="484632" y="208787"/>
                </a:lnTo>
                <a:close/>
              </a:path>
              <a:path w="537210" h="240029">
                <a:moveTo>
                  <a:pt x="502158" y="216407"/>
                </a:moveTo>
                <a:lnTo>
                  <a:pt x="493014" y="212597"/>
                </a:lnTo>
                <a:lnTo>
                  <a:pt x="489204" y="220979"/>
                </a:lnTo>
                <a:lnTo>
                  <a:pt x="498348" y="224789"/>
                </a:lnTo>
                <a:lnTo>
                  <a:pt x="502158" y="216407"/>
                </a:lnTo>
                <a:close/>
              </a:path>
              <a:path w="537210" h="240029">
                <a:moveTo>
                  <a:pt x="519684" y="224027"/>
                </a:moveTo>
                <a:lnTo>
                  <a:pt x="510540" y="220217"/>
                </a:lnTo>
                <a:lnTo>
                  <a:pt x="506730" y="228599"/>
                </a:lnTo>
                <a:lnTo>
                  <a:pt x="515874" y="232409"/>
                </a:lnTo>
                <a:lnTo>
                  <a:pt x="519684" y="224027"/>
                </a:lnTo>
                <a:close/>
              </a:path>
              <a:path w="537210" h="240029">
                <a:moveTo>
                  <a:pt x="537210" y="230885"/>
                </a:moveTo>
                <a:lnTo>
                  <a:pt x="528066" y="227837"/>
                </a:lnTo>
                <a:lnTo>
                  <a:pt x="524256" y="236219"/>
                </a:lnTo>
                <a:lnTo>
                  <a:pt x="533400" y="240029"/>
                </a:lnTo>
                <a:lnTo>
                  <a:pt x="537210" y="230885"/>
                </a:lnTo>
                <a:close/>
              </a:path>
            </a:pathLst>
          </a:custGeom>
          <a:solidFill>
            <a:srgbClr val="000000"/>
          </a:solidFill>
        </p:spPr>
        <p:txBody>
          <a:bodyPr wrap="square" lIns="0" tIns="0" rIns="0" bIns="0" rtlCol="0"/>
          <a:lstStyle/>
          <a:p>
            <a:endParaRPr/>
          </a:p>
        </p:txBody>
      </p:sp>
      <p:grpSp>
        <p:nvGrpSpPr>
          <p:cNvPr id="70" name="Group 69"/>
          <p:cNvGrpSpPr/>
          <p:nvPr/>
        </p:nvGrpSpPr>
        <p:grpSpPr>
          <a:xfrm>
            <a:off x="4180205" y="6509813"/>
            <a:ext cx="2765424" cy="748529"/>
            <a:chOff x="2264155" y="6765502"/>
            <a:chExt cx="2765424" cy="748529"/>
          </a:xfrm>
        </p:grpSpPr>
        <p:sp>
          <p:nvSpPr>
            <p:cNvPr id="57" name="object 57"/>
            <p:cNvSpPr txBox="1"/>
            <p:nvPr/>
          </p:nvSpPr>
          <p:spPr>
            <a:xfrm>
              <a:off x="2264155" y="6885136"/>
              <a:ext cx="215900" cy="341630"/>
            </a:xfrm>
            <a:prstGeom prst="rect">
              <a:avLst/>
            </a:prstGeom>
          </p:spPr>
          <p:txBody>
            <a:bodyPr vert="horz" wrap="square" lIns="0" tIns="15240" rIns="0" bIns="0" rtlCol="0">
              <a:spAutoFit/>
            </a:bodyPr>
            <a:lstStyle/>
            <a:p>
              <a:pPr marL="12700">
                <a:lnSpc>
                  <a:spcPct val="100000"/>
                </a:lnSpc>
                <a:spcBef>
                  <a:spcPts val="120"/>
                </a:spcBef>
              </a:pPr>
              <a:r>
                <a:rPr sz="2050" i="1" spc="15" dirty="0">
                  <a:latin typeface="Arial"/>
                  <a:cs typeface="Arial"/>
                </a:rPr>
                <a:t>U</a:t>
              </a:r>
              <a:endParaRPr sz="2050">
                <a:latin typeface="Arial"/>
                <a:cs typeface="Arial"/>
              </a:endParaRPr>
            </a:p>
          </p:txBody>
        </p:sp>
        <p:sp>
          <p:nvSpPr>
            <p:cNvPr id="58" name="object 58"/>
            <p:cNvSpPr txBox="1"/>
            <p:nvPr/>
          </p:nvSpPr>
          <p:spPr>
            <a:xfrm>
              <a:off x="2503422" y="7100645"/>
              <a:ext cx="671830" cy="284480"/>
            </a:xfrm>
            <a:prstGeom prst="rect">
              <a:avLst/>
            </a:prstGeom>
          </p:spPr>
          <p:txBody>
            <a:bodyPr vert="horz" wrap="square" lIns="0" tIns="12065" rIns="0" bIns="0" rtlCol="0">
              <a:spAutoFit/>
            </a:bodyPr>
            <a:lstStyle/>
            <a:p>
              <a:pPr marL="12700">
                <a:lnSpc>
                  <a:spcPct val="100000"/>
                </a:lnSpc>
                <a:spcBef>
                  <a:spcPts val="95"/>
                </a:spcBef>
              </a:pPr>
              <a:r>
                <a:rPr sz="1700" i="1" spc="-25" dirty="0">
                  <a:latin typeface="Arial"/>
                  <a:cs typeface="Arial"/>
                </a:rPr>
                <a:t>sender</a:t>
              </a:r>
              <a:endParaRPr sz="1700">
                <a:latin typeface="Arial"/>
                <a:cs typeface="Arial"/>
              </a:endParaRPr>
            </a:p>
          </p:txBody>
        </p:sp>
        <p:sp>
          <p:nvSpPr>
            <p:cNvPr id="59" name="object 59"/>
            <p:cNvSpPr txBox="1"/>
            <p:nvPr/>
          </p:nvSpPr>
          <p:spPr>
            <a:xfrm>
              <a:off x="3197605" y="6956764"/>
              <a:ext cx="173990" cy="341630"/>
            </a:xfrm>
            <a:prstGeom prst="rect">
              <a:avLst/>
            </a:prstGeom>
          </p:spPr>
          <p:txBody>
            <a:bodyPr vert="horz" wrap="square" lIns="0" tIns="15240" rIns="0" bIns="0" rtlCol="0">
              <a:spAutoFit/>
            </a:bodyPr>
            <a:lstStyle/>
            <a:p>
              <a:pPr marL="12700">
                <a:lnSpc>
                  <a:spcPct val="100000"/>
                </a:lnSpc>
                <a:spcBef>
                  <a:spcPts val="120"/>
                </a:spcBef>
              </a:pPr>
              <a:r>
                <a:rPr sz="2050" spc="10" dirty="0">
                  <a:latin typeface="Times New Roman"/>
                  <a:cs typeface="Times New Roman"/>
                </a:rPr>
                <a:t>=</a:t>
              </a:r>
              <a:endParaRPr sz="2050">
                <a:latin typeface="Times New Roman"/>
                <a:cs typeface="Times New Roman"/>
              </a:endParaRPr>
            </a:p>
          </p:txBody>
        </p:sp>
        <p:sp>
          <p:nvSpPr>
            <p:cNvPr id="64" name="object 64"/>
            <p:cNvSpPr txBox="1"/>
            <p:nvPr/>
          </p:nvSpPr>
          <p:spPr>
            <a:xfrm>
              <a:off x="3939030" y="6765502"/>
              <a:ext cx="575310" cy="341630"/>
            </a:xfrm>
            <a:prstGeom prst="rect">
              <a:avLst/>
            </a:prstGeom>
          </p:spPr>
          <p:txBody>
            <a:bodyPr vert="horz" wrap="square" lIns="0" tIns="15240" rIns="0" bIns="0" rtlCol="0">
              <a:spAutoFit/>
            </a:bodyPr>
            <a:lstStyle/>
            <a:p>
              <a:pPr marL="12700">
                <a:lnSpc>
                  <a:spcPct val="100000"/>
                </a:lnSpc>
                <a:spcBef>
                  <a:spcPts val="120"/>
                </a:spcBef>
              </a:pPr>
              <a:r>
                <a:rPr sz="2050" i="1" spc="10" dirty="0">
                  <a:latin typeface="Arial"/>
                  <a:cs typeface="Arial"/>
                </a:rPr>
                <a:t>L </a:t>
              </a:r>
              <a:r>
                <a:rPr sz="2050" i="1" spc="5" dirty="0">
                  <a:latin typeface="Arial"/>
                  <a:cs typeface="Arial"/>
                </a:rPr>
                <a:t>/</a:t>
              </a:r>
              <a:r>
                <a:rPr sz="2050" i="1" spc="-140" dirty="0">
                  <a:latin typeface="Arial"/>
                  <a:cs typeface="Arial"/>
                </a:rPr>
                <a:t> </a:t>
              </a:r>
              <a:r>
                <a:rPr sz="2050" i="1" spc="15" dirty="0">
                  <a:latin typeface="Arial"/>
                  <a:cs typeface="Arial"/>
                </a:rPr>
                <a:t>R</a:t>
              </a:r>
              <a:endParaRPr sz="2050">
                <a:latin typeface="Arial"/>
                <a:cs typeface="Arial"/>
              </a:endParaRPr>
            </a:p>
          </p:txBody>
        </p:sp>
        <p:sp>
          <p:nvSpPr>
            <p:cNvPr id="65" name="object 65"/>
            <p:cNvSpPr txBox="1"/>
            <p:nvPr/>
          </p:nvSpPr>
          <p:spPr>
            <a:xfrm>
              <a:off x="3556511" y="7172401"/>
              <a:ext cx="1388745" cy="341630"/>
            </a:xfrm>
            <a:prstGeom prst="rect">
              <a:avLst/>
            </a:prstGeom>
          </p:spPr>
          <p:txBody>
            <a:bodyPr vert="horz" wrap="square" lIns="0" tIns="15240" rIns="0" bIns="0" rtlCol="0">
              <a:spAutoFit/>
            </a:bodyPr>
            <a:lstStyle/>
            <a:p>
              <a:pPr marL="12700">
                <a:lnSpc>
                  <a:spcPct val="100000"/>
                </a:lnSpc>
                <a:spcBef>
                  <a:spcPts val="120"/>
                </a:spcBef>
              </a:pPr>
              <a:r>
                <a:rPr sz="2050" i="1" spc="-30" dirty="0">
                  <a:latin typeface="Arial"/>
                  <a:cs typeface="Arial"/>
                </a:rPr>
                <a:t>RTT </a:t>
              </a:r>
              <a:r>
                <a:rPr sz="2050" i="1" spc="10" dirty="0">
                  <a:latin typeface="Arial"/>
                  <a:cs typeface="Arial"/>
                </a:rPr>
                <a:t>+ L </a:t>
              </a:r>
              <a:r>
                <a:rPr sz="2050" i="1" spc="5" dirty="0">
                  <a:latin typeface="Arial"/>
                  <a:cs typeface="Arial"/>
                </a:rPr>
                <a:t>/</a:t>
              </a:r>
              <a:r>
                <a:rPr sz="2050" i="1" spc="30" dirty="0">
                  <a:latin typeface="Arial"/>
                  <a:cs typeface="Arial"/>
                </a:rPr>
                <a:t> </a:t>
              </a:r>
              <a:r>
                <a:rPr sz="2050" i="1" spc="15" dirty="0">
                  <a:latin typeface="Arial"/>
                  <a:cs typeface="Arial"/>
                </a:rPr>
                <a:t>R</a:t>
              </a:r>
              <a:endParaRPr sz="2050" dirty="0">
                <a:latin typeface="Arial"/>
                <a:cs typeface="Arial"/>
              </a:endParaRPr>
            </a:p>
          </p:txBody>
        </p:sp>
        <p:sp>
          <p:nvSpPr>
            <p:cNvPr id="67" name="object 67"/>
            <p:cNvSpPr/>
            <p:nvPr/>
          </p:nvSpPr>
          <p:spPr>
            <a:xfrm>
              <a:off x="3473194" y="7136732"/>
              <a:ext cx="1556385" cy="0"/>
            </a:xfrm>
            <a:custGeom>
              <a:avLst/>
              <a:gdLst/>
              <a:ahLst/>
              <a:cxnLst/>
              <a:rect l="l" t="t" r="r" b="b"/>
              <a:pathLst>
                <a:path w="1556385">
                  <a:moveTo>
                    <a:pt x="0" y="0"/>
                  </a:moveTo>
                  <a:lnTo>
                    <a:pt x="1556004" y="0"/>
                  </a:lnTo>
                </a:path>
              </a:pathLst>
            </a:custGeom>
            <a:ln w="23926">
              <a:solidFill>
                <a:srgbClr val="000000"/>
              </a:solidFill>
            </a:ln>
          </p:spPr>
          <p:txBody>
            <a:bodyPr wrap="square" lIns="0" tIns="0" rIns="0" bIns="0" rtlCol="0"/>
            <a:lstStyle/>
            <a:p>
              <a:endParaRPr/>
            </a:p>
          </p:txBody>
        </p:sp>
      </p:grpSp>
      <p:sp>
        <p:nvSpPr>
          <p:cNvPr id="69" name="TextBox 68"/>
          <p:cNvSpPr txBox="1"/>
          <p:nvPr/>
        </p:nvSpPr>
        <p:spPr>
          <a:xfrm>
            <a:off x="448435" y="5557584"/>
            <a:ext cx="3468371" cy="923330"/>
          </a:xfrm>
          <a:prstGeom prst="rect">
            <a:avLst/>
          </a:prstGeom>
          <a:noFill/>
        </p:spPr>
        <p:txBody>
          <a:bodyPr wrap="square" rtlCol="0">
            <a:spAutoFit/>
          </a:bodyPr>
          <a:lstStyle/>
          <a:p>
            <a:r>
              <a:rPr lang="en-US" dirty="0"/>
              <a:t>L:  Size of data </a:t>
            </a:r>
            <a:r>
              <a:rPr lang="en-US" dirty="0" err="1"/>
              <a:t>pkt</a:t>
            </a:r>
            <a:endParaRPr lang="en-US" dirty="0"/>
          </a:p>
          <a:p>
            <a:r>
              <a:rPr lang="en-US" dirty="0"/>
              <a:t>R:  Link bandwidth</a:t>
            </a:r>
          </a:p>
          <a:p>
            <a:r>
              <a:rPr lang="en-US" dirty="0"/>
              <a:t>RTT:  Round trip time</a:t>
            </a:r>
          </a:p>
        </p:txBody>
      </p:sp>
      <p:sp>
        <p:nvSpPr>
          <p:cNvPr id="60" name="Slide Number Placeholder 59"/>
          <p:cNvSpPr>
            <a:spLocks noGrp="1"/>
          </p:cNvSpPr>
          <p:nvPr>
            <p:ph type="sldNum" sz="quarter" idx="7"/>
          </p:nvPr>
        </p:nvSpPr>
        <p:spPr/>
        <p:txBody>
          <a:bodyPr/>
          <a:lstStyle/>
          <a:p>
            <a:pPr marL="12700">
              <a:lnSpc>
                <a:spcPts val="1645"/>
              </a:lnSpc>
            </a:pPr>
            <a:fld id="{81D60167-4931-47E6-BA6A-407CBD079E47}" type="slidenum">
              <a:rPr lang="en-US" spc="-5" smtClean="0"/>
              <a:t>34</a:t>
            </a:fld>
            <a:endParaRPr lang="en-US" spc="-5" dirty="0"/>
          </a:p>
        </p:txBody>
      </p:sp>
      <p:sp>
        <p:nvSpPr>
          <p:cNvPr id="66" name="object 4"/>
          <p:cNvSpPr txBox="1"/>
          <p:nvPr/>
        </p:nvSpPr>
        <p:spPr>
          <a:xfrm>
            <a:off x="2931604" y="5662041"/>
            <a:ext cx="6893179" cy="751488"/>
          </a:xfrm>
          <a:prstGeom prst="rect">
            <a:avLst/>
          </a:prstGeom>
        </p:spPr>
        <p:txBody>
          <a:bodyPr vert="horz" wrap="square" lIns="0" tIns="12700" rIns="0" bIns="0" rtlCol="0">
            <a:spAutoFit/>
          </a:bodyPr>
          <a:lstStyle/>
          <a:p>
            <a:pPr marL="12700">
              <a:lnSpc>
                <a:spcPct val="100000"/>
              </a:lnSpc>
              <a:spcBef>
                <a:spcPts val="100"/>
              </a:spcBef>
              <a:buClr>
                <a:srgbClr val="00009A"/>
              </a:buClr>
              <a:tabLst>
                <a:tab pos="244475" algn="l"/>
              </a:tabLst>
            </a:pPr>
            <a:r>
              <a:rPr sz="2400" dirty="0">
                <a:latin typeface="Arial"/>
                <a:cs typeface="Arial"/>
              </a:rPr>
              <a:t>U </a:t>
            </a:r>
            <a:r>
              <a:rPr sz="2400" baseline="-20833" dirty="0">
                <a:latin typeface="Arial"/>
                <a:cs typeface="Arial"/>
              </a:rPr>
              <a:t>sender</a:t>
            </a:r>
            <a:r>
              <a:rPr sz="2400" dirty="0">
                <a:latin typeface="Arial"/>
                <a:cs typeface="Arial"/>
              </a:rPr>
              <a:t>: </a:t>
            </a:r>
            <a:r>
              <a:rPr sz="2400" i="1" dirty="0">
                <a:solidFill>
                  <a:srgbClr val="CC0000"/>
                </a:solidFill>
                <a:latin typeface="Arial"/>
                <a:cs typeface="Arial"/>
              </a:rPr>
              <a:t>utilization </a:t>
            </a:r>
            <a:r>
              <a:rPr sz="2400" dirty="0">
                <a:latin typeface="Arial"/>
                <a:cs typeface="Arial"/>
              </a:rPr>
              <a:t>– phần thời gian bên gửi thực hiện gửi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8" y="957326"/>
            <a:ext cx="8608061" cy="566822"/>
          </a:xfrm>
          <a:prstGeom prst="rect">
            <a:avLst/>
          </a:prstGeom>
        </p:spPr>
        <p:txBody>
          <a:bodyPr vert="horz" wrap="square" lIns="0" tIns="12700" rIns="0" bIns="0" rtlCol="0">
            <a:spAutoFit/>
          </a:bodyPr>
          <a:lstStyle/>
          <a:p>
            <a:pPr marL="12700">
              <a:lnSpc>
                <a:spcPct val="100000"/>
              </a:lnSpc>
              <a:spcBef>
                <a:spcPts val="100"/>
              </a:spcBef>
            </a:pPr>
            <a:r>
              <a:rPr lang="en-US" spc="-5" dirty="0" err="1"/>
              <a:t>Hiệu</a:t>
            </a:r>
            <a:r>
              <a:rPr lang="en-US" spc="-5" dirty="0"/>
              <a:t> </a:t>
            </a:r>
            <a:r>
              <a:rPr lang="en-US" spc="-5" dirty="0" err="1"/>
              <a:t>năng</a:t>
            </a:r>
            <a:r>
              <a:rPr lang="en-US" spc="-5" dirty="0"/>
              <a:t> </a:t>
            </a:r>
            <a:r>
              <a:rPr lang="en-US" spc="-5" dirty="0" err="1"/>
              <a:t>của</a:t>
            </a:r>
            <a:r>
              <a:rPr lang="en-US" spc="-5" dirty="0"/>
              <a:t> </a:t>
            </a:r>
            <a:r>
              <a:rPr lang="en-US" spc="-5" dirty="0" err="1"/>
              <a:t>kiểu</a:t>
            </a:r>
            <a:r>
              <a:rPr lang="en-US" spc="-5" dirty="0"/>
              <a:t> </a:t>
            </a:r>
            <a:r>
              <a:rPr lang="en-US" dirty="0" err="1"/>
              <a:t>xử</a:t>
            </a:r>
            <a:r>
              <a:rPr lang="en-US" dirty="0"/>
              <a:t> </a:t>
            </a:r>
            <a:r>
              <a:rPr lang="en-US" spc="-5" dirty="0" err="1"/>
              <a:t>lý</a:t>
            </a:r>
            <a:r>
              <a:rPr lang="en-US" spc="-90" dirty="0"/>
              <a:t> </a:t>
            </a:r>
            <a:r>
              <a:rPr lang="en-US" dirty="0"/>
              <a:t>stop-and-wait</a:t>
            </a:r>
            <a:endParaRPr dirty="0"/>
          </a:p>
        </p:txBody>
      </p:sp>
      <p:sp>
        <p:nvSpPr>
          <p:cNvPr id="3" name="object 3"/>
          <p:cNvSpPr txBox="1"/>
          <p:nvPr/>
        </p:nvSpPr>
        <p:spPr>
          <a:xfrm>
            <a:off x="1069339" y="1937258"/>
            <a:ext cx="7433309" cy="751488"/>
          </a:xfrm>
          <a:prstGeom prst="rect">
            <a:avLst/>
          </a:prstGeom>
        </p:spPr>
        <p:txBody>
          <a:bodyPr vert="horz" wrap="square" lIns="0" tIns="12700" rIns="0" bIns="0" rtlCol="0">
            <a:spAutoFit/>
          </a:bodyPr>
          <a:lstStyle/>
          <a:p>
            <a:pPr marL="355600" indent="-342900">
              <a:lnSpc>
                <a:spcPct val="100000"/>
              </a:lnSpc>
              <a:spcBef>
                <a:spcPts val="100"/>
              </a:spcBef>
              <a:buClr>
                <a:srgbClr val="3333CC"/>
              </a:buClr>
              <a:buSzPct val="83333"/>
              <a:buFont typeface="Wingdings"/>
              <a:buChar char=""/>
              <a:tabLst>
                <a:tab pos="355600" algn="l"/>
              </a:tabLst>
            </a:pPr>
            <a:r>
              <a:rPr sz="2400" dirty="0">
                <a:latin typeface="Arial"/>
                <a:cs typeface="Arial"/>
              </a:rPr>
              <a:t>Liên kết 1 Gbps, độ trễ lan truyền 15 ms, gói tin </a:t>
            </a:r>
            <a:r>
              <a:rPr lang="en-US" sz="2400" dirty="0">
                <a:latin typeface="Arial"/>
                <a:cs typeface="Arial"/>
              </a:rPr>
              <a:t>8000 bit</a:t>
            </a:r>
            <a:endParaRPr sz="2400" dirty="0">
              <a:latin typeface="Arial"/>
              <a:cs typeface="Arial"/>
            </a:endParaRPr>
          </a:p>
        </p:txBody>
      </p:sp>
      <p:sp>
        <p:nvSpPr>
          <p:cNvPr id="4" name="object 4"/>
          <p:cNvSpPr txBox="1"/>
          <p:nvPr/>
        </p:nvSpPr>
        <p:spPr>
          <a:xfrm>
            <a:off x="1101344" y="3939794"/>
            <a:ext cx="7914005" cy="382156"/>
          </a:xfrm>
          <a:prstGeom prst="rect">
            <a:avLst/>
          </a:prstGeom>
        </p:spPr>
        <p:txBody>
          <a:bodyPr vert="horz" wrap="square" lIns="0" tIns="12700" rIns="0" bIns="0" rtlCol="0">
            <a:spAutoFit/>
          </a:bodyPr>
          <a:lstStyle/>
          <a:p>
            <a:pPr marL="243840" indent="-231140">
              <a:lnSpc>
                <a:spcPct val="100000"/>
              </a:lnSpc>
              <a:spcBef>
                <a:spcPts val="100"/>
              </a:spcBef>
              <a:buClr>
                <a:srgbClr val="00009A"/>
              </a:buClr>
              <a:buFont typeface="Wingdings"/>
              <a:buChar char=""/>
              <a:tabLst>
                <a:tab pos="244475" algn="l"/>
              </a:tabLst>
            </a:pPr>
            <a:r>
              <a:rPr lang="en-US" sz="2400" i="1" dirty="0">
                <a:latin typeface="Arial"/>
                <a:cs typeface="Arial"/>
              </a:rPr>
              <a:t>RTT =15 +15 = 30 </a:t>
            </a:r>
            <a:r>
              <a:rPr lang="en-US" sz="2400" i="1" dirty="0" err="1">
                <a:latin typeface="Arial"/>
                <a:cs typeface="Arial"/>
              </a:rPr>
              <a:t>ms</a:t>
            </a:r>
            <a:endParaRPr lang="en-US" sz="2400" i="1" dirty="0">
              <a:latin typeface="Arial"/>
              <a:cs typeface="Arial"/>
            </a:endParaRPr>
          </a:p>
        </p:txBody>
      </p:sp>
      <p:sp>
        <p:nvSpPr>
          <p:cNvPr id="5" name="object 5"/>
          <p:cNvSpPr txBox="1"/>
          <p:nvPr/>
        </p:nvSpPr>
        <p:spPr>
          <a:xfrm>
            <a:off x="2313685" y="4749263"/>
            <a:ext cx="213995" cy="339090"/>
          </a:xfrm>
          <a:prstGeom prst="rect">
            <a:avLst/>
          </a:prstGeom>
        </p:spPr>
        <p:txBody>
          <a:bodyPr vert="horz" wrap="square" lIns="0" tIns="13335" rIns="0" bIns="0" rtlCol="0">
            <a:spAutoFit/>
          </a:bodyPr>
          <a:lstStyle/>
          <a:p>
            <a:pPr marL="12700">
              <a:lnSpc>
                <a:spcPct val="100000"/>
              </a:lnSpc>
              <a:spcBef>
                <a:spcPts val="105"/>
              </a:spcBef>
            </a:pPr>
            <a:r>
              <a:rPr sz="2050" i="1" dirty="0">
                <a:latin typeface="Arial"/>
                <a:cs typeface="Arial"/>
              </a:rPr>
              <a:t>U</a:t>
            </a:r>
            <a:endParaRPr sz="2050">
              <a:latin typeface="Arial"/>
              <a:cs typeface="Arial"/>
            </a:endParaRPr>
          </a:p>
        </p:txBody>
      </p:sp>
      <p:sp>
        <p:nvSpPr>
          <p:cNvPr id="6" name="object 6"/>
          <p:cNvSpPr txBox="1"/>
          <p:nvPr/>
        </p:nvSpPr>
        <p:spPr>
          <a:xfrm>
            <a:off x="2540761" y="4967044"/>
            <a:ext cx="683260" cy="271228"/>
          </a:xfrm>
          <a:prstGeom prst="rect">
            <a:avLst/>
          </a:prstGeom>
        </p:spPr>
        <p:txBody>
          <a:bodyPr vert="horz" wrap="square" lIns="0" tIns="17145" rIns="0" bIns="0" rtlCol="0">
            <a:spAutoFit/>
          </a:bodyPr>
          <a:lstStyle/>
          <a:p>
            <a:pPr marL="12700">
              <a:lnSpc>
                <a:spcPct val="100000"/>
              </a:lnSpc>
              <a:spcBef>
                <a:spcPts val="135"/>
              </a:spcBef>
            </a:pPr>
            <a:r>
              <a:rPr sz="1650" i="1" dirty="0">
                <a:latin typeface="Arial"/>
                <a:cs typeface="Arial"/>
              </a:rPr>
              <a:t>sender</a:t>
            </a:r>
            <a:endParaRPr sz="1650">
              <a:latin typeface="Arial"/>
              <a:cs typeface="Arial"/>
            </a:endParaRPr>
          </a:p>
        </p:txBody>
      </p:sp>
      <p:sp>
        <p:nvSpPr>
          <p:cNvPr id="7" name="object 7"/>
          <p:cNvSpPr txBox="1"/>
          <p:nvPr/>
        </p:nvSpPr>
        <p:spPr>
          <a:xfrm>
            <a:off x="5491479" y="4691203"/>
            <a:ext cx="563245" cy="271228"/>
          </a:xfrm>
          <a:prstGeom prst="rect">
            <a:avLst/>
          </a:prstGeom>
        </p:spPr>
        <p:txBody>
          <a:bodyPr vert="horz" wrap="square" lIns="0" tIns="17145" rIns="0" bIns="0" rtlCol="0">
            <a:spAutoFit/>
          </a:bodyPr>
          <a:lstStyle/>
          <a:p>
            <a:pPr marL="12700">
              <a:lnSpc>
                <a:spcPct val="100000"/>
              </a:lnSpc>
              <a:spcBef>
                <a:spcPts val="135"/>
              </a:spcBef>
            </a:pPr>
            <a:r>
              <a:rPr sz="1650" dirty="0">
                <a:latin typeface="Arial"/>
                <a:cs typeface="Arial"/>
              </a:rPr>
              <a:t>0,</a:t>
            </a:r>
            <a:r>
              <a:rPr sz="1650" i="1" dirty="0">
                <a:latin typeface="Arial"/>
                <a:cs typeface="Arial"/>
              </a:rPr>
              <a:t>008</a:t>
            </a:r>
            <a:endParaRPr sz="1650" dirty="0">
              <a:latin typeface="Arial"/>
              <a:cs typeface="Arial"/>
            </a:endParaRPr>
          </a:p>
        </p:txBody>
      </p:sp>
      <p:sp>
        <p:nvSpPr>
          <p:cNvPr id="8" name="object 8"/>
          <p:cNvSpPr txBox="1"/>
          <p:nvPr/>
        </p:nvSpPr>
        <p:spPr>
          <a:xfrm>
            <a:off x="5442465" y="5024198"/>
            <a:ext cx="683895" cy="271228"/>
          </a:xfrm>
          <a:prstGeom prst="rect">
            <a:avLst/>
          </a:prstGeom>
        </p:spPr>
        <p:txBody>
          <a:bodyPr vert="horz" wrap="square" lIns="0" tIns="17145" rIns="0" bIns="0" rtlCol="0">
            <a:spAutoFit/>
          </a:bodyPr>
          <a:lstStyle/>
          <a:p>
            <a:pPr marL="12700">
              <a:lnSpc>
                <a:spcPct val="100000"/>
              </a:lnSpc>
              <a:spcBef>
                <a:spcPts val="135"/>
              </a:spcBef>
            </a:pPr>
            <a:r>
              <a:rPr sz="1650" i="1" dirty="0">
                <a:latin typeface="Arial"/>
                <a:cs typeface="Arial"/>
              </a:rPr>
              <a:t>30,008</a:t>
            </a:r>
            <a:endParaRPr sz="1650" dirty="0">
              <a:latin typeface="Arial"/>
              <a:cs typeface="Arial"/>
            </a:endParaRPr>
          </a:p>
        </p:txBody>
      </p:sp>
      <p:sp>
        <p:nvSpPr>
          <p:cNvPr id="9" name="object 9"/>
          <p:cNvSpPr/>
          <p:nvPr/>
        </p:nvSpPr>
        <p:spPr>
          <a:xfrm>
            <a:off x="5524500" y="5002529"/>
            <a:ext cx="497205" cy="0"/>
          </a:xfrm>
          <a:custGeom>
            <a:avLst/>
            <a:gdLst/>
            <a:ahLst/>
            <a:cxnLst/>
            <a:rect l="l" t="t" r="r" b="b"/>
            <a:pathLst>
              <a:path w="497204">
                <a:moveTo>
                  <a:pt x="0" y="0"/>
                </a:moveTo>
                <a:lnTo>
                  <a:pt x="496823" y="0"/>
                </a:lnTo>
              </a:path>
            </a:pathLst>
          </a:custGeom>
          <a:ln w="24320">
            <a:solidFill>
              <a:srgbClr val="000000"/>
            </a:solidFill>
          </a:ln>
        </p:spPr>
        <p:txBody>
          <a:bodyPr wrap="square" lIns="0" tIns="0" rIns="0" bIns="0" rtlCol="0"/>
          <a:lstStyle/>
          <a:p>
            <a:endParaRPr/>
          </a:p>
        </p:txBody>
      </p:sp>
      <p:sp>
        <p:nvSpPr>
          <p:cNvPr id="10" name="object 10"/>
          <p:cNvSpPr txBox="1"/>
          <p:nvPr/>
        </p:nvSpPr>
        <p:spPr>
          <a:xfrm>
            <a:off x="6465064" y="4822445"/>
            <a:ext cx="1221105" cy="368300"/>
          </a:xfrm>
          <a:prstGeom prst="rect">
            <a:avLst/>
          </a:prstGeom>
        </p:spPr>
        <p:txBody>
          <a:bodyPr vert="horz" wrap="square" lIns="0" tIns="12065" rIns="0" bIns="0" rtlCol="0">
            <a:spAutoFit/>
          </a:bodyPr>
          <a:lstStyle/>
          <a:p>
            <a:pPr marL="12700">
              <a:lnSpc>
                <a:spcPct val="100000"/>
              </a:lnSpc>
              <a:spcBef>
                <a:spcPts val="95"/>
              </a:spcBef>
            </a:pPr>
            <a:r>
              <a:rPr sz="2250" i="1" dirty="0">
                <a:latin typeface="Arial"/>
                <a:cs typeface="Arial"/>
              </a:rPr>
              <a:t>0,000267</a:t>
            </a:r>
            <a:endParaRPr sz="2250" dirty="0">
              <a:latin typeface="Arial"/>
              <a:cs typeface="Arial"/>
            </a:endParaRPr>
          </a:p>
        </p:txBody>
      </p:sp>
      <p:sp>
        <p:nvSpPr>
          <p:cNvPr id="11" name="object 11"/>
          <p:cNvSpPr txBox="1"/>
          <p:nvPr/>
        </p:nvSpPr>
        <p:spPr>
          <a:xfrm>
            <a:off x="3976370" y="4628105"/>
            <a:ext cx="581025" cy="339090"/>
          </a:xfrm>
          <a:prstGeom prst="rect">
            <a:avLst/>
          </a:prstGeom>
        </p:spPr>
        <p:txBody>
          <a:bodyPr vert="horz" wrap="square" lIns="0" tIns="13335" rIns="0" bIns="0" rtlCol="0">
            <a:spAutoFit/>
          </a:bodyPr>
          <a:lstStyle/>
          <a:p>
            <a:pPr marL="12700">
              <a:lnSpc>
                <a:spcPct val="100000"/>
              </a:lnSpc>
              <a:spcBef>
                <a:spcPts val="105"/>
              </a:spcBef>
            </a:pPr>
            <a:r>
              <a:rPr sz="2050" i="1" dirty="0">
                <a:latin typeface="Arial"/>
                <a:cs typeface="Arial"/>
              </a:rPr>
              <a:t>L / R</a:t>
            </a:r>
            <a:endParaRPr sz="2050">
              <a:latin typeface="Arial"/>
              <a:cs typeface="Arial"/>
            </a:endParaRPr>
          </a:p>
        </p:txBody>
      </p:sp>
      <p:sp>
        <p:nvSpPr>
          <p:cNvPr id="12" name="object 12"/>
          <p:cNvSpPr txBox="1"/>
          <p:nvPr/>
        </p:nvSpPr>
        <p:spPr>
          <a:xfrm>
            <a:off x="3594609" y="5044154"/>
            <a:ext cx="1391285" cy="339090"/>
          </a:xfrm>
          <a:prstGeom prst="rect">
            <a:avLst/>
          </a:prstGeom>
        </p:spPr>
        <p:txBody>
          <a:bodyPr vert="horz" wrap="square" lIns="0" tIns="13335" rIns="0" bIns="0" rtlCol="0">
            <a:spAutoFit/>
          </a:bodyPr>
          <a:lstStyle/>
          <a:p>
            <a:pPr marL="12700">
              <a:lnSpc>
                <a:spcPct val="100000"/>
              </a:lnSpc>
              <a:spcBef>
                <a:spcPts val="105"/>
              </a:spcBef>
            </a:pPr>
            <a:r>
              <a:rPr sz="2050" i="1" dirty="0">
                <a:latin typeface="Arial"/>
                <a:cs typeface="Arial"/>
              </a:rPr>
              <a:t>RTT + L / R</a:t>
            </a:r>
            <a:endParaRPr sz="2050">
              <a:latin typeface="Arial"/>
              <a:cs typeface="Arial"/>
            </a:endParaRPr>
          </a:p>
        </p:txBody>
      </p:sp>
      <p:sp>
        <p:nvSpPr>
          <p:cNvPr id="13" name="object 13"/>
          <p:cNvSpPr txBox="1"/>
          <p:nvPr/>
        </p:nvSpPr>
        <p:spPr>
          <a:xfrm>
            <a:off x="3247135" y="4833074"/>
            <a:ext cx="3439795" cy="657231"/>
          </a:xfrm>
          <a:prstGeom prst="rect">
            <a:avLst/>
          </a:prstGeom>
        </p:spPr>
        <p:txBody>
          <a:bodyPr vert="horz" wrap="square" lIns="0" tIns="13335" rIns="0" bIns="0" rtlCol="0">
            <a:spAutoFit/>
          </a:bodyPr>
          <a:lstStyle/>
          <a:p>
            <a:pPr marL="12700">
              <a:spcBef>
                <a:spcPts val="105"/>
              </a:spcBef>
              <a:tabLst>
                <a:tab pos="1926589" algn="l"/>
                <a:tab pos="3279140" algn="l"/>
              </a:tabLst>
            </a:pPr>
            <a:r>
              <a:rPr sz="3075" baseline="2710" dirty="0">
                <a:latin typeface="Times New Roman"/>
                <a:cs typeface="Times New Roman"/>
              </a:rPr>
              <a:t>=	</a:t>
            </a:r>
            <a:r>
              <a:rPr lang="en-US" sz="3075" baseline="2710" dirty="0">
                <a:latin typeface="Times New Roman"/>
                <a:cs typeface="Times New Roman"/>
                <a:sym typeface="Symbol" panose="05050102010706020507" pitchFamily="18" charset="2"/>
              </a:rPr>
              <a:t>            </a:t>
            </a:r>
            <a:endParaRPr lang="en-US" sz="3075" baseline="2710" dirty="0">
              <a:latin typeface="Times New Roman"/>
              <a:cs typeface="Times New Roman"/>
            </a:endParaRPr>
          </a:p>
          <a:p>
            <a:pPr marL="12700">
              <a:lnSpc>
                <a:spcPct val="100000"/>
              </a:lnSpc>
              <a:spcBef>
                <a:spcPts val="105"/>
              </a:spcBef>
              <a:tabLst>
                <a:tab pos="1926589" algn="l"/>
                <a:tab pos="3279140" algn="l"/>
              </a:tabLst>
            </a:pPr>
            <a:endParaRPr sz="3075" baseline="2710" dirty="0">
              <a:latin typeface="Times New Roman"/>
              <a:cs typeface="Times New Roman"/>
            </a:endParaRPr>
          </a:p>
        </p:txBody>
      </p:sp>
      <p:sp>
        <p:nvSpPr>
          <p:cNvPr id="14" name="object 14"/>
          <p:cNvSpPr/>
          <p:nvPr/>
        </p:nvSpPr>
        <p:spPr>
          <a:xfrm>
            <a:off x="3513582" y="5002529"/>
            <a:ext cx="1574800" cy="11430"/>
          </a:xfrm>
          <a:custGeom>
            <a:avLst/>
            <a:gdLst/>
            <a:ahLst/>
            <a:cxnLst/>
            <a:rect l="l" t="t" r="r" b="b"/>
            <a:pathLst>
              <a:path w="1574800" h="11429">
                <a:moveTo>
                  <a:pt x="0" y="0"/>
                </a:moveTo>
                <a:lnTo>
                  <a:pt x="1574292" y="11429"/>
                </a:lnTo>
              </a:path>
            </a:pathLst>
          </a:custGeom>
          <a:ln w="24320">
            <a:solidFill>
              <a:srgbClr val="000000"/>
            </a:solidFill>
          </a:ln>
        </p:spPr>
        <p:txBody>
          <a:bodyPr wrap="square" lIns="0" tIns="0" rIns="0" bIns="0" rtlCol="0"/>
          <a:lstStyle/>
          <a:p>
            <a:endParaRPr/>
          </a:p>
        </p:txBody>
      </p:sp>
      <p:sp>
        <p:nvSpPr>
          <p:cNvPr id="15" name="object 15"/>
          <p:cNvSpPr txBox="1"/>
          <p:nvPr/>
        </p:nvSpPr>
        <p:spPr>
          <a:xfrm>
            <a:off x="1082417" y="5439778"/>
            <a:ext cx="8451471" cy="1415772"/>
          </a:xfrm>
          <a:prstGeom prst="rect">
            <a:avLst/>
          </a:prstGeom>
        </p:spPr>
        <p:txBody>
          <a:bodyPr vert="horz" wrap="square" lIns="0" tIns="68580" rIns="0" bIns="0" rtlCol="0">
            <a:spAutoFit/>
          </a:bodyPr>
          <a:lstStyle/>
          <a:p>
            <a:pPr marL="243840" marR="5080" indent="-231140">
              <a:lnSpc>
                <a:spcPts val="2450"/>
              </a:lnSpc>
              <a:spcBef>
                <a:spcPts val="540"/>
              </a:spcBef>
              <a:buClr>
                <a:srgbClr val="00009A"/>
              </a:buClr>
              <a:buFont typeface="Wingdings"/>
              <a:buChar char=""/>
              <a:tabLst>
                <a:tab pos="244475" algn="l"/>
              </a:tabLst>
            </a:pPr>
            <a:r>
              <a:rPr sz="2400" dirty="0">
                <a:latin typeface="Arial"/>
                <a:cs typeface="Arial"/>
              </a:rPr>
              <a:t>nếu </a:t>
            </a:r>
            <a:r>
              <a:rPr sz="2400" i="1" dirty="0">
                <a:latin typeface="Arial"/>
                <a:cs typeface="Arial"/>
              </a:rPr>
              <a:t>RTT=30 ms</a:t>
            </a:r>
            <a:r>
              <a:rPr sz="2400" dirty="0">
                <a:latin typeface="Arial"/>
                <a:cs typeface="Arial"/>
              </a:rPr>
              <a:t>, gói tin </a:t>
            </a:r>
            <a:r>
              <a:rPr lang="en-US" sz="2400" dirty="0">
                <a:latin typeface="Arial"/>
                <a:cs typeface="Arial"/>
              </a:rPr>
              <a:t>8000 bit</a:t>
            </a:r>
            <a:r>
              <a:rPr sz="2400" dirty="0">
                <a:latin typeface="Arial"/>
                <a:cs typeface="Arial"/>
              </a:rPr>
              <a:t> mất </a:t>
            </a:r>
            <a:r>
              <a:rPr sz="2400" i="1" dirty="0">
                <a:latin typeface="Arial"/>
                <a:cs typeface="Arial"/>
              </a:rPr>
              <a:t>30 </a:t>
            </a:r>
            <a:r>
              <a:rPr sz="2400" i="1" dirty="0" err="1">
                <a:latin typeface="Arial"/>
                <a:cs typeface="Arial"/>
              </a:rPr>
              <a:t>ms</a:t>
            </a:r>
            <a:r>
              <a:rPr sz="2400" dirty="0">
                <a:latin typeface="Arial"/>
                <a:cs typeface="Arial"/>
              </a:rPr>
              <a:t>:</a:t>
            </a:r>
            <a:r>
              <a:rPr lang="en-US" sz="2400" dirty="0">
                <a:latin typeface="Arial"/>
                <a:cs typeface="Arial"/>
              </a:rPr>
              <a:t> </a:t>
            </a:r>
            <a:r>
              <a:rPr sz="2400" dirty="0">
                <a:latin typeface="Arial"/>
                <a:cs typeface="Arial"/>
              </a:rPr>
              <a:t>1s truyền </a:t>
            </a:r>
            <a:r>
              <a:rPr sz="2400" dirty="0" err="1">
                <a:latin typeface="Arial"/>
                <a:cs typeface="Arial"/>
              </a:rPr>
              <a:t>được</a:t>
            </a:r>
            <a:r>
              <a:rPr sz="2400" dirty="0">
                <a:latin typeface="Arial"/>
                <a:cs typeface="Arial"/>
              </a:rPr>
              <a:t> 8000/30.10</a:t>
            </a:r>
            <a:r>
              <a:rPr lang="en-US" sz="2400" baseline="30000" dirty="0">
                <a:latin typeface="Arial"/>
                <a:cs typeface="Arial"/>
              </a:rPr>
              <a:t>-3 </a:t>
            </a:r>
            <a:r>
              <a:rPr lang="en-US" sz="2400" dirty="0">
                <a:latin typeface="Arial"/>
                <a:cs typeface="Arial"/>
                <a:sym typeface="Symbol" panose="05050102010706020507" pitchFamily="18" charset="2"/>
              </a:rPr>
              <a:t> </a:t>
            </a:r>
            <a:r>
              <a:rPr sz="2400" dirty="0">
                <a:latin typeface="Arial"/>
                <a:cs typeface="Arial"/>
              </a:rPr>
              <a:t>267 Kbit</a:t>
            </a:r>
            <a:r>
              <a:rPr lang="en-US" sz="2400" dirty="0">
                <a:latin typeface="Arial"/>
                <a:cs typeface="Arial"/>
              </a:rPr>
              <a:t> </a:t>
            </a:r>
            <a:r>
              <a:rPr lang="en-US" sz="2400" dirty="0" err="1">
                <a:latin typeface="Arial"/>
                <a:cs typeface="Arial"/>
              </a:rPr>
              <a:t>trên</a:t>
            </a:r>
            <a:r>
              <a:rPr lang="en-US" sz="2400" dirty="0">
                <a:latin typeface="Arial"/>
                <a:cs typeface="Arial"/>
              </a:rPr>
              <a:t> </a:t>
            </a:r>
            <a:r>
              <a:rPr lang="en-US" sz="2400" dirty="0" err="1">
                <a:latin typeface="Arial"/>
                <a:cs typeface="Arial"/>
              </a:rPr>
              <a:t>liên</a:t>
            </a:r>
            <a:r>
              <a:rPr lang="en-US" sz="2400" dirty="0">
                <a:latin typeface="Arial"/>
                <a:cs typeface="Arial"/>
              </a:rPr>
              <a:t> </a:t>
            </a:r>
            <a:r>
              <a:rPr lang="en-US" sz="2400" dirty="0" err="1">
                <a:latin typeface="Arial"/>
                <a:cs typeface="Arial"/>
              </a:rPr>
              <a:t>kết</a:t>
            </a:r>
            <a:r>
              <a:rPr lang="en-US" sz="2400" dirty="0">
                <a:latin typeface="Arial"/>
                <a:cs typeface="Arial"/>
              </a:rPr>
              <a:t> 1Gbps = 10</a:t>
            </a:r>
            <a:r>
              <a:rPr lang="en-US" sz="2400" baseline="30000" dirty="0">
                <a:latin typeface="Arial"/>
                <a:cs typeface="Arial"/>
              </a:rPr>
              <a:t>9</a:t>
            </a:r>
            <a:r>
              <a:rPr lang="en-US" sz="2400" dirty="0">
                <a:latin typeface="Arial"/>
                <a:cs typeface="Arial"/>
              </a:rPr>
              <a:t> bit/s</a:t>
            </a:r>
          </a:p>
          <a:p>
            <a:pPr marL="12700" marR="5080">
              <a:lnSpc>
                <a:spcPts val="2450"/>
              </a:lnSpc>
              <a:spcBef>
                <a:spcPts val="540"/>
              </a:spcBef>
              <a:buClr>
                <a:srgbClr val="00009A"/>
              </a:buClr>
              <a:tabLst>
                <a:tab pos="244475" algn="l"/>
              </a:tabLst>
            </a:pP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kiểu</a:t>
            </a:r>
            <a:r>
              <a:rPr lang="en-US" sz="2400" dirty="0">
                <a:latin typeface="Arial"/>
                <a:cs typeface="Arial"/>
                <a:sym typeface="Wingdings" panose="05000000000000000000" pitchFamily="2" charset="2"/>
              </a:rPr>
              <a:t> stop-and-wait </a:t>
            </a:r>
            <a:r>
              <a:rPr lang="en-US" sz="2400" dirty="0" err="1">
                <a:latin typeface="Arial"/>
                <a:cs typeface="Arial"/>
                <a:sym typeface="Wingdings" panose="05000000000000000000" pitchFamily="2" charset="2"/>
              </a:rPr>
              <a:t>hạn</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chế</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việc</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sử</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dụng</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tài</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nguyên</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băng</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thông</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của</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đường</a:t>
            </a:r>
            <a:r>
              <a:rPr lang="en-US" sz="2400" dirty="0">
                <a:latin typeface="Arial"/>
                <a:cs typeface="Arial"/>
                <a:sym typeface="Wingdings" panose="05000000000000000000" pitchFamily="2" charset="2"/>
              </a:rPr>
              <a:t> </a:t>
            </a:r>
            <a:r>
              <a:rPr lang="en-US" sz="2400" dirty="0" err="1">
                <a:latin typeface="Arial"/>
                <a:cs typeface="Arial"/>
                <a:sym typeface="Wingdings" panose="05000000000000000000" pitchFamily="2" charset="2"/>
              </a:rPr>
              <a:t>truyền</a:t>
            </a:r>
            <a:endParaRPr sz="2400" dirty="0">
              <a:latin typeface="Arial"/>
              <a:cs typeface="Arial"/>
            </a:endParaRPr>
          </a:p>
        </p:txBody>
      </p:sp>
      <p:sp>
        <p:nvSpPr>
          <p:cNvPr id="22" name="object 22"/>
          <p:cNvSpPr txBox="1">
            <a:spLocks noGrp="1"/>
          </p:cNvSpPr>
          <p:nvPr>
            <p:ph type="sldNum" sz="quarter" idx="7"/>
          </p:nvPr>
        </p:nvSpPr>
        <p:spPr>
          <a:xfrm>
            <a:off x="9138919" y="6903266"/>
            <a:ext cx="394970" cy="205184"/>
          </a:xfrm>
          <a:prstGeom prst="rect">
            <a:avLst/>
          </a:prstGeom>
        </p:spPr>
        <p:txBody>
          <a:bodyPr vert="horz" wrap="square" lIns="0" tIns="0" rIns="0" bIns="0" rtlCol="0">
            <a:spAutoFit/>
          </a:bodyPr>
          <a:lstStyle/>
          <a:p>
            <a:pPr marL="12700">
              <a:lnSpc>
                <a:spcPts val="1645"/>
              </a:lnSpc>
            </a:pPr>
            <a:fld id="{81D60167-4931-47E6-BA6A-407CBD079E47}" type="slidenum">
              <a:rPr smtClean="0"/>
              <a:t>35</a:t>
            </a:fld>
            <a:endParaRPr dirty="0"/>
          </a:p>
        </p:txBody>
      </p:sp>
      <p:sp>
        <p:nvSpPr>
          <p:cNvPr id="16" name="object 16"/>
          <p:cNvSpPr txBox="1"/>
          <p:nvPr/>
        </p:nvSpPr>
        <p:spPr>
          <a:xfrm>
            <a:off x="2325877" y="3110738"/>
            <a:ext cx="245745" cy="391160"/>
          </a:xfrm>
          <a:prstGeom prst="rect">
            <a:avLst/>
          </a:prstGeom>
        </p:spPr>
        <p:txBody>
          <a:bodyPr vert="horz" wrap="square" lIns="0" tIns="12700" rIns="0" bIns="0" rtlCol="0">
            <a:spAutoFit/>
          </a:bodyPr>
          <a:lstStyle/>
          <a:p>
            <a:pPr marL="12700">
              <a:lnSpc>
                <a:spcPct val="100000"/>
              </a:lnSpc>
              <a:spcBef>
                <a:spcPts val="100"/>
              </a:spcBef>
            </a:pPr>
            <a:r>
              <a:rPr lang="en-US" sz="2400" i="1" dirty="0">
                <a:latin typeface="Arial"/>
                <a:cs typeface="Arial"/>
              </a:rPr>
              <a:t>d</a:t>
            </a:r>
            <a:endParaRPr sz="2400" dirty="0">
              <a:latin typeface="Arial"/>
              <a:cs typeface="Arial"/>
            </a:endParaRPr>
          </a:p>
        </p:txBody>
      </p:sp>
      <p:sp>
        <p:nvSpPr>
          <p:cNvPr id="17" name="object 17"/>
          <p:cNvSpPr txBox="1"/>
          <p:nvPr/>
        </p:nvSpPr>
        <p:spPr>
          <a:xfrm>
            <a:off x="2546095" y="3287522"/>
            <a:ext cx="476884" cy="259045"/>
          </a:xfrm>
          <a:prstGeom prst="rect">
            <a:avLst/>
          </a:prstGeom>
        </p:spPr>
        <p:txBody>
          <a:bodyPr vert="horz" wrap="square" lIns="0" tIns="12700" rIns="0" bIns="0" rtlCol="0">
            <a:spAutoFit/>
          </a:bodyPr>
          <a:lstStyle/>
          <a:p>
            <a:pPr marL="12700">
              <a:lnSpc>
                <a:spcPct val="100000"/>
              </a:lnSpc>
              <a:spcBef>
                <a:spcPts val="100"/>
              </a:spcBef>
            </a:pPr>
            <a:r>
              <a:rPr sz="1600" i="1" dirty="0">
                <a:latin typeface="Arial"/>
                <a:cs typeface="Arial"/>
              </a:rPr>
              <a:t>trans</a:t>
            </a:r>
            <a:endParaRPr sz="1600">
              <a:latin typeface="Arial"/>
              <a:cs typeface="Arial"/>
            </a:endParaRPr>
          </a:p>
        </p:txBody>
      </p:sp>
      <p:sp>
        <p:nvSpPr>
          <p:cNvPr id="18" name="object 18"/>
          <p:cNvSpPr txBox="1"/>
          <p:nvPr/>
        </p:nvSpPr>
        <p:spPr>
          <a:xfrm>
            <a:off x="3420871" y="3253994"/>
            <a:ext cx="245745" cy="391160"/>
          </a:xfrm>
          <a:prstGeom prst="rect">
            <a:avLst/>
          </a:prstGeom>
        </p:spPr>
        <p:txBody>
          <a:bodyPr vert="horz" wrap="square" lIns="0" tIns="12700" rIns="0" bIns="0" rtlCol="0">
            <a:spAutoFit/>
          </a:bodyPr>
          <a:lstStyle/>
          <a:p>
            <a:pPr marL="12700">
              <a:lnSpc>
                <a:spcPct val="100000"/>
              </a:lnSpc>
              <a:spcBef>
                <a:spcPts val="100"/>
              </a:spcBef>
            </a:pPr>
            <a:r>
              <a:rPr sz="2400" i="1" dirty="0">
                <a:latin typeface="Arial"/>
                <a:cs typeface="Arial"/>
              </a:rPr>
              <a:t>R</a:t>
            </a:r>
            <a:endParaRPr sz="2400">
              <a:latin typeface="Arial"/>
              <a:cs typeface="Arial"/>
            </a:endParaRPr>
          </a:p>
        </p:txBody>
      </p:sp>
      <p:sp>
        <p:nvSpPr>
          <p:cNvPr id="19" name="object 19"/>
          <p:cNvSpPr txBox="1"/>
          <p:nvPr/>
        </p:nvSpPr>
        <p:spPr>
          <a:xfrm>
            <a:off x="4175252" y="2920238"/>
            <a:ext cx="1685925" cy="757555"/>
          </a:xfrm>
          <a:prstGeom prst="rect">
            <a:avLst/>
          </a:prstGeom>
        </p:spPr>
        <p:txBody>
          <a:bodyPr vert="horz" wrap="square" lIns="0" tIns="12700" rIns="0" bIns="0" rtlCol="0">
            <a:spAutoFit/>
          </a:bodyPr>
          <a:lstStyle/>
          <a:p>
            <a:pPr marL="160020">
              <a:lnSpc>
                <a:spcPts val="2820"/>
              </a:lnSpc>
              <a:spcBef>
                <a:spcPts val="100"/>
              </a:spcBef>
              <a:tabLst>
                <a:tab pos="1672589" algn="l"/>
              </a:tabLst>
            </a:pPr>
            <a:r>
              <a:rPr sz="2400" i="1" u="heavy" dirty="0">
                <a:uFill>
                  <a:solidFill>
                    <a:srgbClr val="000000"/>
                  </a:solidFill>
                </a:uFill>
                <a:latin typeface="Arial"/>
                <a:cs typeface="Arial"/>
              </a:rPr>
              <a:t>8000 bits	</a:t>
            </a:r>
            <a:endParaRPr sz="2400" dirty="0">
              <a:latin typeface="Arial"/>
              <a:cs typeface="Arial"/>
            </a:endParaRPr>
          </a:p>
          <a:p>
            <a:pPr marL="12700">
              <a:lnSpc>
                <a:spcPts val="2940"/>
              </a:lnSpc>
            </a:pPr>
            <a:r>
              <a:rPr sz="2500" i="1" dirty="0">
                <a:latin typeface="Tahoma"/>
                <a:cs typeface="Tahoma"/>
              </a:rPr>
              <a:t>10</a:t>
            </a:r>
            <a:r>
              <a:rPr sz="2550" i="1" baseline="22875" dirty="0">
                <a:latin typeface="Tahoma"/>
                <a:cs typeface="Tahoma"/>
              </a:rPr>
              <a:t>9 </a:t>
            </a:r>
            <a:r>
              <a:rPr sz="2500" i="1" dirty="0">
                <a:latin typeface="Tahoma"/>
                <a:cs typeface="Tahoma"/>
              </a:rPr>
              <a:t>bits/sec</a:t>
            </a:r>
            <a:endParaRPr sz="2500" dirty="0">
              <a:latin typeface="Tahoma"/>
              <a:cs typeface="Tahoma"/>
            </a:endParaRPr>
          </a:p>
        </p:txBody>
      </p:sp>
      <p:sp>
        <p:nvSpPr>
          <p:cNvPr id="20" name="object 20"/>
          <p:cNvSpPr txBox="1"/>
          <p:nvPr/>
        </p:nvSpPr>
        <p:spPr>
          <a:xfrm>
            <a:off x="3083305" y="2912810"/>
            <a:ext cx="963294" cy="412115"/>
          </a:xfrm>
          <a:prstGeom prst="rect">
            <a:avLst/>
          </a:prstGeom>
        </p:spPr>
        <p:txBody>
          <a:bodyPr vert="horz" wrap="square" lIns="0" tIns="17145" rIns="0" bIns="0" rtlCol="0">
            <a:spAutoFit/>
          </a:bodyPr>
          <a:lstStyle/>
          <a:p>
            <a:pPr marL="12700">
              <a:lnSpc>
                <a:spcPct val="100000"/>
              </a:lnSpc>
              <a:spcBef>
                <a:spcPts val="135"/>
              </a:spcBef>
              <a:tabLst>
                <a:tab pos="335915" algn="l"/>
              </a:tabLst>
            </a:pPr>
            <a:r>
              <a:rPr sz="3600" i="1" baseline="-32407" dirty="0">
                <a:latin typeface="Arial"/>
                <a:cs typeface="Arial"/>
              </a:rPr>
              <a:t>=	</a:t>
            </a:r>
            <a:r>
              <a:rPr sz="2400" i="1" u="heavy" dirty="0">
                <a:uFill>
                  <a:solidFill>
                    <a:srgbClr val="000000"/>
                  </a:solidFill>
                </a:uFill>
                <a:latin typeface="Arial"/>
                <a:cs typeface="Arial"/>
              </a:rPr>
              <a:t> </a:t>
            </a:r>
            <a:r>
              <a:rPr sz="2500" i="1" u="heavy" dirty="0">
                <a:uFill>
                  <a:solidFill>
                    <a:srgbClr val="000000"/>
                  </a:solidFill>
                </a:uFill>
                <a:latin typeface="Tahoma"/>
                <a:cs typeface="Tahoma"/>
              </a:rPr>
              <a:t>L</a:t>
            </a:r>
            <a:r>
              <a:rPr sz="2500" i="1" dirty="0">
                <a:latin typeface="Tahoma"/>
                <a:cs typeface="Tahoma"/>
              </a:rPr>
              <a:t> </a:t>
            </a:r>
            <a:r>
              <a:rPr sz="3600" baseline="-31250" dirty="0">
                <a:latin typeface="Arial"/>
                <a:cs typeface="Arial"/>
              </a:rPr>
              <a:t>=</a:t>
            </a:r>
          </a:p>
        </p:txBody>
      </p:sp>
      <p:sp>
        <p:nvSpPr>
          <p:cNvPr id="21" name="object 21"/>
          <p:cNvSpPr txBox="1"/>
          <p:nvPr/>
        </p:nvSpPr>
        <p:spPr>
          <a:xfrm>
            <a:off x="6090924" y="3082544"/>
            <a:ext cx="3815076" cy="756920"/>
          </a:xfrm>
          <a:prstGeom prst="rect">
            <a:avLst/>
          </a:prstGeom>
        </p:spPr>
        <p:txBody>
          <a:bodyPr vert="horz" wrap="square" lIns="0" tIns="12700" rIns="0" bIns="0" rtlCol="0">
            <a:spAutoFit/>
          </a:bodyPr>
          <a:lstStyle/>
          <a:p>
            <a:pPr marL="12700">
              <a:lnSpc>
                <a:spcPct val="100000"/>
              </a:lnSpc>
              <a:spcBef>
                <a:spcPts val="100"/>
              </a:spcBef>
              <a:tabLst>
                <a:tab pos="340995" algn="l"/>
              </a:tabLst>
            </a:pPr>
            <a:r>
              <a:rPr sz="3600" baseline="-3472" dirty="0">
                <a:latin typeface="Arial"/>
                <a:cs typeface="Arial"/>
              </a:rPr>
              <a:t>=	</a:t>
            </a:r>
            <a:r>
              <a:rPr sz="2400" i="1" dirty="0">
                <a:latin typeface="Arial"/>
                <a:cs typeface="Arial"/>
              </a:rPr>
              <a:t>8 microsecs</a:t>
            </a:r>
            <a:endParaRPr sz="2400" dirty="0">
              <a:latin typeface="Arial"/>
              <a:cs typeface="Arial"/>
            </a:endParaRPr>
          </a:p>
          <a:p>
            <a:pPr marL="525780">
              <a:lnSpc>
                <a:spcPct val="100000"/>
              </a:lnSpc>
            </a:pPr>
            <a:r>
              <a:rPr sz="2400" i="1" dirty="0">
                <a:latin typeface="Arial"/>
                <a:cs typeface="Arial"/>
              </a:rPr>
              <a:t>0,008 ms</a:t>
            </a:r>
            <a:endParaRPr sz="2400" dirty="0">
              <a:latin typeface="Arial"/>
              <a:cs typeface="Arial"/>
            </a:endParaRPr>
          </a:p>
        </p:txBody>
      </p:sp>
    </p:spTree>
    <p:extLst>
      <p:ext uri="{BB962C8B-B14F-4D97-AF65-F5344CB8AC3E}">
        <p14:creationId xmlns:p14="http://schemas.microsoft.com/office/powerpoint/2010/main" val="1288579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8" y="802640"/>
            <a:ext cx="8760461" cy="1120820"/>
          </a:xfrm>
          <a:prstGeom prst="rect">
            <a:avLst/>
          </a:prstGeom>
        </p:spPr>
        <p:txBody>
          <a:bodyPr vert="horz" wrap="square" lIns="0" tIns="12700" rIns="0" bIns="0" rtlCol="0">
            <a:spAutoFit/>
          </a:bodyPr>
          <a:lstStyle/>
          <a:p>
            <a:pPr marL="12700">
              <a:lnSpc>
                <a:spcPct val="100000"/>
              </a:lnSpc>
              <a:spcBef>
                <a:spcPts val="100"/>
              </a:spcBef>
            </a:pPr>
            <a:r>
              <a:rPr lang="en-US" dirty="0" err="1"/>
              <a:t>Hiệu</a:t>
            </a:r>
            <a:r>
              <a:rPr lang="en-US" dirty="0"/>
              <a:t> </a:t>
            </a:r>
            <a:r>
              <a:rPr lang="en-US" dirty="0" err="1"/>
              <a:t>năng</a:t>
            </a:r>
            <a:r>
              <a:rPr lang="en-US" dirty="0"/>
              <a:t> </a:t>
            </a:r>
            <a:r>
              <a:rPr lang="en-US" dirty="0" err="1"/>
              <a:t>của</a:t>
            </a:r>
            <a:r>
              <a:rPr lang="en-US" dirty="0"/>
              <a:t> </a:t>
            </a:r>
            <a:r>
              <a:rPr dirty="0"/>
              <a:t>Pipelin</a:t>
            </a:r>
            <a:r>
              <a:rPr lang="en-US" dirty="0"/>
              <a:t>e</a:t>
            </a:r>
            <a:r>
              <a:rPr dirty="0"/>
              <a:t>: Tăng mức </a:t>
            </a:r>
            <a:r>
              <a:rPr spc="-5" dirty="0"/>
              <a:t>độ </a:t>
            </a:r>
            <a:r>
              <a:rPr dirty="0"/>
              <a:t>sử</a:t>
            </a:r>
            <a:r>
              <a:rPr spc="-170" dirty="0"/>
              <a:t> </a:t>
            </a:r>
            <a:r>
              <a:rPr spc="-5" dirty="0"/>
              <a:t>dụng</a:t>
            </a:r>
          </a:p>
        </p:txBody>
      </p:sp>
      <p:sp>
        <p:nvSpPr>
          <p:cNvPr id="3" name="object 3"/>
          <p:cNvSpPr/>
          <p:nvPr/>
        </p:nvSpPr>
        <p:spPr>
          <a:xfrm>
            <a:off x="3627120" y="2231135"/>
            <a:ext cx="2087245" cy="940435"/>
          </a:xfrm>
          <a:custGeom>
            <a:avLst/>
            <a:gdLst/>
            <a:ahLst/>
            <a:cxnLst/>
            <a:rect l="l" t="t" r="r" b="b"/>
            <a:pathLst>
              <a:path w="2087245" h="940435">
                <a:moveTo>
                  <a:pt x="2087118" y="931925"/>
                </a:moveTo>
                <a:lnTo>
                  <a:pt x="4572" y="0"/>
                </a:lnTo>
                <a:lnTo>
                  <a:pt x="0" y="9144"/>
                </a:lnTo>
                <a:lnTo>
                  <a:pt x="2083308" y="940307"/>
                </a:lnTo>
                <a:lnTo>
                  <a:pt x="2087118" y="931925"/>
                </a:lnTo>
                <a:close/>
              </a:path>
            </a:pathLst>
          </a:custGeom>
          <a:solidFill>
            <a:srgbClr val="000000"/>
          </a:solidFill>
        </p:spPr>
        <p:txBody>
          <a:bodyPr wrap="square" lIns="0" tIns="0" rIns="0" bIns="0" rtlCol="0"/>
          <a:lstStyle/>
          <a:p>
            <a:endParaRPr/>
          </a:p>
        </p:txBody>
      </p:sp>
      <p:sp>
        <p:nvSpPr>
          <p:cNvPr id="4" name="object 4"/>
          <p:cNvSpPr/>
          <p:nvPr/>
        </p:nvSpPr>
        <p:spPr>
          <a:xfrm>
            <a:off x="457200" y="2029205"/>
            <a:ext cx="3464560" cy="354330"/>
          </a:xfrm>
          <a:custGeom>
            <a:avLst/>
            <a:gdLst/>
            <a:ahLst/>
            <a:cxnLst/>
            <a:rect l="l" t="t" r="r" b="b"/>
            <a:pathLst>
              <a:path w="3464560" h="354330">
                <a:moveTo>
                  <a:pt x="0" y="0"/>
                </a:moveTo>
                <a:lnTo>
                  <a:pt x="0" y="354330"/>
                </a:lnTo>
                <a:lnTo>
                  <a:pt x="3464052" y="354330"/>
                </a:lnTo>
                <a:lnTo>
                  <a:pt x="3464052" y="0"/>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3601973" y="2013204"/>
            <a:ext cx="76200" cy="3285490"/>
          </a:xfrm>
          <a:custGeom>
            <a:avLst/>
            <a:gdLst/>
            <a:ahLst/>
            <a:cxnLst/>
            <a:rect l="l" t="t" r="r" b="b"/>
            <a:pathLst>
              <a:path w="76200" h="3285490">
                <a:moveTo>
                  <a:pt x="42672" y="3277128"/>
                </a:moveTo>
                <a:lnTo>
                  <a:pt x="42672" y="3220974"/>
                </a:lnTo>
                <a:lnTo>
                  <a:pt x="33528" y="3220974"/>
                </a:lnTo>
                <a:lnTo>
                  <a:pt x="33447" y="3208447"/>
                </a:lnTo>
                <a:lnTo>
                  <a:pt x="0" y="3208782"/>
                </a:lnTo>
                <a:lnTo>
                  <a:pt x="38862" y="3284982"/>
                </a:lnTo>
                <a:lnTo>
                  <a:pt x="42672" y="3277128"/>
                </a:lnTo>
                <a:close/>
              </a:path>
              <a:path w="76200" h="3285490">
                <a:moveTo>
                  <a:pt x="42594" y="3208356"/>
                </a:moveTo>
                <a:lnTo>
                  <a:pt x="22860" y="0"/>
                </a:lnTo>
                <a:lnTo>
                  <a:pt x="12954" y="0"/>
                </a:lnTo>
                <a:lnTo>
                  <a:pt x="33447" y="3208447"/>
                </a:lnTo>
                <a:lnTo>
                  <a:pt x="42594" y="3208356"/>
                </a:lnTo>
                <a:close/>
              </a:path>
              <a:path w="76200" h="3285490">
                <a:moveTo>
                  <a:pt x="42672" y="3220974"/>
                </a:moveTo>
                <a:lnTo>
                  <a:pt x="42594" y="3208356"/>
                </a:lnTo>
                <a:lnTo>
                  <a:pt x="33447" y="3208447"/>
                </a:lnTo>
                <a:lnTo>
                  <a:pt x="33528" y="3220974"/>
                </a:lnTo>
                <a:lnTo>
                  <a:pt x="42672" y="3220974"/>
                </a:lnTo>
                <a:close/>
              </a:path>
              <a:path w="76200" h="3285490">
                <a:moveTo>
                  <a:pt x="76200" y="3208020"/>
                </a:moveTo>
                <a:lnTo>
                  <a:pt x="42594" y="3208356"/>
                </a:lnTo>
                <a:lnTo>
                  <a:pt x="42672" y="3277128"/>
                </a:lnTo>
                <a:lnTo>
                  <a:pt x="76200" y="3208020"/>
                </a:lnTo>
                <a:close/>
              </a:path>
            </a:pathLst>
          </a:custGeom>
          <a:solidFill>
            <a:srgbClr val="000000"/>
          </a:solidFill>
        </p:spPr>
        <p:txBody>
          <a:bodyPr wrap="square" lIns="0" tIns="0" rIns="0" bIns="0" rtlCol="0"/>
          <a:lstStyle/>
          <a:p>
            <a:endParaRPr/>
          </a:p>
        </p:txBody>
      </p:sp>
      <p:sp>
        <p:nvSpPr>
          <p:cNvPr id="6" name="object 6"/>
          <p:cNvSpPr/>
          <p:nvPr/>
        </p:nvSpPr>
        <p:spPr>
          <a:xfrm>
            <a:off x="5684520" y="2026157"/>
            <a:ext cx="76200" cy="3351529"/>
          </a:xfrm>
          <a:custGeom>
            <a:avLst/>
            <a:gdLst/>
            <a:ahLst/>
            <a:cxnLst/>
            <a:rect l="l" t="t" r="r" b="b"/>
            <a:pathLst>
              <a:path w="76200" h="3351529">
                <a:moveTo>
                  <a:pt x="43434" y="3341852"/>
                </a:moveTo>
                <a:lnTo>
                  <a:pt x="43434" y="3287267"/>
                </a:lnTo>
                <a:lnTo>
                  <a:pt x="33528" y="3287267"/>
                </a:lnTo>
                <a:lnTo>
                  <a:pt x="33443" y="3274741"/>
                </a:lnTo>
                <a:lnTo>
                  <a:pt x="0" y="3275076"/>
                </a:lnTo>
                <a:lnTo>
                  <a:pt x="38862" y="3351276"/>
                </a:lnTo>
                <a:lnTo>
                  <a:pt x="43434" y="3341852"/>
                </a:lnTo>
                <a:close/>
              </a:path>
              <a:path w="76200" h="3351529">
                <a:moveTo>
                  <a:pt x="43349" y="3274642"/>
                </a:moveTo>
                <a:lnTo>
                  <a:pt x="21336" y="0"/>
                </a:lnTo>
                <a:lnTo>
                  <a:pt x="11430" y="0"/>
                </a:lnTo>
                <a:lnTo>
                  <a:pt x="33443" y="3274741"/>
                </a:lnTo>
                <a:lnTo>
                  <a:pt x="43349" y="3274642"/>
                </a:lnTo>
                <a:close/>
              </a:path>
              <a:path w="76200" h="3351529">
                <a:moveTo>
                  <a:pt x="43434" y="3287267"/>
                </a:moveTo>
                <a:lnTo>
                  <a:pt x="43349" y="3274642"/>
                </a:lnTo>
                <a:lnTo>
                  <a:pt x="33443" y="3274741"/>
                </a:lnTo>
                <a:lnTo>
                  <a:pt x="33528" y="3287267"/>
                </a:lnTo>
                <a:lnTo>
                  <a:pt x="43434" y="3287267"/>
                </a:lnTo>
                <a:close/>
              </a:path>
              <a:path w="76200" h="3351529">
                <a:moveTo>
                  <a:pt x="76200" y="3274314"/>
                </a:moveTo>
                <a:lnTo>
                  <a:pt x="43349" y="3274642"/>
                </a:lnTo>
                <a:lnTo>
                  <a:pt x="43434" y="3341852"/>
                </a:lnTo>
                <a:lnTo>
                  <a:pt x="76200" y="3274314"/>
                </a:lnTo>
                <a:close/>
              </a:path>
            </a:pathLst>
          </a:custGeom>
          <a:solidFill>
            <a:srgbClr val="000000"/>
          </a:solidFill>
        </p:spPr>
        <p:txBody>
          <a:bodyPr wrap="square" lIns="0" tIns="0" rIns="0" bIns="0" rtlCol="0"/>
          <a:lstStyle/>
          <a:p>
            <a:endParaRPr/>
          </a:p>
        </p:txBody>
      </p:sp>
      <p:sp>
        <p:nvSpPr>
          <p:cNvPr id="7" name="object 7"/>
          <p:cNvSpPr/>
          <p:nvPr/>
        </p:nvSpPr>
        <p:spPr>
          <a:xfrm>
            <a:off x="3159251" y="1686305"/>
            <a:ext cx="1043305" cy="356235"/>
          </a:xfrm>
          <a:custGeom>
            <a:avLst/>
            <a:gdLst/>
            <a:ahLst/>
            <a:cxnLst/>
            <a:rect l="l" t="t" r="r" b="b"/>
            <a:pathLst>
              <a:path w="1043304" h="356235">
                <a:moveTo>
                  <a:pt x="0" y="0"/>
                </a:moveTo>
                <a:lnTo>
                  <a:pt x="0" y="355854"/>
                </a:lnTo>
                <a:lnTo>
                  <a:pt x="1043177" y="355854"/>
                </a:lnTo>
                <a:lnTo>
                  <a:pt x="1043177" y="0"/>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5188458" y="1686305"/>
            <a:ext cx="1108075" cy="356235"/>
          </a:xfrm>
          <a:custGeom>
            <a:avLst/>
            <a:gdLst/>
            <a:ahLst/>
            <a:cxnLst/>
            <a:rect l="l" t="t" r="r" b="b"/>
            <a:pathLst>
              <a:path w="1108075" h="356235">
                <a:moveTo>
                  <a:pt x="0" y="0"/>
                </a:moveTo>
                <a:lnTo>
                  <a:pt x="0" y="355854"/>
                </a:lnTo>
                <a:lnTo>
                  <a:pt x="1107948" y="355854"/>
                </a:lnTo>
                <a:lnTo>
                  <a:pt x="1107948" y="0"/>
                </a:lnTo>
                <a:lnTo>
                  <a:pt x="0" y="0"/>
                </a:lnTo>
                <a:close/>
              </a:path>
            </a:pathLst>
          </a:custGeom>
          <a:solidFill>
            <a:srgbClr val="FFFFFF"/>
          </a:solidFill>
        </p:spPr>
        <p:txBody>
          <a:bodyPr wrap="square" lIns="0" tIns="0" rIns="0" bIns="0" rtlCol="0"/>
          <a:lstStyle/>
          <a:p>
            <a:endParaRPr/>
          </a:p>
        </p:txBody>
      </p:sp>
      <p:sp>
        <p:nvSpPr>
          <p:cNvPr id="9" name="object 9"/>
          <p:cNvSpPr/>
          <p:nvPr/>
        </p:nvSpPr>
        <p:spPr>
          <a:xfrm>
            <a:off x="3640835" y="2225801"/>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10" name="object 10"/>
          <p:cNvSpPr/>
          <p:nvPr/>
        </p:nvSpPr>
        <p:spPr>
          <a:xfrm>
            <a:off x="3707129" y="2225801"/>
            <a:ext cx="38100" cy="10160"/>
          </a:xfrm>
          <a:custGeom>
            <a:avLst/>
            <a:gdLst/>
            <a:ahLst/>
            <a:cxnLst/>
            <a:rect l="l" t="t" r="r" b="b"/>
            <a:pathLst>
              <a:path w="38100" h="10160">
                <a:moveTo>
                  <a:pt x="38100" y="9905"/>
                </a:moveTo>
                <a:lnTo>
                  <a:pt x="38100" y="761"/>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11" name="object 11"/>
          <p:cNvSpPr/>
          <p:nvPr/>
        </p:nvSpPr>
        <p:spPr>
          <a:xfrm>
            <a:off x="3774185" y="2226564"/>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2" name="object 12"/>
          <p:cNvSpPr/>
          <p:nvPr/>
        </p:nvSpPr>
        <p:spPr>
          <a:xfrm>
            <a:off x="3840479" y="2226564"/>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3" name="object 13"/>
          <p:cNvSpPr/>
          <p:nvPr/>
        </p:nvSpPr>
        <p:spPr>
          <a:xfrm>
            <a:off x="3907535" y="2226564"/>
            <a:ext cx="38100" cy="9525"/>
          </a:xfrm>
          <a:custGeom>
            <a:avLst/>
            <a:gdLst/>
            <a:ahLst/>
            <a:cxnLst/>
            <a:rect l="l" t="t" r="r" b="b"/>
            <a:pathLst>
              <a:path w="38100" h="9525">
                <a:moveTo>
                  <a:pt x="38100" y="9144"/>
                </a:moveTo>
                <a:lnTo>
                  <a:pt x="38100" y="0"/>
                </a:lnTo>
                <a:lnTo>
                  <a:pt x="0" y="0"/>
                </a:lnTo>
                <a:lnTo>
                  <a:pt x="0" y="9144"/>
                </a:lnTo>
                <a:lnTo>
                  <a:pt x="38100" y="9144"/>
                </a:lnTo>
                <a:close/>
              </a:path>
            </a:pathLst>
          </a:custGeom>
          <a:solidFill>
            <a:srgbClr val="000000"/>
          </a:solidFill>
        </p:spPr>
        <p:txBody>
          <a:bodyPr wrap="square" lIns="0" tIns="0" rIns="0" bIns="0" rtlCol="0"/>
          <a:lstStyle/>
          <a:p>
            <a:endParaRPr/>
          </a:p>
        </p:txBody>
      </p:sp>
      <p:sp>
        <p:nvSpPr>
          <p:cNvPr id="14" name="object 14"/>
          <p:cNvSpPr/>
          <p:nvPr/>
        </p:nvSpPr>
        <p:spPr>
          <a:xfrm>
            <a:off x="3973829" y="2226564"/>
            <a:ext cx="38100" cy="10160"/>
          </a:xfrm>
          <a:custGeom>
            <a:avLst/>
            <a:gdLst/>
            <a:ahLst/>
            <a:cxnLst/>
            <a:rect l="l" t="t" r="r" b="b"/>
            <a:pathLst>
              <a:path w="38100" h="10160">
                <a:moveTo>
                  <a:pt x="38100" y="9906"/>
                </a:moveTo>
                <a:lnTo>
                  <a:pt x="38100" y="0"/>
                </a:lnTo>
                <a:lnTo>
                  <a:pt x="0" y="0"/>
                </a:lnTo>
                <a:lnTo>
                  <a:pt x="0" y="9144"/>
                </a:lnTo>
                <a:lnTo>
                  <a:pt x="38100" y="9906"/>
                </a:lnTo>
                <a:close/>
              </a:path>
            </a:pathLst>
          </a:custGeom>
          <a:solidFill>
            <a:srgbClr val="000000"/>
          </a:solidFill>
        </p:spPr>
        <p:txBody>
          <a:bodyPr wrap="square" lIns="0" tIns="0" rIns="0" bIns="0" rtlCol="0"/>
          <a:lstStyle/>
          <a:p>
            <a:endParaRPr/>
          </a:p>
        </p:txBody>
      </p:sp>
      <p:sp>
        <p:nvSpPr>
          <p:cNvPr id="15" name="object 15"/>
          <p:cNvSpPr/>
          <p:nvPr/>
        </p:nvSpPr>
        <p:spPr>
          <a:xfrm>
            <a:off x="4040885" y="2226564"/>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16" name="object 16"/>
          <p:cNvSpPr/>
          <p:nvPr/>
        </p:nvSpPr>
        <p:spPr>
          <a:xfrm>
            <a:off x="4107179" y="2226564"/>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17" name="object 17"/>
          <p:cNvSpPr/>
          <p:nvPr/>
        </p:nvSpPr>
        <p:spPr>
          <a:xfrm>
            <a:off x="4174235" y="2226564"/>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18" name="object 18"/>
          <p:cNvSpPr/>
          <p:nvPr/>
        </p:nvSpPr>
        <p:spPr>
          <a:xfrm>
            <a:off x="4240529" y="2227326"/>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19" name="object 19"/>
          <p:cNvSpPr/>
          <p:nvPr/>
        </p:nvSpPr>
        <p:spPr>
          <a:xfrm>
            <a:off x="4307585" y="2227326"/>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20" name="object 20"/>
          <p:cNvSpPr/>
          <p:nvPr/>
        </p:nvSpPr>
        <p:spPr>
          <a:xfrm>
            <a:off x="4373879" y="2227326"/>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21" name="object 21"/>
          <p:cNvSpPr/>
          <p:nvPr/>
        </p:nvSpPr>
        <p:spPr>
          <a:xfrm>
            <a:off x="4440935" y="2227326"/>
            <a:ext cx="38100" cy="10160"/>
          </a:xfrm>
          <a:custGeom>
            <a:avLst/>
            <a:gdLst/>
            <a:ahLst/>
            <a:cxnLst/>
            <a:rect l="l" t="t" r="r" b="b"/>
            <a:pathLst>
              <a:path w="38100" h="10160">
                <a:moveTo>
                  <a:pt x="38100" y="9905"/>
                </a:moveTo>
                <a:lnTo>
                  <a:pt x="38100" y="0"/>
                </a:lnTo>
                <a:lnTo>
                  <a:pt x="0" y="0"/>
                </a:lnTo>
                <a:lnTo>
                  <a:pt x="0" y="9143"/>
                </a:lnTo>
                <a:lnTo>
                  <a:pt x="38100" y="9905"/>
                </a:lnTo>
                <a:close/>
              </a:path>
            </a:pathLst>
          </a:custGeom>
          <a:solidFill>
            <a:srgbClr val="000000"/>
          </a:solidFill>
        </p:spPr>
        <p:txBody>
          <a:bodyPr wrap="square" lIns="0" tIns="0" rIns="0" bIns="0" rtlCol="0"/>
          <a:lstStyle/>
          <a:p>
            <a:endParaRPr/>
          </a:p>
        </p:txBody>
      </p:sp>
      <p:sp>
        <p:nvSpPr>
          <p:cNvPr id="22" name="object 22"/>
          <p:cNvSpPr/>
          <p:nvPr/>
        </p:nvSpPr>
        <p:spPr>
          <a:xfrm>
            <a:off x="4507229" y="2227326"/>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23" name="object 23"/>
          <p:cNvSpPr/>
          <p:nvPr/>
        </p:nvSpPr>
        <p:spPr>
          <a:xfrm>
            <a:off x="4574285" y="2227326"/>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24" name="object 24"/>
          <p:cNvSpPr/>
          <p:nvPr/>
        </p:nvSpPr>
        <p:spPr>
          <a:xfrm>
            <a:off x="4640579" y="2227326"/>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25" name="object 25"/>
          <p:cNvSpPr/>
          <p:nvPr/>
        </p:nvSpPr>
        <p:spPr>
          <a:xfrm>
            <a:off x="4707635" y="2227326"/>
            <a:ext cx="38100" cy="10160"/>
          </a:xfrm>
          <a:custGeom>
            <a:avLst/>
            <a:gdLst/>
            <a:ahLst/>
            <a:cxnLst/>
            <a:rect l="l" t="t" r="r" b="b"/>
            <a:pathLst>
              <a:path w="38100" h="10160">
                <a:moveTo>
                  <a:pt x="38100" y="9905"/>
                </a:moveTo>
                <a:lnTo>
                  <a:pt x="38100" y="761"/>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26" name="object 26"/>
          <p:cNvSpPr/>
          <p:nvPr/>
        </p:nvSpPr>
        <p:spPr>
          <a:xfrm>
            <a:off x="4773929" y="2228088"/>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27" name="object 27"/>
          <p:cNvSpPr/>
          <p:nvPr/>
        </p:nvSpPr>
        <p:spPr>
          <a:xfrm>
            <a:off x="4840985" y="2228088"/>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28" name="object 28"/>
          <p:cNvSpPr/>
          <p:nvPr/>
        </p:nvSpPr>
        <p:spPr>
          <a:xfrm>
            <a:off x="4907279" y="2228088"/>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29" name="object 29"/>
          <p:cNvSpPr/>
          <p:nvPr/>
        </p:nvSpPr>
        <p:spPr>
          <a:xfrm>
            <a:off x="4974335" y="2228088"/>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30" name="object 30"/>
          <p:cNvSpPr/>
          <p:nvPr/>
        </p:nvSpPr>
        <p:spPr>
          <a:xfrm>
            <a:off x="5040629" y="2228088"/>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31" name="object 31"/>
          <p:cNvSpPr/>
          <p:nvPr/>
        </p:nvSpPr>
        <p:spPr>
          <a:xfrm>
            <a:off x="5107685" y="2228088"/>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32" name="object 32"/>
          <p:cNvSpPr/>
          <p:nvPr/>
        </p:nvSpPr>
        <p:spPr>
          <a:xfrm>
            <a:off x="5173979" y="2228088"/>
            <a:ext cx="38100" cy="10160"/>
          </a:xfrm>
          <a:custGeom>
            <a:avLst/>
            <a:gdLst/>
            <a:ahLst/>
            <a:cxnLst/>
            <a:rect l="l" t="t" r="r" b="b"/>
            <a:pathLst>
              <a:path w="38100" h="10160">
                <a:moveTo>
                  <a:pt x="38100" y="9906"/>
                </a:moveTo>
                <a:lnTo>
                  <a:pt x="38100" y="0"/>
                </a:lnTo>
                <a:lnTo>
                  <a:pt x="0" y="0"/>
                </a:lnTo>
                <a:lnTo>
                  <a:pt x="0" y="9906"/>
                </a:lnTo>
                <a:lnTo>
                  <a:pt x="38100" y="9906"/>
                </a:lnTo>
                <a:close/>
              </a:path>
            </a:pathLst>
          </a:custGeom>
          <a:solidFill>
            <a:srgbClr val="000000"/>
          </a:solidFill>
        </p:spPr>
        <p:txBody>
          <a:bodyPr wrap="square" lIns="0" tIns="0" rIns="0" bIns="0" rtlCol="0"/>
          <a:lstStyle/>
          <a:p>
            <a:endParaRPr/>
          </a:p>
        </p:txBody>
      </p:sp>
      <p:sp>
        <p:nvSpPr>
          <p:cNvPr id="33" name="object 33"/>
          <p:cNvSpPr/>
          <p:nvPr/>
        </p:nvSpPr>
        <p:spPr>
          <a:xfrm>
            <a:off x="5241035" y="2228850"/>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34" name="object 34"/>
          <p:cNvSpPr/>
          <p:nvPr/>
        </p:nvSpPr>
        <p:spPr>
          <a:xfrm>
            <a:off x="5307329" y="2228850"/>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35" name="object 35"/>
          <p:cNvSpPr/>
          <p:nvPr/>
        </p:nvSpPr>
        <p:spPr>
          <a:xfrm>
            <a:off x="5374385" y="2228850"/>
            <a:ext cx="38100" cy="9525"/>
          </a:xfrm>
          <a:custGeom>
            <a:avLst/>
            <a:gdLst/>
            <a:ahLst/>
            <a:cxnLst/>
            <a:rect l="l" t="t" r="r" b="b"/>
            <a:pathLst>
              <a:path w="38100" h="9525">
                <a:moveTo>
                  <a:pt x="38100" y="9143"/>
                </a:moveTo>
                <a:lnTo>
                  <a:pt x="38100" y="0"/>
                </a:lnTo>
                <a:lnTo>
                  <a:pt x="0" y="0"/>
                </a:lnTo>
                <a:lnTo>
                  <a:pt x="0" y="9143"/>
                </a:lnTo>
                <a:lnTo>
                  <a:pt x="38100" y="9143"/>
                </a:lnTo>
                <a:close/>
              </a:path>
            </a:pathLst>
          </a:custGeom>
          <a:solidFill>
            <a:srgbClr val="000000"/>
          </a:solidFill>
        </p:spPr>
        <p:txBody>
          <a:bodyPr wrap="square" lIns="0" tIns="0" rIns="0" bIns="0" rtlCol="0"/>
          <a:lstStyle/>
          <a:p>
            <a:endParaRPr/>
          </a:p>
        </p:txBody>
      </p:sp>
      <p:sp>
        <p:nvSpPr>
          <p:cNvPr id="36" name="object 36"/>
          <p:cNvSpPr/>
          <p:nvPr/>
        </p:nvSpPr>
        <p:spPr>
          <a:xfrm>
            <a:off x="5440679" y="2228850"/>
            <a:ext cx="38100" cy="10160"/>
          </a:xfrm>
          <a:custGeom>
            <a:avLst/>
            <a:gdLst/>
            <a:ahLst/>
            <a:cxnLst/>
            <a:rect l="l" t="t" r="r" b="b"/>
            <a:pathLst>
              <a:path w="38100" h="10160">
                <a:moveTo>
                  <a:pt x="38100" y="9905"/>
                </a:moveTo>
                <a:lnTo>
                  <a:pt x="38100" y="0"/>
                </a:lnTo>
                <a:lnTo>
                  <a:pt x="0" y="0"/>
                </a:lnTo>
                <a:lnTo>
                  <a:pt x="0" y="9143"/>
                </a:lnTo>
                <a:lnTo>
                  <a:pt x="38100" y="9905"/>
                </a:lnTo>
                <a:close/>
              </a:path>
            </a:pathLst>
          </a:custGeom>
          <a:solidFill>
            <a:srgbClr val="000000"/>
          </a:solidFill>
        </p:spPr>
        <p:txBody>
          <a:bodyPr wrap="square" lIns="0" tIns="0" rIns="0" bIns="0" rtlCol="0"/>
          <a:lstStyle/>
          <a:p>
            <a:endParaRPr/>
          </a:p>
        </p:txBody>
      </p:sp>
      <p:sp>
        <p:nvSpPr>
          <p:cNvPr id="37" name="object 37"/>
          <p:cNvSpPr/>
          <p:nvPr/>
        </p:nvSpPr>
        <p:spPr>
          <a:xfrm>
            <a:off x="5507735" y="2228850"/>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38" name="object 38"/>
          <p:cNvSpPr/>
          <p:nvPr/>
        </p:nvSpPr>
        <p:spPr>
          <a:xfrm>
            <a:off x="5574029" y="2228850"/>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39" name="object 39"/>
          <p:cNvSpPr/>
          <p:nvPr/>
        </p:nvSpPr>
        <p:spPr>
          <a:xfrm>
            <a:off x="5641085" y="2228850"/>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0" name="object 40"/>
          <p:cNvSpPr/>
          <p:nvPr/>
        </p:nvSpPr>
        <p:spPr>
          <a:xfrm>
            <a:off x="36469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1" name="object 41"/>
          <p:cNvSpPr/>
          <p:nvPr/>
        </p:nvSpPr>
        <p:spPr>
          <a:xfrm>
            <a:off x="37132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2" name="object 42"/>
          <p:cNvSpPr/>
          <p:nvPr/>
        </p:nvSpPr>
        <p:spPr>
          <a:xfrm>
            <a:off x="37802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3" name="object 43"/>
          <p:cNvSpPr/>
          <p:nvPr/>
        </p:nvSpPr>
        <p:spPr>
          <a:xfrm>
            <a:off x="38465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4" name="object 44"/>
          <p:cNvSpPr/>
          <p:nvPr/>
        </p:nvSpPr>
        <p:spPr>
          <a:xfrm>
            <a:off x="39136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5" name="object 45"/>
          <p:cNvSpPr/>
          <p:nvPr/>
        </p:nvSpPr>
        <p:spPr>
          <a:xfrm>
            <a:off x="39799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6" name="object 46"/>
          <p:cNvSpPr/>
          <p:nvPr/>
        </p:nvSpPr>
        <p:spPr>
          <a:xfrm>
            <a:off x="40469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7" name="object 47"/>
          <p:cNvSpPr/>
          <p:nvPr/>
        </p:nvSpPr>
        <p:spPr>
          <a:xfrm>
            <a:off x="41132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8" name="object 48"/>
          <p:cNvSpPr/>
          <p:nvPr/>
        </p:nvSpPr>
        <p:spPr>
          <a:xfrm>
            <a:off x="41803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49" name="object 49"/>
          <p:cNvSpPr/>
          <p:nvPr/>
        </p:nvSpPr>
        <p:spPr>
          <a:xfrm>
            <a:off x="42466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0" name="object 50"/>
          <p:cNvSpPr/>
          <p:nvPr/>
        </p:nvSpPr>
        <p:spPr>
          <a:xfrm>
            <a:off x="43136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1" name="object 51"/>
          <p:cNvSpPr/>
          <p:nvPr/>
        </p:nvSpPr>
        <p:spPr>
          <a:xfrm>
            <a:off x="43799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2" name="object 52"/>
          <p:cNvSpPr/>
          <p:nvPr/>
        </p:nvSpPr>
        <p:spPr>
          <a:xfrm>
            <a:off x="44470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3" name="object 53"/>
          <p:cNvSpPr/>
          <p:nvPr/>
        </p:nvSpPr>
        <p:spPr>
          <a:xfrm>
            <a:off x="45133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4" name="object 54"/>
          <p:cNvSpPr/>
          <p:nvPr/>
        </p:nvSpPr>
        <p:spPr>
          <a:xfrm>
            <a:off x="45803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5" name="object 55"/>
          <p:cNvSpPr/>
          <p:nvPr/>
        </p:nvSpPr>
        <p:spPr>
          <a:xfrm>
            <a:off x="46466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6" name="object 56"/>
          <p:cNvSpPr/>
          <p:nvPr/>
        </p:nvSpPr>
        <p:spPr>
          <a:xfrm>
            <a:off x="47137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7" name="object 57"/>
          <p:cNvSpPr/>
          <p:nvPr/>
        </p:nvSpPr>
        <p:spPr>
          <a:xfrm>
            <a:off x="47800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8" name="object 58"/>
          <p:cNvSpPr/>
          <p:nvPr/>
        </p:nvSpPr>
        <p:spPr>
          <a:xfrm>
            <a:off x="48470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59" name="object 59"/>
          <p:cNvSpPr/>
          <p:nvPr/>
        </p:nvSpPr>
        <p:spPr>
          <a:xfrm>
            <a:off x="49133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0" name="object 60"/>
          <p:cNvSpPr/>
          <p:nvPr/>
        </p:nvSpPr>
        <p:spPr>
          <a:xfrm>
            <a:off x="49804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1" name="object 61"/>
          <p:cNvSpPr/>
          <p:nvPr/>
        </p:nvSpPr>
        <p:spPr>
          <a:xfrm>
            <a:off x="50467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2" name="object 62"/>
          <p:cNvSpPr/>
          <p:nvPr/>
        </p:nvSpPr>
        <p:spPr>
          <a:xfrm>
            <a:off x="51137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3" name="object 63"/>
          <p:cNvSpPr/>
          <p:nvPr/>
        </p:nvSpPr>
        <p:spPr>
          <a:xfrm>
            <a:off x="51800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4" name="object 64"/>
          <p:cNvSpPr/>
          <p:nvPr/>
        </p:nvSpPr>
        <p:spPr>
          <a:xfrm>
            <a:off x="52471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5" name="object 65"/>
          <p:cNvSpPr/>
          <p:nvPr/>
        </p:nvSpPr>
        <p:spPr>
          <a:xfrm>
            <a:off x="53134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6" name="object 66"/>
          <p:cNvSpPr/>
          <p:nvPr/>
        </p:nvSpPr>
        <p:spPr>
          <a:xfrm>
            <a:off x="53804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7" name="object 67"/>
          <p:cNvSpPr/>
          <p:nvPr/>
        </p:nvSpPr>
        <p:spPr>
          <a:xfrm>
            <a:off x="544677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8" name="object 68"/>
          <p:cNvSpPr/>
          <p:nvPr/>
        </p:nvSpPr>
        <p:spPr>
          <a:xfrm>
            <a:off x="551383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69" name="object 69"/>
          <p:cNvSpPr/>
          <p:nvPr/>
        </p:nvSpPr>
        <p:spPr>
          <a:xfrm>
            <a:off x="5580126"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70" name="object 70"/>
          <p:cNvSpPr/>
          <p:nvPr/>
        </p:nvSpPr>
        <p:spPr>
          <a:xfrm>
            <a:off x="5647182" y="4357878"/>
            <a:ext cx="38100" cy="10160"/>
          </a:xfrm>
          <a:custGeom>
            <a:avLst/>
            <a:gdLst/>
            <a:ahLst/>
            <a:cxnLst/>
            <a:rect l="l" t="t" r="r" b="b"/>
            <a:pathLst>
              <a:path w="38100" h="10160">
                <a:moveTo>
                  <a:pt x="38100" y="9905"/>
                </a:moveTo>
                <a:lnTo>
                  <a:pt x="38100" y="0"/>
                </a:lnTo>
                <a:lnTo>
                  <a:pt x="0" y="0"/>
                </a:lnTo>
                <a:lnTo>
                  <a:pt x="0" y="9905"/>
                </a:lnTo>
                <a:lnTo>
                  <a:pt x="38100" y="9905"/>
                </a:lnTo>
                <a:close/>
              </a:path>
            </a:pathLst>
          </a:custGeom>
          <a:solidFill>
            <a:srgbClr val="000000"/>
          </a:solidFill>
        </p:spPr>
        <p:txBody>
          <a:bodyPr wrap="square" lIns="0" tIns="0" rIns="0" bIns="0" rtlCol="0"/>
          <a:lstStyle/>
          <a:p>
            <a:endParaRPr/>
          </a:p>
        </p:txBody>
      </p:sp>
      <p:sp>
        <p:nvSpPr>
          <p:cNvPr id="71" name="object 71"/>
          <p:cNvSpPr/>
          <p:nvPr/>
        </p:nvSpPr>
        <p:spPr>
          <a:xfrm>
            <a:off x="3624834" y="2227326"/>
            <a:ext cx="2087245" cy="1170940"/>
          </a:xfrm>
          <a:custGeom>
            <a:avLst/>
            <a:gdLst/>
            <a:ahLst/>
            <a:cxnLst/>
            <a:rect l="l" t="t" r="r" b="b"/>
            <a:pathLst>
              <a:path w="2087245" h="1170939">
                <a:moveTo>
                  <a:pt x="2087118" y="1170431"/>
                </a:moveTo>
                <a:lnTo>
                  <a:pt x="2082545" y="925067"/>
                </a:lnTo>
                <a:lnTo>
                  <a:pt x="0" y="0"/>
                </a:lnTo>
                <a:lnTo>
                  <a:pt x="0" y="243840"/>
                </a:lnTo>
                <a:lnTo>
                  <a:pt x="2087118" y="1170431"/>
                </a:lnTo>
                <a:close/>
              </a:path>
            </a:pathLst>
          </a:custGeom>
          <a:solidFill>
            <a:srgbClr val="00CCFF"/>
          </a:solidFill>
        </p:spPr>
        <p:txBody>
          <a:bodyPr wrap="square" lIns="0" tIns="0" rIns="0" bIns="0" rtlCol="0"/>
          <a:lstStyle/>
          <a:p>
            <a:endParaRPr/>
          </a:p>
        </p:txBody>
      </p:sp>
      <p:sp>
        <p:nvSpPr>
          <p:cNvPr id="72" name="object 72"/>
          <p:cNvSpPr/>
          <p:nvPr/>
        </p:nvSpPr>
        <p:spPr>
          <a:xfrm>
            <a:off x="3619500" y="2222754"/>
            <a:ext cx="2098040" cy="1179830"/>
          </a:xfrm>
          <a:custGeom>
            <a:avLst/>
            <a:gdLst/>
            <a:ahLst/>
            <a:cxnLst/>
            <a:rect l="l" t="t" r="r" b="b"/>
            <a:pathLst>
              <a:path w="2098040" h="1179829">
                <a:moveTo>
                  <a:pt x="2097786" y="1176528"/>
                </a:moveTo>
                <a:lnTo>
                  <a:pt x="2097786" y="1175004"/>
                </a:lnTo>
                <a:lnTo>
                  <a:pt x="2092452" y="929640"/>
                </a:lnTo>
                <a:lnTo>
                  <a:pt x="2092452" y="928116"/>
                </a:lnTo>
                <a:lnTo>
                  <a:pt x="2090927" y="926591"/>
                </a:lnTo>
                <a:lnTo>
                  <a:pt x="2089404" y="925830"/>
                </a:lnTo>
                <a:lnTo>
                  <a:pt x="6858" y="762"/>
                </a:lnTo>
                <a:lnTo>
                  <a:pt x="5334" y="0"/>
                </a:lnTo>
                <a:lnTo>
                  <a:pt x="3810" y="0"/>
                </a:lnTo>
                <a:lnTo>
                  <a:pt x="2285" y="762"/>
                </a:lnTo>
                <a:lnTo>
                  <a:pt x="0" y="3048"/>
                </a:lnTo>
                <a:lnTo>
                  <a:pt x="0" y="250698"/>
                </a:lnTo>
                <a:lnTo>
                  <a:pt x="1524" y="252222"/>
                </a:lnTo>
                <a:lnTo>
                  <a:pt x="3048" y="252984"/>
                </a:lnTo>
                <a:lnTo>
                  <a:pt x="3048" y="9144"/>
                </a:lnTo>
                <a:lnTo>
                  <a:pt x="9906" y="4572"/>
                </a:lnTo>
                <a:lnTo>
                  <a:pt x="9906" y="12190"/>
                </a:lnTo>
                <a:lnTo>
                  <a:pt x="2082545" y="932858"/>
                </a:lnTo>
                <a:lnTo>
                  <a:pt x="2082545" y="930402"/>
                </a:lnTo>
                <a:lnTo>
                  <a:pt x="2085594" y="934212"/>
                </a:lnTo>
                <a:lnTo>
                  <a:pt x="2085594" y="1070174"/>
                </a:lnTo>
                <a:lnTo>
                  <a:pt x="2087712" y="1167316"/>
                </a:lnTo>
                <a:lnTo>
                  <a:pt x="2094738" y="1170432"/>
                </a:lnTo>
                <a:lnTo>
                  <a:pt x="2094738" y="1179195"/>
                </a:lnTo>
                <a:lnTo>
                  <a:pt x="2097024" y="1178052"/>
                </a:lnTo>
                <a:lnTo>
                  <a:pt x="2097786" y="1176528"/>
                </a:lnTo>
                <a:close/>
              </a:path>
              <a:path w="2098040" h="1179829">
                <a:moveTo>
                  <a:pt x="9906" y="12190"/>
                </a:moveTo>
                <a:lnTo>
                  <a:pt x="9906" y="4572"/>
                </a:lnTo>
                <a:lnTo>
                  <a:pt x="3048" y="9144"/>
                </a:lnTo>
                <a:lnTo>
                  <a:pt x="9906" y="12190"/>
                </a:lnTo>
                <a:close/>
              </a:path>
              <a:path w="2098040" h="1179829">
                <a:moveTo>
                  <a:pt x="9906" y="245953"/>
                </a:moveTo>
                <a:lnTo>
                  <a:pt x="9906" y="12190"/>
                </a:lnTo>
                <a:lnTo>
                  <a:pt x="3048" y="9144"/>
                </a:lnTo>
                <a:lnTo>
                  <a:pt x="3048" y="252984"/>
                </a:lnTo>
                <a:lnTo>
                  <a:pt x="6857" y="254674"/>
                </a:lnTo>
                <a:lnTo>
                  <a:pt x="6858" y="244602"/>
                </a:lnTo>
                <a:lnTo>
                  <a:pt x="9906" y="245953"/>
                </a:lnTo>
                <a:close/>
              </a:path>
              <a:path w="2098040" h="1179829">
                <a:moveTo>
                  <a:pt x="2094738" y="1179195"/>
                </a:moveTo>
                <a:lnTo>
                  <a:pt x="2094738" y="1170432"/>
                </a:lnTo>
                <a:lnTo>
                  <a:pt x="2087880" y="1175004"/>
                </a:lnTo>
                <a:lnTo>
                  <a:pt x="2087712" y="1167316"/>
                </a:lnTo>
                <a:lnTo>
                  <a:pt x="6858" y="244602"/>
                </a:lnTo>
                <a:lnTo>
                  <a:pt x="9906" y="248412"/>
                </a:lnTo>
                <a:lnTo>
                  <a:pt x="9906" y="256027"/>
                </a:lnTo>
                <a:lnTo>
                  <a:pt x="2090927" y="1179576"/>
                </a:lnTo>
                <a:lnTo>
                  <a:pt x="2093976" y="1179576"/>
                </a:lnTo>
                <a:lnTo>
                  <a:pt x="2094738" y="1179195"/>
                </a:lnTo>
                <a:close/>
              </a:path>
              <a:path w="2098040" h="1179829">
                <a:moveTo>
                  <a:pt x="9906" y="256027"/>
                </a:moveTo>
                <a:lnTo>
                  <a:pt x="9906" y="248412"/>
                </a:lnTo>
                <a:lnTo>
                  <a:pt x="6858" y="244602"/>
                </a:lnTo>
                <a:lnTo>
                  <a:pt x="6857" y="254674"/>
                </a:lnTo>
                <a:lnTo>
                  <a:pt x="9906" y="256027"/>
                </a:lnTo>
                <a:close/>
              </a:path>
              <a:path w="2098040" h="1179829">
                <a:moveTo>
                  <a:pt x="2085594" y="934212"/>
                </a:moveTo>
                <a:lnTo>
                  <a:pt x="2082545" y="930402"/>
                </a:lnTo>
                <a:lnTo>
                  <a:pt x="2082600" y="932882"/>
                </a:lnTo>
                <a:lnTo>
                  <a:pt x="2085594" y="934212"/>
                </a:lnTo>
                <a:close/>
              </a:path>
              <a:path w="2098040" h="1179829">
                <a:moveTo>
                  <a:pt x="2082600" y="932882"/>
                </a:moveTo>
                <a:lnTo>
                  <a:pt x="2082545" y="930402"/>
                </a:lnTo>
                <a:lnTo>
                  <a:pt x="2082545" y="932858"/>
                </a:lnTo>
                <a:close/>
              </a:path>
              <a:path w="2098040" h="1179829">
                <a:moveTo>
                  <a:pt x="2085594" y="1070174"/>
                </a:moveTo>
                <a:lnTo>
                  <a:pt x="2085594" y="934212"/>
                </a:lnTo>
                <a:lnTo>
                  <a:pt x="2082600" y="932882"/>
                </a:lnTo>
                <a:lnTo>
                  <a:pt x="2085594" y="1070174"/>
                </a:lnTo>
                <a:close/>
              </a:path>
              <a:path w="2098040" h="1179829">
                <a:moveTo>
                  <a:pt x="2094738" y="1170432"/>
                </a:moveTo>
                <a:lnTo>
                  <a:pt x="2087712" y="1167316"/>
                </a:lnTo>
                <a:lnTo>
                  <a:pt x="2087880" y="1175004"/>
                </a:lnTo>
                <a:lnTo>
                  <a:pt x="2094738" y="1170432"/>
                </a:lnTo>
                <a:close/>
              </a:path>
            </a:pathLst>
          </a:custGeom>
          <a:solidFill>
            <a:srgbClr val="000000"/>
          </a:solidFill>
        </p:spPr>
        <p:txBody>
          <a:bodyPr wrap="square" lIns="0" tIns="0" rIns="0" bIns="0" rtlCol="0"/>
          <a:lstStyle/>
          <a:p>
            <a:endParaRPr/>
          </a:p>
        </p:txBody>
      </p:sp>
      <p:sp>
        <p:nvSpPr>
          <p:cNvPr id="73" name="object 73"/>
          <p:cNvSpPr/>
          <p:nvPr/>
        </p:nvSpPr>
        <p:spPr>
          <a:xfrm>
            <a:off x="3489197" y="2222754"/>
            <a:ext cx="124460" cy="13335"/>
          </a:xfrm>
          <a:custGeom>
            <a:avLst/>
            <a:gdLst/>
            <a:ahLst/>
            <a:cxnLst/>
            <a:rect l="l" t="t" r="r" b="b"/>
            <a:pathLst>
              <a:path w="124460" h="13335">
                <a:moveTo>
                  <a:pt x="124205" y="9906"/>
                </a:moveTo>
                <a:lnTo>
                  <a:pt x="124205" y="0"/>
                </a:lnTo>
                <a:lnTo>
                  <a:pt x="0" y="3048"/>
                </a:lnTo>
                <a:lnTo>
                  <a:pt x="761" y="12954"/>
                </a:lnTo>
                <a:lnTo>
                  <a:pt x="124205" y="9906"/>
                </a:lnTo>
                <a:close/>
              </a:path>
            </a:pathLst>
          </a:custGeom>
          <a:solidFill>
            <a:srgbClr val="000000"/>
          </a:solidFill>
        </p:spPr>
        <p:txBody>
          <a:bodyPr wrap="square" lIns="0" tIns="0" rIns="0" bIns="0" rtlCol="0"/>
          <a:lstStyle/>
          <a:p>
            <a:endParaRPr/>
          </a:p>
        </p:txBody>
      </p:sp>
      <p:sp>
        <p:nvSpPr>
          <p:cNvPr id="74" name="object 74"/>
          <p:cNvSpPr/>
          <p:nvPr/>
        </p:nvSpPr>
        <p:spPr>
          <a:xfrm>
            <a:off x="3489959" y="2471927"/>
            <a:ext cx="123825" cy="0"/>
          </a:xfrm>
          <a:custGeom>
            <a:avLst/>
            <a:gdLst/>
            <a:ahLst/>
            <a:cxnLst/>
            <a:rect l="l" t="t" r="r" b="b"/>
            <a:pathLst>
              <a:path w="123825">
                <a:moveTo>
                  <a:pt x="0" y="0"/>
                </a:moveTo>
                <a:lnTo>
                  <a:pt x="123444" y="0"/>
                </a:lnTo>
              </a:path>
            </a:pathLst>
          </a:custGeom>
          <a:ln w="9144">
            <a:solidFill>
              <a:srgbClr val="000000"/>
            </a:solidFill>
          </a:ln>
        </p:spPr>
        <p:txBody>
          <a:bodyPr wrap="square" lIns="0" tIns="0" rIns="0" bIns="0" rtlCol="0"/>
          <a:lstStyle/>
          <a:p>
            <a:endParaRPr/>
          </a:p>
        </p:txBody>
      </p:sp>
      <p:sp>
        <p:nvSpPr>
          <p:cNvPr id="75" name="object 75"/>
          <p:cNvSpPr txBox="1"/>
          <p:nvPr/>
        </p:nvSpPr>
        <p:spPr>
          <a:xfrm>
            <a:off x="3180079" y="3237992"/>
            <a:ext cx="417195" cy="269875"/>
          </a:xfrm>
          <a:prstGeom prst="rect">
            <a:avLst/>
          </a:prstGeom>
        </p:spPr>
        <p:txBody>
          <a:bodyPr vert="horz" wrap="square" lIns="0" tIns="12700" rIns="0" bIns="0" rtlCol="0">
            <a:spAutoFit/>
          </a:bodyPr>
          <a:lstStyle/>
          <a:p>
            <a:pPr marL="12700">
              <a:lnSpc>
                <a:spcPct val="100000"/>
              </a:lnSpc>
              <a:spcBef>
                <a:spcPts val="100"/>
              </a:spcBef>
            </a:pPr>
            <a:r>
              <a:rPr sz="1600" spc="-35" dirty="0">
                <a:latin typeface="Arial"/>
                <a:cs typeface="Arial"/>
              </a:rPr>
              <a:t>R</a:t>
            </a:r>
            <a:r>
              <a:rPr sz="1600" spc="-5" dirty="0">
                <a:latin typeface="Arial"/>
                <a:cs typeface="Arial"/>
              </a:rPr>
              <a:t>T</a:t>
            </a:r>
            <a:r>
              <a:rPr sz="1600" dirty="0">
                <a:latin typeface="Arial"/>
                <a:cs typeface="Arial"/>
              </a:rPr>
              <a:t>T</a:t>
            </a:r>
            <a:endParaRPr sz="1600">
              <a:latin typeface="Arial"/>
              <a:cs typeface="Arial"/>
            </a:endParaRPr>
          </a:p>
        </p:txBody>
      </p:sp>
      <p:sp>
        <p:nvSpPr>
          <p:cNvPr id="76" name="object 76"/>
          <p:cNvSpPr/>
          <p:nvPr/>
        </p:nvSpPr>
        <p:spPr>
          <a:xfrm>
            <a:off x="3493770" y="3522726"/>
            <a:ext cx="76200" cy="821055"/>
          </a:xfrm>
          <a:custGeom>
            <a:avLst/>
            <a:gdLst/>
            <a:ahLst/>
            <a:cxnLst/>
            <a:rect l="l" t="t" r="r" b="b"/>
            <a:pathLst>
              <a:path w="76200" h="821054">
                <a:moveTo>
                  <a:pt x="42671" y="812898"/>
                </a:moveTo>
                <a:lnTo>
                  <a:pt x="42671" y="757428"/>
                </a:lnTo>
                <a:lnTo>
                  <a:pt x="33527" y="757428"/>
                </a:lnTo>
                <a:lnTo>
                  <a:pt x="33376" y="744902"/>
                </a:lnTo>
                <a:lnTo>
                  <a:pt x="0" y="745236"/>
                </a:lnTo>
                <a:lnTo>
                  <a:pt x="38861" y="820674"/>
                </a:lnTo>
                <a:lnTo>
                  <a:pt x="42671" y="812898"/>
                </a:lnTo>
                <a:close/>
              </a:path>
              <a:path w="76200" h="821054">
                <a:moveTo>
                  <a:pt x="42532" y="744810"/>
                </a:moveTo>
                <a:lnTo>
                  <a:pt x="34289" y="0"/>
                </a:lnTo>
                <a:lnTo>
                  <a:pt x="24383" y="0"/>
                </a:lnTo>
                <a:lnTo>
                  <a:pt x="33376" y="744902"/>
                </a:lnTo>
                <a:lnTo>
                  <a:pt x="42532" y="744810"/>
                </a:lnTo>
                <a:close/>
              </a:path>
              <a:path w="76200" h="821054">
                <a:moveTo>
                  <a:pt x="42671" y="757428"/>
                </a:moveTo>
                <a:lnTo>
                  <a:pt x="42532" y="744810"/>
                </a:lnTo>
                <a:lnTo>
                  <a:pt x="33376" y="744902"/>
                </a:lnTo>
                <a:lnTo>
                  <a:pt x="33527" y="757428"/>
                </a:lnTo>
                <a:lnTo>
                  <a:pt x="42671" y="757428"/>
                </a:lnTo>
                <a:close/>
              </a:path>
              <a:path w="76200" h="821054">
                <a:moveTo>
                  <a:pt x="76199" y="744474"/>
                </a:moveTo>
                <a:lnTo>
                  <a:pt x="42532" y="744810"/>
                </a:lnTo>
                <a:lnTo>
                  <a:pt x="42671" y="757428"/>
                </a:lnTo>
                <a:lnTo>
                  <a:pt x="42671" y="812898"/>
                </a:lnTo>
                <a:lnTo>
                  <a:pt x="76199" y="744474"/>
                </a:lnTo>
                <a:close/>
              </a:path>
            </a:pathLst>
          </a:custGeom>
          <a:solidFill>
            <a:srgbClr val="000000"/>
          </a:solidFill>
        </p:spPr>
        <p:txBody>
          <a:bodyPr wrap="square" lIns="0" tIns="0" rIns="0" bIns="0" rtlCol="0"/>
          <a:lstStyle/>
          <a:p>
            <a:endParaRPr/>
          </a:p>
        </p:txBody>
      </p:sp>
      <p:sp>
        <p:nvSpPr>
          <p:cNvPr id="77" name="object 77"/>
          <p:cNvSpPr/>
          <p:nvPr/>
        </p:nvSpPr>
        <p:spPr>
          <a:xfrm>
            <a:off x="3491484" y="2494026"/>
            <a:ext cx="76200" cy="776605"/>
          </a:xfrm>
          <a:custGeom>
            <a:avLst/>
            <a:gdLst/>
            <a:ahLst/>
            <a:cxnLst/>
            <a:rect l="l" t="t" r="r" b="b"/>
            <a:pathLst>
              <a:path w="76200" h="776604">
                <a:moveTo>
                  <a:pt x="76200" y="76199"/>
                </a:moveTo>
                <a:lnTo>
                  <a:pt x="38100" y="0"/>
                </a:lnTo>
                <a:lnTo>
                  <a:pt x="0" y="76199"/>
                </a:lnTo>
                <a:lnTo>
                  <a:pt x="32739" y="76199"/>
                </a:lnTo>
                <a:lnTo>
                  <a:pt x="32766" y="64007"/>
                </a:lnTo>
                <a:lnTo>
                  <a:pt x="42672" y="64007"/>
                </a:lnTo>
                <a:lnTo>
                  <a:pt x="42672" y="76199"/>
                </a:lnTo>
                <a:lnTo>
                  <a:pt x="76200" y="76199"/>
                </a:lnTo>
                <a:close/>
              </a:path>
              <a:path w="76200" h="776604">
                <a:moveTo>
                  <a:pt x="42645" y="76200"/>
                </a:moveTo>
                <a:lnTo>
                  <a:pt x="32739" y="76200"/>
                </a:lnTo>
                <a:lnTo>
                  <a:pt x="31242" y="776477"/>
                </a:lnTo>
                <a:lnTo>
                  <a:pt x="41148" y="776477"/>
                </a:lnTo>
                <a:lnTo>
                  <a:pt x="42645" y="76200"/>
                </a:lnTo>
                <a:close/>
              </a:path>
              <a:path w="76200" h="776604">
                <a:moveTo>
                  <a:pt x="42672" y="64007"/>
                </a:moveTo>
                <a:lnTo>
                  <a:pt x="32766" y="64007"/>
                </a:lnTo>
                <a:lnTo>
                  <a:pt x="32739" y="76200"/>
                </a:lnTo>
                <a:lnTo>
                  <a:pt x="42645" y="76199"/>
                </a:lnTo>
                <a:lnTo>
                  <a:pt x="42672" y="64007"/>
                </a:lnTo>
                <a:close/>
              </a:path>
              <a:path w="76200" h="776604">
                <a:moveTo>
                  <a:pt x="42672" y="76199"/>
                </a:moveTo>
                <a:lnTo>
                  <a:pt x="42672" y="64007"/>
                </a:lnTo>
                <a:lnTo>
                  <a:pt x="42645" y="76200"/>
                </a:lnTo>
                <a:close/>
              </a:path>
            </a:pathLst>
          </a:custGeom>
          <a:solidFill>
            <a:srgbClr val="000000"/>
          </a:solidFill>
        </p:spPr>
        <p:txBody>
          <a:bodyPr wrap="square" lIns="0" tIns="0" rIns="0" bIns="0" rtlCol="0"/>
          <a:lstStyle/>
          <a:p>
            <a:endParaRPr/>
          </a:p>
        </p:txBody>
      </p:sp>
      <p:sp>
        <p:nvSpPr>
          <p:cNvPr id="78" name="object 78"/>
          <p:cNvSpPr txBox="1"/>
          <p:nvPr/>
        </p:nvSpPr>
        <p:spPr>
          <a:xfrm>
            <a:off x="208385" y="1654154"/>
            <a:ext cx="5595620" cy="978535"/>
          </a:xfrm>
          <a:prstGeom prst="rect">
            <a:avLst/>
          </a:prstGeom>
        </p:spPr>
        <p:txBody>
          <a:bodyPr vert="horz" wrap="square" lIns="0" tIns="127635" rIns="0" bIns="0" rtlCol="0">
            <a:spAutoFit/>
          </a:bodyPr>
          <a:lstStyle/>
          <a:p>
            <a:pPr marL="2776855">
              <a:lnSpc>
                <a:spcPct val="100000"/>
              </a:lnSpc>
              <a:spcBef>
                <a:spcPts val="1005"/>
              </a:spcBef>
              <a:tabLst>
                <a:tab pos="4713605" algn="l"/>
              </a:tabLst>
            </a:pPr>
            <a:r>
              <a:rPr sz="1600" spc="-5" dirty="0">
                <a:latin typeface="Arial"/>
                <a:cs typeface="Arial"/>
              </a:rPr>
              <a:t>Bên</a:t>
            </a:r>
            <a:r>
              <a:rPr sz="1600" dirty="0">
                <a:latin typeface="Arial"/>
                <a:cs typeface="Arial"/>
              </a:rPr>
              <a:t> </a:t>
            </a:r>
            <a:r>
              <a:rPr sz="1600" spc="-5" dirty="0">
                <a:latin typeface="Arial"/>
                <a:cs typeface="Arial"/>
              </a:rPr>
              <a:t>gửi	Bên</a:t>
            </a:r>
            <a:r>
              <a:rPr sz="1600" spc="-75" dirty="0">
                <a:latin typeface="Arial"/>
                <a:cs typeface="Arial"/>
              </a:rPr>
              <a:t> </a:t>
            </a:r>
            <a:r>
              <a:rPr sz="1600" spc="-5" dirty="0">
                <a:latin typeface="Arial"/>
                <a:cs typeface="Arial"/>
              </a:rPr>
              <a:t>nhận</a:t>
            </a:r>
            <a:endParaRPr sz="1600" dirty="0">
              <a:latin typeface="Arial"/>
              <a:cs typeface="Arial"/>
            </a:endParaRPr>
          </a:p>
          <a:p>
            <a:pPr marL="94615" marR="2379980" indent="-82550">
              <a:lnSpc>
                <a:spcPct val="131400"/>
              </a:lnSpc>
              <a:spcBef>
                <a:spcPts val="260"/>
              </a:spcBef>
            </a:pPr>
            <a:r>
              <a:rPr sz="1400" spc="-5" dirty="0">
                <a:latin typeface="Arial"/>
                <a:cs typeface="Arial"/>
              </a:rPr>
              <a:t>bít đầu tiên của gói tin được truyền, t = 0</a:t>
            </a:r>
            <a:r>
              <a:rPr lang="en-US" sz="1400" spc="-5" dirty="0">
                <a:latin typeface="Arial"/>
                <a:cs typeface="Arial"/>
              </a:rPr>
              <a:t>      </a:t>
            </a:r>
            <a:r>
              <a:rPr sz="1400" spc="-5" dirty="0" err="1">
                <a:latin typeface="Arial"/>
                <a:cs typeface="Arial"/>
              </a:rPr>
              <a:t>bít</a:t>
            </a:r>
            <a:r>
              <a:rPr sz="1400" spc="-5" dirty="0">
                <a:latin typeface="Arial"/>
                <a:cs typeface="Arial"/>
              </a:rPr>
              <a:t> cuối cùng được truyền, </a:t>
            </a:r>
            <a:r>
              <a:rPr lang="en-US" sz="1400" spc="-5" dirty="0">
                <a:latin typeface="Arial"/>
                <a:cs typeface="Arial"/>
              </a:rPr>
              <a:t>        </a:t>
            </a:r>
            <a:r>
              <a:rPr sz="1400" spc="-5" dirty="0">
                <a:latin typeface="Arial"/>
                <a:cs typeface="Arial"/>
              </a:rPr>
              <a:t>t = L /</a:t>
            </a:r>
            <a:r>
              <a:rPr sz="1400" spc="-100" dirty="0">
                <a:latin typeface="Arial"/>
                <a:cs typeface="Arial"/>
              </a:rPr>
              <a:t> </a:t>
            </a:r>
            <a:r>
              <a:rPr sz="1400" spc="-5" dirty="0">
                <a:latin typeface="Arial"/>
                <a:cs typeface="Arial"/>
              </a:rPr>
              <a:t>R</a:t>
            </a:r>
            <a:endParaRPr sz="1400" dirty="0">
              <a:latin typeface="Arial"/>
              <a:cs typeface="Arial"/>
            </a:endParaRPr>
          </a:p>
        </p:txBody>
      </p:sp>
      <p:sp>
        <p:nvSpPr>
          <p:cNvPr id="79" name="object 79"/>
          <p:cNvSpPr/>
          <p:nvPr/>
        </p:nvSpPr>
        <p:spPr>
          <a:xfrm>
            <a:off x="5689853" y="3153155"/>
            <a:ext cx="125730" cy="0"/>
          </a:xfrm>
          <a:custGeom>
            <a:avLst/>
            <a:gdLst/>
            <a:ahLst/>
            <a:cxnLst/>
            <a:rect l="l" t="t" r="r" b="b"/>
            <a:pathLst>
              <a:path w="125729">
                <a:moveTo>
                  <a:pt x="0" y="0"/>
                </a:moveTo>
                <a:lnTo>
                  <a:pt x="125729" y="0"/>
                </a:lnTo>
              </a:path>
            </a:pathLst>
          </a:custGeom>
          <a:ln w="9144">
            <a:solidFill>
              <a:srgbClr val="000000"/>
            </a:solidFill>
          </a:ln>
        </p:spPr>
        <p:txBody>
          <a:bodyPr wrap="square" lIns="0" tIns="0" rIns="0" bIns="0" rtlCol="0"/>
          <a:lstStyle/>
          <a:p>
            <a:endParaRPr/>
          </a:p>
        </p:txBody>
      </p:sp>
      <p:sp>
        <p:nvSpPr>
          <p:cNvPr id="80" name="object 80"/>
          <p:cNvSpPr/>
          <p:nvPr/>
        </p:nvSpPr>
        <p:spPr>
          <a:xfrm>
            <a:off x="5711952" y="3403853"/>
            <a:ext cx="120014" cy="0"/>
          </a:xfrm>
          <a:custGeom>
            <a:avLst/>
            <a:gdLst/>
            <a:ahLst/>
            <a:cxnLst/>
            <a:rect l="l" t="t" r="r" b="b"/>
            <a:pathLst>
              <a:path w="120014">
                <a:moveTo>
                  <a:pt x="0" y="0"/>
                </a:moveTo>
                <a:lnTo>
                  <a:pt x="119634" y="0"/>
                </a:lnTo>
              </a:path>
            </a:pathLst>
          </a:custGeom>
          <a:ln w="9144">
            <a:solidFill>
              <a:srgbClr val="000000"/>
            </a:solidFill>
          </a:ln>
        </p:spPr>
        <p:txBody>
          <a:bodyPr wrap="square" lIns="0" tIns="0" rIns="0" bIns="0" rtlCol="0"/>
          <a:lstStyle/>
          <a:p>
            <a:endParaRPr/>
          </a:p>
        </p:txBody>
      </p:sp>
      <p:sp>
        <p:nvSpPr>
          <p:cNvPr id="81" name="object 81"/>
          <p:cNvSpPr txBox="1"/>
          <p:nvPr/>
        </p:nvSpPr>
        <p:spPr>
          <a:xfrm>
            <a:off x="1121156" y="4046478"/>
            <a:ext cx="2385695" cy="513080"/>
          </a:xfrm>
          <a:prstGeom prst="rect">
            <a:avLst/>
          </a:prstGeom>
        </p:spPr>
        <p:txBody>
          <a:bodyPr vert="horz" wrap="square" lIns="0" tIns="12700" rIns="0" bIns="0" rtlCol="0">
            <a:spAutoFit/>
          </a:bodyPr>
          <a:lstStyle/>
          <a:p>
            <a:pPr marL="12700">
              <a:lnSpc>
                <a:spcPts val="1914"/>
              </a:lnSpc>
              <a:spcBef>
                <a:spcPts val="100"/>
              </a:spcBef>
            </a:pPr>
            <a:r>
              <a:rPr sz="1600" spc="-5" dirty="0">
                <a:latin typeface="Arial"/>
                <a:cs typeface="Arial"/>
              </a:rPr>
              <a:t>nhận ACK, gửi gói tin</a:t>
            </a:r>
            <a:r>
              <a:rPr sz="1600" spc="-130" dirty="0">
                <a:latin typeface="Arial"/>
                <a:cs typeface="Arial"/>
              </a:rPr>
              <a:t> </a:t>
            </a:r>
            <a:r>
              <a:rPr sz="1600" spc="-5" dirty="0">
                <a:latin typeface="Arial"/>
                <a:cs typeface="Arial"/>
              </a:rPr>
              <a:t>tiếp,</a:t>
            </a:r>
            <a:endParaRPr sz="1600">
              <a:latin typeface="Arial"/>
              <a:cs typeface="Arial"/>
            </a:endParaRPr>
          </a:p>
          <a:p>
            <a:pPr marL="1038225">
              <a:lnSpc>
                <a:spcPts val="1914"/>
              </a:lnSpc>
            </a:pPr>
            <a:r>
              <a:rPr sz="1600" dirty="0">
                <a:latin typeface="Arial"/>
                <a:cs typeface="Arial"/>
              </a:rPr>
              <a:t>t = </a:t>
            </a:r>
            <a:r>
              <a:rPr sz="1600" spc="-15" dirty="0">
                <a:latin typeface="Arial"/>
                <a:cs typeface="Arial"/>
              </a:rPr>
              <a:t>RTT </a:t>
            </a:r>
            <a:r>
              <a:rPr sz="1600" dirty="0">
                <a:latin typeface="Arial"/>
                <a:cs typeface="Arial"/>
              </a:rPr>
              <a:t>+ L /</a:t>
            </a:r>
            <a:r>
              <a:rPr sz="1600" spc="-140" dirty="0">
                <a:latin typeface="Arial"/>
                <a:cs typeface="Arial"/>
              </a:rPr>
              <a:t> </a:t>
            </a:r>
            <a:r>
              <a:rPr sz="1600" dirty="0">
                <a:latin typeface="Arial"/>
                <a:cs typeface="Arial"/>
              </a:rPr>
              <a:t>R</a:t>
            </a:r>
            <a:endParaRPr sz="1600">
              <a:latin typeface="Arial"/>
              <a:cs typeface="Arial"/>
            </a:endParaRPr>
          </a:p>
        </p:txBody>
      </p:sp>
      <p:sp>
        <p:nvSpPr>
          <p:cNvPr id="82" name="object 82"/>
          <p:cNvSpPr/>
          <p:nvPr/>
        </p:nvSpPr>
        <p:spPr>
          <a:xfrm>
            <a:off x="3500628" y="4351020"/>
            <a:ext cx="124460" cy="0"/>
          </a:xfrm>
          <a:custGeom>
            <a:avLst/>
            <a:gdLst/>
            <a:ahLst/>
            <a:cxnLst/>
            <a:rect l="l" t="t" r="r" b="b"/>
            <a:pathLst>
              <a:path w="124460">
                <a:moveTo>
                  <a:pt x="0" y="0"/>
                </a:moveTo>
                <a:lnTo>
                  <a:pt x="124205" y="0"/>
                </a:lnTo>
              </a:path>
            </a:pathLst>
          </a:custGeom>
          <a:ln w="10667">
            <a:solidFill>
              <a:srgbClr val="000000"/>
            </a:solidFill>
          </a:ln>
        </p:spPr>
        <p:txBody>
          <a:bodyPr wrap="square" lIns="0" tIns="0" rIns="0" bIns="0" rtlCol="0"/>
          <a:lstStyle/>
          <a:p>
            <a:endParaRPr/>
          </a:p>
        </p:txBody>
      </p:sp>
      <p:sp>
        <p:nvSpPr>
          <p:cNvPr id="83" name="object 83"/>
          <p:cNvSpPr/>
          <p:nvPr/>
        </p:nvSpPr>
        <p:spPr>
          <a:xfrm>
            <a:off x="3640835" y="4357878"/>
            <a:ext cx="1326641" cy="585216"/>
          </a:xfrm>
          <a:prstGeom prst="rect">
            <a:avLst/>
          </a:prstGeom>
          <a:blipFill>
            <a:blip r:embed="rId2" cstate="print"/>
            <a:stretch>
              <a:fillRect/>
            </a:stretch>
          </a:blipFill>
        </p:spPr>
        <p:txBody>
          <a:bodyPr wrap="square" lIns="0" tIns="0" rIns="0" bIns="0" rtlCol="0"/>
          <a:lstStyle/>
          <a:p>
            <a:endParaRPr/>
          </a:p>
        </p:txBody>
      </p:sp>
      <p:sp>
        <p:nvSpPr>
          <p:cNvPr id="84" name="object 84"/>
          <p:cNvSpPr/>
          <p:nvPr/>
        </p:nvSpPr>
        <p:spPr>
          <a:xfrm>
            <a:off x="3633978" y="4345685"/>
            <a:ext cx="688975" cy="313690"/>
          </a:xfrm>
          <a:custGeom>
            <a:avLst/>
            <a:gdLst/>
            <a:ahLst/>
            <a:cxnLst/>
            <a:rect l="l" t="t" r="r" b="b"/>
            <a:pathLst>
              <a:path w="688975" h="313689">
                <a:moveTo>
                  <a:pt x="688848" y="304038"/>
                </a:moveTo>
                <a:lnTo>
                  <a:pt x="3810" y="0"/>
                </a:lnTo>
                <a:lnTo>
                  <a:pt x="0" y="9144"/>
                </a:lnTo>
                <a:lnTo>
                  <a:pt x="685038" y="313181"/>
                </a:lnTo>
                <a:lnTo>
                  <a:pt x="688848" y="304038"/>
                </a:lnTo>
                <a:close/>
              </a:path>
            </a:pathLst>
          </a:custGeom>
          <a:solidFill>
            <a:srgbClr val="000000"/>
          </a:solidFill>
        </p:spPr>
        <p:txBody>
          <a:bodyPr wrap="square" lIns="0" tIns="0" rIns="0" bIns="0" rtlCol="0"/>
          <a:lstStyle/>
          <a:p>
            <a:endParaRPr/>
          </a:p>
        </p:txBody>
      </p:sp>
      <p:sp>
        <p:nvSpPr>
          <p:cNvPr id="85" name="object 85"/>
          <p:cNvSpPr/>
          <p:nvPr/>
        </p:nvSpPr>
        <p:spPr>
          <a:xfrm>
            <a:off x="4324350" y="4649723"/>
            <a:ext cx="511809" cy="246379"/>
          </a:xfrm>
          <a:custGeom>
            <a:avLst/>
            <a:gdLst/>
            <a:ahLst/>
            <a:cxnLst/>
            <a:rect l="l" t="t" r="r" b="b"/>
            <a:pathLst>
              <a:path w="511810" h="246379">
                <a:moveTo>
                  <a:pt x="12954" y="3809"/>
                </a:moveTo>
                <a:lnTo>
                  <a:pt x="3810" y="0"/>
                </a:lnTo>
                <a:lnTo>
                  <a:pt x="0" y="8382"/>
                </a:lnTo>
                <a:lnTo>
                  <a:pt x="8382" y="12192"/>
                </a:lnTo>
                <a:lnTo>
                  <a:pt x="12954" y="3809"/>
                </a:lnTo>
                <a:close/>
              </a:path>
              <a:path w="511810" h="246379">
                <a:moveTo>
                  <a:pt x="29718" y="12191"/>
                </a:moveTo>
                <a:lnTo>
                  <a:pt x="21336" y="7619"/>
                </a:lnTo>
                <a:lnTo>
                  <a:pt x="17526" y="16764"/>
                </a:lnTo>
                <a:lnTo>
                  <a:pt x="25908" y="20574"/>
                </a:lnTo>
                <a:lnTo>
                  <a:pt x="29718" y="12191"/>
                </a:lnTo>
                <a:close/>
              </a:path>
              <a:path w="511810" h="246379">
                <a:moveTo>
                  <a:pt x="47244" y="19811"/>
                </a:moveTo>
                <a:lnTo>
                  <a:pt x="38862" y="16001"/>
                </a:lnTo>
                <a:lnTo>
                  <a:pt x="34290" y="24383"/>
                </a:lnTo>
                <a:lnTo>
                  <a:pt x="43434" y="28956"/>
                </a:lnTo>
                <a:lnTo>
                  <a:pt x="47244" y="19811"/>
                </a:lnTo>
                <a:close/>
              </a:path>
              <a:path w="511810" h="246379">
                <a:moveTo>
                  <a:pt x="64770" y="28193"/>
                </a:moveTo>
                <a:lnTo>
                  <a:pt x="55626" y="24383"/>
                </a:lnTo>
                <a:lnTo>
                  <a:pt x="51816" y="32765"/>
                </a:lnTo>
                <a:lnTo>
                  <a:pt x="60198" y="36575"/>
                </a:lnTo>
                <a:lnTo>
                  <a:pt x="64770" y="28193"/>
                </a:lnTo>
                <a:close/>
              </a:path>
              <a:path w="511810" h="246379">
                <a:moveTo>
                  <a:pt x="81534" y="35813"/>
                </a:moveTo>
                <a:lnTo>
                  <a:pt x="73152" y="32003"/>
                </a:lnTo>
                <a:lnTo>
                  <a:pt x="69342" y="40386"/>
                </a:lnTo>
                <a:lnTo>
                  <a:pt x="77724" y="44957"/>
                </a:lnTo>
                <a:lnTo>
                  <a:pt x="81534" y="35813"/>
                </a:lnTo>
                <a:close/>
              </a:path>
              <a:path w="511810" h="246379">
                <a:moveTo>
                  <a:pt x="99060" y="44195"/>
                </a:moveTo>
                <a:lnTo>
                  <a:pt x="89916" y="40386"/>
                </a:lnTo>
                <a:lnTo>
                  <a:pt x="86106" y="48767"/>
                </a:lnTo>
                <a:lnTo>
                  <a:pt x="94488" y="52577"/>
                </a:lnTo>
                <a:lnTo>
                  <a:pt x="99060" y="44195"/>
                </a:lnTo>
                <a:close/>
              </a:path>
              <a:path w="511810" h="246379">
                <a:moveTo>
                  <a:pt x="115824" y="52577"/>
                </a:moveTo>
                <a:lnTo>
                  <a:pt x="107442" y="48006"/>
                </a:lnTo>
                <a:lnTo>
                  <a:pt x="103632" y="57149"/>
                </a:lnTo>
                <a:lnTo>
                  <a:pt x="112014" y="60959"/>
                </a:lnTo>
                <a:lnTo>
                  <a:pt x="115824" y="52577"/>
                </a:lnTo>
                <a:close/>
              </a:path>
              <a:path w="511810" h="246379">
                <a:moveTo>
                  <a:pt x="133350" y="60197"/>
                </a:moveTo>
                <a:lnTo>
                  <a:pt x="124968" y="56387"/>
                </a:lnTo>
                <a:lnTo>
                  <a:pt x="120396" y="64769"/>
                </a:lnTo>
                <a:lnTo>
                  <a:pt x="129540" y="69341"/>
                </a:lnTo>
                <a:lnTo>
                  <a:pt x="133350" y="60197"/>
                </a:lnTo>
                <a:close/>
              </a:path>
              <a:path w="511810" h="246379">
                <a:moveTo>
                  <a:pt x="150876" y="68580"/>
                </a:moveTo>
                <a:lnTo>
                  <a:pt x="141732" y="64769"/>
                </a:lnTo>
                <a:lnTo>
                  <a:pt x="137922" y="73151"/>
                </a:lnTo>
                <a:lnTo>
                  <a:pt x="146304" y="76961"/>
                </a:lnTo>
                <a:lnTo>
                  <a:pt x="150876" y="68580"/>
                </a:lnTo>
                <a:close/>
              </a:path>
              <a:path w="511810" h="246379">
                <a:moveTo>
                  <a:pt x="167640" y="76961"/>
                </a:moveTo>
                <a:lnTo>
                  <a:pt x="159258" y="72389"/>
                </a:lnTo>
                <a:lnTo>
                  <a:pt x="155448" y="81533"/>
                </a:lnTo>
                <a:lnTo>
                  <a:pt x="163830" y="85343"/>
                </a:lnTo>
                <a:lnTo>
                  <a:pt x="167640" y="76961"/>
                </a:lnTo>
                <a:close/>
              </a:path>
              <a:path w="511810" h="246379">
                <a:moveTo>
                  <a:pt x="185166" y="84581"/>
                </a:moveTo>
                <a:lnTo>
                  <a:pt x="176784" y="80772"/>
                </a:lnTo>
                <a:lnTo>
                  <a:pt x="172212" y="89153"/>
                </a:lnTo>
                <a:lnTo>
                  <a:pt x="181356" y="93725"/>
                </a:lnTo>
                <a:lnTo>
                  <a:pt x="185166" y="84581"/>
                </a:lnTo>
                <a:close/>
              </a:path>
              <a:path w="511810" h="246379">
                <a:moveTo>
                  <a:pt x="202692" y="92963"/>
                </a:moveTo>
                <a:lnTo>
                  <a:pt x="193548" y="88391"/>
                </a:lnTo>
                <a:lnTo>
                  <a:pt x="189738" y="97535"/>
                </a:lnTo>
                <a:lnTo>
                  <a:pt x="198120" y="101346"/>
                </a:lnTo>
                <a:lnTo>
                  <a:pt x="202692" y="92963"/>
                </a:lnTo>
                <a:close/>
              </a:path>
              <a:path w="511810" h="246379">
                <a:moveTo>
                  <a:pt x="219456" y="100583"/>
                </a:moveTo>
                <a:lnTo>
                  <a:pt x="211074" y="96773"/>
                </a:lnTo>
                <a:lnTo>
                  <a:pt x="207264" y="105155"/>
                </a:lnTo>
                <a:lnTo>
                  <a:pt x="215646" y="109727"/>
                </a:lnTo>
                <a:lnTo>
                  <a:pt x="219456" y="100583"/>
                </a:lnTo>
                <a:close/>
              </a:path>
              <a:path w="511810" h="246379">
                <a:moveTo>
                  <a:pt x="236982" y="108965"/>
                </a:moveTo>
                <a:lnTo>
                  <a:pt x="228600" y="105155"/>
                </a:lnTo>
                <a:lnTo>
                  <a:pt x="224028" y="113537"/>
                </a:lnTo>
                <a:lnTo>
                  <a:pt x="233172" y="117347"/>
                </a:lnTo>
                <a:lnTo>
                  <a:pt x="236982" y="108965"/>
                </a:lnTo>
                <a:close/>
              </a:path>
              <a:path w="511810" h="246379">
                <a:moveTo>
                  <a:pt x="253746" y="117347"/>
                </a:moveTo>
                <a:lnTo>
                  <a:pt x="245364" y="112775"/>
                </a:lnTo>
                <a:lnTo>
                  <a:pt x="241554" y="121919"/>
                </a:lnTo>
                <a:lnTo>
                  <a:pt x="249936" y="125729"/>
                </a:lnTo>
                <a:lnTo>
                  <a:pt x="253746" y="117347"/>
                </a:lnTo>
                <a:close/>
              </a:path>
              <a:path w="511810" h="246379">
                <a:moveTo>
                  <a:pt x="271272" y="124967"/>
                </a:moveTo>
                <a:lnTo>
                  <a:pt x="262890" y="121157"/>
                </a:lnTo>
                <a:lnTo>
                  <a:pt x="258318" y="129539"/>
                </a:lnTo>
                <a:lnTo>
                  <a:pt x="267462" y="134111"/>
                </a:lnTo>
                <a:lnTo>
                  <a:pt x="271272" y="124967"/>
                </a:lnTo>
                <a:close/>
              </a:path>
              <a:path w="511810" h="246379">
                <a:moveTo>
                  <a:pt x="288798" y="133349"/>
                </a:moveTo>
                <a:lnTo>
                  <a:pt x="279654" y="129539"/>
                </a:lnTo>
                <a:lnTo>
                  <a:pt x="275844" y="137921"/>
                </a:lnTo>
                <a:lnTo>
                  <a:pt x="284226" y="141731"/>
                </a:lnTo>
                <a:lnTo>
                  <a:pt x="288798" y="133349"/>
                </a:lnTo>
                <a:close/>
              </a:path>
              <a:path w="511810" h="246379">
                <a:moveTo>
                  <a:pt x="305562" y="141731"/>
                </a:moveTo>
                <a:lnTo>
                  <a:pt x="297180" y="137160"/>
                </a:lnTo>
                <a:lnTo>
                  <a:pt x="293370" y="146303"/>
                </a:lnTo>
                <a:lnTo>
                  <a:pt x="301752" y="150113"/>
                </a:lnTo>
                <a:lnTo>
                  <a:pt x="305562" y="141731"/>
                </a:lnTo>
                <a:close/>
              </a:path>
              <a:path w="511810" h="246379">
                <a:moveTo>
                  <a:pt x="323088" y="149351"/>
                </a:moveTo>
                <a:lnTo>
                  <a:pt x="314706" y="145542"/>
                </a:lnTo>
                <a:lnTo>
                  <a:pt x="310134" y="153923"/>
                </a:lnTo>
                <a:lnTo>
                  <a:pt x="319278" y="157733"/>
                </a:lnTo>
                <a:lnTo>
                  <a:pt x="323088" y="149351"/>
                </a:lnTo>
                <a:close/>
              </a:path>
              <a:path w="511810" h="246379">
                <a:moveTo>
                  <a:pt x="340614" y="157733"/>
                </a:moveTo>
                <a:lnTo>
                  <a:pt x="331470" y="153161"/>
                </a:lnTo>
                <a:lnTo>
                  <a:pt x="327660" y="162305"/>
                </a:lnTo>
                <a:lnTo>
                  <a:pt x="336042" y="166115"/>
                </a:lnTo>
                <a:lnTo>
                  <a:pt x="340614" y="157733"/>
                </a:lnTo>
                <a:close/>
              </a:path>
              <a:path w="511810" h="246379">
                <a:moveTo>
                  <a:pt x="357378" y="165353"/>
                </a:moveTo>
                <a:lnTo>
                  <a:pt x="348996" y="161544"/>
                </a:lnTo>
                <a:lnTo>
                  <a:pt x="345186" y="169926"/>
                </a:lnTo>
                <a:lnTo>
                  <a:pt x="353568" y="174497"/>
                </a:lnTo>
                <a:lnTo>
                  <a:pt x="357378" y="165353"/>
                </a:lnTo>
                <a:close/>
              </a:path>
              <a:path w="511810" h="246379">
                <a:moveTo>
                  <a:pt x="374904" y="173735"/>
                </a:moveTo>
                <a:lnTo>
                  <a:pt x="366522" y="169926"/>
                </a:lnTo>
                <a:lnTo>
                  <a:pt x="361950" y="178307"/>
                </a:lnTo>
                <a:lnTo>
                  <a:pt x="371094" y="182117"/>
                </a:lnTo>
                <a:lnTo>
                  <a:pt x="374904" y="173735"/>
                </a:lnTo>
                <a:close/>
              </a:path>
              <a:path w="511810" h="246379">
                <a:moveTo>
                  <a:pt x="392430" y="182117"/>
                </a:moveTo>
                <a:lnTo>
                  <a:pt x="383286" y="177545"/>
                </a:lnTo>
                <a:lnTo>
                  <a:pt x="379476" y="186689"/>
                </a:lnTo>
                <a:lnTo>
                  <a:pt x="387858" y="190499"/>
                </a:lnTo>
                <a:lnTo>
                  <a:pt x="392430" y="182117"/>
                </a:lnTo>
                <a:close/>
              </a:path>
              <a:path w="511810" h="246379">
                <a:moveTo>
                  <a:pt x="409194" y="189737"/>
                </a:moveTo>
                <a:lnTo>
                  <a:pt x="400812" y="185927"/>
                </a:lnTo>
                <a:lnTo>
                  <a:pt x="397002" y="194310"/>
                </a:lnTo>
                <a:lnTo>
                  <a:pt x="405384" y="198881"/>
                </a:lnTo>
                <a:lnTo>
                  <a:pt x="409194" y="189737"/>
                </a:lnTo>
                <a:close/>
              </a:path>
              <a:path w="511810" h="246379">
                <a:moveTo>
                  <a:pt x="426720" y="198119"/>
                </a:moveTo>
                <a:lnTo>
                  <a:pt x="418338" y="194310"/>
                </a:lnTo>
                <a:lnTo>
                  <a:pt x="413766" y="202692"/>
                </a:lnTo>
                <a:lnTo>
                  <a:pt x="422910" y="206501"/>
                </a:lnTo>
                <a:lnTo>
                  <a:pt x="426720" y="198119"/>
                </a:lnTo>
                <a:close/>
              </a:path>
              <a:path w="511810" h="246379">
                <a:moveTo>
                  <a:pt x="443484" y="205739"/>
                </a:moveTo>
                <a:lnTo>
                  <a:pt x="435102" y="201929"/>
                </a:lnTo>
                <a:lnTo>
                  <a:pt x="431292" y="210311"/>
                </a:lnTo>
                <a:lnTo>
                  <a:pt x="439674" y="214883"/>
                </a:lnTo>
                <a:lnTo>
                  <a:pt x="443484" y="205739"/>
                </a:lnTo>
                <a:close/>
              </a:path>
              <a:path w="511810" h="246379">
                <a:moveTo>
                  <a:pt x="461010" y="214121"/>
                </a:moveTo>
                <a:lnTo>
                  <a:pt x="452628" y="210311"/>
                </a:lnTo>
                <a:lnTo>
                  <a:pt x="448056" y="218693"/>
                </a:lnTo>
                <a:lnTo>
                  <a:pt x="457200" y="222503"/>
                </a:lnTo>
                <a:lnTo>
                  <a:pt x="461010" y="214121"/>
                </a:lnTo>
                <a:close/>
              </a:path>
              <a:path w="511810" h="246379">
                <a:moveTo>
                  <a:pt x="478536" y="222503"/>
                </a:moveTo>
                <a:lnTo>
                  <a:pt x="469392" y="217931"/>
                </a:lnTo>
                <a:lnTo>
                  <a:pt x="465582" y="227075"/>
                </a:lnTo>
                <a:lnTo>
                  <a:pt x="473964" y="230885"/>
                </a:lnTo>
                <a:lnTo>
                  <a:pt x="478536" y="222503"/>
                </a:lnTo>
                <a:close/>
              </a:path>
              <a:path w="511810" h="246379">
                <a:moveTo>
                  <a:pt x="495300" y="230123"/>
                </a:moveTo>
                <a:lnTo>
                  <a:pt x="486918" y="226313"/>
                </a:lnTo>
                <a:lnTo>
                  <a:pt x="483108" y="234695"/>
                </a:lnTo>
                <a:lnTo>
                  <a:pt x="491490" y="239267"/>
                </a:lnTo>
                <a:lnTo>
                  <a:pt x="495300" y="230123"/>
                </a:lnTo>
                <a:close/>
              </a:path>
              <a:path w="511810" h="246379">
                <a:moveTo>
                  <a:pt x="511302" y="237743"/>
                </a:moveTo>
                <a:lnTo>
                  <a:pt x="504444" y="234695"/>
                </a:lnTo>
                <a:lnTo>
                  <a:pt x="499872" y="243077"/>
                </a:lnTo>
                <a:lnTo>
                  <a:pt x="506730" y="246125"/>
                </a:lnTo>
                <a:lnTo>
                  <a:pt x="511302" y="237743"/>
                </a:lnTo>
                <a:close/>
              </a:path>
            </a:pathLst>
          </a:custGeom>
          <a:solidFill>
            <a:srgbClr val="000000"/>
          </a:solidFill>
        </p:spPr>
        <p:txBody>
          <a:bodyPr wrap="square" lIns="0" tIns="0" rIns="0" bIns="0" rtlCol="0"/>
          <a:lstStyle/>
          <a:p>
            <a:endParaRPr/>
          </a:p>
        </p:txBody>
      </p:sp>
      <p:sp>
        <p:nvSpPr>
          <p:cNvPr id="86" name="object 86"/>
          <p:cNvSpPr/>
          <p:nvPr/>
        </p:nvSpPr>
        <p:spPr>
          <a:xfrm>
            <a:off x="3633978" y="4590288"/>
            <a:ext cx="300355" cy="135255"/>
          </a:xfrm>
          <a:custGeom>
            <a:avLst/>
            <a:gdLst/>
            <a:ahLst/>
            <a:cxnLst/>
            <a:rect l="l" t="t" r="r" b="b"/>
            <a:pathLst>
              <a:path w="300354" h="135254">
                <a:moveTo>
                  <a:pt x="300228" y="126491"/>
                </a:moveTo>
                <a:lnTo>
                  <a:pt x="3810" y="0"/>
                </a:lnTo>
                <a:lnTo>
                  <a:pt x="0" y="8382"/>
                </a:lnTo>
                <a:lnTo>
                  <a:pt x="296418" y="134873"/>
                </a:lnTo>
                <a:lnTo>
                  <a:pt x="300228" y="126491"/>
                </a:lnTo>
                <a:close/>
              </a:path>
            </a:pathLst>
          </a:custGeom>
          <a:solidFill>
            <a:srgbClr val="000000"/>
          </a:solidFill>
        </p:spPr>
        <p:txBody>
          <a:bodyPr wrap="square" lIns="0" tIns="0" rIns="0" bIns="0" rtlCol="0"/>
          <a:lstStyle/>
          <a:p>
            <a:endParaRPr/>
          </a:p>
        </p:txBody>
      </p:sp>
      <p:sp>
        <p:nvSpPr>
          <p:cNvPr id="87" name="object 87"/>
          <p:cNvSpPr/>
          <p:nvPr/>
        </p:nvSpPr>
        <p:spPr>
          <a:xfrm>
            <a:off x="3935729" y="4715255"/>
            <a:ext cx="511809" cy="247015"/>
          </a:xfrm>
          <a:custGeom>
            <a:avLst/>
            <a:gdLst/>
            <a:ahLst/>
            <a:cxnLst/>
            <a:rect l="l" t="t" r="r" b="b"/>
            <a:pathLst>
              <a:path w="511810" h="247014">
                <a:moveTo>
                  <a:pt x="12954" y="3809"/>
                </a:moveTo>
                <a:lnTo>
                  <a:pt x="3810" y="0"/>
                </a:lnTo>
                <a:lnTo>
                  <a:pt x="0" y="8382"/>
                </a:lnTo>
                <a:lnTo>
                  <a:pt x="8382" y="12954"/>
                </a:lnTo>
                <a:lnTo>
                  <a:pt x="12954" y="3809"/>
                </a:lnTo>
                <a:close/>
              </a:path>
              <a:path w="511810" h="247014">
                <a:moveTo>
                  <a:pt x="29718" y="12191"/>
                </a:moveTo>
                <a:lnTo>
                  <a:pt x="21336" y="8381"/>
                </a:lnTo>
                <a:lnTo>
                  <a:pt x="17526" y="16764"/>
                </a:lnTo>
                <a:lnTo>
                  <a:pt x="25908" y="20574"/>
                </a:lnTo>
                <a:lnTo>
                  <a:pt x="29718" y="12191"/>
                </a:lnTo>
                <a:close/>
              </a:path>
              <a:path w="511810" h="247014">
                <a:moveTo>
                  <a:pt x="47244" y="20574"/>
                </a:moveTo>
                <a:lnTo>
                  <a:pt x="38862" y="16001"/>
                </a:lnTo>
                <a:lnTo>
                  <a:pt x="34290" y="25145"/>
                </a:lnTo>
                <a:lnTo>
                  <a:pt x="43434" y="28956"/>
                </a:lnTo>
                <a:lnTo>
                  <a:pt x="47244" y="20574"/>
                </a:lnTo>
                <a:close/>
              </a:path>
              <a:path w="511810" h="247014">
                <a:moveTo>
                  <a:pt x="64770" y="28193"/>
                </a:moveTo>
                <a:lnTo>
                  <a:pt x="55626" y="24383"/>
                </a:lnTo>
                <a:lnTo>
                  <a:pt x="51816" y="32765"/>
                </a:lnTo>
                <a:lnTo>
                  <a:pt x="60198" y="37337"/>
                </a:lnTo>
                <a:lnTo>
                  <a:pt x="64770" y="28193"/>
                </a:lnTo>
                <a:close/>
              </a:path>
              <a:path w="511810" h="247014">
                <a:moveTo>
                  <a:pt x="81534" y="36575"/>
                </a:moveTo>
                <a:lnTo>
                  <a:pt x="73152" y="32765"/>
                </a:lnTo>
                <a:lnTo>
                  <a:pt x="69342" y="41148"/>
                </a:lnTo>
                <a:lnTo>
                  <a:pt x="77724" y="44957"/>
                </a:lnTo>
                <a:lnTo>
                  <a:pt x="81534" y="36575"/>
                </a:lnTo>
                <a:close/>
              </a:path>
              <a:path w="511810" h="247014">
                <a:moveTo>
                  <a:pt x="99060" y="44957"/>
                </a:moveTo>
                <a:lnTo>
                  <a:pt x="90678" y="40386"/>
                </a:lnTo>
                <a:lnTo>
                  <a:pt x="86106" y="49529"/>
                </a:lnTo>
                <a:lnTo>
                  <a:pt x="95250" y="53340"/>
                </a:lnTo>
                <a:lnTo>
                  <a:pt x="99060" y="44957"/>
                </a:lnTo>
                <a:close/>
              </a:path>
              <a:path w="511810" h="247014">
                <a:moveTo>
                  <a:pt x="115824" y="52577"/>
                </a:moveTo>
                <a:lnTo>
                  <a:pt x="107442" y="48767"/>
                </a:lnTo>
                <a:lnTo>
                  <a:pt x="103632" y="57149"/>
                </a:lnTo>
                <a:lnTo>
                  <a:pt x="112014" y="61721"/>
                </a:lnTo>
                <a:lnTo>
                  <a:pt x="115824" y="52577"/>
                </a:lnTo>
                <a:close/>
              </a:path>
              <a:path w="511810" h="247014">
                <a:moveTo>
                  <a:pt x="133350" y="60959"/>
                </a:moveTo>
                <a:lnTo>
                  <a:pt x="124968" y="57149"/>
                </a:lnTo>
                <a:lnTo>
                  <a:pt x="120396" y="65531"/>
                </a:lnTo>
                <a:lnTo>
                  <a:pt x="129540" y="69341"/>
                </a:lnTo>
                <a:lnTo>
                  <a:pt x="133350" y="60959"/>
                </a:lnTo>
                <a:close/>
              </a:path>
              <a:path w="511810" h="247014">
                <a:moveTo>
                  <a:pt x="150876" y="69341"/>
                </a:moveTo>
                <a:lnTo>
                  <a:pt x="141732" y="64769"/>
                </a:lnTo>
                <a:lnTo>
                  <a:pt x="137922" y="73913"/>
                </a:lnTo>
                <a:lnTo>
                  <a:pt x="146304" y="77723"/>
                </a:lnTo>
                <a:lnTo>
                  <a:pt x="150876" y="69341"/>
                </a:lnTo>
                <a:close/>
              </a:path>
              <a:path w="511810" h="247014">
                <a:moveTo>
                  <a:pt x="167640" y="76961"/>
                </a:moveTo>
                <a:lnTo>
                  <a:pt x="159258" y="73151"/>
                </a:lnTo>
                <a:lnTo>
                  <a:pt x="155448" y="81533"/>
                </a:lnTo>
                <a:lnTo>
                  <a:pt x="163830" y="86105"/>
                </a:lnTo>
                <a:lnTo>
                  <a:pt x="167640" y="76961"/>
                </a:lnTo>
                <a:close/>
              </a:path>
              <a:path w="511810" h="247014">
                <a:moveTo>
                  <a:pt x="185166" y="85343"/>
                </a:moveTo>
                <a:lnTo>
                  <a:pt x="176784" y="81533"/>
                </a:lnTo>
                <a:lnTo>
                  <a:pt x="172212" y="89915"/>
                </a:lnTo>
                <a:lnTo>
                  <a:pt x="181356" y="93725"/>
                </a:lnTo>
                <a:lnTo>
                  <a:pt x="185166" y="85343"/>
                </a:lnTo>
                <a:close/>
              </a:path>
              <a:path w="511810" h="247014">
                <a:moveTo>
                  <a:pt x="202692" y="93725"/>
                </a:moveTo>
                <a:lnTo>
                  <a:pt x="193548" y="89153"/>
                </a:lnTo>
                <a:lnTo>
                  <a:pt x="189738" y="97535"/>
                </a:lnTo>
                <a:lnTo>
                  <a:pt x="198120" y="102107"/>
                </a:lnTo>
                <a:lnTo>
                  <a:pt x="202692" y="93725"/>
                </a:lnTo>
                <a:close/>
              </a:path>
              <a:path w="511810" h="247014">
                <a:moveTo>
                  <a:pt x="219456" y="101346"/>
                </a:moveTo>
                <a:lnTo>
                  <a:pt x="211074" y="97535"/>
                </a:lnTo>
                <a:lnTo>
                  <a:pt x="207264" y="105917"/>
                </a:lnTo>
                <a:lnTo>
                  <a:pt x="215646" y="109727"/>
                </a:lnTo>
                <a:lnTo>
                  <a:pt x="219456" y="101346"/>
                </a:lnTo>
                <a:close/>
              </a:path>
              <a:path w="511810" h="247014">
                <a:moveTo>
                  <a:pt x="236982" y="109727"/>
                </a:moveTo>
                <a:lnTo>
                  <a:pt x="228600" y="105155"/>
                </a:lnTo>
                <a:lnTo>
                  <a:pt x="224028" y="114299"/>
                </a:lnTo>
                <a:lnTo>
                  <a:pt x="232410" y="118109"/>
                </a:lnTo>
                <a:lnTo>
                  <a:pt x="236982" y="109727"/>
                </a:lnTo>
                <a:close/>
              </a:path>
              <a:path w="511810" h="247014">
                <a:moveTo>
                  <a:pt x="253746" y="117347"/>
                </a:moveTo>
                <a:lnTo>
                  <a:pt x="245364" y="113537"/>
                </a:lnTo>
                <a:lnTo>
                  <a:pt x="241554" y="121919"/>
                </a:lnTo>
                <a:lnTo>
                  <a:pt x="249936" y="126491"/>
                </a:lnTo>
                <a:lnTo>
                  <a:pt x="253746" y="117347"/>
                </a:lnTo>
                <a:close/>
              </a:path>
              <a:path w="511810" h="247014">
                <a:moveTo>
                  <a:pt x="271272" y="125729"/>
                </a:moveTo>
                <a:lnTo>
                  <a:pt x="262890" y="121919"/>
                </a:lnTo>
                <a:lnTo>
                  <a:pt x="258318" y="130301"/>
                </a:lnTo>
                <a:lnTo>
                  <a:pt x="267462" y="134111"/>
                </a:lnTo>
                <a:lnTo>
                  <a:pt x="271272" y="125729"/>
                </a:lnTo>
                <a:close/>
              </a:path>
              <a:path w="511810" h="247014">
                <a:moveTo>
                  <a:pt x="288798" y="134111"/>
                </a:moveTo>
                <a:lnTo>
                  <a:pt x="279654" y="129539"/>
                </a:lnTo>
                <a:lnTo>
                  <a:pt x="275844" y="138683"/>
                </a:lnTo>
                <a:lnTo>
                  <a:pt x="284226" y="142494"/>
                </a:lnTo>
                <a:lnTo>
                  <a:pt x="288798" y="134111"/>
                </a:lnTo>
                <a:close/>
              </a:path>
              <a:path w="511810" h="247014">
                <a:moveTo>
                  <a:pt x="305562" y="141731"/>
                </a:moveTo>
                <a:lnTo>
                  <a:pt x="297180" y="137921"/>
                </a:lnTo>
                <a:lnTo>
                  <a:pt x="293370" y="146303"/>
                </a:lnTo>
                <a:lnTo>
                  <a:pt x="301752" y="150876"/>
                </a:lnTo>
                <a:lnTo>
                  <a:pt x="305562" y="141731"/>
                </a:lnTo>
                <a:close/>
              </a:path>
              <a:path w="511810" h="247014">
                <a:moveTo>
                  <a:pt x="323088" y="150113"/>
                </a:moveTo>
                <a:lnTo>
                  <a:pt x="314706" y="146303"/>
                </a:lnTo>
                <a:lnTo>
                  <a:pt x="310134" y="154685"/>
                </a:lnTo>
                <a:lnTo>
                  <a:pt x="319278" y="158495"/>
                </a:lnTo>
                <a:lnTo>
                  <a:pt x="323088" y="150113"/>
                </a:lnTo>
                <a:close/>
              </a:path>
              <a:path w="511810" h="247014">
                <a:moveTo>
                  <a:pt x="340614" y="158495"/>
                </a:moveTo>
                <a:lnTo>
                  <a:pt x="331470" y="153923"/>
                </a:lnTo>
                <a:lnTo>
                  <a:pt x="327660" y="163067"/>
                </a:lnTo>
                <a:lnTo>
                  <a:pt x="336042" y="166877"/>
                </a:lnTo>
                <a:lnTo>
                  <a:pt x="340614" y="158495"/>
                </a:lnTo>
                <a:close/>
              </a:path>
              <a:path w="511810" h="247014">
                <a:moveTo>
                  <a:pt x="357378" y="166115"/>
                </a:moveTo>
                <a:lnTo>
                  <a:pt x="348996" y="162305"/>
                </a:lnTo>
                <a:lnTo>
                  <a:pt x="345186" y="170687"/>
                </a:lnTo>
                <a:lnTo>
                  <a:pt x="353568" y="175260"/>
                </a:lnTo>
                <a:lnTo>
                  <a:pt x="357378" y="166115"/>
                </a:lnTo>
                <a:close/>
              </a:path>
              <a:path w="511810" h="247014">
                <a:moveTo>
                  <a:pt x="374904" y="174497"/>
                </a:moveTo>
                <a:lnTo>
                  <a:pt x="365760" y="170687"/>
                </a:lnTo>
                <a:lnTo>
                  <a:pt x="361950" y="179069"/>
                </a:lnTo>
                <a:lnTo>
                  <a:pt x="370332" y="182879"/>
                </a:lnTo>
                <a:lnTo>
                  <a:pt x="374904" y="174497"/>
                </a:lnTo>
                <a:close/>
              </a:path>
              <a:path w="511810" h="247014">
                <a:moveTo>
                  <a:pt x="391668" y="182879"/>
                </a:moveTo>
                <a:lnTo>
                  <a:pt x="383286" y="178307"/>
                </a:lnTo>
                <a:lnTo>
                  <a:pt x="379476" y="187451"/>
                </a:lnTo>
                <a:lnTo>
                  <a:pt x="387858" y="191261"/>
                </a:lnTo>
                <a:lnTo>
                  <a:pt x="391668" y="182879"/>
                </a:lnTo>
                <a:close/>
              </a:path>
              <a:path w="511810" h="247014">
                <a:moveTo>
                  <a:pt x="409194" y="190499"/>
                </a:moveTo>
                <a:lnTo>
                  <a:pt x="400812" y="186689"/>
                </a:lnTo>
                <a:lnTo>
                  <a:pt x="396240" y="195071"/>
                </a:lnTo>
                <a:lnTo>
                  <a:pt x="405384" y="199644"/>
                </a:lnTo>
                <a:lnTo>
                  <a:pt x="409194" y="190499"/>
                </a:lnTo>
                <a:close/>
              </a:path>
              <a:path w="511810" h="247014">
                <a:moveTo>
                  <a:pt x="426720" y="198881"/>
                </a:moveTo>
                <a:lnTo>
                  <a:pt x="417576" y="195071"/>
                </a:lnTo>
                <a:lnTo>
                  <a:pt x="413766" y="203453"/>
                </a:lnTo>
                <a:lnTo>
                  <a:pt x="422148" y="207263"/>
                </a:lnTo>
                <a:lnTo>
                  <a:pt x="426720" y="198881"/>
                </a:lnTo>
                <a:close/>
              </a:path>
              <a:path w="511810" h="247014">
                <a:moveTo>
                  <a:pt x="443484" y="206501"/>
                </a:moveTo>
                <a:lnTo>
                  <a:pt x="435102" y="202692"/>
                </a:lnTo>
                <a:lnTo>
                  <a:pt x="431292" y="211073"/>
                </a:lnTo>
                <a:lnTo>
                  <a:pt x="439674" y="215645"/>
                </a:lnTo>
                <a:lnTo>
                  <a:pt x="443484" y="206501"/>
                </a:lnTo>
                <a:close/>
              </a:path>
              <a:path w="511810" h="247014">
                <a:moveTo>
                  <a:pt x="461010" y="214883"/>
                </a:moveTo>
                <a:lnTo>
                  <a:pt x="452628" y="211073"/>
                </a:lnTo>
                <a:lnTo>
                  <a:pt x="448056" y="219455"/>
                </a:lnTo>
                <a:lnTo>
                  <a:pt x="457200" y="223265"/>
                </a:lnTo>
                <a:lnTo>
                  <a:pt x="461010" y="214883"/>
                </a:lnTo>
                <a:close/>
              </a:path>
              <a:path w="511810" h="247014">
                <a:moveTo>
                  <a:pt x="478536" y="223265"/>
                </a:moveTo>
                <a:lnTo>
                  <a:pt x="469392" y="218693"/>
                </a:lnTo>
                <a:lnTo>
                  <a:pt x="465582" y="227837"/>
                </a:lnTo>
                <a:lnTo>
                  <a:pt x="473964" y="231647"/>
                </a:lnTo>
                <a:lnTo>
                  <a:pt x="478536" y="223265"/>
                </a:lnTo>
                <a:close/>
              </a:path>
              <a:path w="511810" h="247014">
                <a:moveTo>
                  <a:pt x="495300" y="230885"/>
                </a:moveTo>
                <a:lnTo>
                  <a:pt x="486918" y="227075"/>
                </a:lnTo>
                <a:lnTo>
                  <a:pt x="483108" y="235457"/>
                </a:lnTo>
                <a:lnTo>
                  <a:pt x="491490" y="240029"/>
                </a:lnTo>
                <a:lnTo>
                  <a:pt x="495300" y="230885"/>
                </a:lnTo>
                <a:close/>
              </a:path>
              <a:path w="511810" h="247014">
                <a:moveTo>
                  <a:pt x="511302" y="238505"/>
                </a:moveTo>
                <a:lnTo>
                  <a:pt x="503682" y="235457"/>
                </a:lnTo>
                <a:lnTo>
                  <a:pt x="499872" y="243839"/>
                </a:lnTo>
                <a:lnTo>
                  <a:pt x="506730" y="246887"/>
                </a:lnTo>
                <a:lnTo>
                  <a:pt x="511302" y="238505"/>
                </a:lnTo>
                <a:close/>
              </a:path>
            </a:pathLst>
          </a:custGeom>
          <a:solidFill>
            <a:srgbClr val="000000"/>
          </a:solidFill>
        </p:spPr>
        <p:txBody>
          <a:bodyPr wrap="square" lIns="0" tIns="0" rIns="0" bIns="0" rtlCol="0"/>
          <a:lstStyle/>
          <a:p>
            <a:endParaRPr/>
          </a:p>
        </p:txBody>
      </p:sp>
      <p:sp>
        <p:nvSpPr>
          <p:cNvPr id="88" name="object 88"/>
          <p:cNvSpPr/>
          <p:nvPr/>
        </p:nvSpPr>
        <p:spPr>
          <a:xfrm>
            <a:off x="3629405" y="2480310"/>
            <a:ext cx="2087880" cy="1168400"/>
          </a:xfrm>
          <a:custGeom>
            <a:avLst/>
            <a:gdLst/>
            <a:ahLst/>
            <a:cxnLst/>
            <a:rect l="l" t="t" r="r" b="b"/>
            <a:pathLst>
              <a:path w="2087879" h="1168400">
                <a:moveTo>
                  <a:pt x="2087880" y="1168145"/>
                </a:moveTo>
                <a:lnTo>
                  <a:pt x="2082545" y="923543"/>
                </a:lnTo>
                <a:lnTo>
                  <a:pt x="0" y="0"/>
                </a:lnTo>
                <a:lnTo>
                  <a:pt x="0" y="243078"/>
                </a:lnTo>
                <a:lnTo>
                  <a:pt x="2087880" y="1168145"/>
                </a:lnTo>
                <a:close/>
              </a:path>
            </a:pathLst>
          </a:custGeom>
          <a:solidFill>
            <a:srgbClr val="00CCFF"/>
          </a:solidFill>
        </p:spPr>
        <p:txBody>
          <a:bodyPr wrap="square" lIns="0" tIns="0" rIns="0" bIns="0" rtlCol="0"/>
          <a:lstStyle/>
          <a:p>
            <a:endParaRPr/>
          </a:p>
        </p:txBody>
      </p:sp>
      <p:sp>
        <p:nvSpPr>
          <p:cNvPr id="89" name="object 89"/>
          <p:cNvSpPr/>
          <p:nvPr/>
        </p:nvSpPr>
        <p:spPr>
          <a:xfrm>
            <a:off x="3629405" y="2731007"/>
            <a:ext cx="2087880" cy="1168400"/>
          </a:xfrm>
          <a:custGeom>
            <a:avLst/>
            <a:gdLst/>
            <a:ahLst/>
            <a:cxnLst/>
            <a:rect l="l" t="t" r="r" b="b"/>
            <a:pathLst>
              <a:path w="2087879" h="1168400">
                <a:moveTo>
                  <a:pt x="2087880" y="1168145"/>
                </a:moveTo>
                <a:lnTo>
                  <a:pt x="2082545" y="923543"/>
                </a:lnTo>
                <a:lnTo>
                  <a:pt x="0" y="0"/>
                </a:lnTo>
                <a:lnTo>
                  <a:pt x="0" y="243078"/>
                </a:lnTo>
                <a:lnTo>
                  <a:pt x="2087880" y="1168145"/>
                </a:lnTo>
                <a:close/>
              </a:path>
            </a:pathLst>
          </a:custGeom>
          <a:solidFill>
            <a:srgbClr val="00CCFF"/>
          </a:solidFill>
        </p:spPr>
        <p:txBody>
          <a:bodyPr wrap="square" lIns="0" tIns="0" rIns="0" bIns="0" rtlCol="0"/>
          <a:lstStyle/>
          <a:p>
            <a:endParaRPr/>
          </a:p>
        </p:txBody>
      </p:sp>
      <p:sp>
        <p:nvSpPr>
          <p:cNvPr id="90" name="object 90"/>
          <p:cNvSpPr/>
          <p:nvPr/>
        </p:nvSpPr>
        <p:spPr>
          <a:xfrm>
            <a:off x="3624834" y="2725673"/>
            <a:ext cx="2097405" cy="1179195"/>
          </a:xfrm>
          <a:custGeom>
            <a:avLst/>
            <a:gdLst/>
            <a:ahLst/>
            <a:cxnLst/>
            <a:rect l="l" t="t" r="r" b="b"/>
            <a:pathLst>
              <a:path w="2097404" h="1179195">
                <a:moveTo>
                  <a:pt x="2097024" y="1175004"/>
                </a:moveTo>
                <a:lnTo>
                  <a:pt x="2097024" y="1173480"/>
                </a:lnTo>
                <a:lnTo>
                  <a:pt x="2091689" y="928878"/>
                </a:lnTo>
                <a:lnTo>
                  <a:pt x="2091689" y="927354"/>
                </a:lnTo>
                <a:lnTo>
                  <a:pt x="2090927" y="925830"/>
                </a:lnTo>
                <a:lnTo>
                  <a:pt x="2088642" y="925068"/>
                </a:lnTo>
                <a:lnTo>
                  <a:pt x="6858" y="762"/>
                </a:lnTo>
                <a:lnTo>
                  <a:pt x="5334" y="0"/>
                </a:lnTo>
                <a:lnTo>
                  <a:pt x="3047" y="0"/>
                </a:lnTo>
                <a:lnTo>
                  <a:pt x="2285" y="1524"/>
                </a:lnTo>
                <a:lnTo>
                  <a:pt x="761" y="2286"/>
                </a:lnTo>
                <a:lnTo>
                  <a:pt x="0" y="3810"/>
                </a:lnTo>
                <a:lnTo>
                  <a:pt x="0" y="250698"/>
                </a:lnTo>
                <a:lnTo>
                  <a:pt x="762" y="252222"/>
                </a:lnTo>
                <a:lnTo>
                  <a:pt x="2286" y="252984"/>
                </a:lnTo>
                <a:lnTo>
                  <a:pt x="2286" y="9906"/>
                </a:lnTo>
                <a:lnTo>
                  <a:pt x="9143" y="5334"/>
                </a:lnTo>
                <a:lnTo>
                  <a:pt x="9143" y="12947"/>
                </a:lnTo>
                <a:lnTo>
                  <a:pt x="2082545" y="932436"/>
                </a:lnTo>
                <a:lnTo>
                  <a:pt x="2082545" y="928878"/>
                </a:lnTo>
                <a:lnTo>
                  <a:pt x="2084832" y="933450"/>
                </a:lnTo>
                <a:lnTo>
                  <a:pt x="2084832" y="1051178"/>
                </a:lnTo>
                <a:lnTo>
                  <a:pt x="2086974" y="1165807"/>
                </a:lnTo>
                <a:lnTo>
                  <a:pt x="2093976" y="1168908"/>
                </a:lnTo>
                <a:lnTo>
                  <a:pt x="2093976" y="1178052"/>
                </a:lnTo>
                <a:lnTo>
                  <a:pt x="2094738" y="1177290"/>
                </a:lnTo>
                <a:lnTo>
                  <a:pt x="2096262" y="1176528"/>
                </a:lnTo>
                <a:lnTo>
                  <a:pt x="2097024" y="1175004"/>
                </a:lnTo>
                <a:close/>
              </a:path>
              <a:path w="2097404" h="1179195">
                <a:moveTo>
                  <a:pt x="9143" y="12947"/>
                </a:moveTo>
                <a:lnTo>
                  <a:pt x="9143" y="5334"/>
                </a:lnTo>
                <a:lnTo>
                  <a:pt x="2286" y="9906"/>
                </a:lnTo>
                <a:lnTo>
                  <a:pt x="9143" y="12947"/>
                </a:lnTo>
                <a:close/>
              </a:path>
              <a:path w="2097404" h="1179195">
                <a:moveTo>
                  <a:pt x="9144" y="245614"/>
                </a:moveTo>
                <a:lnTo>
                  <a:pt x="9143" y="12947"/>
                </a:lnTo>
                <a:lnTo>
                  <a:pt x="2285" y="9906"/>
                </a:lnTo>
                <a:lnTo>
                  <a:pt x="2286" y="252984"/>
                </a:lnTo>
                <a:lnTo>
                  <a:pt x="6857" y="255009"/>
                </a:lnTo>
                <a:lnTo>
                  <a:pt x="6858" y="244602"/>
                </a:lnTo>
                <a:lnTo>
                  <a:pt x="9144" y="245614"/>
                </a:lnTo>
                <a:close/>
              </a:path>
              <a:path w="2097404" h="1179195">
                <a:moveTo>
                  <a:pt x="2093976" y="1178052"/>
                </a:moveTo>
                <a:lnTo>
                  <a:pt x="2093976" y="1168908"/>
                </a:lnTo>
                <a:lnTo>
                  <a:pt x="2087118" y="1173480"/>
                </a:lnTo>
                <a:lnTo>
                  <a:pt x="2086974" y="1165807"/>
                </a:lnTo>
                <a:lnTo>
                  <a:pt x="6858" y="244602"/>
                </a:lnTo>
                <a:lnTo>
                  <a:pt x="9144" y="248412"/>
                </a:lnTo>
                <a:lnTo>
                  <a:pt x="9144" y="256022"/>
                </a:lnTo>
                <a:lnTo>
                  <a:pt x="2090166" y="1178052"/>
                </a:lnTo>
                <a:lnTo>
                  <a:pt x="2091689" y="1178814"/>
                </a:lnTo>
                <a:lnTo>
                  <a:pt x="2093214" y="1178814"/>
                </a:lnTo>
                <a:lnTo>
                  <a:pt x="2093976" y="1178052"/>
                </a:lnTo>
                <a:close/>
              </a:path>
              <a:path w="2097404" h="1179195">
                <a:moveTo>
                  <a:pt x="9144" y="256022"/>
                </a:moveTo>
                <a:lnTo>
                  <a:pt x="9144" y="248412"/>
                </a:lnTo>
                <a:lnTo>
                  <a:pt x="6858" y="244602"/>
                </a:lnTo>
                <a:lnTo>
                  <a:pt x="6857" y="255009"/>
                </a:lnTo>
                <a:lnTo>
                  <a:pt x="9144" y="256022"/>
                </a:lnTo>
                <a:close/>
              </a:path>
              <a:path w="2097404" h="1179195">
                <a:moveTo>
                  <a:pt x="2084832" y="933450"/>
                </a:moveTo>
                <a:lnTo>
                  <a:pt x="2082545" y="928878"/>
                </a:lnTo>
                <a:lnTo>
                  <a:pt x="2082613" y="932465"/>
                </a:lnTo>
                <a:lnTo>
                  <a:pt x="2084832" y="933450"/>
                </a:lnTo>
                <a:close/>
              </a:path>
              <a:path w="2097404" h="1179195">
                <a:moveTo>
                  <a:pt x="2082613" y="932465"/>
                </a:moveTo>
                <a:lnTo>
                  <a:pt x="2082545" y="928878"/>
                </a:lnTo>
                <a:lnTo>
                  <a:pt x="2082545" y="932436"/>
                </a:lnTo>
                <a:close/>
              </a:path>
              <a:path w="2097404" h="1179195">
                <a:moveTo>
                  <a:pt x="2084832" y="1051178"/>
                </a:moveTo>
                <a:lnTo>
                  <a:pt x="2084832" y="933450"/>
                </a:lnTo>
                <a:lnTo>
                  <a:pt x="2082613" y="932465"/>
                </a:lnTo>
                <a:lnTo>
                  <a:pt x="2084832" y="1051178"/>
                </a:lnTo>
                <a:close/>
              </a:path>
              <a:path w="2097404" h="1179195">
                <a:moveTo>
                  <a:pt x="2093976" y="1168908"/>
                </a:moveTo>
                <a:lnTo>
                  <a:pt x="2086974" y="1165807"/>
                </a:lnTo>
                <a:lnTo>
                  <a:pt x="2087118" y="1173480"/>
                </a:lnTo>
                <a:lnTo>
                  <a:pt x="2093976" y="1168908"/>
                </a:lnTo>
                <a:close/>
              </a:path>
            </a:pathLst>
          </a:custGeom>
          <a:solidFill>
            <a:srgbClr val="000000"/>
          </a:solidFill>
        </p:spPr>
        <p:txBody>
          <a:bodyPr wrap="square" lIns="0" tIns="0" rIns="0" bIns="0" rtlCol="0"/>
          <a:lstStyle/>
          <a:p>
            <a:endParaRPr/>
          </a:p>
        </p:txBody>
      </p:sp>
      <p:sp>
        <p:nvSpPr>
          <p:cNvPr id="91" name="object 91"/>
          <p:cNvSpPr/>
          <p:nvPr/>
        </p:nvSpPr>
        <p:spPr>
          <a:xfrm>
            <a:off x="3644646" y="3407664"/>
            <a:ext cx="2070100" cy="940435"/>
          </a:xfrm>
          <a:custGeom>
            <a:avLst/>
            <a:gdLst/>
            <a:ahLst/>
            <a:cxnLst/>
            <a:rect l="l" t="t" r="r" b="b"/>
            <a:pathLst>
              <a:path w="2070100" h="940435">
                <a:moveTo>
                  <a:pt x="2069592" y="8382"/>
                </a:moveTo>
                <a:lnTo>
                  <a:pt x="2065782" y="0"/>
                </a:lnTo>
                <a:lnTo>
                  <a:pt x="0" y="931926"/>
                </a:lnTo>
                <a:lnTo>
                  <a:pt x="3810" y="940308"/>
                </a:lnTo>
                <a:lnTo>
                  <a:pt x="2069592" y="8382"/>
                </a:lnTo>
                <a:close/>
              </a:path>
            </a:pathLst>
          </a:custGeom>
          <a:solidFill>
            <a:srgbClr val="000000"/>
          </a:solidFill>
        </p:spPr>
        <p:txBody>
          <a:bodyPr wrap="square" lIns="0" tIns="0" rIns="0" bIns="0" rtlCol="0"/>
          <a:lstStyle/>
          <a:p>
            <a:endParaRPr/>
          </a:p>
        </p:txBody>
      </p:sp>
      <p:sp>
        <p:nvSpPr>
          <p:cNvPr id="92" name="object 92"/>
          <p:cNvSpPr/>
          <p:nvPr/>
        </p:nvSpPr>
        <p:spPr>
          <a:xfrm>
            <a:off x="3644646" y="3658361"/>
            <a:ext cx="2070100" cy="940435"/>
          </a:xfrm>
          <a:custGeom>
            <a:avLst/>
            <a:gdLst/>
            <a:ahLst/>
            <a:cxnLst/>
            <a:rect l="l" t="t" r="r" b="b"/>
            <a:pathLst>
              <a:path w="2070100" h="940435">
                <a:moveTo>
                  <a:pt x="2069592" y="8382"/>
                </a:moveTo>
                <a:lnTo>
                  <a:pt x="2065782" y="0"/>
                </a:lnTo>
                <a:lnTo>
                  <a:pt x="0" y="931926"/>
                </a:lnTo>
                <a:lnTo>
                  <a:pt x="3810" y="940308"/>
                </a:lnTo>
                <a:lnTo>
                  <a:pt x="2069592" y="8382"/>
                </a:lnTo>
                <a:close/>
              </a:path>
            </a:pathLst>
          </a:custGeom>
          <a:solidFill>
            <a:srgbClr val="000000"/>
          </a:solidFill>
        </p:spPr>
        <p:txBody>
          <a:bodyPr wrap="square" lIns="0" tIns="0" rIns="0" bIns="0" rtlCol="0"/>
          <a:lstStyle/>
          <a:p>
            <a:endParaRPr/>
          </a:p>
        </p:txBody>
      </p:sp>
      <p:sp>
        <p:nvSpPr>
          <p:cNvPr id="93" name="object 93"/>
          <p:cNvSpPr/>
          <p:nvPr/>
        </p:nvSpPr>
        <p:spPr>
          <a:xfrm>
            <a:off x="3489959" y="4588764"/>
            <a:ext cx="124460" cy="0"/>
          </a:xfrm>
          <a:custGeom>
            <a:avLst/>
            <a:gdLst/>
            <a:ahLst/>
            <a:cxnLst/>
            <a:rect l="l" t="t" r="r" b="b"/>
            <a:pathLst>
              <a:path w="124460">
                <a:moveTo>
                  <a:pt x="0" y="0"/>
                </a:moveTo>
                <a:lnTo>
                  <a:pt x="124205" y="0"/>
                </a:lnTo>
              </a:path>
            </a:pathLst>
          </a:custGeom>
          <a:ln w="10668">
            <a:solidFill>
              <a:srgbClr val="000000"/>
            </a:solidFill>
          </a:ln>
        </p:spPr>
        <p:txBody>
          <a:bodyPr wrap="square" lIns="0" tIns="0" rIns="0" bIns="0" rtlCol="0"/>
          <a:lstStyle/>
          <a:p>
            <a:endParaRPr/>
          </a:p>
        </p:txBody>
      </p:sp>
      <p:sp>
        <p:nvSpPr>
          <p:cNvPr id="94" name="object 94"/>
          <p:cNvSpPr/>
          <p:nvPr/>
        </p:nvSpPr>
        <p:spPr>
          <a:xfrm>
            <a:off x="3630167" y="4595621"/>
            <a:ext cx="1326642" cy="584453"/>
          </a:xfrm>
          <a:prstGeom prst="rect">
            <a:avLst/>
          </a:prstGeom>
          <a:blipFill>
            <a:blip r:embed="rId3" cstate="print"/>
            <a:stretch>
              <a:fillRect/>
            </a:stretch>
          </a:blipFill>
        </p:spPr>
        <p:txBody>
          <a:bodyPr wrap="square" lIns="0" tIns="0" rIns="0" bIns="0" rtlCol="0"/>
          <a:lstStyle/>
          <a:p>
            <a:endParaRPr/>
          </a:p>
        </p:txBody>
      </p:sp>
      <p:sp>
        <p:nvSpPr>
          <p:cNvPr id="95" name="object 95"/>
          <p:cNvSpPr/>
          <p:nvPr/>
        </p:nvSpPr>
        <p:spPr>
          <a:xfrm>
            <a:off x="3622547" y="4584191"/>
            <a:ext cx="688975" cy="311785"/>
          </a:xfrm>
          <a:custGeom>
            <a:avLst/>
            <a:gdLst/>
            <a:ahLst/>
            <a:cxnLst/>
            <a:rect l="l" t="t" r="r" b="b"/>
            <a:pathLst>
              <a:path w="688975" h="311785">
                <a:moveTo>
                  <a:pt x="688848" y="303275"/>
                </a:moveTo>
                <a:lnTo>
                  <a:pt x="3810" y="0"/>
                </a:lnTo>
                <a:lnTo>
                  <a:pt x="0" y="8382"/>
                </a:lnTo>
                <a:lnTo>
                  <a:pt x="685038" y="311657"/>
                </a:lnTo>
                <a:lnTo>
                  <a:pt x="688848" y="303275"/>
                </a:lnTo>
                <a:close/>
              </a:path>
            </a:pathLst>
          </a:custGeom>
          <a:solidFill>
            <a:srgbClr val="000000"/>
          </a:solidFill>
        </p:spPr>
        <p:txBody>
          <a:bodyPr wrap="square" lIns="0" tIns="0" rIns="0" bIns="0" rtlCol="0"/>
          <a:lstStyle/>
          <a:p>
            <a:endParaRPr/>
          </a:p>
        </p:txBody>
      </p:sp>
      <p:sp>
        <p:nvSpPr>
          <p:cNvPr id="96" name="object 96"/>
          <p:cNvSpPr/>
          <p:nvPr/>
        </p:nvSpPr>
        <p:spPr>
          <a:xfrm>
            <a:off x="4312920" y="4886705"/>
            <a:ext cx="511809" cy="246379"/>
          </a:xfrm>
          <a:custGeom>
            <a:avLst/>
            <a:gdLst/>
            <a:ahLst/>
            <a:cxnLst/>
            <a:rect l="l" t="t" r="r" b="b"/>
            <a:pathLst>
              <a:path w="511810" h="246379">
                <a:moveTo>
                  <a:pt x="12954" y="3809"/>
                </a:moveTo>
                <a:lnTo>
                  <a:pt x="4572" y="0"/>
                </a:lnTo>
                <a:lnTo>
                  <a:pt x="0" y="8382"/>
                </a:lnTo>
                <a:lnTo>
                  <a:pt x="9144" y="12954"/>
                </a:lnTo>
                <a:lnTo>
                  <a:pt x="12954" y="3809"/>
                </a:lnTo>
                <a:close/>
              </a:path>
              <a:path w="511810" h="246379">
                <a:moveTo>
                  <a:pt x="30480" y="12191"/>
                </a:moveTo>
                <a:lnTo>
                  <a:pt x="21336" y="8381"/>
                </a:lnTo>
                <a:lnTo>
                  <a:pt x="17526" y="16764"/>
                </a:lnTo>
                <a:lnTo>
                  <a:pt x="25908" y="20574"/>
                </a:lnTo>
                <a:lnTo>
                  <a:pt x="30480" y="12191"/>
                </a:lnTo>
                <a:close/>
              </a:path>
              <a:path w="511810" h="246379">
                <a:moveTo>
                  <a:pt x="47244" y="20574"/>
                </a:moveTo>
                <a:lnTo>
                  <a:pt x="38862" y="16001"/>
                </a:lnTo>
                <a:lnTo>
                  <a:pt x="35052" y="25145"/>
                </a:lnTo>
                <a:lnTo>
                  <a:pt x="43434" y="28956"/>
                </a:lnTo>
                <a:lnTo>
                  <a:pt x="47244" y="20574"/>
                </a:lnTo>
                <a:close/>
              </a:path>
              <a:path w="511810" h="246379">
                <a:moveTo>
                  <a:pt x="64770" y="28193"/>
                </a:moveTo>
                <a:lnTo>
                  <a:pt x="56388" y="24383"/>
                </a:lnTo>
                <a:lnTo>
                  <a:pt x="51816" y="32765"/>
                </a:lnTo>
                <a:lnTo>
                  <a:pt x="60960" y="37337"/>
                </a:lnTo>
                <a:lnTo>
                  <a:pt x="64770" y="28193"/>
                </a:lnTo>
                <a:close/>
              </a:path>
              <a:path w="511810" h="246379">
                <a:moveTo>
                  <a:pt x="82296" y="36575"/>
                </a:moveTo>
                <a:lnTo>
                  <a:pt x="73152" y="32765"/>
                </a:lnTo>
                <a:lnTo>
                  <a:pt x="69342" y="41148"/>
                </a:lnTo>
                <a:lnTo>
                  <a:pt x="77724" y="44957"/>
                </a:lnTo>
                <a:lnTo>
                  <a:pt x="82296" y="36575"/>
                </a:lnTo>
                <a:close/>
              </a:path>
              <a:path w="511810" h="246379">
                <a:moveTo>
                  <a:pt x="99060" y="44195"/>
                </a:moveTo>
                <a:lnTo>
                  <a:pt x="90678" y="40386"/>
                </a:lnTo>
                <a:lnTo>
                  <a:pt x="86868" y="48767"/>
                </a:lnTo>
                <a:lnTo>
                  <a:pt x="95250" y="53340"/>
                </a:lnTo>
                <a:lnTo>
                  <a:pt x="99060" y="44195"/>
                </a:lnTo>
                <a:close/>
              </a:path>
              <a:path w="511810" h="246379">
                <a:moveTo>
                  <a:pt x="116586" y="52577"/>
                </a:moveTo>
                <a:lnTo>
                  <a:pt x="108204" y="48767"/>
                </a:lnTo>
                <a:lnTo>
                  <a:pt x="103632" y="57149"/>
                </a:lnTo>
                <a:lnTo>
                  <a:pt x="112776" y="60959"/>
                </a:lnTo>
                <a:lnTo>
                  <a:pt x="116586" y="52577"/>
                </a:lnTo>
                <a:close/>
              </a:path>
              <a:path w="511810" h="246379">
                <a:moveTo>
                  <a:pt x="134112" y="60959"/>
                </a:moveTo>
                <a:lnTo>
                  <a:pt x="124968" y="56387"/>
                </a:lnTo>
                <a:lnTo>
                  <a:pt x="121158" y="65531"/>
                </a:lnTo>
                <a:lnTo>
                  <a:pt x="129540" y="69341"/>
                </a:lnTo>
                <a:lnTo>
                  <a:pt x="134112" y="60959"/>
                </a:lnTo>
                <a:close/>
              </a:path>
              <a:path w="511810" h="246379">
                <a:moveTo>
                  <a:pt x="150876" y="68580"/>
                </a:moveTo>
                <a:lnTo>
                  <a:pt x="142494" y="64769"/>
                </a:lnTo>
                <a:lnTo>
                  <a:pt x="138684" y="73151"/>
                </a:lnTo>
                <a:lnTo>
                  <a:pt x="147066" y="77723"/>
                </a:lnTo>
                <a:lnTo>
                  <a:pt x="150876" y="68580"/>
                </a:lnTo>
                <a:close/>
              </a:path>
              <a:path w="511810" h="246379">
                <a:moveTo>
                  <a:pt x="168402" y="76961"/>
                </a:moveTo>
                <a:lnTo>
                  <a:pt x="160020" y="73151"/>
                </a:lnTo>
                <a:lnTo>
                  <a:pt x="155448" y="81533"/>
                </a:lnTo>
                <a:lnTo>
                  <a:pt x="164592" y="85343"/>
                </a:lnTo>
                <a:lnTo>
                  <a:pt x="168402" y="76961"/>
                </a:lnTo>
                <a:close/>
              </a:path>
              <a:path w="511810" h="246379">
                <a:moveTo>
                  <a:pt x="185166" y="84581"/>
                </a:moveTo>
                <a:lnTo>
                  <a:pt x="176784" y="80772"/>
                </a:lnTo>
                <a:lnTo>
                  <a:pt x="172974" y="89153"/>
                </a:lnTo>
                <a:lnTo>
                  <a:pt x="181356" y="93725"/>
                </a:lnTo>
                <a:lnTo>
                  <a:pt x="185166" y="84581"/>
                </a:lnTo>
                <a:close/>
              </a:path>
              <a:path w="511810" h="246379">
                <a:moveTo>
                  <a:pt x="202692" y="92963"/>
                </a:moveTo>
                <a:lnTo>
                  <a:pt x="194310" y="89153"/>
                </a:lnTo>
                <a:lnTo>
                  <a:pt x="189738" y="97535"/>
                </a:lnTo>
                <a:lnTo>
                  <a:pt x="198882" y="101346"/>
                </a:lnTo>
                <a:lnTo>
                  <a:pt x="202692" y="92963"/>
                </a:lnTo>
                <a:close/>
              </a:path>
              <a:path w="511810" h="246379">
                <a:moveTo>
                  <a:pt x="220218" y="101346"/>
                </a:moveTo>
                <a:lnTo>
                  <a:pt x="211074" y="96773"/>
                </a:lnTo>
                <a:lnTo>
                  <a:pt x="207264" y="105917"/>
                </a:lnTo>
                <a:lnTo>
                  <a:pt x="215646" y="109727"/>
                </a:lnTo>
                <a:lnTo>
                  <a:pt x="220218" y="101346"/>
                </a:lnTo>
                <a:close/>
              </a:path>
              <a:path w="511810" h="246379">
                <a:moveTo>
                  <a:pt x="236982" y="108965"/>
                </a:moveTo>
                <a:lnTo>
                  <a:pt x="228600" y="105155"/>
                </a:lnTo>
                <a:lnTo>
                  <a:pt x="224790" y="113537"/>
                </a:lnTo>
                <a:lnTo>
                  <a:pt x="233172" y="118109"/>
                </a:lnTo>
                <a:lnTo>
                  <a:pt x="236982" y="108965"/>
                </a:lnTo>
                <a:close/>
              </a:path>
              <a:path w="511810" h="246379">
                <a:moveTo>
                  <a:pt x="254508" y="117347"/>
                </a:moveTo>
                <a:lnTo>
                  <a:pt x="246126" y="112775"/>
                </a:lnTo>
                <a:lnTo>
                  <a:pt x="241554" y="121919"/>
                </a:lnTo>
                <a:lnTo>
                  <a:pt x="250698" y="125729"/>
                </a:lnTo>
                <a:lnTo>
                  <a:pt x="254508" y="117347"/>
                </a:lnTo>
                <a:close/>
              </a:path>
              <a:path w="511810" h="246379">
                <a:moveTo>
                  <a:pt x="272034" y="124967"/>
                </a:moveTo>
                <a:lnTo>
                  <a:pt x="262890" y="121157"/>
                </a:lnTo>
                <a:lnTo>
                  <a:pt x="259080" y="129539"/>
                </a:lnTo>
                <a:lnTo>
                  <a:pt x="267462" y="134111"/>
                </a:lnTo>
                <a:lnTo>
                  <a:pt x="272034" y="124967"/>
                </a:lnTo>
                <a:close/>
              </a:path>
              <a:path w="511810" h="246379">
                <a:moveTo>
                  <a:pt x="288798" y="133349"/>
                </a:moveTo>
                <a:lnTo>
                  <a:pt x="280416" y="129539"/>
                </a:lnTo>
                <a:lnTo>
                  <a:pt x="276606" y="137921"/>
                </a:lnTo>
                <a:lnTo>
                  <a:pt x="284988" y="141731"/>
                </a:lnTo>
                <a:lnTo>
                  <a:pt x="288798" y="133349"/>
                </a:lnTo>
                <a:close/>
              </a:path>
              <a:path w="511810" h="246379">
                <a:moveTo>
                  <a:pt x="306324" y="141731"/>
                </a:moveTo>
                <a:lnTo>
                  <a:pt x="297942" y="137160"/>
                </a:lnTo>
                <a:lnTo>
                  <a:pt x="293370" y="146303"/>
                </a:lnTo>
                <a:lnTo>
                  <a:pt x="302514" y="150113"/>
                </a:lnTo>
                <a:lnTo>
                  <a:pt x="306324" y="141731"/>
                </a:lnTo>
                <a:close/>
              </a:path>
              <a:path w="511810" h="246379">
                <a:moveTo>
                  <a:pt x="323850" y="149351"/>
                </a:moveTo>
                <a:lnTo>
                  <a:pt x="314706" y="145542"/>
                </a:lnTo>
                <a:lnTo>
                  <a:pt x="310896" y="153923"/>
                </a:lnTo>
                <a:lnTo>
                  <a:pt x="319278" y="157733"/>
                </a:lnTo>
                <a:lnTo>
                  <a:pt x="323850" y="149351"/>
                </a:lnTo>
                <a:close/>
              </a:path>
              <a:path w="511810" h="246379">
                <a:moveTo>
                  <a:pt x="340614" y="157733"/>
                </a:moveTo>
                <a:lnTo>
                  <a:pt x="332232" y="153161"/>
                </a:lnTo>
                <a:lnTo>
                  <a:pt x="328422" y="162305"/>
                </a:lnTo>
                <a:lnTo>
                  <a:pt x="336804" y="166115"/>
                </a:lnTo>
                <a:lnTo>
                  <a:pt x="340614" y="157733"/>
                </a:lnTo>
                <a:close/>
              </a:path>
              <a:path w="511810" h="246379">
                <a:moveTo>
                  <a:pt x="358140" y="165353"/>
                </a:moveTo>
                <a:lnTo>
                  <a:pt x="349758" y="161544"/>
                </a:lnTo>
                <a:lnTo>
                  <a:pt x="345186" y="169926"/>
                </a:lnTo>
                <a:lnTo>
                  <a:pt x="354330" y="174497"/>
                </a:lnTo>
                <a:lnTo>
                  <a:pt x="358140" y="165353"/>
                </a:lnTo>
                <a:close/>
              </a:path>
              <a:path w="511810" h="246379">
                <a:moveTo>
                  <a:pt x="375666" y="173735"/>
                </a:moveTo>
                <a:lnTo>
                  <a:pt x="366522" y="169926"/>
                </a:lnTo>
                <a:lnTo>
                  <a:pt x="362712" y="178307"/>
                </a:lnTo>
                <a:lnTo>
                  <a:pt x="371094" y="182117"/>
                </a:lnTo>
                <a:lnTo>
                  <a:pt x="375666" y="173735"/>
                </a:lnTo>
                <a:close/>
              </a:path>
              <a:path w="511810" h="246379">
                <a:moveTo>
                  <a:pt x="392430" y="182117"/>
                </a:moveTo>
                <a:lnTo>
                  <a:pt x="384048" y="177545"/>
                </a:lnTo>
                <a:lnTo>
                  <a:pt x="380238" y="186689"/>
                </a:lnTo>
                <a:lnTo>
                  <a:pt x="388620" y="190499"/>
                </a:lnTo>
                <a:lnTo>
                  <a:pt x="392430" y="182117"/>
                </a:lnTo>
                <a:close/>
              </a:path>
              <a:path w="511810" h="246379">
                <a:moveTo>
                  <a:pt x="409956" y="189737"/>
                </a:moveTo>
                <a:lnTo>
                  <a:pt x="401574" y="185927"/>
                </a:lnTo>
                <a:lnTo>
                  <a:pt x="397002" y="194310"/>
                </a:lnTo>
                <a:lnTo>
                  <a:pt x="406146" y="198119"/>
                </a:lnTo>
                <a:lnTo>
                  <a:pt x="409956" y="189737"/>
                </a:lnTo>
                <a:close/>
              </a:path>
              <a:path w="511810" h="246379">
                <a:moveTo>
                  <a:pt x="426720" y="198119"/>
                </a:moveTo>
                <a:lnTo>
                  <a:pt x="418338" y="193547"/>
                </a:lnTo>
                <a:lnTo>
                  <a:pt x="414528" y="202692"/>
                </a:lnTo>
                <a:lnTo>
                  <a:pt x="422910" y="206501"/>
                </a:lnTo>
                <a:lnTo>
                  <a:pt x="426720" y="198119"/>
                </a:lnTo>
                <a:close/>
              </a:path>
              <a:path w="511810" h="246379">
                <a:moveTo>
                  <a:pt x="444246" y="205739"/>
                </a:moveTo>
                <a:lnTo>
                  <a:pt x="435864" y="201929"/>
                </a:lnTo>
                <a:lnTo>
                  <a:pt x="432054" y="210311"/>
                </a:lnTo>
                <a:lnTo>
                  <a:pt x="440436" y="214883"/>
                </a:lnTo>
                <a:lnTo>
                  <a:pt x="444246" y="205739"/>
                </a:lnTo>
                <a:close/>
              </a:path>
              <a:path w="511810" h="246379">
                <a:moveTo>
                  <a:pt x="461772" y="214121"/>
                </a:moveTo>
                <a:lnTo>
                  <a:pt x="452628" y="210311"/>
                </a:lnTo>
                <a:lnTo>
                  <a:pt x="448818" y="218693"/>
                </a:lnTo>
                <a:lnTo>
                  <a:pt x="457200" y="222503"/>
                </a:lnTo>
                <a:lnTo>
                  <a:pt x="461772" y="214121"/>
                </a:lnTo>
                <a:close/>
              </a:path>
              <a:path w="511810" h="246379">
                <a:moveTo>
                  <a:pt x="478536" y="222503"/>
                </a:moveTo>
                <a:lnTo>
                  <a:pt x="470154" y="217931"/>
                </a:lnTo>
                <a:lnTo>
                  <a:pt x="466344" y="227075"/>
                </a:lnTo>
                <a:lnTo>
                  <a:pt x="474726" y="230885"/>
                </a:lnTo>
                <a:lnTo>
                  <a:pt x="478536" y="222503"/>
                </a:lnTo>
                <a:close/>
              </a:path>
              <a:path w="511810" h="246379">
                <a:moveTo>
                  <a:pt x="496062" y="230123"/>
                </a:moveTo>
                <a:lnTo>
                  <a:pt x="487680" y="226313"/>
                </a:lnTo>
                <a:lnTo>
                  <a:pt x="483108" y="234695"/>
                </a:lnTo>
                <a:lnTo>
                  <a:pt x="492252" y="238505"/>
                </a:lnTo>
                <a:lnTo>
                  <a:pt x="496062" y="230123"/>
                </a:lnTo>
                <a:close/>
              </a:path>
              <a:path w="511810" h="246379">
                <a:moveTo>
                  <a:pt x="511302" y="237743"/>
                </a:moveTo>
                <a:lnTo>
                  <a:pt x="504444" y="233933"/>
                </a:lnTo>
                <a:lnTo>
                  <a:pt x="500634" y="243077"/>
                </a:lnTo>
                <a:lnTo>
                  <a:pt x="507492" y="246125"/>
                </a:lnTo>
                <a:lnTo>
                  <a:pt x="511302" y="237743"/>
                </a:lnTo>
                <a:close/>
              </a:path>
            </a:pathLst>
          </a:custGeom>
          <a:solidFill>
            <a:srgbClr val="000000"/>
          </a:solidFill>
        </p:spPr>
        <p:txBody>
          <a:bodyPr wrap="square" lIns="0" tIns="0" rIns="0" bIns="0" rtlCol="0"/>
          <a:lstStyle/>
          <a:p>
            <a:endParaRPr/>
          </a:p>
        </p:txBody>
      </p:sp>
      <p:sp>
        <p:nvSpPr>
          <p:cNvPr id="97" name="object 97"/>
          <p:cNvSpPr/>
          <p:nvPr/>
        </p:nvSpPr>
        <p:spPr>
          <a:xfrm>
            <a:off x="3622547" y="4827270"/>
            <a:ext cx="300355" cy="135255"/>
          </a:xfrm>
          <a:custGeom>
            <a:avLst/>
            <a:gdLst/>
            <a:ahLst/>
            <a:cxnLst/>
            <a:rect l="l" t="t" r="r" b="b"/>
            <a:pathLst>
              <a:path w="300354" h="135254">
                <a:moveTo>
                  <a:pt x="300228" y="126491"/>
                </a:moveTo>
                <a:lnTo>
                  <a:pt x="3810" y="0"/>
                </a:lnTo>
                <a:lnTo>
                  <a:pt x="0" y="9144"/>
                </a:lnTo>
                <a:lnTo>
                  <a:pt x="296418" y="134873"/>
                </a:lnTo>
                <a:lnTo>
                  <a:pt x="300228" y="126491"/>
                </a:lnTo>
                <a:close/>
              </a:path>
            </a:pathLst>
          </a:custGeom>
          <a:solidFill>
            <a:srgbClr val="000000"/>
          </a:solidFill>
        </p:spPr>
        <p:txBody>
          <a:bodyPr wrap="square" lIns="0" tIns="0" rIns="0" bIns="0" rtlCol="0"/>
          <a:lstStyle/>
          <a:p>
            <a:endParaRPr/>
          </a:p>
        </p:txBody>
      </p:sp>
      <p:sp>
        <p:nvSpPr>
          <p:cNvPr id="98" name="object 98"/>
          <p:cNvSpPr/>
          <p:nvPr/>
        </p:nvSpPr>
        <p:spPr>
          <a:xfrm>
            <a:off x="3925061" y="4952238"/>
            <a:ext cx="510540" cy="247015"/>
          </a:xfrm>
          <a:custGeom>
            <a:avLst/>
            <a:gdLst/>
            <a:ahLst/>
            <a:cxnLst/>
            <a:rect l="l" t="t" r="r" b="b"/>
            <a:pathLst>
              <a:path w="510539" h="247014">
                <a:moveTo>
                  <a:pt x="12192" y="4571"/>
                </a:moveTo>
                <a:lnTo>
                  <a:pt x="3810" y="0"/>
                </a:lnTo>
                <a:lnTo>
                  <a:pt x="0" y="9144"/>
                </a:lnTo>
                <a:lnTo>
                  <a:pt x="8382" y="12954"/>
                </a:lnTo>
                <a:lnTo>
                  <a:pt x="12192" y="4571"/>
                </a:lnTo>
                <a:close/>
              </a:path>
              <a:path w="510539" h="247014">
                <a:moveTo>
                  <a:pt x="29718" y="12191"/>
                </a:moveTo>
                <a:lnTo>
                  <a:pt x="20574" y="8381"/>
                </a:lnTo>
                <a:lnTo>
                  <a:pt x="16764" y="16764"/>
                </a:lnTo>
                <a:lnTo>
                  <a:pt x="25146" y="21336"/>
                </a:lnTo>
                <a:lnTo>
                  <a:pt x="29718" y="12191"/>
                </a:lnTo>
                <a:close/>
              </a:path>
              <a:path w="510539" h="247014">
                <a:moveTo>
                  <a:pt x="46482" y="20574"/>
                </a:moveTo>
                <a:lnTo>
                  <a:pt x="38100" y="16763"/>
                </a:lnTo>
                <a:lnTo>
                  <a:pt x="34290" y="25145"/>
                </a:lnTo>
                <a:lnTo>
                  <a:pt x="42672" y="28956"/>
                </a:lnTo>
                <a:lnTo>
                  <a:pt x="46482" y="20574"/>
                </a:lnTo>
                <a:close/>
              </a:path>
              <a:path w="510539" h="247014">
                <a:moveTo>
                  <a:pt x="64008" y="28955"/>
                </a:moveTo>
                <a:lnTo>
                  <a:pt x="55626" y="24383"/>
                </a:lnTo>
                <a:lnTo>
                  <a:pt x="51054" y="33527"/>
                </a:lnTo>
                <a:lnTo>
                  <a:pt x="60198" y="37337"/>
                </a:lnTo>
                <a:lnTo>
                  <a:pt x="64008" y="28955"/>
                </a:lnTo>
                <a:close/>
              </a:path>
              <a:path w="510539" h="247014">
                <a:moveTo>
                  <a:pt x="81534" y="36575"/>
                </a:moveTo>
                <a:lnTo>
                  <a:pt x="72390" y="32765"/>
                </a:lnTo>
                <a:lnTo>
                  <a:pt x="68580" y="41148"/>
                </a:lnTo>
                <a:lnTo>
                  <a:pt x="76962" y="44957"/>
                </a:lnTo>
                <a:lnTo>
                  <a:pt x="81534" y="36575"/>
                </a:lnTo>
                <a:close/>
              </a:path>
              <a:path w="510539" h="247014">
                <a:moveTo>
                  <a:pt x="98298" y="44957"/>
                </a:moveTo>
                <a:lnTo>
                  <a:pt x="89916" y="40386"/>
                </a:lnTo>
                <a:lnTo>
                  <a:pt x="86106" y="49529"/>
                </a:lnTo>
                <a:lnTo>
                  <a:pt x="94488" y="53340"/>
                </a:lnTo>
                <a:lnTo>
                  <a:pt x="98298" y="44957"/>
                </a:lnTo>
                <a:close/>
              </a:path>
              <a:path w="510539" h="247014">
                <a:moveTo>
                  <a:pt x="115824" y="52577"/>
                </a:moveTo>
                <a:lnTo>
                  <a:pt x="107442" y="48767"/>
                </a:lnTo>
                <a:lnTo>
                  <a:pt x="102870" y="57149"/>
                </a:lnTo>
                <a:lnTo>
                  <a:pt x="112014" y="61721"/>
                </a:lnTo>
                <a:lnTo>
                  <a:pt x="115824" y="52577"/>
                </a:lnTo>
                <a:close/>
              </a:path>
              <a:path w="510539" h="247014">
                <a:moveTo>
                  <a:pt x="133350" y="60959"/>
                </a:moveTo>
                <a:lnTo>
                  <a:pt x="124206" y="57149"/>
                </a:lnTo>
                <a:lnTo>
                  <a:pt x="120396" y="65531"/>
                </a:lnTo>
                <a:lnTo>
                  <a:pt x="128778" y="69341"/>
                </a:lnTo>
                <a:lnTo>
                  <a:pt x="133350" y="60959"/>
                </a:lnTo>
                <a:close/>
              </a:path>
              <a:path w="510539" h="247014">
                <a:moveTo>
                  <a:pt x="150114" y="69341"/>
                </a:moveTo>
                <a:lnTo>
                  <a:pt x="141732" y="64769"/>
                </a:lnTo>
                <a:lnTo>
                  <a:pt x="137922" y="73913"/>
                </a:lnTo>
                <a:lnTo>
                  <a:pt x="146304" y="77723"/>
                </a:lnTo>
                <a:lnTo>
                  <a:pt x="150114" y="69341"/>
                </a:lnTo>
                <a:close/>
              </a:path>
              <a:path w="510539" h="247014">
                <a:moveTo>
                  <a:pt x="167640" y="76961"/>
                </a:moveTo>
                <a:lnTo>
                  <a:pt x="159258" y="73151"/>
                </a:lnTo>
                <a:lnTo>
                  <a:pt x="154686" y="81533"/>
                </a:lnTo>
                <a:lnTo>
                  <a:pt x="163830" y="86105"/>
                </a:lnTo>
                <a:lnTo>
                  <a:pt x="167640" y="76961"/>
                </a:lnTo>
                <a:close/>
              </a:path>
              <a:path w="510539" h="247014">
                <a:moveTo>
                  <a:pt x="184404" y="85343"/>
                </a:moveTo>
                <a:lnTo>
                  <a:pt x="176022" y="81533"/>
                </a:lnTo>
                <a:lnTo>
                  <a:pt x="172212" y="89915"/>
                </a:lnTo>
                <a:lnTo>
                  <a:pt x="180594" y="93725"/>
                </a:lnTo>
                <a:lnTo>
                  <a:pt x="184404" y="85343"/>
                </a:lnTo>
                <a:close/>
              </a:path>
              <a:path w="510539" h="247014">
                <a:moveTo>
                  <a:pt x="201930" y="92963"/>
                </a:moveTo>
                <a:lnTo>
                  <a:pt x="193548" y="89153"/>
                </a:lnTo>
                <a:lnTo>
                  <a:pt x="188976" y="97535"/>
                </a:lnTo>
                <a:lnTo>
                  <a:pt x="198120" y="102107"/>
                </a:lnTo>
                <a:lnTo>
                  <a:pt x="201930" y="92963"/>
                </a:lnTo>
                <a:close/>
              </a:path>
              <a:path w="510539" h="247014">
                <a:moveTo>
                  <a:pt x="219456" y="101346"/>
                </a:moveTo>
                <a:lnTo>
                  <a:pt x="210312" y="97535"/>
                </a:lnTo>
                <a:lnTo>
                  <a:pt x="206502" y="105917"/>
                </a:lnTo>
                <a:lnTo>
                  <a:pt x="214884" y="109727"/>
                </a:lnTo>
                <a:lnTo>
                  <a:pt x="219456" y="101346"/>
                </a:lnTo>
                <a:close/>
              </a:path>
              <a:path w="510539" h="247014">
                <a:moveTo>
                  <a:pt x="236220" y="109727"/>
                </a:moveTo>
                <a:lnTo>
                  <a:pt x="227838" y="105155"/>
                </a:lnTo>
                <a:lnTo>
                  <a:pt x="224028" y="114299"/>
                </a:lnTo>
                <a:lnTo>
                  <a:pt x="232410" y="118109"/>
                </a:lnTo>
                <a:lnTo>
                  <a:pt x="236220" y="109727"/>
                </a:lnTo>
                <a:close/>
              </a:path>
              <a:path w="510539" h="247014">
                <a:moveTo>
                  <a:pt x="253746" y="117347"/>
                </a:moveTo>
                <a:lnTo>
                  <a:pt x="245364" y="113537"/>
                </a:lnTo>
                <a:lnTo>
                  <a:pt x="240792" y="121919"/>
                </a:lnTo>
                <a:lnTo>
                  <a:pt x="249936" y="126491"/>
                </a:lnTo>
                <a:lnTo>
                  <a:pt x="253746" y="117347"/>
                </a:lnTo>
                <a:close/>
              </a:path>
              <a:path w="510539" h="247014">
                <a:moveTo>
                  <a:pt x="271272" y="125729"/>
                </a:moveTo>
                <a:lnTo>
                  <a:pt x="262128" y="121919"/>
                </a:lnTo>
                <a:lnTo>
                  <a:pt x="258318" y="130301"/>
                </a:lnTo>
                <a:lnTo>
                  <a:pt x="266700" y="134111"/>
                </a:lnTo>
                <a:lnTo>
                  <a:pt x="271272" y="125729"/>
                </a:lnTo>
                <a:close/>
              </a:path>
              <a:path w="510539" h="247014">
                <a:moveTo>
                  <a:pt x="288036" y="134111"/>
                </a:moveTo>
                <a:lnTo>
                  <a:pt x="279654" y="129539"/>
                </a:lnTo>
                <a:lnTo>
                  <a:pt x="275844" y="138683"/>
                </a:lnTo>
                <a:lnTo>
                  <a:pt x="284226" y="142494"/>
                </a:lnTo>
                <a:lnTo>
                  <a:pt x="288036" y="134111"/>
                </a:lnTo>
                <a:close/>
              </a:path>
              <a:path w="510539" h="247014">
                <a:moveTo>
                  <a:pt x="305562" y="141731"/>
                </a:moveTo>
                <a:lnTo>
                  <a:pt x="297180" y="137921"/>
                </a:lnTo>
                <a:lnTo>
                  <a:pt x="292608" y="146303"/>
                </a:lnTo>
                <a:lnTo>
                  <a:pt x="301752" y="150113"/>
                </a:lnTo>
                <a:lnTo>
                  <a:pt x="305562" y="141731"/>
                </a:lnTo>
                <a:close/>
              </a:path>
              <a:path w="510539" h="247014">
                <a:moveTo>
                  <a:pt x="323088" y="150113"/>
                </a:moveTo>
                <a:lnTo>
                  <a:pt x="313944" y="145542"/>
                </a:lnTo>
                <a:lnTo>
                  <a:pt x="310134" y="154685"/>
                </a:lnTo>
                <a:lnTo>
                  <a:pt x="318516" y="158495"/>
                </a:lnTo>
                <a:lnTo>
                  <a:pt x="323088" y="150113"/>
                </a:lnTo>
                <a:close/>
              </a:path>
              <a:path w="510539" h="247014">
                <a:moveTo>
                  <a:pt x="339852" y="157733"/>
                </a:moveTo>
                <a:lnTo>
                  <a:pt x="331470" y="153923"/>
                </a:lnTo>
                <a:lnTo>
                  <a:pt x="327660" y="162305"/>
                </a:lnTo>
                <a:lnTo>
                  <a:pt x="336042" y="166877"/>
                </a:lnTo>
                <a:lnTo>
                  <a:pt x="339852" y="157733"/>
                </a:lnTo>
                <a:close/>
              </a:path>
              <a:path w="510539" h="247014">
                <a:moveTo>
                  <a:pt x="357378" y="166115"/>
                </a:moveTo>
                <a:lnTo>
                  <a:pt x="348234" y="162305"/>
                </a:lnTo>
                <a:lnTo>
                  <a:pt x="344424" y="170687"/>
                </a:lnTo>
                <a:lnTo>
                  <a:pt x="352806" y="174497"/>
                </a:lnTo>
                <a:lnTo>
                  <a:pt x="357378" y="166115"/>
                </a:lnTo>
                <a:close/>
              </a:path>
              <a:path w="510539" h="247014">
                <a:moveTo>
                  <a:pt x="374142" y="174497"/>
                </a:moveTo>
                <a:lnTo>
                  <a:pt x="365760" y="169926"/>
                </a:lnTo>
                <a:lnTo>
                  <a:pt x="361950" y="179069"/>
                </a:lnTo>
                <a:lnTo>
                  <a:pt x="370332" y="182879"/>
                </a:lnTo>
                <a:lnTo>
                  <a:pt x="374142" y="174497"/>
                </a:lnTo>
                <a:close/>
              </a:path>
              <a:path w="510539" h="247014">
                <a:moveTo>
                  <a:pt x="391668" y="182117"/>
                </a:moveTo>
                <a:lnTo>
                  <a:pt x="383286" y="178307"/>
                </a:lnTo>
                <a:lnTo>
                  <a:pt x="378714" y="186689"/>
                </a:lnTo>
                <a:lnTo>
                  <a:pt x="387858" y="191261"/>
                </a:lnTo>
                <a:lnTo>
                  <a:pt x="391668" y="182117"/>
                </a:lnTo>
                <a:close/>
              </a:path>
              <a:path w="510539" h="247014">
                <a:moveTo>
                  <a:pt x="409194" y="190499"/>
                </a:moveTo>
                <a:lnTo>
                  <a:pt x="400050" y="186689"/>
                </a:lnTo>
                <a:lnTo>
                  <a:pt x="396240" y="195071"/>
                </a:lnTo>
                <a:lnTo>
                  <a:pt x="404622" y="198881"/>
                </a:lnTo>
                <a:lnTo>
                  <a:pt x="409194" y="190499"/>
                </a:lnTo>
                <a:close/>
              </a:path>
              <a:path w="510539" h="247014">
                <a:moveTo>
                  <a:pt x="425958" y="198881"/>
                </a:moveTo>
                <a:lnTo>
                  <a:pt x="417576" y="194310"/>
                </a:lnTo>
                <a:lnTo>
                  <a:pt x="413766" y="203453"/>
                </a:lnTo>
                <a:lnTo>
                  <a:pt x="422148" y="207263"/>
                </a:lnTo>
                <a:lnTo>
                  <a:pt x="425958" y="198881"/>
                </a:lnTo>
                <a:close/>
              </a:path>
              <a:path w="510539" h="247014">
                <a:moveTo>
                  <a:pt x="443484" y="206501"/>
                </a:moveTo>
                <a:lnTo>
                  <a:pt x="435102" y="202692"/>
                </a:lnTo>
                <a:lnTo>
                  <a:pt x="430530" y="211073"/>
                </a:lnTo>
                <a:lnTo>
                  <a:pt x="439674" y="214883"/>
                </a:lnTo>
                <a:lnTo>
                  <a:pt x="443484" y="206501"/>
                </a:lnTo>
                <a:close/>
              </a:path>
              <a:path w="510539" h="247014">
                <a:moveTo>
                  <a:pt x="461010" y="214883"/>
                </a:moveTo>
                <a:lnTo>
                  <a:pt x="451866" y="210311"/>
                </a:lnTo>
                <a:lnTo>
                  <a:pt x="448056" y="219455"/>
                </a:lnTo>
                <a:lnTo>
                  <a:pt x="456438" y="223265"/>
                </a:lnTo>
                <a:lnTo>
                  <a:pt x="461010" y="214883"/>
                </a:lnTo>
                <a:close/>
              </a:path>
              <a:path w="510539" h="247014">
                <a:moveTo>
                  <a:pt x="477774" y="222503"/>
                </a:moveTo>
                <a:lnTo>
                  <a:pt x="469392" y="218693"/>
                </a:lnTo>
                <a:lnTo>
                  <a:pt x="465582" y="227075"/>
                </a:lnTo>
                <a:lnTo>
                  <a:pt x="473964" y="231647"/>
                </a:lnTo>
                <a:lnTo>
                  <a:pt x="477774" y="222503"/>
                </a:lnTo>
                <a:close/>
              </a:path>
              <a:path w="510539" h="247014">
                <a:moveTo>
                  <a:pt x="495300" y="230885"/>
                </a:moveTo>
                <a:lnTo>
                  <a:pt x="486918" y="227075"/>
                </a:lnTo>
                <a:lnTo>
                  <a:pt x="482346" y="235457"/>
                </a:lnTo>
                <a:lnTo>
                  <a:pt x="491490" y="239267"/>
                </a:lnTo>
                <a:lnTo>
                  <a:pt x="495300" y="230885"/>
                </a:lnTo>
                <a:close/>
              </a:path>
              <a:path w="510539" h="247014">
                <a:moveTo>
                  <a:pt x="510540" y="237743"/>
                </a:moveTo>
                <a:lnTo>
                  <a:pt x="503682" y="234695"/>
                </a:lnTo>
                <a:lnTo>
                  <a:pt x="499872" y="243839"/>
                </a:lnTo>
                <a:lnTo>
                  <a:pt x="506730" y="246887"/>
                </a:lnTo>
                <a:lnTo>
                  <a:pt x="510540" y="237743"/>
                </a:lnTo>
                <a:close/>
              </a:path>
            </a:pathLst>
          </a:custGeom>
          <a:solidFill>
            <a:srgbClr val="000000"/>
          </a:solidFill>
        </p:spPr>
        <p:txBody>
          <a:bodyPr wrap="square" lIns="0" tIns="0" rIns="0" bIns="0" rtlCol="0"/>
          <a:lstStyle/>
          <a:p>
            <a:endParaRPr/>
          </a:p>
        </p:txBody>
      </p:sp>
      <p:sp>
        <p:nvSpPr>
          <p:cNvPr id="99" name="object 99"/>
          <p:cNvSpPr/>
          <p:nvPr/>
        </p:nvSpPr>
        <p:spPr>
          <a:xfrm>
            <a:off x="3500628" y="4839461"/>
            <a:ext cx="124460" cy="0"/>
          </a:xfrm>
          <a:custGeom>
            <a:avLst/>
            <a:gdLst/>
            <a:ahLst/>
            <a:cxnLst/>
            <a:rect l="l" t="t" r="r" b="b"/>
            <a:pathLst>
              <a:path w="124460">
                <a:moveTo>
                  <a:pt x="0" y="0"/>
                </a:moveTo>
                <a:lnTo>
                  <a:pt x="124205" y="0"/>
                </a:lnTo>
              </a:path>
            </a:pathLst>
          </a:custGeom>
          <a:ln w="10668">
            <a:solidFill>
              <a:srgbClr val="000000"/>
            </a:solidFill>
          </a:ln>
        </p:spPr>
        <p:txBody>
          <a:bodyPr wrap="square" lIns="0" tIns="0" rIns="0" bIns="0" rtlCol="0"/>
          <a:lstStyle/>
          <a:p>
            <a:endParaRPr/>
          </a:p>
        </p:txBody>
      </p:sp>
      <p:sp>
        <p:nvSpPr>
          <p:cNvPr id="100" name="object 100"/>
          <p:cNvSpPr/>
          <p:nvPr/>
        </p:nvSpPr>
        <p:spPr>
          <a:xfrm>
            <a:off x="3640835" y="4847082"/>
            <a:ext cx="1326641" cy="583691"/>
          </a:xfrm>
          <a:prstGeom prst="rect">
            <a:avLst/>
          </a:prstGeom>
          <a:blipFill>
            <a:blip r:embed="rId4" cstate="print"/>
            <a:stretch>
              <a:fillRect/>
            </a:stretch>
          </a:blipFill>
        </p:spPr>
        <p:txBody>
          <a:bodyPr wrap="square" lIns="0" tIns="0" rIns="0" bIns="0" rtlCol="0"/>
          <a:lstStyle/>
          <a:p>
            <a:endParaRPr/>
          </a:p>
        </p:txBody>
      </p:sp>
      <p:sp>
        <p:nvSpPr>
          <p:cNvPr id="101" name="object 101"/>
          <p:cNvSpPr/>
          <p:nvPr/>
        </p:nvSpPr>
        <p:spPr>
          <a:xfrm>
            <a:off x="3633978" y="4834890"/>
            <a:ext cx="688975" cy="311785"/>
          </a:xfrm>
          <a:custGeom>
            <a:avLst/>
            <a:gdLst/>
            <a:ahLst/>
            <a:cxnLst/>
            <a:rect l="l" t="t" r="r" b="b"/>
            <a:pathLst>
              <a:path w="688975" h="311785">
                <a:moveTo>
                  <a:pt x="688848" y="303275"/>
                </a:moveTo>
                <a:lnTo>
                  <a:pt x="3810" y="0"/>
                </a:lnTo>
                <a:lnTo>
                  <a:pt x="0" y="8382"/>
                </a:lnTo>
                <a:lnTo>
                  <a:pt x="685038" y="311657"/>
                </a:lnTo>
                <a:lnTo>
                  <a:pt x="688848" y="303275"/>
                </a:lnTo>
                <a:close/>
              </a:path>
            </a:pathLst>
          </a:custGeom>
          <a:solidFill>
            <a:srgbClr val="000000"/>
          </a:solidFill>
        </p:spPr>
        <p:txBody>
          <a:bodyPr wrap="square" lIns="0" tIns="0" rIns="0" bIns="0" rtlCol="0"/>
          <a:lstStyle/>
          <a:p>
            <a:endParaRPr/>
          </a:p>
        </p:txBody>
      </p:sp>
      <p:sp>
        <p:nvSpPr>
          <p:cNvPr id="102" name="object 102"/>
          <p:cNvSpPr/>
          <p:nvPr/>
        </p:nvSpPr>
        <p:spPr>
          <a:xfrm>
            <a:off x="4324350" y="5137403"/>
            <a:ext cx="511809" cy="246379"/>
          </a:xfrm>
          <a:custGeom>
            <a:avLst/>
            <a:gdLst/>
            <a:ahLst/>
            <a:cxnLst/>
            <a:rect l="l" t="t" r="r" b="b"/>
            <a:pathLst>
              <a:path w="511810" h="246379">
                <a:moveTo>
                  <a:pt x="12954" y="4571"/>
                </a:moveTo>
                <a:lnTo>
                  <a:pt x="3810" y="0"/>
                </a:lnTo>
                <a:lnTo>
                  <a:pt x="0" y="9144"/>
                </a:lnTo>
                <a:lnTo>
                  <a:pt x="8382" y="12954"/>
                </a:lnTo>
                <a:lnTo>
                  <a:pt x="12954" y="4571"/>
                </a:lnTo>
                <a:close/>
              </a:path>
              <a:path w="511810" h="246379">
                <a:moveTo>
                  <a:pt x="29718" y="12191"/>
                </a:moveTo>
                <a:lnTo>
                  <a:pt x="21336" y="8381"/>
                </a:lnTo>
                <a:lnTo>
                  <a:pt x="17526" y="16764"/>
                </a:lnTo>
                <a:lnTo>
                  <a:pt x="25908" y="21336"/>
                </a:lnTo>
                <a:lnTo>
                  <a:pt x="29718" y="12191"/>
                </a:lnTo>
                <a:close/>
              </a:path>
              <a:path w="511810" h="246379">
                <a:moveTo>
                  <a:pt x="47244" y="20574"/>
                </a:moveTo>
                <a:lnTo>
                  <a:pt x="38862" y="16763"/>
                </a:lnTo>
                <a:lnTo>
                  <a:pt x="34290" y="25145"/>
                </a:lnTo>
                <a:lnTo>
                  <a:pt x="43434" y="28956"/>
                </a:lnTo>
                <a:lnTo>
                  <a:pt x="47244" y="20574"/>
                </a:lnTo>
                <a:close/>
              </a:path>
              <a:path w="511810" h="246379">
                <a:moveTo>
                  <a:pt x="64770" y="28193"/>
                </a:moveTo>
                <a:lnTo>
                  <a:pt x="55626" y="24383"/>
                </a:lnTo>
                <a:lnTo>
                  <a:pt x="51816" y="32765"/>
                </a:lnTo>
                <a:lnTo>
                  <a:pt x="60198" y="37337"/>
                </a:lnTo>
                <a:lnTo>
                  <a:pt x="64770" y="28193"/>
                </a:lnTo>
                <a:close/>
              </a:path>
              <a:path w="511810" h="246379">
                <a:moveTo>
                  <a:pt x="81534" y="36575"/>
                </a:moveTo>
                <a:lnTo>
                  <a:pt x="73152" y="32765"/>
                </a:lnTo>
                <a:lnTo>
                  <a:pt x="69342" y="41148"/>
                </a:lnTo>
                <a:lnTo>
                  <a:pt x="77724" y="44957"/>
                </a:lnTo>
                <a:lnTo>
                  <a:pt x="81534" y="36575"/>
                </a:lnTo>
                <a:close/>
              </a:path>
              <a:path w="511810" h="246379">
                <a:moveTo>
                  <a:pt x="99060" y="44957"/>
                </a:moveTo>
                <a:lnTo>
                  <a:pt x="90678" y="40386"/>
                </a:lnTo>
                <a:lnTo>
                  <a:pt x="86106" y="49529"/>
                </a:lnTo>
                <a:lnTo>
                  <a:pt x="95250" y="53340"/>
                </a:lnTo>
                <a:lnTo>
                  <a:pt x="99060" y="44957"/>
                </a:lnTo>
                <a:close/>
              </a:path>
              <a:path w="511810" h="246379">
                <a:moveTo>
                  <a:pt x="115824" y="52577"/>
                </a:moveTo>
                <a:lnTo>
                  <a:pt x="107442" y="48767"/>
                </a:lnTo>
                <a:lnTo>
                  <a:pt x="103632" y="57149"/>
                </a:lnTo>
                <a:lnTo>
                  <a:pt x="112014" y="61721"/>
                </a:lnTo>
                <a:lnTo>
                  <a:pt x="115824" y="52577"/>
                </a:lnTo>
                <a:close/>
              </a:path>
              <a:path w="511810" h="246379">
                <a:moveTo>
                  <a:pt x="133350" y="60959"/>
                </a:moveTo>
                <a:lnTo>
                  <a:pt x="124968" y="56387"/>
                </a:lnTo>
                <a:lnTo>
                  <a:pt x="121158" y="65531"/>
                </a:lnTo>
                <a:lnTo>
                  <a:pt x="129540" y="69341"/>
                </a:lnTo>
                <a:lnTo>
                  <a:pt x="133350" y="60959"/>
                </a:lnTo>
                <a:close/>
              </a:path>
              <a:path w="511810" h="246379">
                <a:moveTo>
                  <a:pt x="150876" y="68580"/>
                </a:moveTo>
                <a:lnTo>
                  <a:pt x="141732" y="64769"/>
                </a:lnTo>
                <a:lnTo>
                  <a:pt x="137922" y="73151"/>
                </a:lnTo>
                <a:lnTo>
                  <a:pt x="146304" y="77723"/>
                </a:lnTo>
                <a:lnTo>
                  <a:pt x="150876" y="68580"/>
                </a:lnTo>
                <a:close/>
              </a:path>
              <a:path w="511810" h="246379">
                <a:moveTo>
                  <a:pt x="167640" y="76961"/>
                </a:moveTo>
                <a:lnTo>
                  <a:pt x="159258" y="73151"/>
                </a:lnTo>
                <a:lnTo>
                  <a:pt x="155448" y="81533"/>
                </a:lnTo>
                <a:lnTo>
                  <a:pt x="163830" y="85343"/>
                </a:lnTo>
                <a:lnTo>
                  <a:pt x="167640" y="76961"/>
                </a:lnTo>
                <a:close/>
              </a:path>
              <a:path w="511810" h="246379">
                <a:moveTo>
                  <a:pt x="185166" y="85343"/>
                </a:moveTo>
                <a:lnTo>
                  <a:pt x="176784" y="80772"/>
                </a:lnTo>
                <a:lnTo>
                  <a:pt x="172212" y="89915"/>
                </a:lnTo>
                <a:lnTo>
                  <a:pt x="181356" y="93725"/>
                </a:lnTo>
                <a:lnTo>
                  <a:pt x="185166" y="85343"/>
                </a:lnTo>
                <a:close/>
              </a:path>
              <a:path w="511810" h="246379">
                <a:moveTo>
                  <a:pt x="202692" y="92963"/>
                </a:moveTo>
                <a:lnTo>
                  <a:pt x="193548" y="89153"/>
                </a:lnTo>
                <a:lnTo>
                  <a:pt x="189738" y="97535"/>
                </a:lnTo>
                <a:lnTo>
                  <a:pt x="198120" y="101346"/>
                </a:lnTo>
                <a:lnTo>
                  <a:pt x="202692" y="92963"/>
                </a:lnTo>
                <a:close/>
              </a:path>
              <a:path w="511810" h="246379">
                <a:moveTo>
                  <a:pt x="219456" y="101346"/>
                </a:moveTo>
                <a:lnTo>
                  <a:pt x="211074" y="96773"/>
                </a:lnTo>
                <a:lnTo>
                  <a:pt x="207264" y="105917"/>
                </a:lnTo>
                <a:lnTo>
                  <a:pt x="215646" y="109727"/>
                </a:lnTo>
                <a:lnTo>
                  <a:pt x="219456" y="101346"/>
                </a:lnTo>
                <a:close/>
              </a:path>
              <a:path w="511810" h="246379">
                <a:moveTo>
                  <a:pt x="236982" y="108965"/>
                </a:moveTo>
                <a:lnTo>
                  <a:pt x="228600" y="105155"/>
                </a:lnTo>
                <a:lnTo>
                  <a:pt x="224028" y="113537"/>
                </a:lnTo>
                <a:lnTo>
                  <a:pt x="233172" y="118109"/>
                </a:lnTo>
                <a:lnTo>
                  <a:pt x="236982" y="108965"/>
                </a:lnTo>
                <a:close/>
              </a:path>
              <a:path w="511810" h="246379">
                <a:moveTo>
                  <a:pt x="254508" y="117347"/>
                </a:moveTo>
                <a:lnTo>
                  <a:pt x="245364" y="113537"/>
                </a:lnTo>
                <a:lnTo>
                  <a:pt x="241554" y="121919"/>
                </a:lnTo>
                <a:lnTo>
                  <a:pt x="249936" y="125729"/>
                </a:lnTo>
                <a:lnTo>
                  <a:pt x="254508" y="117347"/>
                </a:lnTo>
                <a:close/>
              </a:path>
              <a:path w="511810" h="246379">
                <a:moveTo>
                  <a:pt x="271272" y="125729"/>
                </a:moveTo>
                <a:lnTo>
                  <a:pt x="262890" y="121157"/>
                </a:lnTo>
                <a:lnTo>
                  <a:pt x="259080" y="130301"/>
                </a:lnTo>
                <a:lnTo>
                  <a:pt x="267462" y="134111"/>
                </a:lnTo>
                <a:lnTo>
                  <a:pt x="271272" y="125729"/>
                </a:lnTo>
                <a:close/>
              </a:path>
              <a:path w="511810" h="246379">
                <a:moveTo>
                  <a:pt x="288798" y="133349"/>
                </a:moveTo>
                <a:lnTo>
                  <a:pt x="280416" y="129539"/>
                </a:lnTo>
                <a:lnTo>
                  <a:pt x="275844" y="137921"/>
                </a:lnTo>
                <a:lnTo>
                  <a:pt x="284988" y="141731"/>
                </a:lnTo>
                <a:lnTo>
                  <a:pt x="288798" y="133349"/>
                </a:lnTo>
                <a:close/>
              </a:path>
              <a:path w="511810" h="246379">
                <a:moveTo>
                  <a:pt x="306324" y="141731"/>
                </a:moveTo>
                <a:lnTo>
                  <a:pt x="297180" y="137160"/>
                </a:lnTo>
                <a:lnTo>
                  <a:pt x="293370" y="146303"/>
                </a:lnTo>
                <a:lnTo>
                  <a:pt x="301752" y="150113"/>
                </a:lnTo>
                <a:lnTo>
                  <a:pt x="306324" y="141731"/>
                </a:lnTo>
                <a:close/>
              </a:path>
              <a:path w="511810" h="246379">
                <a:moveTo>
                  <a:pt x="323088" y="149351"/>
                </a:moveTo>
                <a:lnTo>
                  <a:pt x="314706" y="145542"/>
                </a:lnTo>
                <a:lnTo>
                  <a:pt x="310896" y="153923"/>
                </a:lnTo>
                <a:lnTo>
                  <a:pt x="319278" y="158495"/>
                </a:lnTo>
                <a:lnTo>
                  <a:pt x="323088" y="149351"/>
                </a:lnTo>
                <a:close/>
              </a:path>
              <a:path w="511810" h="246379">
                <a:moveTo>
                  <a:pt x="340614" y="157733"/>
                </a:moveTo>
                <a:lnTo>
                  <a:pt x="332232" y="153923"/>
                </a:lnTo>
                <a:lnTo>
                  <a:pt x="327660" y="162305"/>
                </a:lnTo>
                <a:lnTo>
                  <a:pt x="336804" y="166115"/>
                </a:lnTo>
                <a:lnTo>
                  <a:pt x="340614" y="157733"/>
                </a:lnTo>
                <a:close/>
              </a:path>
              <a:path w="511810" h="246379">
                <a:moveTo>
                  <a:pt x="357378" y="166115"/>
                </a:moveTo>
                <a:lnTo>
                  <a:pt x="348996" y="161544"/>
                </a:lnTo>
                <a:lnTo>
                  <a:pt x="345186" y="170687"/>
                </a:lnTo>
                <a:lnTo>
                  <a:pt x="353568" y="174497"/>
                </a:lnTo>
                <a:lnTo>
                  <a:pt x="357378" y="166115"/>
                </a:lnTo>
                <a:close/>
              </a:path>
              <a:path w="511810" h="246379">
                <a:moveTo>
                  <a:pt x="374904" y="173735"/>
                </a:moveTo>
                <a:lnTo>
                  <a:pt x="366522" y="169926"/>
                </a:lnTo>
                <a:lnTo>
                  <a:pt x="362712" y="178307"/>
                </a:lnTo>
                <a:lnTo>
                  <a:pt x="371094" y="182117"/>
                </a:lnTo>
                <a:lnTo>
                  <a:pt x="374904" y="173735"/>
                </a:lnTo>
                <a:close/>
              </a:path>
              <a:path w="511810" h="246379">
                <a:moveTo>
                  <a:pt x="392430" y="182117"/>
                </a:moveTo>
                <a:lnTo>
                  <a:pt x="383286" y="177545"/>
                </a:lnTo>
                <a:lnTo>
                  <a:pt x="379476" y="186689"/>
                </a:lnTo>
                <a:lnTo>
                  <a:pt x="387858" y="190499"/>
                </a:lnTo>
                <a:lnTo>
                  <a:pt x="392430" y="182117"/>
                </a:lnTo>
                <a:close/>
              </a:path>
              <a:path w="511810" h="246379">
                <a:moveTo>
                  <a:pt x="409194" y="189737"/>
                </a:moveTo>
                <a:lnTo>
                  <a:pt x="400812" y="185927"/>
                </a:lnTo>
                <a:lnTo>
                  <a:pt x="397002" y="194310"/>
                </a:lnTo>
                <a:lnTo>
                  <a:pt x="405384" y="198881"/>
                </a:lnTo>
                <a:lnTo>
                  <a:pt x="409194" y="189737"/>
                </a:lnTo>
                <a:close/>
              </a:path>
              <a:path w="511810" h="246379">
                <a:moveTo>
                  <a:pt x="426720" y="198119"/>
                </a:moveTo>
                <a:lnTo>
                  <a:pt x="418338" y="194310"/>
                </a:lnTo>
                <a:lnTo>
                  <a:pt x="413766" y="202692"/>
                </a:lnTo>
                <a:lnTo>
                  <a:pt x="422910" y="206501"/>
                </a:lnTo>
                <a:lnTo>
                  <a:pt x="426720" y="198119"/>
                </a:lnTo>
                <a:close/>
              </a:path>
              <a:path w="511810" h="246379">
                <a:moveTo>
                  <a:pt x="444246" y="205739"/>
                </a:moveTo>
                <a:lnTo>
                  <a:pt x="435102" y="201929"/>
                </a:lnTo>
                <a:lnTo>
                  <a:pt x="431292" y="211073"/>
                </a:lnTo>
                <a:lnTo>
                  <a:pt x="439674" y="214883"/>
                </a:lnTo>
                <a:lnTo>
                  <a:pt x="444246" y="205739"/>
                </a:lnTo>
                <a:close/>
              </a:path>
              <a:path w="511810" h="246379">
                <a:moveTo>
                  <a:pt x="461010" y="214121"/>
                </a:moveTo>
                <a:lnTo>
                  <a:pt x="452628" y="210311"/>
                </a:lnTo>
                <a:lnTo>
                  <a:pt x="448818" y="218693"/>
                </a:lnTo>
                <a:lnTo>
                  <a:pt x="457200" y="222503"/>
                </a:lnTo>
                <a:lnTo>
                  <a:pt x="461010" y="214121"/>
                </a:lnTo>
                <a:close/>
              </a:path>
              <a:path w="511810" h="246379">
                <a:moveTo>
                  <a:pt x="478536" y="222503"/>
                </a:moveTo>
                <a:lnTo>
                  <a:pt x="470154" y="217931"/>
                </a:lnTo>
                <a:lnTo>
                  <a:pt x="465582" y="227075"/>
                </a:lnTo>
                <a:lnTo>
                  <a:pt x="474726" y="230885"/>
                </a:lnTo>
                <a:lnTo>
                  <a:pt x="478536" y="222503"/>
                </a:lnTo>
                <a:close/>
              </a:path>
              <a:path w="511810" h="246379">
                <a:moveTo>
                  <a:pt x="496062" y="230123"/>
                </a:moveTo>
                <a:lnTo>
                  <a:pt x="486918" y="226313"/>
                </a:lnTo>
                <a:lnTo>
                  <a:pt x="483108" y="234695"/>
                </a:lnTo>
                <a:lnTo>
                  <a:pt x="491490" y="239267"/>
                </a:lnTo>
                <a:lnTo>
                  <a:pt x="496062" y="230123"/>
                </a:lnTo>
                <a:close/>
              </a:path>
              <a:path w="511810" h="246379">
                <a:moveTo>
                  <a:pt x="511302" y="237743"/>
                </a:moveTo>
                <a:lnTo>
                  <a:pt x="504444" y="234695"/>
                </a:lnTo>
                <a:lnTo>
                  <a:pt x="500634" y="243077"/>
                </a:lnTo>
                <a:lnTo>
                  <a:pt x="506730" y="246125"/>
                </a:lnTo>
                <a:lnTo>
                  <a:pt x="511302" y="237743"/>
                </a:lnTo>
                <a:close/>
              </a:path>
            </a:pathLst>
          </a:custGeom>
          <a:solidFill>
            <a:srgbClr val="000000"/>
          </a:solidFill>
        </p:spPr>
        <p:txBody>
          <a:bodyPr wrap="square" lIns="0" tIns="0" rIns="0" bIns="0" rtlCol="0"/>
          <a:lstStyle/>
          <a:p>
            <a:endParaRPr/>
          </a:p>
        </p:txBody>
      </p:sp>
      <p:sp>
        <p:nvSpPr>
          <p:cNvPr id="103" name="object 103"/>
          <p:cNvSpPr/>
          <p:nvPr/>
        </p:nvSpPr>
        <p:spPr>
          <a:xfrm>
            <a:off x="3633978" y="5078729"/>
            <a:ext cx="300355" cy="134620"/>
          </a:xfrm>
          <a:custGeom>
            <a:avLst/>
            <a:gdLst/>
            <a:ahLst/>
            <a:cxnLst/>
            <a:rect l="l" t="t" r="r" b="b"/>
            <a:pathLst>
              <a:path w="300354" h="134620">
                <a:moveTo>
                  <a:pt x="300228" y="125729"/>
                </a:moveTo>
                <a:lnTo>
                  <a:pt x="3810" y="0"/>
                </a:lnTo>
                <a:lnTo>
                  <a:pt x="0" y="8382"/>
                </a:lnTo>
                <a:lnTo>
                  <a:pt x="296418" y="134111"/>
                </a:lnTo>
                <a:lnTo>
                  <a:pt x="300228" y="125729"/>
                </a:lnTo>
                <a:close/>
              </a:path>
            </a:pathLst>
          </a:custGeom>
          <a:solidFill>
            <a:srgbClr val="000000"/>
          </a:solidFill>
        </p:spPr>
        <p:txBody>
          <a:bodyPr wrap="square" lIns="0" tIns="0" rIns="0" bIns="0" rtlCol="0"/>
          <a:lstStyle/>
          <a:p>
            <a:endParaRPr/>
          </a:p>
        </p:txBody>
      </p:sp>
      <p:sp>
        <p:nvSpPr>
          <p:cNvPr id="104" name="object 104"/>
          <p:cNvSpPr/>
          <p:nvPr/>
        </p:nvSpPr>
        <p:spPr>
          <a:xfrm>
            <a:off x="3935729" y="5203697"/>
            <a:ext cx="511809" cy="246379"/>
          </a:xfrm>
          <a:custGeom>
            <a:avLst/>
            <a:gdLst/>
            <a:ahLst/>
            <a:cxnLst/>
            <a:rect l="l" t="t" r="r" b="b"/>
            <a:pathLst>
              <a:path w="511810" h="246379">
                <a:moveTo>
                  <a:pt x="12954" y="3809"/>
                </a:moveTo>
                <a:lnTo>
                  <a:pt x="3810" y="0"/>
                </a:lnTo>
                <a:lnTo>
                  <a:pt x="0" y="8382"/>
                </a:lnTo>
                <a:lnTo>
                  <a:pt x="8382" y="12192"/>
                </a:lnTo>
                <a:lnTo>
                  <a:pt x="12954" y="3809"/>
                </a:lnTo>
                <a:close/>
              </a:path>
              <a:path w="511810" h="246379">
                <a:moveTo>
                  <a:pt x="29718" y="11429"/>
                </a:moveTo>
                <a:lnTo>
                  <a:pt x="21336" y="7619"/>
                </a:lnTo>
                <a:lnTo>
                  <a:pt x="17526" y="16002"/>
                </a:lnTo>
                <a:lnTo>
                  <a:pt x="25908" y="20574"/>
                </a:lnTo>
                <a:lnTo>
                  <a:pt x="29718" y="11429"/>
                </a:lnTo>
                <a:close/>
              </a:path>
              <a:path w="511810" h="246379">
                <a:moveTo>
                  <a:pt x="47244" y="19811"/>
                </a:moveTo>
                <a:lnTo>
                  <a:pt x="38862" y="16001"/>
                </a:lnTo>
                <a:lnTo>
                  <a:pt x="34290" y="24383"/>
                </a:lnTo>
                <a:lnTo>
                  <a:pt x="43434" y="28194"/>
                </a:lnTo>
                <a:lnTo>
                  <a:pt x="47244" y="19811"/>
                </a:lnTo>
                <a:close/>
              </a:path>
              <a:path w="511810" h="246379">
                <a:moveTo>
                  <a:pt x="64770" y="28193"/>
                </a:moveTo>
                <a:lnTo>
                  <a:pt x="55626" y="23621"/>
                </a:lnTo>
                <a:lnTo>
                  <a:pt x="51816" y="32765"/>
                </a:lnTo>
                <a:lnTo>
                  <a:pt x="60198" y="36575"/>
                </a:lnTo>
                <a:lnTo>
                  <a:pt x="64770" y="28193"/>
                </a:lnTo>
                <a:close/>
              </a:path>
              <a:path w="511810" h="246379">
                <a:moveTo>
                  <a:pt x="81534" y="35813"/>
                </a:moveTo>
                <a:lnTo>
                  <a:pt x="73152" y="32003"/>
                </a:lnTo>
                <a:lnTo>
                  <a:pt x="69342" y="40386"/>
                </a:lnTo>
                <a:lnTo>
                  <a:pt x="77724" y="44957"/>
                </a:lnTo>
                <a:lnTo>
                  <a:pt x="81534" y="35813"/>
                </a:lnTo>
                <a:close/>
              </a:path>
              <a:path w="511810" h="246379">
                <a:moveTo>
                  <a:pt x="99060" y="44195"/>
                </a:moveTo>
                <a:lnTo>
                  <a:pt x="90678" y="40386"/>
                </a:lnTo>
                <a:lnTo>
                  <a:pt x="86106" y="48767"/>
                </a:lnTo>
                <a:lnTo>
                  <a:pt x="95250" y="52577"/>
                </a:lnTo>
                <a:lnTo>
                  <a:pt x="99060" y="44195"/>
                </a:lnTo>
                <a:close/>
              </a:path>
              <a:path w="511810" h="246379">
                <a:moveTo>
                  <a:pt x="116586" y="52577"/>
                </a:moveTo>
                <a:lnTo>
                  <a:pt x="107442" y="48006"/>
                </a:lnTo>
                <a:lnTo>
                  <a:pt x="103632" y="57149"/>
                </a:lnTo>
                <a:lnTo>
                  <a:pt x="112014" y="60959"/>
                </a:lnTo>
                <a:lnTo>
                  <a:pt x="116586" y="52577"/>
                </a:lnTo>
                <a:close/>
              </a:path>
              <a:path w="511810" h="246379">
                <a:moveTo>
                  <a:pt x="133350" y="60197"/>
                </a:moveTo>
                <a:lnTo>
                  <a:pt x="124968" y="56387"/>
                </a:lnTo>
                <a:lnTo>
                  <a:pt x="121158" y="64769"/>
                </a:lnTo>
                <a:lnTo>
                  <a:pt x="129540" y="68580"/>
                </a:lnTo>
                <a:lnTo>
                  <a:pt x="133350" y="60197"/>
                </a:lnTo>
                <a:close/>
              </a:path>
              <a:path w="511810" h="246379">
                <a:moveTo>
                  <a:pt x="150876" y="68580"/>
                </a:moveTo>
                <a:lnTo>
                  <a:pt x="141732" y="64007"/>
                </a:lnTo>
                <a:lnTo>
                  <a:pt x="137922" y="73151"/>
                </a:lnTo>
                <a:lnTo>
                  <a:pt x="146304" y="76961"/>
                </a:lnTo>
                <a:lnTo>
                  <a:pt x="150876" y="68580"/>
                </a:lnTo>
                <a:close/>
              </a:path>
              <a:path w="511810" h="246379">
                <a:moveTo>
                  <a:pt x="167640" y="76199"/>
                </a:moveTo>
                <a:lnTo>
                  <a:pt x="159258" y="72389"/>
                </a:lnTo>
                <a:lnTo>
                  <a:pt x="155448" y="80772"/>
                </a:lnTo>
                <a:lnTo>
                  <a:pt x="163830" y="85343"/>
                </a:lnTo>
                <a:lnTo>
                  <a:pt x="167640" y="76199"/>
                </a:lnTo>
                <a:close/>
              </a:path>
              <a:path w="511810" h="246379">
                <a:moveTo>
                  <a:pt x="185166" y="84581"/>
                </a:moveTo>
                <a:lnTo>
                  <a:pt x="176784" y="80772"/>
                </a:lnTo>
                <a:lnTo>
                  <a:pt x="172212" y="89153"/>
                </a:lnTo>
                <a:lnTo>
                  <a:pt x="181356" y="92963"/>
                </a:lnTo>
                <a:lnTo>
                  <a:pt x="185166" y="84581"/>
                </a:lnTo>
                <a:close/>
              </a:path>
              <a:path w="511810" h="246379">
                <a:moveTo>
                  <a:pt x="202692" y="92963"/>
                </a:moveTo>
                <a:lnTo>
                  <a:pt x="193548" y="88391"/>
                </a:lnTo>
                <a:lnTo>
                  <a:pt x="189738" y="97535"/>
                </a:lnTo>
                <a:lnTo>
                  <a:pt x="198120" y="101346"/>
                </a:lnTo>
                <a:lnTo>
                  <a:pt x="202692" y="92963"/>
                </a:lnTo>
                <a:close/>
              </a:path>
              <a:path w="511810" h="246379">
                <a:moveTo>
                  <a:pt x="219456" y="100583"/>
                </a:moveTo>
                <a:lnTo>
                  <a:pt x="211074" y="96773"/>
                </a:lnTo>
                <a:lnTo>
                  <a:pt x="207264" y="105155"/>
                </a:lnTo>
                <a:lnTo>
                  <a:pt x="215646" y="109727"/>
                </a:lnTo>
                <a:lnTo>
                  <a:pt x="219456" y="100583"/>
                </a:lnTo>
                <a:close/>
              </a:path>
              <a:path w="511810" h="246379">
                <a:moveTo>
                  <a:pt x="236982" y="108965"/>
                </a:moveTo>
                <a:lnTo>
                  <a:pt x="228600" y="105155"/>
                </a:lnTo>
                <a:lnTo>
                  <a:pt x="224028" y="113537"/>
                </a:lnTo>
                <a:lnTo>
                  <a:pt x="233172" y="117347"/>
                </a:lnTo>
                <a:lnTo>
                  <a:pt x="236982" y="108965"/>
                </a:lnTo>
                <a:close/>
              </a:path>
              <a:path w="511810" h="246379">
                <a:moveTo>
                  <a:pt x="254508" y="116585"/>
                </a:moveTo>
                <a:lnTo>
                  <a:pt x="245364" y="112775"/>
                </a:lnTo>
                <a:lnTo>
                  <a:pt x="241554" y="121919"/>
                </a:lnTo>
                <a:lnTo>
                  <a:pt x="249936" y="125729"/>
                </a:lnTo>
                <a:lnTo>
                  <a:pt x="254508" y="116585"/>
                </a:lnTo>
                <a:close/>
              </a:path>
              <a:path w="511810" h="246379">
                <a:moveTo>
                  <a:pt x="271272" y="124967"/>
                </a:moveTo>
                <a:lnTo>
                  <a:pt x="262890" y="121157"/>
                </a:lnTo>
                <a:lnTo>
                  <a:pt x="259080" y="129539"/>
                </a:lnTo>
                <a:lnTo>
                  <a:pt x="267462" y="133349"/>
                </a:lnTo>
                <a:lnTo>
                  <a:pt x="271272" y="124967"/>
                </a:lnTo>
                <a:close/>
              </a:path>
              <a:path w="511810" h="246379">
                <a:moveTo>
                  <a:pt x="288798" y="133349"/>
                </a:moveTo>
                <a:lnTo>
                  <a:pt x="280416" y="128777"/>
                </a:lnTo>
                <a:lnTo>
                  <a:pt x="275844" y="137921"/>
                </a:lnTo>
                <a:lnTo>
                  <a:pt x="284988" y="141731"/>
                </a:lnTo>
                <a:lnTo>
                  <a:pt x="288798" y="133349"/>
                </a:lnTo>
                <a:close/>
              </a:path>
              <a:path w="511810" h="246379">
                <a:moveTo>
                  <a:pt x="305562" y="140969"/>
                </a:moveTo>
                <a:lnTo>
                  <a:pt x="297180" y="137160"/>
                </a:lnTo>
                <a:lnTo>
                  <a:pt x="293370" y="145542"/>
                </a:lnTo>
                <a:lnTo>
                  <a:pt x="301752" y="150113"/>
                </a:lnTo>
                <a:lnTo>
                  <a:pt x="305562" y="140969"/>
                </a:lnTo>
                <a:close/>
              </a:path>
              <a:path w="511810" h="246379">
                <a:moveTo>
                  <a:pt x="323088" y="149351"/>
                </a:moveTo>
                <a:lnTo>
                  <a:pt x="314706" y="145542"/>
                </a:lnTo>
                <a:lnTo>
                  <a:pt x="310134" y="153923"/>
                </a:lnTo>
                <a:lnTo>
                  <a:pt x="319278" y="157733"/>
                </a:lnTo>
                <a:lnTo>
                  <a:pt x="323088" y="149351"/>
                </a:lnTo>
                <a:close/>
              </a:path>
              <a:path w="511810" h="246379">
                <a:moveTo>
                  <a:pt x="340614" y="157733"/>
                </a:moveTo>
                <a:lnTo>
                  <a:pt x="331470" y="153161"/>
                </a:lnTo>
                <a:lnTo>
                  <a:pt x="327660" y="162305"/>
                </a:lnTo>
                <a:lnTo>
                  <a:pt x="336042" y="166115"/>
                </a:lnTo>
                <a:lnTo>
                  <a:pt x="340614" y="157733"/>
                </a:lnTo>
                <a:close/>
              </a:path>
              <a:path w="511810" h="246379">
                <a:moveTo>
                  <a:pt x="357378" y="165353"/>
                </a:moveTo>
                <a:lnTo>
                  <a:pt x="348996" y="161544"/>
                </a:lnTo>
                <a:lnTo>
                  <a:pt x="345186" y="169926"/>
                </a:lnTo>
                <a:lnTo>
                  <a:pt x="353568" y="174497"/>
                </a:lnTo>
                <a:lnTo>
                  <a:pt x="357378" y="165353"/>
                </a:lnTo>
                <a:close/>
              </a:path>
              <a:path w="511810" h="246379">
                <a:moveTo>
                  <a:pt x="374904" y="173735"/>
                </a:moveTo>
                <a:lnTo>
                  <a:pt x="366522" y="169926"/>
                </a:lnTo>
                <a:lnTo>
                  <a:pt x="361950" y="178307"/>
                </a:lnTo>
                <a:lnTo>
                  <a:pt x="371094" y="182117"/>
                </a:lnTo>
                <a:lnTo>
                  <a:pt x="374904" y="173735"/>
                </a:lnTo>
                <a:close/>
              </a:path>
              <a:path w="511810" h="246379">
                <a:moveTo>
                  <a:pt x="392430" y="181355"/>
                </a:moveTo>
                <a:lnTo>
                  <a:pt x="383286" y="177545"/>
                </a:lnTo>
                <a:lnTo>
                  <a:pt x="379476" y="185927"/>
                </a:lnTo>
                <a:lnTo>
                  <a:pt x="387858" y="190499"/>
                </a:lnTo>
                <a:lnTo>
                  <a:pt x="392430" y="181355"/>
                </a:lnTo>
                <a:close/>
              </a:path>
              <a:path w="511810" h="246379">
                <a:moveTo>
                  <a:pt x="409194" y="189737"/>
                </a:moveTo>
                <a:lnTo>
                  <a:pt x="400812" y="185927"/>
                </a:lnTo>
                <a:lnTo>
                  <a:pt x="397002" y="194310"/>
                </a:lnTo>
                <a:lnTo>
                  <a:pt x="405384" y="198119"/>
                </a:lnTo>
                <a:lnTo>
                  <a:pt x="409194" y="189737"/>
                </a:lnTo>
                <a:close/>
              </a:path>
              <a:path w="511810" h="246379">
                <a:moveTo>
                  <a:pt x="426720" y="198119"/>
                </a:moveTo>
                <a:lnTo>
                  <a:pt x="418338" y="193547"/>
                </a:lnTo>
                <a:lnTo>
                  <a:pt x="413766" y="202692"/>
                </a:lnTo>
                <a:lnTo>
                  <a:pt x="422910" y="206501"/>
                </a:lnTo>
                <a:lnTo>
                  <a:pt x="426720" y="198119"/>
                </a:lnTo>
                <a:close/>
              </a:path>
              <a:path w="511810" h="246379">
                <a:moveTo>
                  <a:pt x="444246" y="205739"/>
                </a:moveTo>
                <a:lnTo>
                  <a:pt x="435102" y="201929"/>
                </a:lnTo>
                <a:lnTo>
                  <a:pt x="431292" y="210311"/>
                </a:lnTo>
                <a:lnTo>
                  <a:pt x="439674" y="214883"/>
                </a:lnTo>
                <a:lnTo>
                  <a:pt x="444246" y="205739"/>
                </a:lnTo>
                <a:close/>
              </a:path>
              <a:path w="511810" h="246379">
                <a:moveTo>
                  <a:pt x="461010" y="214121"/>
                </a:moveTo>
                <a:lnTo>
                  <a:pt x="452628" y="210311"/>
                </a:lnTo>
                <a:lnTo>
                  <a:pt x="448818" y="218693"/>
                </a:lnTo>
                <a:lnTo>
                  <a:pt x="457200" y="222503"/>
                </a:lnTo>
                <a:lnTo>
                  <a:pt x="461010" y="214121"/>
                </a:lnTo>
                <a:close/>
              </a:path>
              <a:path w="511810" h="246379">
                <a:moveTo>
                  <a:pt x="478536" y="222503"/>
                </a:moveTo>
                <a:lnTo>
                  <a:pt x="469392" y="217931"/>
                </a:lnTo>
                <a:lnTo>
                  <a:pt x="465582" y="227075"/>
                </a:lnTo>
                <a:lnTo>
                  <a:pt x="474726" y="230885"/>
                </a:lnTo>
                <a:lnTo>
                  <a:pt x="478536" y="222503"/>
                </a:lnTo>
                <a:close/>
              </a:path>
              <a:path w="511810" h="246379">
                <a:moveTo>
                  <a:pt x="495300" y="230123"/>
                </a:moveTo>
                <a:lnTo>
                  <a:pt x="486918" y="226313"/>
                </a:lnTo>
                <a:lnTo>
                  <a:pt x="483108" y="234695"/>
                </a:lnTo>
                <a:lnTo>
                  <a:pt x="491490" y="238505"/>
                </a:lnTo>
                <a:lnTo>
                  <a:pt x="495300" y="230123"/>
                </a:lnTo>
                <a:close/>
              </a:path>
              <a:path w="511810" h="246379">
                <a:moveTo>
                  <a:pt x="511302" y="237743"/>
                </a:moveTo>
                <a:lnTo>
                  <a:pt x="504444" y="233933"/>
                </a:lnTo>
                <a:lnTo>
                  <a:pt x="499872" y="243077"/>
                </a:lnTo>
                <a:lnTo>
                  <a:pt x="506730" y="246125"/>
                </a:lnTo>
                <a:lnTo>
                  <a:pt x="511302" y="237743"/>
                </a:lnTo>
                <a:close/>
              </a:path>
            </a:pathLst>
          </a:custGeom>
          <a:solidFill>
            <a:srgbClr val="000000"/>
          </a:solidFill>
        </p:spPr>
        <p:txBody>
          <a:bodyPr wrap="square" lIns="0" tIns="0" rIns="0" bIns="0" rtlCol="0"/>
          <a:lstStyle/>
          <a:p>
            <a:endParaRPr/>
          </a:p>
        </p:txBody>
      </p:sp>
      <p:sp>
        <p:nvSpPr>
          <p:cNvPr id="105" name="object 105"/>
          <p:cNvSpPr/>
          <p:nvPr/>
        </p:nvSpPr>
        <p:spPr>
          <a:xfrm>
            <a:off x="3649979" y="3910584"/>
            <a:ext cx="2068830" cy="941069"/>
          </a:xfrm>
          <a:custGeom>
            <a:avLst/>
            <a:gdLst/>
            <a:ahLst/>
            <a:cxnLst/>
            <a:rect l="l" t="t" r="r" b="b"/>
            <a:pathLst>
              <a:path w="2068829" h="941070">
                <a:moveTo>
                  <a:pt x="2068830" y="9144"/>
                </a:moveTo>
                <a:lnTo>
                  <a:pt x="2065020" y="0"/>
                </a:lnTo>
                <a:lnTo>
                  <a:pt x="0" y="931926"/>
                </a:lnTo>
                <a:lnTo>
                  <a:pt x="3810" y="941070"/>
                </a:lnTo>
                <a:lnTo>
                  <a:pt x="2068830" y="9144"/>
                </a:lnTo>
                <a:close/>
              </a:path>
            </a:pathLst>
          </a:custGeom>
          <a:solidFill>
            <a:srgbClr val="000000"/>
          </a:solidFill>
        </p:spPr>
        <p:txBody>
          <a:bodyPr wrap="square" lIns="0" tIns="0" rIns="0" bIns="0" rtlCol="0"/>
          <a:lstStyle/>
          <a:p>
            <a:endParaRPr/>
          </a:p>
        </p:txBody>
      </p:sp>
      <p:sp>
        <p:nvSpPr>
          <p:cNvPr id="106" name="object 106"/>
          <p:cNvSpPr/>
          <p:nvPr/>
        </p:nvSpPr>
        <p:spPr>
          <a:xfrm>
            <a:off x="5711952" y="3640454"/>
            <a:ext cx="113030" cy="0"/>
          </a:xfrm>
          <a:custGeom>
            <a:avLst/>
            <a:gdLst/>
            <a:ahLst/>
            <a:cxnLst/>
            <a:rect l="l" t="t" r="r" b="b"/>
            <a:pathLst>
              <a:path w="113029">
                <a:moveTo>
                  <a:pt x="0" y="0"/>
                </a:moveTo>
                <a:lnTo>
                  <a:pt x="112775" y="0"/>
                </a:lnTo>
              </a:path>
            </a:pathLst>
          </a:custGeom>
          <a:ln w="9905">
            <a:solidFill>
              <a:srgbClr val="000000"/>
            </a:solidFill>
          </a:ln>
        </p:spPr>
        <p:txBody>
          <a:bodyPr wrap="square" lIns="0" tIns="0" rIns="0" bIns="0" rtlCol="0"/>
          <a:lstStyle/>
          <a:p>
            <a:endParaRPr/>
          </a:p>
        </p:txBody>
      </p:sp>
      <p:sp>
        <p:nvSpPr>
          <p:cNvPr id="107" name="object 107"/>
          <p:cNvSpPr/>
          <p:nvPr/>
        </p:nvSpPr>
        <p:spPr>
          <a:xfrm>
            <a:off x="5723382" y="3893058"/>
            <a:ext cx="113030" cy="0"/>
          </a:xfrm>
          <a:custGeom>
            <a:avLst/>
            <a:gdLst/>
            <a:ahLst/>
            <a:cxnLst/>
            <a:rect l="l" t="t" r="r" b="b"/>
            <a:pathLst>
              <a:path w="113029">
                <a:moveTo>
                  <a:pt x="0" y="0"/>
                </a:moveTo>
                <a:lnTo>
                  <a:pt x="112775" y="0"/>
                </a:lnTo>
              </a:path>
            </a:pathLst>
          </a:custGeom>
          <a:ln w="9144">
            <a:solidFill>
              <a:srgbClr val="000000"/>
            </a:solidFill>
          </a:ln>
        </p:spPr>
        <p:txBody>
          <a:bodyPr wrap="square" lIns="0" tIns="0" rIns="0" bIns="0" rtlCol="0"/>
          <a:lstStyle/>
          <a:p>
            <a:endParaRPr/>
          </a:p>
        </p:txBody>
      </p:sp>
      <p:sp>
        <p:nvSpPr>
          <p:cNvPr id="108" name="object 108"/>
          <p:cNvSpPr txBox="1"/>
          <p:nvPr/>
        </p:nvSpPr>
        <p:spPr>
          <a:xfrm>
            <a:off x="5841746" y="3001010"/>
            <a:ext cx="3446779" cy="1009650"/>
          </a:xfrm>
          <a:prstGeom prst="rect">
            <a:avLst/>
          </a:prstGeom>
        </p:spPr>
        <p:txBody>
          <a:bodyPr vert="horz" wrap="square" lIns="0" tIns="12700" rIns="0" bIns="0" rtlCol="0">
            <a:spAutoFit/>
          </a:bodyPr>
          <a:lstStyle/>
          <a:p>
            <a:pPr marL="15240">
              <a:lnSpc>
                <a:spcPct val="100000"/>
              </a:lnSpc>
              <a:spcBef>
                <a:spcPts val="100"/>
              </a:spcBef>
            </a:pPr>
            <a:r>
              <a:rPr sz="1600" spc="-5" dirty="0">
                <a:latin typeface="Arial"/>
                <a:cs typeface="Arial"/>
              </a:rPr>
              <a:t>nhận bít đầu tiên của gói tin</a:t>
            </a:r>
            <a:r>
              <a:rPr sz="1600" spc="15" dirty="0">
                <a:latin typeface="Arial"/>
                <a:cs typeface="Arial"/>
              </a:rPr>
              <a:t> </a:t>
            </a:r>
            <a:r>
              <a:rPr sz="1600" dirty="0">
                <a:latin typeface="Arial"/>
                <a:cs typeface="Arial"/>
              </a:rPr>
              <a:t>1</a:t>
            </a:r>
            <a:endParaRPr sz="1600">
              <a:latin typeface="Arial"/>
              <a:cs typeface="Arial"/>
            </a:endParaRPr>
          </a:p>
          <a:p>
            <a:pPr marL="12700" marR="5080" indent="7620" algn="just">
              <a:lnSpc>
                <a:spcPct val="100000"/>
              </a:lnSpc>
              <a:spcBef>
                <a:spcPts val="65"/>
              </a:spcBef>
            </a:pPr>
            <a:r>
              <a:rPr sz="1600" spc="-5" dirty="0">
                <a:latin typeface="Arial"/>
                <a:cs typeface="Arial"/>
              </a:rPr>
              <a:t>nhận bít cuối cùng của gói 1, gửi ACK  nhận bít cuối cùng của gói 2, gửi ACK  nhận bít cuối cùng của gói 3, gửi</a:t>
            </a:r>
            <a:r>
              <a:rPr sz="1600" spc="-100" dirty="0">
                <a:latin typeface="Arial"/>
                <a:cs typeface="Arial"/>
              </a:rPr>
              <a:t> </a:t>
            </a:r>
            <a:r>
              <a:rPr sz="1600" spc="-5" dirty="0">
                <a:latin typeface="Arial"/>
                <a:cs typeface="Arial"/>
              </a:rPr>
              <a:t>ACK</a:t>
            </a:r>
            <a:endParaRPr sz="1600">
              <a:latin typeface="Arial"/>
              <a:cs typeface="Arial"/>
            </a:endParaRPr>
          </a:p>
        </p:txBody>
      </p:sp>
      <p:sp>
        <p:nvSpPr>
          <p:cNvPr id="109" name="object 109"/>
          <p:cNvSpPr txBox="1"/>
          <p:nvPr/>
        </p:nvSpPr>
        <p:spPr>
          <a:xfrm>
            <a:off x="6318123" y="5075745"/>
            <a:ext cx="3740277" cy="635000"/>
          </a:xfrm>
          <a:prstGeom prst="rect">
            <a:avLst/>
          </a:prstGeom>
        </p:spPr>
        <p:txBody>
          <a:bodyPr vert="horz" wrap="square" lIns="0" tIns="12065" rIns="0" bIns="0" rtlCol="0">
            <a:spAutoFit/>
          </a:bodyPr>
          <a:lstStyle/>
          <a:p>
            <a:pPr marR="66675" algn="ctr">
              <a:lnSpc>
                <a:spcPct val="100000"/>
              </a:lnSpc>
              <a:spcBef>
                <a:spcPts val="95"/>
              </a:spcBef>
            </a:pPr>
            <a:r>
              <a:rPr sz="2000" spc="-10" dirty="0">
                <a:solidFill>
                  <a:srgbClr val="CC0000"/>
                </a:solidFill>
                <a:latin typeface="Arial"/>
                <a:cs typeface="Arial"/>
              </a:rPr>
              <a:t>3-packet pipelining</a:t>
            </a:r>
            <a:endParaRPr sz="2000" dirty="0">
              <a:latin typeface="Arial"/>
              <a:cs typeface="Arial"/>
            </a:endParaRPr>
          </a:p>
          <a:p>
            <a:pPr algn="ctr">
              <a:lnSpc>
                <a:spcPct val="100000"/>
              </a:lnSpc>
            </a:pPr>
            <a:r>
              <a:rPr sz="2000" spc="-5" dirty="0">
                <a:solidFill>
                  <a:srgbClr val="CC0000"/>
                </a:solidFill>
                <a:latin typeface="Arial"/>
                <a:cs typeface="Arial"/>
              </a:rPr>
              <a:t>tăng mức độ sử dụng lên 3</a:t>
            </a:r>
            <a:r>
              <a:rPr sz="2000" spc="-65" dirty="0">
                <a:solidFill>
                  <a:srgbClr val="CC0000"/>
                </a:solidFill>
                <a:latin typeface="Arial"/>
                <a:cs typeface="Arial"/>
              </a:rPr>
              <a:t> </a:t>
            </a:r>
            <a:r>
              <a:rPr sz="2000" spc="-10" dirty="0">
                <a:solidFill>
                  <a:srgbClr val="CC0000"/>
                </a:solidFill>
                <a:latin typeface="Arial"/>
                <a:cs typeface="Arial"/>
              </a:rPr>
              <a:t>lần</a:t>
            </a:r>
            <a:endParaRPr sz="2000" dirty="0">
              <a:latin typeface="Arial"/>
              <a:cs typeface="Arial"/>
            </a:endParaRPr>
          </a:p>
        </p:txBody>
      </p:sp>
      <p:sp>
        <p:nvSpPr>
          <p:cNvPr id="111" name="object 111"/>
          <p:cNvSpPr txBox="1"/>
          <p:nvPr/>
        </p:nvSpPr>
        <p:spPr>
          <a:xfrm>
            <a:off x="2168144" y="5724769"/>
            <a:ext cx="215900" cy="341630"/>
          </a:xfrm>
          <a:prstGeom prst="rect">
            <a:avLst/>
          </a:prstGeom>
        </p:spPr>
        <p:txBody>
          <a:bodyPr vert="horz" wrap="square" lIns="0" tIns="15240" rIns="0" bIns="0" rtlCol="0">
            <a:spAutoFit/>
          </a:bodyPr>
          <a:lstStyle/>
          <a:p>
            <a:pPr marL="12700">
              <a:lnSpc>
                <a:spcPct val="100000"/>
              </a:lnSpc>
              <a:spcBef>
                <a:spcPts val="120"/>
              </a:spcBef>
            </a:pPr>
            <a:r>
              <a:rPr sz="2050" i="1" spc="15" dirty="0">
                <a:latin typeface="Arial"/>
                <a:cs typeface="Arial"/>
              </a:rPr>
              <a:t>U</a:t>
            </a:r>
            <a:endParaRPr sz="2050">
              <a:latin typeface="Arial"/>
              <a:cs typeface="Arial"/>
            </a:endParaRPr>
          </a:p>
        </p:txBody>
      </p:sp>
      <p:sp>
        <p:nvSpPr>
          <p:cNvPr id="112" name="object 112"/>
          <p:cNvSpPr txBox="1"/>
          <p:nvPr/>
        </p:nvSpPr>
        <p:spPr>
          <a:xfrm>
            <a:off x="2407411" y="5940278"/>
            <a:ext cx="671830" cy="284480"/>
          </a:xfrm>
          <a:prstGeom prst="rect">
            <a:avLst/>
          </a:prstGeom>
        </p:spPr>
        <p:txBody>
          <a:bodyPr vert="horz" wrap="square" lIns="0" tIns="12065" rIns="0" bIns="0" rtlCol="0">
            <a:spAutoFit/>
          </a:bodyPr>
          <a:lstStyle/>
          <a:p>
            <a:pPr marL="12700">
              <a:lnSpc>
                <a:spcPct val="100000"/>
              </a:lnSpc>
              <a:spcBef>
                <a:spcPts val="95"/>
              </a:spcBef>
            </a:pPr>
            <a:r>
              <a:rPr sz="1700" i="1" spc="-25" dirty="0">
                <a:latin typeface="Arial"/>
                <a:cs typeface="Arial"/>
              </a:rPr>
              <a:t>sender</a:t>
            </a:r>
            <a:endParaRPr sz="1700">
              <a:latin typeface="Arial"/>
              <a:cs typeface="Arial"/>
            </a:endParaRPr>
          </a:p>
        </p:txBody>
      </p:sp>
      <p:sp>
        <p:nvSpPr>
          <p:cNvPr id="113" name="object 113"/>
          <p:cNvSpPr txBox="1"/>
          <p:nvPr/>
        </p:nvSpPr>
        <p:spPr>
          <a:xfrm>
            <a:off x="3101594" y="5796398"/>
            <a:ext cx="173990" cy="341630"/>
          </a:xfrm>
          <a:prstGeom prst="rect">
            <a:avLst/>
          </a:prstGeom>
        </p:spPr>
        <p:txBody>
          <a:bodyPr vert="horz" wrap="square" lIns="0" tIns="15240" rIns="0" bIns="0" rtlCol="0">
            <a:spAutoFit/>
          </a:bodyPr>
          <a:lstStyle/>
          <a:p>
            <a:pPr marL="12700">
              <a:lnSpc>
                <a:spcPct val="100000"/>
              </a:lnSpc>
              <a:spcBef>
                <a:spcPts val="120"/>
              </a:spcBef>
            </a:pPr>
            <a:r>
              <a:rPr sz="2050" spc="10" dirty="0">
                <a:latin typeface="Times New Roman"/>
                <a:cs typeface="Times New Roman"/>
              </a:rPr>
              <a:t>=</a:t>
            </a:r>
            <a:endParaRPr sz="2050" dirty="0">
              <a:latin typeface="Times New Roman"/>
              <a:cs typeface="Times New Roman"/>
            </a:endParaRPr>
          </a:p>
        </p:txBody>
      </p:sp>
      <p:sp>
        <p:nvSpPr>
          <p:cNvPr id="118" name="object 118"/>
          <p:cNvSpPr txBox="1"/>
          <p:nvPr/>
        </p:nvSpPr>
        <p:spPr>
          <a:xfrm>
            <a:off x="3675379" y="5605136"/>
            <a:ext cx="718820" cy="341630"/>
          </a:xfrm>
          <a:prstGeom prst="rect">
            <a:avLst/>
          </a:prstGeom>
        </p:spPr>
        <p:txBody>
          <a:bodyPr vert="horz" wrap="square" lIns="0" tIns="15240" rIns="0" bIns="0" rtlCol="0">
            <a:spAutoFit/>
          </a:bodyPr>
          <a:lstStyle/>
          <a:p>
            <a:pPr marL="12700">
              <a:lnSpc>
                <a:spcPct val="100000"/>
              </a:lnSpc>
              <a:spcBef>
                <a:spcPts val="120"/>
              </a:spcBef>
            </a:pPr>
            <a:r>
              <a:rPr sz="2050" i="1" dirty="0">
                <a:latin typeface="Arial"/>
                <a:cs typeface="Arial"/>
              </a:rPr>
              <a:t>3L </a:t>
            </a:r>
            <a:r>
              <a:rPr sz="2050" i="1" spc="5" dirty="0">
                <a:latin typeface="Arial"/>
                <a:cs typeface="Arial"/>
              </a:rPr>
              <a:t>/</a:t>
            </a:r>
            <a:r>
              <a:rPr sz="2050" i="1" spc="-135" dirty="0">
                <a:latin typeface="Arial"/>
                <a:cs typeface="Arial"/>
              </a:rPr>
              <a:t> </a:t>
            </a:r>
            <a:r>
              <a:rPr sz="2050" i="1" spc="15" dirty="0">
                <a:latin typeface="Arial"/>
                <a:cs typeface="Arial"/>
              </a:rPr>
              <a:t>R</a:t>
            </a:r>
            <a:endParaRPr sz="2050" dirty="0">
              <a:latin typeface="Arial"/>
              <a:cs typeface="Arial"/>
            </a:endParaRPr>
          </a:p>
        </p:txBody>
      </p:sp>
      <p:sp>
        <p:nvSpPr>
          <p:cNvPr id="119" name="object 119"/>
          <p:cNvSpPr txBox="1"/>
          <p:nvPr/>
        </p:nvSpPr>
        <p:spPr>
          <a:xfrm>
            <a:off x="3460494" y="6012034"/>
            <a:ext cx="1388745" cy="341630"/>
          </a:xfrm>
          <a:prstGeom prst="rect">
            <a:avLst/>
          </a:prstGeom>
        </p:spPr>
        <p:txBody>
          <a:bodyPr vert="horz" wrap="square" lIns="0" tIns="15240" rIns="0" bIns="0" rtlCol="0">
            <a:spAutoFit/>
          </a:bodyPr>
          <a:lstStyle/>
          <a:p>
            <a:pPr marL="12700">
              <a:lnSpc>
                <a:spcPct val="100000"/>
              </a:lnSpc>
              <a:spcBef>
                <a:spcPts val="120"/>
              </a:spcBef>
            </a:pPr>
            <a:r>
              <a:rPr sz="2050" i="1" spc="-35" dirty="0">
                <a:latin typeface="Arial"/>
                <a:cs typeface="Arial"/>
              </a:rPr>
              <a:t>RTT </a:t>
            </a:r>
            <a:r>
              <a:rPr sz="2050" i="1" spc="10" dirty="0">
                <a:latin typeface="Arial"/>
                <a:cs typeface="Arial"/>
              </a:rPr>
              <a:t>+ L </a:t>
            </a:r>
            <a:r>
              <a:rPr sz="2050" i="1" spc="5" dirty="0">
                <a:latin typeface="Arial"/>
                <a:cs typeface="Arial"/>
              </a:rPr>
              <a:t>/</a:t>
            </a:r>
            <a:r>
              <a:rPr sz="2050" i="1" spc="50" dirty="0">
                <a:latin typeface="Arial"/>
                <a:cs typeface="Arial"/>
              </a:rPr>
              <a:t> </a:t>
            </a:r>
            <a:r>
              <a:rPr sz="2050" i="1" spc="15" dirty="0">
                <a:latin typeface="Arial"/>
                <a:cs typeface="Arial"/>
              </a:rPr>
              <a:t>R</a:t>
            </a:r>
            <a:endParaRPr sz="2050" dirty="0">
              <a:latin typeface="Arial"/>
              <a:cs typeface="Arial"/>
            </a:endParaRPr>
          </a:p>
        </p:txBody>
      </p:sp>
      <p:sp>
        <p:nvSpPr>
          <p:cNvPr id="121" name="object 121"/>
          <p:cNvSpPr/>
          <p:nvPr/>
        </p:nvSpPr>
        <p:spPr>
          <a:xfrm>
            <a:off x="3377184" y="5976365"/>
            <a:ext cx="1555750" cy="0"/>
          </a:xfrm>
          <a:custGeom>
            <a:avLst/>
            <a:gdLst/>
            <a:ahLst/>
            <a:cxnLst/>
            <a:rect l="l" t="t" r="r" b="b"/>
            <a:pathLst>
              <a:path w="1555750">
                <a:moveTo>
                  <a:pt x="0" y="0"/>
                </a:moveTo>
                <a:lnTo>
                  <a:pt x="1555242" y="0"/>
                </a:lnTo>
              </a:path>
            </a:pathLst>
          </a:custGeom>
          <a:ln w="23926">
            <a:solidFill>
              <a:srgbClr val="000000"/>
            </a:solidFill>
          </a:ln>
        </p:spPr>
        <p:txBody>
          <a:bodyPr wrap="square" lIns="0" tIns="0" rIns="0" bIns="0" rtlCol="0"/>
          <a:lstStyle/>
          <a:p>
            <a:endParaRPr/>
          </a:p>
        </p:txBody>
      </p:sp>
      <p:sp>
        <p:nvSpPr>
          <p:cNvPr id="110" name="Slide Number Placeholder 109"/>
          <p:cNvSpPr>
            <a:spLocks noGrp="1"/>
          </p:cNvSpPr>
          <p:nvPr>
            <p:ph type="sldNum" sz="quarter" idx="7"/>
          </p:nvPr>
        </p:nvSpPr>
        <p:spPr/>
        <p:txBody>
          <a:bodyPr/>
          <a:lstStyle/>
          <a:p>
            <a:pPr marL="12700">
              <a:lnSpc>
                <a:spcPts val="1645"/>
              </a:lnSpc>
            </a:pPr>
            <a:fld id="{81D60167-4931-47E6-BA6A-407CBD079E47}" type="slidenum">
              <a:rPr lang="en-US" spc="-5" smtClean="0"/>
              <a:t>36</a:t>
            </a:fld>
            <a:endParaRPr lang="en-US" spc="-5" dirty="0"/>
          </a:p>
        </p:txBody>
      </p:sp>
      <p:sp>
        <p:nvSpPr>
          <p:cNvPr id="117" name="object 7"/>
          <p:cNvSpPr txBox="1"/>
          <p:nvPr/>
        </p:nvSpPr>
        <p:spPr>
          <a:xfrm>
            <a:off x="5235947" y="5667665"/>
            <a:ext cx="563245" cy="271228"/>
          </a:xfrm>
          <a:prstGeom prst="rect">
            <a:avLst/>
          </a:prstGeom>
        </p:spPr>
        <p:txBody>
          <a:bodyPr vert="horz" wrap="square" lIns="0" tIns="17145" rIns="0" bIns="0" rtlCol="0">
            <a:spAutoFit/>
          </a:bodyPr>
          <a:lstStyle/>
          <a:p>
            <a:pPr marL="12700">
              <a:lnSpc>
                <a:spcPct val="100000"/>
              </a:lnSpc>
              <a:spcBef>
                <a:spcPts val="135"/>
              </a:spcBef>
            </a:pPr>
            <a:r>
              <a:rPr sz="1650" dirty="0">
                <a:latin typeface="Arial"/>
                <a:cs typeface="Arial"/>
              </a:rPr>
              <a:t>0,</a:t>
            </a:r>
            <a:r>
              <a:rPr sz="1650" i="1" dirty="0">
                <a:latin typeface="Arial"/>
                <a:cs typeface="Arial"/>
              </a:rPr>
              <a:t>0</a:t>
            </a:r>
            <a:r>
              <a:rPr lang="en-US" sz="1650" i="1" dirty="0">
                <a:latin typeface="Arial"/>
                <a:cs typeface="Arial"/>
              </a:rPr>
              <a:t>24</a:t>
            </a:r>
            <a:endParaRPr sz="1650" dirty="0">
              <a:latin typeface="Arial"/>
              <a:cs typeface="Arial"/>
            </a:endParaRPr>
          </a:p>
        </p:txBody>
      </p:sp>
      <p:sp>
        <p:nvSpPr>
          <p:cNvPr id="120" name="object 8"/>
          <p:cNvSpPr txBox="1"/>
          <p:nvPr/>
        </p:nvSpPr>
        <p:spPr>
          <a:xfrm>
            <a:off x="5186933" y="6000660"/>
            <a:ext cx="683895" cy="271228"/>
          </a:xfrm>
          <a:prstGeom prst="rect">
            <a:avLst/>
          </a:prstGeom>
        </p:spPr>
        <p:txBody>
          <a:bodyPr vert="horz" wrap="square" lIns="0" tIns="17145" rIns="0" bIns="0" rtlCol="0">
            <a:spAutoFit/>
          </a:bodyPr>
          <a:lstStyle/>
          <a:p>
            <a:pPr marL="12700">
              <a:lnSpc>
                <a:spcPct val="100000"/>
              </a:lnSpc>
              <a:spcBef>
                <a:spcPts val="135"/>
              </a:spcBef>
            </a:pPr>
            <a:r>
              <a:rPr sz="1650" i="1" dirty="0">
                <a:latin typeface="Arial"/>
                <a:cs typeface="Arial"/>
              </a:rPr>
              <a:t>30,008</a:t>
            </a:r>
            <a:endParaRPr sz="1650" dirty="0">
              <a:latin typeface="Arial"/>
              <a:cs typeface="Arial"/>
            </a:endParaRPr>
          </a:p>
        </p:txBody>
      </p:sp>
      <p:sp>
        <p:nvSpPr>
          <p:cNvPr id="122" name="object 9"/>
          <p:cNvSpPr/>
          <p:nvPr/>
        </p:nvSpPr>
        <p:spPr>
          <a:xfrm>
            <a:off x="5268968" y="5978991"/>
            <a:ext cx="497205" cy="0"/>
          </a:xfrm>
          <a:custGeom>
            <a:avLst/>
            <a:gdLst/>
            <a:ahLst/>
            <a:cxnLst/>
            <a:rect l="l" t="t" r="r" b="b"/>
            <a:pathLst>
              <a:path w="497204">
                <a:moveTo>
                  <a:pt x="0" y="0"/>
                </a:moveTo>
                <a:lnTo>
                  <a:pt x="496823" y="0"/>
                </a:lnTo>
              </a:path>
            </a:pathLst>
          </a:custGeom>
          <a:ln w="24320">
            <a:solidFill>
              <a:srgbClr val="000000"/>
            </a:solidFill>
          </a:ln>
        </p:spPr>
        <p:txBody>
          <a:bodyPr wrap="square" lIns="0" tIns="0" rIns="0" bIns="0" rtlCol="0"/>
          <a:lstStyle/>
          <a:p>
            <a:endParaRPr/>
          </a:p>
        </p:txBody>
      </p:sp>
      <p:sp>
        <p:nvSpPr>
          <p:cNvPr id="123" name="object 10"/>
          <p:cNvSpPr txBox="1"/>
          <p:nvPr/>
        </p:nvSpPr>
        <p:spPr>
          <a:xfrm>
            <a:off x="6193282" y="5872578"/>
            <a:ext cx="1221105" cy="368300"/>
          </a:xfrm>
          <a:prstGeom prst="rect">
            <a:avLst/>
          </a:prstGeom>
        </p:spPr>
        <p:txBody>
          <a:bodyPr vert="horz" wrap="square" lIns="0" tIns="12065" rIns="0" bIns="0" rtlCol="0">
            <a:spAutoFit/>
          </a:bodyPr>
          <a:lstStyle/>
          <a:p>
            <a:pPr marL="12700">
              <a:lnSpc>
                <a:spcPct val="100000"/>
              </a:lnSpc>
              <a:spcBef>
                <a:spcPts val="95"/>
              </a:spcBef>
            </a:pPr>
            <a:r>
              <a:rPr sz="2250" i="1" dirty="0">
                <a:latin typeface="Arial"/>
                <a:cs typeface="Arial"/>
              </a:rPr>
              <a:t>0,000</a:t>
            </a:r>
            <a:r>
              <a:rPr lang="en-US" sz="2250" i="1" dirty="0">
                <a:latin typeface="Arial"/>
                <a:cs typeface="Arial"/>
              </a:rPr>
              <a:t>801</a:t>
            </a:r>
            <a:endParaRPr sz="2250" dirty="0">
              <a:latin typeface="Arial"/>
              <a:cs typeface="Arial"/>
            </a:endParaRPr>
          </a:p>
        </p:txBody>
      </p:sp>
      <p:sp>
        <p:nvSpPr>
          <p:cNvPr id="124" name="object 113"/>
          <p:cNvSpPr txBox="1"/>
          <p:nvPr/>
        </p:nvSpPr>
        <p:spPr>
          <a:xfrm>
            <a:off x="5007100" y="5796398"/>
            <a:ext cx="173990" cy="341630"/>
          </a:xfrm>
          <a:prstGeom prst="rect">
            <a:avLst/>
          </a:prstGeom>
        </p:spPr>
        <p:txBody>
          <a:bodyPr vert="horz" wrap="square" lIns="0" tIns="15240" rIns="0" bIns="0" rtlCol="0">
            <a:spAutoFit/>
          </a:bodyPr>
          <a:lstStyle/>
          <a:p>
            <a:pPr marL="12700">
              <a:lnSpc>
                <a:spcPct val="100000"/>
              </a:lnSpc>
              <a:spcBef>
                <a:spcPts val="120"/>
              </a:spcBef>
            </a:pPr>
            <a:r>
              <a:rPr lang="en-US" sz="2050" spc="10" dirty="0">
                <a:latin typeface="Times New Roman"/>
                <a:cs typeface="Times New Roman"/>
                <a:sym typeface="Symbol" panose="05050102010706020507" pitchFamily="18" charset="2"/>
              </a:rPr>
              <a:t></a:t>
            </a:r>
            <a:endParaRPr sz="2050" dirty="0">
              <a:latin typeface="Times New Roman"/>
              <a:cs typeface="Times New Roman"/>
            </a:endParaRPr>
          </a:p>
        </p:txBody>
      </p:sp>
      <p:sp>
        <p:nvSpPr>
          <p:cNvPr id="126" name="object 113"/>
          <p:cNvSpPr txBox="1"/>
          <p:nvPr/>
        </p:nvSpPr>
        <p:spPr>
          <a:xfrm>
            <a:off x="5908089" y="5772103"/>
            <a:ext cx="173990" cy="341630"/>
          </a:xfrm>
          <a:prstGeom prst="rect">
            <a:avLst/>
          </a:prstGeom>
        </p:spPr>
        <p:txBody>
          <a:bodyPr vert="horz" wrap="square" lIns="0" tIns="15240" rIns="0" bIns="0" rtlCol="0">
            <a:spAutoFit/>
          </a:bodyPr>
          <a:lstStyle/>
          <a:p>
            <a:pPr marL="12700">
              <a:lnSpc>
                <a:spcPct val="100000"/>
              </a:lnSpc>
              <a:spcBef>
                <a:spcPts val="120"/>
              </a:spcBef>
            </a:pPr>
            <a:r>
              <a:rPr lang="en-US" sz="2050" spc="10" dirty="0">
                <a:latin typeface="Times New Roman"/>
                <a:cs typeface="Times New Roman"/>
                <a:sym typeface="Symbol" panose="05050102010706020507" pitchFamily="18" charset="2"/>
              </a:rPr>
              <a:t></a:t>
            </a:r>
            <a:endParaRPr sz="205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753872"/>
            <a:ext cx="4603750" cy="635635"/>
          </a:xfrm>
          <a:prstGeom prst="rect">
            <a:avLst/>
          </a:prstGeom>
        </p:spPr>
        <p:txBody>
          <a:bodyPr vert="horz" wrap="square" lIns="0" tIns="12700" rIns="0" bIns="0" rtlCol="0">
            <a:spAutoFit/>
          </a:bodyPr>
          <a:lstStyle/>
          <a:p>
            <a:pPr marL="12700">
              <a:lnSpc>
                <a:spcPct val="100000"/>
              </a:lnSpc>
              <a:spcBef>
                <a:spcPts val="100"/>
              </a:spcBef>
            </a:pPr>
            <a:r>
              <a:rPr sz="4000" dirty="0"/>
              <a:t>Go-Back-N: </a:t>
            </a:r>
            <a:r>
              <a:rPr sz="4000" spc="-5" dirty="0"/>
              <a:t>Bên</a:t>
            </a:r>
            <a:r>
              <a:rPr sz="4000" spc="-75" dirty="0"/>
              <a:t> </a:t>
            </a:r>
            <a:r>
              <a:rPr sz="4000" spc="-5" dirty="0"/>
              <a:t>gửi</a:t>
            </a:r>
            <a:endParaRPr sz="4000"/>
          </a:p>
        </p:txBody>
      </p:sp>
      <p:sp>
        <p:nvSpPr>
          <p:cNvPr id="3" name="object 3"/>
          <p:cNvSpPr txBox="1"/>
          <p:nvPr/>
        </p:nvSpPr>
        <p:spPr>
          <a:xfrm>
            <a:off x="1069339" y="1733499"/>
            <a:ext cx="8464550" cy="385362"/>
          </a:xfrm>
          <a:prstGeom prst="rect">
            <a:avLst/>
          </a:prstGeom>
        </p:spPr>
        <p:txBody>
          <a:bodyPr vert="horz" wrap="square" lIns="0" tIns="76835" rIns="0" bIns="0" rtlCol="0">
            <a:spAutoFit/>
          </a:bodyPr>
          <a:lstStyle/>
          <a:p>
            <a:pPr marL="355600" indent="-342900">
              <a:lnSpc>
                <a:spcPct val="100000"/>
              </a:lnSpc>
              <a:spcBef>
                <a:spcPts val="500"/>
              </a:spcBef>
              <a:buClr>
                <a:srgbClr val="3333CC"/>
              </a:buClr>
              <a:buSzPct val="85000"/>
              <a:buFont typeface="Wingdings"/>
              <a:buChar char=""/>
              <a:tabLst>
                <a:tab pos="354965" algn="l"/>
                <a:tab pos="355600" algn="l"/>
              </a:tabLst>
            </a:pPr>
            <a:r>
              <a:rPr sz="2000" spc="75" dirty="0">
                <a:latin typeface="Arial"/>
                <a:cs typeface="Arial"/>
              </a:rPr>
              <a:t>“window” </a:t>
            </a:r>
            <a:r>
              <a:rPr sz="2000" spc="-5" dirty="0">
                <a:latin typeface="Arial"/>
                <a:cs typeface="Arial"/>
              </a:rPr>
              <a:t>kích </a:t>
            </a:r>
            <a:r>
              <a:rPr sz="2000" spc="-5" dirty="0" err="1">
                <a:latin typeface="Arial"/>
                <a:cs typeface="Arial"/>
              </a:rPr>
              <a:t>thước</a:t>
            </a:r>
            <a:r>
              <a:rPr sz="2000" spc="-5">
                <a:latin typeface="Arial"/>
                <a:cs typeface="Arial"/>
              </a:rPr>
              <a:t> N</a:t>
            </a:r>
            <a:r>
              <a:rPr lang="en-US" sz="2000" spc="-5">
                <a:latin typeface="Arial"/>
                <a:cs typeface="Arial"/>
              </a:rPr>
              <a:t>: </a:t>
            </a:r>
            <a:r>
              <a:rPr lang="en-US" sz="2000" spc="-5" dirty="0" err="1">
                <a:latin typeface="Arial"/>
                <a:cs typeface="Arial"/>
              </a:rPr>
              <a:t>có</a:t>
            </a:r>
            <a:r>
              <a:rPr lang="en-US" sz="2000" spc="-5" dirty="0">
                <a:latin typeface="Arial"/>
                <a:cs typeface="Arial"/>
              </a:rPr>
              <a:t> </a:t>
            </a:r>
            <a:r>
              <a:rPr lang="en-US" sz="2000" spc="-5" dirty="0" err="1">
                <a:latin typeface="Arial"/>
                <a:cs typeface="Arial"/>
              </a:rPr>
              <a:t>thể</a:t>
            </a:r>
            <a:r>
              <a:rPr lang="en-US" sz="2000" spc="-5" dirty="0">
                <a:latin typeface="Arial"/>
                <a:cs typeface="Arial"/>
              </a:rPr>
              <a:t> </a:t>
            </a:r>
            <a:r>
              <a:rPr lang="en-US" sz="2000" spc="-5" dirty="0" err="1">
                <a:latin typeface="Arial"/>
                <a:cs typeface="Arial"/>
              </a:rPr>
              <a:t>gửi</a:t>
            </a:r>
            <a:r>
              <a:rPr lang="en-US" sz="2000" spc="-5" dirty="0">
                <a:latin typeface="Arial"/>
                <a:cs typeface="Arial"/>
              </a:rPr>
              <a:t> N </a:t>
            </a:r>
            <a:r>
              <a:rPr sz="2000" spc="-5" dirty="0" err="1">
                <a:latin typeface="Arial"/>
                <a:cs typeface="Arial"/>
              </a:rPr>
              <a:t>gói</a:t>
            </a:r>
            <a:r>
              <a:rPr sz="2000" spc="-5" dirty="0">
                <a:latin typeface="Arial"/>
                <a:cs typeface="Arial"/>
              </a:rPr>
              <a:t> tin liên tục chưa được</a:t>
            </a:r>
            <a:r>
              <a:rPr sz="2000" spc="-30" dirty="0">
                <a:latin typeface="Arial"/>
                <a:cs typeface="Arial"/>
              </a:rPr>
              <a:t> </a:t>
            </a:r>
            <a:r>
              <a:rPr sz="2000" spc="-5" dirty="0">
                <a:latin typeface="Arial"/>
                <a:cs typeface="Arial"/>
              </a:rPr>
              <a:t>ack</a:t>
            </a:r>
            <a:endParaRPr sz="2000" dirty="0">
              <a:latin typeface="Arial"/>
              <a:cs typeface="Arial"/>
            </a:endParaRPr>
          </a:p>
        </p:txBody>
      </p:sp>
      <p:sp>
        <p:nvSpPr>
          <p:cNvPr id="4" name="object 4"/>
          <p:cNvSpPr/>
          <p:nvPr/>
        </p:nvSpPr>
        <p:spPr>
          <a:xfrm>
            <a:off x="1184910" y="2750185"/>
            <a:ext cx="8099297" cy="1630679"/>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012189" y="4576111"/>
            <a:ext cx="8272018" cy="2478884"/>
          </a:xfrm>
          <a:prstGeom prst="rect">
            <a:avLst/>
          </a:prstGeom>
        </p:spPr>
        <p:txBody>
          <a:bodyPr vert="horz" wrap="square" lIns="0" tIns="13970" rIns="0" bIns="0" rtlCol="0">
            <a:spAutoFit/>
          </a:bodyPr>
          <a:lstStyle/>
          <a:p>
            <a:pPr marL="355600" indent="-342900">
              <a:lnSpc>
                <a:spcPct val="100000"/>
              </a:lnSpc>
              <a:spcBef>
                <a:spcPts val="110"/>
              </a:spcBef>
              <a:buClr>
                <a:srgbClr val="00009A"/>
              </a:buClr>
              <a:buSzPct val="85000"/>
              <a:buFont typeface="Wingdings"/>
              <a:buChar char=""/>
              <a:tabLst>
                <a:tab pos="354965" algn="l"/>
                <a:tab pos="355600" algn="l"/>
              </a:tabLst>
            </a:pPr>
            <a:r>
              <a:rPr lang="en-US" sz="2000" spc="-10" dirty="0" err="1">
                <a:latin typeface="Arial"/>
                <a:cs typeface="Arial"/>
              </a:rPr>
              <a:t>Chỉ</a:t>
            </a:r>
            <a:r>
              <a:rPr lang="en-US" sz="2000" spc="-10" dirty="0">
                <a:latin typeface="Arial"/>
                <a:cs typeface="Arial"/>
              </a:rPr>
              <a:t> </a:t>
            </a:r>
            <a:r>
              <a:rPr lang="en-US" sz="2000" spc="-10" dirty="0" err="1">
                <a:latin typeface="Arial"/>
                <a:cs typeface="Arial"/>
              </a:rPr>
              <a:t>gửi</a:t>
            </a:r>
            <a:r>
              <a:rPr lang="en-US" sz="2000" spc="-10" dirty="0">
                <a:latin typeface="Arial"/>
                <a:cs typeface="Arial"/>
              </a:rPr>
              <a:t> </a:t>
            </a:r>
            <a:r>
              <a:rPr lang="en-US" sz="2000" spc="-10" dirty="0" err="1">
                <a:latin typeface="Arial"/>
                <a:cs typeface="Arial"/>
              </a:rPr>
              <a:t>các</a:t>
            </a:r>
            <a:r>
              <a:rPr lang="en-US" sz="2000" spc="-10" dirty="0">
                <a:latin typeface="Arial"/>
                <a:cs typeface="Arial"/>
              </a:rPr>
              <a:t> </a:t>
            </a:r>
            <a:r>
              <a:rPr lang="en-US" sz="2000" spc="-10" dirty="0" err="1">
                <a:latin typeface="Arial"/>
                <a:cs typeface="Arial"/>
              </a:rPr>
              <a:t>gói</a:t>
            </a:r>
            <a:r>
              <a:rPr lang="en-US" sz="2000" spc="-10" dirty="0">
                <a:latin typeface="Arial"/>
                <a:cs typeface="Arial"/>
              </a:rPr>
              <a:t> </a:t>
            </a:r>
            <a:r>
              <a:rPr lang="en-US" sz="2000" spc="-10" dirty="0" err="1">
                <a:latin typeface="Arial"/>
                <a:cs typeface="Arial"/>
              </a:rPr>
              <a:t>có</a:t>
            </a:r>
            <a:r>
              <a:rPr lang="en-US" sz="2000" spc="-10" dirty="0">
                <a:latin typeface="Arial"/>
                <a:cs typeface="Arial"/>
              </a:rPr>
              <a:t> </a:t>
            </a:r>
            <a:r>
              <a:rPr lang="en-US" sz="2000" spc="-10" dirty="0" err="1">
                <a:latin typeface="Arial"/>
                <a:cs typeface="Arial"/>
              </a:rPr>
              <a:t>số</a:t>
            </a:r>
            <a:r>
              <a:rPr lang="en-US" sz="2000" spc="-10" dirty="0">
                <a:latin typeface="Arial"/>
                <a:cs typeface="Arial"/>
              </a:rPr>
              <a:t> </a:t>
            </a:r>
            <a:r>
              <a:rPr lang="en-US" sz="2000" spc="-10" dirty="0" err="1">
                <a:latin typeface="Arial"/>
                <a:cs typeface="Arial"/>
              </a:rPr>
              <a:t>hiệu</a:t>
            </a:r>
            <a:r>
              <a:rPr lang="en-US" sz="2000" spc="-10" dirty="0">
                <a:latin typeface="Arial"/>
                <a:cs typeface="Arial"/>
              </a:rPr>
              <a:t> </a:t>
            </a:r>
            <a:r>
              <a:rPr lang="en-US" sz="2000" spc="-10" dirty="0" err="1">
                <a:latin typeface="Arial"/>
                <a:cs typeface="Arial"/>
              </a:rPr>
              <a:t>trong</a:t>
            </a:r>
            <a:r>
              <a:rPr lang="en-US" sz="2000" spc="-10" dirty="0">
                <a:latin typeface="Arial"/>
                <a:cs typeface="Arial"/>
              </a:rPr>
              <a:t> </a:t>
            </a:r>
            <a:r>
              <a:rPr lang="en-US" sz="2000" spc="-10" dirty="0" err="1">
                <a:latin typeface="Arial"/>
                <a:cs typeface="Arial"/>
              </a:rPr>
              <a:t>cửa</a:t>
            </a:r>
            <a:r>
              <a:rPr lang="en-US" sz="2000" spc="-10" dirty="0">
                <a:latin typeface="Arial"/>
                <a:cs typeface="Arial"/>
              </a:rPr>
              <a:t> </a:t>
            </a:r>
            <a:r>
              <a:rPr lang="en-US" sz="2000" spc="-10" dirty="0" err="1">
                <a:latin typeface="Arial"/>
                <a:cs typeface="Arial"/>
              </a:rPr>
              <a:t>sổ</a:t>
            </a:r>
            <a:r>
              <a:rPr lang="en-US" sz="2000" spc="-10" dirty="0">
                <a:latin typeface="Arial"/>
                <a:cs typeface="Arial"/>
              </a:rPr>
              <a:t> (</a:t>
            </a:r>
            <a:r>
              <a:rPr lang="en-US" sz="2000" spc="-10" dirty="0" err="1">
                <a:latin typeface="Arial"/>
                <a:cs typeface="Arial"/>
              </a:rPr>
              <a:t>gói</a:t>
            </a:r>
            <a:r>
              <a:rPr lang="en-US" sz="2000" spc="-10" dirty="0">
                <a:latin typeface="Arial"/>
                <a:cs typeface="Arial"/>
              </a:rPr>
              <a:t> 0 </a:t>
            </a:r>
            <a:r>
              <a:rPr lang="en-US" sz="2000" spc="-10" dirty="0" err="1">
                <a:latin typeface="Arial"/>
                <a:cs typeface="Arial"/>
              </a:rPr>
              <a:t>đến</a:t>
            </a:r>
            <a:r>
              <a:rPr lang="en-US" sz="2000" spc="-10" dirty="0">
                <a:latin typeface="Arial"/>
                <a:cs typeface="Arial"/>
              </a:rPr>
              <a:t> </a:t>
            </a:r>
            <a:r>
              <a:rPr lang="en-US" sz="2000" spc="-10" dirty="0" err="1">
                <a:latin typeface="Arial"/>
                <a:cs typeface="Arial"/>
              </a:rPr>
              <a:t>gói</a:t>
            </a:r>
            <a:r>
              <a:rPr lang="en-US" sz="2000" spc="-10" dirty="0">
                <a:latin typeface="Arial"/>
                <a:cs typeface="Arial"/>
              </a:rPr>
              <a:t> N-1), </a:t>
            </a:r>
            <a:r>
              <a:rPr lang="en-US" sz="2000" spc="-10" dirty="0" err="1">
                <a:latin typeface="Arial"/>
                <a:cs typeface="Arial"/>
              </a:rPr>
              <a:t>sau</a:t>
            </a:r>
            <a:r>
              <a:rPr lang="en-US" sz="2000" spc="-10" dirty="0">
                <a:latin typeface="Arial"/>
                <a:cs typeface="Arial"/>
              </a:rPr>
              <a:t> </a:t>
            </a:r>
            <a:r>
              <a:rPr lang="en-US" sz="2000" spc="-10" dirty="0" err="1">
                <a:latin typeface="Arial"/>
                <a:cs typeface="Arial"/>
              </a:rPr>
              <a:t>đó</a:t>
            </a:r>
            <a:r>
              <a:rPr lang="en-US" sz="2000" spc="-10" dirty="0">
                <a:latin typeface="Arial"/>
                <a:cs typeface="Arial"/>
              </a:rPr>
              <a:t> </a:t>
            </a:r>
            <a:r>
              <a:rPr lang="en-US" sz="2000" spc="-10" dirty="0" err="1">
                <a:latin typeface="Arial"/>
                <a:cs typeface="Arial"/>
              </a:rPr>
              <a:t>đợi</a:t>
            </a:r>
            <a:r>
              <a:rPr lang="en-US" sz="2000" spc="-10" dirty="0">
                <a:latin typeface="Arial"/>
                <a:cs typeface="Arial"/>
              </a:rPr>
              <a:t> </a:t>
            </a:r>
            <a:r>
              <a:rPr lang="en-US" sz="2000" spc="-10" dirty="0" err="1">
                <a:latin typeface="Arial"/>
                <a:cs typeface="Arial"/>
              </a:rPr>
              <a:t>xác</a:t>
            </a:r>
            <a:r>
              <a:rPr lang="en-US" sz="2000" spc="-10" dirty="0">
                <a:latin typeface="Arial"/>
                <a:cs typeface="Arial"/>
              </a:rPr>
              <a:t> </a:t>
            </a:r>
            <a:r>
              <a:rPr lang="en-US" sz="2000" spc="-10" dirty="0" err="1">
                <a:latin typeface="Arial"/>
                <a:cs typeface="Arial"/>
              </a:rPr>
              <a:t>nhận</a:t>
            </a:r>
            <a:r>
              <a:rPr lang="en-US" sz="2000" spc="-10" dirty="0">
                <a:latin typeface="Arial"/>
                <a:cs typeface="Arial"/>
              </a:rPr>
              <a:t> </a:t>
            </a:r>
            <a:r>
              <a:rPr lang="en-US" sz="2000" spc="-10" dirty="0" err="1">
                <a:latin typeface="Arial"/>
                <a:cs typeface="Arial"/>
              </a:rPr>
              <a:t>cho</a:t>
            </a:r>
            <a:r>
              <a:rPr lang="en-US" sz="2000" spc="-10" dirty="0">
                <a:latin typeface="Arial"/>
                <a:cs typeface="Arial"/>
              </a:rPr>
              <a:t> </a:t>
            </a:r>
            <a:r>
              <a:rPr lang="en-US" sz="2000" spc="-10" dirty="0" err="1">
                <a:latin typeface="Arial"/>
                <a:cs typeface="Arial"/>
              </a:rPr>
              <a:t>các</a:t>
            </a:r>
            <a:r>
              <a:rPr lang="en-US" sz="2000" spc="-10" dirty="0">
                <a:latin typeface="Arial"/>
                <a:cs typeface="Arial"/>
              </a:rPr>
              <a:t> </a:t>
            </a:r>
            <a:r>
              <a:rPr lang="en-US" sz="2000" spc="-10" dirty="0" err="1">
                <a:latin typeface="Arial"/>
                <a:cs typeface="Arial"/>
              </a:rPr>
              <a:t>gói</a:t>
            </a:r>
            <a:r>
              <a:rPr lang="en-US" sz="2000" spc="-10" dirty="0">
                <a:latin typeface="Arial"/>
                <a:cs typeface="Arial"/>
              </a:rPr>
              <a:t> tin </a:t>
            </a:r>
            <a:r>
              <a:rPr lang="en-US" sz="2000" spc="-10" dirty="0" err="1">
                <a:latin typeface="Arial"/>
                <a:cs typeface="Arial"/>
              </a:rPr>
              <a:t>này</a:t>
            </a:r>
            <a:r>
              <a:rPr lang="en-US" sz="2000" spc="-10" dirty="0">
                <a:latin typeface="Arial"/>
                <a:cs typeface="Arial"/>
              </a:rPr>
              <a:t> </a:t>
            </a:r>
            <a:r>
              <a:rPr lang="en-US" sz="2000" spc="-10" dirty="0" err="1">
                <a:latin typeface="Arial"/>
                <a:cs typeface="Arial"/>
              </a:rPr>
              <a:t>trước</a:t>
            </a:r>
            <a:r>
              <a:rPr lang="en-US" sz="2000" spc="-10" dirty="0">
                <a:latin typeface="Arial"/>
                <a:cs typeface="Arial"/>
              </a:rPr>
              <a:t> </a:t>
            </a:r>
            <a:r>
              <a:rPr lang="en-US" sz="2000" spc="-10" dirty="0" err="1">
                <a:latin typeface="Arial"/>
                <a:cs typeface="Arial"/>
              </a:rPr>
              <a:t>khi</a:t>
            </a:r>
            <a:r>
              <a:rPr lang="en-US" sz="2000" spc="-10" dirty="0">
                <a:latin typeface="Arial"/>
                <a:cs typeface="Arial"/>
              </a:rPr>
              <a:t> </a:t>
            </a:r>
            <a:r>
              <a:rPr lang="en-US" sz="2000" spc="-10" dirty="0" err="1">
                <a:latin typeface="Arial"/>
                <a:cs typeface="Arial"/>
              </a:rPr>
              <a:t>tiếp</a:t>
            </a:r>
            <a:r>
              <a:rPr lang="en-US" sz="2000" spc="-10" dirty="0">
                <a:latin typeface="Arial"/>
                <a:cs typeface="Arial"/>
              </a:rPr>
              <a:t> </a:t>
            </a:r>
            <a:r>
              <a:rPr lang="en-US" sz="2000" spc="-10" dirty="0" err="1">
                <a:latin typeface="Arial"/>
                <a:cs typeface="Arial"/>
              </a:rPr>
              <a:t>tục</a:t>
            </a:r>
            <a:r>
              <a:rPr lang="en-US" sz="2000" spc="-10" dirty="0">
                <a:latin typeface="Arial"/>
                <a:cs typeface="Arial"/>
              </a:rPr>
              <a:t> </a:t>
            </a:r>
            <a:r>
              <a:rPr lang="en-US" sz="2000" spc="-10" dirty="0" err="1">
                <a:latin typeface="Arial"/>
                <a:cs typeface="Arial"/>
              </a:rPr>
              <a:t>gửi</a:t>
            </a:r>
            <a:r>
              <a:rPr lang="en-US" sz="2000" spc="-10" dirty="0">
                <a:latin typeface="Arial"/>
                <a:cs typeface="Arial"/>
              </a:rPr>
              <a:t> </a:t>
            </a:r>
            <a:r>
              <a:rPr lang="en-US" sz="2000" spc="-10" dirty="0" err="1">
                <a:latin typeface="Arial"/>
                <a:cs typeface="Arial"/>
              </a:rPr>
              <a:t>gói</a:t>
            </a:r>
            <a:r>
              <a:rPr lang="en-US" sz="2000" spc="-10" dirty="0">
                <a:latin typeface="Arial"/>
                <a:cs typeface="Arial"/>
              </a:rPr>
              <a:t>, </a:t>
            </a:r>
            <a:r>
              <a:rPr lang="en-US" sz="2000" spc="-10" dirty="0" err="1">
                <a:latin typeface="Arial"/>
                <a:cs typeface="Arial"/>
              </a:rPr>
              <a:t>cửa</a:t>
            </a:r>
            <a:r>
              <a:rPr lang="en-US" sz="2000" spc="-10" dirty="0">
                <a:latin typeface="Arial"/>
                <a:cs typeface="Arial"/>
              </a:rPr>
              <a:t> </a:t>
            </a:r>
            <a:r>
              <a:rPr lang="en-US" sz="2000" spc="-10" dirty="0" err="1">
                <a:latin typeface="Arial"/>
                <a:cs typeface="Arial"/>
              </a:rPr>
              <a:t>sổ</a:t>
            </a:r>
            <a:r>
              <a:rPr lang="en-US" sz="2000" spc="-10" dirty="0">
                <a:latin typeface="Arial"/>
                <a:cs typeface="Arial"/>
              </a:rPr>
              <a:t> “</a:t>
            </a:r>
            <a:r>
              <a:rPr lang="en-US" sz="2000" spc="-10" dirty="0" err="1">
                <a:latin typeface="Arial"/>
                <a:cs typeface="Arial"/>
              </a:rPr>
              <a:t>dịch</a:t>
            </a:r>
            <a:r>
              <a:rPr lang="en-US" sz="2000" spc="-10" dirty="0">
                <a:latin typeface="Arial"/>
                <a:cs typeface="Arial"/>
              </a:rPr>
              <a:t>” sang </a:t>
            </a:r>
            <a:r>
              <a:rPr lang="en-US" sz="2000" spc="-10" dirty="0" err="1">
                <a:latin typeface="Arial"/>
                <a:cs typeface="Arial"/>
              </a:rPr>
              <a:t>phải</a:t>
            </a:r>
            <a:r>
              <a:rPr lang="en-US" sz="2000" spc="-10" dirty="0">
                <a:latin typeface="Arial"/>
                <a:cs typeface="Arial"/>
              </a:rPr>
              <a:t> </a:t>
            </a:r>
            <a:r>
              <a:rPr lang="en-US" sz="2000" spc="-10" dirty="0" err="1">
                <a:latin typeface="Arial"/>
                <a:cs typeface="Arial"/>
              </a:rPr>
              <a:t>mỗi</a:t>
            </a:r>
            <a:r>
              <a:rPr lang="en-US" sz="2000" spc="-10" dirty="0">
                <a:latin typeface="Arial"/>
                <a:cs typeface="Arial"/>
              </a:rPr>
              <a:t> </a:t>
            </a:r>
            <a:r>
              <a:rPr lang="en-US" sz="2000" spc="-10" dirty="0" err="1">
                <a:latin typeface="Arial"/>
                <a:cs typeface="Arial"/>
              </a:rPr>
              <a:t>khi</a:t>
            </a:r>
            <a:r>
              <a:rPr lang="en-US" sz="2000" spc="-10" dirty="0">
                <a:latin typeface="Arial"/>
                <a:cs typeface="Arial"/>
              </a:rPr>
              <a:t> </a:t>
            </a:r>
            <a:r>
              <a:rPr lang="en-US" sz="2000" spc="-10" dirty="0" err="1">
                <a:latin typeface="Arial"/>
                <a:cs typeface="Arial"/>
              </a:rPr>
              <a:t>nhận</a:t>
            </a:r>
            <a:r>
              <a:rPr lang="en-US" sz="2000" spc="-10" dirty="0">
                <a:latin typeface="Arial"/>
                <a:cs typeface="Arial"/>
              </a:rPr>
              <a:t> </a:t>
            </a:r>
            <a:r>
              <a:rPr lang="en-US" sz="2000" spc="-10" dirty="0" err="1">
                <a:latin typeface="Arial"/>
                <a:cs typeface="Arial"/>
              </a:rPr>
              <a:t>được</a:t>
            </a:r>
            <a:r>
              <a:rPr lang="en-US" sz="2000" spc="-10" dirty="0">
                <a:latin typeface="Arial"/>
                <a:cs typeface="Arial"/>
              </a:rPr>
              <a:t> ACK</a:t>
            </a:r>
          </a:p>
          <a:p>
            <a:pPr marL="355600" indent="-342900">
              <a:lnSpc>
                <a:spcPct val="100000"/>
              </a:lnSpc>
              <a:spcBef>
                <a:spcPts val="110"/>
              </a:spcBef>
              <a:buClr>
                <a:srgbClr val="00009A"/>
              </a:buClr>
              <a:buSzPct val="85000"/>
              <a:buFont typeface="Wingdings"/>
              <a:buChar char=""/>
              <a:tabLst>
                <a:tab pos="354965" algn="l"/>
                <a:tab pos="355600" algn="l"/>
              </a:tabLst>
            </a:pPr>
            <a:r>
              <a:rPr sz="2000" spc="-10" dirty="0">
                <a:latin typeface="Arial"/>
                <a:cs typeface="Arial"/>
              </a:rPr>
              <a:t>ACK(</a:t>
            </a:r>
            <a:r>
              <a:rPr sz="2000" i="1" spc="-10" dirty="0">
                <a:solidFill>
                  <a:srgbClr val="FF0000"/>
                </a:solidFill>
                <a:latin typeface="Arial"/>
                <a:cs typeface="Arial"/>
              </a:rPr>
              <a:t>n</a:t>
            </a:r>
            <a:r>
              <a:rPr sz="2000" spc="-10" dirty="0">
                <a:latin typeface="Arial"/>
                <a:cs typeface="Arial"/>
              </a:rPr>
              <a:t>): </a:t>
            </a:r>
            <a:r>
              <a:rPr lang="en-US" sz="2000" spc="-5" dirty="0" err="1">
                <a:latin typeface="Arial"/>
                <a:cs typeface="Arial"/>
              </a:rPr>
              <a:t>xác</a:t>
            </a:r>
            <a:r>
              <a:rPr lang="en-US" sz="2000" spc="-5" dirty="0">
                <a:latin typeface="Arial"/>
                <a:cs typeface="Arial"/>
              </a:rPr>
              <a:t> </a:t>
            </a:r>
            <a:r>
              <a:rPr lang="en-US" sz="2000" spc="-5" dirty="0" err="1">
                <a:latin typeface="Arial"/>
                <a:cs typeface="Arial"/>
              </a:rPr>
              <a:t>nhận</a:t>
            </a:r>
            <a:r>
              <a:rPr sz="2000" spc="-5" dirty="0">
                <a:latin typeface="Arial"/>
                <a:cs typeface="Arial"/>
              </a:rPr>
              <a:t> tất cả các </a:t>
            </a:r>
            <a:r>
              <a:rPr sz="2000" spc="-5" dirty="0" err="1">
                <a:latin typeface="Arial"/>
                <a:cs typeface="Arial"/>
              </a:rPr>
              <a:t>gói</a:t>
            </a:r>
            <a:r>
              <a:rPr sz="2000" spc="-5" dirty="0">
                <a:latin typeface="Arial"/>
                <a:cs typeface="Arial"/>
              </a:rPr>
              <a:t> tin </a:t>
            </a:r>
            <a:r>
              <a:rPr lang="en-US" sz="2000" spc="-5" dirty="0" err="1">
                <a:latin typeface="Arial"/>
                <a:cs typeface="Arial"/>
              </a:rPr>
              <a:t>tới</a:t>
            </a:r>
            <a:r>
              <a:rPr lang="en-US" sz="2000" spc="-5" dirty="0">
                <a:latin typeface="Arial"/>
                <a:cs typeface="Arial"/>
              </a:rPr>
              <a:t> </a:t>
            </a:r>
            <a:r>
              <a:rPr lang="en-US" sz="2000" spc="-5" dirty="0" err="1">
                <a:latin typeface="Arial"/>
                <a:cs typeface="Arial"/>
              </a:rPr>
              <a:t>số</a:t>
            </a:r>
            <a:r>
              <a:rPr lang="en-US" sz="2000" spc="-5" dirty="0">
                <a:latin typeface="Arial"/>
                <a:cs typeface="Arial"/>
              </a:rPr>
              <a:t> </a:t>
            </a:r>
            <a:r>
              <a:rPr lang="en-US" sz="2000" spc="-5" dirty="0" err="1">
                <a:latin typeface="Arial"/>
                <a:cs typeface="Arial"/>
              </a:rPr>
              <a:t>trình</a:t>
            </a:r>
            <a:r>
              <a:rPr lang="en-US" sz="2000" spc="-5" dirty="0">
                <a:latin typeface="Arial"/>
                <a:cs typeface="Arial"/>
              </a:rPr>
              <a:t> </a:t>
            </a:r>
            <a:r>
              <a:rPr lang="en-US" sz="2000" spc="-5" dirty="0" err="1">
                <a:latin typeface="Arial"/>
                <a:cs typeface="Arial"/>
              </a:rPr>
              <a:t>tự</a:t>
            </a:r>
            <a:r>
              <a:rPr lang="en-US" sz="2000" spc="-5" dirty="0">
                <a:latin typeface="Arial"/>
                <a:cs typeface="Arial"/>
              </a:rPr>
              <a:t> </a:t>
            </a:r>
            <a:r>
              <a:rPr sz="2000" i="1" spc="-5" dirty="0">
                <a:solidFill>
                  <a:srgbClr val="FF0000"/>
                </a:solidFill>
                <a:latin typeface="Arial"/>
                <a:cs typeface="Arial"/>
              </a:rPr>
              <a:t>n</a:t>
            </a:r>
            <a:r>
              <a:rPr lang="en-US" sz="2000" spc="-5" dirty="0">
                <a:latin typeface="Arial"/>
                <a:cs typeface="Arial"/>
              </a:rPr>
              <a:t> </a:t>
            </a:r>
            <a:r>
              <a:rPr lang="en-US" sz="2000" spc="-5" dirty="0" err="1">
                <a:latin typeface="Arial"/>
                <a:cs typeface="Arial"/>
              </a:rPr>
              <a:t>đã</a:t>
            </a:r>
            <a:r>
              <a:rPr lang="en-US" sz="2000" spc="-5" dirty="0">
                <a:latin typeface="Arial"/>
                <a:cs typeface="Arial"/>
              </a:rPr>
              <a:t> </a:t>
            </a:r>
            <a:r>
              <a:rPr lang="en-US" sz="2000" spc="-5" dirty="0" err="1">
                <a:latin typeface="Arial"/>
                <a:cs typeface="Arial"/>
              </a:rPr>
              <a:t>được</a:t>
            </a:r>
            <a:r>
              <a:rPr lang="en-US" sz="2000" spc="-5" dirty="0">
                <a:latin typeface="Arial"/>
                <a:cs typeface="Arial"/>
              </a:rPr>
              <a:t> </a:t>
            </a:r>
            <a:r>
              <a:rPr lang="en-US" sz="2000" spc="-5" dirty="0" err="1">
                <a:latin typeface="Arial"/>
                <a:cs typeface="Arial"/>
              </a:rPr>
              <a:t>nhận</a:t>
            </a:r>
            <a:r>
              <a:rPr sz="2000" spc="-5" dirty="0">
                <a:latin typeface="Arial"/>
                <a:cs typeface="Arial"/>
              </a:rPr>
              <a:t> - </a:t>
            </a:r>
            <a:r>
              <a:rPr sz="2100" i="1" spc="20" dirty="0">
                <a:solidFill>
                  <a:srgbClr val="CC0000"/>
                </a:solidFill>
                <a:latin typeface="Arial"/>
                <a:cs typeface="Arial"/>
              </a:rPr>
              <a:t>“</a:t>
            </a:r>
            <a:r>
              <a:rPr sz="2000" i="1" spc="20" dirty="0">
                <a:solidFill>
                  <a:srgbClr val="CC0000"/>
                </a:solidFill>
                <a:latin typeface="Arial"/>
                <a:cs typeface="Arial"/>
              </a:rPr>
              <a:t>cumulative</a:t>
            </a:r>
            <a:r>
              <a:rPr sz="2000" i="1" spc="-175" dirty="0">
                <a:solidFill>
                  <a:srgbClr val="CC0000"/>
                </a:solidFill>
                <a:latin typeface="Arial"/>
                <a:cs typeface="Arial"/>
              </a:rPr>
              <a:t> </a:t>
            </a:r>
            <a:r>
              <a:rPr sz="2000" i="1" spc="70" dirty="0">
                <a:solidFill>
                  <a:srgbClr val="CC0000"/>
                </a:solidFill>
                <a:latin typeface="Arial"/>
                <a:cs typeface="Arial"/>
              </a:rPr>
              <a:t>ACK</a:t>
            </a:r>
            <a:r>
              <a:rPr sz="2100" i="1" spc="70" dirty="0">
                <a:solidFill>
                  <a:srgbClr val="CC0000"/>
                </a:solidFill>
                <a:latin typeface="Arial"/>
                <a:cs typeface="Arial"/>
              </a:rPr>
              <a:t>”</a:t>
            </a:r>
            <a:r>
              <a:rPr lang="en-US" sz="2100" i="1" spc="70" dirty="0">
                <a:solidFill>
                  <a:srgbClr val="CC0000"/>
                </a:solidFill>
                <a:latin typeface="Arial"/>
                <a:cs typeface="Arial"/>
              </a:rPr>
              <a:t> </a:t>
            </a:r>
            <a:endParaRPr sz="2100" dirty="0">
              <a:latin typeface="Arial"/>
              <a:cs typeface="Arial"/>
            </a:endParaRPr>
          </a:p>
          <a:p>
            <a:pPr marL="355600" indent="-342900">
              <a:lnSpc>
                <a:spcPct val="100000"/>
              </a:lnSpc>
              <a:spcBef>
                <a:spcPts val="120"/>
              </a:spcBef>
              <a:buClr>
                <a:srgbClr val="00009A"/>
              </a:buClr>
              <a:buSzPct val="85000"/>
              <a:buFont typeface="Wingdings"/>
              <a:buChar char=""/>
              <a:tabLst>
                <a:tab pos="354965" algn="l"/>
                <a:tab pos="355600" algn="l"/>
              </a:tabLst>
            </a:pPr>
            <a:r>
              <a:rPr lang="en-US" sz="2000" spc="-5" dirty="0" err="1">
                <a:latin typeface="Arial"/>
                <a:cs typeface="Arial"/>
              </a:rPr>
              <a:t>Đặt</a:t>
            </a:r>
            <a:r>
              <a:rPr lang="en-US" sz="2000" spc="-5" dirty="0">
                <a:latin typeface="Arial"/>
                <a:cs typeface="Arial"/>
              </a:rPr>
              <a:t> </a:t>
            </a:r>
            <a:r>
              <a:rPr lang="en-US" sz="2000" spc="-5" dirty="0" err="1">
                <a:latin typeface="Arial"/>
                <a:cs typeface="Arial"/>
              </a:rPr>
              <a:t>đồng</a:t>
            </a:r>
            <a:r>
              <a:rPr lang="en-US" sz="2000" spc="-5" dirty="0">
                <a:latin typeface="Arial"/>
                <a:cs typeface="Arial"/>
              </a:rPr>
              <a:t> </a:t>
            </a:r>
            <a:r>
              <a:rPr lang="en-US" sz="2000" spc="-5" dirty="0" err="1">
                <a:latin typeface="Arial"/>
                <a:cs typeface="Arial"/>
              </a:rPr>
              <a:t>hồ</a:t>
            </a:r>
            <a:r>
              <a:rPr lang="en-US" sz="2000" spc="-5" dirty="0">
                <a:latin typeface="Arial"/>
                <a:cs typeface="Arial"/>
              </a:rPr>
              <a:t> </a:t>
            </a:r>
            <a:r>
              <a:rPr sz="2000" spc="-5" dirty="0" err="1">
                <a:latin typeface="Arial"/>
                <a:cs typeface="Arial"/>
              </a:rPr>
              <a:t>cho</a:t>
            </a:r>
            <a:r>
              <a:rPr sz="2000" spc="-5" dirty="0">
                <a:latin typeface="Arial"/>
                <a:cs typeface="Arial"/>
              </a:rPr>
              <a:t> gói tin cũ nhất chờ</a:t>
            </a:r>
            <a:r>
              <a:rPr sz="2000" spc="-10" dirty="0">
                <a:latin typeface="Arial"/>
                <a:cs typeface="Arial"/>
              </a:rPr>
              <a:t> ack</a:t>
            </a:r>
            <a:endParaRPr sz="2000" dirty="0">
              <a:latin typeface="Arial"/>
              <a:cs typeface="Arial"/>
            </a:endParaRPr>
          </a:p>
          <a:p>
            <a:pPr marL="812800" marR="5080" lvl="1" indent="-342900">
              <a:lnSpc>
                <a:spcPts val="2039"/>
              </a:lnSpc>
              <a:spcBef>
                <a:spcPts val="490"/>
              </a:spcBef>
              <a:buClr>
                <a:srgbClr val="00009A"/>
              </a:buClr>
              <a:buSzPct val="85000"/>
              <a:buFont typeface="Courier New" panose="02070309020205020404" pitchFamily="49" charset="0"/>
              <a:buChar char="o"/>
              <a:tabLst>
                <a:tab pos="354965" algn="l"/>
                <a:tab pos="355600" algn="l"/>
              </a:tabLst>
            </a:pPr>
            <a:r>
              <a:rPr lang="en-US" sz="2000" spc="-10" dirty="0" err="1">
                <a:latin typeface="Arial"/>
                <a:cs typeface="Arial"/>
              </a:rPr>
              <a:t>Khi</a:t>
            </a:r>
            <a:r>
              <a:rPr lang="en-US" sz="2000" spc="-10" dirty="0">
                <a:latin typeface="Arial"/>
                <a:cs typeface="Arial"/>
              </a:rPr>
              <a:t> </a:t>
            </a:r>
            <a:r>
              <a:rPr lang="en-US" sz="2000" spc="-10" dirty="0" err="1">
                <a:latin typeface="Arial"/>
                <a:cs typeface="Arial"/>
              </a:rPr>
              <a:t>hết</a:t>
            </a:r>
            <a:r>
              <a:rPr lang="en-US" sz="2000" spc="-10" dirty="0">
                <a:latin typeface="Arial"/>
                <a:cs typeface="Arial"/>
              </a:rPr>
              <a:t> </a:t>
            </a:r>
            <a:r>
              <a:rPr sz="2000" i="1" spc="-10" dirty="0">
                <a:latin typeface="Arial"/>
                <a:cs typeface="Arial"/>
              </a:rPr>
              <a:t>timeout(</a:t>
            </a:r>
            <a:r>
              <a:rPr lang="en-US" sz="2000" i="1" spc="-10" dirty="0">
                <a:solidFill>
                  <a:srgbClr val="FF0000"/>
                </a:solidFill>
                <a:latin typeface="Arial"/>
                <a:cs typeface="Arial"/>
              </a:rPr>
              <a:t>n</a:t>
            </a:r>
            <a:r>
              <a:rPr sz="2000" i="1" spc="-10" dirty="0">
                <a:latin typeface="Arial"/>
                <a:cs typeface="Arial"/>
              </a:rPr>
              <a:t>): </a:t>
            </a:r>
            <a:r>
              <a:rPr sz="2000" spc="-5" dirty="0">
                <a:latin typeface="Arial"/>
                <a:cs typeface="Arial"/>
              </a:rPr>
              <a:t>gửi lại gói tin </a:t>
            </a:r>
            <a:r>
              <a:rPr lang="en-US" sz="2000" i="1" spc="-5" dirty="0">
                <a:solidFill>
                  <a:srgbClr val="FF0000"/>
                </a:solidFill>
                <a:latin typeface="Arial"/>
                <a:cs typeface="Arial"/>
              </a:rPr>
              <a:t>n</a:t>
            </a:r>
            <a:r>
              <a:rPr sz="2000" spc="-5" dirty="0">
                <a:latin typeface="Arial"/>
                <a:cs typeface="Arial"/>
              </a:rPr>
              <a:t> và tất cả gói tin có seq # lớn hơn trong  window</a:t>
            </a:r>
            <a:endParaRPr sz="2000" dirty="0">
              <a:latin typeface="Arial"/>
              <a:cs typeface="Arial"/>
            </a:endParaRPr>
          </a:p>
        </p:txBody>
      </p:sp>
      <p:sp>
        <p:nvSpPr>
          <p:cNvPr id="6" name="object 6"/>
          <p:cNvSpPr/>
          <p:nvPr/>
        </p:nvSpPr>
        <p:spPr>
          <a:xfrm>
            <a:off x="2092451" y="3242310"/>
            <a:ext cx="2216785" cy="646430"/>
          </a:xfrm>
          <a:custGeom>
            <a:avLst/>
            <a:gdLst/>
            <a:ahLst/>
            <a:cxnLst/>
            <a:rect l="l" t="t" r="r" b="b"/>
            <a:pathLst>
              <a:path w="2216785" h="646429">
                <a:moveTo>
                  <a:pt x="2216657" y="646176"/>
                </a:moveTo>
                <a:lnTo>
                  <a:pt x="2216657" y="0"/>
                </a:lnTo>
                <a:lnTo>
                  <a:pt x="0" y="0"/>
                </a:lnTo>
                <a:lnTo>
                  <a:pt x="0" y="646176"/>
                </a:lnTo>
                <a:lnTo>
                  <a:pt x="5334" y="646176"/>
                </a:lnTo>
                <a:lnTo>
                  <a:pt x="5334" y="9144"/>
                </a:lnTo>
                <a:lnTo>
                  <a:pt x="9906" y="4572"/>
                </a:lnTo>
                <a:lnTo>
                  <a:pt x="9906" y="9144"/>
                </a:lnTo>
                <a:lnTo>
                  <a:pt x="2206751" y="9144"/>
                </a:lnTo>
                <a:lnTo>
                  <a:pt x="2206751" y="4572"/>
                </a:lnTo>
                <a:lnTo>
                  <a:pt x="2211323" y="9144"/>
                </a:lnTo>
                <a:lnTo>
                  <a:pt x="2211323" y="646176"/>
                </a:lnTo>
                <a:lnTo>
                  <a:pt x="2216657" y="646176"/>
                </a:lnTo>
                <a:close/>
              </a:path>
              <a:path w="2216785" h="646429">
                <a:moveTo>
                  <a:pt x="9906" y="9144"/>
                </a:moveTo>
                <a:lnTo>
                  <a:pt x="9906" y="4572"/>
                </a:lnTo>
                <a:lnTo>
                  <a:pt x="5334" y="9144"/>
                </a:lnTo>
                <a:lnTo>
                  <a:pt x="9906" y="9144"/>
                </a:lnTo>
                <a:close/>
              </a:path>
              <a:path w="2216785" h="646429">
                <a:moveTo>
                  <a:pt x="9906" y="636270"/>
                </a:moveTo>
                <a:lnTo>
                  <a:pt x="9906" y="9144"/>
                </a:lnTo>
                <a:lnTo>
                  <a:pt x="5334" y="9144"/>
                </a:lnTo>
                <a:lnTo>
                  <a:pt x="5334" y="636270"/>
                </a:lnTo>
                <a:lnTo>
                  <a:pt x="9906" y="636270"/>
                </a:lnTo>
                <a:close/>
              </a:path>
              <a:path w="2216785" h="646429">
                <a:moveTo>
                  <a:pt x="2211323" y="636270"/>
                </a:moveTo>
                <a:lnTo>
                  <a:pt x="5334" y="636270"/>
                </a:lnTo>
                <a:lnTo>
                  <a:pt x="9906" y="640842"/>
                </a:lnTo>
                <a:lnTo>
                  <a:pt x="9906" y="646176"/>
                </a:lnTo>
                <a:lnTo>
                  <a:pt x="2206751" y="646176"/>
                </a:lnTo>
                <a:lnTo>
                  <a:pt x="2206751" y="640842"/>
                </a:lnTo>
                <a:lnTo>
                  <a:pt x="2211323" y="636270"/>
                </a:lnTo>
                <a:close/>
              </a:path>
              <a:path w="2216785" h="646429">
                <a:moveTo>
                  <a:pt x="9906" y="646176"/>
                </a:moveTo>
                <a:lnTo>
                  <a:pt x="9906" y="640842"/>
                </a:lnTo>
                <a:lnTo>
                  <a:pt x="5334" y="636270"/>
                </a:lnTo>
                <a:lnTo>
                  <a:pt x="5334" y="646176"/>
                </a:lnTo>
                <a:lnTo>
                  <a:pt x="9906" y="646176"/>
                </a:lnTo>
                <a:close/>
              </a:path>
              <a:path w="2216785" h="646429">
                <a:moveTo>
                  <a:pt x="2211323" y="9144"/>
                </a:moveTo>
                <a:lnTo>
                  <a:pt x="2206751" y="4572"/>
                </a:lnTo>
                <a:lnTo>
                  <a:pt x="2206751" y="9144"/>
                </a:lnTo>
                <a:lnTo>
                  <a:pt x="2211323" y="9144"/>
                </a:lnTo>
                <a:close/>
              </a:path>
              <a:path w="2216785" h="646429">
                <a:moveTo>
                  <a:pt x="2211323" y="636270"/>
                </a:moveTo>
                <a:lnTo>
                  <a:pt x="2211323" y="9144"/>
                </a:lnTo>
                <a:lnTo>
                  <a:pt x="2206751" y="9144"/>
                </a:lnTo>
                <a:lnTo>
                  <a:pt x="2206751" y="636270"/>
                </a:lnTo>
                <a:lnTo>
                  <a:pt x="2211323" y="636270"/>
                </a:lnTo>
                <a:close/>
              </a:path>
              <a:path w="2216785" h="646429">
                <a:moveTo>
                  <a:pt x="2211323" y="646176"/>
                </a:moveTo>
                <a:lnTo>
                  <a:pt x="2211323" y="636270"/>
                </a:lnTo>
                <a:lnTo>
                  <a:pt x="2206751" y="640842"/>
                </a:lnTo>
                <a:lnTo>
                  <a:pt x="2206751" y="646176"/>
                </a:lnTo>
                <a:lnTo>
                  <a:pt x="2211323" y="646176"/>
                </a:lnTo>
                <a:close/>
              </a:path>
            </a:pathLst>
          </a:custGeom>
          <a:solidFill>
            <a:srgbClr val="000000"/>
          </a:solidFill>
        </p:spPr>
        <p:txBody>
          <a:bodyPr wrap="square" lIns="0" tIns="0" rIns="0" bIns="0" rtlCol="0"/>
          <a:lstStyle/>
          <a:p>
            <a:endParaRPr/>
          </a:p>
        </p:txBody>
      </p:sp>
      <p:sp>
        <p:nvSpPr>
          <p:cNvPr id="8" name="Slide Number Placeholder 7"/>
          <p:cNvSpPr>
            <a:spLocks noGrp="1"/>
          </p:cNvSpPr>
          <p:nvPr>
            <p:ph type="sldNum" sz="quarter" idx="7"/>
          </p:nvPr>
        </p:nvSpPr>
        <p:spPr/>
        <p:txBody>
          <a:bodyPr/>
          <a:lstStyle/>
          <a:p>
            <a:pPr marL="12700">
              <a:lnSpc>
                <a:spcPts val="1645"/>
              </a:lnSpc>
            </a:pPr>
            <a:fld id="{81D60167-4931-47E6-BA6A-407CBD079E47}" type="slidenum">
              <a:rPr lang="en-US" spc="-5" smtClean="0"/>
              <a:t>37</a:t>
            </a:fld>
            <a:endParaRPr lang="en-US" spc="-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8" y="753872"/>
            <a:ext cx="7084061" cy="628377"/>
          </a:xfrm>
          <a:prstGeom prst="rect">
            <a:avLst/>
          </a:prstGeom>
        </p:spPr>
        <p:txBody>
          <a:bodyPr vert="horz" wrap="square" lIns="0" tIns="12700" rIns="0" bIns="0" rtlCol="0">
            <a:spAutoFit/>
          </a:bodyPr>
          <a:lstStyle/>
          <a:p>
            <a:pPr marL="12700">
              <a:lnSpc>
                <a:spcPct val="100000"/>
              </a:lnSpc>
              <a:spcBef>
                <a:spcPts val="100"/>
              </a:spcBef>
            </a:pPr>
            <a:r>
              <a:rPr sz="4000" dirty="0"/>
              <a:t>Go-Back-N: </a:t>
            </a:r>
            <a:r>
              <a:rPr sz="4000" spc="-5" dirty="0" err="1"/>
              <a:t>Bên</a:t>
            </a:r>
            <a:r>
              <a:rPr sz="4000" spc="-75" dirty="0"/>
              <a:t> </a:t>
            </a:r>
            <a:r>
              <a:rPr lang="en-US" sz="4000" spc="-5" dirty="0" err="1"/>
              <a:t>nhận</a:t>
            </a:r>
            <a:endParaRPr sz="4000" dirty="0"/>
          </a:p>
        </p:txBody>
      </p:sp>
      <p:sp>
        <p:nvSpPr>
          <p:cNvPr id="3" name="object 3"/>
          <p:cNvSpPr txBox="1"/>
          <p:nvPr/>
        </p:nvSpPr>
        <p:spPr>
          <a:xfrm>
            <a:off x="1069339" y="1733499"/>
            <a:ext cx="8464550" cy="2855269"/>
          </a:xfrm>
          <a:prstGeom prst="rect">
            <a:avLst/>
          </a:prstGeom>
        </p:spPr>
        <p:txBody>
          <a:bodyPr vert="horz" wrap="square" lIns="0" tIns="76835" rIns="0" bIns="0" rtlCol="0">
            <a:spAutoFit/>
          </a:bodyPr>
          <a:lstStyle/>
          <a:p>
            <a:pPr marL="355600" indent="-342900">
              <a:lnSpc>
                <a:spcPct val="100000"/>
              </a:lnSpc>
              <a:spcBef>
                <a:spcPts val="500"/>
              </a:spcBef>
              <a:buClr>
                <a:srgbClr val="3333CC"/>
              </a:buClr>
              <a:buSzPct val="85000"/>
              <a:buFont typeface="Wingdings"/>
              <a:buChar char=""/>
              <a:tabLst>
                <a:tab pos="354965" algn="l"/>
                <a:tab pos="355600" algn="l"/>
              </a:tabLst>
            </a:pPr>
            <a:r>
              <a:rPr lang="vi-VN" sz="2800" spc="75" dirty="0">
                <a:latin typeface="Arial"/>
                <a:cs typeface="Arial"/>
              </a:rPr>
              <a:t>Chỉ gửi 1 xác nhận ACK cho</a:t>
            </a:r>
            <a:r>
              <a:rPr lang="en-US" sz="2800" spc="75" dirty="0">
                <a:latin typeface="Arial"/>
                <a:cs typeface="Arial"/>
              </a:rPr>
              <a:t> </a:t>
            </a:r>
            <a:r>
              <a:rPr lang="vi-VN" sz="2800" spc="75" dirty="0">
                <a:latin typeface="Arial"/>
                <a:cs typeface="Arial"/>
              </a:rPr>
              <a:t>gói tin có số hiệu lớn nhất </a:t>
            </a:r>
            <a:r>
              <a:rPr lang="en-US" sz="2800" spc="75" dirty="0">
                <a:latin typeface="Arial"/>
                <a:cs typeface="Arial"/>
              </a:rPr>
              <a:t>đ</a:t>
            </a:r>
            <a:r>
              <a:rPr lang="vi-VN" sz="2800" spc="75" dirty="0">
                <a:latin typeface="Arial"/>
                <a:cs typeface="Arial"/>
              </a:rPr>
              <a:t>ã</a:t>
            </a:r>
            <a:r>
              <a:rPr lang="en-US" sz="2800" spc="75" dirty="0">
                <a:latin typeface="Arial"/>
                <a:cs typeface="Arial"/>
              </a:rPr>
              <a:t> </a:t>
            </a:r>
            <a:r>
              <a:rPr lang="vi-VN" sz="2800" spc="75" dirty="0">
                <a:latin typeface="Arial"/>
                <a:cs typeface="Arial"/>
              </a:rPr>
              <a:t>nhận </a:t>
            </a:r>
            <a:r>
              <a:rPr lang="en-US" sz="2800" spc="75" dirty="0">
                <a:latin typeface="Arial"/>
                <a:cs typeface="Arial"/>
              </a:rPr>
              <a:t>đ</a:t>
            </a:r>
            <a:r>
              <a:rPr lang="vi-VN" sz="2800" spc="75" dirty="0">
                <a:latin typeface="Arial"/>
                <a:cs typeface="Arial"/>
              </a:rPr>
              <a:t>ược theo </a:t>
            </a:r>
            <a:r>
              <a:rPr lang="en-US" sz="2800" spc="75" dirty="0">
                <a:latin typeface="Arial"/>
                <a:cs typeface="Arial"/>
              </a:rPr>
              <a:t>đ</a:t>
            </a:r>
            <a:r>
              <a:rPr lang="vi-VN" sz="2800" spc="75" dirty="0">
                <a:latin typeface="Arial"/>
                <a:cs typeface="Arial"/>
              </a:rPr>
              <a:t>úng thứ tự.</a:t>
            </a:r>
          </a:p>
          <a:p>
            <a:pPr marL="355600" indent="-342900">
              <a:lnSpc>
                <a:spcPct val="100000"/>
              </a:lnSpc>
              <a:spcBef>
                <a:spcPts val="500"/>
              </a:spcBef>
              <a:buClr>
                <a:srgbClr val="3333CC"/>
              </a:buClr>
              <a:buSzPct val="85000"/>
              <a:buFont typeface="Wingdings"/>
              <a:buChar char=""/>
              <a:tabLst>
                <a:tab pos="354965" algn="l"/>
                <a:tab pos="355600" algn="l"/>
              </a:tabLst>
            </a:pPr>
            <a:r>
              <a:rPr lang="vi-VN" sz="2800" spc="75" dirty="0">
                <a:latin typeface="Arial"/>
                <a:cs typeface="Arial"/>
              </a:rPr>
              <a:t>Với các gói tin không theo thứ</a:t>
            </a:r>
            <a:r>
              <a:rPr lang="en-US" sz="2800" spc="75" dirty="0">
                <a:latin typeface="Arial"/>
                <a:cs typeface="Arial"/>
              </a:rPr>
              <a:t> </a:t>
            </a:r>
            <a:r>
              <a:rPr lang="vi-VN" sz="2800" spc="75" dirty="0">
                <a:latin typeface="Arial"/>
                <a:cs typeface="Arial"/>
              </a:rPr>
              <a:t>tự: </a:t>
            </a:r>
          </a:p>
          <a:p>
            <a:pPr marL="927100" lvl="1" indent="-457200">
              <a:spcBef>
                <a:spcPts val="500"/>
              </a:spcBef>
              <a:buClr>
                <a:srgbClr val="3333CC"/>
              </a:buClr>
              <a:buSzPct val="85000"/>
              <a:buFont typeface="Courier New" panose="02070309020205020404" pitchFamily="49" charset="0"/>
              <a:buChar char="o"/>
              <a:tabLst>
                <a:tab pos="354965" algn="l"/>
                <a:tab pos="355600" algn="l"/>
              </a:tabLst>
            </a:pPr>
            <a:r>
              <a:rPr lang="vi-VN" sz="2800" spc="75" dirty="0">
                <a:latin typeface="Arial"/>
                <a:cs typeface="Arial"/>
              </a:rPr>
              <a:t>Hủy bỏ -&gt; không lưu vào vùng</a:t>
            </a:r>
            <a:r>
              <a:rPr lang="en-US" sz="2800" spc="75" dirty="0">
                <a:latin typeface="Arial"/>
                <a:cs typeface="Arial"/>
              </a:rPr>
              <a:t> đ</a:t>
            </a:r>
            <a:r>
              <a:rPr lang="vi-VN" sz="2800" spc="75" dirty="0">
                <a:latin typeface="Arial"/>
                <a:cs typeface="Arial"/>
              </a:rPr>
              <a:t>ệm</a:t>
            </a:r>
          </a:p>
          <a:p>
            <a:pPr marL="927100" lvl="1" indent="-457200">
              <a:spcBef>
                <a:spcPts val="500"/>
              </a:spcBef>
              <a:buClr>
                <a:srgbClr val="3333CC"/>
              </a:buClr>
              <a:buSzPct val="85000"/>
              <a:buFont typeface="Courier New" panose="02070309020205020404" pitchFamily="49" charset="0"/>
              <a:buChar char="o"/>
              <a:tabLst>
                <a:tab pos="354965" algn="l"/>
                <a:tab pos="355600" algn="l"/>
              </a:tabLst>
            </a:pPr>
            <a:r>
              <a:rPr lang="vi-VN" sz="2800" spc="75" dirty="0">
                <a:latin typeface="Arial"/>
                <a:cs typeface="Arial"/>
              </a:rPr>
              <a:t>Xác nhận lại gói tin với số</a:t>
            </a:r>
            <a:r>
              <a:rPr lang="en-US" sz="2800" spc="75" dirty="0">
                <a:latin typeface="Arial"/>
                <a:cs typeface="Arial"/>
              </a:rPr>
              <a:t> </a:t>
            </a:r>
            <a:r>
              <a:rPr lang="vi-VN" sz="2800" spc="75" dirty="0">
                <a:latin typeface="Arial"/>
                <a:cs typeface="Arial"/>
              </a:rPr>
              <a:t>hiệu lớn nhất còn </a:t>
            </a:r>
            <a:r>
              <a:rPr lang="en-US" sz="2800" spc="75" dirty="0">
                <a:latin typeface="Arial"/>
                <a:cs typeface="Arial"/>
              </a:rPr>
              <a:t>đ</a:t>
            </a:r>
            <a:r>
              <a:rPr lang="vi-VN" sz="2800" spc="75" dirty="0">
                <a:latin typeface="Arial"/>
                <a:cs typeface="Arial"/>
              </a:rPr>
              <a:t>úng t</a:t>
            </a:r>
            <a:r>
              <a:rPr lang="en-US" sz="2800" spc="75" dirty="0" err="1">
                <a:latin typeface="Arial"/>
                <a:cs typeface="Arial"/>
              </a:rPr>
              <a:t>hứ</a:t>
            </a:r>
            <a:r>
              <a:rPr lang="en-US" sz="2800" spc="75" dirty="0">
                <a:latin typeface="Arial"/>
                <a:cs typeface="Arial"/>
              </a:rPr>
              <a:t> </a:t>
            </a:r>
            <a:r>
              <a:rPr lang="en-US" sz="2800" spc="75" dirty="0" err="1">
                <a:latin typeface="Arial"/>
                <a:cs typeface="Arial"/>
              </a:rPr>
              <a:t>tự</a:t>
            </a:r>
            <a:endParaRPr sz="2800" dirty="0">
              <a:latin typeface="Arial"/>
              <a:cs typeface="Arial"/>
            </a:endParaRPr>
          </a:p>
        </p:txBody>
      </p:sp>
      <p:sp>
        <p:nvSpPr>
          <p:cNvPr id="8" name="Slide Number Placeholder 7"/>
          <p:cNvSpPr>
            <a:spLocks noGrp="1"/>
          </p:cNvSpPr>
          <p:nvPr>
            <p:ph type="sldNum" sz="quarter" idx="7"/>
          </p:nvPr>
        </p:nvSpPr>
        <p:spPr/>
        <p:txBody>
          <a:bodyPr/>
          <a:lstStyle/>
          <a:p>
            <a:pPr marL="12700">
              <a:lnSpc>
                <a:spcPts val="1645"/>
              </a:lnSpc>
            </a:pPr>
            <a:fld id="{81D60167-4931-47E6-BA6A-407CBD079E47}" type="slidenum">
              <a:rPr lang="en-US" spc="-5" smtClean="0"/>
              <a:t>38</a:t>
            </a:fld>
            <a:endParaRPr lang="en-US" spc="-5" dirty="0"/>
          </a:p>
        </p:txBody>
      </p:sp>
    </p:spTree>
    <p:extLst>
      <p:ext uri="{BB962C8B-B14F-4D97-AF65-F5344CB8AC3E}">
        <p14:creationId xmlns:p14="http://schemas.microsoft.com/office/powerpoint/2010/main" val="3554216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2189" y="687578"/>
            <a:ext cx="2339340" cy="574040"/>
          </a:xfrm>
          <a:prstGeom prst="rect">
            <a:avLst/>
          </a:prstGeom>
        </p:spPr>
        <p:txBody>
          <a:bodyPr vert="horz" wrap="square" lIns="0" tIns="12700" rIns="0" bIns="0" rtlCol="0">
            <a:spAutoFit/>
          </a:bodyPr>
          <a:lstStyle/>
          <a:p>
            <a:pPr marL="12700">
              <a:lnSpc>
                <a:spcPct val="100000"/>
              </a:lnSpc>
              <a:spcBef>
                <a:spcPts val="100"/>
              </a:spcBef>
            </a:pPr>
            <a:r>
              <a:rPr dirty="0"/>
              <a:t>GBN: Ví dụ</a:t>
            </a:r>
          </a:p>
        </p:txBody>
      </p:sp>
      <p:sp>
        <p:nvSpPr>
          <p:cNvPr id="3" name="object 3"/>
          <p:cNvSpPr txBox="1"/>
          <p:nvPr/>
        </p:nvSpPr>
        <p:spPr>
          <a:xfrm>
            <a:off x="3399473" y="1087436"/>
            <a:ext cx="913765" cy="2183931"/>
          </a:xfrm>
          <a:prstGeom prst="rect">
            <a:avLst/>
          </a:prstGeom>
        </p:spPr>
        <p:txBody>
          <a:bodyPr vert="horz" wrap="square" lIns="0" tIns="87630" rIns="0" bIns="0" rtlCol="0">
            <a:spAutoFit/>
          </a:bodyPr>
          <a:lstStyle/>
          <a:p>
            <a:pPr marL="54610">
              <a:lnSpc>
                <a:spcPct val="100000"/>
              </a:lnSpc>
              <a:spcBef>
                <a:spcPts val="690"/>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12700" marR="62230" algn="just">
              <a:lnSpc>
                <a:spcPct val="100000"/>
              </a:lnSpc>
              <a:spcBef>
                <a:spcPts val="500"/>
              </a:spcBef>
            </a:pPr>
            <a:r>
              <a:rPr sz="1800" dirty="0">
                <a:latin typeface="Tahoma"/>
                <a:cs typeface="Tahoma"/>
              </a:rPr>
              <a:t>gửi pkt0  gửi pkt1  gửi pkt2  gửi pkt3</a:t>
            </a:r>
          </a:p>
          <a:p>
            <a:pPr marL="354330">
              <a:lnSpc>
                <a:spcPct val="100000"/>
              </a:lnSpc>
            </a:pPr>
            <a:r>
              <a:rPr sz="1800" dirty="0">
                <a:latin typeface="Tahoma"/>
                <a:cs typeface="Tahoma"/>
              </a:rPr>
              <a:t>(đợi)</a:t>
            </a:r>
          </a:p>
        </p:txBody>
      </p:sp>
      <p:sp>
        <p:nvSpPr>
          <p:cNvPr id="4" name="object 4"/>
          <p:cNvSpPr txBox="1"/>
          <p:nvPr/>
        </p:nvSpPr>
        <p:spPr>
          <a:xfrm>
            <a:off x="6436867" y="1186541"/>
            <a:ext cx="1077595"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dirty="0">
              <a:latin typeface="Tahoma"/>
              <a:cs typeface="Tahoma"/>
            </a:endParaRPr>
          </a:p>
        </p:txBody>
      </p:sp>
      <p:sp>
        <p:nvSpPr>
          <p:cNvPr id="5" name="object 5"/>
          <p:cNvSpPr/>
          <p:nvPr/>
        </p:nvSpPr>
        <p:spPr>
          <a:xfrm>
            <a:off x="6520815" y="2116835"/>
            <a:ext cx="0" cy="4538980"/>
          </a:xfrm>
          <a:custGeom>
            <a:avLst/>
            <a:gdLst/>
            <a:ahLst/>
            <a:cxnLst/>
            <a:rect l="l" t="t" r="r" b="b"/>
            <a:pathLst>
              <a:path h="4538980">
                <a:moveTo>
                  <a:pt x="0" y="0"/>
                </a:moveTo>
                <a:lnTo>
                  <a:pt x="0" y="4538472"/>
                </a:lnTo>
              </a:path>
            </a:pathLst>
          </a:custGeom>
          <a:ln w="20574">
            <a:solidFill>
              <a:srgbClr val="000000"/>
            </a:solidFill>
          </a:ln>
        </p:spPr>
        <p:txBody>
          <a:bodyPr wrap="square" lIns="0" tIns="0" rIns="0" bIns="0" rtlCol="0"/>
          <a:lstStyle/>
          <a:p>
            <a:endParaRPr/>
          </a:p>
        </p:txBody>
      </p:sp>
      <p:sp>
        <p:nvSpPr>
          <p:cNvPr id="6" name="object 6"/>
          <p:cNvSpPr txBox="1"/>
          <p:nvPr/>
        </p:nvSpPr>
        <p:spPr>
          <a:xfrm>
            <a:off x="6536690" y="2342641"/>
            <a:ext cx="203517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ahoma"/>
                <a:cs typeface="Tahoma"/>
              </a:rPr>
              <a:t>nhận pkt0, gửi ack0  nhận pkt1, gửi ack1</a:t>
            </a:r>
          </a:p>
        </p:txBody>
      </p:sp>
      <p:sp>
        <p:nvSpPr>
          <p:cNvPr id="7" name="object 7"/>
          <p:cNvSpPr/>
          <p:nvPr/>
        </p:nvSpPr>
        <p:spPr>
          <a:xfrm>
            <a:off x="3791220" y="4728210"/>
            <a:ext cx="407669" cy="480822"/>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376928" y="2050542"/>
            <a:ext cx="2105660" cy="505459"/>
          </a:xfrm>
          <a:custGeom>
            <a:avLst/>
            <a:gdLst/>
            <a:ahLst/>
            <a:cxnLst/>
            <a:rect l="l" t="t" r="r" b="b"/>
            <a:pathLst>
              <a:path w="2105660" h="505460">
                <a:moveTo>
                  <a:pt x="2024582" y="449561"/>
                </a:moveTo>
                <a:lnTo>
                  <a:pt x="6096" y="0"/>
                </a:lnTo>
                <a:lnTo>
                  <a:pt x="0" y="27432"/>
                </a:lnTo>
                <a:lnTo>
                  <a:pt x="2018592" y="477017"/>
                </a:lnTo>
                <a:lnTo>
                  <a:pt x="2024582" y="449561"/>
                </a:lnTo>
                <a:close/>
              </a:path>
              <a:path w="2105660" h="505460">
                <a:moveTo>
                  <a:pt x="2038350" y="498622"/>
                </a:moveTo>
                <a:lnTo>
                  <a:pt x="2038350" y="452627"/>
                </a:lnTo>
                <a:lnTo>
                  <a:pt x="2032254" y="480059"/>
                </a:lnTo>
                <a:lnTo>
                  <a:pt x="2018592" y="477017"/>
                </a:lnTo>
                <a:lnTo>
                  <a:pt x="2012442" y="505205"/>
                </a:lnTo>
                <a:lnTo>
                  <a:pt x="2038350" y="498622"/>
                </a:lnTo>
                <a:close/>
              </a:path>
              <a:path w="2105660" h="505460">
                <a:moveTo>
                  <a:pt x="2038350" y="452627"/>
                </a:moveTo>
                <a:lnTo>
                  <a:pt x="2024582" y="449561"/>
                </a:lnTo>
                <a:lnTo>
                  <a:pt x="2018592" y="477017"/>
                </a:lnTo>
                <a:lnTo>
                  <a:pt x="2032254" y="480059"/>
                </a:lnTo>
                <a:lnTo>
                  <a:pt x="2038350" y="452627"/>
                </a:lnTo>
                <a:close/>
              </a:path>
              <a:path w="2105660" h="505460">
                <a:moveTo>
                  <a:pt x="2105406" y="481583"/>
                </a:moveTo>
                <a:lnTo>
                  <a:pt x="2030730" y="421385"/>
                </a:lnTo>
                <a:lnTo>
                  <a:pt x="2024582" y="449561"/>
                </a:lnTo>
                <a:lnTo>
                  <a:pt x="2038350" y="452627"/>
                </a:lnTo>
                <a:lnTo>
                  <a:pt x="2038350" y="498622"/>
                </a:lnTo>
                <a:lnTo>
                  <a:pt x="2105406" y="481583"/>
                </a:lnTo>
                <a:close/>
              </a:path>
            </a:pathLst>
          </a:custGeom>
          <a:solidFill>
            <a:srgbClr val="000099"/>
          </a:solidFill>
        </p:spPr>
        <p:txBody>
          <a:bodyPr wrap="square" lIns="0" tIns="0" rIns="0" bIns="0" rtlCol="0"/>
          <a:lstStyle/>
          <a:p>
            <a:endParaRPr/>
          </a:p>
        </p:txBody>
      </p:sp>
      <p:sp>
        <p:nvSpPr>
          <p:cNvPr id="9" name="object 9"/>
          <p:cNvSpPr/>
          <p:nvPr/>
        </p:nvSpPr>
        <p:spPr>
          <a:xfrm>
            <a:off x="4375403" y="2324861"/>
            <a:ext cx="2104390" cy="505459"/>
          </a:xfrm>
          <a:custGeom>
            <a:avLst/>
            <a:gdLst/>
            <a:ahLst/>
            <a:cxnLst/>
            <a:rect l="l" t="t" r="r" b="b"/>
            <a:pathLst>
              <a:path w="2104390" h="505460">
                <a:moveTo>
                  <a:pt x="2023059" y="449559"/>
                </a:moveTo>
                <a:lnTo>
                  <a:pt x="6096" y="0"/>
                </a:lnTo>
                <a:lnTo>
                  <a:pt x="0" y="28194"/>
                </a:lnTo>
                <a:lnTo>
                  <a:pt x="2016910" y="477741"/>
                </a:lnTo>
                <a:lnTo>
                  <a:pt x="2023059" y="449559"/>
                </a:lnTo>
                <a:close/>
              </a:path>
              <a:path w="2104390" h="505460">
                <a:moveTo>
                  <a:pt x="2036826" y="498835"/>
                </a:moveTo>
                <a:lnTo>
                  <a:pt x="2036826" y="452627"/>
                </a:lnTo>
                <a:lnTo>
                  <a:pt x="2030730" y="480821"/>
                </a:lnTo>
                <a:lnTo>
                  <a:pt x="2016910" y="477741"/>
                </a:lnTo>
                <a:lnTo>
                  <a:pt x="2010918" y="505205"/>
                </a:lnTo>
                <a:lnTo>
                  <a:pt x="2036826" y="498835"/>
                </a:lnTo>
                <a:close/>
              </a:path>
              <a:path w="2104390" h="505460">
                <a:moveTo>
                  <a:pt x="2036826" y="452627"/>
                </a:moveTo>
                <a:lnTo>
                  <a:pt x="2023059" y="449559"/>
                </a:lnTo>
                <a:lnTo>
                  <a:pt x="2016910" y="477741"/>
                </a:lnTo>
                <a:lnTo>
                  <a:pt x="2030730" y="480821"/>
                </a:lnTo>
                <a:lnTo>
                  <a:pt x="2036826" y="452627"/>
                </a:lnTo>
                <a:close/>
              </a:path>
              <a:path w="2104390" h="505460">
                <a:moveTo>
                  <a:pt x="2103882" y="482345"/>
                </a:moveTo>
                <a:lnTo>
                  <a:pt x="2029206" y="421385"/>
                </a:lnTo>
                <a:lnTo>
                  <a:pt x="2023059" y="449559"/>
                </a:lnTo>
                <a:lnTo>
                  <a:pt x="2036826" y="452627"/>
                </a:lnTo>
                <a:lnTo>
                  <a:pt x="2036826" y="498835"/>
                </a:lnTo>
                <a:lnTo>
                  <a:pt x="2103882" y="482345"/>
                </a:lnTo>
                <a:close/>
              </a:path>
            </a:pathLst>
          </a:custGeom>
          <a:solidFill>
            <a:srgbClr val="000099"/>
          </a:solidFill>
        </p:spPr>
        <p:txBody>
          <a:bodyPr wrap="square" lIns="0" tIns="0" rIns="0" bIns="0" rtlCol="0"/>
          <a:lstStyle/>
          <a:p>
            <a:endParaRPr/>
          </a:p>
        </p:txBody>
      </p:sp>
      <p:sp>
        <p:nvSpPr>
          <p:cNvPr id="10" name="object 10"/>
          <p:cNvSpPr/>
          <p:nvPr/>
        </p:nvSpPr>
        <p:spPr>
          <a:xfrm>
            <a:off x="4391405" y="2588514"/>
            <a:ext cx="879475" cy="236220"/>
          </a:xfrm>
          <a:custGeom>
            <a:avLst/>
            <a:gdLst/>
            <a:ahLst/>
            <a:cxnLst/>
            <a:rect l="l" t="t" r="r" b="b"/>
            <a:pathLst>
              <a:path w="879475" h="236219">
                <a:moveTo>
                  <a:pt x="799167" y="180481"/>
                </a:moveTo>
                <a:lnTo>
                  <a:pt x="6096" y="0"/>
                </a:lnTo>
                <a:lnTo>
                  <a:pt x="0" y="27432"/>
                </a:lnTo>
                <a:lnTo>
                  <a:pt x="792722" y="208582"/>
                </a:lnTo>
                <a:lnTo>
                  <a:pt x="799167" y="180481"/>
                </a:lnTo>
                <a:close/>
              </a:path>
              <a:path w="879475" h="236219">
                <a:moveTo>
                  <a:pt x="813054" y="229880"/>
                </a:moveTo>
                <a:lnTo>
                  <a:pt x="813054" y="183641"/>
                </a:lnTo>
                <a:lnTo>
                  <a:pt x="806958" y="211835"/>
                </a:lnTo>
                <a:lnTo>
                  <a:pt x="792722" y="208582"/>
                </a:lnTo>
                <a:lnTo>
                  <a:pt x="786384" y="236219"/>
                </a:lnTo>
                <a:lnTo>
                  <a:pt x="813054" y="229880"/>
                </a:lnTo>
                <a:close/>
              </a:path>
              <a:path w="879475" h="236219">
                <a:moveTo>
                  <a:pt x="813054" y="183641"/>
                </a:moveTo>
                <a:lnTo>
                  <a:pt x="799167" y="180481"/>
                </a:lnTo>
                <a:lnTo>
                  <a:pt x="792722" y="208582"/>
                </a:lnTo>
                <a:lnTo>
                  <a:pt x="806958" y="211835"/>
                </a:lnTo>
                <a:lnTo>
                  <a:pt x="813054" y="183641"/>
                </a:lnTo>
                <a:close/>
              </a:path>
              <a:path w="879475" h="236219">
                <a:moveTo>
                  <a:pt x="879348" y="214121"/>
                </a:moveTo>
                <a:lnTo>
                  <a:pt x="805434" y="153161"/>
                </a:lnTo>
                <a:lnTo>
                  <a:pt x="799167" y="180481"/>
                </a:lnTo>
                <a:lnTo>
                  <a:pt x="813054" y="183641"/>
                </a:lnTo>
                <a:lnTo>
                  <a:pt x="813054" y="229880"/>
                </a:lnTo>
                <a:lnTo>
                  <a:pt x="879348" y="214121"/>
                </a:lnTo>
                <a:close/>
              </a:path>
            </a:pathLst>
          </a:custGeom>
          <a:solidFill>
            <a:srgbClr val="000099"/>
          </a:solidFill>
        </p:spPr>
        <p:txBody>
          <a:bodyPr wrap="square" lIns="0" tIns="0" rIns="0" bIns="0" rtlCol="0"/>
          <a:lstStyle/>
          <a:p>
            <a:endParaRPr/>
          </a:p>
        </p:txBody>
      </p:sp>
      <p:sp>
        <p:nvSpPr>
          <p:cNvPr id="11" name="object 11"/>
          <p:cNvSpPr/>
          <p:nvPr/>
        </p:nvSpPr>
        <p:spPr>
          <a:xfrm>
            <a:off x="4397502" y="2874264"/>
            <a:ext cx="2104390" cy="505459"/>
          </a:xfrm>
          <a:custGeom>
            <a:avLst/>
            <a:gdLst/>
            <a:ahLst/>
            <a:cxnLst/>
            <a:rect l="l" t="t" r="r" b="b"/>
            <a:pathLst>
              <a:path w="2104390" h="505460">
                <a:moveTo>
                  <a:pt x="2023059" y="449558"/>
                </a:moveTo>
                <a:lnTo>
                  <a:pt x="6858" y="0"/>
                </a:lnTo>
                <a:lnTo>
                  <a:pt x="0" y="27432"/>
                </a:lnTo>
                <a:lnTo>
                  <a:pt x="2016911" y="477736"/>
                </a:lnTo>
                <a:lnTo>
                  <a:pt x="2023059" y="449558"/>
                </a:lnTo>
                <a:close/>
              </a:path>
              <a:path w="2104390" h="505460">
                <a:moveTo>
                  <a:pt x="2036826" y="498835"/>
                </a:moveTo>
                <a:lnTo>
                  <a:pt x="2036826" y="452627"/>
                </a:lnTo>
                <a:lnTo>
                  <a:pt x="2030730" y="480821"/>
                </a:lnTo>
                <a:lnTo>
                  <a:pt x="2016911" y="477736"/>
                </a:lnTo>
                <a:lnTo>
                  <a:pt x="2010918" y="505205"/>
                </a:lnTo>
                <a:lnTo>
                  <a:pt x="2036826" y="498835"/>
                </a:lnTo>
                <a:close/>
              </a:path>
              <a:path w="2104390" h="505460">
                <a:moveTo>
                  <a:pt x="2036826" y="452627"/>
                </a:moveTo>
                <a:lnTo>
                  <a:pt x="2023059" y="449558"/>
                </a:lnTo>
                <a:lnTo>
                  <a:pt x="2016911" y="477736"/>
                </a:lnTo>
                <a:lnTo>
                  <a:pt x="2030730" y="480821"/>
                </a:lnTo>
                <a:lnTo>
                  <a:pt x="2036826" y="452627"/>
                </a:lnTo>
                <a:close/>
              </a:path>
              <a:path w="2104390" h="505460">
                <a:moveTo>
                  <a:pt x="2103882" y="482345"/>
                </a:moveTo>
                <a:lnTo>
                  <a:pt x="2029206" y="421385"/>
                </a:lnTo>
                <a:lnTo>
                  <a:pt x="2023059" y="449558"/>
                </a:lnTo>
                <a:lnTo>
                  <a:pt x="2036826" y="452627"/>
                </a:lnTo>
                <a:lnTo>
                  <a:pt x="2036826" y="498835"/>
                </a:lnTo>
                <a:lnTo>
                  <a:pt x="2103882" y="482345"/>
                </a:lnTo>
                <a:close/>
              </a:path>
            </a:pathLst>
          </a:custGeom>
          <a:solidFill>
            <a:srgbClr val="000099"/>
          </a:solidFill>
        </p:spPr>
        <p:txBody>
          <a:bodyPr wrap="square" lIns="0" tIns="0" rIns="0" bIns="0" rtlCol="0"/>
          <a:lstStyle/>
          <a:p>
            <a:endParaRPr/>
          </a:p>
        </p:txBody>
      </p:sp>
      <p:sp>
        <p:nvSpPr>
          <p:cNvPr id="12" name="object 12"/>
          <p:cNvSpPr/>
          <p:nvPr/>
        </p:nvSpPr>
        <p:spPr>
          <a:xfrm>
            <a:off x="4386834" y="2575560"/>
            <a:ext cx="2021205" cy="1079500"/>
          </a:xfrm>
          <a:custGeom>
            <a:avLst/>
            <a:gdLst/>
            <a:ahLst/>
            <a:cxnLst/>
            <a:rect l="l" t="t" r="r" b="b"/>
            <a:pathLst>
              <a:path w="2021204" h="1079500">
                <a:moveTo>
                  <a:pt x="68944" y="1026623"/>
                </a:moveTo>
                <a:lnTo>
                  <a:pt x="55626" y="1001268"/>
                </a:lnTo>
                <a:lnTo>
                  <a:pt x="0" y="1078992"/>
                </a:lnTo>
                <a:lnTo>
                  <a:pt x="56388" y="1077638"/>
                </a:lnTo>
                <a:lnTo>
                  <a:pt x="56388" y="1033272"/>
                </a:lnTo>
                <a:lnTo>
                  <a:pt x="68944" y="1026623"/>
                </a:lnTo>
                <a:close/>
              </a:path>
              <a:path w="2021204" h="1079500">
                <a:moveTo>
                  <a:pt x="82096" y="1051664"/>
                </a:moveTo>
                <a:lnTo>
                  <a:pt x="68944" y="1026623"/>
                </a:lnTo>
                <a:lnTo>
                  <a:pt x="56388" y="1033272"/>
                </a:lnTo>
                <a:lnTo>
                  <a:pt x="69342" y="1058418"/>
                </a:lnTo>
                <a:lnTo>
                  <a:pt x="82096" y="1051664"/>
                </a:lnTo>
                <a:close/>
              </a:path>
              <a:path w="2021204" h="1079500">
                <a:moveTo>
                  <a:pt x="95250" y="1076706"/>
                </a:moveTo>
                <a:lnTo>
                  <a:pt x="82096" y="1051664"/>
                </a:lnTo>
                <a:lnTo>
                  <a:pt x="69342" y="1058418"/>
                </a:lnTo>
                <a:lnTo>
                  <a:pt x="56388" y="1033272"/>
                </a:lnTo>
                <a:lnTo>
                  <a:pt x="56388" y="1077638"/>
                </a:lnTo>
                <a:lnTo>
                  <a:pt x="95250" y="1076706"/>
                </a:lnTo>
                <a:close/>
              </a:path>
              <a:path w="2021204" h="1079500">
                <a:moveTo>
                  <a:pt x="2020824" y="25146"/>
                </a:moveTo>
                <a:lnTo>
                  <a:pt x="2007870" y="0"/>
                </a:lnTo>
                <a:lnTo>
                  <a:pt x="68944" y="1026623"/>
                </a:lnTo>
                <a:lnTo>
                  <a:pt x="82096" y="1051664"/>
                </a:lnTo>
                <a:lnTo>
                  <a:pt x="2020824" y="25146"/>
                </a:lnTo>
                <a:close/>
              </a:path>
            </a:pathLst>
          </a:custGeom>
          <a:solidFill>
            <a:srgbClr val="008000"/>
          </a:solidFill>
        </p:spPr>
        <p:txBody>
          <a:bodyPr wrap="square" lIns="0" tIns="0" rIns="0" bIns="0" rtlCol="0"/>
          <a:lstStyle/>
          <a:p>
            <a:endParaRPr/>
          </a:p>
        </p:txBody>
      </p:sp>
      <p:sp>
        <p:nvSpPr>
          <p:cNvPr id="13" name="object 13"/>
          <p:cNvSpPr txBox="1"/>
          <p:nvPr/>
        </p:nvSpPr>
        <p:spPr>
          <a:xfrm>
            <a:off x="5235955" y="2668015"/>
            <a:ext cx="621539"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ahoma"/>
                <a:cs typeface="Tahoma"/>
              </a:rPr>
              <a:t>X</a:t>
            </a:r>
            <a:r>
              <a:rPr sz="2550" i="1" baseline="1633" dirty="0">
                <a:solidFill>
                  <a:srgbClr val="FF0000"/>
                </a:solidFill>
                <a:latin typeface="Tahoma"/>
                <a:cs typeface="Tahoma"/>
              </a:rPr>
              <a:t>loss</a:t>
            </a:r>
            <a:endParaRPr sz="2550" baseline="1633" dirty="0">
              <a:latin typeface="Tahoma"/>
              <a:cs typeface="Tahoma"/>
            </a:endParaRPr>
          </a:p>
        </p:txBody>
      </p:sp>
      <p:sp>
        <p:nvSpPr>
          <p:cNvPr id="14" name="object 14"/>
          <p:cNvSpPr/>
          <p:nvPr/>
        </p:nvSpPr>
        <p:spPr>
          <a:xfrm>
            <a:off x="4383785" y="2861310"/>
            <a:ext cx="2021205" cy="1112520"/>
          </a:xfrm>
          <a:custGeom>
            <a:avLst/>
            <a:gdLst/>
            <a:ahLst/>
            <a:cxnLst/>
            <a:rect l="l" t="t" r="r" b="b"/>
            <a:pathLst>
              <a:path w="2021204" h="1112520">
                <a:moveTo>
                  <a:pt x="67901" y="1059332"/>
                </a:moveTo>
                <a:lnTo>
                  <a:pt x="54101" y="1034034"/>
                </a:lnTo>
                <a:lnTo>
                  <a:pt x="0" y="1112520"/>
                </a:lnTo>
                <a:lnTo>
                  <a:pt x="55625" y="1110739"/>
                </a:lnTo>
                <a:lnTo>
                  <a:pt x="55625" y="1066038"/>
                </a:lnTo>
                <a:lnTo>
                  <a:pt x="67901" y="1059332"/>
                </a:lnTo>
                <a:close/>
              </a:path>
              <a:path w="2021204" h="1112520">
                <a:moveTo>
                  <a:pt x="81617" y="1084478"/>
                </a:moveTo>
                <a:lnTo>
                  <a:pt x="67901" y="1059332"/>
                </a:lnTo>
                <a:lnTo>
                  <a:pt x="55625" y="1066038"/>
                </a:lnTo>
                <a:lnTo>
                  <a:pt x="69341" y="1091184"/>
                </a:lnTo>
                <a:lnTo>
                  <a:pt x="81617" y="1084478"/>
                </a:lnTo>
                <a:close/>
              </a:path>
              <a:path w="2021204" h="1112520">
                <a:moveTo>
                  <a:pt x="95249" y="1109472"/>
                </a:moveTo>
                <a:lnTo>
                  <a:pt x="81617" y="1084478"/>
                </a:lnTo>
                <a:lnTo>
                  <a:pt x="69341" y="1091184"/>
                </a:lnTo>
                <a:lnTo>
                  <a:pt x="55625" y="1066038"/>
                </a:lnTo>
                <a:lnTo>
                  <a:pt x="55625" y="1110739"/>
                </a:lnTo>
                <a:lnTo>
                  <a:pt x="95249" y="1109472"/>
                </a:lnTo>
                <a:close/>
              </a:path>
              <a:path w="2021204" h="1112520">
                <a:moveTo>
                  <a:pt x="2020823" y="25146"/>
                </a:moveTo>
                <a:lnTo>
                  <a:pt x="2007107" y="0"/>
                </a:lnTo>
                <a:lnTo>
                  <a:pt x="67901" y="1059332"/>
                </a:lnTo>
                <a:lnTo>
                  <a:pt x="81617" y="1084478"/>
                </a:lnTo>
                <a:lnTo>
                  <a:pt x="2020823" y="25146"/>
                </a:lnTo>
                <a:close/>
              </a:path>
            </a:pathLst>
          </a:custGeom>
          <a:solidFill>
            <a:srgbClr val="008000"/>
          </a:solidFill>
        </p:spPr>
        <p:txBody>
          <a:bodyPr wrap="square" lIns="0" tIns="0" rIns="0" bIns="0" rtlCol="0"/>
          <a:lstStyle/>
          <a:p>
            <a:endParaRPr/>
          </a:p>
        </p:txBody>
      </p:sp>
      <p:sp>
        <p:nvSpPr>
          <p:cNvPr id="15" name="object 15"/>
          <p:cNvSpPr/>
          <p:nvPr/>
        </p:nvSpPr>
        <p:spPr>
          <a:xfrm>
            <a:off x="4383785" y="3696461"/>
            <a:ext cx="2103120" cy="505459"/>
          </a:xfrm>
          <a:custGeom>
            <a:avLst/>
            <a:gdLst/>
            <a:ahLst/>
            <a:cxnLst/>
            <a:rect l="l" t="t" r="r" b="b"/>
            <a:pathLst>
              <a:path w="2103120" h="505460">
                <a:moveTo>
                  <a:pt x="2022332" y="449397"/>
                </a:moveTo>
                <a:lnTo>
                  <a:pt x="6096" y="0"/>
                </a:lnTo>
                <a:lnTo>
                  <a:pt x="0" y="28194"/>
                </a:lnTo>
                <a:lnTo>
                  <a:pt x="2016148" y="477740"/>
                </a:lnTo>
                <a:lnTo>
                  <a:pt x="2022332" y="449397"/>
                </a:lnTo>
                <a:close/>
              </a:path>
              <a:path w="2103120" h="505460">
                <a:moveTo>
                  <a:pt x="2036826" y="498647"/>
                </a:moveTo>
                <a:lnTo>
                  <a:pt x="2036826" y="452627"/>
                </a:lnTo>
                <a:lnTo>
                  <a:pt x="2029968" y="480821"/>
                </a:lnTo>
                <a:lnTo>
                  <a:pt x="2016148" y="477740"/>
                </a:lnTo>
                <a:lnTo>
                  <a:pt x="2010156" y="505205"/>
                </a:lnTo>
                <a:lnTo>
                  <a:pt x="2036826" y="498647"/>
                </a:lnTo>
                <a:close/>
              </a:path>
              <a:path w="2103120" h="505460">
                <a:moveTo>
                  <a:pt x="2036826" y="452627"/>
                </a:moveTo>
                <a:lnTo>
                  <a:pt x="2022332" y="449397"/>
                </a:lnTo>
                <a:lnTo>
                  <a:pt x="2016148" y="477740"/>
                </a:lnTo>
                <a:lnTo>
                  <a:pt x="2029968" y="480821"/>
                </a:lnTo>
                <a:lnTo>
                  <a:pt x="2036826" y="452627"/>
                </a:lnTo>
                <a:close/>
              </a:path>
              <a:path w="2103120" h="505460">
                <a:moveTo>
                  <a:pt x="2103120" y="482345"/>
                </a:moveTo>
                <a:lnTo>
                  <a:pt x="2028444" y="421385"/>
                </a:lnTo>
                <a:lnTo>
                  <a:pt x="2022332" y="449397"/>
                </a:lnTo>
                <a:lnTo>
                  <a:pt x="2036826" y="452627"/>
                </a:lnTo>
                <a:lnTo>
                  <a:pt x="2036826" y="498647"/>
                </a:lnTo>
                <a:lnTo>
                  <a:pt x="2103120" y="482345"/>
                </a:lnTo>
                <a:close/>
              </a:path>
            </a:pathLst>
          </a:custGeom>
          <a:solidFill>
            <a:srgbClr val="000099"/>
          </a:solidFill>
        </p:spPr>
        <p:txBody>
          <a:bodyPr wrap="square" lIns="0" tIns="0" rIns="0" bIns="0" rtlCol="0"/>
          <a:lstStyle/>
          <a:p>
            <a:endParaRPr/>
          </a:p>
        </p:txBody>
      </p:sp>
      <p:sp>
        <p:nvSpPr>
          <p:cNvPr id="16" name="object 16"/>
          <p:cNvSpPr/>
          <p:nvPr/>
        </p:nvSpPr>
        <p:spPr>
          <a:xfrm>
            <a:off x="4415028" y="4015740"/>
            <a:ext cx="2105660" cy="505459"/>
          </a:xfrm>
          <a:custGeom>
            <a:avLst/>
            <a:gdLst/>
            <a:ahLst/>
            <a:cxnLst/>
            <a:rect l="l" t="t" r="r" b="b"/>
            <a:pathLst>
              <a:path w="2105659" h="505460">
                <a:moveTo>
                  <a:pt x="2024582" y="449561"/>
                </a:moveTo>
                <a:lnTo>
                  <a:pt x="6096" y="0"/>
                </a:lnTo>
                <a:lnTo>
                  <a:pt x="0" y="27432"/>
                </a:lnTo>
                <a:lnTo>
                  <a:pt x="2018592" y="477017"/>
                </a:lnTo>
                <a:lnTo>
                  <a:pt x="2024582" y="449561"/>
                </a:lnTo>
                <a:close/>
              </a:path>
              <a:path w="2105659" h="505460">
                <a:moveTo>
                  <a:pt x="2038350" y="498835"/>
                </a:moveTo>
                <a:lnTo>
                  <a:pt x="2038350" y="452627"/>
                </a:lnTo>
                <a:lnTo>
                  <a:pt x="2032254" y="480059"/>
                </a:lnTo>
                <a:lnTo>
                  <a:pt x="2018592" y="477017"/>
                </a:lnTo>
                <a:lnTo>
                  <a:pt x="2012442" y="505205"/>
                </a:lnTo>
                <a:lnTo>
                  <a:pt x="2038350" y="498835"/>
                </a:lnTo>
                <a:close/>
              </a:path>
              <a:path w="2105659" h="505460">
                <a:moveTo>
                  <a:pt x="2038350" y="452627"/>
                </a:moveTo>
                <a:lnTo>
                  <a:pt x="2024582" y="449561"/>
                </a:lnTo>
                <a:lnTo>
                  <a:pt x="2018592" y="477017"/>
                </a:lnTo>
                <a:lnTo>
                  <a:pt x="2032254" y="480059"/>
                </a:lnTo>
                <a:lnTo>
                  <a:pt x="2038350" y="452627"/>
                </a:lnTo>
                <a:close/>
              </a:path>
              <a:path w="2105659" h="505460">
                <a:moveTo>
                  <a:pt x="2105406" y="482345"/>
                </a:moveTo>
                <a:lnTo>
                  <a:pt x="2030730" y="421385"/>
                </a:lnTo>
                <a:lnTo>
                  <a:pt x="2024582" y="449561"/>
                </a:lnTo>
                <a:lnTo>
                  <a:pt x="2038350" y="452627"/>
                </a:lnTo>
                <a:lnTo>
                  <a:pt x="2038350" y="498835"/>
                </a:lnTo>
                <a:lnTo>
                  <a:pt x="2105406" y="482345"/>
                </a:lnTo>
                <a:close/>
              </a:path>
            </a:pathLst>
          </a:custGeom>
          <a:solidFill>
            <a:srgbClr val="000099"/>
          </a:solidFill>
        </p:spPr>
        <p:txBody>
          <a:bodyPr wrap="square" lIns="0" tIns="0" rIns="0" bIns="0" rtlCol="0"/>
          <a:lstStyle/>
          <a:p>
            <a:endParaRPr/>
          </a:p>
        </p:txBody>
      </p:sp>
      <p:sp>
        <p:nvSpPr>
          <p:cNvPr id="17" name="object 17"/>
          <p:cNvSpPr/>
          <p:nvPr/>
        </p:nvSpPr>
        <p:spPr>
          <a:xfrm>
            <a:off x="4415028" y="3391661"/>
            <a:ext cx="2021839" cy="1112520"/>
          </a:xfrm>
          <a:custGeom>
            <a:avLst/>
            <a:gdLst/>
            <a:ahLst/>
            <a:cxnLst/>
            <a:rect l="l" t="t" r="r" b="b"/>
            <a:pathLst>
              <a:path w="2021839" h="1112520">
                <a:moveTo>
                  <a:pt x="68450" y="1058691"/>
                </a:moveTo>
                <a:lnTo>
                  <a:pt x="54864" y="1034034"/>
                </a:lnTo>
                <a:lnTo>
                  <a:pt x="0" y="1112520"/>
                </a:lnTo>
                <a:lnTo>
                  <a:pt x="56388" y="1110282"/>
                </a:lnTo>
                <a:lnTo>
                  <a:pt x="56388" y="1065276"/>
                </a:lnTo>
                <a:lnTo>
                  <a:pt x="68450" y="1058691"/>
                </a:lnTo>
                <a:close/>
              </a:path>
              <a:path w="2021839" h="1112520">
                <a:moveTo>
                  <a:pt x="82099" y="1083460"/>
                </a:moveTo>
                <a:lnTo>
                  <a:pt x="68450" y="1058691"/>
                </a:lnTo>
                <a:lnTo>
                  <a:pt x="56388" y="1065276"/>
                </a:lnTo>
                <a:lnTo>
                  <a:pt x="69342" y="1090422"/>
                </a:lnTo>
                <a:lnTo>
                  <a:pt x="82099" y="1083460"/>
                </a:lnTo>
                <a:close/>
              </a:path>
              <a:path w="2021839" h="1112520">
                <a:moveTo>
                  <a:pt x="96012" y="1108710"/>
                </a:moveTo>
                <a:lnTo>
                  <a:pt x="82099" y="1083460"/>
                </a:lnTo>
                <a:lnTo>
                  <a:pt x="69342" y="1090422"/>
                </a:lnTo>
                <a:lnTo>
                  <a:pt x="56388" y="1065276"/>
                </a:lnTo>
                <a:lnTo>
                  <a:pt x="56388" y="1110282"/>
                </a:lnTo>
                <a:lnTo>
                  <a:pt x="96012" y="1108710"/>
                </a:lnTo>
                <a:close/>
              </a:path>
              <a:path w="2021839" h="1112520">
                <a:moveTo>
                  <a:pt x="2021586" y="25146"/>
                </a:moveTo>
                <a:lnTo>
                  <a:pt x="2007870" y="0"/>
                </a:lnTo>
                <a:lnTo>
                  <a:pt x="68450" y="1058691"/>
                </a:lnTo>
                <a:lnTo>
                  <a:pt x="82099" y="1083460"/>
                </a:lnTo>
                <a:lnTo>
                  <a:pt x="2021586" y="25146"/>
                </a:lnTo>
                <a:close/>
              </a:path>
            </a:pathLst>
          </a:custGeom>
          <a:solidFill>
            <a:srgbClr val="008000"/>
          </a:solidFill>
        </p:spPr>
        <p:txBody>
          <a:bodyPr wrap="square" lIns="0" tIns="0" rIns="0" bIns="0" rtlCol="0"/>
          <a:lstStyle/>
          <a:p>
            <a:endParaRPr/>
          </a:p>
        </p:txBody>
      </p:sp>
      <p:sp>
        <p:nvSpPr>
          <p:cNvPr id="18" name="object 18"/>
          <p:cNvSpPr/>
          <p:nvPr/>
        </p:nvSpPr>
        <p:spPr>
          <a:xfrm>
            <a:off x="4378833" y="2595372"/>
            <a:ext cx="0" cy="2459990"/>
          </a:xfrm>
          <a:custGeom>
            <a:avLst/>
            <a:gdLst/>
            <a:ahLst/>
            <a:cxnLst/>
            <a:rect l="l" t="t" r="r" b="b"/>
            <a:pathLst>
              <a:path h="2459990">
                <a:moveTo>
                  <a:pt x="0" y="0"/>
                </a:moveTo>
                <a:lnTo>
                  <a:pt x="0" y="2459736"/>
                </a:lnTo>
              </a:path>
            </a:pathLst>
          </a:custGeom>
          <a:ln w="28194">
            <a:solidFill>
              <a:srgbClr val="000000"/>
            </a:solidFill>
          </a:ln>
        </p:spPr>
        <p:txBody>
          <a:bodyPr wrap="square" lIns="0" tIns="0" rIns="0" bIns="0" rtlCol="0"/>
          <a:lstStyle/>
          <a:p>
            <a:endParaRPr/>
          </a:p>
        </p:txBody>
      </p:sp>
      <p:sp>
        <p:nvSpPr>
          <p:cNvPr id="19" name="object 19"/>
          <p:cNvSpPr/>
          <p:nvPr/>
        </p:nvSpPr>
        <p:spPr>
          <a:xfrm>
            <a:off x="4275582" y="2592704"/>
            <a:ext cx="100965" cy="0"/>
          </a:xfrm>
          <a:custGeom>
            <a:avLst/>
            <a:gdLst/>
            <a:ahLst/>
            <a:cxnLst/>
            <a:rect l="l" t="t" r="r" b="b"/>
            <a:pathLst>
              <a:path w="100964">
                <a:moveTo>
                  <a:pt x="0" y="0"/>
                </a:moveTo>
                <a:lnTo>
                  <a:pt x="100584" y="0"/>
                </a:lnTo>
              </a:path>
            </a:pathLst>
          </a:custGeom>
          <a:ln w="28194">
            <a:solidFill>
              <a:srgbClr val="000000"/>
            </a:solidFill>
          </a:ln>
        </p:spPr>
        <p:txBody>
          <a:bodyPr wrap="square" lIns="0" tIns="0" rIns="0" bIns="0" rtlCol="0"/>
          <a:lstStyle/>
          <a:p>
            <a:endParaRPr/>
          </a:p>
        </p:txBody>
      </p:sp>
      <p:sp>
        <p:nvSpPr>
          <p:cNvPr id="20" name="object 20"/>
          <p:cNvSpPr/>
          <p:nvPr/>
        </p:nvSpPr>
        <p:spPr>
          <a:xfrm>
            <a:off x="4275582" y="5055108"/>
            <a:ext cx="100965" cy="0"/>
          </a:xfrm>
          <a:custGeom>
            <a:avLst/>
            <a:gdLst/>
            <a:ahLst/>
            <a:cxnLst/>
            <a:rect l="l" t="t" r="r" b="b"/>
            <a:pathLst>
              <a:path w="100964">
                <a:moveTo>
                  <a:pt x="0" y="0"/>
                </a:moveTo>
                <a:lnTo>
                  <a:pt x="100584" y="0"/>
                </a:lnTo>
              </a:path>
            </a:pathLst>
          </a:custGeom>
          <a:ln w="28955">
            <a:solidFill>
              <a:srgbClr val="000000"/>
            </a:solidFill>
          </a:ln>
        </p:spPr>
        <p:txBody>
          <a:bodyPr wrap="square" lIns="0" tIns="0" rIns="0" bIns="0" rtlCol="0"/>
          <a:lstStyle/>
          <a:p>
            <a:endParaRPr/>
          </a:p>
        </p:txBody>
      </p:sp>
      <p:sp>
        <p:nvSpPr>
          <p:cNvPr id="21" name="object 21"/>
          <p:cNvSpPr/>
          <p:nvPr/>
        </p:nvSpPr>
        <p:spPr>
          <a:xfrm>
            <a:off x="4391405" y="5209032"/>
            <a:ext cx="2103120" cy="506095"/>
          </a:xfrm>
          <a:custGeom>
            <a:avLst/>
            <a:gdLst/>
            <a:ahLst/>
            <a:cxnLst/>
            <a:rect l="l" t="t" r="r" b="b"/>
            <a:pathLst>
              <a:path w="2103120" h="506095">
                <a:moveTo>
                  <a:pt x="2022816" y="450262"/>
                </a:moveTo>
                <a:lnTo>
                  <a:pt x="6096" y="0"/>
                </a:lnTo>
                <a:lnTo>
                  <a:pt x="0" y="28194"/>
                </a:lnTo>
                <a:lnTo>
                  <a:pt x="2016587" y="477669"/>
                </a:lnTo>
                <a:lnTo>
                  <a:pt x="2022816" y="450262"/>
                </a:lnTo>
                <a:close/>
              </a:path>
              <a:path w="2103120" h="506095">
                <a:moveTo>
                  <a:pt x="2036826" y="499191"/>
                </a:moveTo>
                <a:lnTo>
                  <a:pt x="2036826" y="453389"/>
                </a:lnTo>
                <a:lnTo>
                  <a:pt x="2030730" y="480821"/>
                </a:lnTo>
                <a:lnTo>
                  <a:pt x="2016587" y="477669"/>
                </a:lnTo>
                <a:lnTo>
                  <a:pt x="2010156" y="505967"/>
                </a:lnTo>
                <a:lnTo>
                  <a:pt x="2036826" y="499191"/>
                </a:lnTo>
                <a:close/>
              </a:path>
              <a:path w="2103120" h="506095">
                <a:moveTo>
                  <a:pt x="2036826" y="453389"/>
                </a:moveTo>
                <a:lnTo>
                  <a:pt x="2022816" y="450262"/>
                </a:lnTo>
                <a:lnTo>
                  <a:pt x="2016587" y="477669"/>
                </a:lnTo>
                <a:lnTo>
                  <a:pt x="2030730" y="480821"/>
                </a:lnTo>
                <a:lnTo>
                  <a:pt x="2036826" y="453389"/>
                </a:lnTo>
                <a:close/>
              </a:path>
              <a:path w="2103120" h="506095">
                <a:moveTo>
                  <a:pt x="2103120" y="482345"/>
                </a:moveTo>
                <a:lnTo>
                  <a:pt x="2029206" y="422147"/>
                </a:lnTo>
                <a:lnTo>
                  <a:pt x="2022816" y="450262"/>
                </a:lnTo>
                <a:lnTo>
                  <a:pt x="2036826" y="453389"/>
                </a:lnTo>
                <a:lnTo>
                  <a:pt x="2036826" y="499191"/>
                </a:lnTo>
                <a:lnTo>
                  <a:pt x="2103120" y="482345"/>
                </a:lnTo>
                <a:close/>
              </a:path>
            </a:pathLst>
          </a:custGeom>
          <a:solidFill>
            <a:srgbClr val="000099"/>
          </a:solidFill>
        </p:spPr>
        <p:txBody>
          <a:bodyPr wrap="square" lIns="0" tIns="0" rIns="0" bIns="0" rtlCol="0"/>
          <a:lstStyle/>
          <a:p>
            <a:endParaRPr/>
          </a:p>
        </p:txBody>
      </p:sp>
      <p:sp>
        <p:nvSpPr>
          <p:cNvPr id="22" name="object 22"/>
          <p:cNvSpPr/>
          <p:nvPr/>
        </p:nvSpPr>
        <p:spPr>
          <a:xfrm>
            <a:off x="4383785" y="5453634"/>
            <a:ext cx="2105025" cy="505459"/>
          </a:xfrm>
          <a:custGeom>
            <a:avLst/>
            <a:gdLst/>
            <a:ahLst/>
            <a:cxnLst/>
            <a:rect l="l" t="t" r="r" b="b"/>
            <a:pathLst>
              <a:path w="2105025" h="505460">
                <a:moveTo>
                  <a:pt x="2023962" y="449423"/>
                </a:moveTo>
                <a:lnTo>
                  <a:pt x="6096" y="0"/>
                </a:lnTo>
                <a:lnTo>
                  <a:pt x="0" y="28194"/>
                </a:lnTo>
                <a:lnTo>
                  <a:pt x="2017724" y="477754"/>
                </a:lnTo>
                <a:lnTo>
                  <a:pt x="2023962" y="449423"/>
                </a:lnTo>
                <a:close/>
              </a:path>
              <a:path w="2105025" h="505460">
                <a:moveTo>
                  <a:pt x="2038350" y="498647"/>
                </a:moveTo>
                <a:lnTo>
                  <a:pt x="2038350" y="452627"/>
                </a:lnTo>
                <a:lnTo>
                  <a:pt x="2031492" y="480821"/>
                </a:lnTo>
                <a:lnTo>
                  <a:pt x="2017724" y="477754"/>
                </a:lnTo>
                <a:lnTo>
                  <a:pt x="2011680" y="505205"/>
                </a:lnTo>
                <a:lnTo>
                  <a:pt x="2038350" y="498647"/>
                </a:lnTo>
                <a:close/>
              </a:path>
              <a:path w="2105025" h="505460">
                <a:moveTo>
                  <a:pt x="2038350" y="452627"/>
                </a:moveTo>
                <a:lnTo>
                  <a:pt x="2023962" y="449423"/>
                </a:lnTo>
                <a:lnTo>
                  <a:pt x="2017724" y="477754"/>
                </a:lnTo>
                <a:lnTo>
                  <a:pt x="2031492" y="480821"/>
                </a:lnTo>
                <a:lnTo>
                  <a:pt x="2038350" y="452627"/>
                </a:lnTo>
                <a:close/>
              </a:path>
              <a:path w="2105025" h="505460">
                <a:moveTo>
                  <a:pt x="2104644" y="482345"/>
                </a:moveTo>
                <a:lnTo>
                  <a:pt x="2029968" y="422147"/>
                </a:lnTo>
                <a:lnTo>
                  <a:pt x="2023962" y="449423"/>
                </a:lnTo>
                <a:lnTo>
                  <a:pt x="2038350" y="452627"/>
                </a:lnTo>
                <a:lnTo>
                  <a:pt x="2038350" y="498647"/>
                </a:lnTo>
                <a:lnTo>
                  <a:pt x="2104644" y="482345"/>
                </a:lnTo>
                <a:close/>
              </a:path>
            </a:pathLst>
          </a:custGeom>
          <a:solidFill>
            <a:srgbClr val="000099"/>
          </a:solidFill>
        </p:spPr>
        <p:txBody>
          <a:bodyPr wrap="square" lIns="0" tIns="0" rIns="0" bIns="0" rtlCol="0"/>
          <a:lstStyle/>
          <a:p>
            <a:endParaRPr/>
          </a:p>
        </p:txBody>
      </p:sp>
      <p:sp>
        <p:nvSpPr>
          <p:cNvPr id="23" name="object 23"/>
          <p:cNvSpPr/>
          <p:nvPr/>
        </p:nvSpPr>
        <p:spPr>
          <a:xfrm>
            <a:off x="4376928" y="5686805"/>
            <a:ext cx="2105660" cy="506095"/>
          </a:xfrm>
          <a:custGeom>
            <a:avLst/>
            <a:gdLst/>
            <a:ahLst/>
            <a:cxnLst/>
            <a:rect l="l" t="t" r="r" b="b"/>
            <a:pathLst>
              <a:path w="2105660" h="506095">
                <a:moveTo>
                  <a:pt x="2024583" y="450318"/>
                </a:moveTo>
                <a:lnTo>
                  <a:pt x="6096" y="0"/>
                </a:lnTo>
                <a:lnTo>
                  <a:pt x="0" y="28194"/>
                </a:lnTo>
                <a:lnTo>
                  <a:pt x="2018592" y="477779"/>
                </a:lnTo>
                <a:lnTo>
                  <a:pt x="2024583" y="450318"/>
                </a:lnTo>
                <a:close/>
              </a:path>
              <a:path w="2105660" h="506095">
                <a:moveTo>
                  <a:pt x="2038350" y="499384"/>
                </a:moveTo>
                <a:lnTo>
                  <a:pt x="2038350" y="453389"/>
                </a:lnTo>
                <a:lnTo>
                  <a:pt x="2032254" y="480821"/>
                </a:lnTo>
                <a:lnTo>
                  <a:pt x="2018592" y="477779"/>
                </a:lnTo>
                <a:lnTo>
                  <a:pt x="2012442" y="505967"/>
                </a:lnTo>
                <a:lnTo>
                  <a:pt x="2038350" y="499384"/>
                </a:lnTo>
                <a:close/>
              </a:path>
              <a:path w="2105660" h="506095">
                <a:moveTo>
                  <a:pt x="2038350" y="453389"/>
                </a:moveTo>
                <a:lnTo>
                  <a:pt x="2024583" y="450318"/>
                </a:lnTo>
                <a:lnTo>
                  <a:pt x="2018592" y="477779"/>
                </a:lnTo>
                <a:lnTo>
                  <a:pt x="2032254" y="480821"/>
                </a:lnTo>
                <a:lnTo>
                  <a:pt x="2038350" y="453389"/>
                </a:lnTo>
                <a:close/>
              </a:path>
              <a:path w="2105660" h="506095">
                <a:moveTo>
                  <a:pt x="2105406" y="482345"/>
                </a:moveTo>
                <a:lnTo>
                  <a:pt x="2030730" y="422147"/>
                </a:lnTo>
                <a:lnTo>
                  <a:pt x="2024583" y="450318"/>
                </a:lnTo>
                <a:lnTo>
                  <a:pt x="2038350" y="453389"/>
                </a:lnTo>
                <a:lnTo>
                  <a:pt x="2038350" y="499384"/>
                </a:lnTo>
                <a:lnTo>
                  <a:pt x="2105406" y="482345"/>
                </a:lnTo>
                <a:close/>
              </a:path>
            </a:pathLst>
          </a:custGeom>
          <a:solidFill>
            <a:srgbClr val="000099"/>
          </a:solidFill>
        </p:spPr>
        <p:txBody>
          <a:bodyPr wrap="square" lIns="0" tIns="0" rIns="0" bIns="0" rtlCol="0"/>
          <a:lstStyle/>
          <a:p>
            <a:endParaRPr/>
          </a:p>
        </p:txBody>
      </p:sp>
      <p:sp>
        <p:nvSpPr>
          <p:cNvPr id="24" name="object 24"/>
          <p:cNvSpPr/>
          <p:nvPr/>
        </p:nvSpPr>
        <p:spPr>
          <a:xfrm>
            <a:off x="4379976" y="5920740"/>
            <a:ext cx="2104390" cy="505459"/>
          </a:xfrm>
          <a:custGeom>
            <a:avLst/>
            <a:gdLst/>
            <a:ahLst/>
            <a:cxnLst/>
            <a:rect l="l" t="t" r="r" b="b"/>
            <a:pathLst>
              <a:path w="2104390" h="505460">
                <a:moveTo>
                  <a:pt x="2023059" y="449558"/>
                </a:moveTo>
                <a:lnTo>
                  <a:pt x="6858" y="0"/>
                </a:lnTo>
                <a:lnTo>
                  <a:pt x="0" y="27432"/>
                </a:lnTo>
                <a:lnTo>
                  <a:pt x="2017068" y="477015"/>
                </a:lnTo>
                <a:lnTo>
                  <a:pt x="2023059" y="449558"/>
                </a:lnTo>
                <a:close/>
              </a:path>
              <a:path w="2104390" h="505460">
                <a:moveTo>
                  <a:pt x="2036826" y="498835"/>
                </a:moveTo>
                <a:lnTo>
                  <a:pt x="2036826" y="452627"/>
                </a:lnTo>
                <a:lnTo>
                  <a:pt x="2030730" y="480059"/>
                </a:lnTo>
                <a:lnTo>
                  <a:pt x="2017068" y="477015"/>
                </a:lnTo>
                <a:lnTo>
                  <a:pt x="2010918" y="505205"/>
                </a:lnTo>
                <a:lnTo>
                  <a:pt x="2036826" y="498835"/>
                </a:lnTo>
                <a:close/>
              </a:path>
              <a:path w="2104390" h="505460">
                <a:moveTo>
                  <a:pt x="2036826" y="452627"/>
                </a:moveTo>
                <a:lnTo>
                  <a:pt x="2023059" y="449558"/>
                </a:lnTo>
                <a:lnTo>
                  <a:pt x="2017068" y="477015"/>
                </a:lnTo>
                <a:lnTo>
                  <a:pt x="2030730" y="480059"/>
                </a:lnTo>
                <a:lnTo>
                  <a:pt x="2036826" y="452627"/>
                </a:lnTo>
                <a:close/>
              </a:path>
              <a:path w="2104390" h="505460">
                <a:moveTo>
                  <a:pt x="2103882" y="482345"/>
                </a:moveTo>
                <a:lnTo>
                  <a:pt x="2029206" y="421385"/>
                </a:lnTo>
                <a:lnTo>
                  <a:pt x="2023059" y="449558"/>
                </a:lnTo>
                <a:lnTo>
                  <a:pt x="2036826" y="452627"/>
                </a:lnTo>
                <a:lnTo>
                  <a:pt x="2036826" y="498835"/>
                </a:lnTo>
                <a:lnTo>
                  <a:pt x="2103882" y="482345"/>
                </a:lnTo>
                <a:close/>
              </a:path>
            </a:pathLst>
          </a:custGeom>
          <a:solidFill>
            <a:srgbClr val="000099"/>
          </a:solidFill>
        </p:spPr>
        <p:txBody>
          <a:bodyPr wrap="square" lIns="0" tIns="0" rIns="0" bIns="0" rtlCol="0"/>
          <a:lstStyle/>
          <a:p>
            <a:endParaRPr/>
          </a:p>
        </p:txBody>
      </p:sp>
      <p:sp>
        <p:nvSpPr>
          <p:cNvPr id="25" name="object 25"/>
          <p:cNvSpPr txBox="1"/>
          <p:nvPr/>
        </p:nvSpPr>
        <p:spPr>
          <a:xfrm>
            <a:off x="6536690" y="3165602"/>
            <a:ext cx="2075814" cy="1796414"/>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nhận pkt3, bỏ,</a:t>
            </a:r>
          </a:p>
          <a:p>
            <a:pPr marL="798195">
              <a:lnSpc>
                <a:spcPct val="100000"/>
              </a:lnSpc>
            </a:pPr>
            <a:r>
              <a:rPr sz="1800" dirty="0">
                <a:latin typeface="Tahoma"/>
                <a:cs typeface="Tahoma"/>
              </a:rPr>
              <a:t>gửi lại ack1</a:t>
            </a:r>
          </a:p>
          <a:p>
            <a:pPr marL="422275" marR="495300" indent="-398145">
              <a:lnSpc>
                <a:spcPct val="100000"/>
              </a:lnSpc>
              <a:spcBef>
                <a:spcPts val="1200"/>
              </a:spcBef>
            </a:pPr>
            <a:r>
              <a:rPr sz="1800" dirty="0">
                <a:latin typeface="Tahoma"/>
                <a:cs typeface="Tahoma"/>
              </a:rPr>
              <a:t>nhận pkt4, bỏ,  gửi lại ack1</a:t>
            </a:r>
          </a:p>
          <a:p>
            <a:pPr marL="48895">
              <a:lnSpc>
                <a:spcPts val="1945"/>
              </a:lnSpc>
            </a:pPr>
            <a:r>
              <a:rPr sz="1800" dirty="0">
                <a:latin typeface="Tahoma"/>
                <a:cs typeface="Tahoma"/>
              </a:rPr>
              <a:t>nhận pkt5, </a:t>
            </a:r>
            <a:r>
              <a:rPr lang="en-US" sz="1800" dirty="0" err="1">
                <a:latin typeface="Tahoma"/>
                <a:cs typeface="Tahoma"/>
              </a:rPr>
              <a:t>bỏ</a:t>
            </a:r>
            <a:r>
              <a:rPr sz="1800" dirty="0">
                <a:latin typeface="Tahoma"/>
                <a:cs typeface="Tahoma"/>
              </a:rPr>
              <a:t>,</a:t>
            </a:r>
          </a:p>
          <a:p>
            <a:pPr marL="913130">
              <a:lnSpc>
                <a:spcPct val="100000"/>
              </a:lnSpc>
            </a:pPr>
            <a:r>
              <a:rPr sz="1800" dirty="0">
                <a:latin typeface="Tahoma"/>
                <a:cs typeface="Tahoma"/>
              </a:rPr>
              <a:t>gửi lại ack1</a:t>
            </a:r>
          </a:p>
        </p:txBody>
      </p:sp>
      <p:sp>
        <p:nvSpPr>
          <p:cNvPr id="26" name="object 26"/>
          <p:cNvSpPr txBox="1"/>
          <p:nvPr/>
        </p:nvSpPr>
        <p:spPr>
          <a:xfrm>
            <a:off x="6563283" y="5514093"/>
            <a:ext cx="2897505" cy="1040765"/>
          </a:xfrm>
          <a:prstGeom prst="rect">
            <a:avLst/>
          </a:prstGeom>
        </p:spPr>
        <p:txBody>
          <a:bodyPr vert="horz" wrap="square" lIns="0" tIns="43815" rIns="0" bIns="0" rtlCol="0">
            <a:spAutoFit/>
          </a:bodyPr>
          <a:lstStyle/>
          <a:p>
            <a:pPr marL="12700" marR="5080" indent="-635" algn="just">
              <a:lnSpc>
                <a:spcPts val="1939"/>
              </a:lnSpc>
              <a:spcBef>
                <a:spcPts val="345"/>
              </a:spcBef>
            </a:pPr>
            <a:r>
              <a:rPr sz="1800" dirty="0">
                <a:latin typeface="Tahoma"/>
                <a:cs typeface="Tahoma"/>
              </a:rPr>
              <a:t>nhận pkt2, chuyển, gửi ack2  nhận pkt3, chuyển, gửi ack3  nhận pkt4, chuyển, gửi ack4  nhận pkt5, chuyển, gửi ack5</a:t>
            </a:r>
            <a:endParaRPr sz="1800">
              <a:latin typeface="Tahoma"/>
              <a:cs typeface="Tahoma"/>
            </a:endParaRPr>
          </a:p>
        </p:txBody>
      </p:sp>
      <p:sp>
        <p:nvSpPr>
          <p:cNvPr id="27" name="object 27"/>
          <p:cNvSpPr txBox="1"/>
          <p:nvPr/>
        </p:nvSpPr>
        <p:spPr>
          <a:xfrm>
            <a:off x="2828798" y="4371085"/>
            <a:ext cx="1519047"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bỏ qua ACK</a:t>
            </a:r>
            <a:r>
              <a:rPr lang="en-US" sz="1400" dirty="0">
                <a:latin typeface="Tahoma"/>
                <a:cs typeface="Tahoma"/>
              </a:rPr>
              <a:t>1</a:t>
            </a:r>
            <a:r>
              <a:rPr sz="1400" dirty="0">
                <a:latin typeface="Tahoma"/>
                <a:cs typeface="Tahoma"/>
              </a:rPr>
              <a:t> lặp</a:t>
            </a:r>
          </a:p>
        </p:txBody>
      </p:sp>
      <p:sp>
        <p:nvSpPr>
          <p:cNvPr id="28" name="object 28"/>
          <p:cNvSpPr txBox="1"/>
          <p:nvPr/>
        </p:nvSpPr>
        <p:spPr>
          <a:xfrm>
            <a:off x="676148" y="1465227"/>
            <a:ext cx="1986914" cy="970779"/>
          </a:xfrm>
          <a:prstGeom prst="rect">
            <a:avLst/>
          </a:prstGeom>
        </p:spPr>
        <p:txBody>
          <a:bodyPr vert="horz" wrap="square" lIns="0" tIns="128270" rIns="0" bIns="0" rtlCol="0">
            <a:spAutoFit/>
          </a:bodyPr>
          <a:lstStyle/>
          <a:p>
            <a:pPr marL="12700">
              <a:lnSpc>
                <a:spcPct val="100000"/>
              </a:lnSpc>
              <a:spcBef>
                <a:spcPts val="1010"/>
              </a:spcBef>
            </a:pPr>
            <a:r>
              <a:rPr sz="1700" i="1" u="sng" dirty="0">
                <a:solidFill>
                  <a:srgbClr val="00009A"/>
                </a:solidFill>
                <a:uFill>
                  <a:solidFill>
                    <a:srgbClr val="000099"/>
                  </a:solidFill>
                </a:uFill>
                <a:latin typeface="Tahoma"/>
                <a:cs typeface="Tahoma"/>
              </a:rPr>
              <a:t>sender window (N=4)</a:t>
            </a:r>
            <a:endParaRPr sz="1700" dirty="0">
              <a:latin typeface="Tahoma"/>
              <a:cs typeface="Tahoma"/>
            </a:endParaRPr>
          </a:p>
          <a:p>
            <a:pPr marL="55244">
              <a:lnSpc>
                <a:spcPct val="100000"/>
              </a:lnSpc>
              <a:spcBef>
                <a:spcPts val="755"/>
              </a:spcBef>
            </a:pPr>
            <a:r>
              <a:rPr sz="1400" dirty="0">
                <a:solidFill>
                  <a:srgbClr val="FFFFFF"/>
                </a:solidFill>
                <a:latin typeface="Arial"/>
                <a:cs typeface="Arial"/>
              </a:rPr>
              <a:t>0 0 1 2</a:t>
            </a:r>
            <a:r>
              <a:rPr lang="en-US" sz="1400" dirty="0">
                <a:latin typeface="Arial"/>
                <a:cs typeface="Arial"/>
              </a:rPr>
              <a:t>0123 4 5 6 7 8</a:t>
            </a:r>
            <a:endParaRPr sz="1400" dirty="0">
              <a:latin typeface="Arial"/>
              <a:cs typeface="Arial"/>
            </a:endParaRPr>
          </a:p>
        </p:txBody>
      </p:sp>
      <p:sp>
        <p:nvSpPr>
          <p:cNvPr id="29" name="object 29"/>
          <p:cNvSpPr txBox="1"/>
          <p:nvPr/>
        </p:nvSpPr>
        <p:spPr>
          <a:xfrm>
            <a:off x="717295" y="3552697"/>
            <a:ext cx="12446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a:t>
            </a:r>
            <a:endParaRPr sz="1400">
              <a:latin typeface="Arial"/>
              <a:cs typeface="Arial"/>
            </a:endParaRPr>
          </a:p>
        </p:txBody>
      </p:sp>
      <p:sp>
        <p:nvSpPr>
          <p:cNvPr id="30" name="object 30"/>
          <p:cNvSpPr txBox="1"/>
          <p:nvPr/>
        </p:nvSpPr>
        <p:spPr>
          <a:xfrm>
            <a:off x="852677" y="3559302"/>
            <a:ext cx="628650" cy="228600"/>
          </a:xfrm>
          <a:prstGeom prst="rect">
            <a:avLst/>
          </a:prstGeom>
          <a:solidFill>
            <a:srgbClr val="000099"/>
          </a:solidFill>
        </p:spPr>
        <p:txBody>
          <a:bodyPr vert="horz" wrap="square" lIns="0" tIns="5715" rIns="0" bIns="0" rtlCol="0">
            <a:spAutoFit/>
          </a:bodyPr>
          <a:lstStyle/>
          <a:p>
            <a:pPr marL="24765">
              <a:lnSpc>
                <a:spcPct val="100000"/>
              </a:lnSpc>
              <a:spcBef>
                <a:spcPts val="45"/>
              </a:spcBef>
            </a:pPr>
            <a:r>
              <a:rPr sz="1400" dirty="0">
                <a:solidFill>
                  <a:srgbClr val="FFFFFF"/>
                </a:solidFill>
                <a:latin typeface="Arial"/>
                <a:cs typeface="Arial"/>
              </a:rPr>
              <a:t>1 2 3 4</a:t>
            </a:r>
            <a:endParaRPr sz="1400" dirty="0">
              <a:latin typeface="Arial"/>
              <a:cs typeface="Arial"/>
            </a:endParaRPr>
          </a:p>
        </p:txBody>
      </p:sp>
      <p:sp>
        <p:nvSpPr>
          <p:cNvPr id="31" name="object 31"/>
          <p:cNvSpPr txBox="1"/>
          <p:nvPr/>
        </p:nvSpPr>
        <p:spPr>
          <a:xfrm>
            <a:off x="1455674" y="3504684"/>
            <a:ext cx="2853055" cy="299720"/>
          </a:xfrm>
          <a:prstGeom prst="rect">
            <a:avLst/>
          </a:prstGeom>
        </p:spPr>
        <p:txBody>
          <a:bodyPr vert="horz" wrap="square" lIns="0" tIns="12700" rIns="0" bIns="0" rtlCol="0">
            <a:spAutoFit/>
          </a:bodyPr>
          <a:lstStyle/>
          <a:p>
            <a:pPr marL="12700">
              <a:lnSpc>
                <a:spcPct val="100000"/>
              </a:lnSpc>
              <a:spcBef>
                <a:spcPts val="100"/>
              </a:spcBef>
              <a:tabLst>
                <a:tab pos="829944" algn="l"/>
              </a:tabLst>
            </a:pPr>
            <a:r>
              <a:rPr sz="1400" dirty="0">
                <a:latin typeface="Arial"/>
                <a:cs typeface="Arial"/>
              </a:rPr>
              <a:t>5 6 7 8	</a:t>
            </a:r>
            <a:r>
              <a:rPr sz="1800" dirty="0">
                <a:latin typeface="Tahoma"/>
                <a:cs typeface="Tahoma"/>
              </a:rPr>
              <a:t>nhận ack0, gửi pkt4</a:t>
            </a:r>
          </a:p>
        </p:txBody>
      </p:sp>
      <p:sp>
        <p:nvSpPr>
          <p:cNvPr id="32" name="object 32"/>
          <p:cNvSpPr txBox="1"/>
          <p:nvPr/>
        </p:nvSpPr>
        <p:spPr>
          <a:xfrm>
            <a:off x="714248" y="3827017"/>
            <a:ext cx="272415"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0 1</a:t>
            </a:r>
            <a:endParaRPr sz="1400">
              <a:latin typeface="Arial"/>
              <a:cs typeface="Arial"/>
            </a:endParaRPr>
          </a:p>
        </p:txBody>
      </p:sp>
      <p:sp>
        <p:nvSpPr>
          <p:cNvPr id="33" name="object 33"/>
          <p:cNvSpPr txBox="1"/>
          <p:nvPr/>
        </p:nvSpPr>
        <p:spPr>
          <a:xfrm>
            <a:off x="994410" y="3834384"/>
            <a:ext cx="628650" cy="228600"/>
          </a:xfrm>
          <a:prstGeom prst="rect">
            <a:avLst/>
          </a:prstGeom>
          <a:solidFill>
            <a:srgbClr val="000099"/>
          </a:solidFill>
        </p:spPr>
        <p:txBody>
          <a:bodyPr vert="horz" wrap="square" lIns="0" tIns="5080" rIns="0" bIns="0" rtlCol="0">
            <a:spAutoFit/>
          </a:bodyPr>
          <a:lstStyle/>
          <a:p>
            <a:pPr marL="27940">
              <a:lnSpc>
                <a:spcPct val="100000"/>
              </a:lnSpc>
              <a:spcBef>
                <a:spcPts val="40"/>
              </a:spcBef>
            </a:pPr>
            <a:r>
              <a:rPr sz="1400" dirty="0">
                <a:solidFill>
                  <a:srgbClr val="FFFFFF"/>
                </a:solidFill>
                <a:latin typeface="Arial"/>
                <a:cs typeface="Arial"/>
              </a:rPr>
              <a:t>2 3 4 5</a:t>
            </a:r>
            <a:endParaRPr sz="1400">
              <a:latin typeface="Arial"/>
              <a:cs typeface="Arial"/>
            </a:endParaRPr>
          </a:p>
        </p:txBody>
      </p:sp>
      <p:sp>
        <p:nvSpPr>
          <p:cNvPr id="34" name="object 34"/>
          <p:cNvSpPr txBox="1"/>
          <p:nvPr/>
        </p:nvSpPr>
        <p:spPr>
          <a:xfrm>
            <a:off x="1600451" y="3779004"/>
            <a:ext cx="2708275" cy="299720"/>
          </a:xfrm>
          <a:prstGeom prst="rect">
            <a:avLst/>
          </a:prstGeom>
        </p:spPr>
        <p:txBody>
          <a:bodyPr vert="horz" wrap="square" lIns="0" tIns="12700" rIns="0" bIns="0" rtlCol="0">
            <a:spAutoFit/>
          </a:bodyPr>
          <a:lstStyle/>
          <a:p>
            <a:pPr marL="12700">
              <a:lnSpc>
                <a:spcPct val="100000"/>
              </a:lnSpc>
              <a:spcBef>
                <a:spcPts val="100"/>
              </a:spcBef>
              <a:tabLst>
                <a:tab pos="685165" algn="l"/>
              </a:tabLst>
            </a:pPr>
            <a:r>
              <a:rPr sz="1400" dirty="0">
                <a:latin typeface="Arial"/>
                <a:cs typeface="Arial"/>
              </a:rPr>
              <a:t>6 7 8	</a:t>
            </a:r>
            <a:r>
              <a:rPr sz="1800" dirty="0">
                <a:latin typeface="Tahoma"/>
                <a:cs typeface="Tahoma"/>
              </a:rPr>
              <a:t>nhận ack1, gửi pkt5</a:t>
            </a:r>
          </a:p>
        </p:txBody>
      </p:sp>
      <p:sp>
        <p:nvSpPr>
          <p:cNvPr id="36" name="object 36"/>
          <p:cNvSpPr/>
          <p:nvPr/>
        </p:nvSpPr>
        <p:spPr>
          <a:xfrm>
            <a:off x="5448300" y="4202429"/>
            <a:ext cx="1041400" cy="576580"/>
          </a:xfrm>
          <a:custGeom>
            <a:avLst/>
            <a:gdLst/>
            <a:ahLst/>
            <a:cxnLst/>
            <a:rect l="l" t="t" r="r" b="b"/>
            <a:pathLst>
              <a:path w="1041400" h="576579">
                <a:moveTo>
                  <a:pt x="68666" y="522891"/>
                </a:moveTo>
                <a:lnTo>
                  <a:pt x="54863" y="497586"/>
                </a:lnTo>
                <a:lnTo>
                  <a:pt x="0" y="576072"/>
                </a:lnTo>
                <a:lnTo>
                  <a:pt x="56387" y="574281"/>
                </a:lnTo>
                <a:lnTo>
                  <a:pt x="56387" y="529590"/>
                </a:lnTo>
                <a:lnTo>
                  <a:pt x="68666" y="522891"/>
                </a:lnTo>
                <a:close/>
              </a:path>
              <a:path w="1041400" h="576579">
                <a:moveTo>
                  <a:pt x="82382" y="548037"/>
                </a:moveTo>
                <a:lnTo>
                  <a:pt x="68666" y="522891"/>
                </a:lnTo>
                <a:lnTo>
                  <a:pt x="56387" y="529590"/>
                </a:lnTo>
                <a:lnTo>
                  <a:pt x="70103" y="554736"/>
                </a:lnTo>
                <a:lnTo>
                  <a:pt x="82382" y="548037"/>
                </a:lnTo>
                <a:close/>
              </a:path>
              <a:path w="1041400" h="576579">
                <a:moveTo>
                  <a:pt x="96012" y="573024"/>
                </a:moveTo>
                <a:lnTo>
                  <a:pt x="82382" y="548037"/>
                </a:lnTo>
                <a:lnTo>
                  <a:pt x="70103" y="554736"/>
                </a:lnTo>
                <a:lnTo>
                  <a:pt x="56387" y="529590"/>
                </a:lnTo>
                <a:lnTo>
                  <a:pt x="56387" y="574281"/>
                </a:lnTo>
                <a:lnTo>
                  <a:pt x="96012" y="573024"/>
                </a:lnTo>
                <a:close/>
              </a:path>
              <a:path w="1041400" h="576579">
                <a:moveTo>
                  <a:pt x="1040891" y="25145"/>
                </a:moveTo>
                <a:lnTo>
                  <a:pt x="1027176" y="0"/>
                </a:lnTo>
                <a:lnTo>
                  <a:pt x="68666" y="522891"/>
                </a:lnTo>
                <a:lnTo>
                  <a:pt x="82382" y="548037"/>
                </a:lnTo>
                <a:lnTo>
                  <a:pt x="1040891" y="25145"/>
                </a:lnTo>
                <a:close/>
              </a:path>
            </a:pathLst>
          </a:custGeom>
          <a:solidFill>
            <a:srgbClr val="008000"/>
          </a:solidFill>
        </p:spPr>
        <p:txBody>
          <a:bodyPr wrap="square" lIns="0" tIns="0" rIns="0" bIns="0" rtlCol="0"/>
          <a:lstStyle/>
          <a:p>
            <a:endParaRPr/>
          </a:p>
        </p:txBody>
      </p:sp>
      <p:sp>
        <p:nvSpPr>
          <p:cNvPr id="37" name="object 37"/>
          <p:cNvSpPr/>
          <p:nvPr/>
        </p:nvSpPr>
        <p:spPr>
          <a:xfrm>
            <a:off x="5455158" y="4512564"/>
            <a:ext cx="1040130" cy="576580"/>
          </a:xfrm>
          <a:custGeom>
            <a:avLst/>
            <a:gdLst/>
            <a:ahLst/>
            <a:cxnLst/>
            <a:rect l="l" t="t" r="r" b="b"/>
            <a:pathLst>
              <a:path w="1040129" h="576579">
                <a:moveTo>
                  <a:pt x="68496" y="521816"/>
                </a:moveTo>
                <a:lnTo>
                  <a:pt x="54863" y="496824"/>
                </a:lnTo>
                <a:lnTo>
                  <a:pt x="0" y="576072"/>
                </a:lnTo>
                <a:lnTo>
                  <a:pt x="55625" y="573864"/>
                </a:lnTo>
                <a:lnTo>
                  <a:pt x="55625" y="528828"/>
                </a:lnTo>
                <a:lnTo>
                  <a:pt x="68496" y="521816"/>
                </a:lnTo>
                <a:close/>
              </a:path>
              <a:path w="1040129" h="576579">
                <a:moveTo>
                  <a:pt x="82208" y="546955"/>
                </a:moveTo>
                <a:lnTo>
                  <a:pt x="68496" y="521816"/>
                </a:lnTo>
                <a:lnTo>
                  <a:pt x="55625" y="528828"/>
                </a:lnTo>
                <a:lnTo>
                  <a:pt x="69341" y="553974"/>
                </a:lnTo>
                <a:lnTo>
                  <a:pt x="82208" y="546955"/>
                </a:lnTo>
                <a:close/>
              </a:path>
              <a:path w="1040129" h="576579">
                <a:moveTo>
                  <a:pt x="96011" y="572262"/>
                </a:moveTo>
                <a:lnTo>
                  <a:pt x="82208" y="546955"/>
                </a:lnTo>
                <a:lnTo>
                  <a:pt x="69341" y="553974"/>
                </a:lnTo>
                <a:lnTo>
                  <a:pt x="55625" y="528828"/>
                </a:lnTo>
                <a:lnTo>
                  <a:pt x="55625" y="573864"/>
                </a:lnTo>
                <a:lnTo>
                  <a:pt x="96011" y="572262"/>
                </a:lnTo>
                <a:close/>
              </a:path>
              <a:path w="1040129" h="576579">
                <a:moveTo>
                  <a:pt x="1040129" y="24384"/>
                </a:moveTo>
                <a:lnTo>
                  <a:pt x="1026413" y="0"/>
                </a:lnTo>
                <a:lnTo>
                  <a:pt x="68496" y="521816"/>
                </a:lnTo>
                <a:lnTo>
                  <a:pt x="82208" y="546955"/>
                </a:lnTo>
                <a:lnTo>
                  <a:pt x="1040129" y="24384"/>
                </a:lnTo>
                <a:close/>
              </a:path>
            </a:pathLst>
          </a:custGeom>
          <a:solidFill>
            <a:srgbClr val="008000"/>
          </a:solidFill>
        </p:spPr>
        <p:txBody>
          <a:bodyPr wrap="square" lIns="0" tIns="0" rIns="0" bIns="0" rtlCol="0"/>
          <a:lstStyle/>
          <a:p>
            <a:endParaRPr/>
          </a:p>
        </p:txBody>
      </p:sp>
      <p:sp>
        <p:nvSpPr>
          <p:cNvPr id="38" name="object 38"/>
          <p:cNvSpPr/>
          <p:nvPr/>
        </p:nvSpPr>
        <p:spPr>
          <a:xfrm>
            <a:off x="5450585" y="5702808"/>
            <a:ext cx="1040130" cy="576580"/>
          </a:xfrm>
          <a:custGeom>
            <a:avLst/>
            <a:gdLst/>
            <a:ahLst/>
            <a:cxnLst/>
            <a:rect l="l" t="t" r="r" b="b"/>
            <a:pathLst>
              <a:path w="1040129" h="576579">
                <a:moveTo>
                  <a:pt x="67904" y="522891"/>
                </a:moveTo>
                <a:lnTo>
                  <a:pt x="54101" y="497586"/>
                </a:lnTo>
                <a:lnTo>
                  <a:pt x="0" y="576072"/>
                </a:lnTo>
                <a:lnTo>
                  <a:pt x="55625" y="574291"/>
                </a:lnTo>
                <a:lnTo>
                  <a:pt x="55625" y="529590"/>
                </a:lnTo>
                <a:lnTo>
                  <a:pt x="67904" y="522891"/>
                </a:lnTo>
                <a:close/>
              </a:path>
              <a:path w="1040129" h="576579">
                <a:moveTo>
                  <a:pt x="81620" y="548037"/>
                </a:moveTo>
                <a:lnTo>
                  <a:pt x="67904" y="522891"/>
                </a:lnTo>
                <a:lnTo>
                  <a:pt x="55625" y="529590"/>
                </a:lnTo>
                <a:lnTo>
                  <a:pt x="69341" y="554736"/>
                </a:lnTo>
                <a:lnTo>
                  <a:pt x="81620" y="548037"/>
                </a:lnTo>
                <a:close/>
              </a:path>
              <a:path w="1040129" h="576579">
                <a:moveTo>
                  <a:pt x="95250" y="573024"/>
                </a:moveTo>
                <a:lnTo>
                  <a:pt x="81620" y="548037"/>
                </a:lnTo>
                <a:lnTo>
                  <a:pt x="69341" y="554736"/>
                </a:lnTo>
                <a:lnTo>
                  <a:pt x="55625" y="529590"/>
                </a:lnTo>
                <a:lnTo>
                  <a:pt x="55625" y="574291"/>
                </a:lnTo>
                <a:lnTo>
                  <a:pt x="95250" y="573024"/>
                </a:lnTo>
                <a:close/>
              </a:path>
              <a:path w="1040129" h="576579">
                <a:moveTo>
                  <a:pt x="1040129" y="25145"/>
                </a:moveTo>
                <a:lnTo>
                  <a:pt x="1026413" y="0"/>
                </a:lnTo>
                <a:lnTo>
                  <a:pt x="67904" y="522891"/>
                </a:lnTo>
                <a:lnTo>
                  <a:pt x="81620" y="548037"/>
                </a:lnTo>
                <a:lnTo>
                  <a:pt x="1040129" y="25145"/>
                </a:lnTo>
                <a:close/>
              </a:path>
            </a:pathLst>
          </a:custGeom>
          <a:solidFill>
            <a:srgbClr val="008000"/>
          </a:solidFill>
        </p:spPr>
        <p:txBody>
          <a:bodyPr wrap="square" lIns="0" tIns="0" rIns="0" bIns="0" rtlCol="0"/>
          <a:lstStyle/>
          <a:p>
            <a:endParaRPr/>
          </a:p>
        </p:txBody>
      </p:sp>
      <p:sp>
        <p:nvSpPr>
          <p:cNvPr id="39" name="object 39"/>
          <p:cNvSpPr/>
          <p:nvPr/>
        </p:nvSpPr>
        <p:spPr>
          <a:xfrm>
            <a:off x="5434584" y="5956553"/>
            <a:ext cx="1040130" cy="576580"/>
          </a:xfrm>
          <a:custGeom>
            <a:avLst/>
            <a:gdLst/>
            <a:ahLst/>
            <a:cxnLst/>
            <a:rect l="l" t="t" r="r" b="b"/>
            <a:pathLst>
              <a:path w="1040129" h="576579">
                <a:moveTo>
                  <a:pt x="68296" y="522677"/>
                </a:moveTo>
                <a:lnTo>
                  <a:pt x="54863" y="497586"/>
                </a:lnTo>
                <a:lnTo>
                  <a:pt x="0" y="576072"/>
                </a:lnTo>
                <a:lnTo>
                  <a:pt x="55625" y="574291"/>
                </a:lnTo>
                <a:lnTo>
                  <a:pt x="55625" y="529590"/>
                </a:lnTo>
                <a:lnTo>
                  <a:pt x="68296" y="522677"/>
                </a:lnTo>
                <a:close/>
              </a:path>
              <a:path w="1040129" h="576579">
                <a:moveTo>
                  <a:pt x="81816" y="547930"/>
                </a:moveTo>
                <a:lnTo>
                  <a:pt x="68296" y="522677"/>
                </a:lnTo>
                <a:lnTo>
                  <a:pt x="55625" y="529590"/>
                </a:lnTo>
                <a:lnTo>
                  <a:pt x="69341" y="554736"/>
                </a:lnTo>
                <a:lnTo>
                  <a:pt x="81816" y="547930"/>
                </a:lnTo>
                <a:close/>
              </a:path>
              <a:path w="1040129" h="576579">
                <a:moveTo>
                  <a:pt x="95250" y="573024"/>
                </a:moveTo>
                <a:lnTo>
                  <a:pt x="81816" y="547930"/>
                </a:lnTo>
                <a:lnTo>
                  <a:pt x="69341" y="554736"/>
                </a:lnTo>
                <a:lnTo>
                  <a:pt x="55625" y="529590"/>
                </a:lnTo>
                <a:lnTo>
                  <a:pt x="55625" y="574291"/>
                </a:lnTo>
                <a:lnTo>
                  <a:pt x="95250" y="573024"/>
                </a:lnTo>
                <a:close/>
              </a:path>
              <a:path w="1040129" h="576579">
                <a:moveTo>
                  <a:pt x="1040129" y="25145"/>
                </a:moveTo>
                <a:lnTo>
                  <a:pt x="1026413" y="0"/>
                </a:lnTo>
                <a:lnTo>
                  <a:pt x="68296" y="522677"/>
                </a:lnTo>
                <a:lnTo>
                  <a:pt x="81816" y="547930"/>
                </a:lnTo>
                <a:lnTo>
                  <a:pt x="1040129" y="25145"/>
                </a:lnTo>
                <a:close/>
              </a:path>
            </a:pathLst>
          </a:custGeom>
          <a:solidFill>
            <a:srgbClr val="008000"/>
          </a:solidFill>
        </p:spPr>
        <p:txBody>
          <a:bodyPr wrap="square" lIns="0" tIns="0" rIns="0" bIns="0" rtlCol="0"/>
          <a:lstStyle/>
          <a:p>
            <a:endParaRPr/>
          </a:p>
        </p:txBody>
      </p:sp>
      <p:sp>
        <p:nvSpPr>
          <p:cNvPr id="40" name="object 40"/>
          <p:cNvSpPr/>
          <p:nvPr/>
        </p:nvSpPr>
        <p:spPr>
          <a:xfrm>
            <a:off x="5418582" y="6199632"/>
            <a:ext cx="1040130" cy="576580"/>
          </a:xfrm>
          <a:custGeom>
            <a:avLst/>
            <a:gdLst/>
            <a:ahLst/>
            <a:cxnLst/>
            <a:rect l="l" t="t" r="r" b="b"/>
            <a:pathLst>
              <a:path w="1040129" h="576579">
                <a:moveTo>
                  <a:pt x="68492" y="522571"/>
                </a:moveTo>
                <a:lnTo>
                  <a:pt x="54863" y="497586"/>
                </a:lnTo>
                <a:lnTo>
                  <a:pt x="0" y="576072"/>
                </a:lnTo>
                <a:lnTo>
                  <a:pt x="55625" y="574306"/>
                </a:lnTo>
                <a:lnTo>
                  <a:pt x="55625" y="529590"/>
                </a:lnTo>
                <a:lnTo>
                  <a:pt x="68492" y="522571"/>
                </a:lnTo>
                <a:close/>
              </a:path>
              <a:path w="1040129" h="576579">
                <a:moveTo>
                  <a:pt x="82208" y="547717"/>
                </a:moveTo>
                <a:lnTo>
                  <a:pt x="68492" y="522571"/>
                </a:lnTo>
                <a:lnTo>
                  <a:pt x="55625" y="529590"/>
                </a:lnTo>
                <a:lnTo>
                  <a:pt x="69341" y="554736"/>
                </a:lnTo>
                <a:lnTo>
                  <a:pt x="82208" y="547717"/>
                </a:lnTo>
                <a:close/>
              </a:path>
              <a:path w="1040129" h="576579">
                <a:moveTo>
                  <a:pt x="96011" y="573024"/>
                </a:moveTo>
                <a:lnTo>
                  <a:pt x="82208" y="547717"/>
                </a:lnTo>
                <a:lnTo>
                  <a:pt x="69341" y="554736"/>
                </a:lnTo>
                <a:lnTo>
                  <a:pt x="55625" y="529590"/>
                </a:lnTo>
                <a:lnTo>
                  <a:pt x="55625" y="574306"/>
                </a:lnTo>
                <a:lnTo>
                  <a:pt x="96011" y="573024"/>
                </a:lnTo>
                <a:close/>
              </a:path>
              <a:path w="1040129" h="576579">
                <a:moveTo>
                  <a:pt x="1040129" y="25145"/>
                </a:moveTo>
                <a:lnTo>
                  <a:pt x="1026413" y="0"/>
                </a:lnTo>
                <a:lnTo>
                  <a:pt x="68492" y="522571"/>
                </a:lnTo>
                <a:lnTo>
                  <a:pt x="82208" y="547717"/>
                </a:lnTo>
                <a:lnTo>
                  <a:pt x="1040129" y="25145"/>
                </a:lnTo>
                <a:close/>
              </a:path>
            </a:pathLst>
          </a:custGeom>
          <a:solidFill>
            <a:srgbClr val="008000"/>
          </a:solidFill>
        </p:spPr>
        <p:txBody>
          <a:bodyPr wrap="square" lIns="0" tIns="0" rIns="0" bIns="0" rtlCol="0"/>
          <a:lstStyle/>
          <a:p>
            <a:endParaRPr/>
          </a:p>
        </p:txBody>
      </p:sp>
      <p:sp>
        <p:nvSpPr>
          <p:cNvPr id="41" name="object 41"/>
          <p:cNvSpPr/>
          <p:nvPr/>
        </p:nvSpPr>
        <p:spPr>
          <a:xfrm>
            <a:off x="5402579" y="6442709"/>
            <a:ext cx="1040130" cy="576580"/>
          </a:xfrm>
          <a:custGeom>
            <a:avLst/>
            <a:gdLst/>
            <a:ahLst/>
            <a:cxnLst/>
            <a:rect l="l" t="t" r="r" b="b"/>
            <a:pathLst>
              <a:path w="1040129" h="576579">
                <a:moveTo>
                  <a:pt x="68599" y="522512"/>
                </a:moveTo>
                <a:lnTo>
                  <a:pt x="54863" y="497586"/>
                </a:lnTo>
                <a:lnTo>
                  <a:pt x="0" y="576072"/>
                </a:lnTo>
                <a:lnTo>
                  <a:pt x="55625" y="573864"/>
                </a:lnTo>
                <a:lnTo>
                  <a:pt x="55625" y="529590"/>
                </a:lnTo>
                <a:lnTo>
                  <a:pt x="68599" y="522512"/>
                </a:lnTo>
                <a:close/>
              </a:path>
              <a:path w="1040129" h="576579">
                <a:moveTo>
                  <a:pt x="82104" y="547021"/>
                </a:moveTo>
                <a:lnTo>
                  <a:pt x="68599" y="522512"/>
                </a:lnTo>
                <a:lnTo>
                  <a:pt x="55625" y="529590"/>
                </a:lnTo>
                <a:lnTo>
                  <a:pt x="69341" y="553974"/>
                </a:lnTo>
                <a:lnTo>
                  <a:pt x="82104" y="547021"/>
                </a:lnTo>
                <a:close/>
              </a:path>
              <a:path w="1040129" h="576579">
                <a:moveTo>
                  <a:pt x="96011" y="572262"/>
                </a:moveTo>
                <a:lnTo>
                  <a:pt x="82104" y="547021"/>
                </a:lnTo>
                <a:lnTo>
                  <a:pt x="69341" y="553974"/>
                </a:lnTo>
                <a:lnTo>
                  <a:pt x="55625" y="529590"/>
                </a:lnTo>
                <a:lnTo>
                  <a:pt x="55625" y="573864"/>
                </a:lnTo>
                <a:lnTo>
                  <a:pt x="96011" y="572262"/>
                </a:lnTo>
                <a:close/>
              </a:path>
              <a:path w="1040129" h="576579">
                <a:moveTo>
                  <a:pt x="1040129" y="25145"/>
                </a:moveTo>
                <a:lnTo>
                  <a:pt x="1026413" y="0"/>
                </a:lnTo>
                <a:lnTo>
                  <a:pt x="68599" y="522512"/>
                </a:lnTo>
                <a:lnTo>
                  <a:pt x="82104" y="547021"/>
                </a:lnTo>
                <a:lnTo>
                  <a:pt x="1040129" y="25145"/>
                </a:lnTo>
                <a:close/>
              </a:path>
            </a:pathLst>
          </a:custGeom>
          <a:solidFill>
            <a:srgbClr val="008000"/>
          </a:solidFill>
        </p:spPr>
        <p:txBody>
          <a:bodyPr wrap="square" lIns="0" tIns="0" rIns="0" bIns="0" rtlCol="0"/>
          <a:lstStyle/>
          <a:p>
            <a:endParaRPr/>
          </a:p>
        </p:txBody>
      </p:sp>
      <p:sp>
        <p:nvSpPr>
          <p:cNvPr id="43" name="Slide Number Placeholder 42"/>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39</a:t>
            </a:fld>
            <a:endParaRPr spc="-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957326"/>
            <a:ext cx="3304540" cy="574040"/>
          </a:xfrm>
          <a:prstGeom prst="rect">
            <a:avLst/>
          </a:prstGeom>
        </p:spPr>
        <p:txBody>
          <a:bodyPr vert="horz" wrap="square" lIns="0" tIns="12700" rIns="0" bIns="0" rtlCol="0">
            <a:spAutoFit/>
          </a:bodyPr>
          <a:lstStyle/>
          <a:p>
            <a:pPr marL="12700">
              <a:lnSpc>
                <a:spcPct val="100000"/>
              </a:lnSpc>
              <a:spcBef>
                <a:spcPts val="100"/>
              </a:spcBef>
            </a:pPr>
            <a:r>
              <a:rPr dirty="0"/>
              <a:t>Selective</a:t>
            </a:r>
            <a:r>
              <a:rPr spc="-95" dirty="0"/>
              <a:t> </a:t>
            </a:r>
            <a:r>
              <a:rPr dirty="0"/>
              <a:t>repeat</a:t>
            </a:r>
          </a:p>
        </p:txBody>
      </p:sp>
      <p:sp>
        <p:nvSpPr>
          <p:cNvPr id="3" name="object 3"/>
          <p:cNvSpPr txBox="1"/>
          <p:nvPr/>
        </p:nvSpPr>
        <p:spPr>
          <a:xfrm>
            <a:off x="1088388" y="1873631"/>
            <a:ext cx="8665211" cy="4340932"/>
          </a:xfrm>
          <a:prstGeom prst="rect">
            <a:avLst/>
          </a:prstGeom>
        </p:spPr>
        <p:txBody>
          <a:bodyPr vert="horz" wrap="square" lIns="0" tIns="87630" rIns="0" bIns="0" rtlCol="0">
            <a:spAutoFit/>
          </a:bodyPr>
          <a:lstStyle/>
          <a:p>
            <a:pPr marL="355600" indent="-342900">
              <a:spcBef>
                <a:spcPts val="690"/>
              </a:spcBef>
              <a:buClr>
                <a:srgbClr val="3333CC"/>
              </a:buClr>
              <a:buSzPct val="83333"/>
              <a:buFont typeface="Wingdings"/>
              <a:buChar char=""/>
              <a:tabLst>
                <a:tab pos="355600" algn="l"/>
              </a:tabLst>
            </a:pPr>
            <a:r>
              <a:rPr lang="vi-VN" sz="2400" dirty="0">
                <a:latin typeface="Arial"/>
                <a:cs typeface="Arial"/>
              </a:rPr>
              <a:t>Bên gửi</a:t>
            </a:r>
            <a:r>
              <a:rPr lang="en-US" sz="2400" dirty="0">
                <a:latin typeface="Arial"/>
                <a:cs typeface="Arial"/>
              </a:rPr>
              <a:t>:</a:t>
            </a:r>
            <a:r>
              <a:rPr lang="vi-VN" sz="2400" dirty="0">
                <a:latin typeface="Arial"/>
                <a:cs typeface="Arial"/>
              </a:rPr>
              <a:t> có thể </a:t>
            </a:r>
            <a:r>
              <a:rPr lang="en-US" sz="2400" dirty="0" err="1">
                <a:latin typeface="Arial"/>
                <a:cs typeface="Arial"/>
              </a:rPr>
              <a:t>gửi</a:t>
            </a:r>
            <a:r>
              <a:rPr lang="en-US" sz="2400" dirty="0">
                <a:latin typeface="Arial"/>
                <a:cs typeface="Arial"/>
              </a:rPr>
              <a:t> </a:t>
            </a:r>
            <a:r>
              <a:rPr lang="en-US" sz="2400" dirty="0" err="1">
                <a:latin typeface="Arial"/>
                <a:cs typeface="Arial"/>
              </a:rPr>
              <a:t>đến</a:t>
            </a:r>
            <a:r>
              <a:rPr lang="en-US" sz="2400" dirty="0">
                <a:latin typeface="Arial"/>
                <a:cs typeface="Arial"/>
              </a:rPr>
              <a:t> </a:t>
            </a:r>
            <a:r>
              <a:rPr lang="vi-VN" sz="2400" dirty="0">
                <a:latin typeface="Arial"/>
                <a:cs typeface="Arial"/>
              </a:rPr>
              <a:t>N gói tin chưa ack</a:t>
            </a:r>
            <a:r>
              <a:rPr lang="en-US" sz="2400" dirty="0">
                <a:latin typeface="Arial"/>
                <a:cs typeface="Arial"/>
              </a:rPr>
              <a:t>, </a:t>
            </a:r>
            <a:r>
              <a:rPr lang="en-US" sz="2400" dirty="0" err="1">
                <a:latin typeface="Arial"/>
                <a:cs typeface="Arial"/>
              </a:rPr>
              <a:t>sau</a:t>
            </a:r>
            <a:r>
              <a:rPr lang="en-US" sz="2400" dirty="0">
                <a:latin typeface="Arial"/>
                <a:cs typeface="Arial"/>
              </a:rPr>
              <a:t> </a:t>
            </a:r>
            <a:r>
              <a:rPr lang="en-US" sz="2400" dirty="0" err="1">
                <a:latin typeface="Arial"/>
                <a:cs typeface="Arial"/>
              </a:rPr>
              <a:t>đó</a:t>
            </a:r>
            <a:r>
              <a:rPr lang="en-US" sz="2400" dirty="0">
                <a:latin typeface="Arial"/>
                <a:cs typeface="Arial"/>
              </a:rPr>
              <a:t> </a:t>
            </a:r>
            <a:r>
              <a:rPr lang="en-US" sz="2400" dirty="0" err="1">
                <a:latin typeface="Arial"/>
                <a:cs typeface="Arial"/>
              </a:rPr>
              <a:t>chờ</a:t>
            </a:r>
            <a:r>
              <a:rPr lang="en-US" sz="2400" dirty="0">
                <a:latin typeface="Arial"/>
                <a:cs typeface="Arial"/>
              </a:rPr>
              <a:t> </a:t>
            </a:r>
            <a:r>
              <a:rPr lang="en-US" sz="2400" dirty="0" err="1">
                <a:latin typeface="Arial"/>
                <a:cs typeface="Arial"/>
              </a:rPr>
              <a:t>xác</a:t>
            </a:r>
            <a:r>
              <a:rPr lang="en-US" sz="2400" dirty="0">
                <a:latin typeface="Arial"/>
                <a:cs typeface="Arial"/>
              </a:rPr>
              <a:t> </a:t>
            </a:r>
            <a:r>
              <a:rPr lang="en-US" sz="2400" dirty="0" err="1">
                <a:latin typeface="Arial"/>
                <a:cs typeface="Arial"/>
              </a:rPr>
              <a:t>nhận</a:t>
            </a:r>
            <a:endParaRPr lang="en-US" sz="2400" dirty="0">
              <a:latin typeface="Arial"/>
              <a:cs typeface="Arial"/>
            </a:endParaRPr>
          </a:p>
          <a:p>
            <a:pPr marL="355600" indent="-342900">
              <a:lnSpc>
                <a:spcPct val="100000"/>
              </a:lnSpc>
              <a:spcBef>
                <a:spcPts val="690"/>
              </a:spcBef>
              <a:buClr>
                <a:srgbClr val="3333CC"/>
              </a:buClr>
              <a:buSzPct val="83333"/>
              <a:buFont typeface="Wingdings"/>
              <a:buChar char=""/>
              <a:tabLst>
                <a:tab pos="355600" algn="l"/>
              </a:tabLst>
            </a:pPr>
            <a:r>
              <a:rPr lang="en-US" sz="2400" dirty="0" err="1">
                <a:latin typeface="Arial"/>
                <a:cs typeface="Arial"/>
              </a:rPr>
              <a:t>B</a:t>
            </a:r>
            <a:r>
              <a:rPr sz="2400" dirty="0" err="1">
                <a:latin typeface="Arial"/>
                <a:cs typeface="Arial"/>
              </a:rPr>
              <a:t>ên</a:t>
            </a:r>
            <a:r>
              <a:rPr sz="2400" dirty="0">
                <a:latin typeface="Arial"/>
                <a:cs typeface="Arial"/>
              </a:rPr>
              <a:t> </a:t>
            </a:r>
            <a:r>
              <a:rPr sz="2400" dirty="0" err="1">
                <a:latin typeface="Arial"/>
                <a:cs typeface="Arial"/>
              </a:rPr>
              <a:t>nhận</a:t>
            </a:r>
            <a:r>
              <a:rPr lang="en-US" sz="2400" dirty="0">
                <a:latin typeface="Arial"/>
                <a:cs typeface="Arial"/>
              </a:rPr>
              <a:t>: </a:t>
            </a:r>
            <a:r>
              <a:rPr lang="en-US" sz="2400" dirty="0" err="1">
                <a:latin typeface="Arial"/>
                <a:cs typeface="Arial"/>
              </a:rPr>
              <a:t>gửi</a:t>
            </a:r>
            <a:r>
              <a:rPr lang="en-US" sz="2400" dirty="0">
                <a:latin typeface="Arial"/>
                <a:cs typeface="Arial"/>
              </a:rPr>
              <a:t> </a:t>
            </a:r>
            <a:r>
              <a:rPr lang="en-US" sz="2400" dirty="0" err="1">
                <a:latin typeface="Arial"/>
                <a:cs typeface="Arial"/>
              </a:rPr>
              <a:t>xác</a:t>
            </a:r>
            <a:r>
              <a:rPr lang="en-US" sz="2400" dirty="0">
                <a:latin typeface="Arial"/>
                <a:cs typeface="Arial"/>
              </a:rPr>
              <a:t> </a:t>
            </a:r>
            <a:r>
              <a:rPr lang="en-US" sz="2400" dirty="0" err="1">
                <a:latin typeface="Arial"/>
                <a:cs typeface="Arial"/>
              </a:rPr>
              <a:t>nhận</a:t>
            </a:r>
            <a:r>
              <a:rPr lang="en-US" sz="2400" dirty="0">
                <a:latin typeface="Arial"/>
                <a:cs typeface="Arial"/>
              </a:rPr>
              <a:t> </a:t>
            </a:r>
            <a:r>
              <a:rPr sz="2400" dirty="0" err="1">
                <a:latin typeface="Arial"/>
                <a:cs typeface="Arial"/>
              </a:rPr>
              <a:t>ack</a:t>
            </a:r>
            <a:r>
              <a:rPr sz="2400" dirty="0">
                <a:latin typeface="Arial"/>
                <a:cs typeface="Arial"/>
              </a:rPr>
              <a:t> riêng lẻ cho từng gói tin nhận đúng</a:t>
            </a:r>
          </a:p>
          <a:p>
            <a:pPr marL="755650" marR="47625" lvl="1" indent="-285750">
              <a:lnSpc>
                <a:spcPct val="100000"/>
              </a:lnSpc>
              <a:spcBef>
                <a:spcPts val="490"/>
              </a:spcBef>
              <a:buClr>
                <a:srgbClr val="3333CC"/>
              </a:buClr>
              <a:buSzPct val="75000"/>
              <a:buFont typeface="Wingdings"/>
              <a:buChar char=""/>
              <a:tabLst>
                <a:tab pos="755650" algn="l"/>
              </a:tabLst>
            </a:pPr>
            <a:r>
              <a:rPr sz="2000" dirty="0">
                <a:latin typeface="Arial"/>
                <a:cs typeface="Arial"/>
              </a:rPr>
              <a:t>chứa gói tin vào vùng đệm, khi cần, để chuyển đảm bảo  thứ tự cho tầng trên</a:t>
            </a:r>
          </a:p>
          <a:p>
            <a:pPr marL="355600" marR="5080" indent="-342900">
              <a:lnSpc>
                <a:spcPct val="100000"/>
              </a:lnSpc>
              <a:spcBef>
                <a:spcPts val="565"/>
              </a:spcBef>
              <a:buClr>
                <a:srgbClr val="3333CC"/>
              </a:buClr>
              <a:buSzPct val="83333"/>
              <a:buFont typeface="Wingdings"/>
              <a:buChar char=""/>
              <a:tabLst>
                <a:tab pos="355600" algn="l"/>
              </a:tabLst>
            </a:pPr>
            <a:r>
              <a:rPr lang="en-US" sz="2400" dirty="0" err="1">
                <a:latin typeface="Arial"/>
                <a:cs typeface="Arial"/>
              </a:rPr>
              <a:t>B</a:t>
            </a:r>
            <a:r>
              <a:rPr sz="2400" dirty="0" err="1">
                <a:latin typeface="Arial"/>
                <a:cs typeface="Arial"/>
              </a:rPr>
              <a:t>ên</a:t>
            </a:r>
            <a:r>
              <a:rPr sz="2400" dirty="0">
                <a:latin typeface="Arial"/>
                <a:cs typeface="Arial"/>
              </a:rPr>
              <a:t> </a:t>
            </a:r>
            <a:r>
              <a:rPr sz="2400" dirty="0" err="1">
                <a:latin typeface="Arial"/>
                <a:cs typeface="Arial"/>
              </a:rPr>
              <a:t>gửi</a:t>
            </a:r>
            <a:r>
              <a:rPr lang="en-US" sz="2400" dirty="0">
                <a:latin typeface="Arial"/>
                <a:cs typeface="Arial"/>
              </a:rPr>
              <a:t>: </a:t>
            </a:r>
            <a:r>
              <a:rPr lang="en-US" sz="2400" dirty="0" err="1">
                <a:latin typeface="Arial"/>
                <a:cs typeface="Arial"/>
              </a:rPr>
              <a:t>khi</a:t>
            </a:r>
            <a:r>
              <a:rPr lang="en-US" sz="2400" dirty="0">
                <a:latin typeface="Arial"/>
                <a:cs typeface="Arial"/>
              </a:rPr>
              <a:t> </a:t>
            </a:r>
            <a:r>
              <a:rPr lang="en-US" sz="2400" dirty="0" err="1">
                <a:latin typeface="Arial"/>
                <a:cs typeface="Arial"/>
              </a:rPr>
              <a:t>nhận</a:t>
            </a:r>
            <a:r>
              <a:rPr lang="en-US" sz="2400" dirty="0">
                <a:latin typeface="Arial"/>
                <a:cs typeface="Arial"/>
              </a:rPr>
              <a:t> </a:t>
            </a:r>
            <a:r>
              <a:rPr lang="en-US" sz="2400" dirty="0" err="1">
                <a:latin typeface="Arial"/>
                <a:cs typeface="Arial"/>
              </a:rPr>
              <a:t>được</a:t>
            </a:r>
            <a:r>
              <a:rPr lang="en-US" sz="2400" dirty="0">
                <a:latin typeface="Arial"/>
                <a:cs typeface="Arial"/>
              </a:rPr>
              <a:t> ACK </a:t>
            </a:r>
            <a:r>
              <a:rPr lang="en-US" sz="2400" dirty="0" err="1">
                <a:latin typeface="Arial"/>
                <a:cs typeface="Arial"/>
              </a:rPr>
              <a:t>cho</a:t>
            </a:r>
            <a:r>
              <a:rPr lang="en-US" sz="2400" dirty="0">
                <a:latin typeface="Arial"/>
                <a:cs typeface="Arial"/>
              </a:rPr>
              <a:t> </a:t>
            </a:r>
            <a:r>
              <a:rPr lang="en-US" sz="2400" dirty="0" err="1">
                <a:latin typeface="Arial"/>
                <a:cs typeface="Arial"/>
              </a:rPr>
              <a:t>từng</a:t>
            </a:r>
            <a:r>
              <a:rPr lang="en-US" sz="2400" dirty="0">
                <a:latin typeface="Arial"/>
                <a:cs typeface="Arial"/>
              </a:rPr>
              <a:t> </a:t>
            </a:r>
            <a:r>
              <a:rPr lang="en-US" sz="2400" dirty="0" err="1">
                <a:latin typeface="Arial"/>
                <a:cs typeface="Arial"/>
              </a:rPr>
              <a:t>gói</a:t>
            </a:r>
            <a:r>
              <a:rPr lang="en-US" sz="2400" dirty="0">
                <a:latin typeface="Arial"/>
                <a:cs typeface="Arial"/>
              </a:rPr>
              <a:t> </a:t>
            </a:r>
            <a:r>
              <a:rPr lang="en-US" sz="2400" dirty="0" err="1">
                <a:latin typeface="Arial"/>
                <a:cs typeface="Arial"/>
              </a:rPr>
              <a:t>sẽ</a:t>
            </a:r>
            <a:r>
              <a:rPr lang="en-US" sz="2400" dirty="0">
                <a:latin typeface="Arial"/>
                <a:cs typeface="Arial"/>
              </a:rPr>
              <a:t> </a:t>
            </a:r>
            <a:r>
              <a:rPr lang="en-US" sz="2400" dirty="0" err="1">
                <a:latin typeface="Arial"/>
                <a:cs typeface="Arial"/>
              </a:rPr>
              <a:t>dịch</a:t>
            </a:r>
            <a:r>
              <a:rPr lang="en-US" sz="2400" dirty="0">
                <a:latin typeface="Arial"/>
                <a:cs typeface="Arial"/>
              </a:rPr>
              <a:t> </a:t>
            </a:r>
            <a:r>
              <a:rPr lang="en-US" sz="2400" dirty="0" err="1">
                <a:latin typeface="Arial"/>
                <a:cs typeface="Arial"/>
              </a:rPr>
              <a:t>cửa</a:t>
            </a:r>
            <a:r>
              <a:rPr lang="en-US" sz="2400" dirty="0">
                <a:latin typeface="Arial"/>
                <a:cs typeface="Arial"/>
              </a:rPr>
              <a:t> </a:t>
            </a:r>
            <a:r>
              <a:rPr lang="en-US" sz="2400" dirty="0" err="1">
                <a:latin typeface="Arial"/>
                <a:cs typeface="Arial"/>
              </a:rPr>
              <a:t>sổ</a:t>
            </a:r>
            <a:r>
              <a:rPr lang="en-US" sz="2400" dirty="0">
                <a:latin typeface="Arial"/>
                <a:cs typeface="Arial"/>
              </a:rPr>
              <a:t> sang </a:t>
            </a:r>
            <a:r>
              <a:rPr lang="en-US" sz="2400" dirty="0" err="1">
                <a:latin typeface="Arial"/>
                <a:cs typeface="Arial"/>
              </a:rPr>
              <a:t>phải</a:t>
            </a:r>
            <a:r>
              <a:rPr lang="en-US" sz="2400" dirty="0">
                <a:latin typeface="Arial"/>
                <a:cs typeface="Arial"/>
              </a:rPr>
              <a:t>, </a:t>
            </a:r>
            <a:r>
              <a:rPr lang="en-US" sz="2400" dirty="0" err="1">
                <a:latin typeface="Arial"/>
                <a:cs typeface="Arial"/>
              </a:rPr>
              <a:t>sau</a:t>
            </a:r>
            <a:r>
              <a:rPr lang="en-US" sz="2400" dirty="0">
                <a:latin typeface="Arial"/>
                <a:cs typeface="Arial"/>
              </a:rPr>
              <a:t> </a:t>
            </a:r>
            <a:r>
              <a:rPr lang="en-US" sz="2400" dirty="0" err="1">
                <a:latin typeface="Arial"/>
                <a:cs typeface="Arial"/>
              </a:rPr>
              <a:t>đó</a:t>
            </a:r>
            <a:r>
              <a:rPr lang="en-US" sz="2400" dirty="0">
                <a:latin typeface="Arial"/>
                <a:cs typeface="Arial"/>
              </a:rPr>
              <a:t> </a:t>
            </a:r>
            <a:r>
              <a:rPr lang="en-US" sz="2400" dirty="0" err="1">
                <a:latin typeface="Arial"/>
                <a:cs typeface="Arial"/>
              </a:rPr>
              <a:t>truyền</a:t>
            </a:r>
            <a:r>
              <a:rPr lang="en-US" sz="2400" dirty="0">
                <a:latin typeface="Arial"/>
                <a:cs typeface="Arial"/>
              </a:rPr>
              <a:t> </a:t>
            </a:r>
            <a:r>
              <a:rPr lang="en-US" sz="2400" dirty="0" err="1">
                <a:latin typeface="Arial"/>
                <a:cs typeface="Arial"/>
              </a:rPr>
              <a:t>gói</a:t>
            </a:r>
            <a:r>
              <a:rPr lang="en-US" sz="2400" dirty="0">
                <a:latin typeface="Arial"/>
                <a:cs typeface="Arial"/>
              </a:rPr>
              <a:t> </a:t>
            </a:r>
            <a:r>
              <a:rPr lang="en-US" sz="2400" dirty="0" err="1">
                <a:latin typeface="Arial"/>
                <a:cs typeface="Arial"/>
              </a:rPr>
              <a:t>tiếp</a:t>
            </a:r>
            <a:r>
              <a:rPr lang="en-US" sz="2400" dirty="0">
                <a:latin typeface="Arial"/>
                <a:cs typeface="Arial"/>
              </a:rPr>
              <a:t> </a:t>
            </a:r>
            <a:r>
              <a:rPr lang="en-US" sz="2400" dirty="0" err="1">
                <a:latin typeface="Arial"/>
                <a:cs typeface="Arial"/>
              </a:rPr>
              <a:t>theo</a:t>
            </a:r>
            <a:endParaRPr lang="en-US" sz="2400" dirty="0">
              <a:latin typeface="Arial"/>
              <a:cs typeface="Arial"/>
            </a:endParaRPr>
          </a:p>
          <a:p>
            <a:pPr marL="355600" marR="5080" indent="-342900">
              <a:lnSpc>
                <a:spcPct val="100000"/>
              </a:lnSpc>
              <a:spcBef>
                <a:spcPts val="565"/>
              </a:spcBef>
              <a:buClr>
                <a:srgbClr val="3333CC"/>
              </a:buClr>
              <a:buSzPct val="83333"/>
              <a:buFont typeface="Wingdings"/>
              <a:buChar char=""/>
              <a:tabLst>
                <a:tab pos="355600" algn="l"/>
              </a:tabLst>
            </a:pPr>
            <a:r>
              <a:rPr lang="en-US" sz="2400" dirty="0" err="1">
                <a:latin typeface="Arial"/>
                <a:cs typeface="Arial"/>
              </a:rPr>
              <a:t>Bên</a:t>
            </a:r>
            <a:r>
              <a:rPr lang="en-US" sz="2400" dirty="0">
                <a:latin typeface="Arial"/>
                <a:cs typeface="Arial"/>
              </a:rPr>
              <a:t> </a:t>
            </a:r>
            <a:r>
              <a:rPr lang="en-US" sz="2400" dirty="0" err="1">
                <a:latin typeface="Arial"/>
                <a:cs typeface="Arial"/>
              </a:rPr>
              <a:t>gửi</a:t>
            </a:r>
            <a:r>
              <a:rPr lang="en-US" sz="2400" dirty="0">
                <a:latin typeface="Arial"/>
                <a:cs typeface="Arial"/>
              </a:rPr>
              <a:t>: </a:t>
            </a:r>
            <a:r>
              <a:rPr lang="en-US" sz="2400" dirty="0" err="1">
                <a:latin typeface="Arial"/>
                <a:cs typeface="Arial"/>
              </a:rPr>
              <a:t>không</a:t>
            </a:r>
            <a:r>
              <a:rPr lang="en-US" sz="2400" dirty="0">
                <a:latin typeface="Arial"/>
                <a:cs typeface="Arial"/>
              </a:rPr>
              <a:t> </a:t>
            </a:r>
            <a:r>
              <a:rPr lang="en-US" sz="2400" dirty="0" err="1">
                <a:latin typeface="Arial"/>
                <a:cs typeface="Arial"/>
              </a:rPr>
              <a:t>nhận</a:t>
            </a:r>
            <a:r>
              <a:rPr lang="en-US" sz="2400" dirty="0">
                <a:latin typeface="Arial"/>
                <a:cs typeface="Arial"/>
              </a:rPr>
              <a:t> </a:t>
            </a:r>
            <a:r>
              <a:rPr lang="en-US" sz="2400" dirty="0" err="1">
                <a:latin typeface="Arial"/>
                <a:cs typeface="Arial"/>
              </a:rPr>
              <a:t>được</a:t>
            </a:r>
            <a:r>
              <a:rPr lang="en-US" sz="2400" dirty="0">
                <a:latin typeface="Arial"/>
                <a:cs typeface="Arial"/>
              </a:rPr>
              <a:t> ACK </a:t>
            </a:r>
          </a:p>
          <a:p>
            <a:pPr marL="755650" marR="5080" lvl="1" indent="-285750">
              <a:spcBef>
                <a:spcPts val="490"/>
              </a:spcBef>
              <a:buClr>
                <a:srgbClr val="3333CC"/>
              </a:buClr>
              <a:buSzPct val="75000"/>
              <a:buFont typeface="Wingdings"/>
              <a:buChar char=""/>
              <a:tabLst>
                <a:tab pos="755650" algn="l"/>
              </a:tabLst>
            </a:pPr>
            <a:r>
              <a:rPr lang="en-US" sz="2000" dirty="0" err="1">
                <a:latin typeface="Arial"/>
                <a:cs typeface="Arial"/>
              </a:rPr>
              <a:t>Đặt</a:t>
            </a:r>
            <a:r>
              <a:rPr lang="en-US" sz="2000" dirty="0">
                <a:latin typeface="Arial"/>
                <a:cs typeface="Arial"/>
              </a:rPr>
              <a:t> </a:t>
            </a:r>
            <a:r>
              <a:rPr lang="en-US" sz="2000" dirty="0" err="1">
                <a:latin typeface="Arial"/>
                <a:cs typeface="Arial"/>
              </a:rPr>
              <a:t>đồng</a:t>
            </a:r>
            <a:r>
              <a:rPr lang="en-US" sz="2000" dirty="0">
                <a:latin typeface="Arial"/>
                <a:cs typeface="Arial"/>
              </a:rPr>
              <a:t> </a:t>
            </a:r>
            <a:r>
              <a:rPr lang="en-US" sz="2000" dirty="0" err="1">
                <a:latin typeface="Arial"/>
                <a:cs typeface="Arial"/>
              </a:rPr>
              <a:t>hồ</a:t>
            </a:r>
            <a:r>
              <a:rPr lang="en-US" sz="2000" dirty="0">
                <a:latin typeface="Arial"/>
                <a:cs typeface="Arial"/>
              </a:rPr>
              <a:t> </a:t>
            </a:r>
            <a:r>
              <a:rPr sz="2000" dirty="0" err="1">
                <a:latin typeface="Arial"/>
                <a:cs typeface="Arial"/>
              </a:rPr>
              <a:t>cho</a:t>
            </a:r>
            <a:r>
              <a:rPr sz="2000" dirty="0">
                <a:latin typeface="Arial"/>
                <a:cs typeface="Arial"/>
              </a:rPr>
              <a:t> từng gói tin chưa </a:t>
            </a:r>
            <a:r>
              <a:rPr sz="2000" dirty="0" err="1">
                <a:latin typeface="Arial"/>
                <a:cs typeface="Arial"/>
              </a:rPr>
              <a:t>được</a:t>
            </a:r>
            <a:r>
              <a:rPr sz="2000" dirty="0">
                <a:latin typeface="Arial"/>
                <a:cs typeface="Arial"/>
              </a:rPr>
              <a:t> </a:t>
            </a:r>
            <a:r>
              <a:rPr sz="2000" dirty="0" err="1">
                <a:latin typeface="Arial"/>
                <a:cs typeface="Arial"/>
              </a:rPr>
              <a:t>ack</a:t>
            </a:r>
            <a:endParaRPr lang="en-US" sz="2000" dirty="0">
              <a:latin typeface="Arial"/>
              <a:cs typeface="Arial"/>
            </a:endParaRPr>
          </a:p>
          <a:p>
            <a:pPr marL="755650"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Sau</a:t>
            </a:r>
            <a:r>
              <a:rPr lang="en-US" sz="2000" dirty="0">
                <a:latin typeface="Arial"/>
                <a:cs typeface="Arial"/>
              </a:rPr>
              <a:t> timeout </a:t>
            </a:r>
            <a:r>
              <a:rPr lang="en-US" sz="2000" dirty="0" err="1">
                <a:latin typeface="Arial"/>
                <a:cs typeface="Arial"/>
              </a:rPr>
              <a:t>của</a:t>
            </a:r>
            <a:r>
              <a:rPr lang="en-US" sz="2000" dirty="0">
                <a:latin typeface="Arial"/>
                <a:cs typeface="Arial"/>
              </a:rPr>
              <a:t> </a:t>
            </a:r>
            <a:r>
              <a:rPr lang="en-US" sz="2000" dirty="0" err="1">
                <a:latin typeface="Arial"/>
                <a:cs typeface="Arial"/>
              </a:rPr>
              <a:t>pkt</a:t>
            </a:r>
            <a:r>
              <a:rPr lang="en-US" sz="2000" dirty="0">
                <a:latin typeface="Arial"/>
                <a:cs typeface="Arial"/>
              </a:rPr>
              <a:t> n </a:t>
            </a:r>
            <a:r>
              <a:rPr lang="en-US" sz="2000" dirty="0" err="1">
                <a:latin typeface="Arial"/>
                <a:cs typeface="Arial"/>
              </a:rPr>
              <a:t>thì</a:t>
            </a:r>
            <a:r>
              <a:rPr lang="en-US" sz="2000" dirty="0">
                <a:latin typeface="Arial"/>
                <a:cs typeface="Arial"/>
              </a:rPr>
              <a:t> </a:t>
            </a:r>
            <a:r>
              <a:rPr lang="en-US" sz="2000" dirty="0" err="1">
                <a:latin typeface="Arial"/>
                <a:cs typeface="Arial"/>
              </a:rPr>
              <a:t>truyền</a:t>
            </a:r>
            <a:r>
              <a:rPr lang="en-US" sz="2000" dirty="0">
                <a:latin typeface="Arial"/>
                <a:cs typeface="Arial"/>
              </a:rPr>
              <a:t> </a:t>
            </a:r>
            <a:r>
              <a:rPr lang="en-US" sz="2000" dirty="0" err="1">
                <a:latin typeface="Arial"/>
                <a:cs typeface="Arial"/>
              </a:rPr>
              <a:t>lại</a:t>
            </a:r>
            <a:r>
              <a:rPr lang="en-US" sz="2000" dirty="0">
                <a:latin typeface="Arial"/>
                <a:cs typeface="Arial"/>
              </a:rPr>
              <a:t> </a:t>
            </a:r>
            <a:r>
              <a:rPr lang="en-US" sz="2000" dirty="0" err="1">
                <a:latin typeface="Arial"/>
                <a:cs typeface="Arial"/>
              </a:rPr>
              <a:t>pkt</a:t>
            </a:r>
            <a:r>
              <a:rPr lang="en-US" sz="2000" dirty="0">
                <a:latin typeface="Arial"/>
                <a:cs typeface="Arial"/>
              </a:rPr>
              <a:t> n</a:t>
            </a:r>
            <a:endParaRPr sz="20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40</a:t>
            </a:fld>
            <a:endParaRPr lang="en-US" spc="-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1689" y="821689"/>
            <a:ext cx="2935605" cy="513080"/>
          </a:xfrm>
          <a:prstGeom prst="rect">
            <a:avLst/>
          </a:prstGeom>
        </p:spPr>
        <p:txBody>
          <a:bodyPr vert="horz" wrap="square" lIns="0" tIns="12065" rIns="0" bIns="0" rtlCol="0">
            <a:spAutoFit/>
          </a:bodyPr>
          <a:lstStyle/>
          <a:p>
            <a:pPr marL="12700">
              <a:lnSpc>
                <a:spcPct val="100000"/>
              </a:lnSpc>
              <a:spcBef>
                <a:spcPts val="95"/>
              </a:spcBef>
            </a:pPr>
            <a:r>
              <a:rPr sz="3200" spc="-10" dirty="0"/>
              <a:t>Selective</a:t>
            </a:r>
            <a:r>
              <a:rPr sz="3200" spc="-35" dirty="0"/>
              <a:t> </a:t>
            </a:r>
            <a:r>
              <a:rPr sz="3200" spc="-10" dirty="0"/>
              <a:t>repeat</a:t>
            </a:r>
            <a:endParaRPr sz="3200"/>
          </a:p>
        </p:txBody>
      </p:sp>
      <p:pic>
        <p:nvPicPr>
          <p:cNvPr id="7" name="Picture 6"/>
          <p:cNvPicPr>
            <a:picLocks noChangeAspect="1"/>
          </p:cNvPicPr>
          <p:nvPr/>
        </p:nvPicPr>
        <p:blipFill>
          <a:blip r:embed="rId3"/>
          <a:stretch>
            <a:fillRect/>
          </a:stretch>
        </p:blipFill>
        <p:spPr>
          <a:xfrm>
            <a:off x="806448" y="1334769"/>
            <a:ext cx="8712201" cy="4572000"/>
          </a:xfrm>
          <a:prstGeom prst="rect">
            <a:avLst/>
          </a:prstGeom>
        </p:spPr>
      </p:pic>
      <p:sp>
        <p:nvSpPr>
          <p:cNvPr id="8" name="object 3"/>
          <p:cNvSpPr txBox="1"/>
          <p:nvPr/>
        </p:nvSpPr>
        <p:spPr>
          <a:xfrm>
            <a:off x="473708" y="6157713"/>
            <a:ext cx="8665211" cy="827150"/>
          </a:xfrm>
          <a:prstGeom prst="rect">
            <a:avLst/>
          </a:prstGeom>
        </p:spPr>
        <p:txBody>
          <a:bodyPr vert="horz" wrap="square" lIns="0" tIns="87630" rIns="0" bIns="0" rtlCol="0">
            <a:spAutoFit/>
          </a:bodyPr>
          <a:lstStyle/>
          <a:p>
            <a:pPr marL="355600" indent="-342900">
              <a:spcBef>
                <a:spcPts val="690"/>
              </a:spcBef>
              <a:buClr>
                <a:srgbClr val="3333CC"/>
              </a:buClr>
              <a:buSzPct val="83333"/>
              <a:buFont typeface="Wingdings"/>
              <a:buChar char=""/>
              <a:tabLst>
                <a:tab pos="355600" algn="l"/>
              </a:tabLst>
            </a:pPr>
            <a:r>
              <a:rPr lang="en-US" sz="2400" dirty="0" err="1">
                <a:latin typeface="Arial"/>
                <a:cs typeface="Arial"/>
              </a:rPr>
              <a:t>Tổ</a:t>
            </a:r>
            <a:r>
              <a:rPr lang="en-US" sz="2400" dirty="0">
                <a:latin typeface="Arial"/>
                <a:cs typeface="Arial"/>
              </a:rPr>
              <a:t> </a:t>
            </a:r>
            <a:r>
              <a:rPr lang="en-US" sz="2400" dirty="0" err="1">
                <a:latin typeface="Arial"/>
                <a:cs typeface="Arial"/>
              </a:rPr>
              <a:t>chức</a:t>
            </a:r>
            <a:r>
              <a:rPr lang="en-US" sz="2400" dirty="0">
                <a:latin typeface="Arial"/>
                <a:cs typeface="Arial"/>
              </a:rPr>
              <a:t> </a:t>
            </a:r>
            <a:r>
              <a:rPr lang="en-US" sz="2400" dirty="0" err="1">
                <a:latin typeface="Arial"/>
                <a:cs typeface="Arial"/>
              </a:rPr>
              <a:t>vùng</a:t>
            </a:r>
            <a:r>
              <a:rPr lang="en-US" sz="2400" dirty="0">
                <a:latin typeface="Arial"/>
                <a:cs typeface="Arial"/>
              </a:rPr>
              <a:t> </a:t>
            </a:r>
            <a:r>
              <a:rPr lang="en-US" sz="2400" dirty="0" err="1">
                <a:latin typeface="Arial"/>
                <a:cs typeface="Arial"/>
              </a:rPr>
              <a:t>đệm</a:t>
            </a:r>
            <a:r>
              <a:rPr lang="en-US" sz="2400" dirty="0">
                <a:latin typeface="Arial"/>
                <a:cs typeface="Arial"/>
              </a:rPr>
              <a:t> </a:t>
            </a:r>
            <a:r>
              <a:rPr lang="en-US" sz="2400" dirty="0" err="1">
                <a:latin typeface="Arial"/>
                <a:cs typeface="Arial"/>
              </a:rPr>
              <a:t>để</a:t>
            </a:r>
            <a:r>
              <a:rPr lang="en-US" sz="2400" dirty="0">
                <a:latin typeface="Arial"/>
                <a:cs typeface="Arial"/>
              </a:rPr>
              <a:t> </a:t>
            </a:r>
            <a:r>
              <a:rPr lang="en-US" sz="2400" dirty="0" err="1">
                <a:latin typeface="Arial"/>
                <a:cs typeface="Arial"/>
              </a:rPr>
              <a:t>sắp</a:t>
            </a:r>
            <a:r>
              <a:rPr lang="en-US" sz="2400" dirty="0">
                <a:latin typeface="Arial"/>
                <a:cs typeface="Arial"/>
              </a:rPr>
              <a:t> </a:t>
            </a:r>
            <a:r>
              <a:rPr lang="en-US" sz="2400" dirty="0" err="1">
                <a:latin typeface="Arial"/>
                <a:cs typeface="Arial"/>
              </a:rPr>
              <a:t>xếp</a:t>
            </a:r>
            <a:r>
              <a:rPr lang="en-US" sz="2400" dirty="0">
                <a:latin typeface="Arial"/>
                <a:cs typeface="Arial"/>
              </a:rPr>
              <a:t> </a:t>
            </a:r>
            <a:r>
              <a:rPr lang="en-US" sz="2400" dirty="0" err="1">
                <a:latin typeface="Arial"/>
                <a:cs typeface="Arial"/>
              </a:rPr>
              <a:t>các</a:t>
            </a:r>
            <a:r>
              <a:rPr lang="en-US" sz="2400" dirty="0">
                <a:latin typeface="Arial"/>
                <a:cs typeface="Arial"/>
              </a:rPr>
              <a:t> </a:t>
            </a:r>
            <a:r>
              <a:rPr lang="en-US" sz="2400" dirty="0" err="1">
                <a:latin typeface="Arial"/>
                <a:cs typeface="Arial"/>
              </a:rPr>
              <a:t>gói</a:t>
            </a:r>
            <a:r>
              <a:rPr lang="en-US" sz="2400" dirty="0">
                <a:latin typeface="Arial"/>
                <a:cs typeface="Arial"/>
              </a:rPr>
              <a:t> tin </a:t>
            </a:r>
            <a:r>
              <a:rPr lang="en-US" sz="2400" dirty="0" err="1">
                <a:latin typeface="Arial"/>
                <a:cs typeface="Arial"/>
              </a:rPr>
              <a:t>theo</a:t>
            </a:r>
            <a:r>
              <a:rPr lang="en-US" sz="2400" dirty="0">
                <a:latin typeface="Arial"/>
                <a:cs typeface="Arial"/>
              </a:rPr>
              <a:t> </a:t>
            </a:r>
            <a:r>
              <a:rPr lang="en-US" sz="2400" dirty="0" err="1">
                <a:latin typeface="Arial"/>
                <a:cs typeface="Arial"/>
              </a:rPr>
              <a:t>đúng</a:t>
            </a:r>
            <a:r>
              <a:rPr lang="en-US" sz="2400" dirty="0">
                <a:latin typeface="Arial"/>
                <a:cs typeface="Arial"/>
              </a:rPr>
              <a:t> </a:t>
            </a:r>
            <a:r>
              <a:rPr lang="en-US" sz="2400" dirty="0" err="1">
                <a:latin typeface="Arial"/>
                <a:cs typeface="Arial"/>
              </a:rPr>
              <a:t>thứ</a:t>
            </a:r>
            <a:r>
              <a:rPr lang="en-US" sz="2400" dirty="0">
                <a:latin typeface="Arial"/>
                <a:cs typeface="Arial"/>
              </a:rPr>
              <a:t> </a:t>
            </a:r>
            <a:r>
              <a:rPr lang="en-US" sz="2400" dirty="0" err="1">
                <a:latin typeface="Arial"/>
                <a:cs typeface="Arial"/>
              </a:rPr>
              <a:t>tự</a:t>
            </a:r>
            <a:r>
              <a:rPr lang="en-US" sz="2400" dirty="0">
                <a:latin typeface="Arial"/>
                <a:cs typeface="Arial"/>
              </a:rPr>
              <a:t> </a:t>
            </a:r>
            <a:r>
              <a:rPr lang="en-US" sz="2400" dirty="0" err="1">
                <a:latin typeface="Arial"/>
                <a:cs typeface="Arial"/>
              </a:rPr>
              <a:t>để</a:t>
            </a:r>
            <a:r>
              <a:rPr lang="en-US" sz="2400" dirty="0">
                <a:latin typeface="Arial"/>
                <a:cs typeface="Arial"/>
              </a:rPr>
              <a:t> </a:t>
            </a:r>
            <a:r>
              <a:rPr lang="en-US" sz="2400" dirty="0" err="1">
                <a:latin typeface="Arial"/>
                <a:cs typeface="Arial"/>
              </a:rPr>
              <a:t>truyền</a:t>
            </a:r>
            <a:r>
              <a:rPr lang="en-US" sz="2400" dirty="0">
                <a:latin typeface="Arial"/>
                <a:cs typeface="Arial"/>
              </a:rPr>
              <a:t> </a:t>
            </a:r>
            <a:r>
              <a:rPr lang="en-US" sz="2400" dirty="0" err="1">
                <a:latin typeface="Arial"/>
                <a:cs typeface="Arial"/>
              </a:rPr>
              <a:t>cho</a:t>
            </a:r>
            <a:r>
              <a:rPr lang="en-US" sz="2400" dirty="0">
                <a:latin typeface="Arial"/>
                <a:cs typeface="Arial"/>
              </a:rPr>
              <a:t> </a:t>
            </a:r>
            <a:r>
              <a:rPr lang="en-US" sz="2400" dirty="0" err="1">
                <a:latin typeface="Arial"/>
                <a:cs typeface="Arial"/>
              </a:rPr>
              <a:t>tầng</a:t>
            </a:r>
            <a:r>
              <a:rPr lang="en-US" sz="2400" dirty="0">
                <a:latin typeface="Arial"/>
                <a:cs typeface="Arial"/>
              </a:rPr>
              <a:t> </a:t>
            </a:r>
            <a:r>
              <a:rPr lang="en-US" sz="2400" dirty="0" err="1">
                <a:latin typeface="Arial"/>
                <a:cs typeface="Arial"/>
              </a:rPr>
              <a:t>trên</a:t>
            </a:r>
            <a:endParaRPr lang="en-US" sz="2400" dirty="0">
              <a:latin typeface="Arial"/>
              <a:cs typeface="Arial"/>
            </a:endParaRPr>
          </a:p>
        </p:txBody>
      </p:sp>
      <p:sp>
        <p:nvSpPr>
          <p:cNvPr id="9" name="Slide Number Placeholder 8"/>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41</a:t>
            </a:fld>
            <a:endParaRPr spc="-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3694" y="807211"/>
            <a:ext cx="4109720" cy="513080"/>
          </a:xfrm>
          <a:prstGeom prst="rect">
            <a:avLst/>
          </a:prstGeom>
        </p:spPr>
        <p:txBody>
          <a:bodyPr vert="horz" wrap="square" lIns="0" tIns="12065" rIns="0" bIns="0" rtlCol="0">
            <a:spAutoFit/>
          </a:bodyPr>
          <a:lstStyle/>
          <a:p>
            <a:pPr marL="12700">
              <a:lnSpc>
                <a:spcPct val="100000"/>
              </a:lnSpc>
              <a:spcBef>
                <a:spcPts val="95"/>
              </a:spcBef>
            </a:pPr>
            <a:r>
              <a:rPr sz="3200" dirty="0"/>
              <a:t>Selective repeat: Ví dụ</a:t>
            </a:r>
            <a:endParaRPr sz="3200"/>
          </a:p>
        </p:txBody>
      </p:sp>
      <p:sp>
        <p:nvSpPr>
          <p:cNvPr id="3" name="object 3"/>
          <p:cNvSpPr txBox="1"/>
          <p:nvPr/>
        </p:nvSpPr>
        <p:spPr>
          <a:xfrm>
            <a:off x="6438391" y="1277310"/>
            <a:ext cx="1087120"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dirty="0">
              <a:latin typeface="Tahoma"/>
              <a:cs typeface="Tahoma"/>
            </a:endParaRPr>
          </a:p>
        </p:txBody>
      </p:sp>
      <p:sp>
        <p:nvSpPr>
          <p:cNvPr id="4" name="object 4"/>
          <p:cNvSpPr/>
          <p:nvPr/>
        </p:nvSpPr>
        <p:spPr>
          <a:xfrm>
            <a:off x="6554343" y="2194560"/>
            <a:ext cx="0" cy="4538980"/>
          </a:xfrm>
          <a:custGeom>
            <a:avLst/>
            <a:gdLst/>
            <a:ahLst/>
            <a:cxnLst/>
            <a:rect l="l" t="t" r="r" b="b"/>
            <a:pathLst>
              <a:path h="4538980">
                <a:moveTo>
                  <a:pt x="0" y="0"/>
                </a:moveTo>
                <a:lnTo>
                  <a:pt x="0" y="4538472"/>
                </a:lnTo>
              </a:path>
            </a:pathLst>
          </a:custGeom>
          <a:ln w="20574">
            <a:solidFill>
              <a:srgbClr val="000000"/>
            </a:solidFill>
          </a:ln>
        </p:spPr>
        <p:txBody>
          <a:bodyPr wrap="square" lIns="0" tIns="0" rIns="0" bIns="0" rtlCol="0"/>
          <a:lstStyle/>
          <a:p>
            <a:endParaRPr/>
          </a:p>
        </p:txBody>
      </p:sp>
      <p:sp>
        <p:nvSpPr>
          <p:cNvPr id="5" name="object 5"/>
          <p:cNvSpPr txBox="1"/>
          <p:nvPr/>
        </p:nvSpPr>
        <p:spPr>
          <a:xfrm>
            <a:off x="6570218" y="2420365"/>
            <a:ext cx="203517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ahoma"/>
                <a:cs typeface="Tahoma"/>
              </a:rPr>
              <a:t>nhận pkt0, gửi ack0  nhận pkt1, gửi ack1</a:t>
            </a:r>
            <a:endParaRPr sz="1800">
              <a:latin typeface="Tahoma"/>
              <a:cs typeface="Tahoma"/>
            </a:endParaRPr>
          </a:p>
        </p:txBody>
      </p:sp>
      <p:sp>
        <p:nvSpPr>
          <p:cNvPr id="6" name="object 6"/>
          <p:cNvSpPr txBox="1"/>
          <p:nvPr/>
        </p:nvSpPr>
        <p:spPr>
          <a:xfrm>
            <a:off x="2551302" y="1164368"/>
            <a:ext cx="1844675" cy="2968761"/>
          </a:xfrm>
          <a:prstGeom prst="rect">
            <a:avLst/>
          </a:prstGeom>
        </p:spPr>
        <p:txBody>
          <a:bodyPr vert="horz" wrap="square" lIns="0" tIns="87630" rIns="0" bIns="0" rtlCol="0">
            <a:spAutoFit/>
          </a:bodyPr>
          <a:lstStyle/>
          <a:p>
            <a:pPr marL="976630">
              <a:lnSpc>
                <a:spcPct val="100000"/>
              </a:lnSpc>
              <a:spcBef>
                <a:spcPts val="690"/>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939165" marR="66675" algn="just">
              <a:lnSpc>
                <a:spcPct val="100000"/>
              </a:lnSpc>
              <a:spcBef>
                <a:spcPts val="500"/>
              </a:spcBef>
            </a:pPr>
            <a:r>
              <a:rPr sz="1800" dirty="0">
                <a:latin typeface="Tahoma"/>
                <a:cs typeface="Tahoma"/>
              </a:rPr>
              <a:t>gửi pkt0  gửi pkt1  gửi pkt2  gửi pkt3</a:t>
            </a:r>
          </a:p>
          <a:p>
            <a:pPr marL="1281430">
              <a:lnSpc>
                <a:spcPct val="100000"/>
              </a:lnSpc>
            </a:pPr>
            <a:r>
              <a:rPr sz="1800" dirty="0">
                <a:latin typeface="Tahoma"/>
                <a:cs typeface="Tahoma"/>
              </a:rPr>
              <a:t>(đợi)</a:t>
            </a:r>
          </a:p>
          <a:p>
            <a:pPr marL="12700" marR="15240" algn="r">
              <a:lnSpc>
                <a:spcPct val="100000"/>
              </a:lnSpc>
              <a:spcBef>
                <a:spcPts val="1825"/>
              </a:spcBef>
            </a:pPr>
            <a:r>
              <a:rPr sz="1800" dirty="0">
                <a:latin typeface="Tahoma"/>
                <a:cs typeface="Tahoma"/>
              </a:rPr>
              <a:t>rcv ack0, gửi pkt4  rcv ack1, gửi pkt5</a:t>
            </a:r>
          </a:p>
        </p:txBody>
      </p:sp>
      <p:sp>
        <p:nvSpPr>
          <p:cNvPr id="7" name="object 7"/>
          <p:cNvSpPr/>
          <p:nvPr/>
        </p:nvSpPr>
        <p:spPr>
          <a:xfrm>
            <a:off x="2468117" y="4704588"/>
            <a:ext cx="395477" cy="475488"/>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4410455" y="2128266"/>
            <a:ext cx="2105025" cy="505459"/>
          </a:xfrm>
          <a:custGeom>
            <a:avLst/>
            <a:gdLst/>
            <a:ahLst/>
            <a:cxnLst/>
            <a:rect l="l" t="t" r="r" b="b"/>
            <a:pathLst>
              <a:path w="2105025" h="505460">
                <a:moveTo>
                  <a:pt x="2024338" y="449507"/>
                </a:moveTo>
                <a:lnTo>
                  <a:pt x="6096" y="0"/>
                </a:lnTo>
                <a:lnTo>
                  <a:pt x="0" y="27432"/>
                </a:lnTo>
                <a:lnTo>
                  <a:pt x="2018110" y="476910"/>
                </a:lnTo>
                <a:lnTo>
                  <a:pt x="2024338" y="449507"/>
                </a:lnTo>
                <a:close/>
              </a:path>
              <a:path w="2105025" h="505460">
                <a:moveTo>
                  <a:pt x="2038350" y="498429"/>
                </a:moveTo>
                <a:lnTo>
                  <a:pt x="2038350" y="452627"/>
                </a:lnTo>
                <a:lnTo>
                  <a:pt x="2032254" y="480059"/>
                </a:lnTo>
                <a:lnTo>
                  <a:pt x="2018110" y="476910"/>
                </a:lnTo>
                <a:lnTo>
                  <a:pt x="2011680" y="505205"/>
                </a:lnTo>
                <a:lnTo>
                  <a:pt x="2038350" y="498429"/>
                </a:lnTo>
                <a:close/>
              </a:path>
              <a:path w="2105025" h="505460">
                <a:moveTo>
                  <a:pt x="2038350" y="452627"/>
                </a:moveTo>
                <a:lnTo>
                  <a:pt x="2024338" y="449507"/>
                </a:lnTo>
                <a:lnTo>
                  <a:pt x="2018110" y="476910"/>
                </a:lnTo>
                <a:lnTo>
                  <a:pt x="2032254" y="480059"/>
                </a:lnTo>
                <a:lnTo>
                  <a:pt x="2038350" y="452627"/>
                </a:lnTo>
                <a:close/>
              </a:path>
              <a:path w="2105025" h="505460">
                <a:moveTo>
                  <a:pt x="2104644" y="481583"/>
                </a:moveTo>
                <a:lnTo>
                  <a:pt x="2030730" y="421385"/>
                </a:lnTo>
                <a:lnTo>
                  <a:pt x="2024338" y="449507"/>
                </a:lnTo>
                <a:lnTo>
                  <a:pt x="2038350" y="452627"/>
                </a:lnTo>
                <a:lnTo>
                  <a:pt x="2038350" y="498429"/>
                </a:lnTo>
                <a:lnTo>
                  <a:pt x="2104644" y="481583"/>
                </a:lnTo>
                <a:close/>
              </a:path>
            </a:pathLst>
          </a:custGeom>
          <a:solidFill>
            <a:srgbClr val="000099"/>
          </a:solidFill>
        </p:spPr>
        <p:txBody>
          <a:bodyPr wrap="square" lIns="0" tIns="0" rIns="0" bIns="0" rtlCol="0"/>
          <a:lstStyle/>
          <a:p>
            <a:endParaRPr/>
          </a:p>
        </p:txBody>
      </p:sp>
      <p:sp>
        <p:nvSpPr>
          <p:cNvPr id="9" name="object 9"/>
          <p:cNvSpPr/>
          <p:nvPr/>
        </p:nvSpPr>
        <p:spPr>
          <a:xfrm>
            <a:off x="4408932" y="2402585"/>
            <a:ext cx="2103120" cy="505459"/>
          </a:xfrm>
          <a:custGeom>
            <a:avLst/>
            <a:gdLst/>
            <a:ahLst/>
            <a:cxnLst/>
            <a:rect l="l" t="t" r="r" b="b"/>
            <a:pathLst>
              <a:path w="2103120" h="505460">
                <a:moveTo>
                  <a:pt x="2022925" y="449529"/>
                </a:moveTo>
                <a:lnTo>
                  <a:pt x="6096" y="0"/>
                </a:lnTo>
                <a:lnTo>
                  <a:pt x="0" y="28194"/>
                </a:lnTo>
                <a:lnTo>
                  <a:pt x="2016477" y="477645"/>
                </a:lnTo>
                <a:lnTo>
                  <a:pt x="2022925" y="449529"/>
                </a:lnTo>
                <a:close/>
              </a:path>
              <a:path w="2103120" h="505460">
                <a:moveTo>
                  <a:pt x="2036826" y="498647"/>
                </a:moveTo>
                <a:lnTo>
                  <a:pt x="2036826" y="452627"/>
                </a:lnTo>
                <a:lnTo>
                  <a:pt x="2030730" y="480821"/>
                </a:lnTo>
                <a:lnTo>
                  <a:pt x="2016477" y="477645"/>
                </a:lnTo>
                <a:lnTo>
                  <a:pt x="2010156" y="505205"/>
                </a:lnTo>
                <a:lnTo>
                  <a:pt x="2036826" y="498647"/>
                </a:lnTo>
                <a:close/>
              </a:path>
              <a:path w="2103120" h="505460">
                <a:moveTo>
                  <a:pt x="2036826" y="452627"/>
                </a:moveTo>
                <a:lnTo>
                  <a:pt x="2022925" y="449529"/>
                </a:lnTo>
                <a:lnTo>
                  <a:pt x="2016477" y="477645"/>
                </a:lnTo>
                <a:lnTo>
                  <a:pt x="2030730" y="480821"/>
                </a:lnTo>
                <a:lnTo>
                  <a:pt x="2036826" y="452627"/>
                </a:lnTo>
                <a:close/>
              </a:path>
              <a:path w="2103120" h="505460">
                <a:moveTo>
                  <a:pt x="2103120" y="482345"/>
                </a:moveTo>
                <a:lnTo>
                  <a:pt x="2029206" y="422147"/>
                </a:lnTo>
                <a:lnTo>
                  <a:pt x="2022925" y="449529"/>
                </a:lnTo>
                <a:lnTo>
                  <a:pt x="2036826" y="452627"/>
                </a:lnTo>
                <a:lnTo>
                  <a:pt x="2036826" y="498647"/>
                </a:lnTo>
                <a:lnTo>
                  <a:pt x="2103120" y="482345"/>
                </a:lnTo>
                <a:close/>
              </a:path>
            </a:pathLst>
          </a:custGeom>
          <a:solidFill>
            <a:srgbClr val="000099"/>
          </a:solidFill>
        </p:spPr>
        <p:txBody>
          <a:bodyPr wrap="square" lIns="0" tIns="0" rIns="0" bIns="0" rtlCol="0"/>
          <a:lstStyle/>
          <a:p>
            <a:endParaRPr/>
          </a:p>
        </p:txBody>
      </p:sp>
      <p:sp>
        <p:nvSpPr>
          <p:cNvPr id="10" name="object 10"/>
          <p:cNvSpPr/>
          <p:nvPr/>
        </p:nvSpPr>
        <p:spPr>
          <a:xfrm>
            <a:off x="4424934" y="2666238"/>
            <a:ext cx="879475" cy="236220"/>
          </a:xfrm>
          <a:custGeom>
            <a:avLst/>
            <a:gdLst/>
            <a:ahLst/>
            <a:cxnLst/>
            <a:rect l="l" t="t" r="r" b="b"/>
            <a:pathLst>
              <a:path w="879475" h="236219">
                <a:moveTo>
                  <a:pt x="799167" y="180481"/>
                </a:moveTo>
                <a:lnTo>
                  <a:pt x="6096" y="0"/>
                </a:lnTo>
                <a:lnTo>
                  <a:pt x="0" y="27432"/>
                </a:lnTo>
                <a:lnTo>
                  <a:pt x="792685" y="208745"/>
                </a:lnTo>
                <a:lnTo>
                  <a:pt x="799167" y="180481"/>
                </a:lnTo>
                <a:close/>
              </a:path>
              <a:path w="879475" h="236219">
                <a:moveTo>
                  <a:pt x="813054" y="229880"/>
                </a:moveTo>
                <a:lnTo>
                  <a:pt x="813054" y="183641"/>
                </a:lnTo>
                <a:lnTo>
                  <a:pt x="806196" y="211835"/>
                </a:lnTo>
                <a:lnTo>
                  <a:pt x="792685" y="208745"/>
                </a:lnTo>
                <a:lnTo>
                  <a:pt x="786384" y="236219"/>
                </a:lnTo>
                <a:lnTo>
                  <a:pt x="813054" y="229880"/>
                </a:lnTo>
                <a:close/>
              </a:path>
              <a:path w="879475" h="236219">
                <a:moveTo>
                  <a:pt x="813054" y="183641"/>
                </a:moveTo>
                <a:lnTo>
                  <a:pt x="799167" y="180481"/>
                </a:lnTo>
                <a:lnTo>
                  <a:pt x="792685" y="208745"/>
                </a:lnTo>
                <a:lnTo>
                  <a:pt x="806196" y="211835"/>
                </a:lnTo>
                <a:lnTo>
                  <a:pt x="813054" y="183641"/>
                </a:lnTo>
                <a:close/>
              </a:path>
              <a:path w="879475" h="236219">
                <a:moveTo>
                  <a:pt x="879348" y="214121"/>
                </a:moveTo>
                <a:lnTo>
                  <a:pt x="805434" y="153161"/>
                </a:lnTo>
                <a:lnTo>
                  <a:pt x="799167" y="180481"/>
                </a:lnTo>
                <a:lnTo>
                  <a:pt x="813054" y="183641"/>
                </a:lnTo>
                <a:lnTo>
                  <a:pt x="813054" y="229880"/>
                </a:lnTo>
                <a:lnTo>
                  <a:pt x="879348" y="214121"/>
                </a:lnTo>
                <a:close/>
              </a:path>
            </a:pathLst>
          </a:custGeom>
          <a:solidFill>
            <a:srgbClr val="000099"/>
          </a:solidFill>
        </p:spPr>
        <p:txBody>
          <a:bodyPr wrap="square" lIns="0" tIns="0" rIns="0" bIns="0" rtlCol="0"/>
          <a:lstStyle/>
          <a:p>
            <a:endParaRPr/>
          </a:p>
        </p:txBody>
      </p:sp>
      <p:sp>
        <p:nvSpPr>
          <p:cNvPr id="11" name="object 11"/>
          <p:cNvSpPr/>
          <p:nvPr/>
        </p:nvSpPr>
        <p:spPr>
          <a:xfrm>
            <a:off x="4431029" y="2951988"/>
            <a:ext cx="2103120" cy="505459"/>
          </a:xfrm>
          <a:custGeom>
            <a:avLst/>
            <a:gdLst/>
            <a:ahLst/>
            <a:cxnLst/>
            <a:rect l="l" t="t" r="r" b="b"/>
            <a:pathLst>
              <a:path w="2103120" h="505460">
                <a:moveTo>
                  <a:pt x="2022815" y="449505"/>
                </a:moveTo>
                <a:lnTo>
                  <a:pt x="6096" y="0"/>
                </a:lnTo>
                <a:lnTo>
                  <a:pt x="0" y="27432"/>
                </a:lnTo>
                <a:lnTo>
                  <a:pt x="2016423" y="477627"/>
                </a:lnTo>
                <a:lnTo>
                  <a:pt x="2022815" y="449505"/>
                </a:lnTo>
                <a:close/>
              </a:path>
              <a:path w="2103120" h="505460">
                <a:moveTo>
                  <a:pt x="2036826" y="498647"/>
                </a:moveTo>
                <a:lnTo>
                  <a:pt x="2036826" y="452627"/>
                </a:lnTo>
                <a:lnTo>
                  <a:pt x="2030730" y="480821"/>
                </a:lnTo>
                <a:lnTo>
                  <a:pt x="2016423" y="477627"/>
                </a:lnTo>
                <a:lnTo>
                  <a:pt x="2010156" y="505205"/>
                </a:lnTo>
                <a:lnTo>
                  <a:pt x="2036826" y="498647"/>
                </a:lnTo>
                <a:close/>
              </a:path>
              <a:path w="2103120" h="505460">
                <a:moveTo>
                  <a:pt x="2036826" y="452627"/>
                </a:moveTo>
                <a:lnTo>
                  <a:pt x="2022815" y="449505"/>
                </a:lnTo>
                <a:lnTo>
                  <a:pt x="2016423" y="477627"/>
                </a:lnTo>
                <a:lnTo>
                  <a:pt x="2030730" y="480821"/>
                </a:lnTo>
                <a:lnTo>
                  <a:pt x="2036826" y="452627"/>
                </a:lnTo>
                <a:close/>
              </a:path>
              <a:path w="2103120" h="505460">
                <a:moveTo>
                  <a:pt x="2103120" y="482345"/>
                </a:moveTo>
                <a:lnTo>
                  <a:pt x="2029206" y="421385"/>
                </a:lnTo>
                <a:lnTo>
                  <a:pt x="2022815" y="449505"/>
                </a:lnTo>
                <a:lnTo>
                  <a:pt x="2036826" y="452627"/>
                </a:lnTo>
                <a:lnTo>
                  <a:pt x="2036826" y="498647"/>
                </a:lnTo>
                <a:lnTo>
                  <a:pt x="2103120" y="482345"/>
                </a:lnTo>
                <a:close/>
              </a:path>
            </a:pathLst>
          </a:custGeom>
          <a:solidFill>
            <a:srgbClr val="000099"/>
          </a:solidFill>
        </p:spPr>
        <p:txBody>
          <a:bodyPr wrap="square" lIns="0" tIns="0" rIns="0" bIns="0" rtlCol="0"/>
          <a:lstStyle/>
          <a:p>
            <a:endParaRPr/>
          </a:p>
        </p:txBody>
      </p:sp>
      <p:sp>
        <p:nvSpPr>
          <p:cNvPr id="12" name="object 12"/>
          <p:cNvSpPr/>
          <p:nvPr/>
        </p:nvSpPr>
        <p:spPr>
          <a:xfrm>
            <a:off x="4419600" y="2653283"/>
            <a:ext cx="2021839" cy="1079500"/>
          </a:xfrm>
          <a:custGeom>
            <a:avLst/>
            <a:gdLst/>
            <a:ahLst/>
            <a:cxnLst/>
            <a:rect l="l" t="t" r="r" b="b"/>
            <a:pathLst>
              <a:path w="2021839" h="1079500">
                <a:moveTo>
                  <a:pt x="69705" y="1026621"/>
                </a:moveTo>
                <a:lnTo>
                  <a:pt x="56388" y="1001268"/>
                </a:lnTo>
                <a:lnTo>
                  <a:pt x="0" y="1078992"/>
                </a:lnTo>
                <a:lnTo>
                  <a:pt x="57150" y="1077631"/>
                </a:lnTo>
                <a:lnTo>
                  <a:pt x="57150" y="1033272"/>
                </a:lnTo>
                <a:lnTo>
                  <a:pt x="69705" y="1026621"/>
                </a:lnTo>
                <a:close/>
              </a:path>
              <a:path w="2021839" h="1079500">
                <a:moveTo>
                  <a:pt x="82858" y="1051664"/>
                </a:moveTo>
                <a:lnTo>
                  <a:pt x="69705" y="1026621"/>
                </a:lnTo>
                <a:lnTo>
                  <a:pt x="57150" y="1033272"/>
                </a:lnTo>
                <a:lnTo>
                  <a:pt x="70104" y="1058418"/>
                </a:lnTo>
                <a:lnTo>
                  <a:pt x="82858" y="1051664"/>
                </a:lnTo>
                <a:close/>
              </a:path>
              <a:path w="2021839" h="1079500">
                <a:moveTo>
                  <a:pt x="96012" y="1076706"/>
                </a:moveTo>
                <a:lnTo>
                  <a:pt x="82858" y="1051664"/>
                </a:lnTo>
                <a:lnTo>
                  <a:pt x="70104" y="1058418"/>
                </a:lnTo>
                <a:lnTo>
                  <a:pt x="57150" y="1033272"/>
                </a:lnTo>
                <a:lnTo>
                  <a:pt x="57150" y="1077631"/>
                </a:lnTo>
                <a:lnTo>
                  <a:pt x="96012" y="1076706"/>
                </a:lnTo>
                <a:close/>
              </a:path>
              <a:path w="2021839" h="1079500">
                <a:moveTo>
                  <a:pt x="2021586" y="25146"/>
                </a:moveTo>
                <a:lnTo>
                  <a:pt x="2007870" y="0"/>
                </a:lnTo>
                <a:lnTo>
                  <a:pt x="69705" y="1026621"/>
                </a:lnTo>
                <a:lnTo>
                  <a:pt x="82858" y="1051664"/>
                </a:lnTo>
                <a:lnTo>
                  <a:pt x="2021586" y="25146"/>
                </a:lnTo>
                <a:close/>
              </a:path>
            </a:pathLst>
          </a:custGeom>
          <a:solidFill>
            <a:srgbClr val="008000"/>
          </a:solidFill>
        </p:spPr>
        <p:txBody>
          <a:bodyPr wrap="square" lIns="0" tIns="0" rIns="0" bIns="0" rtlCol="0"/>
          <a:lstStyle/>
          <a:p>
            <a:endParaRPr/>
          </a:p>
        </p:txBody>
      </p:sp>
      <p:sp>
        <p:nvSpPr>
          <p:cNvPr id="13" name="object 13"/>
          <p:cNvSpPr txBox="1"/>
          <p:nvPr/>
        </p:nvSpPr>
        <p:spPr>
          <a:xfrm>
            <a:off x="5268720" y="2746502"/>
            <a:ext cx="603759"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ahoma"/>
                <a:cs typeface="Tahoma"/>
              </a:rPr>
              <a:t>X</a:t>
            </a:r>
            <a:r>
              <a:rPr sz="2550" i="1" baseline="1633" dirty="0">
                <a:solidFill>
                  <a:srgbClr val="FF0000"/>
                </a:solidFill>
                <a:latin typeface="Tahoma"/>
                <a:cs typeface="Tahoma"/>
              </a:rPr>
              <a:t>mất</a:t>
            </a:r>
            <a:endParaRPr sz="2550" baseline="1633" dirty="0">
              <a:latin typeface="Tahoma"/>
              <a:cs typeface="Tahoma"/>
            </a:endParaRPr>
          </a:p>
        </p:txBody>
      </p:sp>
      <p:sp>
        <p:nvSpPr>
          <p:cNvPr id="14" name="object 14"/>
          <p:cNvSpPr/>
          <p:nvPr/>
        </p:nvSpPr>
        <p:spPr>
          <a:xfrm>
            <a:off x="4416552" y="2939033"/>
            <a:ext cx="2021839" cy="1112520"/>
          </a:xfrm>
          <a:custGeom>
            <a:avLst/>
            <a:gdLst/>
            <a:ahLst/>
            <a:cxnLst/>
            <a:rect l="l" t="t" r="r" b="b"/>
            <a:pathLst>
              <a:path w="2021839" h="1112520">
                <a:moveTo>
                  <a:pt x="68663" y="1059332"/>
                </a:moveTo>
                <a:lnTo>
                  <a:pt x="54864" y="1034034"/>
                </a:lnTo>
                <a:lnTo>
                  <a:pt x="0" y="1112520"/>
                </a:lnTo>
                <a:lnTo>
                  <a:pt x="56388" y="1110729"/>
                </a:lnTo>
                <a:lnTo>
                  <a:pt x="56388" y="1066038"/>
                </a:lnTo>
                <a:lnTo>
                  <a:pt x="68663" y="1059332"/>
                </a:lnTo>
                <a:close/>
              </a:path>
              <a:path w="2021839" h="1112520">
                <a:moveTo>
                  <a:pt x="82379" y="1084478"/>
                </a:moveTo>
                <a:lnTo>
                  <a:pt x="68663" y="1059332"/>
                </a:lnTo>
                <a:lnTo>
                  <a:pt x="56388" y="1066038"/>
                </a:lnTo>
                <a:lnTo>
                  <a:pt x="70104" y="1091184"/>
                </a:lnTo>
                <a:lnTo>
                  <a:pt x="82379" y="1084478"/>
                </a:lnTo>
                <a:close/>
              </a:path>
              <a:path w="2021839" h="1112520">
                <a:moveTo>
                  <a:pt x="96012" y="1109472"/>
                </a:moveTo>
                <a:lnTo>
                  <a:pt x="82379" y="1084478"/>
                </a:lnTo>
                <a:lnTo>
                  <a:pt x="70104" y="1091184"/>
                </a:lnTo>
                <a:lnTo>
                  <a:pt x="56388" y="1066038"/>
                </a:lnTo>
                <a:lnTo>
                  <a:pt x="56388" y="1110729"/>
                </a:lnTo>
                <a:lnTo>
                  <a:pt x="96012" y="1109472"/>
                </a:lnTo>
                <a:close/>
              </a:path>
              <a:path w="2021839" h="1112520">
                <a:moveTo>
                  <a:pt x="2021586" y="25146"/>
                </a:moveTo>
                <a:lnTo>
                  <a:pt x="2007870" y="0"/>
                </a:lnTo>
                <a:lnTo>
                  <a:pt x="68663" y="1059332"/>
                </a:lnTo>
                <a:lnTo>
                  <a:pt x="82379" y="1084478"/>
                </a:lnTo>
                <a:lnTo>
                  <a:pt x="2021586" y="25146"/>
                </a:lnTo>
                <a:close/>
              </a:path>
            </a:pathLst>
          </a:custGeom>
          <a:solidFill>
            <a:srgbClr val="008000"/>
          </a:solidFill>
        </p:spPr>
        <p:txBody>
          <a:bodyPr wrap="square" lIns="0" tIns="0" rIns="0" bIns="0" rtlCol="0"/>
          <a:lstStyle/>
          <a:p>
            <a:endParaRPr/>
          </a:p>
        </p:txBody>
      </p:sp>
      <p:sp>
        <p:nvSpPr>
          <p:cNvPr id="15" name="object 15"/>
          <p:cNvSpPr/>
          <p:nvPr/>
        </p:nvSpPr>
        <p:spPr>
          <a:xfrm>
            <a:off x="4416552" y="3774185"/>
            <a:ext cx="2104390" cy="505459"/>
          </a:xfrm>
          <a:custGeom>
            <a:avLst/>
            <a:gdLst/>
            <a:ahLst/>
            <a:cxnLst/>
            <a:rect l="l" t="t" r="r" b="b"/>
            <a:pathLst>
              <a:path w="2104390" h="505460">
                <a:moveTo>
                  <a:pt x="2023165" y="449582"/>
                </a:moveTo>
                <a:lnTo>
                  <a:pt x="6858" y="0"/>
                </a:lnTo>
                <a:lnTo>
                  <a:pt x="0" y="28194"/>
                </a:lnTo>
                <a:lnTo>
                  <a:pt x="2016962" y="477753"/>
                </a:lnTo>
                <a:lnTo>
                  <a:pt x="2023165" y="449582"/>
                </a:lnTo>
                <a:close/>
              </a:path>
              <a:path w="2104390" h="505460">
                <a:moveTo>
                  <a:pt x="2036826" y="498835"/>
                </a:moveTo>
                <a:lnTo>
                  <a:pt x="2036826" y="452627"/>
                </a:lnTo>
                <a:lnTo>
                  <a:pt x="2030730" y="480821"/>
                </a:lnTo>
                <a:lnTo>
                  <a:pt x="2016962" y="477753"/>
                </a:lnTo>
                <a:lnTo>
                  <a:pt x="2010918" y="505205"/>
                </a:lnTo>
                <a:lnTo>
                  <a:pt x="2036826" y="498835"/>
                </a:lnTo>
                <a:close/>
              </a:path>
              <a:path w="2104390" h="505460">
                <a:moveTo>
                  <a:pt x="2036826" y="452627"/>
                </a:moveTo>
                <a:lnTo>
                  <a:pt x="2023165" y="449582"/>
                </a:lnTo>
                <a:lnTo>
                  <a:pt x="2016962" y="477753"/>
                </a:lnTo>
                <a:lnTo>
                  <a:pt x="2030730" y="480821"/>
                </a:lnTo>
                <a:lnTo>
                  <a:pt x="2036826" y="452627"/>
                </a:lnTo>
                <a:close/>
              </a:path>
              <a:path w="2104390" h="505460">
                <a:moveTo>
                  <a:pt x="2103882" y="482345"/>
                </a:moveTo>
                <a:lnTo>
                  <a:pt x="2029206" y="422147"/>
                </a:lnTo>
                <a:lnTo>
                  <a:pt x="2023165" y="449582"/>
                </a:lnTo>
                <a:lnTo>
                  <a:pt x="2036826" y="452627"/>
                </a:lnTo>
                <a:lnTo>
                  <a:pt x="2036826" y="498835"/>
                </a:lnTo>
                <a:lnTo>
                  <a:pt x="2103882" y="482345"/>
                </a:lnTo>
                <a:close/>
              </a:path>
            </a:pathLst>
          </a:custGeom>
          <a:solidFill>
            <a:srgbClr val="000099"/>
          </a:solidFill>
        </p:spPr>
        <p:txBody>
          <a:bodyPr wrap="square" lIns="0" tIns="0" rIns="0" bIns="0" rtlCol="0"/>
          <a:lstStyle/>
          <a:p>
            <a:endParaRPr/>
          </a:p>
        </p:txBody>
      </p:sp>
      <p:sp>
        <p:nvSpPr>
          <p:cNvPr id="16" name="object 16"/>
          <p:cNvSpPr/>
          <p:nvPr/>
        </p:nvSpPr>
        <p:spPr>
          <a:xfrm>
            <a:off x="4448555" y="4093464"/>
            <a:ext cx="2105025" cy="505459"/>
          </a:xfrm>
          <a:custGeom>
            <a:avLst/>
            <a:gdLst/>
            <a:ahLst/>
            <a:cxnLst/>
            <a:rect l="l" t="t" r="r" b="b"/>
            <a:pathLst>
              <a:path w="2105025" h="505460">
                <a:moveTo>
                  <a:pt x="2024338" y="449507"/>
                </a:moveTo>
                <a:lnTo>
                  <a:pt x="6096" y="0"/>
                </a:lnTo>
                <a:lnTo>
                  <a:pt x="0" y="27432"/>
                </a:lnTo>
                <a:lnTo>
                  <a:pt x="2017947" y="477630"/>
                </a:lnTo>
                <a:lnTo>
                  <a:pt x="2024338" y="449507"/>
                </a:lnTo>
                <a:close/>
              </a:path>
              <a:path w="2105025" h="505460">
                <a:moveTo>
                  <a:pt x="2038350" y="498647"/>
                </a:moveTo>
                <a:lnTo>
                  <a:pt x="2038350" y="452627"/>
                </a:lnTo>
                <a:lnTo>
                  <a:pt x="2032254" y="480821"/>
                </a:lnTo>
                <a:lnTo>
                  <a:pt x="2017947" y="477630"/>
                </a:lnTo>
                <a:lnTo>
                  <a:pt x="2011680" y="505205"/>
                </a:lnTo>
                <a:lnTo>
                  <a:pt x="2038350" y="498647"/>
                </a:lnTo>
                <a:close/>
              </a:path>
              <a:path w="2105025" h="505460">
                <a:moveTo>
                  <a:pt x="2038350" y="452627"/>
                </a:moveTo>
                <a:lnTo>
                  <a:pt x="2024338" y="449507"/>
                </a:lnTo>
                <a:lnTo>
                  <a:pt x="2017947" y="477630"/>
                </a:lnTo>
                <a:lnTo>
                  <a:pt x="2032254" y="480821"/>
                </a:lnTo>
                <a:lnTo>
                  <a:pt x="2038350" y="452627"/>
                </a:lnTo>
                <a:close/>
              </a:path>
              <a:path w="2105025" h="505460">
                <a:moveTo>
                  <a:pt x="2104644" y="482345"/>
                </a:moveTo>
                <a:lnTo>
                  <a:pt x="2030730" y="421385"/>
                </a:lnTo>
                <a:lnTo>
                  <a:pt x="2024338" y="449507"/>
                </a:lnTo>
                <a:lnTo>
                  <a:pt x="2038350" y="452627"/>
                </a:lnTo>
                <a:lnTo>
                  <a:pt x="2038350" y="498647"/>
                </a:lnTo>
                <a:lnTo>
                  <a:pt x="2104644" y="482345"/>
                </a:lnTo>
                <a:close/>
              </a:path>
            </a:pathLst>
          </a:custGeom>
          <a:solidFill>
            <a:srgbClr val="000099"/>
          </a:solidFill>
        </p:spPr>
        <p:txBody>
          <a:bodyPr wrap="square" lIns="0" tIns="0" rIns="0" bIns="0" rtlCol="0"/>
          <a:lstStyle/>
          <a:p>
            <a:endParaRPr/>
          </a:p>
        </p:txBody>
      </p:sp>
      <p:sp>
        <p:nvSpPr>
          <p:cNvPr id="17" name="object 17"/>
          <p:cNvSpPr/>
          <p:nvPr/>
        </p:nvSpPr>
        <p:spPr>
          <a:xfrm>
            <a:off x="4448555" y="3469385"/>
            <a:ext cx="2021839" cy="1112520"/>
          </a:xfrm>
          <a:custGeom>
            <a:avLst/>
            <a:gdLst/>
            <a:ahLst/>
            <a:cxnLst/>
            <a:rect l="l" t="t" r="r" b="b"/>
            <a:pathLst>
              <a:path w="2021839" h="1112520">
                <a:moveTo>
                  <a:pt x="68596" y="1058955"/>
                </a:moveTo>
                <a:lnTo>
                  <a:pt x="54864" y="1034034"/>
                </a:lnTo>
                <a:lnTo>
                  <a:pt x="0" y="1112520"/>
                </a:lnTo>
                <a:lnTo>
                  <a:pt x="55626" y="1110312"/>
                </a:lnTo>
                <a:lnTo>
                  <a:pt x="55626" y="1066038"/>
                </a:lnTo>
                <a:lnTo>
                  <a:pt x="68596" y="1058955"/>
                </a:lnTo>
                <a:close/>
              </a:path>
              <a:path w="2021839" h="1112520">
                <a:moveTo>
                  <a:pt x="82099" y="1083460"/>
                </a:moveTo>
                <a:lnTo>
                  <a:pt x="68596" y="1058955"/>
                </a:lnTo>
                <a:lnTo>
                  <a:pt x="55626" y="1066038"/>
                </a:lnTo>
                <a:lnTo>
                  <a:pt x="69342" y="1090422"/>
                </a:lnTo>
                <a:lnTo>
                  <a:pt x="82099" y="1083460"/>
                </a:lnTo>
                <a:close/>
              </a:path>
              <a:path w="2021839" h="1112520">
                <a:moveTo>
                  <a:pt x="96012" y="1108710"/>
                </a:moveTo>
                <a:lnTo>
                  <a:pt x="82099" y="1083460"/>
                </a:lnTo>
                <a:lnTo>
                  <a:pt x="69342" y="1090422"/>
                </a:lnTo>
                <a:lnTo>
                  <a:pt x="55626" y="1066038"/>
                </a:lnTo>
                <a:lnTo>
                  <a:pt x="55626" y="1110312"/>
                </a:lnTo>
                <a:lnTo>
                  <a:pt x="96012" y="1108710"/>
                </a:lnTo>
                <a:close/>
              </a:path>
              <a:path w="2021839" h="1112520">
                <a:moveTo>
                  <a:pt x="2021586" y="25146"/>
                </a:moveTo>
                <a:lnTo>
                  <a:pt x="2007870" y="0"/>
                </a:lnTo>
                <a:lnTo>
                  <a:pt x="68596" y="1058955"/>
                </a:lnTo>
                <a:lnTo>
                  <a:pt x="82099" y="1083460"/>
                </a:lnTo>
                <a:lnTo>
                  <a:pt x="2021586" y="25146"/>
                </a:lnTo>
                <a:close/>
              </a:path>
            </a:pathLst>
          </a:custGeom>
          <a:solidFill>
            <a:srgbClr val="008000"/>
          </a:solidFill>
        </p:spPr>
        <p:txBody>
          <a:bodyPr wrap="square" lIns="0" tIns="0" rIns="0" bIns="0" rtlCol="0"/>
          <a:lstStyle/>
          <a:p>
            <a:endParaRPr/>
          </a:p>
        </p:txBody>
      </p:sp>
      <p:sp>
        <p:nvSpPr>
          <p:cNvPr id="18" name="object 18"/>
          <p:cNvSpPr/>
          <p:nvPr/>
        </p:nvSpPr>
        <p:spPr>
          <a:xfrm>
            <a:off x="4411979" y="2673095"/>
            <a:ext cx="0" cy="2459990"/>
          </a:xfrm>
          <a:custGeom>
            <a:avLst/>
            <a:gdLst/>
            <a:ahLst/>
            <a:cxnLst/>
            <a:rect l="l" t="t" r="r" b="b"/>
            <a:pathLst>
              <a:path h="2459990">
                <a:moveTo>
                  <a:pt x="0" y="0"/>
                </a:moveTo>
                <a:lnTo>
                  <a:pt x="0" y="2459736"/>
                </a:lnTo>
              </a:path>
            </a:pathLst>
          </a:custGeom>
          <a:ln w="28955">
            <a:solidFill>
              <a:srgbClr val="000000"/>
            </a:solidFill>
          </a:ln>
        </p:spPr>
        <p:txBody>
          <a:bodyPr wrap="square" lIns="0" tIns="0" rIns="0" bIns="0" rtlCol="0"/>
          <a:lstStyle/>
          <a:p>
            <a:endParaRPr/>
          </a:p>
        </p:txBody>
      </p:sp>
      <p:sp>
        <p:nvSpPr>
          <p:cNvPr id="19" name="object 19"/>
          <p:cNvSpPr/>
          <p:nvPr/>
        </p:nvSpPr>
        <p:spPr>
          <a:xfrm>
            <a:off x="4309109" y="2670429"/>
            <a:ext cx="100965" cy="0"/>
          </a:xfrm>
          <a:custGeom>
            <a:avLst/>
            <a:gdLst/>
            <a:ahLst/>
            <a:cxnLst/>
            <a:rect l="l" t="t" r="r" b="b"/>
            <a:pathLst>
              <a:path w="100964">
                <a:moveTo>
                  <a:pt x="0" y="0"/>
                </a:moveTo>
                <a:lnTo>
                  <a:pt x="100584" y="0"/>
                </a:lnTo>
              </a:path>
            </a:pathLst>
          </a:custGeom>
          <a:ln w="28194">
            <a:solidFill>
              <a:srgbClr val="000000"/>
            </a:solidFill>
          </a:ln>
        </p:spPr>
        <p:txBody>
          <a:bodyPr wrap="square" lIns="0" tIns="0" rIns="0" bIns="0" rtlCol="0"/>
          <a:lstStyle/>
          <a:p>
            <a:endParaRPr/>
          </a:p>
        </p:txBody>
      </p:sp>
      <p:sp>
        <p:nvSpPr>
          <p:cNvPr id="20" name="object 20"/>
          <p:cNvSpPr/>
          <p:nvPr/>
        </p:nvSpPr>
        <p:spPr>
          <a:xfrm>
            <a:off x="4309109" y="5132832"/>
            <a:ext cx="100965" cy="0"/>
          </a:xfrm>
          <a:custGeom>
            <a:avLst/>
            <a:gdLst/>
            <a:ahLst/>
            <a:cxnLst/>
            <a:rect l="l" t="t" r="r" b="b"/>
            <a:pathLst>
              <a:path w="100964">
                <a:moveTo>
                  <a:pt x="0" y="0"/>
                </a:moveTo>
                <a:lnTo>
                  <a:pt x="100584" y="0"/>
                </a:lnTo>
              </a:path>
            </a:pathLst>
          </a:custGeom>
          <a:ln w="28955">
            <a:solidFill>
              <a:srgbClr val="000000"/>
            </a:solidFill>
          </a:ln>
        </p:spPr>
        <p:txBody>
          <a:bodyPr wrap="square" lIns="0" tIns="0" rIns="0" bIns="0" rtlCol="0"/>
          <a:lstStyle/>
          <a:p>
            <a:endParaRPr/>
          </a:p>
        </p:txBody>
      </p:sp>
      <p:sp>
        <p:nvSpPr>
          <p:cNvPr id="21" name="object 21"/>
          <p:cNvSpPr/>
          <p:nvPr/>
        </p:nvSpPr>
        <p:spPr>
          <a:xfrm>
            <a:off x="4447032" y="5286755"/>
            <a:ext cx="2103120" cy="506095"/>
          </a:xfrm>
          <a:custGeom>
            <a:avLst/>
            <a:gdLst/>
            <a:ahLst/>
            <a:cxnLst/>
            <a:rect l="l" t="t" r="r" b="b"/>
            <a:pathLst>
              <a:path w="2103120" h="506095">
                <a:moveTo>
                  <a:pt x="2022816" y="450262"/>
                </a:moveTo>
                <a:lnTo>
                  <a:pt x="6096" y="0"/>
                </a:lnTo>
                <a:lnTo>
                  <a:pt x="0" y="28194"/>
                </a:lnTo>
                <a:lnTo>
                  <a:pt x="2016587" y="477669"/>
                </a:lnTo>
                <a:lnTo>
                  <a:pt x="2022816" y="450262"/>
                </a:lnTo>
                <a:close/>
              </a:path>
              <a:path w="2103120" h="506095">
                <a:moveTo>
                  <a:pt x="2036826" y="499191"/>
                </a:moveTo>
                <a:lnTo>
                  <a:pt x="2036826" y="453389"/>
                </a:lnTo>
                <a:lnTo>
                  <a:pt x="2030730" y="480821"/>
                </a:lnTo>
                <a:lnTo>
                  <a:pt x="2016587" y="477669"/>
                </a:lnTo>
                <a:lnTo>
                  <a:pt x="2010156" y="505967"/>
                </a:lnTo>
                <a:lnTo>
                  <a:pt x="2036826" y="499191"/>
                </a:lnTo>
                <a:close/>
              </a:path>
              <a:path w="2103120" h="506095">
                <a:moveTo>
                  <a:pt x="2036826" y="453389"/>
                </a:moveTo>
                <a:lnTo>
                  <a:pt x="2022816" y="450262"/>
                </a:lnTo>
                <a:lnTo>
                  <a:pt x="2016587" y="477669"/>
                </a:lnTo>
                <a:lnTo>
                  <a:pt x="2030730" y="480821"/>
                </a:lnTo>
                <a:lnTo>
                  <a:pt x="2036826" y="453389"/>
                </a:lnTo>
                <a:close/>
              </a:path>
              <a:path w="2103120" h="506095">
                <a:moveTo>
                  <a:pt x="2103120" y="482345"/>
                </a:moveTo>
                <a:lnTo>
                  <a:pt x="2029206" y="422147"/>
                </a:lnTo>
                <a:lnTo>
                  <a:pt x="2022816" y="450262"/>
                </a:lnTo>
                <a:lnTo>
                  <a:pt x="2036826" y="453389"/>
                </a:lnTo>
                <a:lnTo>
                  <a:pt x="2036826" y="499191"/>
                </a:lnTo>
                <a:lnTo>
                  <a:pt x="2103120" y="482345"/>
                </a:lnTo>
                <a:close/>
              </a:path>
            </a:pathLst>
          </a:custGeom>
          <a:solidFill>
            <a:srgbClr val="000099"/>
          </a:solidFill>
        </p:spPr>
        <p:txBody>
          <a:bodyPr wrap="square" lIns="0" tIns="0" rIns="0" bIns="0" rtlCol="0"/>
          <a:lstStyle/>
          <a:p>
            <a:endParaRPr/>
          </a:p>
        </p:txBody>
      </p:sp>
      <p:sp>
        <p:nvSpPr>
          <p:cNvPr id="22" name="object 22"/>
          <p:cNvSpPr txBox="1"/>
          <p:nvPr/>
        </p:nvSpPr>
        <p:spPr>
          <a:xfrm>
            <a:off x="6567169" y="3243326"/>
            <a:ext cx="2670810" cy="1796414"/>
          </a:xfrm>
          <a:prstGeom prst="rect">
            <a:avLst/>
          </a:prstGeom>
        </p:spPr>
        <p:txBody>
          <a:bodyPr vert="horz" wrap="square" lIns="0" tIns="12700" rIns="0" bIns="0" rtlCol="0">
            <a:spAutoFit/>
          </a:bodyPr>
          <a:lstStyle/>
          <a:p>
            <a:pPr marL="86995" marR="850265" indent="-71755">
              <a:lnSpc>
                <a:spcPct val="100000"/>
              </a:lnSpc>
              <a:spcBef>
                <a:spcPts val="100"/>
              </a:spcBef>
            </a:pPr>
            <a:r>
              <a:rPr sz="1800" dirty="0">
                <a:latin typeface="Tahoma"/>
                <a:cs typeface="Tahoma"/>
              </a:rPr>
              <a:t>nhận pkt3, buffer,  gửi ack3</a:t>
            </a:r>
          </a:p>
          <a:p>
            <a:pPr marL="83820" marR="26034" indent="-71755">
              <a:lnSpc>
                <a:spcPct val="100000"/>
              </a:lnSpc>
              <a:spcBef>
                <a:spcPts val="1200"/>
              </a:spcBef>
            </a:pPr>
            <a:r>
              <a:rPr sz="1800" dirty="0">
                <a:latin typeface="Tahoma"/>
                <a:cs typeface="Tahoma"/>
              </a:rPr>
              <a:t>nhận pkt4, lưu vùng đệm,  gửi ack4</a:t>
            </a:r>
          </a:p>
          <a:p>
            <a:pPr marL="31115">
              <a:lnSpc>
                <a:spcPts val="1945"/>
              </a:lnSpc>
            </a:pPr>
            <a:r>
              <a:rPr sz="1800" dirty="0">
                <a:latin typeface="Tahoma"/>
                <a:cs typeface="Tahoma"/>
              </a:rPr>
              <a:t>nhận pkt5, lưu vùng đệm,</a:t>
            </a:r>
          </a:p>
          <a:p>
            <a:pPr marL="102870">
              <a:lnSpc>
                <a:spcPct val="100000"/>
              </a:lnSpc>
            </a:pPr>
            <a:r>
              <a:rPr sz="1800" dirty="0">
                <a:latin typeface="Tahoma"/>
                <a:cs typeface="Tahoma"/>
              </a:rPr>
              <a:t>gửi ack5</a:t>
            </a:r>
          </a:p>
        </p:txBody>
      </p:sp>
      <p:sp>
        <p:nvSpPr>
          <p:cNvPr id="23" name="object 23"/>
          <p:cNvSpPr txBox="1"/>
          <p:nvPr/>
        </p:nvSpPr>
        <p:spPr>
          <a:xfrm>
            <a:off x="6596864" y="5591817"/>
            <a:ext cx="2639695" cy="546735"/>
          </a:xfrm>
          <a:prstGeom prst="rect">
            <a:avLst/>
          </a:prstGeom>
        </p:spPr>
        <p:txBody>
          <a:bodyPr vert="horz" wrap="square" lIns="0" tIns="43815" rIns="0" bIns="0" rtlCol="0">
            <a:spAutoFit/>
          </a:bodyPr>
          <a:lstStyle/>
          <a:p>
            <a:pPr marL="12700" marR="5080">
              <a:lnSpc>
                <a:spcPts val="1939"/>
              </a:lnSpc>
              <a:spcBef>
                <a:spcPts val="345"/>
              </a:spcBef>
            </a:pPr>
            <a:r>
              <a:rPr sz="1800" dirty="0">
                <a:latin typeface="Tahoma"/>
                <a:cs typeface="Tahoma"/>
              </a:rPr>
              <a:t>rcv pkt2; chuyển pkt2,  pkt3, pkt4, pkt5; gửi ack2</a:t>
            </a:r>
            <a:endParaRPr sz="1800">
              <a:latin typeface="Tahoma"/>
              <a:cs typeface="Tahoma"/>
            </a:endParaRPr>
          </a:p>
        </p:txBody>
      </p:sp>
      <p:sp>
        <p:nvSpPr>
          <p:cNvPr id="24" name="object 24"/>
          <p:cNvSpPr txBox="1"/>
          <p:nvPr/>
        </p:nvSpPr>
        <p:spPr>
          <a:xfrm>
            <a:off x="2713735" y="4448809"/>
            <a:ext cx="1536065"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record ack3 arrived</a:t>
            </a:r>
            <a:endParaRPr sz="1400">
              <a:latin typeface="Tahoma"/>
              <a:cs typeface="Tahoma"/>
            </a:endParaRPr>
          </a:p>
        </p:txBody>
      </p:sp>
      <p:sp>
        <p:nvSpPr>
          <p:cNvPr id="26" name="object 26"/>
          <p:cNvSpPr txBox="1"/>
          <p:nvPr/>
        </p:nvSpPr>
        <p:spPr>
          <a:xfrm>
            <a:off x="709675" y="1659749"/>
            <a:ext cx="2170175" cy="273152"/>
          </a:xfrm>
          <a:prstGeom prst="rect">
            <a:avLst/>
          </a:prstGeom>
        </p:spPr>
        <p:txBody>
          <a:bodyPr vert="horz" wrap="square" lIns="0" tIns="11430" rIns="0" bIns="0" rtlCol="0">
            <a:spAutoFit/>
          </a:bodyPr>
          <a:lstStyle/>
          <a:p>
            <a:pPr marL="12700">
              <a:lnSpc>
                <a:spcPct val="100000"/>
              </a:lnSpc>
              <a:spcBef>
                <a:spcPts val="90"/>
              </a:spcBef>
            </a:pPr>
            <a:r>
              <a:rPr sz="1700" i="1" u="sng" dirty="0">
                <a:solidFill>
                  <a:srgbClr val="00009A"/>
                </a:solidFill>
                <a:uFill>
                  <a:solidFill>
                    <a:srgbClr val="000099"/>
                  </a:solidFill>
                </a:uFill>
                <a:latin typeface="Tahoma"/>
                <a:cs typeface="Tahoma"/>
              </a:rPr>
              <a:t>sender window (N=4)</a:t>
            </a:r>
            <a:endParaRPr sz="1700" dirty="0">
              <a:latin typeface="Tahoma"/>
              <a:cs typeface="Tahoma"/>
            </a:endParaRPr>
          </a:p>
        </p:txBody>
      </p:sp>
      <p:sp>
        <p:nvSpPr>
          <p:cNvPr id="31" name="object 31"/>
          <p:cNvSpPr txBox="1"/>
          <p:nvPr/>
        </p:nvSpPr>
        <p:spPr>
          <a:xfrm>
            <a:off x="750823" y="3630421"/>
            <a:ext cx="12446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a:t>
            </a:r>
            <a:endParaRPr sz="1400">
              <a:latin typeface="Arial"/>
              <a:cs typeface="Arial"/>
            </a:endParaRPr>
          </a:p>
        </p:txBody>
      </p:sp>
      <p:sp>
        <p:nvSpPr>
          <p:cNvPr id="32" name="object 32"/>
          <p:cNvSpPr txBox="1"/>
          <p:nvPr/>
        </p:nvSpPr>
        <p:spPr>
          <a:xfrm>
            <a:off x="886205" y="3637026"/>
            <a:ext cx="628650" cy="228600"/>
          </a:xfrm>
          <a:prstGeom prst="rect">
            <a:avLst/>
          </a:prstGeom>
          <a:solidFill>
            <a:srgbClr val="000099"/>
          </a:solidFill>
        </p:spPr>
        <p:txBody>
          <a:bodyPr vert="horz" wrap="square" lIns="0" tIns="5715" rIns="0" bIns="0" rtlCol="0">
            <a:spAutoFit/>
          </a:bodyPr>
          <a:lstStyle/>
          <a:p>
            <a:pPr marL="24765">
              <a:lnSpc>
                <a:spcPct val="100000"/>
              </a:lnSpc>
              <a:spcBef>
                <a:spcPts val="45"/>
              </a:spcBef>
            </a:pPr>
            <a:r>
              <a:rPr sz="1400" dirty="0">
                <a:solidFill>
                  <a:srgbClr val="FFFFFF"/>
                </a:solidFill>
                <a:latin typeface="Arial"/>
                <a:cs typeface="Arial"/>
              </a:rPr>
              <a:t>1 2 3 4</a:t>
            </a:r>
            <a:endParaRPr sz="1400">
              <a:latin typeface="Arial"/>
              <a:cs typeface="Arial"/>
            </a:endParaRPr>
          </a:p>
        </p:txBody>
      </p:sp>
      <p:sp>
        <p:nvSpPr>
          <p:cNvPr id="33" name="object 33"/>
          <p:cNvSpPr txBox="1"/>
          <p:nvPr/>
        </p:nvSpPr>
        <p:spPr>
          <a:xfrm>
            <a:off x="1489202" y="3630421"/>
            <a:ext cx="56769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5 6 7 8</a:t>
            </a:r>
            <a:endParaRPr sz="1400">
              <a:latin typeface="Arial"/>
              <a:cs typeface="Arial"/>
            </a:endParaRPr>
          </a:p>
        </p:txBody>
      </p:sp>
      <p:sp>
        <p:nvSpPr>
          <p:cNvPr id="34" name="object 34"/>
          <p:cNvSpPr txBox="1"/>
          <p:nvPr/>
        </p:nvSpPr>
        <p:spPr>
          <a:xfrm>
            <a:off x="747776" y="3905503"/>
            <a:ext cx="272415"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0 1</a:t>
            </a:r>
            <a:endParaRPr sz="1400">
              <a:latin typeface="Arial"/>
              <a:cs typeface="Arial"/>
            </a:endParaRPr>
          </a:p>
        </p:txBody>
      </p:sp>
      <p:sp>
        <p:nvSpPr>
          <p:cNvPr id="35" name="object 35"/>
          <p:cNvSpPr txBox="1"/>
          <p:nvPr/>
        </p:nvSpPr>
        <p:spPr>
          <a:xfrm>
            <a:off x="1027175" y="3912108"/>
            <a:ext cx="628650" cy="228600"/>
          </a:xfrm>
          <a:prstGeom prst="rect">
            <a:avLst/>
          </a:prstGeom>
          <a:solidFill>
            <a:srgbClr val="000099"/>
          </a:solidFill>
        </p:spPr>
        <p:txBody>
          <a:bodyPr vert="horz" wrap="square" lIns="0" tIns="5715" rIns="0" bIns="0" rtlCol="0">
            <a:spAutoFit/>
          </a:bodyPr>
          <a:lstStyle/>
          <a:p>
            <a:pPr marL="28575">
              <a:lnSpc>
                <a:spcPct val="100000"/>
              </a:lnSpc>
              <a:spcBef>
                <a:spcPts val="45"/>
              </a:spcBef>
            </a:pPr>
            <a:r>
              <a:rPr sz="1400" dirty="0">
                <a:solidFill>
                  <a:srgbClr val="FFFFFF"/>
                </a:solidFill>
                <a:latin typeface="Arial"/>
                <a:cs typeface="Arial"/>
              </a:rPr>
              <a:t>2 3 4 5</a:t>
            </a:r>
            <a:endParaRPr sz="1400">
              <a:latin typeface="Arial"/>
              <a:cs typeface="Arial"/>
            </a:endParaRPr>
          </a:p>
        </p:txBody>
      </p:sp>
      <p:sp>
        <p:nvSpPr>
          <p:cNvPr id="36" name="object 36"/>
          <p:cNvSpPr txBox="1"/>
          <p:nvPr/>
        </p:nvSpPr>
        <p:spPr>
          <a:xfrm>
            <a:off x="1633979" y="3905503"/>
            <a:ext cx="419734"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6 7 8</a:t>
            </a:r>
            <a:endParaRPr sz="1400">
              <a:latin typeface="Arial"/>
              <a:cs typeface="Arial"/>
            </a:endParaRPr>
          </a:p>
        </p:txBody>
      </p:sp>
      <p:sp>
        <p:nvSpPr>
          <p:cNvPr id="38" name="object 38"/>
          <p:cNvSpPr/>
          <p:nvPr/>
        </p:nvSpPr>
        <p:spPr>
          <a:xfrm>
            <a:off x="4423409" y="4279391"/>
            <a:ext cx="2078355" cy="1356360"/>
          </a:xfrm>
          <a:custGeom>
            <a:avLst/>
            <a:gdLst/>
            <a:ahLst/>
            <a:cxnLst/>
            <a:rect l="l" t="t" r="r" b="b"/>
            <a:pathLst>
              <a:path w="2078354" h="1356360">
                <a:moveTo>
                  <a:pt x="63925" y="1298200"/>
                </a:moveTo>
                <a:lnTo>
                  <a:pt x="48006" y="1274064"/>
                </a:lnTo>
                <a:lnTo>
                  <a:pt x="0" y="1356360"/>
                </a:lnTo>
                <a:lnTo>
                  <a:pt x="51816" y="1350556"/>
                </a:lnTo>
                <a:lnTo>
                  <a:pt x="51816" y="1306068"/>
                </a:lnTo>
                <a:lnTo>
                  <a:pt x="63925" y="1298200"/>
                </a:lnTo>
                <a:close/>
              </a:path>
              <a:path w="2078354" h="1356360">
                <a:moveTo>
                  <a:pt x="79405" y="1321669"/>
                </a:moveTo>
                <a:lnTo>
                  <a:pt x="63925" y="1298200"/>
                </a:lnTo>
                <a:lnTo>
                  <a:pt x="51816" y="1306068"/>
                </a:lnTo>
                <a:lnTo>
                  <a:pt x="67056" y="1329690"/>
                </a:lnTo>
                <a:lnTo>
                  <a:pt x="79405" y="1321669"/>
                </a:lnTo>
                <a:close/>
              </a:path>
              <a:path w="2078354" h="1356360">
                <a:moveTo>
                  <a:pt x="95250" y="1345692"/>
                </a:moveTo>
                <a:lnTo>
                  <a:pt x="79405" y="1321669"/>
                </a:lnTo>
                <a:lnTo>
                  <a:pt x="67056" y="1329690"/>
                </a:lnTo>
                <a:lnTo>
                  <a:pt x="51816" y="1306068"/>
                </a:lnTo>
                <a:lnTo>
                  <a:pt x="51816" y="1350556"/>
                </a:lnTo>
                <a:lnTo>
                  <a:pt x="95250" y="1345692"/>
                </a:lnTo>
                <a:close/>
              </a:path>
              <a:path w="2078354" h="1356360">
                <a:moveTo>
                  <a:pt x="2077974" y="23621"/>
                </a:moveTo>
                <a:lnTo>
                  <a:pt x="2061972" y="0"/>
                </a:lnTo>
                <a:lnTo>
                  <a:pt x="63925" y="1298200"/>
                </a:lnTo>
                <a:lnTo>
                  <a:pt x="79405" y="1321669"/>
                </a:lnTo>
                <a:lnTo>
                  <a:pt x="2077974" y="23621"/>
                </a:lnTo>
                <a:close/>
              </a:path>
            </a:pathLst>
          </a:custGeom>
          <a:solidFill>
            <a:srgbClr val="008000"/>
          </a:solidFill>
        </p:spPr>
        <p:txBody>
          <a:bodyPr wrap="square" lIns="0" tIns="0" rIns="0" bIns="0" rtlCol="0"/>
          <a:lstStyle/>
          <a:p>
            <a:endParaRPr/>
          </a:p>
        </p:txBody>
      </p:sp>
      <p:sp>
        <p:nvSpPr>
          <p:cNvPr id="39" name="object 39"/>
          <p:cNvSpPr/>
          <p:nvPr/>
        </p:nvSpPr>
        <p:spPr>
          <a:xfrm>
            <a:off x="4475226" y="4587240"/>
            <a:ext cx="2078355" cy="1356360"/>
          </a:xfrm>
          <a:custGeom>
            <a:avLst/>
            <a:gdLst/>
            <a:ahLst/>
            <a:cxnLst/>
            <a:rect l="l" t="t" r="r" b="b"/>
            <a:pathLst>
              <a:path w="2078354" h="1356360">
                <a:moveTo>
                  <a:pt x="64506" y="1298317"/>
                </a:moveTo>
                <a:lnTo>
                  <a:pt x="48767" y="1274064"/>
                </a:lnTo>
                <a:lnTo>
                  <a:pt x="0" y="1356360"/>
                </a:lnTo>
                <a:lnTo>
                  <a:pt x="52577" y="1350471"/>
                </a:lnTo>
                <a:lnTo>
                  <a:pt x="52577" y="1306068"/>
                </a:lnTo>
                <a:lnTo>
                  <a:pt x="64506" y="1298317"/>
                </a:lnTo>
                <a:close/>
              </a:path>
              <a:path w="2078354" h="1356360">
                <a:moveTo>
                  <a:pt x="79811" y="1321901"/>
                </a:moveTo>
                <a:lnTo>
                  <a:pt x="64506" y="1298317"/>
                </a:lnTo>
                <a:lnTo>
                  <a:pt x="52577" y="1306068"/>
                </a:lnTo>
                <a:lnTo>
                  <a:pt x="67817" y="1329690"/>
                </a:lnTo>
                <a:lnTo>
                  <a:pt x="79811" y="1321901"/>
                </a:lnTo>
                <a:close/>
              </a:path>
              <a:path w="2078354" h="1356360">
                <a:moveTo>
                  <a:pt x="95249" y="1345692"/>
                </a:moveTo>
                <a:lnTo>
                  <a:pt x="79811" y="1321901"/>
                </a:lnTo>
                <a:lnTo>
                  <a:pt x="67817" y="1329690"/>
                </a:lnTo>
                <a:lnTo>
                  <a:pt x="52577" y="1306068"/>
                </a:lnTo>
                <a:lnTo>
                  <a:pt x="52577" y="1350471"/>
                </a:lnTo>
                <a:lnTo>
                  <a:pt x="95249" y="1345692"/>
                </a:lnTo>
                <a:close/>
              </a:path>
              <a:path w="2078354" h="1356360">
                <a:moveTo>
                  <a:pt x="2077973" y="24384"/>
                </a:moveTo>
                <a:lnTo>
                  <a:pt x="2062733" y="0"/>
                </a:lnTo>
                <a:lnTo>
                  <a:pt x="64506" y="1298317"/>
                </a:lnTo>
                <a:lnTo>
                  <a:pt x="79811" y="1321901"/>
                </a:lnTo>
                <a:lnTo>
                  <a:pt x="2077973" y="24384"/>
                </a:lnTo>
                <a:close/>
              </a:path>
            </a:pathLst>
          </a:custGeom>
          <a:solidFill>
            <a:srgbClr val="008000"/>
          </a:solidFill>
        </p:spPr>
        <p:txBody>
          <a:bodyPr wrap="square" lIns="0" tIns="0" rIns="0" bIns="0" rtlCol="0"/>
          <a:lstStyle/>
          <a:p>
            <a:endParaRPr/>
          </a:p>
        </p:txBody>
      </p:sp>
      <p:sp>
        <p:nvSpPr>
          <p:cNvPr id="40" name="object 40"/>
          <p:cNvSpPr txBox="1"/>
          <p:nvPr/>
        </p:nvSpPr>
        <p:spPr>
          <a:xfrm>
            <a:off x="2879851" y="4864815"/>
            <a:ext cx="1414780" cy="1445267"/>
          </a:xfrm>
          <a:prstGeom prst="rect">
            <a:avLst/>
          </a:prstGeom>
        </p:spPr>
        <p:txBody>
          <a:bodyPr vert="horz" wrap="square" lIns="0" tIns="12700" rIns="0" bIns="0" rtlCol="0">
            <a:spAutoFit/>
          </a:bodyPr>
          <a:lstStyle/>
          <a:p>
            <a:pPr marL="12700">
              <a:lnSpc>
                <a:spcPts val="2195"/>
              </a:lnSpc>
              <a:spcBef>
                <a:spcPts val="100"/>
              </a:spcBef>
            </a:pPr>
            <a:r>
              <a:rPr sz="1900" i="1" dirty="0">
                <a:solidFill>
                  <a:srgbClr val="FF0000"/>
                </a:solidFill>
                <a:latin typeface="Tahoma"/>
                <a:cs typeface="Tahoma"/>
              </a:rPr>
              <a:t>pkt 2 timeout</a:t>
            </a:r>
            <a:endParaRPr sz="1900">
              <a:latin typeface="Tahoma"/>
              <a:cs typeface="Tahoma"/>
            </a:endParaRPr>
          </a:p>
          <a:p>
            <a:pPr marL="570865">
              <a:lnSpc>
                <a:spcPts val="2075"/>
              </a:lnSpc>
            </a:pPr>
            <a:r>
              <a:rPr sz="1800" dirty="0">
                <a:latin typeface="Tahoma"/>
                <a:cs typeface="Tahoma"/>
              </a:rPr>
              <a:t>gửi pkt2</a:t>
            </a:r>
            <a:endParaRPr sz="1800">
              <a:latin typeface="Tahoma"/>
              <a:cs typeface="Tahoma"/>
            </a:endParaRPr>
          </a:p>
          <a:p>
            <a:pPr marL="88900" marR="41275" indent="-19050" algn="ctr">
              <a:lnSpc>
                <a:spcPct val="138900"/>
              </a:lnSpc>
              <a:spcBef>
                <a:spcPts val="25"/>
              </a:spcBef>
            </a:pPr>
            <a:r>
              <a:rPr sz="1400" dirty="0">
                <a:latin typeface="Tahoma"/>
                <a:cs typeface="Tahoma"/>
              </a:rPr>
              <a:t>ghi ack4 đã đến  ghi ack5 đã đến</a:t>
            </a:r>
            <a:endParaRPr sz="1400">
              <a:latin typeface="Tahoma"/>
              <a:cs typeface="Tahoma"/>
            </a:endParaRPr>
          </a:p>
        </p:txBody>
      </p:sp>
      <p:sp>
        <p:nvSpPr>
          <p:cNvPr id="41" name="object 41"/>
          <p:cNvSpPr/>
          <p:nvPr/>
        </p:nvSpPr>
        <p:spPr>
          <a:xfrm>
            <a:off x="5586984" y="5798820"/>
            <a:ext cx="929640" cy="586740"/>
          </a:xfrm>
          <a:custGeom>
            <a:avLst/>
            <a:gdLst/>
            <a:ahLst/>
            <a:cxnLst/>
            <a:rect l="l" t="t" r="r" b="b"/>
            <a:pathLst>
              <a:path w="929640" h="586739">
                <a:moveTo>
                  <a:pt x="64783" y="528850"/>
                </a:moveTo>
                <a:lnTo>
                  <a:pt x="49530" y="504444"/>
                </a:lnTo>
                <a:lnTo>
                  <a:pt x="0" y="586740"/>
                </a:lnTo>
                <a:lnTo>
                  <a:pt x="52578" y="581692"/>
                </a:lnTo>
                <a:lnTo>
                  <a:pt x="52578" y="536448"/>
                </a:lnTo>
                <a:lnTo>
                  <a:pt x="64783" y="528850"/>
                </a:lnTo>
                <a:close/>
              </a:path>
              <a:path w="929640" h="586739">
                <a:moveTo>
                  <a:pt x="80019" y="553226"/>
                </a:moveTo>
                <a:lnTo>
                  <a:pt x="64783" y="528850"/>
                </a:lnTo>
                <a:lnTo>
                  <a:pt x="52578" y="536448"/>
                </a:lnTo>
                <a:lnTo>
                  <a:pt x="67818" y="560832"/>
                </a:lnTo>
                <a:lnTo>
                  <a:pt x="80019" y="553226"/>
                </a:lnTo>
                <a:close/>
              </a:path>
              <a:path w="929640" h="586739">
                <a:moveTo>
                  <a:pt x="95250" y="577596"/>
                </a:moveTo>
                <a:lnTo>
                  <a:pt x="80019" y="553226"/>
                </a:lnTo>
                <a:lnTo>
                  <a:pt x="67818" y="560832"/>
                </a:lnTo>
                <a:lnTo>
                  <a:pt x="52578" y="536448"/>
                </a:lnTo>
                <a:lnTo>
                  <a:pt x="52578" y="581692"/>
                </a:lnTo>
                <a:lnTo>
                  <a:pt x="95250" y="577596"/>
                </a:lnTo>
                <a:close/>
              </a:path>
              <a:path w="929640" h="586739">
                <a:moveTo>
                  <a:pt x="929640" y="23621"/>
                </a:moveTo>
                <a:lnTo>
                  <a:pt x="914400" y="0"/>
                </a:lnTo>
                <a:lnTo>
                  <a:pt x="64783" y="528850"/>
                </a:lnTo>
                <a:lnTo>
                  <a:pt x="80019" y="553226"/>
                </a:lnTo>
                <a:lnTo>
                  <a:pt x="929640" y="23621"/>
                </a:lnTo>
                <a:close/>
              </a:path>
            </a:pathLst>
          </a:custGeom>
          <a:solidFill>
            <a:srgbClr val="008000"/>
          </a:solidFill>
        </p:spPr>
        <p:txBody>
          <a:bodyPr wrap="square" lIns="0" tIns="0" rIns="0" bIns="0" rtlCol="0"/>
          <a:lstStyle/>
          <a:p>
            <a:endParaRPr/>
          </a:p>
        </p:txBody>
      </p:sp>
      <p:sp>
        <p:nvSpPr>
          <p:cNvPr id="44" name="Slide Number Placeholder 43"/>
          <p:cNvSpPr>
            <a:spLocks noGrp="1"/>
          </p:cNvSpPr>
          <p:nvPr>
            <p:ph type="sldNum" sz="quarter" idx="7"/>
          </p:nvPr>
        </p:nvSpPr>
        <p:spPr/>
        <p:txBody>
          <a:bodyPr/>
          <a:lstStyle/>
          <a:p>
            <a:pPr marL="12700">
              <a:lnSpc>
                <a:spcPts val="1645"/>
              </a:lnSpc>
            </a:pPr>
            <a:fld id="{81D60167-4931-47E6-BA6A-407CBD079E47}" type="slidenum">
              <a:rPr lang="en-US" spc="-5" smtClean="0"/>
              <a:t>42</a:t>
            </a:fld>
            <a:endParaRPr lang="en-US" spc="-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3694" y="807211"/>
            <a:ext cx="4109720" cy="513080"/>
          </a:xfrm>
          <a:prstGeom prst="rect">
            <a:avLst/>
          </a:prstGeom>
        </p:spPr>
        <p:txBody>
          <a:bodyPr vert="horz" wrap="square" lIns="0" tIns="12065" rIns="0" bIns="0" rtlCol="0">
            <a:spAutoFit/>
          </a:bodyPr>
          <a:lstStyle/>
          <a:p>
            <a:pPr marL="12700">
              <a:lnSpc>
                <a:spcPct val="100000"/>
              </a:lnSpc>
              <a:spcBef>
                <a:spcPts val="95"/>
              </a:spcBef>
            </a:pPr>
            <a:r>
              <a:rPr sz="3200" dirty="0"/>
              <a:t>Selective repeat: Ví dụ</a:t>
            </a:r>
            <a:endParaRPr sz="3200"/>
          </a:p>
        </p:txBody>
      </p:sp>
      <p:sp>
        <p:nvSpPr>
          <p:cNvPr id="3" name="object 3"/>
          <p:cNvSpPr txBox="1"/>
          <p:nvPr/>
        </p:nvSpPr>
        <p:spPr>
          <a:xfrm>
            <a:off x="6438391" y="1277310"/>
            <a:ext cx="1087120" cy="660437"/>
          </a:xfrm>
          <a:prstGeom prst="rect">
            <a:avLst/>
          </a:prstGeom>
        </p:spPr>
        <p:txBody>
          <a:bodyPr vert="horz" wrap="square" lIns="0" tIns="13970" rIns="0" bIns="0" rtlCol="0">
            <a:spAutoFit/>
          </a:bodyPr>
          <a:lstStyle/>
          <a:p>
            <a:pPr marL="12700">
              <a:lnSpc>
                <a:spcPct val="100000"/>
              </a:lnSpc>
              <a:spcBef>
                <a:spcPts val="110"/>
              </a:spcBef>
            </a:pPr>
            <a:r>
              <a:rPr sz="2100" i="1" u="heavy" dirty="0">
                <a:solidFill>
                  <a:srgbClr val="008000"/>
                </a:solidFill>
                <a:uFill>
                  <a:solidFill>
                    <a:srgbClr val="008000"/>
                  </a:solidFill>
                </a:uFill>
                <a:latin typeface="Tahoma"/>
                <a:cs typeface="Tahoma"/>
              </a:rPr>
              <a:t>Bên nhận</a:t>
            </a:r>
            <a:endParaRPr sz="2100" dirty="0">
              <a:latin typeface="Tahoma"/>
              <a:cs typeface="Tahoma"/>
            </a:endParaRPr>
          </a:p>
        </p:txBody>
      </p:sp>
      <p:sp>
        <p:nvSpPr>
          <p:cNvPr id="4" name="object 4"/>
          <p:cNvSpPr/>
          <p:nvPr/>
        </p:nvSpPr>
        <p:spPr>
          <a:xfrm>
            <a:off x="6554343" y="2194560"/>
            <a:ext cx="0" cy="4538980"/>
          </a:xfrm>
          <a:custGeom>
            <a:avLst/>
            <a:gdLst/>
            <a:ahLst/>
            <a:cxnLst/>
            <a:rect l="l" t="t" r="r" b="b"/>
            <a:pathLst>
              <a:path h="4538980">
                <a:moveTo>
                  <a:pt x="0" y="0"/>
                </a:moveTo>
                <a:lnTo>
                  <a:pt x="0" y="4538472"/>
                </a:lnTo>
              </a:path>
            </a:pathLst>
          </a:custGeom>
          <a:ln w="20574">
            <a:solidFill>
              <a:srgbClr val="000000"/>
            </a:solidFill>
          </a:ln>
        </p:spPr>
        <p:txBody>
          <a:bodyPr wrap="square" lIns="0" tIns="0" rIns="0" bIns="0" rtlCol="0"/>
          <a:lstStyle/>
          <a:p>
            <a:endParaRPr/>
          </a:p>
        </p:txBody>
      </p:sp>
      <p:sp>
        <p:nvSpPr>
          <p:cNvPr id="5" name="object 5"/>
          <p:cNvSpPr txBox="1"/>
          <p:nvPr/>
        </p:nvSpPr>
        <p:spPr>
          <a:xfrm>
            <a:off x="6570218" y="2420365"/>
            <a:ext cx="203517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ahoma"/>
                <a:cs typeface="Tahoma"/>
              </a:rPr>
              <a:t>nhận pkt0, gửi ack0  nhận pkt1, gửi ack1</a:t>
            </a:r>
            <a:endParaRPr sz="1800">
              <a:latin typeface="Tahoma"/>
              <a:cs typeface="Tahoma"/>
            </a:endParaRPr>
          </a:p>
        </p:txBody>
      </p:sp>
      <p:sp>
        <p:nvSpPr>
          <p:cNvPr id="6" name="object 6"/>
          <p:cNvSpPr txBox="1"/>
          <p:nvPr/>
        </p:nvSpPr>
        <p:spPr>
          <a:xfrm>
            <a:off x="2551302" y="1164368"/>
            <a:ext cx="1844675" cy="2968761"/>
          </a:xfrm>
          <a:prstGeom prst="rect">
            <a:avLst/>
          </a:prstGeom>
        </p:spPr>
        <p:txBody>
          <a:bodyPr vert="horz" wrap="square" lIns="0" tIns="87630" rIns="0" bIns="0" rtlCol="0">
            <a:spAutoFit/>
          </a:bodyPr>
          <a:lstStyle/>
          <a:p>
            <a:pPr marL="976630">
              <a:lnSpc>
                <a:spcPct val="100000"/>
              </a:lnSpc>
              <a:spcBef>
                <a:spcPts val="690"/>
              </a:spcBef>
            </a:pPr>
            <a:r>
              <a:rPr sz="2100" i="1" u="heavy" dirty="0">
                <a:solidFill>
                  <a:srgbClr val="00009A"/>
                </a:solidFill>
                <a:uFill>
                  <a:solidFill>
                    <a:srgbClr val="000099"/>
                  </a:solidFill>
                </a:uFill>
                <a:latin typeface="Tahoma"/>
                <a:cs typeface="Tahoma"/>
              </a:rPr>
              <a:t>Bên gửi</a:t>
            </a:r>
            <a:endParaRPr sz="2100" dirty="0">
              <a:latin typeface="Tahoma"/>
              <a:cs typeface="Tahoma"/>
            </a:endParaRPr>
          </a:p>
          <a:p>
            <a:pPr marL="939165" marR="66675" algn="just">
              <a:lnSpc>
                <a:spcPct val="100000"/>
              </a:lnSpc>
              <a:spcBef>
                <a:spcPts val="500"/>
              </a:spcBef>
            </a:pPr>
            <a:r>
              <a:rPr sz="1800" dirty="0">
                <a:latin typeface="Tahoma"/>
                <a:cs typeface="Tahoma"/>
              </a:rPr>
              <a:t>gửi pkt0  gửi pkt1  gửi pkt2  gửi pkt3</a:t>
            </a:r>
          </a:p>
          <a:p>
            <a:pPr marL="1281430">
              <a:lnSpc>
                <a:spcPct val="100000"/>
              </a:lnSpc>
            </a:pPr>
            <a:r>
              <a:rPr sz="1800" dirty="0">
                <a:latin typeface="Tahoma"/>
                <a:cs typeface="Tahoma"/>
              </a:rPr>
              <a:t>(đợi)</a:t>
            </a:r>
          </a:p>
          <a:p>
            <a:pPr marL="12700" marR="15240" algn="r">
              <a:lnSpc>
                <a:spcPct val="100000"/>
              </a:lnSpc>
              <a:spcBef>
                <a:spcPts val="1825"/>
              </a:spcBef>
            </a:pPr>
            <a:r>
              <a:rPr sz="1800" dirty="0">
                <a:latin typeface="Tahoma"/>
                <a:cs typeface="Tahoma"/>
              </a:rPr>
              <a:t>rcv ack0, gửi pkt4  rcv ack1, gửi pkt5</a:t>
            </a:r>
          </a:p>
        </p:txBody>
      </p:sp>
      <p:sp>
        <p:nvSpPr>
          <p:cNvPr id="7" name="object 7"/>
          <p:cNvSpPr/>
          <p:nvPr/>
        </p:nvSpPr>
        <p:spPr>
          <a:xfrm>
            <a:off x="2468117" y="4704588"/>
            <a:ext cx="395477" cy="475488"/>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4410455" y="2128266"/>
            <a:ext cx="2105025" cy="505459"/>
          </a:xfrm>
          <a:custGeom>
            <a:avLst/>
            <a:gdLst/>
            <a:ahLst/>
            <a:cxnLst/>
            <a:rect l="l" t="t" r="r" b="b"/>
            <a:pathLst>
              <a:path w="2105025" h="505460">
                <a:moveTo>
                  <a:pt x="2024338" y="449507"/>
                </a:moveTo>
                <a:lnTo>
                  <a:pt x="6096" y="0"/>
                </a:lnTo>
                <a:lnTo>
                  <a:pt x="0" y="27432"/>
                </a:lnTo>
                <a:lnTo>
                  <a:pt x="2018110" y="476910"/>
                </a:lnTo>
                <a:lnTo>
                  <a:pt x="2024338" y="449507"/>
                </a:lnTo>
                <a:close/>
              </a:path>
              <a:path w="2105025" h="505460">
                <a:moveTo>
                  <a:pt x="2038350" y="498429"/>
                </a:moveTo>
                <a:lnTo>
                  <a:pt x="2038350" y="452627"/>
                </a:lnTo>
                <a:lnTo>
                  <a:pt x="2032254" y="480059"/>
                </a:lnTo>
                <a:lnTo>
                  <a:pt x="2018110" y="476910"/>
                </a:lnTo>
                <a:lnTo>
                  <a:pt x="2011680" y="505205"/>
                </a:lnTo>
                <a:lnTo>
                  <a:pt x="2038350" y="498429"/>
                </a:lnTo>
                <a:close/>
              </a:path>
              <a:path w="2105025" h="505460">
                <a:moveTo>
                  <a:pt x="2038350" y="452627"/>
                </a:moveTo>
                <a:lnTo>
                  <a:pt x="2024338" y="449507"/>
                </a:lnTo>
                <a:lnTo>
                  <a:pt x="2018110" y="476910"/>
                </a:lnTo>
                <a:lnTo>
                  <a:pt x="2032254" y="480059"/>
                </a:lnTo>
                <a:lnTo>
                  <a:pt x="2038350" y="452627"/>
                </a:lnTo>
                <a:close/>
              </a:path>
              <a:path w="2105025" h="505460">
                <a:moveTo>
                  <a:pt x="2104644" y="481583"/>
                </a:moveTo>
                <a:lnTo>
                  <a:pt x="2030730" y="421385"/>
                </a:lnTo>
                <a:lnTo>
                  <a:pt x="2024338" y="449507"/>
                </a:lnTo>
                <a:lnTo>
                  <a:pt x="2038350" y="452627"/>
                </a:lnTo>
                <a:lnTo>
                  <a:pt x="2038350" y="498429"/>
                </a:lnTo>
                <a:lnTo>
                  <a:pt x="2104644" y="481583"/>
                </a:lnTo>
                <a:close/>
              </a:path>
            </a:pathLst>
          </a:custGeom>
          <a:solidFill>
            <a:srgbClr val="000099"/>
          </a:solidFill>
        </p:spPr>
        <p:txBody>
          <a:bodyPr wrap="square" lIns="0" tIns="0" rIns="0" bIns="0" rtlCol="0"/>
          <a:lstStyle/>
          <a:p>
            <a:endParaRPr/>
          </a:p>
        </p:txBody>
      </p:sp>
      <p:sp>
        <p:nvSpPr>
          <p:cNvPr id="9" name="object 9"/>
          <p:cNvSpPr/>
          <p:nvPr/>
        </p:nvSpPr>
        <p:spPr>
          <a:xfrm>
            <a:off x="4408932" y="2402585"/>
            <a:ext cx="2103120" cy="505459"/>
          </a:xfrm>
          <a:custGeom>
            <a:avLst/>
            <a:gdLst/>
            <a:ahLst/>
            <a:cxnLst/>
            <a:rect l="l" t="t" r="r" b="b"/>
            <a:pathLst>
              <a:path w="2103120" h="505460">
                <a:moveTo>
                  <a:pt x="2022925" y="449529"/>
                </a:moveTo>
                <a:lnTo>
                  <a:pt x="6096" y="0"/>
                </a:lnTo>
                <a:lnTo>
                  <a:pt x="0" y="28194"/>
                </a:lnTo>
                <a:lnTo>
                  <a:pt x="2016477" y="477645"/>
                </a:lnTo>
                <a:lnTo>
                  <a:pt x="2022925" y="449529"/>
                </a:lnTo>
                <a:close/>
              </a:path>
              <a:path w="2103120" h="505460">
                <a:moveTo>
                  <a:pt x="2036826" y="498647"/>
                </a:moveTo>
                <a:lnTo>
                  <a:pt x="2036826" y="452627"/>
                </a:lnTo>
                <a:lnTo>
                  <a:pt x="2030730" y="480821"/>
                </a:lnTo>
                <a:lnTo>
                  <a:pt x="2016477" y="477645"/>
                </a:lnTo>
                <a:lnTo>
                  <a:pt x="2010156" y="505205"/>
                </a:lnTo>
                <a:lnTo>
                  <a:pt x="2036826" y="498647"/>
                </a:lnTo>
                <a:close/>
              </a:path>
              <a:path w="2103120" h="505460">
                <a:moveTo>
                  <a:pt x="2036826" y="452627"/>
                </a:moveTo>
                <a:lnTo>
                  <a:pt x="2022925" y="449529"/>
                </a:lnTo>
                <a:lnTo>
                  <a:pt x="2016477" y="477645"/>
                </a:lnTo>
                <a:lnTo>
                  <a:pt x="2030730" y="480821"/>
                </a:lnTo>
                <a:lnTo>
                  <a:pt x="2036826" y="452627"/>
                </a:lnTo>
                <a:close/>
              </a:path>
              <a:path w="2103120" h="505460">
                <a:moveTo>
                  <a:pt x="2103120" y="482345"/>
                </a:moveTo>
                <a:lnTo>
                  <a:pt x="2029206" y="422147"/>
                </a:lnTo>
                <a:lnTo>
                  <a:pt x="2022925" y="449529"/>
                </a:lnTo>
                <a:lnTo>
                  <a:pt x="2036826" y="452627"/>
                </a:lnTo>
                <a:lnTo>
                  <a:pt x="2036826" y="498647"/>
                </a:lnTo>
                <a:lnTo>
                  <a:pt x="2103120" y="482345"/>
                </a:lnTo>
                <a:close/>
              </a:path>
            </a:pathLst>
          </a:custGeom>
          <a:solidFill>
            <a:srgbClr val="000099"/>
          </a:solidFill>
        </p:spPr>
        <p:txBody>
          <a:bodyPr wrap="square" lIns="0" tIns="0" rIns="0" bIns="0" rtlCol="0"/>
          <a:lstStyle/>
          <a:p>
            <a:endParaRPr/>
          </a:p>
        </p:txBody>
      </p:sp>
      <p:sp>
        <p:nvSpPr>
          <p:cNvPr id="10" name="object 10"/>
          <p:cNvSpPr/>
          <p:nvPr/>
        </p:nvSpPr>
        <p:spPr>
          <a:xfrm>
            <a:off x="4424934" y="2666238"/>
            <a:ext cx="879475" cy="236220"/>
          </a:xfrm>
          <a:custGeom>
            <a:avLst/>
            <a:gdLst/>
            <a:ahLst/>
            <a:cxnLst/>
            <a:rect l="l" t="t" r="r" b="b"/>
            <a:pathLst>
              <a:path w="879475" h="236219">
                <a:moveTo>
                  <a:pt x="799167" y="180481"/>
                </a:moveTo>
                <a:lnTo>
                  <a:pt x="6096" y="0"/>
                </a:lnTo>
                <a:lnTo>
                  <a:pt x="0" y="27432"/>
                </a:lnTo>
                <a:lnTo>
                  <a:pt x="792685" y="208745"/>
                </a:lnTo>
                <a:lnTo>
                  <a:pt x="799167" y="180481"/>
                </a:lnTo>
                <a:close/>
              </a:path>
              <a:path w="879475" h="236219">
                <a:moveTo>
                  <a:pt x="813054" y="229880"/>
                </a:moveTo>
                <a:lnTo>
                  <a:pt x="813054" y="183641"/>
                </a:lnTo>
                <a:lnTo>
                  <a:pt x="806196" y="211835"/>
                </a:lnTo>
                <a:lnTo>
                  <a:pt x="792685" y="208745"/>
                </a:lnTo>
                <a:lnTo>
                  <a:pt x="786384" y="236219"/>
                </a:lnTo>
                <a:lnTo>
                  <a:pt x="813054" y="229880"/>
                </a:lnTo>
                <a:close/>
              </a:path>
              <a:path w="879475" h="236219">
                <a:moveTo>
                  <a:pt x="813054" y="183641"/>
                </a:moveTo>
                <a:lnTo>
                  <a:pt x="799167" y="180481"/>
                </a:lnTo>
                <a:lnTo>
                  <a:pt x="792685" y="208745"/>
                </a:lnTo>
                <a:lnTo>
                  <a:pt x="806196" y="211835"/>
                </a:lnTo>
                <a:lnTo>
                  <a:pt x="813054" y="183641"/>
                </a:lnTo>
                <a:close/>
              </a:path>
              <a:path w="879475" h="236219">
                <a:moveTo>
                  <a:pt x="879348" y="214121"/>
                </a:moveTo>
                <a:lnTo>
                  <a:pt x="805434" y="153161"/>
                </a:lnTo>
                <a:lnTo>
                  <a:pt x="799167" y="180481"/>
                </a:lnTo>
                <a:lnTo>
                  <a:pt x="813054" y="183641"/>
                </a:lnTo>
                <a:lnTo>
                  <a:pt x="813054" y="229880"/>
                </a:lnTo>
                <a:lnTo>
                  <a:pt x="879348" y="214121"/>
                </a:lnTo>
                <a:close/>
              </a:path>
            </a:pathLst>
          </a:custGeom>
          <a:solidFill>
            <a:srgbClr val="000099"/>
          </a:solidFill>
        </p:spPr>
        <p:txBody>
          <a:bodyPr wrap="square" lIns="0" tIns="0" rIns="0" bIns="0" rtlCol="0"/>
          <a:lstStyle/>
          <a:p>
            <a:endParaRPr/>
          </a:p>
        </p:txBody>
      </p:sp>
      <p:sp>
        <p:nvSpPr>
          <p:cNvPr id="11" name="object 11"/>
          <p:cNvSpPr/>
          <p:nvPr/>
        </p:nvSpPr>
        <p:spPr>
          <a:xfrm>
            <a:off x="4431029" y="2951988"/>
            <a:ext cx="2103120" cy="505459"/>
          </a:xfrm>
          <a:custGeom>
            <a:avLst/>
            <a:gdLst/>
            <a:ahLst/>
            <a:cxnLst/>
            <a:rect l="l" t="t" r="r" b="b"/>
            <a:pathLst>
              <a:path w="2103120" h="505460">
                <a:moveTo>
                  <a:pt x="2022815" y="449505"/>
                </a:moveTo>
                <a:lnTo>
                  <a:pt x="6096" y="0"/>
                </a:lnTo>
                <a:lnTo>
                  <a:pt x="0" y="27432"/>
                </a:lnTo>
                <a:lnTo>
                  <a:pt x="2016423" y="477627"/>
                </a:lnTo>
                <a:lnTo>
                  <a:pt x="2022815" y="449505"/>
                </a:lnTo>
                <a:close/>
              </a:path>
              <a:path w="2103120" h="505460">
                <a:moveTo>
                  <a:pt x="2036826" y="498647"/>
                </a:moveTo>
                <a:lnTo>
                  <a:pt x="2036826" y="452627"/>
                </a:lnTo>
                <a:lnTo>
                  <a:pt x="2030730" y="480821"/>
                </a:lnTo>
                <a:lnTo>
                  <a:pt x="2016423" y="477627"/>
                </a:lnTo>
                <a:lnTo>
                  <a:pt x="2010156" y="505205"/>
                </a:lnTo>
                <a:lnTo>
                  <a:pt x="2036826" y="498647"/>
                </a:lnTo>
                <a:close/>
              </a:path>
              <a:path w="2103120" h="505460">
                <a:moveTo>
                  <a:pt x="2036826" y="452627"/>
                </a:moveTo>
                <a:lnTo>
                  <a:pt x="2022815" y="449505"/>
                </a:lnTo>
                <a:lnTo>
                  <a:pt x="2016423" y="477627"/>
                </a:lnTo>
                <a:lnTo>
                  <a:pt x="2030730" y="480821"/>
                </a:lnTo>
                <a:lnTo>
                  <a:pt x="2036826" y="452627"/>
                </a:lnTo>
                <a:close/>
              </a:path>
              <a:path w="2103120" h="505460">
                <a:moveTo>
                  <a:pt x="2103120" y="482345"/>
                </a:moveTo>
                <a:lnTo>
                  <a:pt x="2029206" y="421385"/>
                </a:lnTo>
                <a:lnTo>
                  <a:pt x="2022815" y="449505"/>
                </a:lnTo>
                <a:lnTo>
                  <a:pt x="2036826" y="452627"/>
                </a:lnTo>
                <a:lnTo>
                  <a:pt x="2036826" y="498647"/>
                </a:lnTo>
                <a:lnTo>
                  <a:pt x="2103120" y="482345"/>
                </a:lnTo>
                <a:close/>
              </a:path>
            </a:pathLst>
          </a:custGeom>
          <a:solidFill>
            <a:srgbClr val="000099"/>
          </a:solidFill>
        </p:spPr>
        <p:txBody>
          <a:bodyPr wrap="square" lIns="0" tIns="0" rIns="0" bIns="0" rtlCol="0"/>
          <a:lstStyle/>
          <a:p>
            <a:endParaRPr/>
          </a:p>
        </p:txBody>
      </p:sp>
      <p:sp>
        <p:nvSpPr>
          <p:cNvPr id="12" name="object 12"/>
          <p:cNvSpPr/>
          <p:nvPr/>
        </p:nvSpPr>
        <p:spPr>
          <a:xfrm>
            <a:off x="4419600" y="2653283"/>
            <a:ext cx="2021839" cy="1079500"/>
          </a:xfrm>
          <a:custGeom>
            <a:avLst/>
            <a:gdLst/>
            <a:ahLst/>
            <a:cxnLst/>
            <a:rect l="l" t="t" r="r" b="b"/>
            <a:pathLst>
              <a:path w="2021839" h="1079500">
                <a:moveTo>
                  <a:pt x="69705" y="1026621"/>
                </a:moveTo>
                <a:lnTo>
                  <a:pt x="56388" y="1001268"/>
                </a:lnTo>
                <a:lnTo>
                  <a:pt x="0" y="1078992"/>
                </a:lnTo>
                <a:lnTo>
                  <a:pt x="57150" y="1077631"/>
                </a:lnTo>
                <a:lnTo>
                  <a:pt x="57150" y="1033272"/>
                </a:lnTo>
                <a:lnTo>
                  <a:pt x="69705" y="1026621"/>
                </a:lnTo>
                <a:close/>
              </a:path>
              <a:path w="2021839" h="1079500">
                <a:moveTo>
                  <a:pt x="82858" y="1051664"/>
                </a:moveTo>
                <a:lnTo>
                  <a:pt x="69705" y="1026621"/>
                </a:lnTo>
                <a:lnTo>
                  <a:pt x="57150" y="1033272"/>
                </a:lnTo>
                <a:lnTo>
                  <a:pt x="70104" y="1058418"/>
                </a:lnTo>
                <a:lnTo>
                  <a:pt x="82858" y="1051664"/>
                </a:lnTo>
                <a:close/>
              </a:path>
              <a:path w="2021839" h="1079500">
                <a:moveTo>
                  <a:pt x="96012" y="1076706"/>
                </a:moveTo>
                <a:lnTo>
                  <a:pt x="82858" y="1051664"/>
                </a:lnTo>
                <a:lnTo>
                  <a:pt x="70104" y="1058418"/>
                </a:lnTo>
                <a:lnTo>
                  <a:pt x="57150" y="1033272"/>
                </a:lnTo>
                <a:lnTo>
                  <a:pt x="57150" y="1077631"/>
                </a:lnTo>
                <a:lnTo>
                  <a:pt x="96012" y="1076706"/>
                </a:lnTo>
                <a:close/>
              </a:path>
              <a:path w="2021839" h="1079500">
                <a:moveTo>
                  <a:pt x="2021586" y="25146"/>
                </a:moveTo>
                <a:lnTo>
                  <a:pt x="2007870" y="0"/>
                </a:lnTo>
                <a:lnTo>
                  <a:pt x="69705" y="1026621"/>
                </a:lnTo>
                <a:lnTo>
                  <a:pt x="82858" y="1051664"/>
                </a:lnTo>
                <a:lnTo>
                  <a:pt x="2021586" y="25146"/>
                </a:lnTo>
                <a:close/>
              </a:path>
            </a:pathLst>
          </a:custGeom>
          <a:solidFill>
            <a:srgbClr val="008000"/>
          </a:solidFill>
        </p:spPr>
        <p:txBody>
          <a:bodyPr wrap="square" lIns="0" tIns="0" rIns="0" bIns="0" rtlCol="0"/>
          <a:lstStyle/>
          <a:p>
            <a:endParaRPr/>
          </a:p>
        </p:txBody>
      </p:sp>
      <p:sp>
        <p:nvSpPr>
          <p:cNvPr id="13" name="object 13"/>
          <p:cNvSpPr txBox="1"/>
          <p:nvPr/>
        </p:nvSpPr>
        <p:spPr>
          <a:xfrm>
            <a:off x="5268720" y="2746502"/>
            <a:ext cx="603759"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ahoma"/>
                <a:cs typeface="Tahoma"/>
              </a:rPr>
              <a:t>X</a:t>
            </a:r>
            <a:r>
              <a:rPr sz="2550" i="1" baseline="1633" dirty="0">
                <a:solidFill>
                  <a:srgbClr val="FF0000"/>
                </a:solidFill>
                <a:latin typeface="Tahoma"/>
                <a:cs typeface="Tahoma"/>
              </a:rPr>
              <a:t>mất</a:t>
            </a:r>
            <a:endParaRPr sz="2550" baseline="1633" dirty="0">
              <a:latin typeface="Tahoma"/>
              <a:cs typeface="Tahoma"/>
            </a:endParaRPr>
          </a:p>
        </p:txBody>
      </p:sp>
      <p:sp>
        <p:nvSpPr>
          <p:cNvPr id="14" name="object 14"/>
          <p:cNvSpPr/>
          <p:nvPr/>
        </p:nvSpPr>
        <p:spPr>
          <a:xfrm>
            <a:off x="4416552" y="2939033"/>
            <a:ext cx="2021839" cy="1112520"/>
          </a:xfrm>
          <a:custGeom>
            <a:avLst/>
            <a:gdLst/>
            <a:ahLst/>
            <a:cxnLst/>
            <a:rect l="l" t="t" r="r" b="b"/>
            <a:pathLst>
              <a:path w="2021839" h="1112520">
                <a:moveTo>
                  <a:pt x="68663" y="1059332"/>
                </a:moveTo>
                <a:lnTo>
                  <a:pt x="54864" y="1034034"/>
                </a:lnTo>
                <a:lnTo>
                  <a:pt x="0" y="1112520"/>
                </a:lnTo>
                <a:lnTo>
                  <a:pt x="56388" y="1110729"/>
                </a:lnTo>
                <a:lnTo>
                  <a:pt x="56388" y="1066038"/>
                </a:lnTo>
                <a:lnTo>
                  <a:pt x="68663" y="1059332"/>
                </a:lnTo>
                <a:close/>
              </a:path>
              <a:path w="2021839" h="1112520">
                <a:moveTo>
                  <a:pt x="82379" y="1084478"/>
                </a:moveTo>
                <a:lnTo>
                  <a:pt x="68663" y="1059332"/>
                </a:lnTo>
                <a:lnTo>
                  <a:pt x="56388" y="1066038"/>
                </a:lnTo>
                <a:lnTo>
                  <a:pt x="70104" y="1091184"/>
                </a:lnTo>
                <a:lnTo>
                  <a:pt x="82379" y="1084478"/>
                </a:lnTo>
                <a:close/>
              </a:path>
              <a:path w="2021839" h="1112520">
                <a:moveTo>
                  <a:pt x="96012" y="1109472"/>
                </a:moveTo>
                <a:lnTo>
                  <a:pt x="82379" y="1084478"/>
                </a:lnTo>
                <a:lnTo>
                  <a:pt x="70104" y="1091184"/>
                </a:lnTo>
                <a:lnTo>
                  <a:pt x="56388" y="1066038"/>
                </a:lnTo>
                <a:lnTo>
                  <a:pt x="56388" y="1110729"/>
                </a:lnTo>
                <a:lnTo>
                  <a:pt x="96012" y="1109472"/>
                </a:lnTo>
                <a:close/>
              </a:path>
              <a:path w="2021839" h="1112520">
                <a:moveTo>
                  <a:pt x="2021586" y="25146"/>
                </a:moveTo>
                <a:lnTo>
                  <a:pt x="2007870" y="0"/>
                </a:lnTo>
                <a:lnTo>
                  <a:pt x="68663" y="1059332"/>
                </a:lnTo>
                <a:lnTo>
                  <a:pt x="82379" y="1084478"/>
                </a:lnTo>
                <a:lnTo>
                  <a:pt x="2021586" y="25146"/>
                </a:lnTo>
                <a:close/>
              </a:path>
            </a:pathLst>
          </a:custGeom>
          <a:solidFill>
            <a:srgbClr val="008000"/>
          </a:solidFill>
        </p:spPr>
        <p:txBody>
          <a:bodyPr wrap="square" lIns="0" tIns="0" rIns="0" bIns="0" rtlCol="0"/>
          <a:lstStyle/>
          <a:p>
            <a:endParaRPr/>
          </a:p>
        </p:txBody>
      </p:sp>
      <p:sp>
        <p:nvSpPr>
          <p:cNvPr id="15" name="object 15"/>
          <p:cNvSpPr/>
          <p:nvPr/>
        </p:nvSpPr>
        <p:spPr>
          <a:xfrm>
            <a:off x="4416552" y="3774185"/>
            <a:ext cx="2104390" cy="505459"/>
          </a:xfrm>
          <a:custGeom>
            <a:avLst/>
            <a:gdLst/>
            <a:ahLst/>
            <a:cxnLst/>
            <a:rect l="l" t="t" r="r" b="b"/>
            <a:pathLst>
              <a:path w="2104390" h="505460">
                <a:moveTo>
                  <a:pt x="2023165" y="449582"/>
                </a:moveTo>
                <a:lnTo>
                  <a:pt x="6858" y="0"/>
                </a:lnTo>
                <a:lnTo>
                  <a:pt x="0" y="28194"/>
                </a:lnTo>
                <a:lnTo>
                  <a:pt x="2016962" y="477753"/>
                </a:lnTo>
                <a:lnTo>
                  <a:pt x="2023165" y="449582"/>
                </a:lnTo>
                <a:close/>
              </a:path>
              <a:path w="2104390" h="505460">
                <a:moveTo>
                  <a:pt x="2036826" y="498835"/>
                </a:moveTo>
                <a:lnTo>
                  <a:pt x="2036826" y="452627"/>
                </a:lnTo>
                <a:lnTo>
                  <a:pt x="2030730" y="480821"/>
                </a:lnTo>
                <a:lnTo>
                  <a:pt x="2016962" y="477753"/>
                </a:lnTo>
                <a:lnTo>
                  <a:pt x="2010918" y="505205"/>
                </a:lnTo>
                <a:lnTo>
                  <a:pt x="2036826" y="498835"/>
                </a:lnTo>
                <a:close/>
              </a:path>
              <a:path w="2104390" h="505460">
                <a:moveTo>
                  <a:pt x="2036826" y="452627"/>
                </a:moveTo>
                <a:lnTo>
                  <a:pt x="2023165" y="449582"/>
                </a:lnTo>
                <a:lnTo>
                  <a:pt x="2016962" y="477753"/>
                </a:lnTo>
                <a:lnTo>
                  <a:pt x="2030730" y="480821"/>
                </a:lnTo>
                <a:lnTo>
                  <a:pt x="2036826" y="452627"/>
                </a:lnTo>
                <a:close/>
              </a:path>
              <a:path w="2104390" h="505460">
                <a:moveTo>
                  <a:pt x="2103882" y="482345"/>
                </a:moveTo>
                <a:lnTo>
                  <a:pt x="2029206" y="422147"/>
                </a:lnTo>
                <a:lnTo>
                  <a:pt x="2023165" y="449582"/>
                </a:lnTo>
                <a:lnTo>
                  <a:pt x="2036826" y="452627"/>
                </a:lnTo>
                <a:lnTo>
                  <a:pt x="2036826" y="498835"/>
                </a:lnTo>
                <a:lnTo>
                  <a:pt x="2103882" y="482345"/>
                </a:lnTo>
                <a:close/>
              </a:path>
            </a:pathLst>
          </a:custGeom>
          <a:solidFill>
            <a:srgbClr val="000099"/>
          </a:solidFill>
        </p:spPr>
        <p:txBody>
          <a:bodyPr wrap="square" lIns="0" tIns="0" rIns="0" bIns="0" rtlCol="0"/>
          <a:lstStyle/>
          <a:p>
            <a:endParaRPr/>
          </a:p>
        </p:txBody>
      </p:sp>
      <p:sp>
        <p:nvSpPr>
          <p:cNvPr id="16" name="object 16"/>
          <p:cNvSpPr/>
          <p:nvPr/>
        </p:nvSpPr>
        <p:spPr>
          <a:xfrm>
            <a:off x="4448555" y="4093464"/>
            <a:ext cx="2105025" cy="505459"/>
          </a:xfrm>
          <a:custGeom>
            <a:avLst/>
            <a:gdLst/>
            <a:ahLst/>
            <a:cxnLst/>
            <a:rect l="l" t="t" r="r" b="b"/>
            <a:pathLst>
              <a:path w="2105025" h="505460">
                <a:moveTo>
                  <a:pt x="2024338" y="449507"/>
                </a:moveTo>
                <a:lnTo>
                  <a:pt x="6096" y="0"/>
                </a:lnTo>
                <a:lnTo>
                  <a:pt x="0" y="27432"/>
                </a:lnTo>
                <a:lnTo>
                  <a:pt x="2017947" y="477630"/>
                </a:lnTo>
                <a:lnTo>
                  <a:pt x="2024338" y="449507"/>
                </a:lnTo>
                <a:close/>
              </a:path>
              <a:path w="2105025" h="505460">
                <a:moveTo>
                  <a:pt x="2038350" y="498647"/>
                </a:moveTo>
                <a:lnTo>
                  <a:pt x="2038350" y="452627"/>
                </a:lnTo>
                <a:lnTo>
                  <a:pt x="2032254" y="480821"/>
                </a:lnTo>
                <a:lnTo>
                  <a:pt x="2017947" y="477630"/>
                </a:lnTo>
                <a:lnTo>
                  <a:pt x="2011680" y="505205"/>
                </a:lnTo>
                <a:lnTo>
                  <a:pt x="2038350" y="498647"/>
                </a:lnTo>
                <a:close/>
              </a:path>
              <a:path w="2105025" h="505460">
                <a:moveTo>
                  <a:pt x="2038350" y="452627"/>
                </a:moveTo>
                <a:lnTo>
                  <a:pt x="2024338" y="449507"/>
                </a:lnTo>
                <a:lnTo>
                  <a:pt x="2017947" y="477630"/>
                </a:lnTo>
                <a:lnTo>
                  <a:pt x="2032254" y="480821"/>
                </a:lnTo>
                <a:lnTo>
                  <a:pt x="2038350" y="452627"/>
                </a:lnTo>
                <a:close/>
              </a:path>
              <a:path w="2105025" h="505460">
                <a:moveTo>
                  <a:pt x="2104644" y="482345"/>
                </a:moveTo>
                <a:lnTo>
                  <a:pt x="2030730" y="421385"/>
                </a:lnTo>
                <a:lnTo>
                  <a:pt x="2024338" y="449507"/>
                </a:lnTo>
                <a:lnTo>
                  <a:pt x="2038350" y="452627"/>
                </a:lnTo>
                <a:lnTo>
                  <a:pt x="2038350" y="498647"/>
                </a:lnTo>
                <a:lnTo>
                  <a:pt x="2104644" y="482345"/>
                </a:lnTo>
                <a:close/>
              </a:path>
            </a:pathLst>
          </a:custGeom>
          <a:solidFill>
            <a:srgbClr val="000099"/>
          </a:solidFill>
        </p:spPr>
        <p:txBody>
          <a:bodyPr wrap="square" lIns="0" tIns="0" rIns="0" bIns="0" rtlCol="0"/>
          <a:lstStyle/>
          <a:p>
            <a:endParaRPr/>
          </a:p>
        </p:txBody>
      </p:sp>
      <p:sp>
        <p:nvSpPr>
          <p:cNvPr id="17" name="object 17"/>
          <p:cNvSpPr/>
          <p:nvPr/>
        </p:nvSpPr>
        <p:spPr>
          <a:xfrm>
            <a:off x="4448555" y="3469385"/>
            <a:ext cx="2021839" cy="1112520"/>
          </a:xfrm>
          <a:custGeom>
            <a:avLst/>
            <a:gdLst/>
            <a:ahLst/>
            <a:cxnLst/>
            <a:rect l="l" t="t" r="r" b="b"/>
            <a:pathLst>
              <a:path w="2021839" h="1112520">
                <a:moveTo>
                  <a:pt x="68596" y="1058955"/>
                </a:moveTo>
                <a:lnTo>
                  <a:pt x="54864" y="1034034"/>
                </a:lnTo>
                <a:lnTo>
                  <a:pt x="0" y="1112520"/>
                </a:lnTo>
                <a:lnTo>
                  <a:pt x="55626" y="1110312"/>
                </a:lnTo>
                <a:lnTo>
                  <a:pt x="55626" y="1066038"/>
                </a:lnTo>
                <a:lnTo>
                  <a:pt x="68596" y="1058955"/>
                </a:lnTo>
                <a:close/>
              </a:path>
              <a:path w="2021839" h="1112520">
                <a:moveTo>
                  <a:pt x="82099" y="1083460"/>
                </a:moveTo>
                <a:lnTo>
                  <a:pt x="68596" y="1058955"/>
                </a:lnTo>
                <a:lnTo>
                  <a:pt x="55626" y="1066038"/>
                </a:lnTo>
                <a:lnTo>
                  <a:pt x="69342" y="1090422"/>
                </a:lnTo>
                <a:lnTo>
                  <a:pt x="82099" y="1083460"/>
                </a:lnTo>
                <a:close/>
              </a:path>
              <a:path w="2021839" h="1112520">
                <a:moveTo>
                  <a:pt x="96012" y="1108710"/>
                </a:moveTo>
                <a:lnTo>
                  <a:pt x="82099" y="1083460"/>
                </a:lnTo>
                <a:lnTo>
                  <a:pt x="69342" y="1090422"/>
                </a:lnTo>
                <a:lnTo>
                  <a:pt x="55626" y="1066038"/>
                </a:lnTo>
                <a:lnTo>
                  <a:pt x="55626" y="1110312"/>
                </a:lnTo>
                <a:lnTo>
                  <a:pt x="96012" y="1108710"/>
                </a:lnTo>
                <a:close/>
              </a:path>
              <a:path w="2021839" h="1112520">
                <a:moveTo>
                  <a:pt x="2021586" y="25146"/>
                </a:moveTo>
                <a:lnTo>
                  <a:pt x="2007870" y="0"/>
                </a:lnTo>
                <a:lnTo>
                  <a:pt x="68596" y="1058955"/>
                </a:lnTo>
                <a:lnTo>
                  <a:pt x="82099" y="1083460"/>
                </a:lnTo>
                <a:lnTo>
                  <a:pt x="2021586" y="25146"/>
                </a:lnTo>
                <a:close/>
              </a:path>
            </a:pathLst>
          </a:custGeom>
          <a:solidFill>
            <a:srgbClr val="008000"/>
          </a:solidFill>
        </p:spPr>
        <p:txBody>
          <a:bodyPr wrap="square" lIns="0" tIns="0" rIns="0" bIns="0" rtlCol="0"/>
          <a:lstStyle/>
          <a:p>
            <a:endParaRPr/>
          </a:p>
        </p:txBody>
      </p:sp>
      <p:sp>
        <p:nvSpPr>
          <p:cNvPr id="18" name="object 18"/>
          <p:cNvSpPr/>
          <p:nvPr/>
        </p:nvSpPr>
        <p:spPr>
          <a:xfrm>
            <a:off x="4411979" y="2673095"/>
            <a:ext cx="0" cy="2459990"/>
          </a:xfrm>
          <a:custGeom>
            <a:avLst/>
            <a:gdLst/>
            <a:ahLst/>
            <a:cxnLst/>
            <a:rect l="l" t="t" r="r" b="b"/>
            <a:pathLst>
              <a:path h="2459990">
                <a:moveTo>
                  <a:pt x="0" y="0"/>
                </a:moveTo>
                <a:lnTo>
                  <a:pt x="0" y="2459736"/>
                </a:lnTo>
              </a:path>
            </a:pathLst>
          </a:custGeom>
          <a:ln w="28955">
            <a:solidFill>
              <a:srgbClr val="000000"/>
            </a:solidFill>
          </a:ln>
        </p:spPr>
        <p:txBody>
          <a:bodyPr wrap="square" lIns="0" tIns="0" rIns="0" bIns="0" rtlCol="0"/>
          <a:lstStyle/>
          <a:p>
            <a:endParaRPr/>
          </a:p>
        </p:txBody>
      </p:sp>
      <p:sp>
        <p:nvSpPr>
          <p:cNvPr id="19" name="object 19"/>
          <p:cNvSpPr/>
          <p:nvPr/>
        </p:nvSpPr>
        <p:spPr>
          <a:xfrm>
            <a:off x="4309109" y="2670429"/>
            <a:ext cx="100965" cy="0"/>
          </a:xfrm>
          <a:custGeom>
            <a:avLst/>
            <a:gdLst/>
            <a:ahLst/>
            <a:cxnLst/>
            <a:rect l="l" t="t" r="r" b="b"/>
            <a:pathLst>
              <a:path w="100964">
                <a:moveTo>
                  <a:pt x="0" y="0"/>
                </a:moveTo>
                <a:lnTo>
                  <a:pt x="100584" y="0"/>
                </a:lnTo>
              </a:path>
            </a:pathLst>
          </a:custGeom>
          <a:ln w="28194">
            <a:solidFill>
              <a:srgbClr val="000000"/>
            </a:solidFill>
          </a:ln>
        </p:spPr>
        <p:txBody>
          <a:bodyPr wrap="square" lIns="0" tIns="0" rIns="0" bIns="0" rtlCol="0"/>
          <a:lstStyle/>
          <a:p>
            <a:endParaRPr/>
          </a:p>
        </p:txBody>
      </p:sp>
      <p:sp>
        <p:nvSpPr>
          <p:cNvPr id="20" name="object 20"/>
          <p:cNvSpPr/>
          <p:nvPr/>
        </p:nvSpPr>
        <p:spPr>
          <a:xfrm>
            <a:off x="4309109" y="5132832"/>
            <a:ext cx="100965" cy="0"/>
          </a:xfrm>
          <a:custGeom>
            <a:avLst/>
            <a:gdLst/>
            <a:ahLst/>
            <a:cxnLst/>
            <a:rect l="l" t="t" r="r" b="b"/>
            <a:pathLst>
              <a:path w="100964">
                <a:moveTo>
                  <a:pt x="0" y="0"/>
                </a:moveTo>
                <a:lnTo>
                  <a:pt x="100584" y="0"/>
                </a:lnTo>
              </a:path>
            </a:pathLst>
          </a:custGeom>
          <a:ln w="28955">
            <a:solidFill>
              <a:srgbClr val="000000"/>
            </a:solidFill>
          </a:ln>
        </p:spPr>
        <p:txBody>
          <a:bodyPr wrap="square" lIns="0" tIns="0" rIns="0" bIns="0" rtlCol="0"/>
          <a:lstStyle/>
          <a:p>
            <a:endParaRPr/>
          </a:p>
        </p:txBody>
      </p:sp>
      <p:sp>
        <p:nvSpPr>
          <p:cNvPr id="21" name="object 21"/>
          <p:cNvSpPr/>
          <p:nvPr/>
        </p:nvSpPr>
        <p:spPr>
          <a:xfrm>
            <a:off x="4447032" y="5286755"/>
            <a:ext cx="2103120" cy="506095"/>
          </a:xfrm>
          <a:custGeom>
            <a:avLst/>
            <a:gdLst/>
            <a:ahLst/>
            <a:cxnLst/>
            <a:rect l="l" t="t" r="r" b="b"/>
            <a:pathLst>
              <a:path w="2103120" h="506095">
                <a:moveTo>
                  <a:pt x="2022816" y="450262"/>
                </a:moveTo>
                <a:lnTo>
                  <a:pt x="6096" y="0"/>
                </a:lnTo>
                <a:lnTo>
                  <a:pt x="0" y="28194"/>
                </a:lnTo>
                <a:lnTo>
                  <a:pt x="2016587" y="477669"/>
                </a:lnTo>
                <a:lnTo>
                  <a:pt x="2022816" y="450262"/>
                </a:lnTo>
                <a:close/>
              </a:path>
              <a:path w="2103120" h="506095">
                <a:moveTo>
                  <a:pt x="2036826" y="499191"/>
                </a:moveTo>
                <a:lnTo>
                  <a:pt x="2036826" y="453389"/>
                </a:lnTo>
                <a:lnTo>
                  <a:pt x="2030730" y="480821"/>
                </a:lnTo>
                <a:lnTo>
                  <a:pt x="2016587" y="477669"/>
                </a:lnTo>
                <a:lnTo>
                  <a:pt x="2010156" y="505967"/>
                </a:lnTo>
                <a:lnTo>
                  <a:pt x="2036826" y="499191"/>
                </a:lnTo>
                <a:close/>
              </a:path>
              <a:path w="2103120" h="506095">
                <a:moveTo>
                  <a:pt x="2036826" y="453389"/>
                </a:moveTo>
                <a:lnTo>
                  <a:pt x="2022816" y="450262"/>
                </a:lnTo>
                <a:lnTo>
                  <a:pt x="2016587" y="477669"/>
                </a:lnTo>
                <a:lnTo>
                  <a:pt x="2030730" y="480821"/>
                </a:lnTo>
                <a:lnTo>
                  <a:pt x="2036826" y="453389"/>
                </a:lnTo>
                <a:close/>
              </a:path>
              <a:path w="2103120" h="506095">
                <a:moveTo>
                  <a:pt x="2103120" y="482345"/>
                </a:moveTo>
                <a:lnTo>
                  <a:pt x="2029206" y="422147"/>
                </a:lnTo>
                <a:lnTo>
                  <a:pt x="2022816" y="450262"/>
                </a:lnTo>
                <a:lnTo>
                  <a:pt x="2036826" y="453389"/>
                </a:lnTo>
                <a:lnTo>
                  <a:pt x="2036826" y="499191"/>
                </a:lnTo>
                <a:lnTo>
                  <a:pt x="2103120" y="482345"/>
                </a:lnTo>
                <a:close/>
              </a:path>
            </a:pathLst>
          </a:custGeom>
          <a:solidFill>
            <a:srgbClr val="000099"/>
          </a:solidFill>
        </p:spPr>
        <p:txBody>
          <a:bodyPr wrap="square" lIns="0" tIns="0" rIns="0" bIns="0" rtlCol="0"/>
          <a:lstStyle/>
          <a:p>
            <a:endParaRPr/>
          </a:p>
        </p:txBody>
      </p:sp>
      <p:sp>
        <p:nvSpPr>
          <p:cNvPr id="22" name="object 22"/>
          <p:cNvSpPr txBox="1"/>
          <p:nvPr/>
        </p:nvSpPr>
        <p:spPr>
          <a:xfrm>
            <a:off x="6567169" y="3243326"/>
            <a:ext cx="2670810" cy="1796414"/>
          </a:xfrm>
          <a:prstGeom prst="rect">
            <a:avLst/>
          </a:prstGeom>
        </p:spPr>
        <p:txBody>
          <a:bodyPr vert="horz" wrap="square" lIns="0" tIns="12700" rIns="0" bIns="0" rtlCol="0">
            <a:spAutoFit/>
          </a:bodyPr>
          <a:lstStyle/>
          <a:p>
            <a:pPr marL="86995" marR="850265" indent="-71755">
              <a:lnSpc>
                <a:spcPct val="100000"/>
              </a:lnSpc>
              <a:spcBef>
                <a:spcPts val="100"/>
              </a:spcBef>
            </a:pPr>
            <a:r>
              <a:rPr sz="1800" dirty="0">
                <a:latin typeface="Tahoma"/>
                <a:cs typeface="Tahoma"/>
              </a:rPr>
              <a:t>nhận pkt3, buffer,  gửi ack3</a:t>
            </a:r>
          </a:p>
          <a:p>
            <a:pPr marL="83820" marR="26034" indent="-71755">
              <a:lnSpc>
                <a:spcPct val="100000"/>
              </a:lnSpc>
              <a:spcBef>
                <a:spcPts val="1200"/>
              </a:spcBef>
            </a:pPr>
            <a:r>
              <a:rPr sz="1800" dirty="0">
                <a:latin typeface="Tahoma"/>
                <a:cs typeface="Tahoma"/>
              </a:rPr>
              <a:t>nhận pkt4, lưu vùng đệm,  gửi ack4</a:t>
            </a:r>
          </a:p>
          <a:p>
            <a:pPr marL="31115">
              <a:lnSpc>
                <a:spcPts val="1945"/>
              </a:lnSpc>
            </a:pPr>
            <a:r>
              <a:rPr sz="1800" dirty="0">
                <a:latin typeface="Tahoma"/>
                <a:cs typeface="Tahoma"/>
              </a:rPr>
              <a:t>nhận pkt5, lưu vùng đệm,</a:t>
            </a:r>
          </a:p>
          <a:p>
            <a:pPr marL="102870">
              <a:lnSpc>
                <a:spcPct val="100000"/>
              </a:lnSpc>
            </a:pPr>
            <a:r>
              <a:rPr sz="1800" dirty="0">
                <a:latin typeface="Tahoma"/>
                <a:cs typeface="Tahoma"/>
              </a:rPr>
              <a:t>gửi ack5</a:t>
            </a:r>
          </a:p>
        </p:txBody>
      </p:sp>
      <p:sp>
        <p:nvSpPr>
          <p:cNvPr id="23" name="object 23"/>
          <p:cNvSpPr txBox="1"/>
          <p:nvPr/>
        </p:nvSpPr>
        <p:spPr>
          <a:xfrm>
            <a:off x="6596864" y="5591817"/>
            <a:ext cx="2639695" cy="546735"/>
          </a:xfrm>
          <a:prstGeom prst="rect">
            <a:avLst/>
          </a:prstGeom>
        </p:spPr>
        <p:txBody>
          <a:bodyPr vert="horz" wrap="square" lIns="0" tIns="43815" rIns="0" bIns="0" rtlCol="0">
            <a:spAutoFit/>
          </a:bodyPr>
          <a:lstStyle/>
          <a:p>
            <a:pPr marL="12700" marR="5080">
              <a:lnSpc>
                <a:spcPts val="1939"/>
              </a:lnSpc>
              <a:spcBef>
                <a:spcPts val="345"/>
              </a:spcBef>
            </a:pPr>
            <a:r>
              <a:rPr sz="1800" dirty="0">
                <a:latin typeface="Tahoma"/>
                <a:cs typeface="Tahoma"/>
              </a:rPr>
              <a:t>rcv pkt2; chuyển pkt2,  pkt3, pkt4, pkt5; gửi ack2</a:t>
            </a:r>
            <a:endParaRPr sz="1800">
              <a:latin typeface="Tahoma"/>
              <a:cs typeface="Tahoma"/>
            </a:endParaRPr>
          </a:p>
        </p:txBody>
      </p:sp>
      <p:sp>
        <p:nvSpPr>
          <p:cNvPr id="24" name="object 24"/>
          <p:cNvSpPr txBox="1"/>
          <p:nvPr/>
        </p:nvSpPr>
        <p:spPr>
          <a:xfrm>
            <a:off x="2713735" y="4448809"/>
            <a:ext cx="1536065"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record ack3 arrived</a:t>
            </a:r>
            <a:endParaRPr sz="1400">
              <a:latin typeface="Tahoma"/>
              <a:cs typeface="Tahoma"/>
            </a:endParaRPr>
          </a:p>
        </p:txBody>
      </p:sp>
      <p:sp>
        <p:nvSpPr>
          <p:cNvPr id="26" name="object 26"/>
          <p:cNvSpPr txBox="1"/>
          <p:nvPr/>
        </p:nvSpPr>
        <p:spPr>
          <a:xfrm>
            <a:off x="709675" y="1659749"/>
            <a:ext cx="2170175" cy="273152"/>
          </a:xfrm>
          <a:prstGeom prst="rect">
            <a:avLst/>
          </a:prstGeom>
        </p:spPr>
        <p:txBody>
          <a:bodyPr vert="horz" wrap="square" lIns="0" tIns="11430" rIns="0" bIns="0" rtlCol="0">
            <a:spAutoFit/>
          </a:bodyPr>
          <a:lstStyle/>
          <a:p>
            <a:pPr marL="12700">
              <a:lnSpc>
                <a:spcPct val="100000"/>
              </a:lnSpc>
              <a:spcBef>
                <a:spcPts val="90"/>
              </a:spcBef>
            </a:pPr>
            <a:r>
              <a:rPr sz="1700" i="1" u="sng" dirty="0">
                <a:solidFill>
                  <a:srgbClr val="00009A"/>
                </a:solidFill>
                <a:uFill>
                  <a:solidFill>
                    <a:srgbClr val="000099"/>
                  </a:solidFill>
                </a:uFill>
                <a:latin typeface="Tahoma"/>
                <a:cs typeface="Tahoma"/>
              </a:rPr>
              <a:t>sender window (N=4)</a:t>
            </a:r>
            <a:endParaRPr sz="1700" dirty="0">
              <a:latin typeface="Tahoma"/>
              <a:cs typeface="Tahoma"/>
            </a:endParaRPr>
          </a:p>
        </p:txBody>
      </p:sp>
      <p:sp>
        <p:nvSpPr>
          <p:cNvPr id="31" name="object 31"/>
          <p:cNvSpPr txBox="1"/>
          <p:nvPr/>
        </p:nvSpPr>
        <p:spPr>
          <a:xfrm>
            <a:off x="750823" y="3630421"/>
            <a:ext cx="12446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a:t>
            </a:r>
            <a:endParaRPr sz="1400">
              <a:latin typeface="Arial"/>
              <a:cs typeface="Arial"/>
            </a:endParaRPr>
          </a:p>
        </p:txBody>
      </p:sp>
      <p:sp>
        <p:nvSpPr>
          <p:cNvPr id="32" name="object 32"/>
          <p:cNvSpPr txBox="1"/>
          <p:nvPr/>
        </p:nvSpPr>
        <p:spPr>
          <a:xfrm>
            <a:off x="886205" y="3637026"/>
            <a:ext cx="628650" cy="228600"/>
          </a:xfrm>
          <a:prstGeom prst="rect">
            <a:avLst/>
          </a:prstGeom>
          <a:solidFill>
            <a:srgbClr val="000099"/>
          </a:solidFill>
        </p:spPr>
        <p:txBody>
          <a:bodyPr vert="horz" wrap="square" lIns="0" tIns="5715" rIns="0" bIns="0" rtlCol="0">
            <a:spAutoFit/>
          </a:bodyPr>
          <a:lstStyle/>
          <a:p>
            <a:pPr marL="24765">
              <a:lnSpc>
                <a:spcPct val="100000"/>
              </a:lnSpc>
              <a:spcBef>
                <a:spcPts val="45"/>
              </a:spcBef>
            </a:pPr>
            <a:r>
              <a:rPr sz="1400" dirty="0">
                <a:solidFill>
                  <a:srgbClr val="FFFFFF"/>
                </a:solidFill>
                <a:latin typeface="Arial"/>
                <a:cs typeface="Arial"/>
              </a:rPr>
              <a:t>1 2 3 4</a:t>
            </a:r>
            <a:endParaRPr sz="1400">
              <a:latin typeface="Arial"/>
              <a:cs typeface="Arial"/>
            </a:endParaRPr>
          </a:p>
        </p:txBody>
      </p:sp>
      <p:sp>
        <p:nvSpPr>
          <p:cNvPr id="33" name="object 33"/>
          <p:cNvSpPr txBox="1"/>
          <p:nvPr/>
        </p:nvSpPr>
        <p:spPr>
          <a:xfrm>
            <a:off x="1489202" y="3630421"/>
            <a:ext cx="567690"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5 6 7 8</a:t>
            </a:r>
            <a:endParaRPr sz="1400">
              <a:latin typeface="Arial"/>
              <a:cs typeface="Arial"/>
            </a:endParaRPr>
          </a:p>
        </p:txBody>
      </p:sp>
      <p:sp>
        <p:nvSpPr>
          <p:cNvPr id="34" name="object 34"/>
          <p:cNvSpPr txBox="1"/>
          <p:nvPr/>
        </p:nvSpPr>
        <p:spPr>
          <a:xfrm>
            <a:off x="747776" y="3905503"/>
            <a:ext cx="272415"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0 1</a:t>
            </a:r>
            <a:endParaRPr sz="1400">
              <a:latin typeface="Arial"/>
              <a:cs typeface="Arial"/>
            </a:endParaRPr>
          </a:p>
        </p:txBody>
      </p:sp>
      <p:sp>
        <p:nvSpPr>
          <p:cNvPr id="35" name="object 35"/>
          <p:cNvSpPr txBox="1"/>
          <p:nvPr/>
        </p:nvSpPr>
        <p:spPr>
          <a:xfrm>
            <a:off x="1027175" y="3912108"/>
            <a:ext cx="628650" cy="228600"/>
          </a:xfrm>
          <a:prstGeom prst="rect">
            <a:avLst/>
          </a:prstGeom>
          <a:solidFill>
            <a:srgbClr val="000099"/>
          </a:solidFill>
        </p:spPr>
        <p:txBody>
          <a:bodyPr vert="horz" wrap="square" lIns="0" tIns="5715" rIns="0" bIns="0" rtlCol="0">
            <a:spAutoFit/>
          </a:bodyPr>
          <a:lstStyle/>
          <a:p>
            <a:pPr marL="28575">
              <a:lnSpc>
                <a:spcPct val="100000"/>
              </a:lnSpc>
              <a:spcBef>
                <a:spcPts val="45"/>
              </a:spcBef>
            </a:pPr>
            <a:r>
              <a:rPr sz="1400" dirty="0">
                <a:solidFill>
                  <a:srgbClr val="FFFFFF"/>
                </a:solidFill>
                <a:latin typeface="Arial"/>
                <a:cs typeface="Arial"/>
              </a:rPr>
              <a:t>2 3 4 5</a:t>
            </a:r>
            <a:endParaRPr sz="1400">
              <a:latin typeface="Arial"/>
              <a:cs typeface="Arial"/>
            </a:endParaRPr>
          </a:p>
        </p:txBody>
      </p:sp>
      <p:sp>
        <p:nvSpPr>
          <p:cNvPr id="36" name="object 36"/>
          <p:cNvSpPr txBox="1"/>
          <p:nvPr/>
        </p:nvSpPr>
        <p:spPr>
          <a:xfrm>
            <a:off x="1633979" y="3905503"/>
            <a:ext cx="419734" cy="227626"/>
          </a:xfrm>
          <a:prstGeom prst="rect">
            <a:avLst/>
          </a:prstGeom>
        </p:spPr>
        <p:txBody>
          <a:bodyPr vert="horz" wrap="square" lIns="0" tIns="12065" rIns="0" bIns="0" rtlCol="0">
            <a:spAutoFit/>
          </a:bodyPr>
          <a:lstStyle/>
          <a:p>
            <a:pPr marL="12700">
              <a:lnSpc>
                <a:spcPct val="100000"/>
              </a:lnSpc>
              <a:spcBef>
                <a:spcPts val="95"/>
              </a:spcBef>
            </a:pPr>
            <a:r>
              <a:rPr sz="1400" dirty="0">
                <a:latin typeface="Arial"/>
                <a:cs typeface="Arial"/>
              </a:rPr>
              <a:t>6 7 8</a:t>
            </a:r>
            <a:endParaRPr sz="1400">
              <a:latin typeface="Arial"/>
              <a:cs typeface="Arial"/>
            </a:endParaRPr>
          </a:p>
        </p:txBody>
      </p:sp>
      <p:sp>
        <p:nvSpPr>
          <p:cNvPr id="38" name="object 38"/>
          <p:cNvSpPr/>
          <p:nvPr/>
        </p:nvSpPr>
        <p:spPr>
          <a:xfrm>
            <a:off x="4423409" y="4279391"/>
            <a:ext cx="2078355" cy="1356360"/>
          </a:xfrm>
          <a:custGeom>
            <a:avLst/>
            <a:gdLst/>
            <a:ahLst/>
            <a:cxnLst/>
            <a:rect l="l" t="t" r="r" b="b"/>
            <a:pathLst>
              <a:path w="2078354" h="1356360">
                <a:moveTo>
                  <a:pt x="63925" y="1298200"/>
                </a:moveTo>
                <a:lnTo>
                  <a:pt x="48006" y="1274064"/>
                </a:lnTo>
                <a:lnTo>
                  <a:pt x="0" y="1356360"/>
                </a:lnTo>
                <a:lnTo>
                  <a:pt x="51816" y="1350556"/>
                </a:lnTo>
                <a:lnTo>
                  <a:pt x="51816" y="1306068"/>
                </a:lnTo>
                <a:lnTo>
                  <a:pt x="63925" y="1298200"/>
                </a:lnTo>
                <a:close/>
              </a:path>
              <a:path w="2078354" h="1356360">
                <a:moveTo>
                  <a:pt x="79405" y="1321669"/>
                </a:moveTo>
                <a:lnTo>
                  <a:pt x="63925" y="1298200"/>
                </a:lnTo>
                <a:lnTo>
                  <a:pt x="51816" y="1306068"/>
                </a:lnTo>
                <a:lnTo>
                  <a:pt x="67056" y="1329690"/>
                </a:lnTo>
                <a:lnTo>
                  <a:pt x="79405" y="1321669"/>
                </a:lnTo>
                <a:close/>
              </a:path>
              <a:path w="2078354" h="1356360">
                <a:moveTo>
                  <a:pt x="95250" y="1345692"/>
                </a:moveTo>
                <a:lnTo>
                  <a:pt x="79405" y="1321669"/>
                </a:lnTo>
                <a:lnTo>
                  <a:pt x="67056" y="1329690"/>
                </a:lnTo>
                <a:lnTo>
                  <a:pt x="51816" y="1306068"/>
                </a:lnTo>
                <a:lnTo>
                  <a:pt x="51816" y="1350556"/>
                </a:lnTo>
                <a:lnTo>
                  <a:pt x="95250" y="1345692"/>
                </a:lnTo>
                <a:close/>
              </a:path>
              <a:path w="2078354" h="1356360">
                <a:moveTo>
                  <a:pt x="2077974" y="23621"/>
                </a:moveTo>
                <a:lnTo>
                  <a:pt x="2061972" y="0"/>
                </a:lnTo>
                <a:lnTo>
                  <a:pt x="63925" y="1298200"/>
                </a:lnTo>
                <a:lnTo>
                  <a:pt x="79405" y="1321669"/>
                </a:lnTo>
                <a:lnTo>
                  <a:pt x="2077974" y="23621"/>
                </a:lnTo>
                <a:close/>
              </a:path>
            </a:pathLst>
          </a:custGeom>
          <a:solidFill>
            <a:srgbClr val="008000"/>
          </a:solidFill>
        </p:spPr>
        <p:txBody>
          <a:bodyPr wrap="square" lIns="0" tIns="0" rIns="0" bIns="0" rtlCol="0"/>
          <a:lstStyle/>
          <a:p>
            <a:endParaRPr/>
          </a:p>
        </p:txBody>
      </p:sp>
      <p:sp>
        <p:nvSpPr>
          <p:cNvPr id="39" name="object 39"/>
          <p:cNvSpPr/>
          <p:nvPr/>
        </p:nvSpPr>
        <p:spPr>
          <a:xfrm>
            <a:off x="4475226" y="4587240"/>
            <a:ext cx="2078355" cy="1356360"/>
          </a:xfrm>
          <a:custGeom>
            <a:avLst/>
            <a:gdLst/>
            <a:ahLst/>
            <a:cxnLst/>
            <a:rect l="l" t="t" r="r" b="b"/>
            <a:pathLst>
              <a:path w="2078354" h="1356360">
                <a:moveTo>
                  <a:pt x="64506" y="1298317"/>
                </a:moveTo>
                <a:lnTo>
                  <a:pt x="48767" y="1274064"/>
                </a:lnTo>
                <a:lnTo>
                  <a:pt x="0" y="1356360"/>
                </a:lnTo>
                <a:lnTo>
                  <a:pt x="52577" y="1350471"/>
                </a:lnTo>
                <a:lnTo>
                  <a:pt x="52577" y="1306068"/>
                </a:lnTo>
                <a:lnTo>
                  <a:pt x="64506" y="1298317"/>
                </a:lnTo>
                <a:close/>
              </a:path>
              <a:path w="2078354" h="1356360">
                <a:moveTo>
                  <a:pt x="79811" y="1321901"/>
                </a:moveTo>
                <a:lnTo>
                  <a:pt x="64506" y="1298317"/>
                </a:lnTo>
                <a:lnTo>
                  <a:pt x="52577" y="1306068"/>
                </a:lnTo>
                <a:lnTo>
                  <a:pt x="67817" y="1329690"/>
                </a:lnTo>
                <a:lnTo>
                  <a:pt x="79811" y="1321901"/>
                </a:lnTo>
                <a:close/>
              </a:path>
              <a:path w="2078354" h="1356360">
                <a:moveTo>
                  <a:pt x="95249" y="1345692"/>
                </a:moveTo>
                <a:lnTo>
                  <a:pt x="79811" y="1321901"/>
                </a:lnTo>
                <a:lnTo>
                  <a:pt x="67817" y="1329690"/>
                </a:lnTo>
                <a:lnTo>
                  <a:pt x="52577" y="1306068"/>
                </a:lnTo>
                <a:lnTo>
                  <a:pt x="52577" y="1350471"/>
                </a:lnTo>
                <a:lnTo>
                  <a:pt x="95249" y="1345692"/>
                </a:lnTo>
                <a:close/>
              </a:path>
              <a:path w="2078354" h="1356360">
                <a:moveTo>
                  <a:pt x="2077973" y="24384"/>
                </a:moveTo>
                <a:lnTo>
                  <a:pt x="2062733" y="0"/>
                </a:lnTo>
                <a:lnTo>
                  <a:pt x="64506" y="1298317"/>
                </a:lnTo>
                <a:lnTo>
                  <a:pt x="79811" y="1321901"/>
                </a:lnTo>
                <a:lnTo>
                  <a:pt x="2077973" y="24384"/>
                </a:lnTo>
                <a:close/>
              </a:path>
            </a:pathLst>
          </a:custGeom>
          <a:solidFill>
            <a:srgbClr val="008000"/>
          </a:solidFill>
        </p:spPr>
        <p:txBody>
          <a:bodyPr wrap="square" lIns="0" tIns="0" rIns="0" bIns="0" rtlCol="0"/>
          <a:lstStyle/>
          <a:p>
            <a:endParaRPr/>
          </a:p>
        </p:txBody>
      </p:sp>
      <p:sp>
        <p:nvSpPr>
          <p:cNvPr id="40" name="object 40"/>
          <p:cNvSpPr txBox="1"/>
          <p:nvPr/>
        </p:nvSpPr>
        <p:spPr>
          <a:xfrm>
            <a:off x="2879851" y="4864815"/>
            <a:ext cx="1414780" cy="1445267"/>
          </a:xfrm>
          <a:prstGeom prst="rect">
            <a:avLst/>
          </a:prstGeom>
        </p:spPr>
        <p:txBody>
          <a:bodyPr vert="horz" wrap="square" lIns="0" tIns="12700" rIns="0" bIns="0" rtlCol="0">
            <a:spAutoFit/>
          </a:bodyPr>
          <a:lstStyle/>
          <a:p>
            <a:pPr marL="12700">
              <a:lnSpc>
                <a:spcPts val="2195"/>
              </a:lnSpc>
              <a:spcBef>
                <a:spcPts val="100"/>
              </a:spcBef>
            </a:pPr>
            <a:r>
              <a:rPr sz="1900" i="1" dirty="0">
                <a:solidFill>
                  <a:srgbClr val="FF0000"/>
                </a:solidFill>
                <a:latin typeface="Tahoma"/>
                <a:cs typeface="Tahoma"/>
              </a:rPr>
              <a:t>pkt 2 timeout</a:t>
            </a:r>
            <a:endParaRPr sz="1900">
              <a:latin typeface="Tahoma"/>
              <a:cs typeface="Tahoma"/>
            </a:endParaRPr>
          </a:p>
          <a:p>
            <a:pPr marL="570865">
              <a:lnSpc>
                <a:spcPts val="2075"/>
              </a:lnSpc>
            </a:pPr>
            <a:r>
              <a:rPr sz="1800" dirty="0">
                <a:latin typeface="Tahoma"/>
                <a:cs typeface="Tahoma"/>
              </a:rPr>
              <a:t>gửi pkt2</a:t>
            </a:r>
            <a:endParaRPr sz="1800">
              <a:latin typeface="Tahoma"/>
              <a:cs typeface="Tahoma"/>
            </a:endParaRPr>
          </a:p>
          <a:p>
            <a:pPr marL="88900" marR="41275" indent="-19050" algn="ctr">
              <a:lnSpc>
                <a:spcPct val="138900"/>
              </a:lnSpc>
              <a:spcBef>
                <a:spcPts val="25"/>
              </a:spcBef>
            </a:pPr>
            <a:r>
              <a:rPr sz="1400" dirty="0">
                <a:latin typeface="Tahoma"/>
                <a:cs typeface="Tahoma"/>
              </a:rPr>
              <a:t>ghi ack4 đã đến  ghi ack5 đã đến</a:t>
            </a:r>
            <a:endParaRPr sz="1400">
              <a:latin typeface="Tahoma"/>
              <a:cs typeface="Tahoma"/>
            </a:endParaRPr>
          </a:p>
        </p:txBody>
      </p:sp>
      <p:sp>
        <p:nvSpPr>
          <p:cNvPr id="41" name="object 41"/>
          <p:cNvSpPr/>
          <p:nvPr/>
        </p:nvSpPr>
        <p:spPr>
          <a:xfrm>
            <a:off x="5586984" y="5798820"/>
            <a:ext cx="929640" cy="586740"/>
          </a:xfrm>
          <a:custGeom>
            <a:avLst/>
            <a:gdLst/>
            <a:ahLst/>
            <a:cxnLst/>
            <a:rect l="l" t="t" r="r" b="b"/>
            <a:pathLst>
              <a:path w="929640" h="586739">
                <a:moveTo>
                  <a:pt x="64783" y="528850"/>
                </a:moveTo>
                <a:lnTo>
                  <a:pt x="49530" y="504444"/>
                </a:lnTo>
                <a:lnTo>
                  <a:pt x="0" y="586740"/>
                </a:lnTo>
                <a:lnTo>
                  <a:pt x="52578" y="581692"/>
                </a:lnTo>
                <a:lnTo>
                  <a:pt x="52578" y="536448"/>
                </a:lnTo>
                <a:lnTo>
                  <a:pt x="64783" y="528850"/>
                </a:lnTo>
                <a:close/>
              </a:path>
              <a:path w="929640" h="586739">
                <a:moveTo>
                  <a:pt x="80019" y="553226"/>
                </a:moveTo>
                <a:lnTo>
                  <a:pt x="64783" y="528850"/>
                </a:lnTo>
                <a:lnTo>
                  <a:pt x="52578" y="536448"/>
                </a:lnTo>
                <a:lnTo>
                  <a:pt x="67818" y="560832"/>
                </a:lnTo>
                <a:lnTo>
                  <a:pt x="80019" y="553226"/>
                </a:lnTo>
                <a:close/>
              </a:path>
              <a:path w="929640" h="586739">
                <a:moveTo>
                  <a:pt x="95250" y="577596"/>
                </a:moveTo>
                <a:lnTo>
                  <a:pt x="80019" y="553226"/>
                </a:lnTo>
                <a:lnTo>
                  <a:pt x="67818" y="560832"/>
                </a:lnTo>
                <a:lnTo>
                  <a:pt x="52578" y="536448"/>
                </a:lnTo>
                <a:lnTo>
                  <a:pt x="52578" y="581692"/>
                </a:lnTo>
                <a:lnTo>
                  <a:pt x="95250" y="577596"/>
                </a:lnTo>
                <a:close/>
              </a:path>
              <a:path w="929640" h="586739">
                <a:moveTo>
                  <a:pt x="929640" y="23621"/>
                </a:moveTo>
                <a:lnTo>
                  <a:pt x="914400" y="0"/>
                </a:lnTo>
                <a:lnTo>
                  <a:pt x="64783" y="528850"/>
                </a:lnTo>
                <a:lnTo>
                  <a:pt x="80019" y="553226"/>
                </a:lnTo>
                <a:lnTo>
                  <a:pt x="929640" y="23621"/>
                </a:lnTo>
                <a:close/>
              </a:path>
            </a:pathLst>
          </a:custGeom>
          <a:solidFill>
            <a:srgbClr val="008000"/>
          </a:solidFill>
        </p:spPr>
        <p:txBody>
          <a:bodyPr wrap="square" lIns="0" tIns="0" rIns="0" bIns="0" rtlCol="0"/>
          <a:lstStyle/>
          <a:p>
            <a:endParaRPr/>
          </a:p>
        </p:txBody>
      </p:sp>
      <p:sp>
        <p:nvSpPr>
          <p:cNvPr id="42" name="object 42"/>
          <p:cNvSpPr txBox="1"/>
          <p:nvPr/>
        </p:nvSpPr>
        <p:spPr>
          <a:xfrm>
            <a:off x="3309620" y="6338429"/>
            <a:ext cx="2562860" cy="534762"/>
          </a:xfrm>
          <a:prstGeom prst="rect">
            <a:avLst/>
          </a:prstGeom>
        </p:spPr>
        <p:txBody>
          <a:bodyPr vert="horz" wrap="square" lIns="0" tIns="11430" rIns="0" bIns="0" rtlCol="0">
            <a:spAutoFit/>
          </a:bodyPr>
          <a:lstStyle/>
          <a:p>
            <a:pPr marL="12700">
              <a:lnSpc>
                <a:spcPct val="100000"/>
              </a:lnSpc>
              <a:spcBef>
                <a:spcPts val="90"/>
              </a:spcBef>
            </a:pPr>
            <a:r>
              <a:rPr sz="1700" i="1" dirty="0">
                <a:latin typeface="Tahoma"/>
                <a:cs typeface="Tahoma"/>
              </a:rPr>
              <a:t>Điều gì xảy ra khi ack2 đến?</a:t>
            </a:r>
            <a:endParaRPr sz="1700">
              <a:latin typeface="Tahoma"/>
              <a:cs typeface="Tahoma"/>
            </a:endParaRPr>
          </a:p>
        </p:txBody>
      </p:sp>
      <p:sp>
        <p:nvSpPr>
          <p:cNvPr id="44" name="Slide Number Placeholder 43"/>
          <p:cNvSpPr>
            <a:spLocks noGrp="1"/>
          </p:cNvSpPr>
          <p:nvPr>
            <p:ph type="sldNum" sz="quarter" idx="7"/>
          </p:nvPr>
        </p:nvSpPr>
        <p:spPr/>
        <p:txBody>
          <a:bodyPr/>
          <a:lstStyle/>
          <a:p>
            <a:pPr marL="12700">
              <a:lnSpc>
                <a:spcPts val="1645"/>
              </a:lnSpc>
            </a:pPr>
            <a:fld id="{81D60167-4931-47E6-BA6A-407CBD079E47}" type="slidenum">
              <a:rPr lang="en-US" spc="-5" smtClean="0"/>
              <a:t>43</a:t>
            </a:fld>
            <a:endParaRPr lang="en-US" spc="-5" dirty="0"/>
          </a:p>
        </p:txBody>
      </p:sp>
    </p:spTree>
    <p:extLst>
      <p:ext uri="{BB962C8B-B14F-4D97-AF65-F5344CB8AC3E}">
        <p14:creationId xmlns:p14="http://schemas.microsoft.com/office/powerpoint/2010/main" val="11730552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spc="-5" dirty="0"/>
              <a:t>Chương 3: </a:t>
            </a:r>
            <a:r>
              <a:rPr dirty="0"/>
              <a:t>Tầng </a:t>
            </a:r>
            <a:r>
              <a:rPr spc="-5" dirty="0"/>
              <a:t>giao</a:t>
            </a:r>
            <a:r>
              <a:rPr spc="-160" dirty="0"/>
              <a:t> </a:t>
            </a:r>
            <a:r>
              <a:rPr spc="-5" dirty="0"/>
              <a:t>vận</a:t>
            </a:r>
          </a:p>
        </p:txBody>
      </p:sp>
      <p:sp>
        <p:nvSpPr>
          <p:cNvPr id="4" name="object 4"/>
          <p:cNvSpPr txBox="1"/>
          <p:nvPr/>
        </p:nvSpPr>
        <p:spPr>
          <a:xfrm>
            <a:off x="1193546" y="1780286"/>
            <a:ext cx="5403215" cy="2856551"/>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a:t>
            </a:r>
            <a:r>
              <a:rPr lang="en-US" sz="3200" spc="-5" dirty="0" err="1">
                <a:latin typeface="Arial"/>
                <a:cs typeface="Arial"/>
              </a:rPr>
              <a:t>tầng</a:t>
            </a:r>
            <a:r>
              <a:rPr lang="en-US" sz="3200" spc="-5" dirty="0">
                <a:latin typeface="Arial"/>
                <a:cs typeface="Arial"/>
              </a:rPr>
              <a:t> </a:t>
            </a:r>
            <a:r>
              <a:rPr lang="en-US" sz="3200" spc="-5" dirty="0" err="1">
                <a:latin typeface="Arial"/>
                <a:cs typeface="Arial"/>
              </a:rPr>
              <a:t>giao</a:t>
            </a:r>
            <a:r>
              <a:rPr lang="en-US" sz="3200" spc="-5" dirty="0">
                <a:latin typeface="Arial"/>
                <a:cs typeface="Arial"/>
              </a:rPr>
              <a:t> </a:t>
            </a:r>
            <a:r>
              <a:rPr lang="en-US" sz="3200" spc="-5" dirty="0" err="1">
                <a:latin typeface="Arial"/>
                <a:cs typeface="Arial"/>
              </a:rPr>
              <a:t>vận</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dirty="0" err="1">
                <a:latin typeface="Arial"/>
                <a:cs typeface="Arial"/>
              </a:rPr>
              <a:t>Dồn</a:t>
            </a:r>
            <a:r>
              <a:rPr lang="en-US" sz="3200" dirty="0">
                <a:latin typeface="Arial"/>
                <a:cs typeface="Arial"/>
              </a:rPr>
              <a:t> </a:t>
            </a:r>
            <a:r>
              <a:rPr lang="en-US" sz="3200" dirty="0" err="1">
                <a:latin typeface="Arial"/>
                <a:cs typeface="Arial"/>
              </a:rPr>
              <a:t>kênh</a:t>
            </a:r>
            <a:r>
              <a:rPr lang="en-US" sz="3200" dirty="0">
                <a:latin typeface="Arial"/>
                <a:cs typeface="Arial"/>
              </a:rPr>
              <a:t> </a:t>
            </a:r>
            <a:r>
              <a:rPr lang="en-US" sz="3200" dirty="0" err="1">
                <a:latin typeface="Arial"/>
                <a:cs typeface="Arial"/>
              </a:rPr>
              <a:t>và</a:t>
            </a:r>
            <a:r>
              <a:rPr lang="en-US" sz="3200" dirty="0">
                <a:latin typeface="Arial"/>
                <a:cs typeface="Arial"/>
              </a:rPr>
              <a:t> </a:t>
            </a:r>
            <a:r>
              <a:rPr lang="en-US" sz="3200" dirty="0" err="1">
                <a:latin typeface="Arial"/>
                <a:cs typeface="Arial"/>
              </a:rPr>
              <a:t>phân</a:t>
            </a:r>
            <a:r>
              <a:rPr lang="en-US" sz="3200" dirty="0">
                <a:latin typeface="Arial"/>
                <a:cs typeface="Arial"/>
              </a:rPr>
              <a:t> </a:t>
            </a:r>
            <a:r>
              <a:rPr lang="en-US" sz="3200" dirty="0" err="1">
                <a:latin typeface="Arial"/>
                <a:cs typeface="Arial"/>
              </a:rPr>
              <a:t>kênh</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20" dirty="0" err="1">
                <a:latin typeface="Arial"/>
                <a:cs typeface="Arial"/>
              </a:rPr>
              <a:t>Giao</a:t>
            </a:r>
            <a:r>
              <a:rPr lang="en-US" sz="3200" spc="-20" dirty="0">
                <a:latin typeface="Arial"/>
                <a:cs typeface="Arial"/>
              </a:rPr>
              <a:t> </a:t>
            </a:r>
            <a:r>
              <a:rPr lang="en-US" sz="3200" spc="-20" dirty="0" err="1">
                <a:latin typeface="Arial"/>
                <a:cs typeface="Arial"/>
              </a:rPr>
              <a:t>thức</a:t>
            </a:r>
            <a:r>
              <a:rPr sz="3200" spc="35" dirty="0">
                <a:latin typeface="Arial"/>
                <a:cs typeface="Arial"/>
              </a:rPr>
              <a:t> </a:t>
            </a:r>
            <a:r>
              <a:rPr sz="3200" spc="-5" dirty="0">
                <a:latin typeface="Arial"/>
                <a:cs typeface="Arial"/>
              </a:rPr>
              <a:t>UDP</a:t>
            </a:r>
            <a:endParaRPr sz="32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3200" spc="-5" dirty="0" err="1">
                <a:latin typeface="Arial"/>
                <a:cs typeface="Arial"/>
              </a:rPr>
              <a:t>T</a:t>
            </a:r>
            <a:r>
              <a:rPr sz="3200" spc="-5" dirty="0" err="1">
                <a:latin typeface="Arial"/>
                <a:cs typeface="Arial"/>
              </a:rPr>
              <a:t>ruyền</a:t>
            </a:r>
            <a:r>
              <a:rPr sz="3200" spc="-5" dirty="0">
                <a:latin typeface="Arial"/>
                <a:cs typeface="Arial"/>
              </a:rPr>
              <a:t> dữ liệu tin cậy</a:t>
            </a:r>
            <a:endParaRPr sz="3200" dirty="0">
              <a:latin typeface="Arial"/>
              <a:cs typeface="Arial"/>
            </a:endParaRPr>
          </a:p>
          <a:p>
            <a:pPr marL="355600" indent="-342900">
              <a:lnSpc>
                <a:spcPct val="100000"/>
              </a:lnSpc>
              <a:spcBef>
                <a:spcPts val="580"/>
              </a:spcBef>
              <a:buClr>
                <a:srgbClr val="3333CC"/>
              </a:buClr>
              <a:buSzPct val="83333"/>
              <a:buFont typeface="Wingdings"/>
              <a:buChar char=""/>
              <a:tabLst>
                <a:tab pos="355600" algn="l"/>
              </a:tabLst>
            </a:pPr>
            <a:r>
              <a:rPr lang="en-US" sz="3200" spc="-20" dirty="0" err="1">
                <a:solidFill>
                  <a:srgbClr val="FF0000"/>
                </a:solidFill>
                <a:latin typeface="Arial"/>
                <a:cs typeface="Arial"/>
              </a:rPr>
              <a:t>Giao</a:t>
            </a:r>
            <a:r>
              <a:rPr lang="en-US" sz="3200" spc="-20" dirty="0">
                <a:solidFill>
                  <a:srgbClr val="FF0000"/>
                </a:solidFill>
                <a:latin typeface="Arial"/>
                <a:cs typeface="Arial"/>
              </a:rPr>
              <a:t> </a:t>
            </a:r>
            <a:r>
              <a:rPr lang="en-US" sz="3200" spc="-20" dirty="0" err="1">
                <a:solidFill>
                  <a:srgbClr val="FF0000"/>
                </a:solidFill>
                <a:latin typeface="Arial"/>
                <a:cs typeface="Arial"/>
              </a:rPr>
              <a:t>thức</a:t>
            </a:r>
            <a:r>
              <a:rPr lang="en-US" sz="3200" spc="-20" dirty="0">
                <a:solidFill>
                  <a:srgbClr val="FF0000"/>
                </a:solidFill>
                <a:latin typeface="Arial"/>
                <a:cs typeface="Arial"/>
              </a:rPr>
              <a:t> TCP</a:t>
            </a:r>
            <a:endParaRPr sz="3200" dirty="0">
              <a:solidFill>
                <a:srgbClr val="FF0000"/>
              </a:solidFill>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44</a:t>
            </a:fld>
            <a:endParaRPr lang="en-US" spc="-5" dirty="0"/>
          </a:p>
        </p:txBody>
      </p:sp>
    </p:spTree>
    <p:extLst>
      <p:ext uri="{BB962C8B-B14F-4D97-AF65-F5344CB8AC3E}">
        <p14:creationId xmlns:p14="http://schemas.microsoft.com/office/powerpoint/2010/main" val="353932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TCP</a:t>
            </a:r>
            <a:endParaRPr spc="-5" dirty="0"/>
          </a:p>
        </p:txBody>
      </p:sp>
      <p:sp>
        <p:nvSpPr>
          <p:cNvPr id="3" name="object 3"/>
          <p:cNvSpPr txBox="1"/>
          <p:nvPr/>
        </p:nvSpPr>
        <p:spPr>
          <a:xfrm>
            <a:off x="1193546" y="1780286"/>
            <a:ext cx="5403215" cy="3120726"/>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Tổng</a:t>
            </a:r>
            <a:r>
              <a:rPr lang="en-US" sz="2800" spc="-5" dirty="0">
                <a:latin typeface="Arial"/>
                <a:cs typeface="Arial"/>
              </a:rPr>
              <a:t> </a:t>
            </a:r>
            <a:r>
              <a:rPr lang="en-US" sz="2800" spc="-5" dirty="0" err="1">
                <a:latin typeface="Arial"/>
                <a:cs typeface="Arial"/>
              </a:rPr>
              <a:t>quan</a:t>
            </a:r>
            <a:r>
              <a:rPr lang="en-US" sz="2800" spc="-5" dirty="0">
                <a:latin typeface="Arial"/>
                <a:cs typeface="Arial"/>
              </a:rPr>
              <a:t> </a:t>
            </a:r>
            <a:r>
              <a:rPr lang="en-US" sz="2800" spc="-5" dirty="0" err="1">
                <a:latin typeface="Arial"/>
                <a:cs typeface="Arial"/>
              </a:rPr>
              <a:t>về</a:t>
            </a:r>
            <a:r>
              <a:rPr lang="en-US" sz="28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Cấu</a:t>
            </a:r>
            <a:r>
              <a:rPr lang="en-US" sz="2800" spc="-5" dirty="0">
                <a:latin typeface="Arial"/>
                <a:cs typeface="Arial"/>
              </a:rPr>
              <a:t> </a:t>
            </a:r>
            <a:r>
              <a:rPr lang="en-US" sz="2800" spc="-5" dirty="0" err="1">
                <a:latin typeface="Arial"/>
                <a:cs typeface="Arial"/>
              </a:rPr>
              <a:t>trúc</a:t>
            </a:r>
            <a:r>
              <a:rPr lang="en-US" sz="2800" spc="-5" dirty="0">
                <a:latin typeface="Arial"/>
                <a:cs typeface="Arial"/>
              </a:rPr>
              <a:t> </a:t>
            </a:r>
            <a:r>
              <a:rPr lang="en-US" sz="2800" spc="-5" dirty="0" err="1">
                <a:latin typeface="Arial"/>
                <a:cs typeface="Arial"/>
              </a:rPr>
              <a:t>của</a:t>
            </a:r>
            <a:r>
              <a:rPr lang="en-US" sz="2800" spc="-5" dirty="0">
                <a:latin typeface="Arial"/>
                <a:cs typeface="Arial"/>
              </a:rPr>
              <a:t> TCP segment</a:t>
            </a:r>
          </a:p>
          <a:p>
            <a:pPr marL="355600" indent="-342900">
              <a:spcBef>
                <a:spcPts val="675"/>
              </a:spcBef>
              <a:buClr>
                <a:srgbClr val="3333CC"/>
              </a:buClr>
              <a:buSzPct val="83333"/>
              <a:buFont typeface="Wingdings"/>
              <a:buChar char=""/>
              <a:tabLst>
                <a:tab pos="355600" algn="l"/>
              </a:tabLst>
            </a:pPr>
            <a:r>
              <a:rPr lang="en-US" sz="2800" spc="-5" dirty="0" err="1">
                <a:latin typeface="Arial"/>
                <a:cs typeface="Arial"/>
              </a:rPr>
              <a:t>Thiết</a:t>
            </a:r>
            <a:r>
              <a:rPr lang="en-US" sz="2800" spc="-5" dirty="0">
                <a:latin typeface="Arial"/>
                <a:cs typeface="Arial"/>
              </a:rPr>
              <a:t> </a:t>
            </a:r>
            <a:r>
              <a:rPr lang="en-US" sz="2800" spc="-5" dirty="0" err="1">
                <a:latin typeface="Arial"/>
                <a:cs typeface="Arial"/>
              </a:rPr>
              <a:t>lập</a:t>
            </a:r>
            <a:r>
              <a:rPr lang="en-US" sz="2800" spc="-5" dirty="0">
                <a:latin typeface="Arial"/>
                <a:cs typeface="Arial"/>
              </a:rPr>
              <a:t> </a:t>
            </a:r>
            <a:r>
              <a:rPr lang="en-US" sz="2800" spc="-5" dirty="0" err="1">
                <a:latin typeface="Arial"/>
                <a:cs typeface="Arial"/>
              </a:rPr>
              <a:t>và</a:t>
            </a:r>
            <a:r>
              <a:rPr lang="en-US" sz="2800" spc="-5" dirty="0">
                <a:latin typeface="Arial"/>
                <a:cs typeface="Arial"/>
              </a:rPr>
              <a:t> </a:t>
            </a:r>
            <a:r>
              <a:rPr lang="en-US" sz="2800" spc="-5" dirty="0" err="1">
                <a:latin typeface="Arial"/>
                <a:cs typeface="Arial"/>
              </a:rPr>
              <a:t>giải</a:t>
            </a:r>
            <a:r>
              <a:rPr lang="en-US" sz="2800" spc="-5" dirty="0">
                <a:latin typeface="Arial"/>
                <a:cs typeface="Arial"/>
              </a:rPr>
              <a:t> </a:t>
            </a:r>
            <a:r>
              <a:rPr lang="en-US" sz="2800" spc="-5" dirty="0" err="1">
                <a:latin typeface="Arial"/>
                <a:cs typeface="Arial"/>
              </a:rPr>
              <a:t>phóng</a:t>
            </a:r>
            <a:r>
              <a:rPr lang="en-US" sz="2800" spc="-5" dirty="0">
                <a:latin typeface="Arial"/>
                <a:cs typeface="Arial"/>
              </a:rPr>
              <a:t> </a:t>
            </a:r>
            <a:r>
              <a:rPr lang="en-US" sz="2800" spc="-5" dirty="0" err="1">
                <a:latin typeface="Arial"/>
                <a:cs typeface="Arial"/>
              </a:rPr>
              <a:t>kết</a:t>
            </a:r>
            <a:r>
              <a:rPr lang="en-US" sz="2800" spc="-5" dirty="0">
                <a:latin typeface="Arial"/>
                <a:cs typeface="Arial"/>
              </a:rPr>
              <a:t> </a:t>
            </a:r>
            <a:r>
              <a:rPr lang="en-US" sz="2800" spc="-5" dirty="0" err="1">
                <a:latin typeface="Arial"/>
                <a:cs typeface="Arial"/>
              </a:rPr>
              <a:t>nối</a:t>
            </a:r>
            <a:endParaRPr lang="en-US" sz="28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Truyền</a:t>
            </a:r>
            <a:r>
              <a:rPr lang="en-US" sz="2800" spc="-5" dirty="0">
                <a:latin typeface="Arial"/>
                <a:cs typeface="Arial"/>
              </a:rPr>
              <a:t> </a:t>
            </a:r>
            <a:r>
              <a:rPr lang="en-US" sz="2800" spc="-5" dirty="0" err="1">
                <a:latin typeface="Arial"/>
                <a:cs typeface="Arial"/>
              </a:rPr>
              <a:t>dữ</a:t>
            </a:r>
            <a:r>
              <a:rPr lang="en-US" sz="2800" spc="-5" dirty="0">
                <a:latin typeface="Arial"/>
                <a:cs typeface="Arial"/>
              </a:rPr>
              <a:t> </a:t>
            </a:r>
            <a:r>
              <a:rPr lang="en-US" sz="2800" spc="-5" dirty="0" err="1">
                <a:latin typeface="Arial"/>
                <a:cs typeface="Arial"/>
              </a:rPr>
              <a:t>liệu</a:t>
            </a:r>
            <a:r>
              <a:rPr lang="en-US" sz="2800" spc="-5" dirty="0">
                <a:latin typeface="Arial"/>
                <a:cs typeface="Arial"/>
              </a:rPr>
              <a:t> tin </a:t>
            </a:r>
            <a:r>
              <a:rPr lang="en-US" sz="2800" spc="-5" dirty="0" err="1">
                <a:latin typeface="Arial"/>
                <a:cs typeface="Arial"/>
              </a:rPr>
              <a:t>cậy</a:t>
            </a:r>
            <a:r>
              <a:rPr lang="en-US" sz="2800" spc="-5" dirty="0">
                <a:latin typeface="Arial"/>
                <a:cs typeface="Arial"/>
              </a:rPr>
              <a:t> </a:t>
            </a:r>
            <a:r>
              <a:rPr lang="en-US" sz="2800" spc="-5" dirty="0" err="1">
                <a:latin typeface="Arial"/>
                <a:cs typeface="Arial"/>
              </a:rPr>
              <a:t>của</a:t>
            </a:r>
            <a:r>
              <a:rPr lang="en-US" sz="28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Điều</a:t>
            </a:r>
            <a:r>
              <a:rPr lang="en-US" sz="2800" spc="-5" dirty="0">
                <a:latin typeface="Arial"/>
                <a:cs typeface="Arial"/>
              </a:rPr>
              <a:t> </a:t>
            </a:r>
            <a:r>
              <a:rPr lang="en-US" sz="2800" spc="-5" dirty="0" err="1">
                <a:latin typeface="Arial"/>
                <a:cs typeface="Arial"/>
              </a:rPr>
              <a:t>khiển</a:t>
            </a:r>
            <a:r>
              <a:rPr lang="en-US" sz="2800" spc="-5" dirty="0">
                <a:latin typeface="Arial"/>
                <a:cs typeface="Arial"/>
              </a:rPr>
              <a:t> </a:t>
            </a:r>
            <a:r>
              <a:rPr lang="en-US" sz="2800" spc="-5" dirty="0" err="1">
                <a:latin typeface="Arial"/>
                <a:cs typeface="Arial"/>
              </a:rPr>
              <a:t>luồng</a:t>
            </a:r>
            <a:endParaRPr lang="en-US" sz="28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2800" spc="-5" dirty="0" err="1">
                <a:latin typeface="Arial"/>
                <a:cs typeface="Arial"/>
              </a:rPr>
              <a:t>Điều</a:t>
            </a:r>
            <a:r>
              <a:rPr lang="en-US" sz="2800" spc="-5" dirty="0">
                <a:latin typeface="Arial"/>
                <a:cs typeface="Arial"/>
              </a:rPr>
              <a:t> </a:t>
            </a:r>
            <a:r>
              <a:rPr lang="en-US" sz="2800" spc="-5" dirty="0" err="1">
                <a:latin typeface="Arial"/>
                <a:cs typeface="Arial"/>
              </a:rPr>
              <a:t>khiển</a:t>
            </a:r>
            <a:r>
              <a:rPr lang="en-US" sz="2800" spc="-5" dirty="0">
                <a:latin typeface="Arial"/>
                <a:cs typeface="Arial"/>
              </a:rPr>
              <a:t> </a:t>
            </a:r>
            <a:r>
              <a:rPr lang="en-US" sz="2800" spc="-5" dirty="0" err="1">
                <a:latin typeface="Arial"/>
                <a:cs typeface="Arial"/>
              </a:rPr>
              <a:t>tắc</a:t>
            </a:r>
            <a:r>
              <a:rPr lang="en-US" sz="2800" spc="-5" dirty="0">
                <a:latin typeface="Arial"/>
                <a:cs typeface="Arial"/>
              </a:rPr>
              <a:t> </a:t>
            </a:r>
            <a:r>
              <a:rPr lang="en-US" sz="2800" spc="-5" dirty="0" err="1">
                <a:latin typeface="Arial"/>
                <a:cs typeface="Arial"/>
              </a:rPr>
              <a:t>nghẽn</a:t>
            </a:r>
            <a:endParaRPr sz="28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45</a:t>
            </a:fld>
            <a:endParaRPr lang="en-US" spc="-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91794" y="668527"/>
            <a:ext cx="5890006" cy="948978"/>
          </a:xfrm>
          <a:prstGeom prst="rect">
            <a:avLst/>
          </a:prstGeom>
        </p:spPr>
        <p:txBody>
          <a:bodyPr vert="horz" wrap="square" lIns="0" tIns="12700" rIns="0" bIns="0" rtlCol="0">
            <a:spAutoFit/>
          </a:bodyPr>
          <a:lstStyle/>
          <a:p>
            <a:pPr marL="12700">
              <a:lnSpc>
                <a:spcPct val="100000"/>
              </a:lnSpc>
              <a:spcBef>
                <a:spcPts val="100"/>
              </a:spcBef>
            </a:pPr>
            <a:r>
              <a:rPr lang="en-US" sz="4000" dirty="0" err="1"/>
              <a:t>Tổng</a:t>
            </a:r>
            <a:r>
              <a:rPr lang="en-US" sz="4000" dirty="0"/>
              <a:t> </a:t>
            </a:r>
            <a:r>
              <a:rPr lang="en-US" sz="4000" dirty="0" err="1"/>
              <a:t>quan</a:t>
            </a:r>
            <a:r>
              <a:rPr lang="en-US" sz="4000" dirty="0"/>
              <a:t> </a:t>
            </a:r>
            <a:r>
              <a:rPr lang="en-US" sz="4000" dirty="0" err="1"/>
              <a:t>về</a:t>
            </a:r>
            <a:r>
              <a:rPr lang="en-US" sz="4000" dirty="0"/>
              <a:t> </a:t>
            </a:r>
            <a:r>
              <a:rPr sz="4000" dirty="0"/>
              <a:t>TCP</a:t>
            </a:r>
          </a:p>
          <a:p>
            <a:pPr marL="12700">
              <a:lnSpc>
                <a:spcPct val="100000"/>
              </a:lnSpc>
              <a:spcBef>
                <a:spcPts val="55"/>
              </a:spcBef>
            </a:pPr>
            <a:r>
              <a:rPr sz="2000" dirty="0"/>
              <a:t>RFCs: 793,1122,1323, 2018, 2581</a:t>
            </a:r>
          </a:p>
        </p:txBody>
      </p:sp>
      <p:sp>
        <p:nvSpPr>
          <p:cNvPr id="4" name="object 4"/>
          <p:cNvSpPr txBox="1">
            <a:spLocks noGrp="1"/>
          </p:cNvSpPr>
          <p:nvPr>
            <p:ph sz="half" idx="3"/>
          </p:nvPr>
        </p:nvSpPr>
        <p:spPr>
          <a:xfrm>
            <a:off x="5346446" y="2034794"/>
            <a:ext cx="3703320" cy="2559675"/>
          </a:xfrm>
          <a:prstGeom prst="rect">
            <a:avLst/>
          </a:prstGeom>
        </p:spPr>
        <p:txBody>
          <a:bodyPr vert="horz" wrap="square" lIns="0" tIns="12700" rIns="0" bIns="0" rtlCol="0">
            <a:spAutoFit/>
          </a:bodyPr>
          <a:lstStyle/>
          <a:p>
            <a:pPr marL="355600" indent="-342900">
              <a:lnSpc>
                <a:spcPct val="100000"/>
              </a:lnSpc>
              <a:spcBef>
                <a:spcPts val="565"/>
              </a:spcBef>
              <a:buClr>
                <a:srgbClr val="3333CC"/>
              </a:buClr>
              <a:buSzPct val="83333"/>
              <a:buFont typeface="Wingdings"/>
              <a:buChar char=""/>
              <a:tabLst>
                <a:tab pos="355600" algn="l"/>
              </a:tabLst>
            </a:pPr>
            <a:r>
              <a:rPr lang="en-US" dirty="0" err="1"/>
              <a:t>Đ</a:t>
            </a:r>
            <a:r>
              <a:rPr dirty="0" err="1"/>
              <a:t>iều</a:t>
            </a:r>
            <a:r>
              <a:rPr dirty="0"/>
              <a:t> khiển luồng:</a:t>
            </a:r>
          </a:p>
          <a:p>
            <a:pPr marL="755650" marR="5080" lvl="1" indent="-285750">
              <a:lnSpc>
                <a:spcPct val="100000"/>
              </a:lnSpc>
              <a:spcBef>
                <a:spcPts val="490"/>
              </a:spcBef>
              <a:buClr>
                <a:srgbClr val="3333CC"/>
              </a:buClr>
              <a:buSzPct val="75000"/>
              <a:buFont typeface="Wingdings"/>
              <a:buChar char=""/>
              <a:tabLst>
                <a:tab pos="755650" algn="l"/>
              </a:tabLst>
            </a:pPr>
            <a:r>
              <a:rPr sz="2000" dirty="0">
                <a:latin typeface="Arial"/>
                <a:cs typeface="Arial"/>
              </a:rPr>
              <a:t>bên gửi không làm quá tải  </a:t>
            </a:r>
            <a:r>
              <a:rPr sz="2000" dirty="0" err="1">
                <a:latin typeface="Arial"/>
                <a:cs typeface="Arial"/>
              </a:rPr>
              <a:t>bên</a:t>
            </a:r>
            <a:r>
              <a:rPr sz="2000" dirty="0">
                <a:latin typeface="Arial"/>
                <a:cs typeface="Arial"/>
              </a:rPr>
              <a:t> </a:t>
            </a:r>
            <a:r>
              <a:rPr sz="2000" dirty="0" err="1">
                <a:latin typeface="Arial"/>
                <a:cs typeface="Arial"/>
              </a:rPr>
              <a:t>nhận</a:t>
            </a:r>
            <a:endParaRPr lang="en-US" sz="2000" dirty="0">
              <a:latin typeface="Arial"/>
              <a:cs typeface="Arial"/>
            </a:endParaRPr>
          </a:p>
          <a:p>
            <a:pPr marL="355600" indent="-342900">
              <a:lnSpc>
                <a:spcPct val="100000"/>
              </a:lnSpc>
              <a:spcBef>
                <a:spcPts val="565"/>
              </a:spcBef>
              <a:buClr>
                <a:srgbClr val="3333CC"/>
              </a:buClr>
              <a:buSzPct val="83333"/>
              <a:buFont typeface="Wingdings"/>
              <a:buChar char=""/>
              <a:tabLst>
                <a:tab pos="355600" algn="l"/>
              </a:tabLst>
            </a:pPr>
            <a:r>
              <a:rPr lang="en-US" dirty="0" err="1"/>
              <a:t>Điều</a:t>
            </a:r>
            <a:r>
              <a:rPr lang="en-US" dirty="0"/>
              <a:t> </a:t>
            </a:r>
            <a:r>
              <a:rPr lang="en-US" dirty="0" err="1"/>
              <a:t>tắc</a:t>
            </a:r>
            <a:r>
              <a:rPr lang="en-US" dirty="0"/>
              <a:t> </a:t>
            </a:r>
            <a:r>
              <a:rPr lang="en-US" dirty="0" err="1"/>
              <a:t>nghẽn</a:t>
            </a:r>
            <a:r>
              <a:rPr lang="en-US" dirty="0"/>
              <a:t>:</a:t>
            </a:r>
          </a:p>
          <a:p>
            <a:pPr marL="755650" marR="5080"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Việc</a:t>
            </a:r>
            <a:r>
              <a:rPr lang="en-US" sz="2000" dirty="0">
                <a:latin typeface="Arial"/>
                <a:cs typeface="Arial"/>
              </a:rPr>
              <a:t> </a:t>
            </a:r>
            <a:r>
              <a:rPr lang="en-US" sz="2000" dirty="0" err="1">
                <a:latin typeface="Arial"/>
                <a:cs typeface="Arial"/>
              </a:rPr>
              <a:t>truyền</a:t>
            </a:r>
            <a:r>
              <a:rPr lang="en-US" sz="2000" dirty="0">
                <a:latin typeface="Arial"/>
                <a:cs typeface="Arial"/>
              </a:rPr>
              <a:t> </a:t>
            </a: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a:t>
            </a:r>
            <a:r>
              <a:rPr lang="en-US" sz="2000" dirty="0" err="1">
                <a:latin typeface="Arial"/>
                <a:cs typeface="Arial"/>
              </a:rPr>
              <a:t>không</a:t>
            </a:r>
            <a:r>
              <a:rPr lang="en-US" sz="2000" dirty="0">
                <a:latin typeface="Arial"/>
                <a:cs typeface="Arial"/>
              </a:rPr>
              <a:t> </a:t>
            </a:r>
            <a:r>
              <a:rPr lang="en-US" sz="2000" dirty="0" err="1">
                <a:latin typeface="Arial"/>
                <a:cs typeface="Arial"/>
              </a:rPr>
              <a:t>nên</a:t>
            </a:r>
            <a:r>
              <a:rPr lang="en-US" sz="2000" dirty="0">
                <a:latin typeface="Arial"/>
                <a:cs typeface="Arial"/>
              </a:rPr>
              <a:t> </a:t>
            </a:r>
            <a:r>
              <a:rPr lang="en-US" sz="2000" dirty="0" err="1">
                <a:latin typeface="Arial"/>
                <a:cs typeface="Arial"/>
              </a:rPr>
              <a:t>làm</a:t>
            </a:r>
            <a:r>
              <a:rPr lang="en-US" sz="2000" dirty="0">
                <a:latin typeface="Arial"/>
                <a:cs typeface="Arial"/>
              </a:rPr>
              <a:t> </a:t>
            </a:r>
            <a:r>
              <a:rPr lang="en-US" sz="2000" dirty="0" err="1">
                <a:latin typeface="Arial"/>
                <a:cs typeface="Arial"/>
              </a:rPr>
              <a:t>tắc</a:t>
            </a:r>
            <a:r>
              <a:rPr lang="en-US" sz="2000" dirty="0">
                <a:latin typeface="Arial"/>
                <a:cs typeface="Arial"/>
              </a:rPr>
              <a:t> </a:t>
            </a:r>
            <a:r>
              <a:rPr lang="en-US" sz="2000" dirty="0" err="1">
                <a:latin typeface="Arial"/>
                <a:cs typeface="Arial"/>
              </a:rPr>
              <a:t>nghẽn</a:t>
            </a:r>
            <a:r>
              <a:rPr lang="en-US" sz="2000" dirty="0">
                <a:latin typeface="Arial"/>
                <a:cs typeface="Arial"/>
              </a:rPr>
              <a:t> </a:t>
            </a:r>
            <a:r>
              <a:rPr lang="en-US" sz="2000" dirty="0" err="1">
                <a:latin typeface="Arial"/>
                <a:cs typeface="Arial"/>
              </a:rPr>
              <a:t>mạng</a:t>
            </a:r>
            <a:endParaRPr lang="en-US" sz="2000" dirty="0">
              <a:latin typeface="Arial"/>
              <a:cs typeface="Arial"/>
            </a:endParaRPr>
          </a:p>
          <a:p>
            <a:pPr marL="755650" marR="5080" lvl="1" indent="-285750">
              <a:lnSpc>
                <a:spcPct val="100000"/>
              </a:lnSpc>
              <a:spcBef>
                <a:spcPts val="490"/>
              </a:spcBef>
              <a:buClr>
                <a:srgbClr val="3333CC"/>
              </a:buClr>
              <a:buSzPct val="75000"/>
              <a:buFont typeface="Wingdings"/>
              <a:buChar char=""/>
              <a:tabLst>
                <a:tab pos="755650" algn="l"/>
              </a:tabLst>
            </a:pPr>
            <a:endParaRPr sz="2000" dirty="0">
              <a:latin typeface="Arial"/>
              <a:cs typeface="Arial"/>
            </a:endParaRPr>
          </a:p>
        </p:txBody>
      </p:sp>
      <p:sp>
        <p:nvSpPr>
          <p:cNvPr id="5" name="object 5"/>
          <p:cNvSpPr txBox="1"/>
          <p:nvPr/>
        </p:nvSpPr>
        <p:spPr>
          <a:xfrm>
            <a:off x="1107439" y="2024888"/>
            <a:ext cx="3672840" cy="4544834"/>
          </a:xfrm>
          <a:prstGeom prst="rect">
            <a:avLst/>
          </a:prstGeom>
        </p:spPr>
        <p:txBody>
          <a:bodyPr vert="horz" wrap="square" lIns="0" tIns="12700" rIns="0" bIns="0" rtlCol="0">
            <a:spAutoFit/>
          </a:bodyPr>
          <a:lstStyle/>
          <a:p>
            <a:pPr marL="355600" marR="214629" indent="-342900">
              <a:spcBef>
                <a:spcPts val="565"/>
              </a:spcBef>
              <a:buClr>
                <a:srgbClr val="3333CC"/>
              </a:buClr>
              <a:buSzPct val="83333"/>
              <a:buFont typeface="Wingdings"/>
              <a:buChar char=""/>
              <a:tabLst>
                <a:tab pos="355600" algn="l"/>
              </a:tabLst>
            </a:pPr>
            <a:r>
              <a:rPr lang="en-US" sz="2400" dirty="0" err="1">
                <a:solidFill>
                  <a:srgbClr val="CC0000"/>
                </a:solidFill>
                <a:latin typeface="Arial"/>
                <a:cs typeface="Arial"/>
              </a:rPr>
              <a:t>hướng</a:t>
            </a:r>
            <a:r>
              <a:rPr lang="en-US" sz="2400" dirty="0">
                <a:solidFill>
                  <a:srgbClr val="CC0000"/>
                </a:solidFill>
                <a:latin typeface="Arial"/>
                <a:cs typeface="Arial"/>
              </a:rPr>
              <a:t> </a:t>
            </a:r>
            <a:r>
              <a:rPr lang="en-US" sz="2400" dirty="0" err="1">
                <a:solidFill>
                  <a:srgbClr val="CC0000"/>
                </a:solidFill>
                <a:latin typeface="Arial"/>
                <a:cs typeface="Arial"/>
              </a:rPr>
              <a:t>kết</a:t>
            </a:r>
            <a:r>
              <a:rPr lang="en-US" sz="2400" dirty="0">
                <a:solidFill>
                  <a:srgbClr val="CC0000"/>
                </a:solidFill>
                <a:latin typeface="Arial"/>
                <a:cs typeface="Arial"/>
              </a:rPr>
              <a:t> </a:t>
            </a:r>
            <a:r>
              <a:rPr lang="en-US" sz="2400" dirty="0" err="1">
                <a:solidFill>
                  <a:srgbClr val="CC0000"/>
                </a:solidFill>
                <a:latin typeface="Arial"/>
                <a:cs typeface="Arial"/>
              </a:rPr>
              <a:t>nối</a:t>
            </a:r>
            <a:r>
              <a:rPr lang="en-US" sz="2400" dirty="0">
                <a:solidFill>
                  <a:srgbClr val="CC0000"/>
                </a:solidFill>
                <a:latin typeface="Arial"/>
                <a:cs typeface="Arial"/>
              </a:rPr>
              <a:t>  (connection-oriented):</a:t>
            </a:r>
          </a:p>
          <a:p>
            <a:pPr marL="755650" marR="244475"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Bắt</a:t>
            </a:r>
            <a:r>
              <a:rPr lang="en-US" sz="2000" dirty="0">
                <a:latin typeface="Arial"/>
                <a:cs typeface="Arial"/>
              </a:rPr>
              <a:t> </a:t>
            </a:r>
            <a:r>
              <a:rPr lang="en-US" sz="2000" dirty="0" err="1">
                <a:latin typeface="Arial"/>
                <a:cs typeface="Arial"/>
              </a:rPr>
              <a:t>tay</a:t>
            </a:r>
            <a:r>
              <a:rPr lang="en-US" sz="2000" dirty="0">
                <a:latin typeface="Arial"/>
                <a:cs typeface="Arial"/>
              </a:rPr>
              <a:t> </a:t>
            </a:r>
            <a:r>
              <a:rPr lang="en-US" sz="2000" dirty="0" err="1">
                <a:latin typeface="Arial"/>
                <a:cs typeface="Arial"/>
              </a:rPr>
              <a:t>ba</a:t>
            </a:r>
            <a:r>
              <a:rPr lang="en-US" sz="2000" dirty="0">
                <a:latin typeface="Arial"/>
                <a:cs typeface="Arial"/>
              </a:rPr>
              <a:t> </a:t>
            </a:r>
            <a:r>
              <a:rPr lang="en-US" sz="2000" dirty="0" err="1">
                <a:latin typeface="Arial"/>
                <a:cs typeface="Arial"/>
              </a:rPr>
              <a:t>bước</a:t>
            </a:r>
            <a:r>
              <a:rPr lang="en-US" sz="2000" dirty="0">
                <a:latin typeface="Arial"/>
                <a:cs typeface="Arial"/>
              </a:rPr>
              <a:t> (handshaking) </a:t>
            </a:r>
          </a:p>
          <a:p>
            <a:pPr marL="355600" marR="214629" indent="-342900">
              <a:lnSpc>
                <a:spcPct val="100000"/>
              </a:lnSpc>
              <a:spcBef>
                <a:spcPts val="565"/>
              </a:spcBef>
              <a:buClr>
                <a:srgbClr val="3333CC"/>
              </a:buClr>
              <a:buSzPct val="83333"/>
              <a:buFont typeface="Wingdings"/>
              <a:buChar char=""/>
              <a:tabLst>
                <a:tab pos="355600" algn="l"/>
              </a:tabLst>
            </a:pPr>
            <a:r>
              <a:rPr lang="en-US" sz="2400" dirty="0" err="1">
                <a:solidFill>
                  <a:srgbClr val="CC0000"/>
                </a:solidFill>
                <a:latin typeface="Arial"/>
                <a:cs typeface="Arial"/>
              </a:rPr>
              <a:t>Giao</a:t>
            </a:r>
            <a:r>
              <a:rPr lang="en-US" sz="2400" dirty="0">
                <a:solidFill>
                  <a:srgbClr val="CC0000"/>
                </a:solidFill>
                <a:latin typeface="Arial"/>
                <a:cs typeface="Arial"/>
              </a:rPr>
              <a:t> </a:t>
            </a:r>
            <a:r>
              <a:rPr lang="en-US" sz="2400" dirty="0" err="1">
                <a:solidFill>
                  <a:srgbClr val="CC0000"/>
                </a:solidFill>
                <a:latin typeface="Arial"/>
                <a:cs typeface="Arial"/>
              </a:rPr>
              <a:t>thức</a:t>
            </a:r>
            <a:r>
              <a:rPr lang="en-US" sz="2400" dirty="0">
                <a:solidFill>
                  <a:srgbClr val="CC0000"/>
                </a:solidFill>
                <a:latin typeface="Arial"/>
                <a:cs typeface="Arial"/>
              </a:rPr>
              <a:t> </a:t>
            </a:r>
            <a:r>
              <a:rPr lang="en-US" sz="2400" dirty="0" err="1">
                <a:solidFill>
                  <a:srgbClr val="CC0000"/>
                </a:solidFill>
                <a:latin typeface="Arial"/>
                <a:cs typeface="Arial"/>
              </a:rPr>
              <a:t>truyền</a:t>
            </a:r>
            <a:r>
              <a:rPr lang="en-US" sz="2400" dirty="0">
                <a:solidFill>
                  <a:srgbClr val="CC0000"/>
                </a:solidFill>
                <a:latin typeface="Arial"/>
                <a:cs typeface="Arial"/>
              </a:rPr>
              <a:t> </a:t>
            </a:r>
            <a:r>
              <a:rPr lang="en-US" sz="2400" dirty="0" err="1">
                <a:solidFill>
                  <a:srgbClr val="CC0000"/>
                </a:solidFill>
                <a:latin typeface="Arial"/>
                <a:cs typeface="Arial"/>
              </a:rPr>
              <a:t>dữ</a:t>
            </a:r>
            <a:r>
              <a:rPr lang="en-US" sz="2400" dirty="0">
                <a:solidFill>
                  <a:srgbClr val="CC0000"/>
                </a:solidFill>
                <a:latin typeface="Arial"/>
                <a:cs typeface="Arial"/>
              </a:rPr>
              <a:t> </a:t>
            </a:r>
            <a:r>
              <a:rPr sz="2400" dirty="0">
                <a:solidFill>
                  <a:srgbClr val="CC0000"/>
                </a:solidFill>
                <a:latin typeface="Arial"/>
                <a:cs typeface="Arial"/>
              </a:rPr>
              <a:t>tin </a:t>
            </a:r>
            <a:r>
              <a:rPr sz="2400" dirty="0" err="1">
                <a:solidFill>
                  <a:srgbClr val="CC0000"/>
                </a:solidFill>
                <a:latin typeface="Arial"/>
                <a:cs typeface="Arial"/>
              </a:rPr>
              <a:t>cậy</a:t>
            </a:r>
            <a:r>
              <a:rPr sz="2400" dirty="0">
                <a:solidFill>
                  <a:srgbClr val="CC0000"/>
                </a:solidFill>
                <a:latin typeface="Arial"/>
                <a:cs typeface="Arial"/>
              </a:rPr>
              <a:t>,</a:t>
            </a:r>
            <a:r>
              <a:rPr lang="en-US" sz="2400" dirty="0">
                <a:solidFill>
                  <a:srgbClr val="CC0000"/>
                </a:solidFill>
                <a:latin typeface="Arial"/>
                <a:cs typeface="Arial"/>
              </a:rPr>
              <a:t> </a:t>
            </a:r>
            <a:r>
              <a:rPr lang="en-US" sz="2400" dirty="0" err="1">
                <a:solidFill>
                  <a:srgbClr val="CC0000"/>
                </a:solidFill>
                <a:latin typeface="Arial"/>
                <a:cs typeface="Arial"/>
              </a:rPr>
              <a:t>truyền</a:t>
            </a:r>
            <a:r>
              <a:rPr lang="en-US" sz="2400" dirty="0">
                <a:solidFill>
                  <a:srgbClr val="CC0000"/>
                </a:solidFill>
                <a:latin typeface="Arial"/>
                <a:cs typeface="Arial"/>
              </a:rPr>
              <a:t> </a:t>
            </a:r>
            <a:r>
              <a:rPr lang="en-US" sz="2400" dirty="0" err="1">
                <a:solidFill>
                  <a:srgbClr val="CC0000"/>
                </a:solidFill>
                <a:latin typeface="Arial"/>
                <a:cs typeface="Arial"/>
              </a:rPr>
              <a:t>theo</a:t>
            </a:r>
            <a:r>
              <a:rPr lang="en-US" sz="2400" dirty="0">
                <a:solidFill>
                  <a:srgbClr val="CC0000"/>
                </a:solidFill>
                <a:latin typeface="Arial"/>
                <a:cs typeface="Arial"/>
              </a:rPr>
              <a:t> </a:t>
            </a:r>
            <a:r>
              <a:rPr sz="2400" dirty="0" err="1">
                <a:solidFill>
                  <a:srgbClr val="CC0000"/>
                </a:solidFill>
                <a:latin typeface="Arial"/>
                <a:cs typeface="Arial"/>
              </a:rPr>
              <a:t>chuỗi</a:t>
            </a:r>
            <a:r>
              <a:rPr sz="2400" dirty="0">
                <a:solidFill>
                  <a:srgbClr val="CC0000"/>
                </a:solidFill>
                <a:latin typeface="Arial"/>
                <a:cs typeface="Arial"/>
              </a:rPr>
              <a:t> byte đảm  bảo thứ tự</a:t>
            </a:r>
            <a:r>
              <a:rPr sz="2400" i="1" dirty="0">
                <a:solidFill>
                  <a:srgbClr val="CC0000"/>
                </a:solidFill>
                <a:latin typeface="Arial"/>
                <a:cs typeface="Arial"/>
              </a:rPr>
              <a:t>:</a:t>
            </a:r>
            <a:endParaRPr sz="2400" dirty="0">
              <a:latin typeface="Arial"/>
              <a:cs typeface="Arial"/>
            </a:endParaRPr>
          </a:p>
          <a:p>
            <a:pPr marL="755650" lvl="1" indent="-285750">
              <a:lnSpc>
                <a:spcPct val="100000"/>
              </a:lnSpc>
              <a:spcBef>
                <a:spcPts val="490"/>
              </a:spcBef>
              <a:buClr>
                <a:srgbClr val="3333CC"/>
              </a:buClr>
              <a:buSzPct val="75000"/>
              <a:buFont typeface="Wingdings"/>
              <a:buChar char=""/>
              <a:tabLst>
                <a:tab pos="755650" algn="l"/>
              </a:tabLst>
            </a:pPr>
            <a:r>
              <a:rPr lang="en-US" sz="2000" dirty="0" err="1">
                <a:latin typeface="Arial"/>
                <a:cs typeface="Arial"/>
              </a:rPr>
              <a:t>Sử</a:t>
            </a:r>
            <a:r>
              <a:rPr lang="en-US" sz="2000" dirty="0">
                <a:latin typeface="Arial"/>
                <a:cs typeface="Arial"/>
              </a:rPr>
              <a:t> </a:t>
            </a:r>
            <a:r>
              <a:rPr lang="en-US" sz="2000" dirty="0" err="1">
                <a:latin typeface="Arial"/>
                <a:cs typeface="Arial"/>
              </a:rPr>
              <a:t>dụng</a:t>
            </a:r>
            <a:r>
              <a:rPr lang="en-US" sz="2000" dirty="0">
                <a:latin typeface="Arial"/>
                <a:cs typeface="Arial"/>
              </a:rPr>
              <a:t> </a:t>
            </a:r>
            <a:r>
              <a:rPr lang="en-US" sz="2000" dirty="0" err="1">
                <a:latin typeface="Arial"/>
                <a:cs typeface="Arial"/>
              </a:rPr>
              <a:t>vùng</a:t>
            </a:r>
            <a:r>
              <a:rPr lang="en-US" sz="2000" dirty="0">
                <a:latin typeface="Arial"/>
                <a:cs typeface="Arial"/>
              </a:rPr>
              <a:t> </a:t>
            </a:r>
            <a:r>
              <a:rPr lang="en-US" sz="2000" dirty="0" err="1">
                <a:latin typeface="Arial"/>
                <a:cs typeface="Arial"/>
              </a:rPr>
              <a:t>đệm</a:t>
            </a:r>
            <a:endParaRPr sz="2000" dirty="0">
              <a:latin typeface="Arial"/>
              <a:cs typeface="Arial"/>
            </a:endParaRPr>
          </a:p>
          <a:p>
            <a:pPr marL="355600" indent="-342900">
              <a:lnSpc>
                <a:spcPct val="100000"/>
              </a:lnSpc>
              <a:spcBef>
                <a:spcPts val="565"/>
              </a:spcBef>
              <a:buClr>
                <a:srgbClr val="3333CC"/>
              </a:buClr>
              <a:buSzPct val="83333"/>
              <a:buFont typeface="Wingdings"/>
              <a:buChar char=""/>
              <a:tabLst>
                <a:tab pos="355600" algn="l"/>
              </a:tabLst>
            </a:pPr>
            <a:r>
              <a:rPr lang="en-US" sz="2400" dirty="0" err="1">
                <a:solidFill>
                  <a:srgbClr val="CC0000"/>
                </a:solidFill>
                <a:latin typeface="Arial"/>
                <a:cs typeface="Arial"/>
              </a:rPr>
              <a:t>Truyền</a:t>
            </a:r>
            <a:r>
              <a:rPr lang="en-US" sz="2400" dirty="0">
                <a:solidFill>
                  <a:srgbClr val="CC0000"/>
                </a:solidFill>
                <a:latin typeface="Arial"/>
                <a:cs typeface="Arial"/>
              </a:rPr>
              <a:t> </a:t>
            </a:r>
            <a:r>
              <a:rPr lang="en-US" sz="2400" dirty="0" err="1">
                <a:solidFill>
                  <a:srgbClr val="CC0000"/>
                </a:solidFill>
                <a:latin typeface="Arial"/>
                <a:cs typeface="Arial"/>
              </a:rPr>
              <a:t>theo</a:t>
            </a:r>
            <a:r>
              <a:rPr lang="en-US" sz="2400" dirty="0">
                <a:solidFill>
                  <a:srgbClr val="CC0000"/>
                </a:solidFill>
                <a:latin typeface="Arial"/>
                <a:cs typeface="Arial"/>
              </a:rPr>
              <a:t> </a:t>
            </a:r>
            <a:r>
              <a:rPr lang="en-US" sz="2400" dirty="0" err="1">
                <a:solidFill>
                  <a:srgbClr val="CC0000"/>
                </a:solidFill>
                <a:latin typeface="Arial"/>
                <a:cs typeface="Arial"/>
              </a:rPr>
              <a:t>kiểu</a:t>
            </a:r>
            <a:r>
              <a:rPr lang="en-US" sz="2400" dirty="0">
                <a:solidFill>
                  <a:srgbClr val="CC0000"/>
                </a:solidFill>
                <a:latin typeface="Arial"/>
                <a:cs typeface="Arial"/>
              </a:rPr>
              <a:t> </a:t>
            </a:r>
            <a:r>
              <a:rPr sz="2400" dirty="0" err="1">
                <a:solidFill>
                  <a:srgbClr val="CC0000"/>
                </a:solidFill>
                <a:latin typeface="Arial"/>
                <a:cs typeface="Arial"/>
              </a:rPr>
              <a:t>liên</a:t>
            </a:r>
            <a:r>
              <a:rPr sz="2400" dirty="0">
                <a:solidFill>
                  <a:srgbClr val="CC0000"/>
                </a:solidFill>
                <a:latin typeface="Arial"/>
                <a:cs typeface="Arial"/>
              </a:rPr>
              <a:t> tục (pipelined):</a:t>
            </a:r>
            <a:r>
              <a:rPr lang="en-US" sz="2400" dirty="0">
                <a:solidFill>
                  <a:srgbClr val="CC0000"/>
                </a:solidFill>
                <a:latin typeface="Arial"/>
                <a:cs typeface="Arial"/>
              </a:rPr>
              <a:t> </a:t>
            </a:r>
            <a:endParaRPr sz="2400" dirty="0">
              <a:latin typeface="Arial"/>
              <a:cs typeface="Arial"/>
            </a:endParaRPr>
          </a:p>
          <a:p>
            <a:pPr marL="755650" marR="64769" lvl="1" indent="-285750" algn="just">
              <a:lnSpc>
                <a:spcPct val="100000"/>
              </a:lnSpc>
              <a:spcBef>
                <a:spcPts val="490"/>
              </a:spcBef>
              <a:buClr>
                <a:srgbClr val="3333CC"/>
              </a:buClr>
              <a:buSzPct val="75000"/>
              <a:buFont typeface="Wingdings"/>
              <a:buChar char=""/>
              <a:tabLst>
                <a:tab pos="755650" algn="l"/>
              </a:tabLst>
            </a:pPr>
            <a:r>
              <a:rPr lang="en-US" sz="2000" dirty="0" err="1">
                <a:latin typeface="Arial"/>
                <a:cs typeface="Arial"/>
              </a:rPr>
              <a:t>Tăng</a:t>
            </a:r>
            <a:r>
              <a:rPr lang="en-US" sz="2000" dirty="0">
                <a:latin typeface="Arial"/>
                <a:cs typeface="Arial"/>
              </a:rPr>
              <a:t> </a:t>
            </a:r>
            <a:r>
              <a:rPr lang="en-US" sz="2000" dirty="0" err="1">
                <a:latin typeface="Arial"/>
                <a:cs typeface="Arial"/>
              </a:rPr>
              <a:t>hiệu</a:t>
            </a:r>
            <a:r>
              <a:rPr lang="en-US" sz="2000" dirty="0">
                <a:latin typeface="Arial"/>
                <a:cs typeface="Arial"/>
              </a:rPr>
              <a:t> </a:t>
            </a:r>
            <a:r>
              <a:rPr lang="en-US" sz="2000" dirty="0" err="1">
                <a:latin typeface="Arial"/>
                <a:cs typeface="Arial"/>
              </a:rPr>
              <a:t>quả</a:t>
            </a:r>
            <a:endParaRPr sz="2000" dirty="0">
              <a:latin typeface="Arial"/>
              <a:cs typeface="Arial"/>
            </a:endParaRPr>
          </a:p>
        </p:txBody>
      </p:sp>
      <p:sp>
        <p:nvSpPr>
          <p:cNvPr id="6" name="Slide Number Placeholder 5"/>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46</a:t>
            </a:fld>
            <a:endParaRPr spc="-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738631"/>
            <a:ext cx="5524500" cy="574040"/>
          </a:xfrm>
          <a:prstGeom prst="rect">
            <a:avLst/>
          </a:prstGeom>
        </p:spPr>
        <p:txBody>
          <a:bodyPr vert="horz" wrap="square" lIns="0" tIns="12700" rIns="0" bIns="0" rtlCol="0">
            <a:spAutoFit/>
          </a:bodyPr>
          <a:lstStyle/>
          <a:p>
            <a:pPr marL="12700">
              <a:lnSpc>
                <a:spcPct val="100000"/>
              </a:lnSpc>
              <a:spcBef>
                <a:spcPts val="100"/>
              </a:spcBef>
            </a:pPr>
            <a:r>
              <a:rPr spc="-5" dirty="0"/>
              <a:t>Cấu </a:t>
            </a:r>
            <a:r>
              <a:rPr dirty="0"/>
              <a:t>trúc của TCP</a:t>
            </a:r>
            <a:r>
              <a:rPr spc="-225" dirty="0"/>
              <a:t> </a:t>
            </a:r>
            <a:r>
              <a:rPr dirty="0"/>
              <a:t>segment</a:t>
            </a:r>
          </a:p>
        </p:txBody>
      </p:sp>
      <p:sp>
        <p:nvSpPr>
          <p:cNvPr id="3" name="object 3"/>
          <p:cNvSpPr/>
          <p:nvPr/>
        </p:nvSpPr>
        <p:spPr>
          <a:xfrm>
            <a:off x="3355085" y="1970532"/>
            <a:ext cx="3950970" cy="4824730"/>
          </a:xfrm>
          <a:custGeom>
            <a:avLst/>
            <a:gdLst/>
            <a:ahLst/>
            <a:cxnLst/>
            <a:rect l="l" t="t" r="r" b="b"/>
            <a:pathLst>
              <a:path w="3950970" h="4824730">
                <a:moveTo>
                  <a:pt x="0" y="0"/>
                </a:moveTo>
                <a:lnTo>
                  <a:pt x="0" y="4824222"/>
                </a:lnTo>
                <a:lnTo>
                  <a:pt x="3950969" y="4824222"/>
                </a:lnTo>
                <a:lnTo>
                  <a:pt x="3950969" y="0"/>
                </a:lnTo>
                <a:lnTo>
                  <a:pt x="0" y="0"/>
                </a:lnTo>
                <a:close/>
              </a:path>
            </a:pathLst>
          </a:custGeom>
          <a:solidFill>
            <a:srgbClr val="000099"/>
          </a:solidFill>
        </p:spPr>
        <p:txBody>
          <a:bodyPr wrap="square" lIns="0" tIns="0" rIns="0" bIns="0" rtlCol="0"/>
          <a:lstStyle/>
          <a:p>
            <a:endParaRPr/>
          </a:p>
        </p:txBody>
      </p:sp>
      <p:sp>
        <p:nvSpPr>
          <p:cNvPr id="4" name="object 4"/>
          <p:cNvSpPr/>
          <p:nvPr/>
        </p:nvSpPr>
        <p:spPr>
          <a:xfrm>
            <a:off x="3268979" y="2086355"/>
            <a:ext cx="3950970" cy="4805680"/>
          </a:xfrm>
          <a:custGeom>
            <a:avLst/>
            <a:gdLst/>
            <a:ahLst/>
            <a:cxnLst/>
            <a:rect l="l" t="t" r="r" b="b"/>
            <a:pathLst>
              <a:path w="3950970" h="4805680">
                <a:moveTo>
                  <a:pt x="0" y="0"/>
                </a:moveTo>
                <a:lnTo>
                  <a:pt x="0" y="4805172"/>
                </a:lnTo>
                <a:lnTo>
                  <a:pt x="3950970" y="4805172"/>
                </a:lnTo>
                <a:lnTo>
                  <a:pt x="3950970" y="0"/>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3259835" y="2076450"/>
            <a:ext cx="3970020" cy="4825365"/>
          </a:xfrm>
          <a:custGeom>
            <a:avLst/>
            <a:gdLst/>
            <a:ahLst/>
            <a:cxnLst/>
            <a:rect l="l" t="t" r="r" b="b"/>
            <a:pathLst>
              <a:path w="3970020" h="4825365">
                <a:moveTo>
                  <a:pt x="3970019" y="4824984"/>
                </a:moveTo>
                <a:lnTo>
                  <a:pt x="3970019" y="0"/>
                </a:lnTo>
                <a:lnTo>
                  <a:pt x="0" y="0"/>
                </a:lnTo>
                <a:lnTo>
                  <a:pt x="0" y="4824984"/>
                </a:lnTo>
                <a:lnTo>
                  <a:pt x="9144" y="4824984"/>
                </a:lnTo>
                <a:lnTo>
                  <a:pt x="9143" y="19050"/>
                </a:lnTo>
                <a:lnTo>
                  <a:pt x="19050" y="9906"/>
                </a:lnTo>
                <a:lnTo>
                  <a:pt x="19050" y="19050"/>
                </a:lnTo>
                <a:lnTo>
                  <a:pt x="3950969" y="19050"/>
                </a:lnTo>
                <a:lnTo>
                  <a:pt x="3950969" y="9906"/>
                </a:lnTo>
                <a:lnTo>
                  <a:pt x="3960114" y="19050"/>
                </a:lnTo>
                <a:lnTo>
                  <a:pt x="3960114" y="4824984"/>
                </a:lnTo>
                <a:lnTo>
                  <a:pt x="3970019" y="4824984"/>
                </a:lnTo>
                <a:close/>
              </a:path>
              <a:path w="3970020" h="4825365">
                <a:moveTo>
                  <a:pt x="19050" y="19050"/>
                </a:moveTo>
                <a:lnTo>
                  <a:pt x="19050" y="9906"/>
                </a:lnTo>
                <a:lnTo>
                  <a:pt x="9143" y="19050"/>
                </a:lnTo>
                <a:lnTo>
                  <a:pt x="19050" y="19050"/>
                </a:lnTo>
                <a:close/>
              </a:path>
              <a:path w="3970020" h="4825365">
                <a:moveTo>
                  <a:pt x="19050" y="4805934"/>
                </a:moveTo>
                <a:lnTo>
                  <a:pt x="19050" y="19050"/>
                </a:lnTo>
                <a:lnTo>
                  <a:pt x="9143" y="19050"/>
                </a:lnTo>
                <a:lnTo>
                  <a:pt x="9144" y="4805934"/>
                </a:lnTo>
                <a:lnTo>
                  <a:pt x="19050" y="4805934"/>
                </a:lnTo>
                <a:close/>
              </a:path>
              <a:path w="3970020" h="4825365">
                <a:moveTo>
                  <a:pt x="3960114" y="4805934"/>
                </a:moveTo>
                <a:lnTo>
                  <a:pt x="9144" y="4805934"/>
                </a:lnTo>
                <a:lnTo>
                  <a:pt x="19050" y="4815078"/>
                </a:lnTo>
                <a:lnTo>
                  <a:pt x="19050" y="4824984"/>
                </a:lnTo>
                <a:lnTo>
                  <a:pt x="3950969" y="4824984"/>
                </a:lnTo>
                <a:lnTo>
                  <a:pt x="3950969" y="4815078"/>
                </a:lnTo>
                <a:lnTo>
                  <a:pt x="3960114" y="4805934"/>
                </a:lnTo>
                <a:close/>
              </a:path>
              <a:path w="3970020" h="4825365">
                <a:moveTo>
                  <a:pt x="19050" y="4824984"/>
                </a:moveTo>
                <a:lnTo>
                  <a:pt x="19050" y="4815078"/>
                </a:lnTo>
                <a:lnTo>
                  <a:pt x="9144" y="4805934"/>
                </a:lnTo>
                <a:lnTo>
                  <a:pt x="9144" y="4824984"/>
                </a:lnTo>
                <a:lnTo>
                  <a:pt x="19050" y="4824984"/>
                </a:lnTo>
                <a:close/>
              </a:path>
              <a:path w="3970020" h="4825365">
                <a:moveTo>
                  <a:pt x="3960114" y="19050"/>
                </a:moveTo>
                <a:lnTo>
                  <a:pt x="3950969" y="9906"/>
                </a:lnTo>
                <a:lnTo>
                  <a:pt x="3950969" y="19050"/>
                </a:lnTo>
                <a:lnTo>
                  <a:pt x="3960114" y="19050"/>
                </a:lnTo>
                <a:close/>
              </a:path>
              <a:path w="3970020" h="4825365">
                <a:moveTo>
                  <a:pt x="3960114" y="4805934"/>
                </a:moveTo>
                <a:lnTo>
                  <a:pt x="3960114" y="19050"/>
                </a:lnTo>
                <a:lnTo>
                  <a:pt x="3950969" y="19050"/>
                </a:lnTo>
                <a:lnTo>
                  <a:pt x="3950969" y="4805934"/>
                </a:lnTo>
                <a:lnTo>
                  <a:pt x="3960114" y="4805934"/>
                </a:lnTo>
                <a:close/>
              </a:path>
              <a:path w="3970020" h="4825365">
                <a:moveTo>
                  <a:pt x="3960114" y="4824984"/>
                </a:moveTo>
                <a:lnTo>
                  <a:pt x="3960114" y="4805934"/>
                </a:lnTo>
                <a:lnTo>
                  <a:pt x="3950969" y="4815078"/>
                </a:lnTo>
                <a:lnTo>
                  <a:pt x="3950969" y="4824984"/>
                </a:lnTo>
                <a:lnTo>
                  <a:pt x="3960114" y="4824984"/>
                </a:lnTo>
                <a:close/>
              </a:path>
            </a:pathLst>
          </a:custGeom>
          <a:solidFill>
            <a:srgbClr val="000000"/>
          </a:solidFill>
        </p:spPr>
        <p:txBody>
          <a:bodyPr wrap="square" lIns="0" tIns="0" rIns="0" bIns="0" rtlCol="0"/>
          <a:lstStyle/>
          <a:p>
            <a:endParaRPr/>
          </a:p>
        </p:txBody>
      </p:sp>
      <p:sp>
        <p:nvSpPr>
          <p:cNvPr id="6" name="object 6"/>
          <p:cNvSpPr txBox="1"/>
          <p:nvPr/>
        </p:nvSpPr>
        <p:spPr>
          <a:xfrm>
            <a:off x="3374063" y="2127894"/>
            <a:ext cx="4243396" cy="289182"/>
          </a:xfrm>
          <a:prstGeom prst="rect">
            <a:avLst/>
          </a:prstGeom>
        </p:spPr>
        <p:txBody>
          <a:bodyPr vert="horz" wrap="square" lIns="0" tIns="12065" rIns="0" bIns="0" rtlCol="0">
            <a:spAutoFit/>
          </a:bodyPr>
          <a:lstStyle/>
          <a:p>
            <a:pPr>
              <a:lnSpc>
                <a:spcPct val="100000"/>
              </a:lnSpc>
              <a:spcBef>
                <a:spcPts val="95"/>
              </a:spcBef>
              <a:tabLst>
                <a:tab pos="2099945" algn="l"/>
              </a:tabLst>
            </a:pPr>
            <a:r>
              <a:rPr spc="-7" dirty="0">
                <a:latin typeface="Arial" panose="020B0604020202020204" pitchFamily="34" charset="0"/>
                <a:cs typeface="Arial" panose="020B0604020202020204" pitchFamily="34" charset="0"/>
              </a:rPr>
              <a:t>source</a:t>
            </a:r>
            <a:r>
              <a:rPr spc="7" dirty="0">
                <a:latin typeface="Arial" panose="020B0604020202020204" pitchFamily="34" charset="0"/>
                <a:cs typeface="Arial" panose="020B0604020202020204" pitchFamily="34" charset="0"/>
              </a:rPr>
              <a:t> </a:t>
            </a:r>
            <a:r>
              <a:rPr spc="-7" dirty="0">
                <a:latin typeface="Arial" panose="020B0604020202020204" pitchFamily="34" charset="0"/>
                <a:cs typeface="Arial" panose="020B0604020202020204" pitchFamily="34" charset="0"/>
              </a:rPr>
              <a:t>port</a:t>
            </a:r>
            <a:r>
              <a:rPr spc="-22" dirty="0">
                <a:latin typeface="Arial" panose="020B0604020202020204" pitchFamily="34" charset="0"/>
                <a:cs typeface="Arial" panose="020B0604020202020204" pitchFamily="34" charset="0"/>
              </a:rPr>
              <a:t> </a:t>
            </a:r>
            <a:r>
              <a:rPr spc="-7" dirty="0">
                <a:latin typeface="Arial" panose="020B0604020202020204" pitchFamily="34" charset="0"/>
                <a:cs typeface="Arial" panose="020B0604020202020204" pitchFamily="34" charset="0"/>
              </a:rPr>
              <a:t>#</a:t>
            </a:r>
            <a:r>
              <a:rPr lang="en-US" spc="-7" dirty="0">
                <a:latin typeface="Arial" panose="020B0604020202020204" pitchFamily="34" charset="0"/>
                <a:cs typeface="Arial" panose="020B0604020202020204" pitchFamily="34" charset="0"/>
              </a:rPr>
              <a:t> (16)     </a:t>
            </a:r>
            <a:r>
              <a:rPr spc="-5" dirty="0" err="1">
                <a:latin typeface="Arial" panose="020B0604020202020204" pitchFamily="34" charset="0"/>
                <a:cs typeface="Arial" panose="020B0604020202020204" pitchFamily="34" charset="0"/>
              </a:rPr>
              <a:t>dest</a:t>
            </a:r>
            <a:r>
              <a:rPr spc="-5" dirty="0">
                <a:latin typeface="Arial" panose="020B0604020202020204" pitchFamily="34" charset="0"/>
                <a:cs typeface="Arial" panose="020B0604020202020204" pitchFamily="34" charset="0"/>
              </a:rPr>
              <a:t> port</a:t>
            </a:r>
            <a:r>
              <a:rPr spc="-100"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a:t>
            </a:r>
            <a:r>
              <a:rPr lang="en-US" spc="-5" dirty="0">
                <a:latin typeface="Arial" panose="020B0604020202020204" pitchFamily="34" charset="0"/>
                <a:cs typeface="Arial" panose="020B0604020202020204" pitchFamily="34" charset="0"/>
              </a:rPr>
              <a:t> (16)</a:t>
            </a:r>
            <a:endParaRPr dirty="0">
              <a:latin typeface="Arial" panose="020B0604020202020204" pitchFamily="34" charset="0"/>
              <a:cs typeface="Arial" panose="020B0604020202020204" pitchFamily="34" charset="0"/>
            </a:endParaRPr>
          </a:p>
        </p:txBody>
      </p:sp>
      <p:sp>
        <p:nvSpPr>
          <p:cNvPr id="7" name="object 7"/>
          <p:cNvSpPr/>
          <p:nvPr/>
        </p:nvSpPr>
        <p:spPr>
          <a:xfrm>
            <a:off x="3272028" y="2463164"/>
            <a:ext cx="3946525" cy="0"/>
          </a:xfrm>
          <a:custGeom>
            <a:avLst/>
            <a:gdLst/>
            <a:ahLst/>
            <a:cxnLst/>
            <a:rect l="l" t="t" r="r" b="b"/>
            <a:pathLst>
              <a:path w="3946525">
                <a:moveTo>
                  <a:pt x="0" y="0"/>
                </a:moveTo>
                <a:lnTo>
                  <a:pt x="3946398" y="0"/>
                </a:lnTo>
              </a:path>
            </a:pathLst>
          </a:custGeom>
          <a:ln w="23621">
            <a:solidFill>
              <a:srgbClr val="000000"/>
            </a:solidFill>
          </a:ln>
        </p:spPr>
        <p:txBody>
          <a:bodyPr wrap="square" lIns="0" tIns="0" rIns="0" bIns="0" rtlCol="0"/>
          <a:lstStyle/>
          <a:p>
            <a:endParaRPr/>
          </a:p>
        </p:txBody>
      </p:sp>
      <p:sp>
        <p:nvSpPr>
          <p:cNvPr id="8" name="object 8"/>
          <p:cNvSpPr/>
          <p:nvPr/>
        </p:nvSpPr>
        <p:spPr>
          <a:xfrm>
            <a:off x="3265932" y="2840354"/>
            <a:ext cx="3950970" cy="0"/>
          </a:xfrm>
          <a:custGeom>
            <a:avLst/>
            <a:gdLst/>
            <a:ahLst/>
            <a:cxnLst/>
            <a:rect l="l" t="t" r="r" b="b"/>
            <a:pathLst>
              <a:path w="3950970">
                <a:moveTo>
                  <a:pt x="0" y="0"/>
                </a:moveTo>
                <a:lnTo>
                  <a:pt x="3950969" y="0"/>
                </a:lnTo>
              </a:path>
            </a:pathLst>
          </a:custGeom>
          <a:ln w="19050">
            <a:solidFill>
              <a:srgbClr val="000000"/>
            </a:solidFill>
          </a:ln>
        </p:spPr>
        <p:txBody>
          <a:bodyPr wrap="square" lIns="0" tIns="0" rIns="0" bIns="0" rtlCol="0"/>
          <a:lstStyle/>
          <a:p>
            <a:endParaRPr/>
          </a:p>
        </p:txBody>
      </p:sp>
      <p:sp>
        <p:nvSpPr>
          <p:cNvPr id="9" name="object 9"/>
          <p:cNvSpPr/>
          <p:nvPr/>
        </p:nvSpPr>
        <p:spPr>
          <a:xfrm>
            <a:off x="5212460" y="2086355"/>
            <a:ext cx="0" cy="392430"/>
          </a:xfrm>
          <a:custGeom>
            <a:avLst/>
            <a:gdLst/>
            <a:ahLst/>
            <a:cxnLst/>
            <a:rect l="l" t="t" r="r" b="b"/>
            <a:pathLst>
              <a:path h="392430">
                <a:moveTo>
                  <a:pt x="0" y="0"/>
                </a:moveTo>
                <a:lnTo>
                  <a:pt x="0" y="392429"/>
                </a:lnTo>
              </a:path>
            </a:pathLst>
          </a:custGeom>
          <a:ln w="19050">
            <a:solidFill>
              <a:srgbClr val="000000"/>
            </a:solidFill>
          </a:ln>
        </p:spPr>
        <p:txBody>
          <a:bodyPr wrap="square" lIns="0" tIns="0" rIns="0" bIns="0" rtlCol="0"/>
          <a:lstStyle/>
          <a:p>
            <a:endParaRPr/>
          </a:p>
        </p:txBody>
      </p:sp>
      <p:sp>
        <p:nvSpPr>
          <p:cNvPr id="10" name="object 10"/>
          <p:cNvSpPr txBox="1"/>
          <p:nvPr/>
        </p:nvSpPr>
        <p:spPr>
          <a:xfrm>
            <a:off x="4833620" y="1582928"/>
            <a:ext cx="6991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32</a:t>
            </a:r>
            <a:r>
              <a:rPr sz="1800" spc="-80" dirty="0">
                <a:latin typeface="Arial"/>
                <a:cs typeface="Arial"/>
              </a:rPr>
              <a:t> </a:t>
            </a:r>
            <a:r>
              <a:rPr sz="1800" spc="-5" dirty="0">
                <a:latin typeface="Arial"/>
                <a:cs typeface="Arial"/>
              </a:rPr>
              <a:t>bits</a:t>
            </a:r>
            <a:endParaRPr sz="1800">
              <a:latin typeface="Arial"/>
              <a:cs typeface="Arial"/>
            </a:endParaRPr>
          </a:p>
        </p:txBody>
      </p:sp>
      <p:sp>
        <p:nvSpPr>
          <p:cNvPr id="11" name="object 11"/>
          <p:cNvSpPr/>
          <p:nvPr/>
        </p:nvSpPr>
        <p:spPr>
          <a:xfrm>
            <a:off x="5755385" y="1768601"/>
            <a:ext cx="1426845" cy="76200"/>
          </a:xfrm>
          <a:custGeom>
            <a:avLst/>
            <a:gdLst/>
            <a:ahLst/>
            <a:cxnLst/>
            <a:rect l="l" t="t" r="r" b="b"/>
            <a:pathLst>
              <a:path w="1426845" h="76200">
                <a:moveTo>
                  <a:pt x="1350736" y="28914"/>
                </a:moveTo>
                <a:lnTo>
                  <a:pt x="0" y="24384"/>
                </a:lnTo>
                <a:lnTo>
                  <a:pt x="0" y="43434"/>
                </a:lnTo>
                <a:lnTo>
                  <a:pt x="1350546" y="47963"/>
                </a:lnTo>
                <a:lnTo>
                  <a:pt x="1350736" y="28914"/>
                </a:lnTo>
                <a:close/>
              </a:path>
              <a:path w="1426845" h="76200">
                <a:moveTo>
                  <a:pt x="1363218" y="69723"/>
                </a:moveTo>
                <a:lnTo>
                  <a:pt x="1363218" y="48006"/>
                </a:lnTo>
                <a:lnTo>
                  <a:pt x="1350546" y="47963"/>
                </a:lnTo>
                <a:lnTo>
                  <a:pt x="1350264" y="76200"/>
                </a:lnTo>
                <a:lnTo>
                  <a:pt x="1363218" y="69723"/>
                </a:lnTo>
                <a:close/>
              </a:path>
              <a:path w="1426845" h="76200">
                <a:moveTo>
                  <a:pt x="1363218" y="48006"/>
                </a:moveTo>
                <a:lnTo>
                  <a:pt x="1363218" y="28956"/>
                </a:lnTo>
                <a:lnTo>
                  <a:pt x="1350736" y="28914"/>
                </a:lnTo>
                <a:lnTo>
                  <a:pt x="1350546" y="47963"/>
                </a:lnTo>
                <a:lnTo>
                  <a:pt x="1363218" y="48006"/>
                </a:lnTo>
                <a:close/>
              </a:path>
              <a:path w="1426845" h="76200">
                <a:moveTo>
                  <a:pt x="1426464" y="38100"/>
                </a:moveTo>
                <a:lnTo>
                  <a:pt x="1351026" y="0"/>
                </a:lnTo>
                <a:lnTo>
                  <a:pt x="1350736" y="28914"/>
                </a:lnTo>
                <a:lnTo>
                  <a:pt x="1363218" y="28956"/>
                </a:lnTo>
                <a:lnTo>
                  <a:pt x="1363218" y="69723"/>
                </a:lnTo>
                <a:lnTo>
                  <a:pt x="1426464" y="38100"/>
                </a:lnTo>
                <a:close/>
              </a:path>
            </a:pathLst>
          </a:custGeom>
          <a:solidFill>
            <a:srgbClr val="000000"/>
          </a:solidFill>
        </p:spPr>
        <p:txBody>
          <a:bodyPr wrap="square" lIns="0" tIns="0" rIns="0" bIns="0" rtlCol="0"/>
          <a:lstStyle/>
          <a:p>
            <a:endParaRPr/>
          </a:p>
        </p:txBody>
      </p:sp>
      <p:sp>
        <p:nvSpPr>
          <p:cNvPr id="12" name="object 12"/>
          <p:cNvSpPr/>
          <p:nvPr/>
        </p:nvSpPr>
        <p:spPr>
          <a:xfrm>
            <a:off x="3246882" y="1775460"/>
            <a:ext cx="1341120" cy="76200"/>
          </a:xfrm>
          <a:custGeom>
            <a:avLst/>
            <a:gdLst/>
            <a:ahLst/>
            <a:cxnLst/>
            <a:rect l="l" t="t" r="r" b="b"/>
            <a:pathLst>
              <a:path w="1341120" h="76200">
                <a:moveTo>
                  <a:pt x="76200" y="28194"/>
                </a:moveTo>
                <a:lnTo>
                  <a:pt x="76200" y="0"/>
                </a:lnTo>
                <a:lnTo>
                  <a:pt x="0" y="38100"/>
                </a:lnTo>
                <a:lnTo>
                  <a:pt x="63245" y="69723"/>
                </a:lnTo>
                <a:lnTo>
                  <a:pt x="63245" y="28194"/>
                </a:lnTo>
                <a:lnTo>
                  <a:pt x="76200" y="28194"/>
                </a:lnTo>
                <a:close/>
              </a:path>
              <a:path w="1341120" h="76200">
                <a:moveTo>
                  <a:pt x="1341120" y="47244"/>
                </a:moveTo>
                <a:lnTo>
                  <a:pt x="1341120" y="28194"/>
                </a:lnTo>
                <a:lnTo>
                  <a:pt x="63245" y="28194"/>
                </a:lnTo>
                <a:lnTo>
                  <a:pt x="63245" y="47244"/>
                </a:lnTo>
                <a:lnTo>
                  <a:pt x="1341120" y="47244"/>
                </a:lnTo>
                <a:close/>
              </a:path>
              <a:path w="1341120" h="76200">
                <a:moveTo>
                  <a:pt x="76200" y="76200"/>
                </a:moveTo>
                <a:lnTo>
                  <a:pt x="76200" y="47244"/>
                </a:lnTo>
                <a:lnTo>
                  <a:pt x="63245" y="47244"/>
                </a:lnTo>
                <a:lnTo>
                  <a:pt x="63245" y="69723"/>
                </a:lnTo>
                <a:lnTo>
                  <a:pt x="76200" y="76200"/>
                </a:lnTo>
                <a:close/>
              </a:path>
            </a:pathLst>
          </a:custGeom>
          <a:solidFill>
            <a:srgbClr val="000000"/>
          </a:solidFill>
        </p:spPr>
        <p:txBody>
          <a:bodyPr wrap="square" lIns="0" tIns="0" rIns="0" bIns="0" rtlCol="0"/>
          <a:lstStyle/>
          <a:p>
            <a:endParaRPr/>
          </a:p>
        </p:txBody>
      </p:sp>
      <p:sp>
        <p:nvSpPr>
          <p:cNvPr id="13" name="object 13"/>
          <p:cNvSpPr txBox="1"/>
          <p:nvPr/>
        </p:nvSpPr>
        <p:spPr>
          <a:xfrm>
            <a:off x="3355085" y="5050789"/>
            <a:ext cx="3950970" cy="939800"/>
          </a:xfrm>
          <a:prstGeom prst="rect">
            <a:avLst/>
          </a:prstGeom>
        </p:spPr>
        <p:txBody>
          <a:bodyPr vert="horz" wrap="square" lIns="0" tIns="12065" rIns="0" bIns="0" rtlCol="0">
            <a:spAutoFit/>
          </a:bodyPr>
          <a:lstStyle/>
          <a:p>
            <a:pPr marL="1362075" marR="1367790" algn="ctr">
              <a:lnSpc>
                <a:spcPct val="100000"/>
              </a:lnSpc>
              <a:spcBef>
                <a:spcPts val="95"/>
              </a:spcBef>
            </a:pPr>
            <a:r>
              <a:rPr sz="2000" spc="-10" dirty="0">
                <a:latin typeface="Arial"/>
                <a:cs typeface="Arial"/>
              </a:rPr>
              <a:t>application  data</a:t>
            </a:r>
            <a:endParaRPr sz="2000" dirty="0">
              <a:latin typeface="Arial"/>
              <a:cs typeface="Arial"/>
            </a:endParaRPr>
          </a:p>
          <a:p>
            <a:pPr marR="6350" algn="ctr">
              <a:lnSpc>
                <a:spcPct val="100000"/>
              </a:lnSpc>
            </a:pPr>
            <a:r>
              <a:rPr sz="2000" spc="-5" dirty="0">
                <a:latin typeface="Arial"/>
                <a:cs typeface="Arial"/>
              </a:rPr>
              <a:t>(variable length)</a:t>
            </a:r>
            <a:endParaRPr sz="2000" dirty="0">
              <a:latin typeface="Arial"/>
              <a:cs typeface="Arial"/>
            </a:endParaRPr>
          </a:p>
        </p:txBody>
      </p:sp>
      <p:sp>
        <p:nvSpPr>
          <p:cNvPr id="14" name="object 14"/>
          <p:cNvSpPr/>
          <p:nvPr/>
        </p:nvSpPr>
        <p:spPr>
          <a:xfrm>
            <a:off x="3275076" y="3221354"/>
            <a:ext cx="3952240" cy="0"/>
          </a:xfrm>
          <a:custGeom>
            <a:avLst/>
            <a:gdLst/>
            <a:ahLst/>
            <a:cxnLst/>
            <a:rect l="l" t="t" r="r" b="b"/>
            <a:pathLst>
              <a:path w="3952240">
                <a:moveTo>
                  <a:pt x="0" y="0"/>
                </a:moveTo>
                <a:lnTo>
                  <a:pt x="3951731" y="0"/>
                </a:lnTo>
              </a:path>
            </a:pathLst>
          </a:custGeom>
          <a:ln w="19050">
            <a:solidFill>
              <a:srgbClr val="000000"/>
            </a:solidFill>
          </a:ln>
        </p:spPr>
        <p:txBody>
          <a:bodyPr wrap="square" lIns="0" tIns="0" rIns="0" bIns="0" rtlCol="0"/>
          <a:lstStyle/>
          <a:p>
            <a:endParaRPr/>
          </a:p>
        </p:txBody>
      </p:sp>
      <p:sp>
        <p:nvSpPr>
          <p:cNvPr id="15" name="object 15"/>
          <p:cNvSpPr/>
          <p:nvPr/>
        </p:nvSpPr>
        <p:spPr>
          <a:xfrm>
            <a:off x="3270503" y="3616833"/>
            <a:ext cx="3952240" cy="0"/>
          </a:xfrm>
          <a:custGeom>
            <a:avLst/>
            <a:gdLst/>
            <a:ahLst/>
            <a:cxnLst/>
            <a:rect l="l" t="t" r="r" b="b"/>
            <a:pathLst>
              <a:path w="3952240">
                <a:moveTo>
                  <a:pt x="0" y="0"/>
                </a:moveTo>
                <a:lnTo>
                  <a:pt x="3951732" y="0"/>
                </a:lnTo>
              </a:path>
            </a:pathLst>
          </a:custGeom>
          <a:ln w="19050">
            <a:solidFill>
              <a:srgbClr val="000000"/>
            </a:solidFill>
          </a:ln>
        </p:spPr>
        <p:txBody>
          <a:bodyPr wrap="square" lIns="0" tIns="0" rIns="0" bIns="0" rtlCol="0"/>
          <a:lstStyle/>
          <a:p>
            <a:endParaRPr/>
          </a:p>
        </p:txBody>
      </p:sp>
      <p:sp>
        <p:nvSpPr>
          <p:cNvPr id="16" name="object 16"/>
          <p:cNvSpPr/>
          <p:nvPr/>
        </p:nvSpPr>
        <p:spPr>
          <a:xfrm>
            <a:off x="3265932" y="4006977"/>
            <a:ext cx="3950970" cy="0"/>
          </a:xfrm>
          <a:custGeom>
            <a:avLst/>
            <a:gdLst/>
            <a:ahLst/>
            <a:cxnLst/>
            <a:rect l="l" t="t" r="r" b="b"/>
            <a:pathLst>
              <a:path w="3950970">
                <a:moveTo>
                  <a:pt x="0" y="0"/>
                </a:moveTo>
                <a:lnTo>
                  <a:pt x="3950969" y="0"/>
                </a:lnTo>
              </a:path>
            </a:pathLst>
          </a:custGeom>
          <a:ln w="19050">
            <a:solidFill>
              <a:srgbClr val="000000"/>
            </a:solidFill>
          </a:ln>
        </p:spPr>
        <p:txBody>
          <a:bodyPr wrap="square" lIns="0" tIns="0" rIns="0" bIns="0" rtlCol="0"/>
          <a:lstStyle/>
          <a:p>
            <a:endParaRPr/>
          </a:p>
        </p:txBody>
      </p:sp>
      <p:sp>
        <p:nvSpPr>
          <p:cNvPr id="17" name="object 17"/>
          <p:cNvSpPr/>
          <p:nvPr/>
        </p:nvSpPr>
        <p:spPr>
          <a:xfrm>
            <a:off x="3265932" y="4569333"/>
            <a:ext cx="3950970" cy="0"/>
          </a:xfrm>
          <a:custGeom>
            <a:avLst/>
            <a:gdLst/>
            <a:ahLst/>
            <a:cxnLst/>
            <a:rect l="l" t="t" r="r" b="b"/>
            <a:pathLst>
              <a:path w="3950970">
                <a:moveTo>
                  <a:pt x="0" y="0"/>
                </a:moveTo>
                <a:lnTo>
                  <a:pt x="3950969" y="0"/>
                </a:lnTo>
              </a:path>
            </a:pathLst>
          </a:custGeom>
          <a:ln w="19050">
            <a:solidFill>
              <a:srgbClr val="000000"/>
            </a:solidFill>
          </a:ln>
        </p:spPr>
        <p:txBody>
          <a:bodyPr wrap="square" lIns="0" tIns="0" rIns="0" bIns="0" rtlCol="0"/>
          <a:lstStyle/>
          <a:p>
            <a:endParaRPr/>
          </a:p>
        </p:txBody>
      </p:sp>
      <p:sp>
        <p:nvSpPr>
          <p:cNvPr id="18" name="object 18"/>
          <p:cNvSpPr/>
          <p:nvPr/>
        </p:nvSpPr>
        <p:spPr>
          <a:xfrm>
            <a:off x="5228844" y="3224783"/>
            <a:ext cx="0" cy="778510"/>
          </a:xfrm>
          <a:custGeom>
            <a:avLst/>
            <a:gdLst/>
            <a:ahLst/>
            <a:cxnLst/>
            <a:rect l="l" t="t" r="r" b="b"/>
            <a:pathLst>
              <a:path h="778510">
                <a:moveTo>
                  <a:pt x="0" y="0"/>
                </a:moveTo>
                <a:lnTo>
                  <a:pt x="0" y="778001"/>
                </a:lnTo>
              </a:path>
            </a:pathLst>
          </a:custGeom>
          <a:ln w="24384">
            <a:solidFill>
              <a:srgbClr val="000000"/>
            </a:solidFill>
          </a:ln>
        </p:spPr>
        <p:txBody>
          <a:bodyPr wrap="square" lIns="0" tIns="0" rIns="0" bIns="0" rtlCol="0"/>
          <a:lstStyle/>
          <a:p>
            <a:endParaRPr/>
          </a:p>
        </p:txBody>
      </p:sp>
      <p:sp>
        <p:nvSpPr>
          <p:cNvPr id="19" name="object 19"/>
          <p:cNvSpPr txBox="1"/>
          <p:nvPr/>
        </p:nvSpPr>
        <p:spPr>
          <a:xfrm>
            <a:off x="3464261" y="2370771"/>
            <a:ext cx="3850937" cy="1235210"/>
          </a:xfrm>
          <a:prstGeom prst="rect">
            <a:avLst/>
          </a:prstGeom>
        </p:spPr>
        <p:txBody>
          <a:bodyPr vert="horz" wrap="square" lIns="0" tIns="12700" rIns="0" bIns="0" rtlCol="0">
            <a:spAutoFit/>
          </a:bodyPr>
          <a:lstStyle/>
          <a:p>
            <a:pPr marR="293370" indent="410209">
              <a:lnSpc>
                <a:spcPct val="131300"/>
              </a:lnSpc>
              <a:spcBef>
                <a:spcPts val="100"/>
              </a:spcBef>
            </a:pPr>
            <a:r>
              <a:rPr sz="2000" spc="-5" dirty="0">
                <a:latin typeface="Arial"/>
                <a:cs typeface="Arial"/>
              </a:rPr>
              <a:t>sequence </a:t>
            </a:r>
            <a:r>
              <a:rPr sz="2000" spc="-10" dirty="0">
                <a:latin typeface="Arial"/>
                <a:cs typeface="Arial"/>
              </a:rPr>
              <a:t>number </a:t>
            </a:r>
            <a:r>
              <a:rPr lang="en-US" sz="2000" spc="-10" dirty="0">
                <a:latin typeface="Arial"/>
                <a:cs typeface="Arial"/>
              </a:rPr>
              <a:t>(32)</a:t>
            </a:r>
            <a:r>
              <a:rPr sz="2000" spc="-10" dirty="0">
                <a:latin typeface="Arial"/>
                <a:cs typeface="Arial"/>
              </a:rPr>
              <a:t> acknowledgement</a:t>
            </a:r>
            <a:r>
              <a:rPr sz="2000" spc="-5" dirty="0">
                <a:latin typeface="Arial"/>
                <a:cs typeface="Arial"/>
              </a:rPr>
              <a:t> </a:t>
            </a:r>
            <a:r>
              <a:rPr sz="2000" spc="-10" dirty="0">
                <a:latin typeface="Arial"/>
                <a:cs typeface="Arial"/>
              </a:rPr>
              <a:t>number</a:t>
            </a:r>
            <a:r>
              <a:rPr lang="en-US" sz="2000" spc="-10" dirty="0">
                <a:latin typeface="Arial"/>
                <a:cs typeface="Arial"/>
              </a:rPr>
              <a:t>  (32)  </a:t>
            </a:r>
          </a:p>
          <a:p>
            <a:pPr marR="293370" indent="410209">
              <a:lnSpc>
                <a:spcPct val="131300"/>
              </a:lnSpc>
              <a:spcBef>
                <a:spcPts val="100"/>
              </a:spcBef>
            </a:pPr>
            <a:r>
              <a:rPr lang="en-US" sz="2000" spc="-10" dirty="0">
                <a:latin typeface="Arial"/>
                <a:cs typeface="Arial"/>
              </a:rPr>
              <a:t>                     </a:t>
            </a:r>
            <a:r>
              <a:rPr sz="1400" dirty="0">
                <a:latin typeface="Arial"/>
                <a:cs typeface="Arial"/>
              </a:rPr>
              <a:t>receive</a:t>
            </a:r>
            <a:r>
              <a:rPr sz="1400" spc="-85" dirty="0">
                <a:latin typeface="Arial"/>
                <a:cs typeface="Arial"/>
              </a:rPr>
              <a:t> </a:t>
            </a:r>
            <a:r>
              <a:rPr sz="1400" dirty="0">
                <a:latin typeface="Arial"/>
                <a:cs typeface="Arial"/>
              </a:rPr>
              <a:t>window</a:t>
            </a:r>
            <a:r>
              <a:rPr lang="en-US" sz="1400" dirty="0">
                <a:latin typeface="Arial"/>
                <a:cs typeface="Arial"/>
              </a:rPr>
              <a:t> (16)</a:t>
            </a:r>
            <a:endParaRPr sz="1400" dirty="0">
              <a:latin typeface="Arial"/>
              <a:cs typeface="Arial"/>
            </a:endParaRPr>
          </a:p>
        </p:txBody>
      </p:sp>
      <p:sp>
        <p:nvSpPr>
          <p:cNvPr id="20" name="object 20"/>
          <p:cNvSpPr/>
          <p:nvPr/>
        </p:nvSpPr>
        <p:spPr>
          <a:xfrm>
            <a:off x="5069204" y="3214877"/>
            <a:ext cx="0" cy="392430"/>
          </a:xfrm>
          <a:custGeom>
            <a:avLst/>
            <a:gdLst/>
            <a:ahLst/>
            <a:cxnLst/>
            <a:rect l="l" t="t" r="r" b="b"/>
            <a:pathLst>
              <a:path h="392429">
                <a:moveTo>
                  <a:pt x="0" y="0"/>
                </a:moveTo>
                <a:lnTo>
                  <a:pt x="0" y="392429"/>
                </a:lnTo>
              </a:path>
            </a:pathLst>
          </a:custGeom>
          <a:ln w="19050">
            <a:solidFill>
              <a:srgbClr val="000000"/>
            </a:solidFill>
          </a:ln>
        </p:spPr>
        <p:txBody>
          <a:bodyPr wrap="square" lIns="0" tIns="0" rIns="0" bIns="0" rtlCol="0"/>
          <a:lstStyle/>
          <a:p>
            <a:endParaRPr/>
          </a:p>
        </p:txBody>
      </p:sp>
      <p:sp>
        <p:nvSpPr>
          <p:cNvPr id="21" name="object 21"/>
          <p:cNvSpPr txBox="1"/>
          <p:nvPr/>
        </p:nvSpPr>
        <p:spPr>
          <a:xfrm>
            <a:off x="4907660" y="3221354"/>
            <a:ext cx="309245" cy="395605"/>
          </a:xfrm>
          <a:prstGeom prst="rect">
            <a:avLst/>
          </a:prstGeom>
          <a:ln w="19050">
            <a:solidFill>
              <a:srgbClr val="000000"/>
            </a:solidFill>
          </a:ln>
        </p:spPr>
        <p:txBody>
          <a:bodyPr vert="horz" wrap="square" lIns="0" tIns="74295" rIns="0" bIns="0" rtlCol="0">
            <a:spAutoFit/>
          </a:bodyPr>
          <a:lstStyle/>
          <a:p>
            <a:pPr marL="6985">
              <a:lnSpc>
                <a:spcPct val="100000"/>
              </a:lnSpc>
              <a:spcBef>
                <a:spcPts val="585"/>
              </a:spcBef>
            </a:pPr>
            <a:r>
              <a:rPr sz="2400" baseline="1736" dirty="0">
                <a:latin typeface="Arial"/>
                <a:cs typeface="Arial"/>
              </a:rPr>
              <a:t>S</a:t>
            </a:r>
            <a:r>
              <a:rPr sz="2400" spc="-412" baseline="1736" dirty="0">
                <a:latin typeface="Arial"/>
                <a:cs typeface="Arial"/>
              </a:rPr>
              <a:t> </a:t>
            </a:r>
            <a:r>
              <a:rPr sz="1600" dirty="0">
                <a:latin typeface="Arial"/>
                <a:cs typeface="Arial"/>
              </a:rPr>
              <a:t>F</a:t>
            </a:r>
          </a:p>
        </p:txBody>
      </p:sp>
      <p:sp>
        <p:nvSpPr>
          <p:cNvPr id="22" name="object 22"/>
          <p:cNvSpPr txBox="1"/>
          <p:nvPr/>
        </p:nvSpPr>
        <p:spPr>
          <a:xfrm>
            <a:off x="4740783" y="3221354"/>
            <a:ext cx="167005" cy="395605"/>
          </a:xfrm>
          <a:prstGeom prst="rect">
            <a:avLst/>
          </a:prstGeom>
          <a:ln w="19050">
            <a:solidFill>
              <a:srgbClr val="000000"/>
            </a:solidFill>
          </a:ln>
        </p:spPr>
        <p:txBody>
          <a:bodyPr vert="horz" wrap="square" lIns="0" tIns="69850" rIns="0" bIns="0" rtlCol="0">
            <a:spAutoFit/>
          </a:bodyPr>
          <a:lstStyle/>
          <a:p>
            <a:pPr marL="635">
              <a:lnSpc>
                <a:spcPct val="100000"/>
              </a:lnSpc>
              <a:spcBef>
                <a:spcPts val="550"/>
              </a:spcBef>
            </a:pPr>
            <a:r>
              <a:rPr sz="1600" dirty="0">
                <a:latin typeface="Arial"/>
                <a:cs typeface="Arial"/>
              </a:rPr>
              <a:t>R</a:t>
            </a:r>
            <a:endParaRPr sz="1600">
              <a:latin typeface="Arial"/>
              <a:cs typeface="Arial"/>
            </a:endParaRPr>
          </a:p>
        </p:txBody>
      </p:sp>
      <p:sp>
        <p:nvSpPr>
          <p:cNvPr id="23" name="object 23"/>
          <p:cNvSpPr txBox="1"/>
          <p:nvPr/>
        </p:nvSpPr>
        <p:spPr>
          <a:xfrm>
            <a:off x="4578477" y="3221354"/>
            <a:ext cx="162560" cy="395605"/>
          </a:xfrm>
          <a:prstGeom prst="rect">
            <a:avLst/>
          </a:prstGeom>
          <a:ln w="19050">
            <a:solidFill>
              <a:srgbClr val="000000"/>
            </a:solidFill>
          </a:ln>
        </p:spPr>
        <p:txBody>
          <a:bodyPr vert="horz" wrap="square" lIns="0" tIns="64769" rIns="0" bIns="0" rtlCol="0">
            <a:spAutoFit/>
          </a:bodyPr>
          <a:lstStyle/>
          <a:p>
            <a:pPr marL="635">
              <a:lnSpc>
                <a:spcPct val="100000"/>
              </a:lnSpc>
              <a:spcBef>
                <a:spcPts val="509"/>
              </a:spcBef>
            </a:pPr>
            <a:r>
              <a:rPr sz="1600" dirty="0">
                <a:latin typeface="Arial"/>
                <a:cs typeface="Arial"/>
              </a:rPr>
              <a:t>P</a:t>
            </a:r>
            <a:endParaRPr sz="1600">
              <a:latin typeface="Arial"/>
              <a:cs typeface="Arial"/>
            </a:endParaRPr>
          </a:p>
        </p:txBody>
      </p:sp>
      <p:sp>
        <p:nvSpPr>
          <p:cNvPr id="24" name="object 24"/>
          <p:cNvSpPr txBox="1"/>
          <p:nvPr/>
        </p:nvSpPr>
        <p:spPr>
          <a:xfrm>
            <a:off x="4421504" y="3221354"/>
            <a:ext cx="157480" cy="395605"/>
          </a:xfrm>
          <a:prstGeom prst="rect">
            <a:avLst/>
          </a:prstGeom>
          <a:ln w="19050">
            <a:solidFill>
              <a:srgbClr val="000000"/>
            </a:solidFill>
          </a:ln>
        </p:spPr>
        <p:txBody>
          <a:bodyPr vert="horz" wrap="square" lIns="0" tIns="64769" rIns="0" bIns="0" rtlCol="0">
            <a:spAutoFit/>
          </a:bodyPr>
          <a:lstStyle/>
          <a:p>
            <a:pPr marL="5080">
              <a:lnSpc>
                <a:spcPct val="100000"/>
              </a:lnSpc>
              <a:spcBef>
                <a:spcPts val="509"/>
              </a:spcBef>
            </a:pPr>
            <a:r>
              <a:rPr sz="1600" dirty="0">
                <a:latin typeface="Arial"/>
                <a:cs typeface="Arial"/>
              </a:rPr>
              <a:t>A</a:t>
            </a:r>
            <a:endParaRPr sz="1600">
              <a:latin typeface="Arial"/>
              <a:cs typeface="Arial"/>
            </a:endParaRPr>
          </a:p>
        </p:txBody>
      </p:sp>
      <p:sp>
        <p:nvSpPr>
          <p:cNvPr id="25" name="object 25"/>
          <p:cNvSpPr txBox="1"/>
          <p:nvPr/>
        </p:nvSpPr>
        <p:spPr>
          <a:xfrm>
            <a:off x="4250054" y="3221354"/>
            <a:ext cx="171450" cy="395605"/>
          </a:xfrm>
          <a:prstGeom prst="rect">
            <a:avLst/>
          </a:prstGeom>
          <a:ln w="19050">
            <a:solidFill>
              <a:srgbClr val="000000"/>
            </a:solidFill>
          </a:ln>
        </p:spPr>
        <p:txBody>
          <a:bodyPr vert="horz" wrap="square" lIns="0" tIns="64769" rIns="0" bIns="0" rtlCol="0">
            <a:spAutoFit/>
          </a:bodyPr>
          <a:lstStyle/>
          <a:p>
            <a:pPr marL="10795">
              <a:lnSpc>
                <a:spcPct val="100000"/>
              </a:lnSpc>
              <a:spcBef>
                <a:spcPts val="509"/>
              </a:spcBef>
            </a:pPr>
            <a:r>
              <a:rPr sz="1600" dirty="0">
                <a:latin typeface="Arial"/>
                <a:cs typeface="Arial"/>
              </a:rPr>
              <a:t>U</a:t>
            </a:r>
          </a:p>
        </p:txBody>
      </p:sp>
      <p:sp>
        <p:nvSpPr>
          <p:cNvPr id="26" name="object 26"/>
          <p:cNvSpPr txBox="1"/>
          <p:nvPr/>
        </p:nvSpPr>
        <p:spPr>
          <a:xfrm>
            <a:off x="3307549" y="3183127"/>
            <a:ext cx="409575" cy="452120"/>
          </a:xfrm>
          <a:prstGeom prst="rect">
            <a:avLst/>
          </a:prstGeom>
        </p:spPr>
        <p:txBody>
          <a:bodyPr vert="horz" wrap="square" lIns="0" tIns="12065" rIns="0" bIns="0" rtlCol="0">
            <a:spAutoFit/>
          </a:bodyPr>
          <a:lstStyle/>
          <a:p>
            <a:pPr marL="78740" marR="5080" indent="-79375">
              <a:lnSpc>
                <a:spcPct val="100000"/>
              </a:lnSpc>
              <a:spcBef>
                <a:spcPts val="95"/>
              </a:spcBef>
            </a:pPr>
            <a:r>
              <a:rPr sz="1400" spc="-5" dirty="0">
                <a:latin typeface="Arial"/>
                <a:cs typeface="Arial"/>
              </a:rPr>
              <a:t>head  len</a:t>
            </a:r>
            <a:endParaRPr sz="1400" dirty="0">
              <a:latin typeface="Arial"/>
              <a:cs typeface="Arial"/>
            </a:endParaRPr>
          </a:p>
        </p:txBody>
      </p:sp>
      <p:sp>
        <p:nvSpPr>
          <p:cNvPr id="27" name="object 27"/>
          <p:cNvSpPr txBox="1"/>
          <p:nvPr/>
        </p:nvSpPr>
        <p:spPr>
          <a:xfrm>
            <a:off x="3745610" y="3221354"/>
            <a:ext cx="504825" cy="395605"/>
          </a:xfrm>
          <a:prstGeom prst="rect">
            <a:avLst/>
          </a:prstGeom>
          <a:ln w="19050">
            <a:solidFill>
              <a:srgbClr val="000000"/>
            </a:solidFill>
          </a:ln>
        </p:spPr>
        <p:txBody>
          <a:bodyPr vert="horz" wrap="square" lIns="0" tIns="0" rIns="0" bIns="0" rtlCol="0">
            <a:spAutoFit/>
          </a:bodyPr>
          <a:lstStyle/>
          <a:p>
            <a:pPr marR="28575" algn="ctr">
              <a:lnSpc>
                <a:spcPts val="1475"/>
              </a:lnSpc>
            </a:pPr>
            <a:r>
              <a:rPr sz="1400" spc="-5" dirty="0">
                <a:latin typeface="Arial"/>
                <a:cs typeface="Arial"/>
              </a:rPr>
              <a:t>not</a:t>
            </a:r>
            <a:endParaRPr sz="1400" dirty="0">
              <a:latin typeface="Arial"/>
              <a:cs typeface="Arial"/>
            </a:endParaRPr>
          </a:p>
          <a:p>
            <a:pPr marR="27305" algn="ctr">
              <a:lnSpc>
                <a:spcPts val="1635"/>
              </a:lnSpc>
            </a:pPr>
            <a:r>
              <a:rPr sz="1400" spc="-5" dirty="0">
                <a:latin typeface="Arial"/>
                <a:cs typeface="Arial"/>
              </a:rPr>
              <a:t>used</a:t>
            </a:r>
            <a:endParaRPr sz="1400" dirty="0">
              <a:latin typeface="Arial"/>
              <a:cs typeface="Arial"/>
            </a:endParaRPr>
          </a:p>
        </p:txBody>
      </p:sp>
      <p:sp>
        <p:nvSpPr>
          <p:cNvPr id="28" name="object 28"/>
          <p:cNvSpPr txBox="1"/>
          <p:nvPr/>
        </p:nvSpPr>
        <p:spPr>
          <a:xfrm>
            <a:off x="3498570" y="3703574"/>
            <a:ext cx="3632355" cy="812800"/>
          </a:xfrm>
          <a:prstGeom prst="rect">
            <a:avLst/>
          </a:prstGeom>
        </p:spPr>
        <p:txBody>
          <a:bodyPr vert="horz" wrap="square" lIns="0" tIns="12700" rIns="0" bIns="0" rtlCol="0">
            <a:spAutoFit/>
          </a:bodyPr>
          <a:lstStyle/>
          <a:p>
            <a:pPr>
              <a:lnSpc>
                <a:spcPct val="100000"/>
              </a:lnSpc>
              <a:spcBef>
                <a:spcPts val="100"/>
              </a:spcBef>
              <a:tabLst>
                <a:tab pos="1715770" algn="l"/>
              </a:tabLst>
            </a:pPr>
            <a:r>
              <a:rPr lang="en-US" sz="2700" baseline="4629" dirty="0">
                <a:latin typeface="Arial"/>
                <a:cs typeface="Arial"/>
              </a:rPr>
              <a:t>C</a:t>
            </a:r>
            <a:r>
              <a:rPr sz="2700" baseline="4629" dirty="0">
                <a:latin typeface="Arial"/>
                <a:cs typeface="Arial"/>
              </a:rPr>
              <a:t>hecksum</a:t>
            </a:r>
            <a:r>
              <a:rPr lang="en-US" sz="2700" baseline="4629" dirty="0">
                <a:latin typeface="Arial"/>
                <a:cs typeface="Arial"/>
              </a:rPr>
              <a:t> (16)</a:t>
            </a:r>
            <a:r>
              <a:rPr sz="2700" baseline="4629" dirty="0">
                <a:latin typeface="Arial"/>
                <a:cs typeface="Arial"/>
              </a:rPr>
              <a:t>	</a:t>
            </a:r>
            <a:r>
              <a:rPr lang="en-US" sz="2700" baseline="4629" dirty="0">
                <a:latin typeface="Arial"/>
                <a:cs typeface="Arial"/>
              </a:rPr>
              <a:t>   </a:t>
            </a:r>
            <a:r>
              <a:rPr sz="1400" spc="-5" dirty="0" err="1">
                <a:latin typeface="Arial"/>
                <a:cs typeface="Arial"/>
              </a:rPr>
              <a:t>Urg</a:t>
            </a:r>
            <a:r>
              <a:rPr sz="1400" spc="-5" dirty="0">
                <a:latin typeface="Arial"/>
                <a:cs typeface="Arial"/>
              </a:rPr>
              <a:t> data</a:t>
            </a:r>
            <a:r>
              <a:rPr sz="1400" spc="-85" dirty="0">
                <a:latin typeface="Arial"/>
                <a:cs typeface="Arial"/>
              </a:rPr>
              <a:t> </a:t>
            </a:r>
            <a:r>
              <a:rPr sz="1400" spc="-5" dirty="0">
                <a:latin typeface="Arial"/>
                <a:cs typeface="Arial"/>
              </a:rPr>
              <a:t>pointer</a:t>
            </a:r>
            <a:r>
              <a:rPr lang="en-US" sz="1400" spc="-5" dirty="0">
                <a:latin typeface="Arial"/>
                <a:cs typeface="Arial"/>
              </a:rPr>
              <a:t> (16)</a:t>
            </a:r>
            <a:endParaRPr sz="1400" dirty="0">
              <a:latin typeface="Arial"/>
              <a:cs typeface="Arial"/>
            </a:endParaRPr>
          </a:p>
          <a:p>
            <a:pPr marL="137795">
              <a:lnSpc>
                <a:spcPct val="100000"/>
              </a:lnSpc>
              <a:spcBef>
                <a:spcPts val="1635"/>
              </a:spcBef>
            </a:pPr>
            <a:r>
              <a:rPr sz="2000" spc="-10" dirty="0">
                <a:latin typeface="Arial"/>
                <a:cs typeface="Arial"/>
              </a:rPr>
              <a:t>options </a:t>
            </a:r>
            <a:r>
              <a:rPr sz="2000" spc="-5" dirty="0">
                <a:latin typeface="Arial"/>
                <a:cs typeface="Arial"/>
              </a:rPr>
              <a:t>(variable</a:t>
            </a:r>
            <a:r>
              <a:rPr sz="2000" spc="10" dirty="0">
                <a:latin typeface="Arial"/>
                <a:cs typeface="Arial"/>
              </a:rPr>
              <a:t> </a:t>
            </a:r>
            <a:r>
              <a:rPr sz="2000" spc="-5" dirty="0">
                <a:latin typeface="Arial"/>
                <a:cs typeface="Arial"/>
              </a:rPr>
              <a:t>length)</a:t>
            </a:r>
            <a:endParaRPr sz="2000" dirty="0">
              <a:latin typeface="Arial"/>
              <a:cs typeface="Arial"/>
            </a:endParaRPr>
          </a:p>
        </p:txBody>
      </p:sp>
      <p:sp>
        <p:nvSpPr>
          <p:cNvPr id="29" name="object 29"/>
          <p:cNvSpPr txBox="1"/>
          <p:nvPr/>
        </p:nvSpPr>
        <p:spPr>
          <a:xfrm>
            <a:off x="-436522" y="2230642"/>
            <a:ext cx="2546254" cy="566822"/>
          </a:xfrm>
          <a:prstGeom prst="rect">
            <a:avLst/>
          </a:prstGeom>
        </p:spPr>
        <p:txBody>
          <a:bodyPr vert="horz" wrap="square" lIns="0" tIns="12700" rIns="0" bIns="0" rtlCol="0">
            <a:spAutoFit/>
          </a:bodyPr>
          <a:lstStyle/>
          <a:p>
            <a:pPr marL="776605" marR="5080" indent="-507365" algn="r">
              <a:lnSpc>
                <a:spcPct val="100000"/>
              </a:lnSpc>
              <a:spcBef>
                <a:spcPts val="100"/>
              </a:spcBef>
            </a:pPr>
            <a:r>
              <a:rPr sz="1800" dirty="0">
                <a:latin typeface="Arial"/>
                <a:cs typeface="Arial"/>
              </a:rPr>
              <a:t>(</a:t>
            </a:r>
            <a:r>
              <a:rPr sz="1800" dirty="0" err="1">
                <a:latin typeface="Arial"/>
                <a:cs typeface="Arial"/>
              </a:rPr>
              <a:t>không</a:t>
            </a:r>
            <a:r>
              <a:rPr sz="1800" spc="-100" dirty="0">
                <a:latin typeface="Arial"/>
                <a:cs typeface="Arial"/>
              </a:rPr>
              <a:t> </a:t>
            </a:r>
            <a:r>
              <a:rPr sz="1800" spc="-5" dirty="0" err="1">
                <a:latin typeface="Arial"/>
                <a:cs typeface="Arial"/>
              </a:rPr>
              <a:t>dùng</a:t>
            </a:r>
            <a:r>
              <a:rPr lang="en-US" sz="1800" spc="-5" dirty="0">
                <a:latin typeface="Arial"/>
                <a:cs typeface="Arial"/>
              </a:rPr>
              <a:t> (6 bit), </a:t>
            </a:r>
            <a:r>
              <a:rPr lang="en-US" sz="1800" spc="-5" dirty="0" err="1">
                <a:latin typeface="Arial"/>
                <a:cs typeface="Arial"/>
              </a:rPr>
              <a:t>lấp</a:t>
            </a:r>
            <a:r>
              <a:rPr lang="en-US" sz="1800" spc="-5" dirty="0">
                <a:latin typeface="Arial"/>
                <a:cs typeface="Arial"/>
              </a:rPr>
              <a:t> </a:t>
            </a:r>
            <a:r>
              <a:rPr lang="en-US" sz="1800" spc="-5" dirty="0" err="1">
                <a:latin typeface="Arial"/>
                <a:cs typeface="Arial"/>
              </a:rPr>
              <a:t>đầy</a:t>
            </a:r>
            <a:r>
              <a:rPr lang="en-US" sz="1800" spc="-5" dirty="0">
                <a:latin typeface="Arial"/>
                <a:cs typeface="Arial"/>
              </a:rPr>
              <a:t> </a:t>
            </a:r>
            <a:r>
              <a:rPr lang="en-US" sz="1800" spc="-5" dirty="0" err="1">
                <a:latin typeface="Arial"/>
                <a:cs typeface="Arial"/>
              </a:rPr>
              <a:t>bằng</a:t>
            </a:r>
            <a:r>
              <a:rPr lang="en-US" sz="1800" spc="-5" dirty="0">
                <a:latin typeface="Arial"/>
                <a:cs typeface="Arial"/>
              </a:rPr>
              <a:t> 0</a:t>
            </a:r>
            <a:r>
              <a:rPr sz="1800" spc="-5" dirty="0">
                <a:latin typeface="Arial"/>
                <a:cs typeface="Arial"/>
              </a:rPr>
              <a:t>)</a:t>
            </a:r>
            <a:endParaRPr sz="1800" dirty="0">
              <a:latin typeface="Arial"/>
              <a:cs typeface="Arial"/>
            </a:endParaRPr>
          </a:p>
        </p:txBody>
      </p:sp>
      <p:sp>
        <p:nvSpPr>
          <p:cNvPr id="30" name="object 30"/>
          <p:cNvSpPr txBox="1"/>
          <p:nvPr/>
        </p:nvSpPr>
        <p:spPr>
          <a:xfrm>
            <a:off x="591041" y="5712696"/>
            <a:ext cx="2315727" cy="843821"/>
          </a:xfrm>
          <a:prstGeom prst="rect">
            <a:avLst/>
          </a:prstGeom>
        </p:spPr>
        <p:txBody>
          <a:bodyPr vert="horz" wrap="square" lIns="0" tIns="12700" rIns="0" bIns="0" rtlCol="0">
            <a:spAutoFit/>
          </a:bodyPr>
          <a:lstStyle/>
          <a:p>
            <a:pPr marL="12700">
              <a:lnSpc>
                <a:spcPct val="100000"/>
              </a:lnSpc>
              <a:spcBef>
                <a:spcPts val="100"/>
              </a:spcBef>
            </a:pPr>
            <a:r>
              <a:rPr sz="1800" spc="-55" dirty="0">
                <a:latin typeface="Arial"/>
                <a:cs typeface="Arial"/>
              </a:rPr>
              <a:t>RST, </a:t>
            </a:r>
            <a:r>
              <a:rPr sz="1800" dirty="0">
                <a:latin typeface="Arial"/>
                <a:cs typeface="Arial"/>
              </a:rPr>
              <a:t>SYN,</a:t>
            </a:r>
            <a:r>
              <a:rPr sz="1800" spc="-35" dirty="0">
                <a:latin typeface="Arial"/>
                <a:cs typeface="Arial"/>
              </a:rPr>
              <a:t> </a:t>
            </a:r>
            <a:r>
              <a:rPr sz="1800" dirty="0">
                <a:latin typeface="Arial"/>
                <a:cs typeface="Arial"/>
              </a:rPr>
              <a:t>FIN:</a:t>
            </a:r>
          </a:p>
          <a:p>
            <a:pPr marL="62230">
              <a:lnSpc>
                <a:spcPct val="100000"/>
              </a:lnSpc>
            </a:pPr>
            <a:r>
              <a:rPr sz="1800" dirty="0" err="1">
                <a:latin typeface="Arial"/>
                <a:cs typeface="Arial"/>
              </a:rPr>
              <a:t>thiết</a:t>
            </a:r>
            <a:r>
              <a:rPr sz="1800" dirty="0">
                <a:latin typeface="Arial"/>
                <a:cs typeface="Arial"/>
              </a:rPr>
              <a:t> </a:t>
            </a:r>
            <a:r>
              <a:rPr sz="1800" spc="-5" dirty="0" err="1">
                <a:latin typeface="Arial"/>
                <a:cs typeface="Arial"/>
              </a:rPr>
              <a:t>lập</a:t>
            </a:r>
            <a:r>
              <a:rPr lang="en-US" sz="1800" spc="-5" dirty="0">
                <a:latin typeface="Arial"/>
                <a:cs typeface="Arial"/>
              </a:rPr>
              <a:t>/</a:t>
            </a:r>
            <a:r>
              <a:rPr lang="en-US" sz="1800" spc="-5" dirty="0" err="1">
                <a:latin typeface="Arial"/>
                <a:cs typeface="Arial"/>
              </a:rPr>
              <a:t>giải</a:t>
            </a:r>
            <a:r>
              <a:rPr lang="en-US" sz="1800" spc="-5" dirty="0">
                <a:latin typeface="Arial"/>
                <a:cs typeface="Arial"/>
              </a:rPr>
              <a:t> </a:t>
            </a:r>
            <a:r>
              <a:rPr lang="en-US" sz="1800" spc="-5" dirty="0" err="1">
                <a:latin typeface="Arial"/>
                <a:cs typeface="Arial"/>
              </a:rPr>
              <a:t>phóng</a:t>
            </a:r>
            <a:r>
              <a:rPr sz="1800" spc="-5" dirty="0">
                <a:latin typeface="Arial"/>
                <a:cs typeface="Arial"/>
              </a:rPr>
              <a:t> </a:t>
            </a:r>
            <a:r>
              <a:rPr sz="1800" dirty="0">
                <a:latin typeface="Arial"/>
                <a:cs typeface="Arial"/>
              </a:rPr>
              <a:t>kết</a:t>
            </a:r>
            <a:r>
              <a:rPr sz="1800" spc="-95" dirty="0">
                <a:latin typeface="Arial"/>
                <a:cs typeface="Arial"/>
              </a:rPr>
              <a:t> </a:t>
            </a:r>
            <a:r>
              <a:rPr sz="1800" spc="-5" dirty="0">
                <a:latin typeface="Arial"/>
                <a:cs typeface="Arial"/>
              </a:rPr>
              <a:t>nối</a:t>
            </a:r>
            <a:endParaRPr sz="1800" dirty="0">
              <a:latin typeface="Arial"/>
              <a:cs typeface="Arial"/>
            </a:endParaRPr>
          </a:p>
        </p:txBody>
      </p:sp>
      <p:sp>
        <p:nvSpPr>
          <p:cNvPr id="31" name="object 31"/>
          <p:cNvSpPr/>
          <p:nvPr/>
        </p:nvSpPr>
        <p:spPr>
          <a:xfrm>
            <a:off x="2523118" y="1926972"/>
            <a:ext cx="1807710" cy="1367154"/>
          </a:xfrm>
          <a:custGeom>
            <a:avLst/>
            <a:gdLst/>
            <a:ahLst/>
            <a:cxnLst/>
            <a:rect l="l" t="t" r="r" b="b"/>
            <a:pathLst>
              <a:path w="1506854" h="1043939">
                <a:moveTo>
                  <a:pt x="1506474" y="1028699"/>
                </a:moveTo>
                <a:lnTo>
                  <a:pt x="10668" y="0"/>
                </a:lnTo>
                <a:lnTo>
                  <a:pt x="0" y="15240"/>
                </a:lnTo>
                <a:lnTo>
                  <a:pt x="1495044" y="1043939"/>
                </a:lnTo>
                <a:lnTo>
                  <a:pt x="1506474" y="1028699"/>
                </a:lnTo>
                <a:close/>
              </a:path>
            </a:pathLst>
          </a:custGeom>
          <a:solidFill>
            <a:srgbClr val="FF0000"/>
          </a:solidFill>
        </p:spPr>
        <p:txBody>
          <a:bodyPr wrap="square" lIns="0" tIns="0" rIns="0" bIns="0" rtlCol="0"/>
          <a:lstStyle/>
          <a:p>
            <a:endParaRPr/>
          </a:p>
        </p:txBody>
      </p:sp>
      <p:sp>
        <p:nvSpPr>
          <p:cNvPr id="32" name="object 32"/>
          <p:cNvSpPr/>
          <p:nvPr/>
        </p:nvSpPr>
        <p:spPr>
          <a:xfrm flipV="1">
            <a:off x="2262172" y="3446145"/>
            <a:ext cx="2202323" cy="1053464"/>
          </a:xfrm>
          <a:custGeom>
            <a:avLst/>
            <a:gdLst/>
            <a:ahLst/>
            <a:cxnLst/>
            <a:rect l="l" t="t" r="r" b="b"/>
            <a:pathLst>
              <a:path w="1664335" h="459739">
                <a:moveTo>
                  <a:pt x="1664208" y="441197"/>
                </a:moveTo>
                <a:lnTo>
                  <a:pt x="4572" y="0"/>
                </a:lnTo>
                <a:lnTo>
                  <a:pt x="0" y="18288"/>
                </a:lnTo>
                <a:lnTo>
                  <a:pt x="1658874" y="459485"/>
                </a:lnTo>
                <a:lnTo>
                  <a:pt x="1664208" y="441197"/>
                </a:lnTo>
                <a:close/>
              </a:path>
            </a:pathLst>
          </a:custGeom>
          <a:solidFill>
            <a:srgbClr val="FF0000"/>
          </a:solidFill>
        </p:spPr>
        <p:txBody>
          <a:bodyPr wrap="square" lIns="0" tIns="0" rIns="0" bIns="0" rtlCol="0"/>
          <a:lstStyle/>
          <a:p>
            <a:endParaRPr/>
          </a:p>
        </p:txBody>
      </p:sp>
      <p:sp>
        <p:nvSpPr>
          <p:cNvPr id="34" name="object 34"/>
          <p:cNvSpPr/>
          <p:nvPr/>
        </p:nvSpPr>
        <p:spPr>
          <a:xfrm>
            <a:off x="2433399" y="3521456"/>
            <a:ext cx="2749788" cy="2437384"/>
          </a:xfrm>
          <a:custGeom>
            <a:avLst/>
            <a:gdLst/>
            <a:ahLst/>
            <a:cxnLst/>
            <a:rect l="l" t="t" r="r" b="b"/>
            <a:pathLst>
              <a:path w="2318385" h="723264">
                <a:moveTo>
                  <a:pt x="2318004" y="9143"/>
                </a:moveTo>
                <a:lnTo>
                  <a:pt x="1987295" y="83"/>
                </a:lnTo>
                <a:lnTo>
                  <a:pt x="1981962" y="0"/>
                </a:lnTo>
                <a:lnTo>
                  <a:pt x="1981200" y="761"/>
                </a:lnTo>
                <a:lnTo>
                  <a:pt x="0" y="705612"/>
                </a:lnTo>
                <a:lnTo>
                  <a:pt x="6096" y="723138"/>
                </a:lnTo>
                <a:lnTo>
                  <a:pt x="1984248" y="19372"/>
                </a:lnTo>
                <a:lnTo>
                  <a:pt x="1984248" y="19049"/>
                </a:lnTo>
                <a:lnTo>
                  <a:pt x="1987295" y="18287"/>
                </a:lnTo>
                <a:lnTo>
                  <a:pt x="1987295" y="19133"/>
                </a:lnTo>
                <a:lnTo>
                  <a:pt x="2317242" y="28193"/>
                </a:lnTo>
                <a:lnTo>
                  <a:pt x="2318004" y="9143"/>
                </a:lnTo>
                <a:close/>
              </a:path>
              <a:path w="2318385" h="723264">
                <a:moveTo>
                  <a:pt x="1987295" y="18287"/>
                </a:moveTo>
                <a:lnTo>
                  <a:pt x="1984248" y="19049"/>
                </a:lnTo>
                <a:lnTo>
                  <a:pt x="1985089" y="19073"/>
                </a:lnTo>
                <a:lnTo>
                  <a:pt x="1987295" y="18287"/>
                </a:lnTo>
                <a:close/>
              </a:path>
              <a:path w="2318385" h="723264">
                <a:moveTo>
                  <a:pt x="1985089" y="19073"/>
                </a:moveTo>
                <a:lnTo>
                  <a:pt x="1984248" y="19049"/>
                </a:lnTo>
                <a:lnTo>
                  <a:pt x="1984248" y="19372"/>
                </a:lnTo>
                <a:lnTo>
                  <a:pt x="1985089" y="19073"/>
                </a:lnTo>
                <a:close/>
              </a:path>
              <a:path w="2318385" h="723264">
                <a:moveTo>
                  <a:pt x="1987295" y="19133"/>
                </a:moveTo>
                <a:lnTo>
                  <a:pt x="1987295" y="18287"/>
                </a:lnTo>
                <a:lnTo>
                  <a:pt x="1985089" y="19073"/>
                </a:lnTo>
                <a:lnTo>
                  <a:pt x="1987295" y="19133"/>
                </a:lnTo>
                <a:close/>
              </a:path>
            </a:pathLst>
          </a:custGeom>
          <a:solidFill>
            <a:srgbClr val="FF0000"/>
          </a:solidFill>
        </p:spPr>
        <p:txBody>
          <a:bodyPr wrap="square" lIns="0" tIns="0" rIns="0" bIns="0" rtlCol="0"/>
          <a:lstStyle/>
          <a:p>
            <a:endParaRPr/>
          </a:p>
        </p:txBody>
      </p:sp>
      <p:sp>
        <p:nvSpPr>
          <p:cNvPr id="35" name="object 35"/>
          <p:cNvSpPr txBox="1"/>
          <p:nvPr/>
        </p:nvSpPr>
        <p:spPr>
          <a:xfrm>
            <a:off x="8087739" y="2705607"/>
            <a:ext cx="1497592" cy="289823"/>
          </a:xfrm>
          <a:prstGeom prst="rect">
            <a:avLst/>
          </a:prstGeom>
        </p:spPr>
        <p:txBody>
          <a:bodyPr vert="horz" wrap="square" lIns="0" tIns="12700" rIns="0" bIns="0" rtlCol="0">
            <a:spAutoFit/>
          </a:bodyPr>
          <a:lstStyle/>
          <a:p>
            <a:pPr marL="12700" marR="5080">
              <a:lnSpc>
                <a:spcPct val="100000"/>
              </a:lnSpc>
              <a:spcBef>
                <a:spcPts val="100"/>
              </a:spcBef>
            </a:pPr>
            <a:r>
              <a:rPr lang="en-US" sz="1800" spc="-5" dirty="0" err="1">
                <a:latin typeface="Arial"/>
                <a:cs typeface="Arial"/>
              </a:rPr>
              <a:t>Số</a:t>
            </a:r>
            <a:r>
              <a:rPr lang="en-US" sz="1800" spc="-5" dirty="0">
                <a:latin typeface="Arial"/>
                <a:cs typeface="Arial"/>
              </a:rPr>
              <a:t> </a:t>
            </a:r>
            <a:r>
              <a:rPr lang="en-US" sz="1800" spc="-5" dirty="0" err="1">
                <a:latin typeface="Arial"/>
                <a:cs typeface="Arial"/>
              </a:rPr>
              <a:t>biên</a:t>
            </a:r>
            <a:r>
              <a:rPr lang="en-US" sz="1800" spc="-5" dirty="0">
                <a:latin typeface="Arial"/>
                <a:cs typeface="Arial"/>
              </a:rPr>
              <a:t> </a:t>
            </a:r>
            <a:r>
              <a:rPr lang="en-US" sz="1800" spc="-5" dirty="0" err="1">
                <a:latin typeface="Arial"/>
                <a:cs typeface="Arial"/>
              </a:rPr>
              <a:t>nhận</a:t>
            </a:r>
            <a:endParaRPr sz="1800" dirty="0">
              <a:latin typeface="Arial"/>
              <a:cs typeface="Arial"/>
            </a:endParaRPr>
          </a:p>
        </p:txBody>
      </p:sp>
      <p:sp>
        <p:nvSpPr>
          <p:cNvPr id="36" name="object 36"/>
          <p:cNvSpPr txBox="1"/>
          <p:nvPr/>
        </p:nvSpPr>
        <p:spPr>
          <a:xfrm>
            <a:off x="7668266" y="2006600"/>
            <a:ext cx="2240089" cy="289823"/>
          </a:xfrm>
          <a:prstGeom prst="rect">
            <a:avLst/>
          </a:prstGeom>
        </p:spPr>
        <p:txBody>
          <a:bodyPr vert="horz" wrap="square" lIns="0" tIns="12700" rIns="0" bIns="0" rtlCol="0">
            <a:spAutoFit/>
          </a:bodyPr>
          <a:lstStyle/>
          <a:p>
            <a:pPr marL="12700" marR="233679">
              <a:lnSpc>
                <a:spcPct val="100000"/>
              </a:lnSpc>
              <a:spcBef>
                <a:spcPts val="100"/>
              </a:spcBef>
            </a:pPr>
            <a:r>
              <a:rPr lang="en-US" sz="1800" spc="-5" dirty="0" err="1">
                <a:latin typeface="Arial"/>
                <a:cs typeface="Arial"/>
              </a:rPr>
              <a:t>Số</a:t>
            </a:r>
            <a:r>
              <a:rPr lang="en-US" sz="1800" spc="-5" dirty="0">
                <a:latin typeface="Arial"/>
                <a:cs typeface="Arial"/>
              </a:rPr>
              <a:t> </a:t>
            </a:r>
            <a:r>
              <a:rPr lang="en-US" sz="1800" spc="-5" dirty="0" err="1">
                <a:latin typeface="Arial"/>
                <a:cs typeface="Arial"/>
              </a:rPr>
              <a:t>thứ</a:t>
            </a:r>
            <a:r>
              <a:rPr lang="en-US" sz="1800" spc="-5" dirty="0">
                <a:latin typeface="Arial"/>
                <a:cs typeface="Arial"/>
              </a:rPr>
              <a:t> </a:t>
            </a:r>
            <a:r>
              <a:rPr lang="en-US" sz="1800" spc="-5" dirty="0" err="1">
                <a:latin typeface="Arial"/>
                <a:cs typeface="Arial"/>
              </a:rPr>
              <a:t>tự</a:t>
            </a:r>
            <a:r>
              <a:rPr lang="en-US" sz="1800" spc="-5" dirty="0">
                <a:latin typeface="Arial"/>
                <a:cs typeface="Arial"/>
              </a:rPr>
              <a:t> segment </a:t>
            </a:r>
            <a:endParaRPr sz="1800" dirty="0">
              <a:latin typeface="Arial"/>
              <a:cs typeface="Arial"/>
            </a:endParaRPr>
          </a:p>
        </p:txBody>
      </p:sp>
      <p:sp>
        <p:nvSpPr>
          <p:cNvPr id="37" name="object 37"/>
          <p:cNvSpPr txBox="1"/>
          <p:nvPr/>
        </p:nvSpPr>
        <p:spPr>
          <a:xfrm>
            <a:off x="1182242" y="6477635"/>
            <a:ext cx="1132205" cy="848360"/>
          </a:xfrm>
          <a:prstGeom prst="rect">
            <a:avLst/>
          </a:prstGeom>
        </p:spPr>
        <p:txBody>
          <a:bodyPr vert="horz" wrap="square" lIns="0" tIns="12700" rIns="0" bIns="0" rtlCol="0">
            <a:spAutoFit/>
          </a:bodyPr>
          <a:lstStyle/>
          <a:p>
            <a:pPr marL="12700" marR="5080" indent="330200" algn="just">
              <a:lnSpc>
                <a:spcPct val="100000"/>
              </a:lnSpc>
              <a:spcBef>
                <a:spcPts val="100"/>
              </a:spcBef>
            </a:pPr>
            <a:r>
              <a:rPr sz="1800" dirty="0">
                <a:latin typeface="Arial"/>
                <a:cs typeface="Arial"/>
              </a:rPr>
              <a:t>Internet  checksum  </a:t>
            </a:r>
            <a:r>
              <a:rPr sz="1800" spc="-5" dirty="0">
                <a:latin typeface="Arial"/>
                <a:cs typeface="Arial"/>
              </a:rPr>
              <a:t>(như</a:t>
            </a:r>
            <a:r>
              <a:rPr sz="1800" spc="-90" dirty="0">
                <a:latin typeface="Arial"/>
                <a:cs typeface="Arial"/>
              </a:rPr>
              <a:t> </a:t>
            </a:r>
            <a:r>
              <a:rPr sz="1800" spc="-5" dirty="0">
                <a:latin typeface="Arial"/>
                <a:cs typeface="Arial"/>
              </a:rPr>
              <a:t>UDP)</a:t>
            </a:r>
            <a:endParaRPr sz="1800" dirty="0">
              <a:latin typeface="Arial"/>
              <a:cs typeface="Arial"/>
            </a:endParaRPr>
          </a:p>
        </p:txBody>
      </p:sp>
      <p:sp>
        <p:nvSpPr>
          <p:cNvPr id="38" name="object 38"/>
          <p:cNvSpPr/>
          <p:nvPr/>
        </p:nvSpPr>
        <p:spPr>
          <a:xfrm>
            <a:off x="2487295" y="3879341"/>
            <a:ext cx="2349119" cy="3085143"/>
          </a:xfrm>
          <a:custGeom>
            <a:avLst/>
            <a:gdLst/>
            <a:ahLst/>
            <a:cxnLst/>
            <a:rect l="l" t="t" r="r" b="b"/>
            <a:pathLst>
              <a:path w="2118360" h="1995804">
                <a:moveTo>
                  <a:pt x="2118360" y="14477"/>
                </a:moveTo>
                <a:lnTo>
                  <a:pt x="2104644" y="0"/>
                </a:lnTo>
                <a:lnTo>
                  <a:pt x="0" y="1981200"/>
                </a:lnTo>
                <a:lnTo>
                  <a:pt x="12954" y="1995677"/>
                </a:lnTo>
                <a:lnTo>
                  <a:pt x="2118360" y="14477"/>
                </a:lnTo>
                <a:close/>
              </a:path>
            </a:pathLst>
          </a:custGeom>
          <a:solidFill>
            <a:srgbClr val="FF0000"/>
          </a:solidFill>
        </p:spPr>
        <p:txBody>
          <a:bodyPr wrap="square" lIns="0" tIns="0" rIns="0" bIns="0" rtlCol="0"/>
          <a:lstStyle/>
          <a:p>
            <a:endParaRPr/>
          </a:p>
        </p:txBody>
      </p:sp>
      <p:sp>
        <p:nvSpPr>
          <p:cNvPr id="39" name="object 39"/>
          <p:cNvSpPr/>
          <p:nvPr/>
        </p:nvSpPr>
        <p:spPr>
          <a:xfrm flipV="1">
            <a:off x="6890765" y="2928112"/>
            <a:ext cx="1120773" cy="164083"/>
          </a:xfrm>
          <a:custGeom>
            <a:avLst/>
            <a:gdLst/>
            <a:ahLst/>
            <a:cxnLst/>
            <a:rect l="l" t="t" r="r" b="b"/>
            <a:pathLst>
              <a:path w="1009650" h="454660">
                <a:moveTo>
                  <a:pt x="1009649" y="436625"/>
                </a:moveTo>
                <a:lnTo>
                  <a:pt x="7619" y="0"/>
                </a:lnTo>
                <a:lnTo>
                  <a:pt x="0" y="17525"/>
                </a:lnTo>
                <a:lnTo>
                  <a:pt x="1002029" y="454151"/>
                </a:lnTo>
                <a:lnTo>
                  <a:pt x="1009649" y="436625"/>
                </a:lnTo>
                <a:close/>
              </a:path>
            </a:pathLst>
          </a:custGeom>
          <a:solidFill>
            <a:srgbClr val="FF0000"/>
          </a:solidFill>
        </p:spPr>
        <p:txBody>
          <a:bodyPr wrap="square" lIns="0" tIns="0" rIns="0" bIns="0" rtlCol="0"/>
          <a:lstStyle/>
          <a:p>
            <a:endParaRPr/>
          </a:p>
        </p:txBody>
      </p:sp>
      <p:sp>
        <p:nvSpPr>
          <p:cNvPr id="41" name="object 41"/>
          <p:cNvSpPr/>
          <p:nvPr/>
        </p:nvSpPr>
        <p:spPr>
          <a:xfrm>
            <a:off x="7033259" y="2164842"/>
            <a:ext cx="584200" cy="538480"/>
          </a:xfrm>
          <a:custGeom>
            <a:avLst/>
            <a:gdLst/>
            <a:ahLst/>
            <a:cxnLst/>
            <a:rect l="l" t="t" r="r" b="b"/>
            <a:pathLst>
              <a:path w="584200" h="538480">
                <a:moveTo>
                  <a:pt x="583692" y="14478"/>
                </a:moveTo>
                <a:lnTo>
                  <a:pt x="571500" y="0"/>
                </a:lnTo>
                <a:lnTo>
                  <a:pt x="0" y="524256"/>
                </a:lnTo>
                <a:lnTo>
                  <a:pt x="12192" y="537972"/>
                </a:lnTo>
                <a:lnTo>
                  <a:pt x="583692" y="14478"/>
                </a:lnTo>
                <a:close/>
              </a:path>
            </a:pathLst>
          </a:custGeom>
          <a:solidFill>
            <a:srgbClr val="FF0000"/>
          </a:solidFill>
        </p:spPr>
        <p:txBody>
          <a:bodyPr wrap="square" lIns="0" tIns="0" rIns="0" bIns="0" rtlCol="0"/>
          <a:lstStyle/>
          <a:p>
            <a:endParaRPr/>
          </a:p>
        </p:txBody>
      </p:sp>
      <p:sp>
        <p:nvSpPr>
          <p:cNvPr id="43" name="Slide Number Placeholder 42"/>
          <p:cNvSpPr>
            <a:spLocks noGrp="1"/>
          </p:cNvSpPr>
          <p:nvPr>
            <p:ph type="sldNum" sz="quarter" idx="7"/>
          </p:nvPr>
        </p:nvSpPr>
        <p:spPr>
          <a:xfrm>
            <a:off x="9585331" y="7507907"/>
            <a:ext cx="394970" cy="205184"/>
          </a:xfrm>
        </p:spPr>
        <p:txBody>
          <a:bodyPr/>
          <a:lstStyle/>
          <a:p>
            <a:pPr marL="12700">
              <a:lnSpc>
                <a:spcPts val="1645"/>
              </a:lnSpc>
            </a:pPr>
            <a:fld id="{81D60167-4931-47E6-BA6A-407CBD079E47}" type="slidenum">
              <a:rPr lang="en-US" spc="-5" smtClean="0"/>
              <a:t>47</a:t>
            </a:fld>
            <a:endParaRPr lang="en-US" spc="-5" dirty="0"/>
          </a:p>
        </p:txBody>
      </p:sp>
      <p:sp>
        <p:nvSpPr>
          <p:cNvPr id="42" name="object 35"/>
          <p:cNvSpPr txBox="1"/>
          <p:nvPr/>
        </p:nvSpPr>
        <p:spPr>
          <a:xfrm>
            <a:off x="8156308" y="3313120"/>
            <a:ext cx="1752048" cy="843821"/>
          </a:xfrm>
          <a:prstGeom prst="rect">
            <a:avLst/>
          </a:prstGeom>
        </p:spPr>
        <p:txBody>
          <a:bodyPr vert="horz" wrap="square" lIns="0" tIns="12700" rIns="0" bIns="0" rtlCol="0">
            <a:spAutoFit/>
          </a:bodyPr>
          <a:lstStyle/>
          <a:p>
            <a:pPr marL="12700" marR="5080">
              <a:lnSpc>
                <a:spcPct val="100000"/>
              </a:lnSpc>
              <a:spcBef>
                <a:spcPts val="100"/>
              </a:spcBef>
            </a:pPr>
            <a:r>
              <a:rPr lang="en-US" sz="1800" spc="-5" dirty="0" err="1">
                <a:latin typeface="Arial"/>
                <a:cs typeface="Arial"/>
              </a:rPr>
              <a:t>Số</a:t>
            </a:r>
            <a:r>
              <a:rPr lang="en-US" sz="1800" spc="-5" dirty="0">
                <a:latin typeface="Arial"/>
                <a:cs typeface="Arial"/>
              </a:rPr>
              <a:t> bytes </a:t>
            </a:r>
            <a:r>
              <a:rPr lang="en-US" sz="1800" spc="-5" dirty="0" err="1">
                <a:latin typeface="Arial"/>
                <a:cs typeface="Arial"/>
              </a:rPr>
              <a:t>bên</a:t>
            </a:r>
            <a:r>
              <a:rPr lang="en-US" sz="1800" spc="-5" dirty="0">
                <a:latin typeface="Arial"/>
                <a:cs typeface="Arial"/>
              </a:rPr>
              <a:t> </a:t>
            </a:r>
            <a:r>
              <a:rPr lang="en-US" sz="1800" spc="-5" dirty="0" err="1">
                <a:latin typeface="Arial"/>
                <a:cs typeface="Arial"/>
              </a:rPr>
              <a:t>nhận</a:t>
            </a:r>
            <a:r>
              <a:rPr lang="en-US" sz="1800" spc="-5" dirty="0">
                <a:latin typeface="Arial"/>
                <a:cs typeface="Arial"/>
              </a:rPr>
              <a:t> </a:t>
            </a:r>
            <a:r>
              <a:rPr lang="en-US" sz="1800" spc="-5" dirty="0" err="1">
                <a:latin typeface="Arial"/>
                <a:cs typeface="Arial"/>
              </a:rPr>
              <a:t>sẵn</a:t>
            </a:r>
            <a:r>
              <a:rPr lang="en-US" sz="1800" spc="-5" dirty="0">
                <a:latin typeface="Arial"/>
                <a:cs typeface="Arial"/>
              </a:rPr>
              <a:t> </a:t>
            </a:r>
            <a:r>
              <a:rPr lang="en-US" sz="1800" spc="-5" dirty="0" err="1">
                <a:latin typeface="Arial"/>
                <a:cs typeface="Arial"/>
              </a:rPr>
              <a:t>sàng</a:t>
            </a:r>
            <a:r>
              <a:rPr lang="en-US" sz="1800" spc="-5" dirty="0">
                <a:latin typeface="Arial"/>
                <a:cs typeface="Arial"/>
              </a:rPr>
              <a:t> </a:t>
            </a:r>
            <a:r>
              <a:rPr lang="en-US" sz="1800" spc="-5" dirty="0" err="1">
                <a:latin typeface="Arial"/>
                <a:cs typeface="Arial"/>
              </a:rPr>
              <a:t>chấp</a:t>
            </a:r>
            <a:r>
              <a:rPr lang="en-US" sz="1800" spc="-5" dirty="0">
                <a:latin typeface="Arial"/>
                <a:cs typeface="Arial"/>
              </a:rPr>
              <a:t> </a:t>
            </a:r>
            <a:r>
              <a:rPr lang="en-US" sz="1800" spc="-5" dirty="0" err="1">
                <a:latin typeface="Arial"/>
                <a:cs typeface="Arial"/>
              </a:rPr>
              <a:t>nhận</a:t>
            </a:r>
            <a:endParaRPr sz="1800" dirty="0">
              <a:latin typeface="Arial"/>
              <a:cs typeface="Arial"/>
            </a:endParaRPr>
          </a:p>
        </p:txBody>
      </p:sp>
      <p:sp>
        <p:nvSpPr>
          <p:cNvPr id="44" name="object 39"/>
          <p:cNvSpPr/>
          <p:nvPr/>
        </p:nvSpPr>
        <p:spPr>
          <a:xfrm>
            <a:off x="7011753" y="3486402"/>
            <a:ext cx="1135412" cy="237482"/>
          </a:xfrm>
          <a:custGeom>
            <a:avLst/>
            <a:gdLst/>
            <a:ahLst/>
            <a:cxnLst/>
            <a:rect l="l" t="t" r="r" b="b"/>
            <a:pathLst>
              <a:path w="1009650" h="454660">
                <a:moveTo>
                  <a:pt x="1009649" y="436625"/>
                </a:moveTo>
                <a:lnTo>
                  <a:pt x="7619" y="0"/>
                </a:lnTo>
                <a:lnTo>
                  <a:pt x="0" y="17525"/>
                </a:lnTo>
                <a:lnTo>
                  <a:pt x="1002029" y="454151"/>
                </a:lnTo>
                <a:lnTo>
                  <a:pt x="1009649" y="436625"/>
                </a:lnTo>
                <a:close/>
              </a:path>
            </a:pathLst>
          </a:custGeom>
          <a:solidFill>
            <a:srgbClr val="FF0000"/>
          </a:solidFill>
        </p:spPr>
        <p:txBody>
          <a:bodyPr wrap="square" lIns="0" tIns="0" rIns="0" bIns="0" rtlCol="0"/>
          <a:lstStyle/>
          <a:p>
            <a:endParaRPr/>
          </a:p>
        </p:txBody>
      </p:sp>
      <p:sp>
        <p:nvSpPr>
          <p:cNvPr id="45" name="object 29"/>
          <p:cNvSpPr txBox="1"/>
          <p:nvPr/>
        </p:nvSpPr>
        <p:spPr>
          <a:xfrm>
            <a:off x="267224" y="4953867"/>
            <a:ext cx="2360323" cy="659155"/>
          </a:xfrm>
          <a:prstGeom prst="rect">
            <a:avLst/>
          </a:prstGeom>
        </p:spPr>
        <p:txBody>
          <a:bodyPr vert="horz" wrap="square" lIns="0" tIns="12700" rIns="0" bIns="0" rtlCol="0">
            <a:spAutoFit/>
          </a:bodyPr>
          <a:lstStyle/>
          <a:p>
            <a:pPr marR="33020">
              <a:lnSpc>
                <a:spcPct val="100000"/>
              </a:lnSpc>
              <a:spcBef>
                <a:spcPts val="1000"/>
              </a:spcBef>
            </a:pPr>
            <a:r>
              <a:rPr sz="1400" spc="-5" dirty="0">
                <a:latin typeface="Arial"/>
                <a:cs typeface="Arial"/>
              </a:rPr>
              <a:t>PSH: </a:t>
            </a:r>
            <a:r>
              <a:rPr lang="en-US" sz="1400" spc="-5" dirty="0" err="1">
                <a:latin typeface="Arial"/>
                <a:cs typeface="Arial"/>
              </a:rPr>
              <a:t>Có</a:t>
            </a:r>
            <a:r>
              <a:rPr lang="en-US" sz="1400" spc="-5" dirty="0">
                <a:latin typeface="Arial"/>
                <a:cs typeface="Arial"/>
              </a:rPr>
              <a:t> </a:t>
            </a:r>
            <a:r>
              <a:rPr lang="en-US" sz="1400" spc="-5" dirty="0" err="1">
                <a:latin typeface="Arial"/>
                <a:cs typeface="Arial"/>
              </a:rPr>
              <a:t>đẩy</a:t>
            </a:r>
            <a:r>
              <a:rPr lang="en-US" sz="1400" spc="-5" dirty="0">
                <a:latin typeface="Arial"/>
                <a:cs typeface="Arial"/>
              </a:rPr>
              <a:t> </a:t>
            </a:r>
            <a:r>
              <a:rPr lang="en-US" sz="1400" spc="-5" dirty="0" err="1">
                <a:latin typeface="Arial"/>
                <a:cs typeface="Arial"/>
              </a:rPr>
              <a:t>dữ</a:t>
            </a:r>
            <a:r>
              <a:rPr lang="en-US" sz="1400" spc="-5" dirty="0">
                <a:latin typeface="Arial"/>
                <a:cs typeface="Arial"/>
              </a:rPr>
              <a:t> </a:t>
            </a:r>
            <a:r>
              <a:rPr lang="en-US" sz="1400" spc="-5" dirty="0" err="1">
                <a:latin typeface="Arial"/>
                <a:cs typeface="Arial"/>
              </a:rPr>
              <a:t>liệu</a:t>
            </a:r>
            <a:r>
              <a:rPr lang="en-US" sz="1400" spc="-5" dirty="0">
                <a:latin typeface="Arial"/>
                <a:cs typeface="Arial"/>
              </a:rPr>
              <a:t> </a:t>
            </a:r>
            <a:r>
              <a:rPr lang="en-US" sz="1400" spc="-5" dirty="0" err="1">
                <a:latin typeface="Arial"/>
                <a:cs typeface="Arial"/>
              </a:rPr>
              <a:t>ngay</a:t>
            </a:r>
            <a:r>
              <a:rPr lang="en-US" sz="1400" spc="-5" dirty="0">
                <a:latin typeface="Arial"/>
                <a:cs typeface="Arial"/>
              </a:rPr>
              <a:t> </a:t>
            </a:r>
            <a:r>
              <a:rPr lang="en-US" sz="1400" spc="-5" dirty="0" err="1">
                <a:latin typeface="Arial"/>
                <a:cs typeface="Arial"/>
              </a:rPr>
              <a:t>lập</a:t>
            </a:r>
            <a:r>
              <a:rPr lang="en-US" sz="1400" spc="-5" dirty="0">
                <a:latin typeface="Arial"/>
                <a:cs typeface="Arial"/>
              </a:rPr>
              <a:t> </a:t>
            </a:r>
            <a:r>
              <a:rPr lang="en-US" sz="1400" spc="-5" dirty="0" err="1">
                <a:latin typeface="Arial"/>
                <a:cs typeface="Arial"/>
              </a:rPr>
              <a:t>tức</a:t>
            </a:r>
            <a:r>
              <a:rPr lang="en-US" sz="1400" spc="-5" dirty="0">
                <a:latin typeface="Arial"/>
                <a:cs typeface="Arial"/>
              </a:rPr>
              <a:t> </a:t>
            </a:r>
            <a:r>
              <a:rPr lang="en-US" sz="1400" spc="-5" dirty="0" err="1">
                <a:latin typeface="Arial"/>
                <a:cs typeface="Arial"/>
              </a:rPr>
              <a:t>lên</a:t>
            </a:r>
            <a:r>
              <a:rPr lang="en-US" sz="1400" spc="-5" dirty="0">
                <a:latin typeface="Arial"/>
                <a:cs typeface="Arial"/>
              </a:rPr>
              <a:t> </a:t>
            </a:r>
            <a:r>
              <a:rPr lang="en-US" sz="1400" spc="-5" dirty="0" err="1">
                <a:latin typeface="Arial"/>
                <a:cs typeface="Arial"/>
              </a:rPr>
              <a:t>tầng</a:t>
            </a:r>
            <a:r>
              <a:rPr lang="en-US" sz="1400" spc="-5" dirty="0">
                <a:latin typeface="Arial"/>
                <a:cs typeface="Arial"/>
              </a:rPr>
              <a:t> </a:t>
            </a:r>
            <a:r>
              <a:rPr lang="en-US" sz="1400" spc="-5" dirty="0" err="1">
                <a:latin typeface="Arial"/>
                <a:cs typeface="Arial"/>
              </a:rPr>
              <a:t>trên</a:t>
            </a:r>
            <a:r>
              <a:rPr lang="en-US" sz="1400" spc="-5" dirty="0">
                <a:latin typeface="Arial"/>
                <a:cs typeface="Arial"/>
              </a:rPr>
              <a:t> </a:t>
            </a:r>
            <a:r>
              <a:rPr lang="en-US" sz="1400" spc="-5" dirty="0" err="1">
                <a:latin typeface="Arial"/>
                <a:cs typeface="Arial"/>
              </a:rPr>
              <a:t>không</a:t>
            </a:r>
            <a:r>
              <a:rPr lang="en-US" sz="1400" spc="-5" dirty="0">
                <a:latin typeface="Arial"/>
                <a:cs typeface="Arial"/>
              </a:rPr>
              <a:t>? (</a:t>
            </a:r>
            <a:r>
              <a:rPr lang="en-US" sz="1400" spc="-5" dirty="0" err="1">
                <a:latin typeface="Arial"/>
                <a:cs typeface="Arial"/>
              </a:rPr>
              <a:t>hiện</a:t>
            </a:r>
            <a:r>
              <a:rPr lang="en-US" sz="1400" spc="-5" dirty="0">
                <a:latin typeface="Arial"/>
                <a:cs typeface="Arial"/>
              </a:rPr>
              <a:t> </a:t>
            </a:r>
            <a:r>
              <a:rPr lang="en-US" sz="1400" spc="-5" dirty="0" err="1">
                <a:latin typeface="Arial"/>
                <a:cs typeface="Arial"/>
              </a:rPr>
              <a:t>tại</a:t>
            </a:r>
            <a:r>
              <a:rPr lang="en-US" sz="1400" spc="-5" dirty="0">
                <a:latin typeface="Arial"/>
                <a:cs typeface="Arial"/>
              </a:rPr>
              <a:t> </a:t>
            </a:r>
            <a:r>
              <a:rPr lang="en-US" sz="1400" spc="-5" dirty="0" err="1">
                <a:latin typeface="Arial"/>
                <a:cs typeface="Arial"/>
              </a:rPr>
              <a:t>không</a:t>
            </a:r>
            <a:r>
              <a:rPr lang="en-US" sz="1400" spc="-5" dirty="0">
                <a:latin typeface="Arial"/>
                <a:cs typeface="Arial"/>
              </a:rPr>
              <a:t> </a:t>
            </a:r>
            <a:r>
              <a:rPr lang="en-US" sz="1400" spc="-5" dirty="0" err="1">
                <a:latin typeface="Arial"/>
                <a:cs typeface="Arial"/>
              </a:rPr>
              <a:t>dùng</a:t>
            </a:r>
            <a:r>
              <a:rPr lang="en-US" sz="1400" spc="-5" dirty="0">
                <a:latin typeface="Arial"/>
                <a:cs typeface="Arial"/>
              </a:rPr>
              <a:t>)</a:t>
            </a:r>
            <a:endParaRPr sz="1400" dirty="0">
              <a:latin typeface="Arial"/>
              <a:cs typeface="Arial"/>
            </a:endParaRPr>
          </a:p>
        </p:txBody>
      </p:sp>
      <p:cxnSp>
        <p:nvCxnSpPr>
          <p:cNvPr id="48" name="Straight Connector 47"/>
          <p:cNvCxnSpPr/>
          <p:nvPr/>
        </p:nvCxnSpPr>
        <p:spPr>
          <a:xfrm flipH="1">
            <a:off x="2505599" y="3419157"/>
            <a:ext cx="2174478" cy="1818121"/>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52" name="object 29"/>
          <p:cNvSpPr txBox="1"/>
          <p:nvPr/>
        </p:nvSpPr>
        <p:spPr>
          <a:xfrm>
            <a:off x="64419" y="4260947"/>
            <a:ext cx="2407462" cy="566822"/>
          </a:xfrm>
          <a:prstGeom prst="rect">
            <a:avLst/>
          </a:prstGeom>
        </p:spPr>
        <p:txBody>
          <a:bodyPr vert="horz" wrap="square" lIns="0" tIns="12700" rIns="0" bIns="0" rtlCol="0">
            <a:spAutoFit/>
          </a:bodyPr>
          <a:lstStyle/>
          <a:p>
            <a:pPr marR="52069">
              <a:lnSpc>
                <a:spcPct val="100000"/>
              </a:lnSpc>
              <a:spcBef>
                <a:spcPts val="1380"/>
              </a:spcBef>
            </a:pPr>
            <a:r>
              <a:rPr sz="1800" spc="-5" dirty="0">
                <a:latin typeface="Arial"/>
                <a:cs typeface="Arial"/>
              </a:rPr>
              <a:t>ACK: </a:t>
            </a:r>
            <a:r>
              <a:rPr lang="en-US" spc="-5" dirty="0" err="1">
                <a:latin typeface="Arial"/>
                <a:cs typeface="Arial"/>
              </a:rPr>
              <a:t>Để</a:t>
            </a:r>
            <a:r>
              <a:rPr lang="en-US" spc="-5" dirty="0">
                <a:latin typeface="Arial"/>
                <a:cs typeface="Arial"/>
              </a:rPr>
              <a:t> </a:t>
            </a:r>
            <a:r>
              <a:rPr lang="en-US" spc="-5" dirty="0" err="1">
                <a:latin typeface="Arial"/>
                <a:cs typeface="Arial"/>
              </a:rPr>
              <a:t>chỉ</a:t>
            </a:r>
            <a:r>
              <a:rPr lang="en-US" spc="-5" dirty="0">
                <a:latin typeface="Arial"/>
                <a:cs typeface="Arial"/>
              </a:rPr>
              <a:t> </a:t>
            </a:r>
            <a:r>
              <a:rPr lang="en-US" spc="-5" dirty="0" err="1">
                <a:latin typeface="Arial"/>
                <a:cs typeface="Arial"/>
              </a:rPr>
              <a:t>giá</a:t>
            </a:r>
            <a:r>
              <a:rPr lang="en-US" spc="-5" dirty="0">
                <a:latin typeface="Arial"/>
                <a:cs typeface="Arial"/>
              </a:rPr>
              <a:t> </a:t>
            </a:r>
            <a:r>
              <a:rPr lang="en-US" spc="-5" dirty="0" err="1">
                <a:latin typeface="Arial"/>
                <a:cs typeface="Arial"/>
              </a:rPr>
              <a:t>trị</a:t>
            </a:r>
            <a:r>
              <a:rPr lang="en-US" spc="-5" dirty="0">
                <a:latin typeface="Arial"/>
                <a:cs typeface="Arial"/>
              </a:rPr>
              <a:t>     </a:t>
            </a:r>
            <a:r>
              <a:rPr sz="1800" spc="-5" dirty="0">
                <a:latin typeface="Arial"/>
                <a:cs typeface="Arial"/>
              </a:rPr>
              <a:t>ACK</a:t>
            </a:r>
            <a:r>
              <a:rPr sz="1800" spc="-190" dirty="0">
                <a:latin typeface="Arial"/>
                <a:cs typeface="Arial"/>
              </a:rPr>
              <a:t> </a:t>
            </a:r>
            <a:r>
              <a:rPr sz="1800" dirty="0">
                <a:latin typeface="Arial"/>
                <a:cs typeface="Arial"/>
              </a:rPr>
              <a:t>#</a:t>
            </a:r>
            <a:r>
              <a:rPr lang="en-US" sz="1800" dirty="0">
                <a:latin typeface="Arial"/>
                <a:cs typeface="Arial"/>
              </a:rPr>
              <a:t> </a:t>
            </a:r>
            <a:r>
              <a:rPr lang="en-US" dirty="0" err="1">
                <a:latin typeface="Arial"/>
                <a:cs typeface="Arial"/>
              </a:rPr>
              <a:t>l</a:t>
            </a:r>
            <a:r>
              <a:rPr lang="en-US" sz="1800" dirty="0" err="1">
                <a:latin typeface="Arial"/>
                <a:cs typeface="Arial"/>
              </a:rPr>
              <a:t>à</a:t>
            </a:r>
            <a:r>
              <a:rPr lang="en-US" sz="1800" dirty="0">
                <a:latin typeface="Arial"/>
                <a:cs typeface="Arial"/>
              </a:rPr>
              <a:t> </a:t>
            </a:r>
            <a:r>
              <a:rPr lang="en-US" sz="1800" dirty="0" err="1">
                <a:latin typeface="Arial"/>
                <a:cs typeface="Arial"/>
              </a:rPr>
              <a:t>đúng</a:t>
            </a:r>
            <a:endParaRPr sz="1800" dirty="0">
              <a:latin typeface="Arial"/>
              <a:cs typeface="Arial"/>
            </a:endParaRPr>
          </a:p>
        </p:txBody>
      </p:sp>
      <p:cxnSp>
        <p:nvCxnSpPr>
          <p:cNvPr id="53" name="Straight Connector 52"/>
          <p:cNvCxnSpPr>
            <a:endCxn id="55" idx="3"/>
          </p:cNvCxnSpPr>
          <p:nvPr/>
        </p:nvCxnSpPr>
        <p:spPr>
          <a:xfrm flipH="1">
            <a:off x="2327656" y="3530056"/>
            <a:ext cx="1236823" cy="2403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55" name="object 29"/>
          <p:cNvSpPr txBox="1"/>
          <p:nvPr/>
        </p:nvSpPr>
        <p:spPr>
          <a:xfrm>
            <a:off x="-49869" y="2993679"/>
            <a:ext cx="2377525" cy="1120820"/>
          </a:xfrm>
          <a:prstGeom prst="rect">
            <a:avLst/>
          </a:prstGeom>
        </p:spPr>
        <p:txBody>
          <a:bodyPr vert="horz" wrap="square" lIns="0" tIns="12700" rIns="0" bIns="0" rtlCol="0">
            <a:spAutoFit/>
          </a:bodyPr>
          <a:lstStyle/>
          <a:p>
            <a:pPr marL="288925" marR="5080" indent="-19050" algn="just">
              <a:lnSpc>
                <a:spcPct val="100000"/>
              </a:lnSpc>
              <a:spcBef>
                <a:spcPts val="100"/>
              </a:spcBef>
            </a:pPr>
            <a:r>
              <a:rPr lang="en-US" sz="1800" spc="-5" dirty="0">
                <a:latin typeface="Arial"/>
                <a:cs typeface="Arial"/>
              </a:rPr>
              <a:t>4 bit </a:t>
            </a:r>
            <a:r>
              <a:rPr lang="en-US" sz="1800" spc="-5" dirty="0" err="1">
                <a:latin typeface="Arial"/>
                <a:cs typeface="Arial"/>
              </a:rPr>
              <a:t>xác</a:t>
            </a:r>
            <a:r>
              <a:rPr lang="en-US" sz="1800" spc="-5" dirty="0">
                <a:latin typeface="Arial"/>
                <a:cs typeface="Arial"/>
              </a:rPr>
              <a:t> </a:t>
            </a:r>
            <a:r>
              <a:rPr lang="en-US" sz="1800" spc="-5" dirty="0" err="1">
                <a:latin typeface="Arial"/>
                <a:cs typeface="Arial"/>
              </a:rPr>
              <a:t>định</a:t>
            </a:r>
            <a:r>
              <a:rPr lang="en-US" sz="1800" spc="-5" dirty="0">
                <a:latin typeface="Arial"/>
                <a:cs typeface="Arial"/>
              </a:rPr>
              <a:t> </a:t>
            </a:r>
            <a:r>
              <a:rPr lang="en-US" sz="1800" spc="-5" dirty="0" err="1">
                <a:latin typeface="Arial"/>
                <a:cs typeface="Arial"/>
              </a:rPr>
              <a:t>độ</a:t>
            </a:r>
            <a:r>
              <a:rPr lang="en-US" sz="1800" spc="-5" dirty="0">
                <a:latin typeface="Arial"/>
                <a:cs typeface="Arial"/>
              </a:rPr>
              <a:t> </a:t>
            </a:r>
            <a:r>
              <a:rPr lang="en-US" sz="1800" spc="-5" dirty="0" err="1">
                <a:latin typeface="Arial"/>
                <a:cs typeface="Arial"/>
              </a:rPr>
              <a:t>dài</a:t>
            </a:r>
            <a:r>
              <a:rPr lang="en-US" sz="1800" spc="-5" dirty="0">
                <a:latin typeface="Arial"/>
                <a:cs typeface="Arial"/>
              </a:rPr>
              <a:t> </a:t>
            </a:r>
            <a:r>
              <a:rPr lang="en-US" sz="1800" spc="-5" dirty="0" err="1">
                <a:latin typeface="Arial"/>
                <a:cs typeface="Arial"/>
              </a:rPr>
              <a:t>của</a:t>
            </a:r>
            <a:r>
              <a:rPr lang="en-US" sz="1800" spc="-5" dirty="0">
                <a:latin typeface="Arial"/>
                <a:cs typeface="Arial"/>
              </a:rPr>
              <a:t> </a:t>
            </a:r>
            <a:r>
              <a:rPr lang="en-US" sz="1800" spc="-5" dirty="0" err="1">
                <a:latin typeface="Arial"/>
                <a:cs typeface="Arial"/>
              </a:rPr>
              <a:t>tiêu</a:t>
            </a:r>
            <a:r>
              <a:rPr lang="en-US" sz="1800" spc="-5" dirty="0">
                <a:latin typeface="Arial"/>
                <a:cs typeface="Arial"/>
              </a:rPr>
              <a:t> </a:t>
            </a:r>
            <a:r>
              <a:rPr lang="en-US" sz="1800" spc="-5" dirty="0" err="1">
                <a:latin typeface="Arial"/>
                <a:cs typeface="Arial"/>
              </a:rPr>
              <a:t>đề</a:t>
            </a:r>
            <a:r>
              <a:rPr lang="en-US" sz="1800" spc="-5" dirty="0">
                <a:latin typeface="Arial"/>
                <a:cs typeface="Arial"/>
              </a:rPr>
              <a:t> TCP </a:t>
            </a:r>
            <a:r>
              <a:rPr lang="en-US" sz="1800" spc="-5" dirty="0" err="1">
                <a:latin typeface="Arial"/>
                <a:cs typeface="Arial"/>
              </a:rPr>
              <a:t>theo</a:t>
            </a:r>
            <a:r>
              <a:rPr lang="en-US" sz="1800" spc="-5" dirty="0">
                <a:latin typeface="Arial"/>
                <a:cs typeface="Arial"/>
              </a:rPr>
              <a:t> </a:t>
            </a:r>
            <a:r>
              <a:rPr lang="en-US" sz="1800" spc="-5" dirty="0" err="1">
                <a:latin typeface="Arial"/>
                <a:cs typeface="Arial"/>
              </a:rPr>
              <a:t>đơn</a:t>
            </a:r>
            <a:r>
              <a:rPr lang="en-US" sz="1800" spc="-5" dirty="0">
                <a:latin typeface="Arial"/>
                <a:cs typeface="Arial"/>
              </a:rPr>
              <a:t> </a:t>
            </a:r>
            <a:r>
              <a:rPr lang="en-US" sz="1800" spc="-5" dirty="0" err="1">
                <a:latin typeface="Arial"/>
                <a:cs typeface="Arial"/>
              </a:rPr>
              <a:t>vị</a:t>
            </a:r>
            <a:r>
              <a:rPr lang="en-US" sz="1800" spc="-5" dirty="0">
                <a:latin typeface="Arial"/>
                <a:cs typeface="Arial"/>
              </a:rPr>
              <a:t>  </a:t>
            </a:r>
            <a:r>
              <a:rPr lang="en-US" sz="1800" spc="-5" dirty="0" err="1">
                <a:latin typeface="Arial"/>
                <a:cs typeface="Arial"/>
              </a:rPr>
              <a:t>là</a:t>
            </a:r>
            <a:r>
              <a:rPr lang="en-US" sz="1800" spc="-5" dirty="0">
                <a:latin typeface="Arial"/>
                <a:cs typeface="Arial"/>
              </a:rPr>
              <a:t> </a:t>
            </a:r>
            <a:r>
              <a:rPr lang="en-US" sz="1800" spc="-5" dirty="0" err="1">
                <a:latin typeface="Arial"/>
                <a:cs typeface="Arial"/>
              </a:rPr>
              <a:t>các</a:t>
            </a:r>
            <a:r>
              <a:rPr lang="en-US" sz="1800" spc="-5" dirty="0">
                <a:latin typeface="Arial"/>
                <a:cs typeface="Arial"/>
              </a:rPr>
              <a:t> </a:t>
            </a:r>
            <a:r>
              <a:rPr lang="en-US" sz="1800" spc="-5" dirty="0" err="1">
                <a:latin typeface="Arial"/>
                <a:cs typeface="Arial"/>
              </a:rPr>
              <a:t>từ</a:t>
            </a:r>
            <a:r>
              <a:rPr lang="en-US" sz="1800" spc="-5" dirty="0">
                <a:latin typeface="Arial"/>
                <a:cs typeface="Arial"/>
              </a:rPr>
              <a:t> 32 bit</a:t>
            </a:r>
            <a:endParaRPr sz="1800" dirty="0">
              <a:latin typeface="Arial"/>
              <a:cs typeface="Arial"/>
            </a:endParaRPr>
          </a:p>
        </p:txBody>
      </p:sp>
      <p:cxnSp>
        <p:nvCxnSpPr>
          <p:cNvPr id="58" name="Straight Connector 57"/>
          <p:cNvCxnSpPr/>
          <p:nvPr/>
        </p:nvCxnSpPr>
        <p:spPr>
          <a:xfrm flipH="1" flipV="1">
            <a:off x="2077722" y="2447842"/>
            <a:ext cx="1839720" cy="9613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object 29"/>
          <p:cNvSpPr txBox="1"/>
          <p:nvPr/>
        </p:nvSpPr>
        <p:spPr>
          <a:xfrm>
            <a:off x="320551" y="1358110"/>
            <a:ext cx="2136775" cy="843821"/>
          </a:xfrm>
          <a:prstGeom prst="rect">
            <a:avLst/>
          </a:prstGeom>
        </p:spPr>
        <p:txBody>
          <a:bodyPr vert="horz" wrap="square" lIns="0" tIns="12700" rIns="0" bIns="0" rtlCol="0">
            <a:spAutoFit/>
          </a:bodyPr>
          <a:lstStyle/>
          <a:p>
            <a:pPr marR="5080" algn="just">
              <a:lnSpc>
                <a:spcPct val="100000"/>
              </a:lnSpc>
              <a:spcBef>
                <a:spcPts val="100"/>
              </a:spcBef>
            </a:pPr>
            <a:r>
              <a:rPr sz="1800" spc="-5" dirty="0">
                <a:latin typeface="Arial"/>
                <a:cs typeface="Arial"/>
              </a:rPr>
              <a:t>URG</a:t>
            </a:r>
            <a:r>
              <a:rPr lang="en-US" sz="1800" spc="-5" dirty="0">
                <a:latin typeface="Arial"/>
                <a:cs typeface="Arial"/>
              </a:rPr>
              <a:t> </a:t>
            </a:r>
            <a:r>
              <a:rPr lang="en-US" sz="1800" spc="-5" dirty="0" err="1">
                <a:latin typeface="Arial"/>
                <a:cs typeface="Arial"/>
              </a:rPr>
              <a:t>báo</a:t>
            </a:r>
            <a:r>
              <a:rPr lang="en-US" sz="1800" spc="-5" dirty="0">
                <a:latin typeface="Arial"/>
                <a:cs typeface="Arial"/>
              </a:rPr>
              <a:t> </a:t>
            </a:r>
            <a:r>
              <a:rPr lang="en-US" sz="1800" spc="-5" dirty="0" err="1">
                <a:latin typeface="Arial"/>
                <a:cs typeface="Arial"/>
              </a:rPr>
              <a:t>hiệu</a:t>
            </a:r>
            <a:r>
              <a:rPr lang="en-US" sz="1800" spc="-5" dirty="0">
                <a:latin typeface="Arial"/>
                <a:cs typeface="Arial"/>
              </a:rPr>
              <a:t> </a:t>
            </a:r>
            <a:r>
              <a:rPr lang="en-US" sz="1800" spc="-5" dirty="0" err="1">
                <a:latin typeface="Arial"/>
                <a:cs typeface="Arial"/>
              </a:rPr>
              <a:t>dữ</a:t>
            </a:r>
            <a:r>
              <a:rPr lang="en-US" sz="1800" spc="-5" dirty="0">
                <a:latin typeface="Arial"/>
                <a:cs typeface="Arial"/>
              </a:rPr>
              <a:t> </a:t>
            </a:r>
            <a:r>
              <a:rPr lang="en-US" sz="1800" spc="-5" dirty="0" err="1">
                <a:latin typeface="Arial"/>
                <a:cs typeface="Arial"/>
              </a:rPr>
              <a:t>liệu</a:t>
            </a:r>
            <a:r>
              <a:rPr lang="en-US" sz="1800" spc="-5" dirty="0">
                <a:latin typeface="Arial"/>
                <a:cs typeface="Arial"/>
              </a:rPr>
              <a:t> </a:t>
            </a:r>
            <a:r>
              <a:rPr lang="en-US" sz="1800" spc="-5" dirty="0" err="1">
                <a:latin typeface="Arial"/>
                <a:cs typeface="Arial"/>
              </a:rPr>
              <a:t>khẩn</a:t>
            </a:r>
            <a:r>
              <a:rPr lang="en-US" sz="1800" spc="-5" dirty="0">
                <a:latin typeface="Arial"/>
                <a:cs typeface="Arial"/>
              </a:rPr>
              <a:t> </a:t>
            </a:r>
            <a:r>
              <a:rPr lang="en-US" sz="1800" spc="-5" dirty="0" err="1">
                <a:latin typeface="Arial"/>
                <a:cs typeface="Arial"/>
              </a:rPr>
              <a:t>cấp</a:t>
            </a:r>
            <a:r>
              <a:rPr lang="en-US" sz="1800" spc="-5" dirty="0">
                <a:latin typeface="Arial"/>
                <a:cs typeface="Arial"/>
              </a:rPr>
              <a:t> </a:t>
            </a:r>
            <a:r>
              <a:rPr lang="en-US" sz="1800" spc="-5" dirty="0" err="1">
                <a:latin typeface="Arial"/>
                <a:cs typeface="Arial"/>
              </a:rPr>
              <a:t>trong</a:t>
            </a:r>
            <a:r>
              <a:rPr lang="en-US" sz="1800" spc="-5" dirty="0">
                <a:latin typeface="Arial"/>
                <a:cs typeface="Arial"/>
              </a:rPr>
              <a:t> segment  </a:t>
            </a:r>
            <a:endParaRPr sz="1800" dirty="0">
              <a:latin typeface="Arial"/>
              <a:cs typeface="Arial"/>
            </a:endParaRPr>
          </a:p>
        </p:txBody>
      </p:sp>
      <p:sp>
        <p:nvSpPr>
          <p:cNvPr id="60" name="object 35"/>
          <p:cNvSpPr txBox="1"/>
          <p:nvPr/>
        </p:nvSpPr>
        <p:spPr>
          <a:xfrm>
            <a:off x="7984091" y="4393051"/>
            <a:ext cx="1996210" cy="1120820"/>
          </a:xfrm>
          <a:prstGeom prst="rect">
            <a:avLst/>
          </a:prstGeom>
        </p:spPr>
        <p:txBody>
          <a:bodyPr vert="horz" wrap="square" lIns="0" tIns="12700" rIns="0" bIns="0" rtlCol="0">
            <a:spAutoFit/>
          </a:bodyPr>
          <a:lstStyle/>
          <a:p>
            <a:pPr marL="12700" marR="5080">
              <a:lnSpc>
                <a:spcPct val="100000"/>
              </a:lnSpc>
              <a:spcBef>
                <a:spcPts val="100"/>
              </a:spcBef>
            </a:pPr>
            <a:r>
              <a:rPr lang="en-US" dirty="0" err="1">
                <a:latin typeface="Arial" panose="020B0604020202020204" pitchFamily="34" charset="0"/>
                <a:cs typeface="Arial" panose="020B0604020202020204" pitchFamily="34" charset="0"/>
              </a:rPr>
              <a:t>Xác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trí</a:t>
            </a:r>
            <a:r>
              <a:rPr lang="en-US" dirty="0">
                <a:latin typeface="Arial" panose="020B0604020202020204" pitchFamily="34" charset="0"/>
                <a:cs typeface="Arial" panose="020B0604020202020204" pitchFamily="34" charset="0"/>
              </a:rPr>
              <a:t> byte </a:t>
            </a:r>
            <a:r>
              <a:rPr lang="en-US" dirty="0" err="1">
                <a:latin typeface="Arial" panose="020B0604020202020204" pitchFamily="34" charset="0"/>
                <a:cs typeface="Arial" panose="020B0604020202020204" pitchFamily="34" charset="0"/>
              </a:rPr>
              <a:t>cuối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liệu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khẩn</a:t>
            </a:r>
            <a:r>
              <a:rPr lang="en-US" dirty="0">
                <a:latin typeface="Arial" panose="020B0604020202020204" pitchFamily="34" charset="0"/>
                <a:cs typeface="Arial" panose="020B0604020202020204" pitchFamily="34" charset="0"/>
              </a:rPr>
              <a:t> </a:t>
            </a:r>
            <a:r>
              <a:rPr lang="vi-VN" dirty="0"/>
              <a:t>khi URG được thiết lập</a:t>
            </a:r>
            <a:endParaRPr sz="1800" dirty="0">
              <a:latin typeface="Arial"/>
              <a:cs typeface="Arial"/>
            </a:endParaRPr>
          </a:p>
        </p:txBody>
      </p:sp>
      <p:sp>
        <p:nvSpPr>
          <p:cNvPr id="61" name="object 39"/>
          <p:cNvSpPr/>
          <p:nvPr/>
        </p:nvSpPr>
        <p:spPr>
          <a:xfrm>
            <a:off x="7034489" y="3899906"/>
            <a:ext cx="860449" cy="896053"/>
          </a:xfrm>
          <a:custGeom>
            <a:avLst/>
            <a:gdLst/>
            <a:ahLst/>
            <a:cxnLst/>
            <a:rect l="l" t="t" r="r" b="b"/>
            <a:pathLst>
              <a:path w="1009650" h="454660">
                <a:moveTo>
                  <a:pt x="1009649" y="436625"/>
                </a:moveTo>
                <a:lnTo>
                  <a:pt x="7619" y="0"/>
                </a:lnTo>
                <a:lnTo>
                  <a:pt x="0" y="17525"/>
                </a:lnTo>
                <a:lnTo>
                  <a:pt x="1002029" y="454151"/>
                </a:lnTo>
                <a:lnTo>
                  <a:pt x="1009649" y="436625"/>
                </a:lnTo>
                <a:close/>
              </a:path>
            </a:pathLst>
          </a:custGeom>
          <a:solidFill>
            <a:srgbClr val="FF0000"/>
          </a:solidFill>
        </p:spPr>
        <p:txBody>
          <a:bodyPr wrap="square" lIns="0" tIns="0" rIns="0" bIns="0" rtlCol="0"/>
          <a:lstStyle/>
          <a:p>
            <a:endParaRPr/>
          </a:p>
        </p:txBody>
      </p:sp>
      <p:sp>
        <p:nvSpPr>
          <p:cNvPr id="62" name="object 35"/>
          <p:cNvSpPr txBox="1"/>
          <p:nvPr/>
        </p:nvSpPr>
        <p:spPr>
          <a:xfrm>
            <a:off x="7862143" y="5771215"/>
            <a:ext cx="1752048" cy="1120820"/>
          </a:xfrm>
          <a:prstGeom prst="rect">
            <a:avLst/>
          </a:prstGeom>
        </p:spPr>
        <p:txBody>
          <a:bodyPr vert="horz" wrap="square" lIns="0" tIns="12700" rIns="0" bIns="0" rtlCol="0">
            <a:spAutoFit/>
          </a:bodyPr>
          <a:lstStyle/>
          <a:p>
            <a:pPr marL="12700" marR="5080">
              <a:lnSpc>
                <a:spcPct val="100000"/>
              </a:lnSpc>
              <a:spcBef>
                <a:spcPts val="100"/>
              </a:spcBef>
            </a:pPr>
            <a:r>
              <a:rPr lang="en-US" dirty="0" err="1"/>
              <a:t>Khai</a:t>
            </a:r>
            <a:r>
              <a:rPr lang="en-US" dirty="0"/>
              <a:t> </a:t>
            </a:r>
            <a:r>
              <a:rPr lang="en-US" dirty="0" err="1"/>
              <a:t>báo</a:t>
            </a:r>
            <a:r>
              <a:rPr lang="en-US" dirty="0"/>
              <a:t> </a:t>
            </a:r>
            <a:r>
              <a:rPr lang="en-US" dirty="0" err="1"/>
              <a:t>độ</a:t>
            </a:r>
            <a:r>
              <a:rPr lang="en-US" dirty="0"/>
              <a:t> </a:t>
            </a:r>
            <a:r>
              <a:rPr lang="en-US" dirty="0" err="1"/>
              <a:t>dài</a:t>
            </a:r>
            <a:r>
              <a:rPr lang="en-US" dirty="0"/>
              <a:t> </a:t>
            </a:r>
            <a:r>
              <a:rPr lang="en-US" dirty="0" err="1"/>
              <a:t>tối</a:t>
            </a:r>
            <a:r>
              <a:rPr lang="en-US" dirty="0"/>
              <a:t> </a:t>
            </a:r>
            <a:r>
              <a:rPr lang="en-US" dirty="0" err="1"/>
              <a:t>đa</a:t>
            </a:r>
            <a:r>
              <a:rPr lang="en-US" dirty="0"/>
              <a:t> </a:t>
            </a:r>
            <a:r>
              <a:rPr lang="en-US" dirty="0" err="1"/>
              <a:t>của</a:t>
            </a:r>
            <a:r>
              <a:rPr lang="en-US" dirty="0"/>
              <a:t> TCP data </a:t>
            </a:r>
            <a:r>
              <a:rPr lang="en-US" dirty="0" err="1"/>
              <a:t>trong</a:t>
            </a:r>
            <a:r>
              <a:rPr lang="en-US" dirty="0"/>
              <a:t> </a:t>
            </a:r>
            <a:r>
              <a:rPr lang="en-US" dirty="0" err="1"/>
              <a:t>một</a:t>
            </a:r>
            <a:r>
              <a:rPr lang="en-US" dirty="0"/>
              <a:t> Segment</a:t>
            </a:r>
            <a:endParaRPr sz="1800" dirty="0">
              <a:latin typeface="Arial"/>
              <a:cs typeface="Arial"/>
            </a:endParaRPr>
          </a:p>
        </p:txBody>
      </p:sp>
      <p:cxnSp>
        <p:nvCxnSpPr>
          <p:cNvPr id="64" name="Straight Connector 63"/>
          <p:cNvCxnSpPr/>
          <p:nvPr/>
        </p:nvCxnSpPr>
        <p:spPr>
          <a:xfrm>
            <a:off x="6774386" y="4421988"/>
            <a:ext cx="998014" cy="177159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2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animBg="1"/>
      <p:bldP spid="32" grpId="0" animBg="1"/>
      <p:bldP spid="34" grpId="0" animBg="1"/>
      <p:bldP spid="35" grpId="0"/>
      <p:bldP spid="36" grpId="0"/>
      <p:bldP spid="37" grpId="0"/>
      <p:bldP spid="38" grpId="0" animBg="1"/>
      <p:bldP spid="39" grpId="0" animBg="1"/>
      <p:bldP spid="41" grpId="0" animBg="1"/>
      <p:bldP spid="42" grpId="0"/>
      <p:bldP spid="44" grpId="0" animBg="1"/>
      <p:bldP spid="45" grpId="0"/>
      <p:bldP spid="52" grpId="0"/>
      <p:bldP spid="55" grpId="0"/>
      <p:bldP spid="59" grpId="0"/>
      <p:bldP spid="60" grpId="0"/>
      <p:bldP spid="61" grpId="0" animBg="1"/>
      <p:bldP spid="62"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741" y="533400"/>
            <a:ext cx="9582659" cy="1107996"/>
          </a:xfrm>
        </p:spPr>
        <p:txBody>
          <a:bodyPr/>
          <a:lstStyle/>
          <a:p>
            <a:r>
              <a:rPr lang="en-GB" dirty="0"/>
              <a:t>Sequence number, </a:t>
            </a:r>
            <a:r>
              <a:rPr lang="en-US" spc="-10" dirty="0"/>
              <a:t>acknowledgement</a:t>
            </a:r>
            <a:r>
              <a:rPr lang="en-GB" dirty="0"/>
              <a:t> number</a:t>
            </a:r>
          </a:p>
        </p:txBody>
      </p:sp>
      <p:sp>
        <p:nvSpPr>
          <p:cNvPr id="83" name="Text Placeholder 82"/>
          <p:cNvSpPr>
            <a:spLocks noGrp="1"/>
          </p:cNvSpPr>
          <p:nvPr>
            <p:ph type="body" idx="1"/>
          </p:nvPr>
        </p:nvSpPr>
        <p:spPr>
          <a:xfrm>
            <a:off x="780541" y="1447800"/>
            <a:ext cx="8753348" cy="4124206"/>
          </a:xfrm>
        </p:spPr>
        <p:txBody>
          <a:bodyPr/>
          <a:lstStyle/>
          <a:p>
            <a:pPr marL="342900" indent="-342900">
              <a:buClr>
                <a:srgbClr val="0070C0"/>
              </a:buClr>
              <a:buFont typeface="Wingdings" panose="05000000000000000000" pitchFamily="2" charset="2"/>
              <a:buChar char="q"/>
            </a:pPr>
            <a:r>
              <a:rPr lang="en-GB" dirty="0" err="1"/>
              <a:t>Giả</a:t>
            </a:r>
            <a:r>
              <a:rPr lang="en-GB" dirty="0"/>
              <a:t> </a:t>
            </a:r>
            <a:r>
              <a:rPr lang="en-GB" dirty="0" err="1"/>
              <a:t>sử</a:t>
            </a:r>
            <a:r>
              <a:rPr lang="en-GB" dirty="0"/>
              <a:t> </a:t>
            </a:r>
            <a:r>
              <a:rPr lang="en-GB" dirty="0" err="1"/>
              <a:t>rằng</a:t>
            </a:r>
            <a:r>
              <a:rPr lang="en-GB" dirty="0"/>
              <a:t> </a:t>
            </a:r>
            <a:r>
              <a:rPr lang="en-GB" dirty="0" err="1"/>
              <a:t>một</a:t>
            </a:r>
            <a:r>
              <a:rPr lang="en-GB" dirty="0"/>
              <a:t> </a:t>
            </a:r>
            <a:r>
              <a:rPr lang="en-GB" dirty="0" err="1"/>
              <a:t>tiến</a:t>
            </a:r>
            <a:r>
              <a:rPr lang="en-GB" dirty="0"/>
              <a:t> </a:t>
            </a:r>
            <a:r>
              <a:rPr lang="en-GB" dirty="0" err="1"/>
              <a:t>trình</a:t>
            </a:r>
            <a:r>
              <a:rPr lang="en-GB" dirty="0"/>
              <a:t> </a:t>
            </a:r>
            <a:r>
              <a:rPr lang="en-GB" dirty="0" err="1"/>
              <a:t>trong</a:t>
            </a:r>
            <a:r>
              <a:rPr lang="en-GB" dirty="0"/>
              <a:t> </a:t>
            </a:r>
            <a:r>
              <a:rPr lang="en-GB" dirty="0" err="1"/>
              <a:t>máy</a:t>
            </a:r>
            <a:r>
              <a:rPr lang="en-GB" dirty="0"/>
              <a:t> A </a:t>
            </a:r>
            <a:r>
              <a:rPr lang="en-GB" dirty="0" err="1"/>
              <a:t>muốn</a:t>
            </a:r>
            <a:r>
              <a:rPr lang="en-GB" dirty="0"/>
              <a:t> </a:t>
            </a:r>
            <a:r>
              <a:rPr lang="en-GB" dirty="0" err="1"/>
              <a:t>gửi</a:t>
            </a:r>
            <a:r>
              <a:rPr lang="en-GB" dirty="0"/>
              <a:t> </a:t>
            </a:r>
            <a:r>
              <a:rPr lang="en-GB" dirty="0" err="1"/>
              <a:t>một</a:t>
            </a:r>
            <a:r>
              <a:rPr lang="en-GB" dirty="0"/>
              <a:t> </a:t>
            </a:r>
            <a:r>
              <a:rPr lang="en-GB" dirty="0" err="1"/>
              <a:t>luồng</a:t>
            </a:r>
            <a:r>
              <a:rPr lang="en-GB" dirty="0"/>
              <a:t> </a:t>
            </a:r>
            <a:r>
              <a:rPr lang="en-GB" dirty="0" err="1"/>
              <a:t>dữ</a:t>
            </a:r>
            <a:r>
              <a:rPr lang="en-GB" dirty="0"/>
              <a:t> </a:t>
            </a:r>
            <a:r>
              <a:rPr lang="en-GB" dirty="0" err="1"/>
              <a:t>liệu</a:t>
            </a:r>
            <a:r>
              <a:rPr lang="en-GB" dirty="0"/>
              <a:t> </a:t>
            </a:r>
            <a:r>
              <a:rPr lang="en-GB" dirty="0" err="1"/>
              <a:t>đến</a:t>
            </a:r>
            <a:r>
              <a:rPr lang="en-GB" dirty="0"/>
              <a:t> </a:t>
            </a:r>
            <a:r>
              <a:rPr lang="en-GB" dirty="0" err="1"/>
              <a:t>một</a:t>
            </a:r>
            <a:r>
              <a:rPr lang="en-GB" dirty="0"/>
              <a:t> </a:t>
            </a:r>
            <a:r>
              <a:rPr lang="en-GB" dirty="0" err="1"/>
              <a:t>tiến</a:t>
            </a:r>
            <a:r>
              <a:rPr lang="en-GB" dirty="0"/>
              <a:t> </a:t>
            </a:r>
            <a:r>
              <a:rPr lang="en-GB" dirty="0" err="1"/>
              <a:t>trình</a:t>
            </a:r>
            <a:r>
              <a:rPr lang="en-GB" dirty="0"/>
              <a:t> </a:t>
            </a:r>
            <a:r>
              <a:rPr lang="en-GB" dirty="0" err="1"/>
              <a:t>trong</a:t>
            </a:r>
            <a:r>
              <a:rPr lang="en-GB" dirty="0"/>
              <a:t> </a:t>
            </a:r>
            <a:r>
              <a:rPr lang="en-GB" dirty="0" err="1"/>
              <a:t>máy</a:t>
            </a:r>
            <a:r>
              <a:rPr lang="en-GB" dirty="0"/>
              <a:t> B qua </a:t>
            </a:r>
            <a:r>
              <a:rPr lang="en-GB" dirty="0" err="1"/>
              <a:t>kết</a:t>
            </a:r>
            <a:r>
              <a:rPr lang="en-GB" dirty="0"/>
              <a:t> </a:t>
            </a:r>
            <a:r>
              <a:rPr lang="en-GB" dirty="0" err="1"/>
              <a:t>nối</a:t>
            </a:r>
            <a:r>
              <a:rPr lang="en-GB" dirty="0"/>
              <a:t> TCP. TCP </a:t>
            </a:r>
            <a:r>
              <a:rPr lang="en-GB" dirty="0" err="1"/>
              <a:t>trong</a:t>
            </a:r>
            <a:r>
              <a:rPr lang="en-GB" dirty="0"/>
              <a:t> </a:t>
            </a:r>
            <a:r>
              <a:rPr lang="en-GB" dirty="0" err="1"/>
              <a:t>máy</a:t>
            </a:r>
            <a:r>
              <a:rPr lang="en-GB" dirty="0"/>
              <a:t> A </a:t>
            </a:r>
            <a:r>
              <a:rPr lang="en-GB" dirty="0" err="1"/>
              <a:t>sẽ</a:t>
            </a:r>
            <a:r>
              <a:rPr lang="en-GB" dirty="0"/>
              <a:t> </a:t>
            </a:r>
            <a:r>
              <a:rPr lang="en-GB" dirty="0" err="1"/>
              <a:t>đánh</a:t>
            </a:r>
            <a:r>
              <a:rPr lang="en-GB" dirty="0"/>
              <a:t> </a:t>
            </a:r>
            <a:r>
              <a:rPr lang="en-GB" dirty="0" err="1"/>
              <a:t>số</a:t>
            </a:r>
            <a:r>
              <a:rPr lang="en-GB" dirty="0"/>
              <a:t> </a:t>
            </a:r>
            <a:r>
              <a:rPr lang="en-GB" dirty="0" err="1"/>
              <a:t>thứ</a:t>
            </a:r>
            <a:r>
              <a:rPr lang="en-GB" dirty="0"/>
              <a:t> </a:t>
            </a:r>
            <a:r>
              <a:rPr lang="en-GB" dirty="0" err="1"/>
              <a:t>tự</a:t>
            </a:r>
            <a:r>
              <a:rPr lang="en-GB" dirty="0"/>
              <a:t> </a:t>
            </a:r>
            <a:r>
              <a:rPr lang="en-GB" dirty="0" err="1"/>
              <a:t>cho</a:t>
            </a:r>
            <a:r>
              <a:rPr lang="en-GB" dirty="0"/>
              <a:t> </a:t>
            </a:r>
            <a:r>
              <a:rPr lang="en-GB" dirty="0" err="1"/>
              <a:t>từng</a:t>
            </a:r>
            <a:r>
              <a:rPr lang="en-GB" dirty="0"/>
              <a:t> byte </a:t>
            </a:r>
            <a:r>
              <a:rPr lang="en-GB" dirty="0" err="1"/>
              <a:t>của</a:t>
            </a:r>
            <a:r>
              <a:rPr lang="en-GB" dirty="0"/>
              <a:t> </a:t>
            </a:r>
            <a:r>
              <a:rPr lang="en-GB" dirty="0" err="1"/>
              <a:t>luồng</a:t>
            </a:r>
            <a:r>
              <a:rPr lang="en-GB" dirty="0"/>
              <a:t> </a:t>
            </a:r>
            <a:r>
              <a:rPr lang="en-GB" dirty="0" err="1"/>
              <a:t>dữ</a:t>
            </a:r>
            <a:r>
              <a:rPr lang="en-GB" dirty="0"/>
              <a:t> </a:t>
            </a:r>
            <a:r>
              <a:rPr lang="en-GB" dirty="0" err="1"/>
              <a:t>liệu</a:t>
            </a:r>
            <a:r>
              <a:rPr lang="en-GB" dirty="0"/>
              <a:t>. </a:t>
            </a:r>
            <a:r>
              <a:rPr lang="en-GB" dirty="0" err="1"/>
              <a:t>Mỗi</a:t>
            </a:r>
            <a:r>
              <a:rPr lang="en-GB" dirty="0"/>
              <a:t> </a:t>
            </a:r>
            <a:r>
              <a:rPr lang="en-GB" dirty="0" err="1"/>
              <a:t>luồng</a:t>
            </a:r>
            <a:r>
              <a:rPr lang="en-GB" dirty="0"/>
              <a:t> chia </a:t>
            </a:r>
            <a:r>
              <a:rPr lang="en-GB" dirty="0" err="1"/>
              <a:t>thành</a:t>
            </a:r>
            <a:r>
              <a:rPr lang="en-GB" dirty="0"/>
              <a:t> </a:t>
            </a:r>
            <a:r>
              <a:rPr lang="en-GB" dirty="0" err="1"/>
              <a:t>nhiều</a:t>
            </a:r>
            <a:r>
              <a:rPr lang="en-GB" dirty="0"/>
              <a:t> segment, </a:t>
            </a:r>
            <a:r>
              <a:rPr lang="en-GB" dirty="0" err="1"/>
              <a:t>mỗi</a:t>
            </a:r>
            <a:r>
              <a:rPr lang="en-GB" dirty="0"/>
              <a:t> segment </a:t>
            </a:r>
            <a:r>
              <a:rPr lang="en-GB" dirty="0" err="1"/>
              <a:t>có</a:t>
            </a:r>
            <a:r>
              <a:rPr lang="en-GB" dirty="0"/>
              <a:t> </a:t>
            </a:r>
            <a:r>
              <a:rPr lang="en-GB" dirty="0" err="1"/>
              <a:t>số</a:t>
            </a:r>
            <a:r>
              <a:rPr lang="en-GB" dirty="0"/>
              <a:t> </a:t>
            </a:r>
            <a:r>
              <a:rPr lang="en-GB" dirty="0" err="1"/>
              <a:t>thứ</a:t>
            </a:r>
            <a:r>
              <a:rPr lang="en-GB" dirty="0"/>
              <a:t> </a:t>
            </a:r>
            <a:r>
              <a:rPr lang="en-GB" dirty="0" err="1"/>
              <a:t>tự</a:t>
            </a:r>
            <a:r>
              <a:rPr lang="en-GB" dirty="0"/>
              <a:t> </a:t>
            </a:r>
            <a:r>
              <a:rPr lang="en-GB" dirty="0" err="1"/>
              <a:t>là</a:t>
            </a:r>
            <a:r>
              <a:rPr lang="en-GB" dirty="0"/>
              <a:t> </a:t>
            </a:r>
            <a:r>
              <a:rPr lang="en-GB" dirty="0" err="1"/>
              <a:t>số</a:t>
            </a:r>
            <a:r>
              <a:rPr lang="en-GB" dirty="0"/>
              <a:t> </a:t>
            </a:r>
            <a:r>
              <a:rPr lang="en-GB" dirty="0" err="1"/>
              <a:t>thứ</a:t>
            </a:r>
            <a:r>
              <a:rPr lang="en-GB" dirty="0"/>
              <a:t> </a:t>
            </a:r>
            <a:r>
              <a:rPr lang="en-GB" dirty="0" err="1"/>
              <a:t>tự</a:t>
            </a:r>
            <a:r>
              <a:rPr lang="en-GB" dirty="0"/>
              <a:t> </a:t>
            </a:r>
            <a:r>
              <a:rPr lang="en-GB" dirty="0" err="1"/>
              <a:t>của</a:t>
            </a:r>
            <a:r>
              <a:rPr lang="en-GB" dirty="0"/>
              <a:t> byte </a:t>
            </a:r>
            <a:r>
              <a:rPr lang="en-GB" dirty="0" err="1"/>
              <a:t>đầu</a:t>
            </a:r>
            <a:r>
              <a:rPr lang="en-GB" dirty="0"/>
              <a:t> </a:t>
            </a:r>
            <a:r>
              <a:rPr lang="en-GB" dirty="0" err="1"/>
              <a:t>tiên</a:t>
            </a:r>
            <a:r>
              <a:rPr lang="en-GB" dirty="0"/>
              <a:t> </a:t>
            </a:r>
            <a:r>
              <a:rPr lang="en-GB" dirty="0" err="1"/>
              <a:t>của</a:t>
            </a:r>
            <a:r>
              <a:rPr lang="en-GB" dirty="0"/>
              <a:t> segment</a:t>
            </a:r>
          </a:p>
          <a:p>
            <a:pPr marL="342900" indent="-342900">
              <a:buClr>
                <a:srgbClr val="0070C0"/>
              </a:buClr>
              <a:buFont typeface="Wingdings" panose="05000000000000000000" pitchFamily="2" charset="2"/>
              <a:buChar char="q"/>
            </a:pPr>
            <a:r>
              <a:rPr lang="en-GB" dirty="0" err="1"/>
              <a:t>Giả</a:t>
            </a:r>
            <a:r>
              <a:rPr lang="en-GB" dirty="0"/>
              <a:t> </a:t>
            </a:r>
            <a:r>
              <a:rPr lang="en-GB" dirty="0" err="1"/>
              <a:t>sử</a:t>
            </a:r>
            <a:r>
              <a:rPr lang="en-GB" dirty="0"/>
              <a:t> </a:t>
            </a:r>
            <a:r>
              <a:rPr lang="en-GB" dirty="0" err="1"/>
              <a:t>luồng</a:t>
            </a:r>
            <a:r>
              <a:rPr lang="en-GB" dirty="0"/>
              <a:t> </a:t>
            </a:r>
            <a:r>
              <a:rPr lang="en-GB" dirty="0" err="1"/>
              <a:t>dữ</a:t>
            </a:r>
            <a:r>
              <a:rPr lang="en-GB" dirty="0"/>
              <a:t> </a:t>
            </a:r>
            <a:r>
              <a:rPr lang="en-GB" dirty="0" err="1"/>
              <a:t>liệu</a:t>
            </a:r>
            <a:r>
              <a:rPr lang="en-GB" dirty="0"/>
              <a:t> </a:t>
            </a:r>
            <a:r>
              <a:rPr lang="en-GB" dirty="0" err="1"/>
              <a:t>gồm</a:t>
            </a:r>
            <a:r>
              <a:rPr lang="en-GB" dirty="0"/>
              <a:t> 500.000 byte, </a:t>
            </a:r>
            <a:r>
              <a:rPr lang="en-GB" dirty="0" err="1"/>
              <a:t>mỗi</a:t>
            </a:r>
            <a:r>
              <a:rPr lang="en-GB" dirty="0"/>
              <a:t> segment </a:t>
            </a:r>
            <a:r>
              <a:rPr lang="en-GB" dirty="0" err="1"/>
              <a:t>là</a:t>
            </a:r>
            <a:r>
              <a:rPr lang="en-GB" dirty="0"/>
              <a:t> 1.000 byte. TCP </a:t>
            </a:r>
            <a:r>
              <a:rPr lang="en-GB" dirty="0" err="1"/>
              <a:t>xây</a:t>
            </a:r>
            <a:r>
              <a:rPr lang="en-GB" dirty="0"/>
              <a:t> </a:t>
            </a:r>
            <a:r>
              <a:rPr lang="en-GB" dirty="0" err="1"/>
              <a:t>dựng</a:t>
            </a:r>
            <a:r>
              <a:rPr lang="en-GB" dirty="0"/>
              <a:t> 500 segment </a:t>
            </a:r>
            <a:r>
              <a:rPr lang="en-GB" dirty="0" err="1"/>
              <a:t>dữ</a:t>
            </a:r>
            <a:r>
              <a:rPr lang="en-GB" dirty="0"/>
              <a:t> </a:t>
            </a:r>
            <a:r>
              <a:rPr lang="en-GB" dirty="0" err="1"/>
              <a:t>liệu</a:t>
            </a:r>
            <a:r>
              <a:rPr lang="en-GB" dirty="0"/>
              <a:t>. </a:t>
            </a:r>
          </a:p>
          <a:p>
            <a:pPr marL="800100" lvl="1" indent="-342900">
              <a:buClr>
                <a:srgbClr val="0070C0"/>
              </a:buClr>
              <a:buFont typeface="Courier New" panose="02070309020205020404" pitchFamily="49" charset="0"/>
              <a:buChar char="o"/>
            </a:pPr>
            <a:r>
              <a:rPr lang="en-GB" sz="2000" dirty="0"/>
              <a:t>Segment </a:t>
            </a:r>
            <a:r>
              <a:rPr lang="en-GB" sz="2000" dirty="0" err="1"/>
              <a:t>đầu</a:t>
            </a:r>
            <a:r>
              <a:rPr lang="en-GB" sz="2000" dirty="0"/>
              <a:t> </a:t>
            </a:r>
            <a:r>
              <a:rPr lang="en-GB" sz="2000" dirty="0" err="1"/>
              <a:t>tiên</a:t>
            </a:r>
            <a:r>
              <a:rPr lang="en-GB" sz="2000" dirty="0"/>
              <a:t> </a:t>
            </a:r>
            <a:r>
              <a:rPr lang="en-GB" sz="2000" dirty="0" err="1"/>
              <a:t>được</a:t>
            </a:r>
            <a:r>
              <a:rPr lang="en-GB" sz="2000" dirty="0"/>
              <a:t> </a:t>
            </a:r>
            <a:r>
              <a:rPr lang="en-GB" sz="2000" dirty="0" err="1"/>
              <a:t>gán</a:t>
            </a:r>
            <a:r>
              <a:rPr lang="en-GB" sz="2000" dirty="0"/>
              <a:t> </a:t>
            </a:r>
            <a:r>
              <a:rPr lang="en-GB" sz="2000" dirty="0" err="1"/>
              <a:t>số</a:t>
            </a:r>
            <a:r>
              <a:rPr lang="en-GB" sz="2000" dirty="0"/>
              <a:t> </a:t>
            </a:r>
            <a:r>
              <a:rPr lang="en-GB" sz="2000" dirty="0" err="1"/>
              <a:t>thứ</a:t>
            </a:r>
            <a:r>
              <a:rPr lang="en-GB" sz="2000" dirty="0"/>
              <a:t> </a:t>
            </a:r>
            <a:r>
              <a:rPr lang="en-GB" sz="2000" dirty="0" err="1"/>
              <a:t>tự</a:t>
            </a:r>
            <a:r>
              <a:rPr lang="en-GB" sz="2000" dirty="0"/>
              <a:t> 0</a:t>
            </a:r>
          </a:p>
          <a:p>
            <a:pPr marL="800100" lvl="1" indent="-342900">
              <a:buClr>
                <a:srgbClr val="0070C0"/>
              </a:buClr>
              <a:buFont typeface="Courier New" panose="02070309020205020404" pitchFamily="49" charset="0"/>
              <a:buChar char="o"/>
            </a:pPr>
            <a:r>
              <a:rPr lang="en-GB" sz="2000" dirty="0"/>
              <a:t>Segment </a:t>
            </a:r>
            <a:r>
              <a:rPr lang="en-GB" sz="2000" dirty="0" err="1"/>
              <a:t>thứ</a:t>
            </a:r>
            <a:r>
              <a:rPr lang="en-GB" sz="2000" dirty="0"/>
              <a:t> </a:t>
            </a:r>
            <a:r>
              <a:rPr lang="en-GB" sz="2000" dirty="0" err="1"/>
              <a:t>hai</a:t>
            </a:r>
            <a:r>
              <a:rPr lang="en-GB" sz="2000" dirty="0"/>
              <a:t> </a:t>
            </a:r>
            <a:r>
              <a:rPr lang="en-GB" sz="2000" dirty="0" err="1"/>
              <a:t>được</a:t>
            </a:r>
            <a:r>
              <a:rPr lang="en-GB" sz="2000" dirty="0"/>
              <a:t> </a:t>
            </a:r>
            <a:r>
              <a:rPr lang="en-GB" sz="2000" dirty="0" err="1"/>
              <a:t>gán</a:t>
            </a:r>
            <a:r>
              <a:rPr lang="en-GB" sz="2000" dirty="0"/>
              <a:t> </a:t>
            </a:r>
            <a:r>
              <a:rPr lang="en-GB" sz="2000" dirty="0" err="1"/>
              <a:t>số</a:t>
            </a:r>
            <a:r>
              <a:rPr lang="en-GB" sz="2000" dirty="0"/>
              <a:t> </a:t>
            </a:r>
            <a:r>
              <a:rPr lang="en-GB" sz="2000" dirty="0" err="1"/>
              <a:t>thứ</a:t>
            </a:r>
            <a:r>
              <a:rPr lang="en-GB" sz="2000" dirty="0"/>
              <a:t> </a:t>
            </a:r>
            <a:r>
              <a:rPr lang="en-GB" sz="2000" dirty="0" err="1"/>
              <a:t>tự</a:t>
            </a:r>
            <a:r>
              <a:rPr lang="en-GB" sz="2000" dirty="0"/>
              <a:t> 1.000</a:t>
            </a:r>
          </a:p>
          <a:p>
            <a:pPr marL="800100" lvl="1" indent="-342900">
              <a:buClr>
                <a:srgbClr val="0070C0"/>
              </a:buClr>
              <a:buFont typeface="Courier New" panose="02070309020205020404" pitchFamily="49" charset="0"/>
              <a:buChar char="o"/>
            </a:pPr>
            <a:r>
              <a:rPr lang="en-GB" sz="2000" dirty="0"/>
              <a:t>Segment </a:t>
            </a:r>
            <a:r>
              <a:rPr lang="en-GB" sz="2000" dirty="0" err="1"/>
              <a:t>thứ</a:t>
            </a:r>
            <a:r>
              <a:rPr lang="en-GB" sz="2000" dirty="0"/>
              <a:t> </a:t>
            </a:r>
            <a:r>
              <a:rPr lang="en-GB" sz="2000" dirty="0" err="1"/>
              <a:t>ba</a:t>
            </a:r>
            <a:r>
              <a:rPr lang="en-GB" sz="2000" dirty="0"/>
              <a:t> </a:t>
            </a:r>
            <a:r>
              <a:rPr lang="en-GB" sz="2000" dirty="0" err="1"/>
              <a:t>được</a:t>
            </a:r>
            <a:r>
              <a:rPr lang="en-GB" sz="2000" dirty="0"/>
              <a:t> </a:t>
            </a:r>
            <a:r>
              <a:rPr lang="en-GB" sz="2000" dirty="0" err="1"/>
              <a:t>gán</a:t>
            </a:r>
            <a:r>
              <a:rPr lang="en-GB" sz="2000" dirty="0"/>
              <a:t> </a:t>
            </a:r>
            <a:r>
              <a:rPr lang="en-GB" sz="2000" dirty="0" err="1"/>
              <a:t>số</a:t>
            </a:r>
            <a:r>
              <a:rPr lang="en-GB" sz="2000" dirty="0"/>
              <a:t> </a:t>
            </a:r>
            <a:r>
              <a:rPr lang="en-GB" sz="2000" dirty="0" err="1"/>
              <a:t>thứ</a:t>
            </a:r>
            <a:r>
              <a:rPr lang="en-GB" sz="2000" dirty="0"/>
              <a:t> </a:t>
            </a:r>
            <a:r>
              <a:rPr lang="en-GB" sz="2000" dirty="0" err="1"/>
              <a:t>tự</a:t>
            </a:r>
            <a:r>
              <a:rPr lang="en-GB" sz="2000" dirty="0"/>
              <a:t> 2.000, v.v. </a:t>
            </a:r>
          </a:p>
          <a:p>
            <a:pPr marL="800100" lvl="1" indent="-342900">
              <a:buClr>
                <a:srgbClr val="0070C0"/>
              </a:buClr>
              <a:buFont typeface="Courier New" panose="02070309020205020404" pitchFamily="49" charset="0"/>
              <a:buChar char="o"/>
            </a:pPr>
            <a:r>
              <a:rPr lang="en-GB" sz="2000" dirty="0" err="1"/>
              <a:t>Mỗi</a:t>
            </a:r>
            <a:r>
              <a:rPr lang="en-GB" sz="2000" dirty="0"/>
              <a:t> </a:t>
            </a:r>
            <a:r>
              <a:rPr lang="en-GB" sz="2000" dirty="0" err="1"/>
              <a:t>số</a:t>
            </a:r>
            <a:r>
              <a:rPr lang="en-GB" sz="2000" dirty="0"/>
              <a:t> </a:t>
            </a:r>
            <a:r>
              <a:rPr lang="en-GB" sz="2000" dirty="0" err="1"/>
              <a:t>thứ</a:t>
            </a:r>
            <a:r>
              <a:rPr lang="en-GB" sz="2000" dirty="0"/>
              <a:t> </a:t>
            </a:r>
            <a:r>
              <a:rPr lang="en-GB" sz="2000" dirty="0" err="1"/>
              <a:t>tự</a:t>
            </a:r>
            <a:r>
              <a:rPr lang="en-GB" sz="2000" dirty="0"/>
              <a:t> </a:t>
            </a:r>
            <a:r>
              <a:rPr lang="en-GB" sz="2000" dirty="0" err="1"/>
              <a:t>như</a:t>
            </a:r>
            <a:r>
              <a:rPr lang="en-GB" sz="2000" dirty="0"/>
              <a:t> </a:t>
            </a:r>
            <a:r>
              <a:rPr lang="en-GB" sz="2000" dirty="0" err="1"/>
              <a:t>vậy</a:t>
            </a:r>
            <a:r>
              <a:rPr lang="en-GB" sz="2000" dirty="0"/>
              <a:t> </a:t>
            </a:r>
            <a:r>
              <a:rPr lang="en-GB" sz="2000" dirty="0" err="1"/>
              <a:t>được</a:t>
            </a:r>
            <a:r>
              <a:rPr lang="en-GB" sz="2000" dirty="0"/>
              <a:t> </a:t>
            </a:r>
            <a:r>
              <a:rPr lang="en-GB" sz="2000" dirty="0" err="1"/>
              <a:t>chèn</a:t>
            </a:r>
            <a:r>
              <a:rPr lang="en-GB" sz="2000" dirty="0"/>
              <a:t> </a:t>
            </a:r>
            <a:r>
              <a:rPr lang="en-GB" sz="2000" dirty="0" err="1"/>
              <a:t>vào</a:t>
            </a:r>
            <a:r>
              <a:rPr lang="en-GB" sz="2000" dirty="0"/>
              <a:t> </a:t>
            </a:r>
            <a:r>
              <a:rPr lang="en-GB" sz="2000" dirty="0" err="1"/>
              <a:t>trường</a:t>
            </a:r>
            <a:r>
              <a:rPr lang="en-GB" sz="2000" dirty="0"/>
              <a:t> Sequence number </a:t>
            </a:r>
            <a:r>
              <a:rPr lang="en-GB" sz="2000" dirty="0" err="1"/>
              <a:t>trong</a:t>
            </a:r>
            <a:r>
              <a:rPr lang="en-GB" sz="2000" dirty="0"/>
              <a:t> </a:t>
            </a:r>
            <a:r>
              <a:rPr lang="en-GB" sz="2000" dirty="0" err="1"/>
              <a:t>tiêu</a:t>
            </a:r>
            <a:r>
              <a:rPr lang="en-GB" sz="2000" dirty="0"/>
              <a:t> </a:t>
            </a:r>
            <a:r>
              <a:rPr lang="en-GB" sz="2000" dirty="0" err="1"/>
              <a:t>đề</a:t>
            </a:r>
            <a:r>
              <a:rPr lang="en-GB" sz="2000" dirty="0"/>
              <a:t> </a:t>
            </a:r>
            <a:r>
              <a:rPr lang="en-GB" sz="2000" dirty="0" err="1"/>
              <a:t>của</a:t>
            </a:r>
            <a:r>
              <a:rPr lang="en-GB" sz="2000" dirty="0"/>
              <a:t> </a:t>
            </a:r>
            <a:r>
              <a:rPr lang="en-GB" sz="2000" dirty="0" err="1"/>
              <a:t>phân</a:t>
            </a:r>
            <a:r>
              <a:rPr lang="en-GB" sz="2000" dirty="0"/>
              <a:t> </a:t>
            </a:r>
            <a:r>
              <a:rPr lang="en-GB" sz="2000" dirty="0" err="1"/>
              <a:t>đoạn</a:t>
            </a:r>
            <a:r>
              <a:rPr lang="en-GB" sz="2000" dirty="0"/>
              <a:t> TCP </a:t>
            </a:r>
            <a:r>
              <a:rPr lang="en-GB" sz="2000" dirty="0" err="1"/>
              <a:t>thích</a:t>
            </a:r>
            <a:r>
              <a:rPr lang="en-GB" sz="2000" dirty="0"/>
              <a:t> </a:t>
            </a:r>
            <a:r>
              <a:rPr lang="en-GB" sz="2000" dirty="0" err="1"/>
              <a:t>hợp</a:t>
            </a:r>
            <a:r>
              <a:rPr lang="en-GB" sz="2000" dirty="0"/>
              <a:t>.</a:t>
            </a:r>
          </a:p>
        </p:txBody>
      </p:sp>
      <p:pic>
        <p:nvPicPr>
          <p:cNvPr id="80" name="Picture 79"/>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825815"/>
            <a:ext cx="5753100" cy="1933575"/>
          </a:xfrm>
          <a:prstGeom prst="rect">
            <a:avLst/>
          </a:prstGeom>
          <a:noFill/>
          <a:ln>
            <a:noFill/>
          </a:ln>
        </p:spPr>
      </p:pic>
      <p:sp>
        <p:nvSpPr>
          <p:cNvPr id="3" name="Slide Number Placeholder 2"/>
          <p:cNvSpPr>
            <a:spLocks noGrp="1"/>
          </p:cNvSpPr>
          <p:nvPr>
            <p:ph type="sldNum" sz="quarter" idx="7"/>
          </p:nvPr>
        </p:nvSpPr>
        <p:spPr/>
        <p:txBody>
          <a:bodyPr/>
          <a:lstStyle/>
          <a:p>
            <a:pPr marL="12700">
              <a:lnSpc>
                <a:spcPts val="1645"/>
              </a:lnSpc>
            </a:pPr>
            <a:fld id="{81D60167-4931-47E6-BA6A-407CBD079E47}" type="slidenum">
              <a:rPr lang="en-US" spc="-5" smtClean="0"/>
              <a:t>48</a:t>
            </a:fld>
            <a:endParaRPr lang="en-US" spc="-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9887459" cy="1107996"/>
          </a:xfrm>
        </p:spPr>
        <p:txBody>
          <a:bodyPr/>
          <a:lstStyle/>
          <a:p>
            <a:r>
              <a:rPr lang="en-GB" dirty="0"/>
              <a:t>Sequence number, </a:t>
            </a:r>
            <a:r>
              <a:rPr lang="en-US" spc="-10" dirty="0"/>
              <a:t>acknowledgement</a:t>
            </a:r>
            <a:r>
              <a:rPr lang="en-GB" dirty="0"/>
              <a:t> number</a:t>
            </a:r>
          </a:p>
        </p:txBody>
      </p:sp>
      <p:sp>
        <p:nvSpPr>
          <p:cNvPr id="3" name="Text Placeholder 2"/>
          <p:cNvSpPr>
            <a:spLocks noGrp="1"/>
          </p:cNvSpPr>
          <p:nvPr>
            <p:ph type="body" idx="1"/>
          </p:nvPr>
        </p:nvSpPr>
        <p:spPr>
          <a:xfrm>
            <a:off x="780541" y="1371601"/>
            <a:ext cx="8497316" cy="6309420"/>
          </a:xfrm>
        </p:spPr>
        <p:txBody>
          <a:bodyPr/>
          <a:lstStyle/>
          <a:p>
            <a:pPr marL="342900" indent="-342900">
              <a:buClr>
                <a:srgbClr val="0070C0"/>
              </a:buClr>
              <a:buFont typeface="Wingdings" panose="05000000000000000000" pitchFamily="2" charset="2"/>
              <a:buChar char="q"/>
            </a:pPr>
            <a:r>
              <a:rPr lang="en-GB" sz="2200" dirty="0"/>
              <a:t>TCP </a:t>
            </a:r>
            <a:r>
              <a:rPr lang="en-GB" sz="2200" dirty="0" err="1"/>
              <a:t>là</a:t>
            </a:r>
            <a:r>
              <a:rPr lang="en-GB" sz="2200" dirty="0"/>
              <a:t> </a:t>
            </a:r>
            <a:r>
              <a:rPr lang="en-GB" sz="2200" dirty="0" err="1"/>
              <a:t>kênh</a:t>
            </a:r>
            <a:r>
              <a:rPr lang="en-GB" sz="2200" dirty="0"/>
              <a:t> </a:t>
            </a:r>
            <a:r>
              <a:rPr lang="en-GB" sz="2200" dirty="0" err="1"/>
              <a:t>truyền</a:t>
            </a:r>
            <a:r>
              <a:rPr lang="en-GB" sz="2200" dirty="0"/>
              <a:t> song </a:t>
            </a:r>
            <a:r>
              <a:rPr lang="en-GB" sz="2200" dirty="0" err="1"/>
              <a:t>công</a:t>
            </a:r>
            <a:r>
              <a:rPr lang="en-GB" sz="2200" dirty="0"/>
              <a:t>, </a:t>
            </a:r>
            <a:r>
              <a:rPr lang="en-GB" sz="2200" dirty="0" err="1"/>
              <a:t>nên</a:t>
            </a:r>
            <a:r>
              <a:rPr lang="en-GB" sz="2200" dirty="0"/>
              <a:t> </a:t>
            </a:r>
            <a:r>
              <a:rPr lang="en-GB" sz="2200" dirty="0" err="1"/>
              <a:t>bên</a:t>
            </a:r>
            <a:r>
              <a:rPr lang="en-GB" sz="2200" dirty="0"/>
              <a:t> A </a:t>
            </a:r>
            <a:r>
              <a:rPr lang="en-GB" sz="2200" dirty="0" err="1"/>
              <a:t>có</a:t>
            </a:r>
            <a:r>
              <a:rPr lang="en-GB" sz="2200" dirty="0"/>
              <a:t> </a:t>
            </a:r>
            <a:r>
              <a:rPr lang="en-GB" sz="2200" dirty="0" err="1"/>
              <a:t>thể</a:t>
            </a:r>
            <a:r>
              <a:rPr lang="en-GB" sz="2200" dirty="0"/>
              <a:t> </a:t>
            </a:r>
            <a:r>
              <a:rPr lang="en-GB" sz="2200" dirty="0" err="1"/>
              <a:t>nhận</a:t>
            </a:r>
            <a:r>
              <a:rPr lang="en-GB" sz="2200" dirty="0"/>
              <a:t> </a:t>
            </a:r>
            <a:r>
              <a:rPr lang="en-GB" sz="2200" dirty="0" err="1"/>
              <a:t>được</a:t>
            </a:r>
            <a:r>
              <a:rPr lang="en-GB" sz="2200" dirty="0"/>
              <a:t> </a:t>
            </a:r>
            <a:r>
              <a:rPr lang="en-GB" sz="2200" dirty="0" err="1"/>
              <a:t>dữ</a:t>
            </a:r>
            <a:r>
              <a:rPr lang="en-GB" sz="2200" dirty="0"/>
              <a:t> </a:t>
            </a:r>
            <a:r>
              <a:rPr lang="en-GB" sz="2200" dirty="0" err="1"/>
              <a:t>liệu</a:t>
            </a:r>
            <a:r>
              <a:rPr lang="en-GB" sz="2200" dirty="0"/>
              <a:t> </a:t>
            </a:r>
            <a:r>
              <a:rPr lang="en-GB" sz="2200" dirty="0" err="1"/>
              <a:t>từ</a:t>
            </a:r>
            <a:r>
              <a:rPr lang="en-GB" sz="2200" dirty="0"/>
              <a:t> B, </a:t>
            </a:r>
            <a:r>
              <a:rPr lang="en-GB" sz="2200" dirty="0" err="1"/>
              <a:t>trong</a:t>
            </a:r>
            <a:r>
              <a:rPr lang="en-GB" sz="2200" dirty="0"/>
              <a:t> </a:t>
            </a:r>
            <a:r>
              <a:rPr lang="en-GB" sz="2200" dirty="0" err="1"/>
              <a:t>khi</a:t>
            </a:r>
            <a:r>
              <a:rPr lang="en-GB" sz="2200" dirty="0"/>
              <a:t> A </a:t>
            </a:r>
            <a:r>
              <a:rPr lang="en-GB" sz="2200" dirty="0" err="1"/>
              <a:t>gửi</a:t>
            </a:r>
            <a:r>
              <a:rPr lang="en-GB" sz="2200" dirty="0"/>
              <a:t> </a:t>
            </a:r>
            <a:r>
              <a:rPr lang="en-GB" sz="2200" dirty="0" err="1"/>
              <a:t>dữ</a:t>
            </a:r>
            <a:r>
              <a:rPr lang="en-GB" sz="2200" dirty="0"/>
              <a:t> </a:t>
            </a:r>
            <a:r>
              <a:rPr lang="en-GB" sz="2200" dirty="0" err="1"/>
              <a:t>liệu</a:t>
            </a:r>
            <a:r>
              <a:rPr lang="en-GB" sz="2200" dirty="0"/>
              <a:t> </a:t>
            </a:r>
            <a:r>
              <a:rPr lang="en-GB" sz="2200" dirty="0" err="1"/>
              <a:t>cho</a:t>
            </a:r>
            <a:r>
              <a:rPr lang="en-GB" sz="2200" dirty="0"/>
              <a:t> B (</a:t>
            </a:r>
            <a:r>
              <a:rPr lang="en-GB" sz="2200" dirty="0" err="1"/>
              <a:t>trên</a:t>
            </a:r>
            <a:r>
              <a:rPr lang="en-GB" sz="2200" dirty="0"/>
              <a:t> </a:t>
            </a:r>
            <a:r>
              <a:rPr lang="en-GB" sz="2200" dirty="0" err="1"/>
              <a:t>cùng</a:t>
            </a:r>
            <a:r>
              <a:rPr lang="en-GB" sz="2200" dirty="0"/>
              <a:t> </a:t>
            </a:r>
            <a:r>
              <a:rPr lang="en-GB" sz="2200" dirty="0" err="1"/>
              <a:t>kết</a:t>
            </a:r>
            <a:r>
              <a:rPr lang="en-GB" sz="2200" dirty="0"/>
              <a:t> </a:t>
            </a:r>
            <a:r>
              <a:rPr lang="en-GB" sz="2200" dirty="0" err="1"/>
              <a:t>nối</a:t>
            </a:r>
            <a:r>
              <a:rPr lang="en-GB" sz="2200" dirty="0"/>
              <a:t> TCP)</a:t>
            </a:r>
          </a:p>
          <a:p>
            <a:pPr marL="342900" indent="-342900">
              <a:buClr>
                <a:srgbClr val="0070C0"/>
              </a:buClr>
              <a:buFont typeface="Wingdings" panose="05000000000000000000" pitchFamily="2" charset="2"/>
              <a:buChar char="q"/>
            </a:pPr>
            <a:r>
              <a:rPr lang="en-GB" sz="2200" dirty="0">
                <a:solidFill>
                  <a:srgbClr val="FF0000"/>
                </a:solidFill>
              </a:rPr>
              <a:t>A</a:t>
            </a:r>
            <a:r>
              <a:rPr lang="vi-VN" sz="2200" dirty="0">
                <a:solidFill>
                  <a:srgbClr val="FF0000"/>
                </a:solidFill>
              </a:rPr>
              <a:t>cknowledgement</a:t>
            </a:r>
            <a:r>
              <a:rPr lang="en-US" sz="2200" dirty="0">
                <a:solidFill>
                  <a:srgbClr val="FF0000"/>
                </a:solidFill>
              </a:rPr>
              <a:t> number</a:t>
            </a:r>
            <a:r>
              <a:rPr lang="vi-VN" sz="2200" dirty="0">
                <a:solidFill>
                  <a:srgbClr val="FF0000"/>
                </a:solidFill>
              </a:rPr>
              <a:t>:</a:t>
            </a:r>
            <a:r>
              <a:rPr lang="en-GB" sz="2200" dirty="0">
                <a:solidFill>
                  <a:srgbClr val="FF0000"/>
                </a:solidFill>
              </a:rPr>
              <a:t> </a:t>
            </a:r>
            <a:r>
              <a:rPr lang="en-GB" sz="2200" dirty="0" err="1"/>
              <a:t>là</a:t>
            </a:r>
            <a:r>
              <a:rPr lang="en-GB" sz="2200" dirty="0"/>
              <a:t> </a:t>
            </a:r>
            <a:r>
              <a:rPr lang="en-GB" sz="2200" dirty="0" err="1"/>
              <a:t>số</a:t>
            </a:r>
            <a:r>
              <a:rPr lang="en-GB" sz="2200" dirty="0"/>
              <a:t> </a:t>
            </a:r>
            <a:r>
              <a:rPr lang="en-GB" sz="2200" dirty="0" err="1"/>
              <a:t>thứ</a:t>
            </a:r>
            <a:r>
              <a:rPr lang="en-GB" sz="2200" dirty="0"/>
              <a:t> </a:t>
            </a:r>
            <a:r>
              <a:rPr lang="en-GB" sz="2200" dirty="0" err="1"/>
              <a:t>tự</a:t>
            </a:r>
            <a:r>
              <a:rPr lang="en-GB" sz="2200" dirty="0"/>
              <a:t> </a:t>
            </a:r>
            <a:r>
              <a:rPr lang="en-GB" sz="2200" dirty="0" err="1"/>
              <a:t>của</a:t>
            </a:r>
            <a:r>
              <a:rPr lang="en-GB" sz="2200" dirty="0"/>
              <a:t> byte </a:t>
            </a:r>
            <a:r>
              <a:rPr lang="en-GB" sz="2200" dirty="0" err="1"/>
              <a:t>tiếp</a:t>
            </a:r>
            <a:r>
              <a:rPr lang="en-GB" sz="2200" dirty="0"/>
              <a:t> </a:t>
            </a:r>
            <a:r>
              <a:rPr lang="en-GB" sz="2200" dirty="0" err="1"/>
              <a:t>theo</a:t>
            </a:r>
            <a:r>
              <a:rPr lang="en-GB" sz="2200" dirty="0"/>
              <a:t> </a:t>
            </a:r>
            <a:r>
              <a:rPr lang="en-GB" sz="2200" dirty="0" err="1"/>
              <a:t>mà</a:t>
            </a:r>
            <a:r>
              <a:rPr lang="en-GB" sz="2200" dirty="0"/>
              <a:t> </a:t>
            </a:r>
            <a:r>
              <a:rPr lang="en-GB" sz="2200" dirty="0" err="1"/>
              <a:t>máy</a:t>
            </a:r>
            <a:r>
              <a:rPr lang="en-GB" sz="2200" dirty="0"/>
              <a:t> A </a:t>
            </a:r>
            <a:r>
              <a:rPr lang="en-GB" sz="2200" dirty="0" err="1"/>
              <a:t>đang</a:t>
            </a:r>
            <a:r>
              <a:rPr lang="en-GB" sz="2200" dirty="0"/>
              <a:t> </a:t>
            </a:r>
            <a:r>
              <a:rPr lang="en-GB" sz="2200" dirty="0" err="1"/>
              <a:t>chờ</a:t>
            </a:r>
            <a:r>
              <a:rPr lang="en-GB" sz="2200" dirty="0"/>
              <a:t> </a:t>
            </a:r>
            <a:r>
              <a:rPr lang="en-GB" sz="2200" dirty="0" err="1"/>
              <a:t>máy</a:t>
            </a:r>
            <a:r>
              <a:rPr lang="en-GB" sz="2200" dirty="0"/>
              <a:t> B </a:t>
            </a:r>
            <a:r>
              <a:rPr lang="en-GB" sz="2200" dirty="0" err="1"/>
              <a:t>gửi</a:t>
            </a:r>
            <a:r>
              <a:rPr lang="en-GB" sz="2200" dirty="0"/>
              <a:t> </a:t>
            </a:r>
            <a:r>
              <a:rPr lang="en-GB" sz="2200" dirty="0" err="1"/>
              <a:t>tới</a:t>
            </a:r>
            <a:r>
              <a:rPr lang="en-GB" sz="2200" dirty="0"/>
              <a:t> </a:t>
            </a:r>
            <a:endParaRPr lang="vi-VN" sz="2200" dirty="0"/>
          </a:p>
          <a:p>
            <a:pPr marL="342900" indent="-342900">
              <a:buClr>
                <a:srgbClr val="0070C0"/>
              </a:buClr>
              <a:buFont typeface="Wingdings" panose="05000000000000000000" pitchFamily="2" charset="2"/>
              <a:buChar char="q"/>
            </a:pPr>
            <a:r>
              <a:rPr lang="en-GB" sz="2200" dirty="0" err="1"/>
              <a:t>Ví</a:t>
            </a:r>
            <a:r>
              <a:rPr lang="en-GB" sz="2200" dirty="0"/>
              <a:t> </a:t>
            </a:r>
            <a:r>
              <a:rPr lang="en-GB" sz="2200" dirty="0" err="1"/>
              <a:t>dụ</a:t>
            </a:r>
            <a:r>
              <a:rPr lang="en-GB" sz="2200" dirty="0"/>
              <a:t> 1:</a:t>
            </a:r>
          </a:p>
          <a:p>
            <a:pPr marL="800100" lvl="1" indent="-342900">
              <a:buClr>
                <a:srgbClr val="0070C0"/>
              </a:buClr>
              <a:buFont typeface="Courier New" panose="02070309020205020404" pitchFamily="49" charset="0"/>
              <a:buChar char="o"/>
            </a:pPr>
            <a:r>
              <a:rPr lang="en-GB" dirty="0"/>
              <a:t>A </a:t>
            </a:r>
            <a:r>
              <a:rPr lang="en-GB" dirty="0" err="1"/>
              <a:t>đã</a:t>
            </a:r>
            <a:r>
              <a:rPr lang="en-GB" dirty="0"/>
              <a:t> </a:t>
            </a:r>
            <a:r>
              <a:rPr lang="en-GB" dirty="0" err="1"/>
              <a:t>nhận</a:t>
            </a:r>
            <a:r>
              <a:rPr lang="en-GB" dirty="0"/>
              <a:t> </a:t>
            </a:r>
            <a:r>
              <a:rPr lang="en-GB" dirty="0" err="1"/>
              <a:t>được</a:t>
            </a:r>
            <a:r>
              <a:rPr lang="en-GB" dirty="0"/>
              <a:t> </a:t>
            </a:r>
            <a:r>
              <a:rPr lang="en-GB" dirty="0" err="1"/>
              <a:t>tất</a:t>
            </a:r>
            <a:r>
              <a:rPr lang="en-GB" dirty="0"/>
              <a:t> </a:t>
            </a:r>
            <a:r>
              <a:rPr lang="en-GB" dirty="0" err="1"/>
              <a:t>cả</a:t>
            </a:r>
            <a:r>
              <a:rPr lang="en-GB" dirty="0"/>
              <a:t> </a:t>
            </a:r>
            <a:r>
              <a:rPr lang="en-GB" dirty="0" err="1"/>
              <a:t>các</a:t>
            </a:r>
            <a:r>
              <a:rPr lang="en-GB" dirty="0"/>
              <a:t> byte </a:t>
            </a:r>
            <a:r>
              <a:rPr lang="en-GB" dirty="0" err="1"/>
              <a:t>được</a:t>
            </a:r>
            <a:r>
              <a:rPr lang="en-GB" dirty="0"/>
              <a:t> </a:t>
            </a:r>
            <a:r>
              <a:rPr lang="en-GB" dirty="0" err="1"/>
              <a:t>đánh</a:t>
            </a:r>
            <a:r>
              <a:rPr lang="en-GB" dirty="0"/>
              <a:t> </a:t>
            </a:r>
            <a:r>
              <a:rPr lang="en-GB" dirty="0" err="1"/>
              <a:t>số</a:t>
            </a:r>
            <a:r>
              <a:rPr lang="en-GB" dirty="0"/>
              <a:t> </a:t>
            </a:r>
            <a:r>
              <a:rPr lang="en-GB" dirty="0" err="1"/>
              <a:t>từ</a:t>
            </a:r>
            <a:r>
              <a:rPr lang="en-GB" dirty="0"/>
              <a:t> 0 </a:t>
            </a:r>
            <a:r>
              <a:rPr lang="en-GB" dirty="0" err="1"/>
              <a:t>đến</a:t>
            </a:r>
            <a:r>
              <a:rPr lang="en-GB" dirty="0"/>
              <a:t> 535 </a:t>
            </a:r>
            <a:r>
              <a:rPr lang="en-GB" dirty="0" err="1"/>
              <a:t>từ</a:t>
            </a:r>
            <a:r>
              <a:rPr lang="en-GB" dirty="0"/>
              <a:t> B </a:t>
            </a:r>
            <a:r>
              <a:rPr lang="en-GB" dirty="0" err="1"/>
              <a:t>và</a:t>
            </a:r>
            <a:r>
              <a:rPr lang="en-GB" dirty="0"/>
              <a:t> </a:t>
            </a:r>
            <a:r>
              <a:rPr lang="en-GB" dirty="0" err="1"/>
              <a:t>giả</a:t>
            </a:r>
            <a:r>
              <a:rPr lang="en-GB" dirty="0"/>
              <a:t> </a:t>
            </a:r>
            <a:r>
              <a:rPr lang="en-GB" dirty="0" err="1"/>
              <a:t>sử</a:t>
            </a:r>
            <a:r>
              <a:rPr lang="en-GB" dirty="0"/>
              <a:t> </a:t>
            </a:r>
            <a:r>
              <a:rPr lang="en-GB" dirty="0" err="1"/>
              <a:t>rằng</a:t>
            </a:r>
            <a:r>
              <a:rPr lang="en-GB" dirty="0"/>
              <a:t> A </a:t>
            </a:r>
            <a:r>
              <a:rPr lang="en-GB" dirty="0" err="1"/>
              <a:t>sắp</a:t>
            </a:r>
            <a:r>
              <a:rPr lang="en-GB" dirty="0"/>
              <a:t> </a:t>
            </a:r>
            <a:r>
              <a:rPr lang="en-GB" dirty="0" err="1"/>
              <a:t>gửi</a:t>
            </a:r>
            <a:r>
              <a:rPr lang="en-GB" dirty="0"/>
              <a:t> </a:t>
            </a:r>
            <a:r>
              <a:rPr lang="en-GB" dirty="0" err="1"/>
              <a:t>một</a:t>
            </a:r>
            <a:r>
              <a:rPr lang="en-GB" dirty="0"/>
              <a:t> </a:t>
            </a:r>
            <a:r>
              <a:rPr lang="en-GB" dirty="0" err="1"/>
              <a:t>đoạn</a:t>
            </a:r>
            <a:r>
              <a:rPr lang="en-GB" dirty="0"/>
              <a:t> </a:t>
            </a:r>
            <a:r>
              <a:rPr lang="en-GB" dirty="0" err="1"/>
              <a:t>đến</a:t>
            </a:r>
            <a:r>
              <a:rPr lang="en-GB" dirty="0"/>
              <a:t> B. </a:t>
            </a:r>
          </a:p>
          <a:p>
            <a:pPr marL="800100" lvl="1" indent="-342900">
              <a:buClr>
                <a:srgbClr val="0070C0"/>
              </a:buClr>
              <a:buFont typeface="Courier New" panose="02070309020205020404" pitchFamily="49" charset="0"/>
              <a:buChar char="o"/>
            </a:pPr>
            <a:r>
              <a:rPr lang="en-GB" dirty="0"/>
              <a:t>A </a:t>
            </a:r>
            <a:r>
              <a:rPr lang="en-GB" dirty="0" err="1"/>
              <a:t>đang</a:t>
            </a:r>
            <a:r>
              <a:rPr lang="en-GB" dirty="0"/>
              <a:t> </a:t>
            </a:r>
            <a:r>
              <a:rPr lang="en-GB" dirty="0" err="1"/>
              <a:t>chờ</a:t>
            </a:r>
            <a:r>
              <a:rPr lang="en-GB" dirty="0"/>
              <a:t> byte </a:t>
            </a:r>
            <a:r>
              <a:rPr lang="en-GB" dirty="0" err="1"/>
              <a:t>từ</a:t>
            </a:r>
            <a:r>
              <a:rPr lang="en-GB" dirty="0"/>
              <a:t> 536 </a:t>
            </a:r>
            <a:r>
              <a:rPr lang="en-GB" dirty="0" err="1"/>
              <a:t>và</a:t>
            </a:r>
            <a:r>
              <a:rPr lang="en-GB" dirty="0"/>
              <a:t> </a:t>
            </a:r>
            <a:r>
              <a:rPr lang="en-GB" dirty="0" err="1"/>
              <a:t>các</a:t>
            </a:r>
            <a:r>
              <a:rPr lang="en-GB" dirty="0"/>
              <a:t> byte </a:t>
            </a:r>
            <a:r>
              <a:rPr lang="en-GB" dirty="0" err="1"/>
              <a:t>tiếp</a:t>
            </a:r>
            <a:r>
              <a:rPr lang="en-GB" dirty="0"/>
              <a:t> </a:t>
            </a:r>
            <a:r>
              <a:rPr lang="en-GB" dirty="0" err="1"/>
              <a:t>theo</a:t>
            </a:r>
            <a:r>
              <a:rPr lang="en-GB" dirty="0"/>
              <a:t> </a:t>
            </a:r>
            <a:r>
              <a:rPr lang="en-GB" dirty="0" err="1"/>
              <a:t>trong</a:t>
            </a:r>
            <a:r>
              <a:rPr lang="en-GB" dirty="0"/>
              <a:t> </a:t>
            </a:r>
            <a:r>
              <a:rPr lang="en-GB" dirty="0" err="1"/>
              <a:t>luồng</a:t>
            </a:r>
            <a:r>
              <a:rPr lang="en-GB" dirty="0"/>
              <a:t> </a:t>
            </a:r>
            <a:r>
              <a:rPr lang="en-GB" dirty="0" err="1"/>
              <a:t>dữ</a:t>
            </a:r>
            <a:r>
              <a:rPr lang="en-GB" dirty="0"/>
              <a:t> </a:t>
            </a:r>
            <a:r>
              <a:rPr lang="en-GB" dirty="0" err="1"/>
              <a:t>liệu</a:t>
            </a:r>
            <a:r>
              <a:rPr lang="en-GB" dirty="0"/>
              <a:t> </a:t>
            </a:r>
            <a:r>
              <a:rPr lang="en-GB" dirty="0" err="1"/>
              <a:t>của</a:t>
            </a:r>
            <a:r>
              <a:rPr lang="en-GB" dirty="0"/>
              <a:t> B. </a:t>
            </a:r>
            <a:r>
              <a:rPr lang="en-GB" dirty="0" err="1"/>
              <a:t>Vì</a:t>
            </a:r>
            <a:r>
              <a:rPr lang="en-GB" dirty="0"/>
              <a:t> </a:t>
            </a:r>
            <a:r>
              <a:rPr lang="en-GB" dirty="0" err="1"/>
              <a:t>vậy</a:t>
            </a:r>
            <a:r>
              <a:rPr lang="en-GB" dirty="0"/>
              <a:t>, A </a:t>
            </a:r>
            <a:r>
              <a:rPr lang="en-GB" dirty="0" err="1"/>
              <a:t>đặt</a:t>
            </a:r>
            <a:r>
              <a:rPr lang="en-GB" dirty="0"/>
              <a:t> 536 </a:t>
            </a:r>
            <a:r>
              <a:rPr lang="en-GB" dirty="0" err="1"/>
              <a:t>vào</a:t>
            </a:r>
            <a:r>
              <a:rPr lang="en-GB" dirty="0"/>
              <a:t> </a:t>
            </a:r>
            <a:r>
              <a:rPr lang="en-GB" dirty="0" err="1"/>
              <a:t>trường</a:t>
            </a:r>
            <a:r>
              <a:rPr lang="en-GB" dirty="0"/>
              <a:t> </a:t>
            </a:r>
            <a:r>
              <a:rPr lang="en-GB" dirty="0">
                <a:solidFill>
                  <a:srgbClr val="FF0000"/>
                </a:solidFill>
              </a:rPr>
              <a:t>A</a:t>
            </a:r>
            <a:r>
              <a:rPr lang="vi-VN" dirty="0">
                <a:solidFill>
                  <a:srgbClr val="FF0000"/>
                </a:solidFill>
              </a:rPr>
              <a:t>cknowledgement</a:t>
            </a:r>
            <a:r>
              <a:rPr lang="en-US" dirty="0">
                <a:solidFill>
                  <a:srgbClr val="FF0000"/>
                </a:solidFill>
              </a:rPr>
              <a:t> number </a:t>
            </a:r>
            <a:r>
              <a:rPr lang="en-GB" dirty="0" err="1"/>
              <a:t>của</a:t>
            </a:r>
            <a:r>
              <a:rPr lang="en-GB" dirty="0"/>
              <a:t> </a:t>
            </a:r>
            <a:r>
              <a:rPr lang="en-GB" dirty="0" err="1"/>
              <a:t>đoạn</a:t>
            </a:r>
            <a:r>
              <a:rPr lang="en-GB" dirty="0"/>
              <a:t> </a:t>
            </a:r>
            <a:r>
              <a:rPr lang="en-GB" dirty="0" err="1"/>
              <a:t>mà</a:t>
            </a:r>
            <a:r>
              <a:rPr lang="en-GB" dirty="0"/>
              <a:t> </a:t>
            </a:r>
            <a:r>
              <a:rPr lang="en-GB" dirty="0" err="1"/>
              <a:t>nó</a:t>
            </a:r>
            <a:r>
              <a:rPr lang="en-GB" dirty="0"/>
              <a:t> </a:t>
            </a:r>
            <a:r>
              <a:rPr lang="en-GB" dirty="0" err="1"/>
              <a:t>gửi</a:t>
            </a:r>
            <a:r>
              <a:rPr lang="en-GB" dirty="0"/>
              <a:t> </a:t>
            </a:r>
            <a:r>
              <a:rPr lang="en-GB" dirty="0" err="1"/>
              <a:t>đến</a:t>
            </a:r>
            <a:r>
              <a:rPr lang="en-GB" dirty="0"/>
              <a:t> B.</a:t>
            </a:r>
          </a:p>
          <a:p>
            <a:pPr marL="342900" indent="-342900">
              <a:buClr>
                <a:srgbClr val="0070C0"/>
              </a:buClr>
              <a:buFont typeface="Wingdings" panose="05000000000000000000" pitchFamily="2" charset="2"/>
              <a:buChar char="q"/>
            </a:pPr>
            <a:r>
              <a:rPr lang="en-GB" sz="2200" dirty="0" err="1"/>
              <a:t>Ví</a:t>
            </a:r>
            <a:r>
              <a:rPr lang="en-GB" sz="2200" dirty="0"/>
              <a:t> </a:t>
            </a:r>
            <a:r>
              <a:rPr lang="en-GB" sz="2200" dirty="0" err="1"/>
              <a:t>dụ</a:t>
            </a:r>
            <a:r>
              <a:rPr lang="en-GB" sz="2200" dirty="0"/>
              <a:t> 2:</a:t>
            </a:r>
          </a:p>
          <a:p>
            <a:pPr marL="800100" lvl="1" indent="-342900">
              <a:buClr>
                <a:srgbClr val="0070C0"/>
              </a:buClr>
              <a:buFont typeface="Courier New" panose="02070309020205020404" pitchFamily="49" charset="0"/>
              <a:buChar char="o"/>
            </a:pPr>
            <a:r>
              <a:rPr lang="en-GB" dirty="0"/>
              <a:t>A </a:t>
            </a:r>
            <a:r>
              <a:rPr lang="en-GB" dirty="0" err="1"/>
              <a:t>đã</a:t>
            </a:r>
            <a:r>
              <a:rPr lang="en-GB" dirty="0"/>
              <a:t> </a:t>
            </a:r>
            <a:r>
              <a:rPr lang="en-GB" dirty="0" err="1"/>
              <a:t>nhận</a:t>
            </a:r>
            <a:r>
              <a:rPr lang="en-GB" dirty="0"/>
              <a:t> </a:t>
            </a:r>
            <a:r>
              <a:rPr lang="en-GB" dirty="0" err="1"/>
              <a:t>được</a:t>
            </a:r>
            <a:r>
              <a:rPr lang="en-GB" dirty="0"/>
              <a:t> </a:t>
            </a:r>
            <a:r>
              <a:rPr lang="en-GB" dirty="0" err="1"/>
              <a:t>đoạn</a:t>
            </a:r>
            <a:r>
              <a:rPr lang="en-GB" dirty="0"/>
              <a:t> </a:t>
            </a:r>
            <a:r>
              <a:rPr lang="en-GB" dirty="0" err="1"/>
              <a:t>chứa</a:t>
            </a:r>
            <a:r>
              <a:rPr lang="en-GB" dirty="0"/>
              <a:t> byte 0 </a:t>
            </a:r>
            <a:r>
              <a:rPr lang="en-GB" dirty="0" err="1"/>
              <a:t>đến</a:t>
            </a:r>
            <a:r>
              <a:rPr lang="en-GB" dirty="0"/>
              <a:t> 535 </a:t>
            </a:r>
            <a:r>
              <a:rPr lang="en-GB" dirty="0" err="1"/>
              <a:t>và</a:t>
            </a:r>
            <a:r>
              <a:rPr lang="en-GB" dirty="0"/>
              <a:t> </a:t>
            </a:r>
            <a:r>
              <a:rPr lang="en-GB" dirty="0" err="1"/>
              <a:t>đoạn</a:t>
            </a:r>
            <a:r>
              <a:rPr lang="en-GB" dirty="0"/>
              <a:t> </a:t>
            </a:r>
            <a:r>
              <a:rPr lang="en-GB" dirty="0" err="1"/>
              <a:t>khác</a:t>
            </a:r>
            <a:r>
              <a:rPr lang="en-GB" dirty="0"/>
              <a:t> </a:t>
            </a:r>
            <a:r>
              <a:rPr lang="en-GB" dirty="0" err="1"/>
              <a:t>chứa</a:t>
            </a:r>
            <a:r>
              <a:rPr lang="en-GB" dirty="0"/>
              <a:t> byte 900 </a:t>
            </a:r>
            <a:r>
              <a:rPr lang="en-GB" dirty="0" err="1"/>
              <a:t>đến</a:t>
            </a:r>
            <a:r>
              <a:rPr lang="en-GB" dirty="0"/>
              <a:t> 1.000 </a:t>
            </a:r>
            <a:r>
              <a:rPr lang="en-GB" dirty="0" err="1"/>
              <a:t>từ</a:t>
            </a:r>
            <a:r>
              <a:rPr lang="en-GB" dirty="0"/>
              <a:t> B (A </a:t>
            </a:r>
            <a:r>
              <a:rPr lang="en-GB" dirty="0" err="1"/>
              <a:t>chưa</a:t>
            </a:r>
            <a:r>
              <a:rPr lang="en-GB" dirty="0"/>
              <a:t> </a:t>
            </a:r>
            <a:r>
              <a:rPr lang="en-GB" dirty="0" err="1"/>
              <a:t>nhận</a:t>
            </a:r>
            <a:r>
              <a:rPr lang="en-GB" dirty="0"/>
              <a:t> </a:t>
            </a:r>
            <a:r>
              <a:rPr lang="en-GB" dirty="0" err="1"/>
              <a:t>được</a:t>
            </a:r>
            <a:r>
              <a:rPr lang="en-GB" dirty="0"/>
              <a:t> byte 536 </a:t>
            </a:r>
            <a:r>
              <a:rPr lang="en-GB" dirty="0" err="1"/>
              <a:t>đến</a:t>
            </a:r>
            <a:r>
              <a:rPr lang="en-GB" dirty="0"/>
              <a:t> 899) </a:t>
            </a:r>
            <a:r>
              <a:rPr lang="en-GB" dirty="0" err="1"/>
              <a:t>Khi</a:t>
            </a:r>
            <a:r>
              <a:rPr lang="en-GB" dirty="0"/>
              <a:t> </a:t>
            </a:r>
            <a:r>
              <a:rPr lang="en-GB" dirty="0" err="1"/>
              <a:t>đó</a:t>
            </a:r>
            <a:r>
              <a:rPr lang="en-GB" dirty="0"/>
              <a:t>, A </a:t>
            </a:r>
            <a:r>
              <a:rPr lang="en-GB" dirty="0" err="1"/>
              <a:t>vẫn</a:t>
            </a:r>
            <a:r>
              <a:rPr lang="en-GB" dirty="0"/>
              <a:t> </a:t>
            </a:r>
            <a:r>
              <a:rPr lang="en-GB" dirty="0" err="1"/>
              <a:t>đang</a:t>
            </a:r>
            <a:r>
              <a:rPr lang="en-GB" dirty="0"/>
              <a:t> </a:t>
            </a:r>
            <a:r>
              <a:rPr lang="en-GB" dirty="0" err="1"/>
              <a:t>chờ</a:t>
            </a:r>
            <a:r>
              <a:rPr lang="en-GB" dirty="0"/>
              <a:t> </a:t>
            </a:r>
            <a:r>
              <a:rPr lang="en-GB" dirty="0" err="1"/>
              <a:t>đoạn</a:t>
            </a:r>
            <a:r>
              <a:rPr lang="en-GB" dirty="0"/>
              <a:t> </a:t>
            </a:r>
            <a:r>
              <a:rPr lang="en-GB" dirty="0" err="1"/>
              <a:t>từ</a:t>
            </a:r>
            <a:r>
              <a:rPr lang="en-GB" dirty="0"/>
              <a:t> byte 536 </a:t>
            </a:r>
            <a:r>
              <a:rPr lang="en-GB" dirty="0" err="1"/>
              <a:t>để</a:t>
            </a:r>
            <a:r>
              <a:rPr lang="en-GB" dirty="0"/>
              <a:t> </a:t>
            </a:r>
            <a:r>
              <a:rPr lang="en-GB" dirty="0" err="1"/>
              <a:t>tạo</a:t>
            </a:r>
            <a:r>
              <a:rPr lang="en-GB" dirty="0"/>
              <a:t> </a:t>
            </a:r>
            <a:r>
              <a:rPr lang="en-GB" dirty="0" err="1"/>
              <a:t>lại</a:t>
            </a:r>
            <a:r>
              <a:rPr lang="en-GB" dirty="0"/>
              <a:t> </a:t>
            </a:r>
            <a:r>
              <a:rPr lang="en-GB" dirty="0" err="1"/>
              <a:t>luồng</a:t>
            </a:r>
            <a:r>
              <a:rPr lang="en-GB" dirty="0"/>
              <a:t> </a:t>
            </a:r>
            <a:r>
              <a:rPr lang="en-GB" dirty="0" err="1"/>
              <a:t>dữ</a:t>
            </a:r>
            <a:r>
              <a:rPr lang="en-GB" dirty="0"/>
              <a:t> </a:t>
            </a:r>
            <a:r>
              <a:rPr lang="en-GB" dirty="0" err="1"/>
              <a:t>liệu</a:t>
            </a:r>
            <a:r>
              <a:rPr lang="en-GB" dirty="0"/>
              <a:t>. Do </a:t>
            </a:r>
            <a:r>
              <a:rPr lang="en-GB" dirty="0" err="1"/>
              <a:t>đó</a:t>
            </a:r>
            <a:r>
              <a:rPr lang="en-GB" dirty="0"/>
              <a:t>, </a:t>
            </a:r>
            <a:r>
              <a:rPr lang="en-GB" dirty="0" err="1"/>
              <a:t>phân</a:t>
            </a:r>
            <a:r>
              <a:rPr lang="en-GB" dirty="0"/>
              <a:t> </a:t>
            </a:r>
            <a:r>
              <a:rPr lang="en-GB" dirty="0" err="1"/>
              <a:t>đoạn</a:t>
            </a:r>
            <a:r>
              <a:rPr lang="en-GB" dirty="0"/>
              <a:t> </a:t>
            </a:r>
            <a:r>
              <a:rPr lang="en-GB" dirty="0" err="1"/>
              <a:t>tiếp</a:t>
            </a:r>
            <a:r>
              <a:rPr lang="en-GB" dirty="0"/>
              <a:t> </a:t>
            </a:r>
            <a:r>
              <a:rPr lang="en-GB" dirty="0" err="1"/>
              <a:t>theo</a:t>
            </a:r>
            <a:r>
              <a:rPr lang="en-GB" dirty="0"/>
              <a:t> </a:t>
            </a:r>
            <a:r>
              <a:rPr lang="en-GB" dirty="0" err="1"/>
              <a:t>của</a:t>
            </a:r>
            <a:r>
              <a:rPr lang="en-GB" dirty="0"/>
              <a:t> A </a:t>
            </a:r>
            <a:r>
              <a:rPr lang="en-GB" dirty="0" err="1"/>
              <a:t>tới</a:t>
            </a:r>
            <a:r>
              <a:rPr lang="en-GB" dirty="0"/>
              <a:t> B </a:t>
            </a:r>
            <a:r>
              <a:rPr lang="en-GB" dirty="0" err="1"/>
              <a:t>sẽ</a:t>
            </a:r>
            <a:r>
              <a:rPr lang="en-GB" dirty="0"/>
              <a:t> </a:t>
            </a:r>
            <a:r>
              <a:rPr lang="en-GB" dirty="0" err="1"/>
              <a:t>chứa</a:t>
            </a:r>
            <a:r>
              <a:rPr lang="en-GB" dirty="0"/>
              <a:t> 536 </a:t>
            </a:r>
            <a:r>
              <a:rPr lang="en-GB" dirty="0" err="1"/>
              <a:t>trong</a:t>
            </a:r>
            <a:r>
              <a:rPr lang="en-GB" dirty="0"/>
              <a:t> </a:t>
            </a:r>
            <a:r>
              <a:rPr lang="en-GB" dirty="0" err="1"/>
              <a:t>trường</a:t>
            </a:r>
            <a:r>
              <a:rPr lang="en-GB" dirty="0"/>
              <a:t> </a:t>
            </a:r>
            <a:r>
              <a:rPr lang="en-GB" dirty="0">
                <a:solidFill>
                  <a:srgbClr val="FF0000"/>
                </a:solidFill>
              </a:rPr>
              <a:t>A</a:t>
            </a:r>
            <a:r>
              <a:rPr lang="vi-VN" dirty="0">
                <a:solidFill>
                  <a:srgbClr val="FF0000"/>
                </a:solidFill>
              </a:rPr>
              <a:t>cknowledgement</a:t>
            </a:r>
            <a:r>
              <a:rPr lang="en-US" dirty="0">
                <a:solidFill>
                  <a:srgbClr val="FF0000"/>
                </a:solidFill>
              </a:rPr>
              <a:t> number </a:t>
            </a:r>
            <a:r>
              <a:rPr lang="en-GB" dirty="0"/>
              <a:t>(TCP </a:t>
            </a:r>
            <a:r>
              <a:rPr lang="en-GB" dirty="0" err="1"/>
              <a:t>được</a:t>
            </a:r>
            <a:r>
              <a:rPr lang="en-GB" dirty="0"/>
              <a:t> </a:t>
            </a:r>
            <a:r>
              <a:rPr lang="en-GB" dirty="0" err="1"/>
              <a:t>cho</a:t>
            </a:r>
            <a:r>
              <a:rPr lang="en-GB" dirty="0"/>
              <a:t> </a:t>
            </a:r>
            <a:r>
              <a:rPr lang="en-GB" dirty="0" err="1"/>
              <a:t>là</a:t>
            </a:r>
            <a:r>
              <a:rPr lang="en-GB" dirty="0"/>
              <a:t> </a:t>
            </a:r>
            <a:r>
              <a:rPr lang="en-GB" dirty="0" err="1"/>
              <a:t>cung</a:t>
            </a:r>
            <a:r>
              <a:rPr lang="en-GB" dirty="0"/>
              <a:t> </a:t>
            </a:r>
            <a:r>
              <a:rPr lang="en-GB" dirty="0" err="1"/>
              <a:t>cấp</a:t>
            </a:r>
            <a:r>
              <a:rPr lang="en-GB" dirty="0"/>
              <a:t> </a:t>
            </a:r>
            <a:r>
              <a:rPr lang="en-GB" dirty="0" err="1"/>
              <a:t>các</a:t>
            </a:r>
            <a:r>
              <a:rPr lang="en-GB" dirty="0"/>
              <a:t> </a:t>
            </a:r>
            <a:r>
              <a:rPr lang="en-GB" dirty="0" err="1"/>
              <a:t>xác</a:t>
            </a:r>
            <a:r>
              <a:rPr lang="en-GB" dirty="0"/>
              <a:t> </a:t>
            </a:r>
            <a:r>
              <a:rPr lang="en-GB" dirty="0" err="1"/>
              <a:t>nhận</a:t>
            </a:r>
            <a:r>
              <a:rPr lang="en-GB" dirty="0"/>
              <a:t> </a:t>
            </a:r>
            <a:r>
              <a:rPr lang="en-GB" dirty="0" err="1"/>
              <a:t>tích</a:t>
            </a:r>
            <a:r>
              <a:rPr lang="en-GB" dirty="0"/>
              <a:t> </a:t>
            </a:r>
            <a:r>
              <a:rPr lang="en-GB" dirty="0" err="1"/>
              <a:t>lũy</a:t>
            </a:r>
            <a:r>
              <a:rPr lang="en-GB" dirty="0"/>
              <a:t>)</a:t>
            </a:r>
          </a:p>
          <a:p>
            <a:pPr marL="800100" lvl="1" indent="-342900">
              <a:buClr>
                <a:srgbClr val="0070C0"/>
              </a:buClr>
              <a:buFont typeface="Courier New" panose="02070309020205020404" pitchFamily="49" charset="0"/>
              <a:buChar char="o"/>
            </a:pPr>
            <a:r>
              <a:rPr lang="en-GB" dirty="0"/>
              <a:t>A </a:t>
            </a:r>
            <a:r>
              <a:rPr lang="en-GB" dirty="0" err="1"/>
              <a:t>đã</a:t>
            </a:r>
            <a:r>
              <a:rPr lang="en-GB" dirty="0"/>
              <a:t> </a:t>
            </a:r>
            <a:r>
              <a:rPr lang="en-GB" dirty="0" err="1"/>
              <a:t>nhận</a:t>
            </a:r>
            <a:r>
              <a:rPr lang="en-GB" dirty="0"/>
              <a:t> </a:t>
            </a:r>
            <a:r>
              <a:rPr lang="en-GB" dirty="0" err="1"/>
              <a:t>được</a:t>
            </a:r>
            <a:r>
              <a:rPr lang="en-GB" dirty="0"/>
              <a:t> </a:t>
            </a:r>
            <a:r>
              <a:rPr lang="en-GB" dirty="0" err="1"/>
              <a:t>đoạn</a:t>
            </a:r>
            <a:r>
              <a:rPr lang="en-GB" dirty="0"/>
              <a:t> </a:t>
            </a:r>
            <a:r>
              <a:rPr lang="en-GB" dirty="0" err="1"/>
              <a:t>thứ</a:t>
            </a:r>
            <a:r>
              <a:rPr lang="en-GB" dirty="0"/>
              <a:t> </a:t>
            </a:r>
            <a:r>
              <a:rPr lang="en-GB" dirty="0" err="1"/>
              <a:t>ba</a:t>
            </a:r>
            <a:r>
              <a:rPr lang="en-GB" dirty="0"/>
              <a:t> (byte 900 </a:t>
            </a:r>
            <a:r>
              <a:rPr lang="en-GB" dirty="0" err="1"/>
              <a:t>đến</a:t>
            </a:r>
            <a:r>
              <a:rPr lang="en-GB" dirty="0"/>
              <a:t> 1.000) </a:t>
            </a:r>
            <a:r>
              <a:rPr lang="en-GB" dirty="0" err="1"/>
              <a:t>trước</a:t>
            </a:r>
            <a:r>
              <a:rPr lang="en-GB" dirty="0"/>
              <a:t> </a:t>
            </a:r>
            <a:r>
              <a:rPr lang="en-GB" dirty="0" err="1"/>
              <a:t>khi</a:t>
            </a:r>
            <a:r>
              <a:rPr lang="en-GB" dirty="0"/>
              <a:t> </a:t>
            </a:r>
            <a:r>
              <a:rPr lang="en-GB" dirty="0" err="1"/>
              <a:t>nhận</a:t>
            </a:r>
            <a:r>
              <a:rPr lang="en-GB" dirty="0"/>
              <a:t> </a:t>
            </a:r>
            <a:r>
              <a:rPr lang="en-GB" dirty="0" err="1"/>
              <a:t>được</a:t>
            </a:r>
            <a:r>
              <a:rPr lang="en-GB" dirty="0"/>
              <a:t> </a:t>
            </a:r>
            <a:r>
              <a:rPr lang="en-GB" dirty="0" err="1"/>
              <a:t>đoạn</a:t>
            </a:r>
            <a:r>
              <a:rPr lang="en-GB" dirty="0"/>
              <a:t> </a:t>
            </a:r>
            <a:r>
              <a:rPr lang="en-GB" dirty="0" err="1"/>
              <a:t>thứ</a:t>
            </a:r>
            <a:r>
              <a:rPr lang="en-GB" dirty="0"/>
              <a:t> </a:t>
            </a:r>
            <a:r>
              <a:rPr lang="en-GB" dirty="0" err="1"/>
              <a:t>hai</a:t>
            </a:r>
            <a:r>
              <a:rPr lang="en-GB" dirty="0"/>
              <a:t> (byte 536 </a:t>
            </a:r>
            <a:r>
              <a:rPr lang="en-GB" dirty="0" err="1"/>
              <a:t>đến</a:t>
            </a:r>
            <a:r>
              <a:rPr lang="en-GB" dirty="0"/>
              <a:t> 899). Do </a:t>
            </a:r>
            <a:r>
              <a:rPr lang="en-GB" dirty="0" err="1"/>
              <a:t>đó</a:t>
            </a:r>
            <a:r>
              <a:rPr lang="en-GB" dirty="0"/>
              <a:t>, </a:t>
            </a:r>
            <a:r>
              <a:rPr lang="en-GB" dirty="0" err="1"/>
              <a:t>phân</a:t>
            </a:r>
            <a:r>
              <a:rPr lang="en-GB" dirty="0"/>
              <a:t> </a:t>
            </a:r>
            <a:r>
              <a:rPr lang="en-GB" dirty="0" err="1"/>
              <a:t>khúc</a:t>
            </a:r>
            <a:r>
              <a:rPr lang="en-GB" dirty="0"/>
              <a:t> </a:t>
            </a:r>
            <a:r>
              <a:rPr lang="en-GB" dirty="0" err="1"/>
              <a:t>thứ</a:t>
            </a:r>
            <a:r>
              <a:rPr lang="en-GB" dirty="0"/>
              <a:t> </a:t>
            </a:r>
            <a:r>
              <a:rPr lang="en-GB" dirty="0" err="1"/>
              <a:t>ba</a:t>
            </a:r>
            <a:r>
              <a:rPr lang="en-GB" dirty="0"/>
              <a:t> </a:t>
            </a:r>
            <a:r>
              <a:rPr lang="en-GB" dirty="0" err="1"/>
              <a:t>đã</a:t>
            </a:r>
            <a:r>
              <a:rPr lang="en-GB" dirty="0"/>
              <a:t> </a:t>
            </a:r>
            <a:r>
              <a:rPr lang="en-GB" dirty="0" err="1"/>
              <a:t>ra</a:t>
            </a:r>
            <a:r>
              <a:rPr lang="en-GB" dirty="0"/>
              <a:t> </a:t>
            </a:r>
            <a:r>
              <a:rPr lang="en-GB" dirty="0" err="1"/>
              <a:t>khỏi</a:t>
            </a:r>
            <a:r>
              <a:rPr lang="en-GB" dirty="0"/>
              <a:t> </a:t>
            </a:r>
            <a:r>
              <a:rPr lang="en-GB" dirty="0" err="1"/>
              <a:t>trật</a:t>
            </a:r>
            <a:r>
              <a:rPr lang="en-GB" dirty="0"/>
              <a:t> </a:t>
            </a:r>
            <a:r>
              <a:rPr lang="en-GB" dirty="0" err="1"/>
              <a:t>tự</a:t>
            </a:r>
            <a:r>
              <a:rPr lang="en-GB" dirty="0"/>
              <a:t>. </a:t>
            </a:r>
            <a:r>
              <a:rPr lang="en-GB" dirty="0" err="1"/>
              <a:t>Vấn</a:t>
            </a:r>
            <a:r>
              <a:rPr lang="en-GB" dirty="0"/>
              <a:t> </a:t>
            </a:r>
            <a:r>
              <a:rPr lang="en-GB" dirty="0" err="1"/>
              <a:t>đề</a:t>
            </a:r>
            <a:r>
              <a:rPr lang="en-GB" dirty="0"/>
              <a:t> </a:t>
            </a:r>
            <a:r>
              <a:rPr lang="en-GB" dirty="0" err="1"/>
              <a:t>là</a:t>
            </a:r>
            <a:r>
              <a:rPr lang="en-GB" dirty="0"/>
              <a:t>: </a:t>
            </a:r>
            <a:r>
              <a:rPr lang="en-GB" dirty="0" err="1"/>
              <a:t>Máy</a:t>
            </a:r>
            <a:r>
              <a:rPr lang="en-GB" dirty="0"/>
              <a:t> </a:t>
            </a:r>
            <a:r>
              <a:rPr lang="en-GB" dirty="0" err="1"/>
              <a:t>nhận</a:t>
            </a:r>
            <a:r>
              <a:rPr lang="en-GB" dirty="0"/>
              <a:t> </a:t>
            </a:r>
            <a:r>
              <a:rPr lang="en-GB" dirty="0" err="1"/>
              <a:t>sẽ</a:t>
            </a:r>
            <a:r>
              <a:rPr lang="en-GB" dirty="0"/>
              <a:t> </a:t>
            </a:r>
            <a:r>
              <a:rPr lang="en-GB" dirty="0" err="1"/>
              <a:t>làm</a:t>
            </a:r>
            <a:r>
              <a:rPr lang="en-GB" dirty="0"/>
              <a:t> </a:t>
            </a:r>
            <a:r>
              <a:rPr lang="en-GB" dirty="0" err="1"/>
              <a:t>gì</a:t>
            </a:r>
            <a:r>
              <a:rPr lang="en-GB" dirty="0"/>
              <a:t> </a:t>
            </a:r>
            <a:r>
              <a:rPr lang="en-GB" dirty="0" err="1"/>
              <a:t>khi</a:t>
            </a:r>
            <a:r>
              <a:rPr lang="en-GB" dirty="0"/>
              <a:t> </a:t>
            </a:r>
            <a:r>
              <a:rPr lang="en-GB" dirty="0" err="1"/>
              <a:t>nhận</a:t>
            </a:r>
            <a:r>
              <a:rPr lang="en-GB" dirty="0"/>
              <a:t> </a:t>
            </a:r>
            <a:r>
              <a:rPr lang="en-GB" dirty="0" err="1"/>
              <a:t>được</a:t>
            </a:r>
            <a:r>
              <a:rPr lang="en-GB" dirty="0"/>
              <a:t> </a:t>
            </a:r>
            <a:r>
              <a:rPr lang="en-GB" dirty="0" err="1"/>
              <a:t>các</a:t>
            </a:r>
            <a:r>
              <a:rPr lang="en-GB" dirty="0"/>
              <a:t> </a:t>
            </a:r>
            <a:r>
              <a:rPr lang="en-GB" dirty="0" err="1"/>
              <a:t>phân</a:t>
            </a:r>
            <a:r>
              <a:rPr lang="en-GB" dirty="0"/>
              <a:t> </a:t>
            </a:r>
            <a:r>
              <a:rPr lang="en-GB" dirty="0" err="1"/>
              <a:t>đoạn</a:t>
            </a:r>
            <a:r>
              <a:rPr lang="en-GB" dirty="0"/>
              <a:t> </a:t>
            </a:r>
            <a:r>
              <a:rPr lang="en-GB" dirty="0" err="1"/>
              <a:t>không</a:t>
            </a:r>
            <a:r>
              <a:rPr lang="en-GB" dirty="0"/>
              <a:t> </a:t>
            </a:r>
            <a:r>
              <a:rPr lang="en-GB" dirty="0" err="1"/>
              <a:t>theo</a:t>
            </a:r>
            <a:r>
              <a:rPr lang="en-GB" dirty="0"/>
              <a:t> </a:t>
            </a:r>
            <a:r>
              <a:rPr lang="en-GB" dirty="0" err="1"/>
              <a:t>thứ</a:t>
            </a:r>
            <a:r>
              <a:rPr lang="en-GB" dirty="0"/>
              <a:t> </a:t>
            </a:r>
            <a:r>
              <a:rPr lang="en-GB" dirty="0" err="1"/>
              <a:t>tự</a:t>
            </a:r>
            <a:r>
              <a:rPr lang="en-GB" dirty="0"/>
              <a:t> </a:t>
            </a:r>
            <a:r>
              <a:rPr lang="en-GB" dirty="0" err="1"/>
              <a:t>trong</a:t>
            </a:r>
            <a:r>
              <a:rPr lang="en-GB" dirty="0"/>
              <a:t> </a:t>
            </a:r>
            <a:r>
              <a:rPr lang="en-GB" dirty="0" err="1"/>
              <a:t>kết</a:t>
            </a:r>
            <a:r>
              <a:rPr lang="en-GB" dirty="0"/>
              <a:t> </a:t>
            </a:r>
            <a:r>
              <a:rPr lang="en-GB" dirty="0" err="1"/>
              <a:t>nối</a:t>
            </a:r>
            <a:r>
              <a:rPr lang="en-GB" dirty="0"/>
              <a:t> TCP?</a:t>
            </a:r>
          </a:p>
          <a:p>
            <a:pPr marL="342900" indent="-342900">
              <a:buClr>
                <a:srgbClr val="0070C0"/>
              </a:buClr>
              <a:buFont typeface="Wingdings" panose="05000000000000000000" pitchFamily="2" charset="2"/>
              <a:buChar char="q"/>
            </a:pPr>
            <a:r>
              <a:rPr lang="vi-VN" sz="2200" dirty="0"/>
              <a:t>Bên gửi xử lý segment không đúng thứ tự như thế nào?</a:t>
            </a:r>
          </a:p>
          <a:p>
            <a:pPr marL="800100" lvl="1" indent="-342900">
              <a:buClr>
                <a:srgbClr val="0070C0"/>
              </a:buClr>
              <a:buFont typeface="Wingdings" panose="05000000000000000000" pitchFamily="2" charset="2"/>
              <a:buChar char="q"/>
            </a:pPr>
            <a:r>
              <a:rPr lang="vi-VN" dirty="0"/>
              <a:t>TCP không mô tả</a:t>
            </a:r>
          </a:p>
          <a:p>
            <a:endParaRPr lang="en-GB" dirty="0"/>
          </a:p>
        </p:txBody>
      </p:sp>
      <p:sp>
        <p:nvSpPr>
          <p:cNvPr id="4" name="Slide Number Placeholder 3"/>
          <p:cNvSpPr>
            <a:spLocks noGrp="1"/>
          </p:cNvSpPr>
          <p:nvPr>
            <p:ph type="sldNum" sz="quarter" idx="7"/>
          </p:nvPr>
        </p:nvSpPr>
        <p:spPr/>
        <p:txBody>
          <a:bodyPr/>
          <a:lstStyle/>
          <a:p>
            <a:pPr marL="12700">
              <a:lnSpc>
                <a:spcPts val="1645"/>
              </a:lnSpc>
            </a:pPr>
            <a:fld id="{81D60167-4931-47E6-BA6A-407CBD079E47}" type="slidenum">
              <a:rPr lang="en-US" spc="-5" smtClean="0"/>
              <a:t>49</a:t>
            </a:fld>
            <a:endParaRPr lang="en-US" spc="-5" dirty="0"/>
          </a:p>
        </p:txBody>
      </p:sp>
    </p:spTree>
    <p:extLst>
      <p:ext uri="{BB962C8B-B14F-4D97-AF65-F5344CB8AC3E}">
        <p14:creationId xmlns:p14="http://schemas.microsoft.com/office/powerpoint/2010/main" val="6508055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TCP</a:t>
            </a:r>
            <a:endParaRPr spc="-5" dirty="0"/>
          </a:p>
        </p:txBody>
      </p:sp>
      <p:sp>
        <p:nvSpPr>
          <p:cNvPr id="3" name="object 3"/>
          <p:cNvSpPr txBox="1"/>
          <p:nvPr/>
        </p:nvSpPr>
        <p:spPr>
          <a:xfrm>
            <a:off x="1193546" y="1780286"/>
            <a:ext cx="6807454" cy="3490058"/>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Cấu</a:t>
            </a:r>
            <a:r>
              <a:rPr lang="en-US" sz="3200" spc="-5" dirty="0">
                <a:latin typeface="Arial"/>
                <a:cs typeface="Arial"/>
              </a:rPr>
              <a:t> </a:t>
            </a:r>
            <a:r>
              <a:rPr lang="en-US" sz="3200" spc="-5" dirty="0" err="1">
                <a:latin typeface="Arial"/>
                <a:cs typeface="Arial"/>
              </a:rPr>
              <a:t>trúc</a:t>
            </a:r>
            <a:r>
              <a:rPr lang="en-US" sz="3200" spc="-5" dirty="0">
                <a:latin typeface="Arial"/>
                <a:cs typeface="Arial"/>
              </a:rPr>
              <a:t> </a:t>
            </a:r>
            <a:r>
              <a:rPr lang="en-US" sz="3200" spc="-5" dirty="0" err="1">
                <a:latin typeface="Arial"/>
                <a:cs typeface="Arial"/>
              </a:rPr>
              <a:t>của</a:t>
            </a:r>
            <a:r>
              <a:rPr lang="en-US" sz="3200" spc="-5" dirty="0">
                <a:latin typeface="Arial"/>
                <a:cs typeface="Arial"/>
              </a:rPr>
              <a:t> TCP segment</a:t>
            </a:r>
          </a:p>
          <a:p>
            <a:pPr marL="355600" indent="-342900">
              <a:lnSpc>
                <a:spcPct val="100000"/>
              </a:lnSpc>
              <a:spcBef>
                <a:spcPts val="675"/>
              </a:spcBef>
              <a:buClr>
                <a:srgbClr val="3333CC"/>
              </a:buClr>
              <a:buSzPct val="83333"/>
              <a:buFont typeface="Wingdings"/>
              <a:buChar char=""/>
              <a:tabLst>
                <a:tab pos="355600" algn="l"/>
              </a:tabLst>
            </a:pPr>
            <a:r>
              <a:rPr lang="en-US" sz="3200" spc="-5" dirty="0" err="1">
                <a:solidFill>
                  <a:srgbClr val="FF0000"/>
                </a:solidFill>
                <a:latin typeface="Arial"/>
                <a:cs typeface="Arial"/>
              </a:rPr>
              <a:t>Thiết</a:t>
            </a:r>
            <a:r>
              <a:rPr lang="en-US" sz="3200" spc="-5" dirty="0">
                <a:solidFill>
                  <a:srgbClr val="FF0000"/>
                </a:solidFill>
                <a:latin typeface="Arial"/>
                <a:cs typeface="Arial"/>
              </a:rPr>
              <a:t> </a:t>
            </a:r>
            <a:r>
              <a:rPr lang="en-US" sz="3200" spc="-5" dirty="0" err="1">
                <a:solidFill>
                  <a:srgbClr val="FF0000"/>
                </a:solidFill>
                <a:latin typeface="Arial"/>
                <a:cs typeface="Arial"/>
              </a:rPr>
              <a:t>lập</a:t>
            </a:r>
            <a:r>
              <a:rPr lang="en-US" sz="3200" spc="-5" dirty="0">
                <a:solidFill>
                  <a:srgbClr val="FF0000"/>
                </a:solidFill>
                <a:latin typeface="Arial"/>
                <a:cs typeface="Arial"/>
              </a:rPr>
              <a:t> </a:t>
            </a:r>
            <a:r>
              <a:rPr lang="en-US" sz="3200" spc="-5" dirty="0" err="1">
                <a:solidFill>
                  <a:srgbClr val="FF0000"/>
                </a:solidFill>
                <a:latin typeface="Arial"/>
                <a:cs typeface="Arial"/>
              </a:rPr>
              <a:t>và</a:t>
            </a:r>
            <a:r>
              <a:rPr lang="en-US" sz="3200" spc="-5" dirty="0">
                <a:solidFill>
                  <a:srgbClr val="FF0000"/>
                </a:solidFill>
                <a:latin typeface="Arial"/>
                <a:cs typeface="Arial"/>
              </a:rPr>
              <a:t> </a:t>
            </a:r>
            <a:r>
              <a:rPr lang="en-US" sz="3200" spc="-5" dirty="0" err="1">
                <a:solidFill>
                  <a:srgbClr val="FF0000"/>
                </a:solidFill>
                <a:latin typeface="Arial"/>
                <a:cs typeface="Arial"/>
              </a:rPr>
              <a:t>giải</a:t>
            </a:r>
            <a:r>
              <a:rPr lang="en-US" sz="3200" spc="-5" dirty="0">
                <a:solidFill>
                  <a:srgbClr val="FF0000"/>
                </a:solidFill>
                <a:latin typeface="Arial"/>
                <a:cs typeface="Arial"/>
              </a:rPr>
              <a:t> </a:t>
            </a:r>
            <a:r>
              <a:rPr lang="en-US" sz="3200" spc="-5" dirty="0" err="1">
                <a:solidFill>
                  <a:srgbClr val="FF0000"/>
                </a:solidFill>
                <a:latin typeface="Arial"/>
                <a:cs typeface="Arial"/>
              </a:rPr>
              <a:t>phóng</a:t>
            </a:r>
            <a:r>
              <a:rPr lang="en-US" sz="3200" spc="-5" dirty="0">
                <a:solidFill>
                  <a:srgbClr val="FF0000"/>
                </a:solidFill>
                <a:latin typeface="Arial"/>
                <a:cs typeface="Arial"/>
              </a:rPr>
              <a:t> </a:t>
            </a:r>
            <a:r>
              <a:rPr lang="en-US" sz="3200" spc="-5" dirty="0" err="1">
                <a:solidFill>
                  <a:srgbClr val="FF0000"/>
                </a:solidFill>
                <a:latin typeface="Arial"/>
                <a:cs typeface="Arial"/>
              </a:rPr>
              <a:t>kết</a:t>
            </a:r>
            <a:r>
              <a:rPr lang="en-US" sz="3200" spc="-5" dirty="0">
                <a:solidFill>
                  <a:srgbClr val="FF0000"/>
                </a:solidFill>
                <a:latin typeface="Arial"/>
                <a:cs typeface="Arial"/>
              </a:rPr>
              <a:t> </a:t>
            </a:r>
            <a:r>
              <a:rPr lang="en-US" sz="3200" spc="-5" dirty="0" err="1">
                <a:solidFill>
                  <a:srgbClr val="FF0000"/>
                </a:solidFill>
                <a:latin typeface="Arial"/>
                <a:cs typeface="Arial"/>
              </a:rPr>
              <a:t>nối</a:t>
            </a:r>
            <a:endParaRPr lang="en-US" sz="3200" spc="-5" dirty="0">
              <a:solidFill>
                <a:srgbClr val="FF0000"/>
              </a:solidFill>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Truyền</a:t>
            </a:r>
            <a:r>
              <a:rPr lang="en-US" sz="3200" spc="-5" dirty="0">
                <a:latin typeface="Arial"/>
                <a:cs typeface="Arial"/>
              </a:rPr>
              <a:t> </a:t>
            </a:r>
            <a:r>
              <a:rPr lang="en-US" sz="3200" spc="-5" dirty="0" err="1">
                <a:latin typeface="Arial"/>
                <a:cs typeface="Arial"/>
              </a:rPr>
              <a:t>dữ</a:t>
            </a:r>
            <a:r>
              <a:rPr lang="en-US" sz="3200" spc="-5" dirty="0">
                <a:latin typeface="Arial"/>
                <a:cs typeface="Arial"/>
              </a:rPr>
              <a:t> </a:t>
            </a:r>
            <a:r>
              <a:rPr lang="en-US" sz="3200" spc="-5" dirty="0" err="1">
                <a:latin typeface="Arial"/>
                <a:cs typeface="Arial"/>
              </a:rPr>
              <a:t>liệu</a:t>
            </a:r>
            <a:r>
              <a:rPr lang="en-US" sz="3200" spc="-5" dirty="0">
                <a:latin typeface="Arial"/>
                <a:cs typeface="Arial"/>
              </a:rPr>
              <a:t> tin </a:t>
            </a:r>
            <a:r>
              <a:rPr lang="en-US" sz="3200" spc="-5" dirty="0" err="1">
                <a:latin typeface="Arial"/>
                <a:cs typeface="Arial"/>
              </a:rPr>
              <a:t>cậy</a:t>
            </a:r>
            <a:r>
              <a:rPr lang="en-US" sz="3200" spc="-5" dirty="0">
                <a:latin typeface="Arial"/>
                <a:cs typeface="Arial"/>
              </a:rPr>
              <a:t> </a:t>
            </a:r>
            <a:r>
              <a:rPr lang="en-US" sz="3200" spc="-5" dirty="0" err="1">
                <a:latin typeface="Arial"/>
                <a:cs typeface="Arial"/>
              </a:rPr>
              <a:t>của</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luồng</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tắc</a:t>
            </a:r>
            <a:r>
              <a:rPr lang="en-US" sz="3200" spc="-5" dirty="0">
                <a:latin typeface="Arial"/>
                <a:cs typeface="Arial"/>
              </a:rPr>
              <a:t> </a:t>
            </a:r>
            <a:r>
              <a:rPr lang="en-US" sz="3200" spc="-5" dirty="0" err="1">
                <a:latin typeface="Arial"/>
                <a:cs typeface="Arial"/>
              </a:rPr>
              <a:t>nghẽn</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50</a:t>
            </a:fld>
            <a:endParaRPr lang="en-US" spc="-5" dirty="0"/>
          </a:p>
        </p:txBody>
      </p:sp>
    </p:spTree>
    <p:extLst>
      <p:ext uri="{BB962C8B-B14F-4D97-AF65-F5344CB8AC3E}">
        <p14:creationId xmlns:p14="http://schemas.microsoft.com/office/powerpoint/2010/main" val="3869580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5810" y="781304"/>
            <a:ext cx="10013189" cy="504625"/>
          </a:xfrm>
          <a:prstGeom prst="rect">
            <a:avLst/>
          </a:prstGeom>
        </p:spPr>
        <p:txBody>
          <a:bodyPr vert="horz" wrap="square" lIns="0" tIns="12065" rIns="0" bIns="0" rtlCol="0">
            <a:spAutoFit/>
          </a:bodyPr>
          <a:lstStyle/>
          <a:p>
            <a:pPr marL="12700">
              <a:lnSpc>
                <a:spcPct val="100000"/>
              </a:lnSpc>
              <a:spcBef>
                <a:spcPts val="95"/>
              </a:spcBef>
            </a:pPr>
            <a:r>
              <a:rPr lang="en-US" sz="3200" dirty="0" err="1"/>
              <a:t>Thiết</a:t>
            </a:r>
            <a:r>
              <a:rPr lang="en-US" sz="3200" dirty="0"/>
              <a:t> </a:t>
            </a:r>
            <a:r>
              <a:rPr lang="en-US" sz="3200" dirty="0" err="1"/>
              <a:t>lập</a:t>
            </a:r>
            <a:r>
              <a:rPr lang="en-US" sz="3200" dirty="0"/>
              <a:t> </a:t>
            </a:r>
            <a:r>
              <a:rPr lang="en-US" sz="3200" dirty="0" err="1"/>
              <a:t>kết</a:t>
            </a:r>
            <a:r>
              <a:rPr lang="en-US" sz="3200" dirty="0"/>
              <a:t> </a:t>
            </a:r>
            <a:r>
              <a:rPr lang="en-US" sz="3200" dirty="0" err="1"/>
              <a:t>nối</a:t>
            </a:r>
            <a:r>
              <a:rPr lang="en-US" sz="3200" dirty="0"/>
              <a:t> TCP: </a:t>
            </a:r>
            <a:r>
              <a:rPr lang="en-US" sz="3200" dirty="0" err="1"/>
              <a:t>Giao</a:t>
            </a:r>
            <a:r>
              <a:rPr lang="en-US" sz="3200" dirty="0"/>
              <a:t> </a:t>
            </a:r>
            <a:r>
              <a:rPr lang="en-US" sz="3200" dirty="0" err="1"/>
              <a:t>thức</a:t>
            </a:r>
            <a:r>
              <a:rPr lang="en-US" sz="3200" dirty="0"/>
              <a:t> </a:t>
            </a:r>
            <a:r>
              <a:rPr lang="en-US" sz="3200" dirty="0" err="1"/>
              <a:t>bắt</a:t>
            </a:r>
            <a:r>
              <a:rPr lang="en-US" sz="3200" dirty="0"/>
              <a:t> </a:t>
            </a:r>
            <a:r>
              <a:rPr lang="en-US" sz="3200" dirty="0" err="1"/>
              <a:t>tay</a:t>
            </a:r>
            <a:r>
              <a:rPr lang="en-US" sz="3200" dirty="0"/>
              <a:t> </a:t>
            </a:r>
            <a:r>
              <a:rPr lang="en-US" sz="3200" dirty="0" err="1"/>
              <a:t>ba</a:t>
            </a:r>
            <a:r>
              <a:rPr lang="en-US" sz="3200" dirty="0"/>
              <a:t> </a:t>
            </a:r>
            <a:r>
              <a:rPr lang="en-US" sz="3200" dirty="0" err="1"/>
              <a:t>bước</a:t>
            </a:r>
            <a:endParaRPr sz="3200" dirty="0"/>
          </a:p>
        </p:txBody>
      </p:sp>
      <p:sp>
        <p:nvSpPr>
          <p:cNvPr id="58" name="object 3"/>
          <p:cNvSpPr txBox="1"/>
          <p:nvPr/>
        </p:nvSpPr>
        <p:spPr>
          <a:xfrm>
            <a:off x="1069338" y="1982215"/>
            <a:ext cx="4340862" cy="5691302"/>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vi-VN" sz="2800" dirty="0">
                <a:solidFill>
                  <a:srgbClr val="FF0000"/>
                </a:solidFill>
                <a:latin typeface="Arial"/>
                <a:cs typeface="Arial"/>
              </a:rPr>
              <a:t>Bước 1: </a:t>
            </a:r>
            <a:r>
              <a:rPr lang="vi-VN" sz="2800" dirty="0">
                <a:latin typeface="Arial"/>
                <a:cs typeface="Arial"/>
              </a:rPr>
              <a:t>A gửi SYN cho B</a:t>
            </a:r>
          </a:p>
          <a:p>
            <a:pPr marL="927100" marR="5080" lvl="1" indent="-457200">
              <a:spcBef>
                <a:spcPts val="100"/>
              </a:spcBef>
              <a:buClr>
                <a:srgbClr val="3333CC"/>
              </a:buClr>
              <a:buSzPct val="83333"/>
              <a:buFont typeface="Courier New" panose="02070309020205020404" pitchFamily="49" charset="0"/>
              <a:buChar char="o"/>
              <a:tabLst>
                <a:tab pos="355600" algn="l"/>
              </a:tabLst>
            </a:pPr>
            <a:r>
              <a:rPr lang="vi-VN" sz="2600" dirty="0">
                <a:latin typeface="Arial"/>
                <a:cs typeface="Arial"/>
              </a:rPr>
              <a:t>chỉ ra giá trị khởi tạo seq # của</a:t>
            </a:r>
            <a:r>
              <a:rPr lang="en-US" sz="2600" dirty="0">
                <a:latin typeface="Arial"/>
                <a:cs typeface="Arial"/>
              </a:rPr>
              <a:t> </a:t>
            </a:r>
            <a:r>
              <a:rPr lang="vi-VN" sz="2600" dirty="0">
                <a:latin typeface="Arial"/>
                <a:cs typeface="Arial"/>
              </a:rPr>
              <a:t>A</a:t>
            </a:r>
          </a:p>
          <a:p>
            <a:pPr marL="927100" marR="5080" lvl="1" indent="-457200">
              <a:spcBef>
                <a:spcPts val="100"/>
              </a:spcBef>
              <a:buClr>
                <a:srgbClr val="3333CC"/>
              </a:buClr>
              <a:buSzPct val="83333"/>
              <a:buFont typeface="Courier New" panose="02070309020205020404" pitchFamily="49" charset="0"/>
              <a:buChar char="o"/>
              <a:tabLst>
                <a:tab pos="355600" algn="l"/>
              </a:tabLst>
            </a:pPr>
            <a:r>
              <a:rPr lang="vi-VN" sz="2600" dirty="0">
                <a:latin typeface="Arial"/>
                <a:cs typeface="Arial"/>
              </a:rPr>
              <a:t>không có dữ liệu</a:t>
            </a:r>
          </a:p>
          <a:p>
            <a:pPr marL="355600" marR="5080" indent="-342900">
              <a:lnSpc>
                <a:spcPct val="100000"/>
              </a:lnSpc>
              <a:spcBef>
                <a:spcPts val="100"/>
              </a:spcBef>
              <a:buClr>
                <a:srgbClr val="3333CC"/>
              </a:buClr>
              <a:buSzPct val="83333"/>
              <a:buFont typeface="Wingdings"/>
              <a:buChar char=""/>
              <a:tabLst>
                <a:tab pos="355600" algn="l"/>
              </a:tabLst>
            </a:pPr>
            <a:r>
              <a:rPr lang="vi-VN" sz="2800" dirty="0">
                <a:solidFill>
                  <a:srgbClr val="FF0000"/>
                </a:solidFill>
                <a:latin typeface="Arial"/>
                <a:cs typeface="Arial"/>
              </a:rPr>
              <a:t>Bước 2: </a:t>
            </a:r>
            <a:r>
              <a:rPr lang="vi-VN" sz="2800" dirty="0">
                <a:latin typeface="Arial"/>
                <a:cs typeface="Arial"/>
              </a:rPr>
              <a:t>B nhận SYN, trả lời</a:t>
            </a:r>
            <a:r>
              <a:rPr lang="en-US" sz="2800" dirty="0">
                <a:latin typeface="Arial"/>
                <a:cs typeface="Arial"/>
              </a:rPr>
              <a:t> </a:t>
            </a:r>
            <a:r>
              <a:rPr lang="vi-VN" sz="2800" dirty="0">
                <a:latin typeface="Arial"/>
                <a:cs typeface="Arial"/>
              </a:rPr>
              <a:t>bằng SYNACK</a:t>
            </a:r>
          </a:p>
          <a:p>
            <a:pPr marL="927100" marR="5080" lvl="1" indent="-457200">
              <a:spcBef>
                <a:spcPts val="100"/>
              </a:spcBef>
              <a:buClr>
                <a:srgbClr val="3333CC"/>
              </a:buClr>
              <a:buSzPct val="83333"/>
              <a:buFont typeface="Courier New" panose="02070309020205020404" pitchFamily="49" charset="0"/>
              <a:buChar char="o"/>
              <a:tabLst>
                <a:tab pos="355600" algn="l"/>
              </a:tabLst>
            </a:pPr>
            <a:r>
              <a:rPr lang="vi-VN" sz="2600" dirty="0">
                <a:latin typeface="Arial"/>
                <a:cs typeface="Arial"/>
              </a:rPr>
              <a:t>B khởi tạo vùng </a:t>
            </a:r>
            <a:r>
              <a:rPr lang="en-US" sz="2600" dirty="0">
                <a:latin typeface="Arial"/>
                <a:cs typeface="Arial"/>
              </a:rPr>
              <a:t>đ</a:t>
            </a:r>
            <a:r>
              <a:rPr lang="vi-VN" sz="2600" dirty="0">
                <a:latin typeface="Arial"/>
                <a:cs typeface="Arial"/>
              </a:rPr>
              <a:t>ệm</a:t>
            </a:r>
          </a:p>
          <a:p>
            <a:pPr marL="927100" marR="5080" lvl="1" indent="-457200">
              <a:spcBef>
                <a:spcPts val="100"/>
              </a:spcBef>
              <a:buClr>
                <a:srgbClr val="3333CC"/>
              </a:buClr>
              <a:buSzPct val="83333"/>
              <a:buFont typeface="Courier New" panose="02070309020205020404" pitchFamily="49" charset="0"/>
              <a:buChar char="o"/>
              <a:tabLst>
                <a:tab pos="355600" algn="l"/>
              </a:tabLst>
            </a:pPr>
            <a:r>
              <a:rPr lang="vi-VN" sz="2600" dirty="0">
                <a:latin typeface="Arial"/>
                <a:cs typeface="Arial"/>
              </a:rPr>
              <a:t>chỉ ra giá trị khởi tạo seq. # của</a:t>
            </a:r>
            <a:r>
              <a:rPr lang="en-US" sz="2600" dirty="0">
                <a:latin typeface="Arial"/>
                <a:cs typeface="Arial"/>
              </a:rPr>
              <a:t> </a:t>
            </a:r>
            <a:r>
              <a:rPr lang="vi-VN" sz="2600" dirty="0">
                <a:latin typeface="Arial"/>
                <a:cs typeface="Arial"/>
              </a:rPr>
              <a:t>B</a:t>
            </a:r>
          </a:p>
          <a:p>
            <a:pPr marL="355600" marR="5080" indent="-342900">
              <a:lnSpc>
                <a:spcPct val="100000"/>
              </a:lnSpc>
              <a:spcBef>
                <a:spcPts val="100"/>
              </a:spcBef>
              <a:buClr>
                <a:srgbClr val="3333CC"/>
              </a:buClr>
              <a:buSzPct val="83333"/>
              <a:buFont typeface="Wingdings"/>
              <a:buChar char=""/>
              <a:tabLst>
                <a:tab pos="355600" algn="l"/>
              </a:tabLst>
            </a:pPr>
            <a:r>
              <a:rPr lang="vi-VN" sz="2800" dirty="0">
                <a:solidFill>
                  <a:srgbClr val="FF0000"/>
                </a:solidFill>
                <a:latin typeface="Arial"/>
                <a:cs typeface="Arial"/>
              </a:rPr>
              <a:t>Bước 3: </a:t>
            </a:r>
            <a:r>
              <a:rPr lang="vi-VN" sz="2800" dirty="0">
                <a:latin typeface="Arial"/>
                <a:cs typeface="Arial"/>
              </a:rPr>
              <a:t>A nhận SYNACK, trả</a:t>
            </a:r>
            <a:r>
              <a:rPr lang="en-US" sz="2800" dirty="0">
                <a:latin typeface="Arial"/>
                <a:cs typeface="Arial"/>
              </a:rPr>
              <a:t> </a:t>
            </a:r>
            <a:r>
              <a:rPr lang="vi-VN" sz="2800" dirty="0">
                <a:latin typeface="Arial"/>
                <a:cs typeface="Arial"/>
              </a:rPr>
              <a:t>lời ACK, có thể kèm theo dữ</a:t>
            </a:r>
            <a:r>
              <a:rPr lang="en-US" sz="2800" dirty="0">
                <a:latin typeface="Arial"/>
                <a:cs typeface="Arial"/>
              </a:rPr>
              <a:t> </a:t>
            </a:r>
            <a:r>
              <a:rPr lang="vi-VN" sz="2800" dirty="0">
                <a:latin typeface="Arial"/>
                <a:cs typeface="Arial"/>
              </a:rPr>
              <a:t>liệu</a:t>
            </a:r>
            <a:endParaRPr sz="2800" dirty="0">
              <a:latin typeface="Arial"/>
              <a:cs typeface="Arial"/>
            </a:endParaRPr>
          </a:p>
        </p:txBody>
      </p:sp>
      <p:pic>
        <p:nvPicPr>
          <p:cNvPr id="59" name="Picture 58"/>
          <p:cNvPicPr>
            <a:picLocks noChangeAspect="1"/>
          </p:cNvPicPr>
          <p:nvPr/>
        </p:nvPicPr>
        <p:blipFill>
          <a:blip r:embed="rId2"/>
          <a:stretch>
            <a:fillRect/>
          </a:stretch>
        </p:blipFill>
        <p:spPr>
          <a:xfrm>
            <a:off x="5866674" y="2514600"/>
            <a:ext cx="4191726" cy="3781425"/>
          </a:xfrm>
          <a:prstGeom prst="rect">
            <a:avLst/>
          </a:prstGeom>
        </p:spPr>
      </p:pic>
      <p:sp>
        <p:nvSpPr>
          <p:cNvPr id="60" name="Slide Number Placeholder 59"/>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51</a:t>
            </a:fld>
            <a:endParaRPr spc="-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5810" y="781304"/>
            <a:ext cx="10013189" cy="504625"/>
          </a:xfrm>
          <a:prstGeom prst="rect">
            <a:avLst/>
          </a:prstGeom>
        </p:spPr>
        <p:txBody>
          <a:bodyPr vert="horz" wrap="square" lIns="0" tIns="12065" rIns="0" bIns="0" rtlCol="0">
            <a:spAutoFit/>
          </a:bodyPr>
          <a:lstStyle/>
          <a:p>
            <a:pPr marL="12700">
              <a:lnSpc>
                <a:spcPct val="100000"/>
              </a:lnSpc>
              <a:spcBef>
                <a:spcPts val="95"/>
              </a:spcBef>
            </a:pPr>
            <a:r>
              <a:rPr lang="en-US" sz="3200" dirty="0" err="1"/>
              <a:t>Ví</a:t>
            </a:r>
            <a:r>
              <a:rPr lang="en-US" sz="3200" dirty="0"/>
              <a:t> </a:t>
            </a:r>
            <a:r>
              <a:rPr lang="en-US" sz="3200" dirty="0" err="1"/>
              <a:t>dụ</a:t>
            </a:r>
            <a:r>
              <a:rPr lang="en-US" sz="3200" dirty="0"/>
              <a:t> </a:t>
            </a:r>
            <a:r>
              <a:rPr lang="en-US" sz="3200" dirty="0" err="1"/>
              <a:t>về</a:t>
            </a:r>
            <a:r>
              <a:rPr lang="en-US" sz="3200" dirty="0"/>
              <a:t> </a:t>
            </a:r>
            <a:r>
              <a:rPr lang="en-US" sz="3200" dirty="0" err="1"/>
              <a:t>đóng</a:t>
            </a:r>
            <a:r>
              <a:rPr lang="en-US" sz="3200" dirty="0"/>
              <a:t> </a:t>
            </a:r>
            <a:r>
              <a:rPr lang="en-US" sz="3200" dirty="0" err="1"/>
              <a:t>kêt</a:t>
            </a:r>
            <a:r>
              <a:rPr lang="en-US" sz="3200" dirty="0"/>
              <a:t> </a:t>
            </a:r>
            <a:r>
              <a:rPr lang="en-US" sz="3200" dirty="0" err="1"/>
              <a:t>nối</a:t>
            </a:r>
            <a:r>
              <a:rPr lang="en-US" sz="3200" dirty="0"/>
              <a:t> TCP</a:t>
            </a:r>
            <a:endParaRPr sz="3200" dirty="0"/>
          </a:p>
        </p:txBody>
      </p:sp>
      <p:sp>
        <p:nvSpPr>
          <p:cNvPr id="58" name="object 3"/>
          <p:cNvSpPr txBox="1"/>
          <p:nvPr/>
        </p:nvSpPr>
        <p:spPr>
          <a:xfrm>
            <a:off x="1069338" y="1982215"/>
            <a:ext cx="3883662" cy="5665654"/>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vi-VN" sz="2600" dirty="0">
                <a:solidFill>
                  <a:srgbClr val="FF0000"/>
                </a:solidFill>
                <a:latin typeface="Arial"/>
                <a:cs typeface="Arial"/>
              </a:rPr>
              <a:t>Bước 1: </a:t>
            </a:r>
            <a:r>
              <a:rPr lang="en-US" sz="2600" dirty="0">
                <a:latin typeface="Arial"/>
                <a:cs typeface="Arial"/>
              </a:rPr>
              <a:t>A </a:t>
            </a:r>
            <a:r>
              <a:rPr lang="vi-VN" sz="2600" dirty="0">
                <a:latin typeface="Arial"/>
                <a:cs typeface="Arial"/>
              </a:rPr>
              <a:t>Gửi FIN cho B</a:t>
            </a:r>
          </a:p>
          <a:p>
            <a:pPr marL="355600" marR="5080" indent="-342900">
              <a:lnSpc>
                <a:spcPct val="100000"/>
              </a:lnSpc>
              <a:spcBef>
                <a:spcPts val="100"/>
              </a:spcBef>
              <a:buClr>
                <a:srgbClr val="3333CC"/>
              </a:buClr>
              <a:buSzPct val="83333"/>
              <a:buFont typeface="Wingdings"/>
              <a:buChar char=""/>
              <a:tabLst>
                <a:tab pos="355600" algn="l"/>
              </a:tabLst>
            </a:pPr>
            <a:r>
              <a:rPr lang="vi-VN" sz="2600" dirty="0">
                <a:solidFill>
                  <a:srgbClr val="FF0000"/>
                </a:solidFill>
                <a:latin typeface="Arial"/>
                <a:cs typeface="Arial"/>
              </a:rPr>
              <a:t>Bước 2</a:t>
            </a:r>
            <a:r>
              <a:rPr lang="vi-VN" sz="2600" dirty="0">
                <a:latin typeface="Arial"/>
                <a:cs typeface="Arial"/>
              </a:rPr>
              <a:t>: B nhận </a:t>
            </a:r>
            <a:r>
              <a:rPr lang="en-US" sz="2600" dirty="0">
                <a:latin typeface="Arial"/>
                <a:cs typeface="Arial"/>
              </a:rPr>
              <a:t>đ</a:t>
            </a:r>
            <a:r>
              <a:rPr lang="vi-VN" sz="2600" dirty="0">
                <a:latin typeface="Arial"/>
                <a:cs typeface="Arial"/>
              </a:rPr>
              <a:t>ược FIN, trả</a:t>
            </a:r>
            <a:r>
              <a:rPr lang="en-US" sz="2600" dirty="0">
                <a:latin typeface="Arial"/>
                <a:cs typeface="Arial"/>
              </a:rPr>
              <a:t> </a:t>
            </a:r>
            <a:r>
              <a:rPr lang="vi-VN" sz="2600" dirty="0">
                <a:latin typeface="Arial"/>
                <a:cs typeface="Arial"/>
              </a:rPr>
              <a:t>lời ACK, </a:t>
            </a:r>
            <a:r>
              <a:rPr lang="en-US" sz="2600" dirty="0">
                <a:latin typeface="Arial"/>
                <a:cs typeface="Arial"/>
              </a:rPr>
              <a:t>đ</a:t>
            </a:r>
            <a:r>
              <a:rPr lang="vi-VN" sz="2600" dirty="0">
                <a:latin typeface="Arial"/>
                <a:cs typeface="Arial"/>
              </a:rPr>
              <a:t>ồng thời </a:t>
            </a:r>
            <a:r>
              <a:rPr lang="en-US" sz="2600" dirty="0">
                <a:latin typeface="Arial"/>
                <a:cs typeface="Arial"/>
              </a:rPr>
              <a:t>đ</a:t>
            </a:r>
            <a:r>
              <a:rPr lang="vi-VN" sz="2600" dirty="0">
                <a:latin typeface="Arial"/>
                <a:cs typeface="Arial"/>
              </a:rPr>
              <a:t>óng liên</a:t>
            </a:r>
            <a:r>
              <a:rPr lang="en-US" sz="2600" dirty="0">
                <a:latin typeface="Arial"/>
                <a:cs typeface="Arial"/>
              </a:rPr>
              <a:t> </a:t>
            </a:r>
            <a:r>
              <a:rPr lang="vi-VN" sz="2600" dirty="0">
                <a:latin typeface="Arial"/>
                <a:cs typeface="Arial"/>
              </a:rPr>
              <a:t>kết và gửi FIN. </a:t>
            </a:r>
          </a:p>
          <a:p>
            <a:pPr marL="355600" marR="5080" indent="-342900">
              <a:lnSpc>
                <a:spcPct val="100000"/>
              </a:lnSpc>
              <a:spcBef>
                <a:spcPts val="100"/>
              </a:spcBef>
              <a:buClr>
                <a:srgbClr val="3333CC"/>
              </a:buClr>
              <a:buSzPct val="83333"/>
              <a:buFont typeface="Wingdings"/>
              <a:buChar char=""/>
              <a:tabLst>
                <a:tab pos="355600" algn="l"/>
              </a:tabLst>
            </a:pPr>
            <a:r>
              <a:rPr lang="vi-VN" sz="2600" dirty="0">
                <a:solidFill>
                  <a:srgbClr val="FF0000"/>
                </a:solidFill>
                <a:latin typeface="Arial"/>
                <a:cs typeface="Arial"/>
              </a:rPr>
              <a:t>Bước 3: </a:t>
            </a:r>
            <a:r>
              <a:rPr lang="vi-VN" sz="2600" dirty="0">
                <a:latin typeface="Arial"/>
                <a:cs typeface="Arial"/>
              </a:rPr>
              <a:t>A nhận FIN, trả lời</a:t>
            </a:r>
            <a:r>
              <a:rPr lang="en-US" sz="2600" dirty="0">
                <a:latin typeface="Arial"/>
                <a:cs typeface="Arial"/>
              </a:rPr>
              <a:t> </a:t>
            </a:r>
            <a:r>
              <a:rPr lang="vi-VN" sz="2600" dirty="0">
                <a:latin typeface="Arial"/>
                <a:cs typeface="Arial"/>
              </a:rPr>
              <a:t>ACK, vào trạng thái “chờ”.</a:t>
            </a:r>
          </a:p>
          <a:p>
            <a:pPr marL="355600" marR="5080" indent="-342900">
              <a:lnSpc>
                <a:spcPct val="100000"/>
              </a:lnSpc>
              <a:spcBef>
                <a:spcPts val="100"/>
              </a:spcBef>
              <a:buClr>
                <a:srgbClr val="3333CC"/>
              </a:buClr>
              <a:buSzPct val="83333"/>
              <a:buFont typeface="Wingdings"/>
              <a:buChar char=""/>
              <a:tabLst>
                <a:tab pos="355600" algn="l"/>
              </a:tabLst>
            </a:pPr>
            <a:r>
              <a:rPr lang="vi-VN" sz="2600" dirty="0">
                <a:solidFill>
                  <a:srgbClr val="FF0000"/>
                </a:solidFill>
                <a:latin typeface="Arial"/>
                <a:cs typeface="Arial"/>
              </a:rPr>
              <a:t>Bước 4: </a:t>
            </a:r>
            <a:r>
              <a:rPr lang="vi-VN" sz="2600" dirty="0">
                <a:latin typeface="Arial"/>
                <a:cs typeface="Arial"/>
              </a:rPr>
              <a:t>B nhận ACK. </a:t>
            </a:r>
            <a:r>
              <a:rPr lang="en-US" sz="2600" dirty="0">
                <a:latin typeface="Arial"/>
                <a:cs typeface="Arial"/>
              </a:rPr>
              <a:t>Đ</a:t>
            </a:r>
            <a:r>
              <a:rPr lang="vi-VN" sz="2600" dirty="0">
                <a:latin typeface="Arial"/>
                <a:cs typeface="Arial"/>
              </a:rPr>
              <a:t>óng</a:t>
            </a:r>
            <a:r>
              <a:rPr lang="en-US" sz="2600" dirty="0">
                <a:latin typeface="Arial"/>
                <a:cs typeface="Arial"/>
              </a:rPr>
              <a:t> </a:t>
            </a:r>
            <a:r>
              <a:rPr lang="vi-VN" sz="2600" dirty="0">
                <a:latin typeface="Arial"/>
                <a:cs typeface="Arial"/>
              </a:rPr>
              <a:t>liên kết.</a:t>
            </a:r>
          </a:p>
          <a:p>
            <a:pPr marL="12700" marR="5080">
              <a:lnSpc>
                <a:spcPct val="100000"/>
              </a:lnSpc>
              <a:spcBef>
                <a:spcPts val="100"/>
              </a:spcBef>
              <a:buClr>
                <a:srgbClr val="3333CC"/>
              </a:buClr>
              <a:buSzPct val="83333"/>
              <a:tabLst>
                <a:tab pos="355600" algn="l"/>
              </a:tabLst>
            </a:pPr>
            <a:r>
              <a:rPr lang="vi-VN" sz="2600" dirty="0">
                <a:latin typeface="Arial"/>
                <a:cs typeface="Arial"/>
              </a:rPr>
              <a:t>Lưu ý: Cả hai bên </a:t>
            </a:r>
            <a:r>
              <a:rPr lang="en-US" sz="2600" dirty="0">
                <a:latin typeface="Arial"/>
                <a:cs typeface="Arial"/>
              </a:rPr>
              <a:t>đ</a:t>
            </a:r>
            <a:r>
              <a:rPr lang="vi-VN" sz="2600" dirty="0">
                <a:latin typeface="Arial"/>
                <a:cs typeface="Arial"/>
              </a:rPr>
              <a:t>ều có thể chủ</a:t>
            </a:r>
            <a:r>
              <a:rPr lang="en-US" sz="2600" dirty="0">
                <a:latin typeface="Arial"/>
                <a:cs typeface="Arial"/>
              </a:rPr>
              <a:t> đ</a:t>
            </a:r>
            <a:r>
              <a:rPr lang="vi-VN" sz="2600" dirty="0">
                <a:latin typeface="Arial"/>
                <a:cs typeface="Arial"/>
              </a:rPr>
              <a:t>ộng </a:t>
            </a:r>
            <a:r>
              <a:rPr lang="en-US" sz="2600" dirty="0">
                <a:latin typeface="Arial"/>
                <a:cs typeface="Arial"/>
              </a:rPr>
              <a:t>đ</a:t>
            </a:r>
            <a:r>
              <a:rPr lang="vi-VN" sz="2600" dirty="0">
                <a:latin typeface="Arial"/>
                <a:cs typeface="Arial"/>
              </a:rPr>
              <a:t>óng liên kết</a:t>
            </a:r>
            <a:endParaRPr sz="2600" dirty="0">
              <a:latin typeface="Arial"/>
              <a:cs typeface="Arial"/>
            </a:endParaRPr>
          </a:p>
        </p:txBody>
      </p:sp>
      <p:pic>
        <p:nvPicPr>
          <p:cNvPr id="3" name="Picture 2"/>
          <p:cNvPicPr>
            <a:picLocks noChangeAspect="1"/>
          </p:cNvPicPr>
          <p:nvPr/>
        </p:nvPicPr>
        <p:blipFill>
          <a:blip r:embed="rId3"/>
          <a:stretch>
            <a:fillRect/>
          </a:stretch>
        </p:blipFill>
        <p:spPr>
          <a:xfrm>
            <a:off x="4953000" y="1982215"/>
            <a:ext cx="5105400" cy="4921051"/>
          </a:xfrm>
          <a:prstGeom prst="rect">
            <a:avLst/>
          </a:prstGeom>
        </p:spPr>
      </p:pic>
      <p:sp>
        <p:nvSpPr>
          <p:cNvPr id="4" name="Slide Number Placeholder 3"/>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52</a:t>
            </a:fld>
            <a:endParaRPr spc="-5" dirty="0"/>
          </a:p>
        </p:txBody>
      </p:sp>
    </p:spTree>
    <p:extLst>
      <p:ext uri="{BB962C8B-B14F-4D97-AF65-F5344CB8AC3E}">
        <p14:creationId xmlns:p14="http://schemas.microsoft.com/office/powerpoint/2010/main" val="22606417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TCP</a:t>
            </a:r>
            <a:endParaRPr spc="-5" dirty="0"/>
          </a:p>
        </p:txBody>
      </p:sp>
      <p:sp>
        <p:nvSpPr>
          <p:cNvPr id="3" name="object 3"/>
          <p:cNvSpPr txBox="1"/>
          <p:nvPr/>
        </p:nvSpPr>
        <p:spPr>
          <a:xfrm>
            <a:off x="1193546" y="1780286"/>
            <a:ext cx="6807454" cy="3490058"/>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Cấu</a:t>
            </a:r>
            <a:r>
              <a:rPr lang="en-US" sz="3200" spc="-5" dirty="0">
                <a:latin typeface="Arial"/>
                <a:cs typeface="Arial"/>
              </a:rPr>
              <a:t> </a:t>
            </a:r>
            <a:r>
              <a:rPr lang="en-US" sz="3200" spc="-5" dirty="0" err="1">
                <a:latin typeface="Arial"/>
                <a:cs typeface="Arial"/>
              </a:rPr>
              <a:t>trúc</a:t>
            </a:r>
            <a:r>
              <a:rPr lang="en-US" sz="3200" spc="-5" dirty="0">
                <a:latin typeface="Arial"/>
                <a:cs typeface="Arial"/>
              </a:rPr>
              <a:t> </a:t>
            </a:r>
            <a:r>
              <a:rPr lang="en-US" sz="3200" spc="-5" dirty="0" err="1">
                <a:latin typeface="Arial"/>
                <a:cs typeface="Arial"/>
              </a:rPr>
              <a:t>của</a:t>
            </a:r>
            <a:r>
              <a:rPr lang="en-US" sz="3200" spc="-5" dirty="0">
                <a:latin typeface="Arial"/>
                <a:cs typeface="Arial"/>
              </a:rPr>
              <a:t> TCP segment</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Thiết</a:t>
            </a:r>
            <a:r>
              <a:rPr lang="en-US" sz="3200" spc="-5" dirty="0">
                <a:latin typeface="Arial"/>
                <a:cs typeface="Arial"/>
              </a:rPr>
              <a:t> </a:t>
            </a:r>
            <a:r>
              <a:rPr lang="en-US" sz="3200" spc="-5" dirty="0" err="1">
                <a:latin typeface="Arial"/>
                <a:cs typeface="Arial"/>
              </a:rPr>
              <a:t>lập</a:t>
            </a:r>
            <a:r>
              <a:rPr lang="en-US" sz="3200" spc="-5" dirty="0">
                <a:latin typeface="Arial"/>
                <a:cs typeface="Arial"/>
              </a:rPr>
              <a:t> </a:t>
            </a:r>
            <a:r>
              <a:rPr lang="en-US" sz="3200" spc="-5" dirty="0" err="1">
                <a:latin typeface="Arial"/>
                <a:cs typeface="Arial"/>
              </a:rPr>
              <a:t>và</a:t>
            </a:r>
            <a:r>
              <a:rPr lang="en-US" sz="3200" spc="-5" dirty="0">
                <a:latin typeface="Arial"/>
                <a:cs typeface="Arial"/>
              </a:rPr>
              <a:t> </a:t>
            </a:r>
            <a:r>
              <a:rPr lang="en-US" sz="3200" spc="-5" dirty="0" err="1">
                <a:latin typeface="Arial"/>
                <a:cs typeface="Arial"/>
              </a:rPr>
              <a:t>giải</a:t>
            </a:r>
            <a:r>
              <a:rPr lang="en-US" sz="3200" spc="-5" dirty="0">
                <a:latin typeface="Arial"/>
                <a:cs typeface="Arial"/>
              </a:rPr>
              <a:t> </a:t>
            </a:r>
            <a:r>
              <a:rPr lang="en-US" sz="3200" spc="-5" dirty="0" err="1">
                <a:latin typeface="Arial"/>
                <a:cs typeface="Arial"/>
              </a:rPr>
              <a:t>phóng</a:t>
            </a:r>
            <a:r>
              <a:rPr lang="en-US" sz="3200" spc="-5" dirty="0">
                <a:latin typeface="Arial"/>
                <a:cs typeface="Arial"/>
              </a:rPr>
              <a:t> </a:t>
            </a:r>
            <a:r>
              <a:rPr lang="en-US" sz="3200" spc="-5" dirty="0" err="1">
                <a:latin typeface="Arial"/>
                <a:cs typeface="Arial"/>
              </a:rPr>
              <a:t>kết</a:t>
            </a:r>
            <a:r>
              <a:rPr lang="en-US" sz="3200" spc="-5" dirty="0">
                <a:latin typeface="Arial"/>
                <a:cs typeface="Arial"/>
              </a:rPr>
              <a:t> </a:t>
            </a:r>
            <a:r>
              <a:rPr lang="en-US" sz="3200" spc="-5" dirty="0" err="1">
                <a:latin typeface="Arial"/>
                <a:cs typeface="Arial"/>
              </a:rPr>
              <a:t>nối</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solidFill>
                  <a:srgbClr val="FF0000"/>
                </a:solidFill>
                <a:latin typeface="Arial"/>
                <a:cs typeface="Arial"/>
              </a:rPr>
              <a:t>Truyền</a:t>
            </a:r>
            <a:r>
              <a:rPr lang="en-US" sz="3200" spc="-5" dirty="0">
                <a:solidFill>
                  <a:srgbClr val="FF0000"/>
                </a:solidFill>
                <a:latin typeface="Arial"/>
                <a:cs typeface="Arial"/>
              </a:rPr>
              <a:t> </a:t>
            </a:r>
            <a:r>
              <a:rPr lang="en-US" sz="3200" spc="-5" dirty="0" err="1">
                <a:solidFill>
                  <a:srgbClr val="FF0000"/>
                </a:solidFill>
                <a:latin typeface="Arial"/>
                <a:cs typeface="Arial"/>
              </a:rPr>
              <a:t>dữ</a:t>
            </a:r>
            <a:r>
              <a:rPr lang="en-US" sz="3200" spc="-5" dirty="0">
                <a:solidFill>
                  <a:srgbClr val="FF0000"/>
                </a:solidFill>
                <a:latin typeface="Arial"/>
                <a:cs typeface="Arial"/>
              </a:rPr>
              <a:t> </a:t>
            </a:r>
            <a:r>
              <a:rPr lang="en-US" sz="3200" spc="-5" dirty="0" err="1">
                <a:solidFill>
                  <a:srgbClr val="FF0000"/>
                </a:solidFill>
                <a:latin typeface="Arial"/>
                <a:cs typeface="Arial"/>
              </a:rPr>
              <a:t>liệu</a:t>
            </a:r>
            <a:r>
              <a:rPr lang="en-US" sz="3200" spc="-5" dirty="0">
                <a:solidFill>
                  <a:srgbClr val="FF0000"/>
                </a:solidFill>
                <a:latin typeface="Arial"/>
                <a:cs typeface="Arial"/>
              </a:rPr>
              <a:t> tin </a:t>
            </a:r>
            <a:r>
              <a:rPr lang="en-US" sz="3200" spc="-5" dirty="0" err="1">
                <a:solidFill>
                  <a:srgbClr val="FF0000"/>
                </a:solidFill>
                <a:latin typeface="Arial"/>
                <a:cs typeface="Arial"/>
              </a:rPr>
              <a:t>cậy</a:t>
            </a:r>
            <a:r>
              <a:rPr lang="en-US" sz="3200" spc="-5" dirty="0">
                <a:solidFill>
                  <a:srgbClr val="FF0000"/>
                </a:solidFill>
                <a:latin typeface="Arial"/>
                <a:cs typeface="Arial"/>
              </a:rPr>
              <a:t> </a:t>
            </a:r>
            <a:r>
              <a:rPr lang="en-US" sz="3200" spc="-5" dirty="0" err="1">
                <a:solidFill>
                  <a:srgbClr val="FF0000"/>
                </a:solidFill>
                <a:latin typeface="Arial"/>
                <a:cs typeface="Arial"/>
              </a:rPr>
              <a:t>của</a:t>
            </a:r>
            <a:r>
              <a:rPr lang="en-US" sz="3200" spc="-5" dirty="0">
                <a:solidFill>
                  <a:srgbClr val="FF0000"/>
                </a:solidFill>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luồng</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tắc</a:t>
            </a:r>
            <a:r>
              <a:rPr lang="en-US" sz="3200" spc="-5" dirty="0">
                <a:latin typeface="Arial"/>
                <a:cs typeface="Arial"/>
              </a:rPr>
              <a:t> </a:t>
            </a:r>
            <a:r>
              <a:rPr lang="en-US" sz="3200" spc="-5" dirty="0" err="1">
                <a:latin typeface="Arial"/>
                <a:cs typeface="Arial"/>
              </a:rPr>
              <a:t>nghẽn</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53</a:t>
            </a:fld>
            <a:endParaRPr lang="en-US" spc="-5" dirty="0"/>
          </a:p>
        </p:txBody>
      </p:sp>
    </p:spTree>
    <p:extLst>
      <p:ext uri="{BB962C8B-B14F-4D97-AF65-F5344CB8AC3E}">
        <p14:creationId xmlns:p14="http://schemas.microsoft.com/office/powerpoint/2010/main" val="1825622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1371" y="609600"/>
            <a:ext cx="7541261" cy="628377"/>
          </a:xfrm>
          <a:prstGeom prst="rect">
            <a:avLst/>
          </a:prstGeom>
        </p:spPr>
        <p:txBody>
          <a:bodyPr vert="horz" wrap="square" lIns="0" tIns="12700" rIns="0" bIns="0" rtlCol="0">
            <a:spAutoFit/>
          </a:bodyPr>
          <a:lstStyle/>
          <a:p>
            <a:pPr marL="12700">
              <a:lnSpc>
                <a:spcPct val="100000"/>
              </a:lnSpc>
              <a:spcBef>
                <a:spcPts val="100"/>
              </a:spcBef>
            </a:pPr>
            <a:r>
              <a:rPr sz="4000" dirty="0"/>
              <a:t>Truyền dữ liệu tin cậy của TCP</a:t>
            </a:r>
          </a:p>
        </p:txBody>
      </p:sp>
      <p:sp>
        <p:nvSpPr>
          <p:cNvPr id="3" name="object 3"/>
          <p:cNvSpPr txBox="1"/>
          <p:nvPr/>
        </p:nvSpPr>
        <p:spPr>
          <a:xfrm>
            <a:off x="1081371" y="1498072"/>
            <a:ext cx="8977030" cy="5663089"/>
          </a:xfrm>
          <a:prstGeom prst="rect">
            <a:avLst/>
          </a:prstGeom>
        </p:spPr>
        <p:txBody>
          <a:bodyPr vert="horz" wrap="square" lIns="0" tIns="12700" rIns="0" bIns="0" rtlCol="0">
            <a:spAutoFit/>
          </a:bodyPr>
          <a:lstStyle/>
          <a:p>
            <a:pPr marL="355600" marR="5080" indent="-342900">
              <a:lnSpc>
                <a:spcPct val="100000"/>
              </a:lnSpc>
              <a:spcBef>
                <a:spcPts val="100"/>
              </a:spcBef>
              <a:buClr>
                <a:srgbClr val="3333CC"/>
              </a:buClr>
              <a:buSzPct val="83333"/>
              <a:buFont typeface="Wingdings"/>
              <a:buChar char=""/>
              <a:tabLst>
                <a:tab pos="355600" algn="l"/>
              </a:tabLst>
            </a:pPr>
            <a:r>
              <a:rPr lang="en-US" sz="2800" dirty="0" err="1">
                <a:latin typeface="Arial"/>
                <a:cs typeface="Arial"/>
              </a:rPr>
              <a:t>Dịch</a:t>
            </a:r>
            <a:r>
              <a:rPr lang="en-US" sz="2800" dirty="0">
                <a:latin typeface="Arial"/>
                <a:cs typeface="Arial"/>
              </a:rPr>
              <a:t> </a:t>
            </a:r>
            <a:r>
              <a:rPr lang="en-US" sz="2800" dirty="0" err="1">
                <a:latin typeface="Arial"/>
                <a:cs typeface="Arial"/>
              </a:rPr>
              <a:t>vụ</a:t>
            </a:r>
            <a:r>
              <a:rPr lang="en-US" sz="2800" dirty="0">
                <a:latin typeface="Arial"/>
                <a:cs typeface="Arial"/>
              </a:rPr>
              <a:t> </a:t>
            </a:r>
            <a:r>
              <a:rPr lang="en-US" sz="2800" dirty="0" err="1">
                <a:latin typeface="Arial"/>
                <a:cs typeface="Arial"/>
              </a:rPr>
              <a:t>truyền</a:t>
            </a:r>
            <a:r>
              <a:rPr lang="en-US" sz="2800" dirty="0">
                <a:latin typeface="Arial"/>
                <a:cs typeface="Arial"/>
              </a:rPr>
              <a:t> </a:t>
            </a:r>
            <a:r>
              <a:rPr lang="en-US" sz="2800" dirty="0" err="1">
                <a:latin typeface="Arial"/>
                <a:cs typeface="Arial"/>
              </a:rPr>
              <a:t>dữ</a:t>
            </a:r>
            <a:r>
              <a:rPr lang="en-US" sz="2800" dirty="0">
                <a:latin typeface="Arial"/>
                <a:cs typeface="Arial"/>
              </a:rPr>
              <a:t> </a:t>
            </a:r>
            <a:r>
              <a:rPr lang="en-US" sz="2800" dirty="0" err="1">
                <a:latin typeface="Arial"/>
                <a:cs typeface="Arial"/>
              </a:rPr>
              <a:t>liệu</a:t>
            </a:r>
            <a:r>
              <a:rPr lang="en-US" sz="2800" dirty="0">
                <a:latin typeface="Arial"/>
                <a:cs typeface="Arial"/>
              </a:rPr>
              <a:t> tin </a:t>
            </a:r>
            <a:r>
              <a:rPr lang="en-US" sz="2800" dirty="0" err="1">
                <a:latin typeface="Arial"/>
                <a:cs typeface="Arial"/>
              </a:rPr>
              <a:t>cậy</a:t>
            </a:r>
            <a:r>
              <a:rPr lang="en-US" sz="2800" dirty="0">
                <a:latin typeface="Arial"/>
                <a:cs typeface="Arial"/>
              </a:rPr>
              <a:t> </a:t>
            </a:r>
            <a:r>
              <a:rPr lang="en-US" sz="2800" dirty="0" err="1">
                <a:latin typeface="Arial"/>
                <a:cs typeface="Arial"/>
              </a:rPr>
              <a:t>của</a:t>
            </a:r>
            <a:r>
              <a:rPr lang="en-US" sz="2800" dirty="0">
                <a:latin typeface="Arial"/>
                <a:cs typeface="Arial"/>
              </a:rPr>
              <a:t> TCP </a:t>
            </a:r>
            <a:r>
              <a:rPr lang="en-US" sz="2800" dirty="0" err="1">
                <a:latin typeface="Arial"/>
                <a:cs typeface="Arial"/>
              </a:rPr>
              <a:t>đảm</a:t>
            </a:r>
            <a:r>
              <a:rPr lang="en-US" sz="2800" dirty="0">
                <a:latin typeface="Arial"/>
                <a:cs typeface="Arial"/>
              </a:rPr>
              <a:t> </a:t>
            </a:r>
            <a:r>
              <a:rPr lang="en-US" sz="2800" dirty="0" err="1">
                <a:latin typeface="Arial"/>
                <a:cs typeface="Arial"/>
              </a:rPr>
              <a:t>bảo</a:t>
            </a:r>
            <a:r>
              <a:rPr lang="en-US" sz="2800" dirty="0">
                <a:latin typeface="Arial"/>
                <a:cs typeface="Arial"/>
              </a:rPr>
              <a:t> </a:t>
            </a:r>
            <a:r>
              <a:rPr lang="en-US" sz="2800" dirty="0" err="1">
                <a:latin typeface="Arial"/>
                <a:cs typeface="Arial"/>
              </a:rPr>
              <a:t>rằng</a:t>
            </a:r>
            <a:r>
              <a:rPr lang="en-US" sz="2800" dirty="0">
                <a:latin typeface="Arial"/>
                <a:cs typeface="Arial"/>
              </a:rPr>
              <a:t> </a:t>
            </a:r>
            <a:r>
              <a:rPr lang="en-US" sz="2800" dirty="0" err="1">
                <a:latin typeface="Arial"/>
                <a:cs typeface="Arial"/>
              </a:rPr>
              <a:t>luồng</a:t>
            </a:r>
            <a:r>
              <a:rPr lang="en-US" sz="2800" dirty="0">
                <a:latin typeface="Arial"/>
                <a:cs typeface="Arial"/>
              </a:rPr>
              <a:t> </a:t>
            </a:r>
            <a:r>
              <a:rPr lang="en-US" sz="2800" dirty="0" err="1">
                <a:latin typeface="Arial"/>
                <a:cs typeface="Arial"/>
              </a:rPr>
              <a:t>dữ</a:t>
            </a:r>
            <a:r>
              <a:rPr lang="en-US" sz="2800" dirty="0">
                <a:latin typeface="Arial"/>
                <a:cs typeface="Arial"/>
              </a:rPr>
              <a:t> </a:t>
            </a:r>
            <a:r>
              <a:rPr lang="en-US" sz="2800" dirty="0" err="1">
                <a:latin typeface="Arial"/>
                <a:cs typeface="Arial"/>
              </a:rPr>
              <a:t>liệu</a:t>
            </a:r>
            <a:r>
              <a:rPr lang="en-US" sz="2800" dirty="0">
                <a:latin typeface="Arial"/>
                <a:cs typeface="Arial"/>
              </a:rPr>
              <a:t> </a:t>
            </a:r>
            <a:r>
              <a:rPr lang="en-US" sz="2800" dirty="0" err="1">
                <a:latin typeface="Arial"/>
                <a:cs typeface="Arial"/>
              </a:rPr>
              <a:t>tới</a:t>
            </a:r>
            <a:r>
              <a:rPr lang="en-US" sz="2800" dirty="0">
                <a:latin typeface="Arial"/>
                <a:cs typeface="Arial"/>
              </a:rPr>
              <a:t> </a:t>
            </a:r>
            <a:r>
              <a:rPr lang="en-US" sz="2800" dirty="0" err="1">
                <a:latin typeface="Arial"/>
                <a:cs typeface="Arial"/>
              </a:rPr>
              <a:t>tiến</a:t>
            </a:r>
            <a:r>
              <a:rPr lang="en-US" sz="2800" dirty="0">
                <a:latin typeface="Arial"/>
                <a:cs typeface="Arial"/>
              </a:rPr>
              <a:t> </a:t>
            </a:r>
            <a:r>
              <a:rPr lang="en-US" sz="2800" dirty="0" err="1">
                <a:latin typeface="Arial"/>
                <a:cs typeface="Arial"/>
              </a:rPr>
              <a:t>trình</a:t>
            </a:r>
            <a:r>
              <a:rPr lang="en-US" sz="2800" dirty="0">
                <a:latin typeface="Arial"/>
                <a:cs typeface="Arial"/>
              </a:rPr>
              <a:t> </a:t>
            </a:r>
            <a:r>
              <a:rPr lang="en-US" sz="2800" dirty="0" err="1">
                <a:latin typeface="Arial"/>
                <a:cs typeface="Arial"/>
              </a:rPr>
              <a:t>nhận</a:t>
            </a:r>
            <a:r>
              <a:rPr lang="en-US" sz="2800" dirty="0">
                <a:latin typeface="Arial"/>
                <a:cs typeface="Arial"/>
              </a:rPr>
              <a:t> </a:t>
            </a:r>
            <a:r>
              <a:rPr lang="en-US" sz="2800" dirty="0" err="1">
                <a:latin typeface="Arial"/>
                <a:cs typeface="Arial"/>
              </a:rPr>
              <a:t>không</a:t>
            </a:r>
            <a:r>
              <a:rPr lang="en-US" sz="2800" dirty="0">
                <a:latin typeface="Arial"/>
                <a:cs typeface="Arial"/>
              </a:rPr>
              <a:t> </a:t>
            </a:r>
            <a:r>
              <a:rPr lang="en-US" sz="2800" dirty="0" err="1">
                <a:latin typeface="Arial"/>
                <a:cs typeface="Arial"/>
              </a:rPr>
              <a:t>có</a:t>
            </a:r>
            <a:r>
              <a:rPr lang="en-US" sz="2800" dirty="0">
                <a:latin typeface="Arial"/>
                <a:cs typeface="Arial"/>
              </a:rPr>
              <a:t> </a:t>
            </a:r>
            <a:r>
              <a:rPr lang="en-US" sz="2800" dirty="0" err="1">
                <a:latin typeface="Arial"/>
                <a:cs typeface="Arial"/>
              </a:rPr>
              <a:t>lỗi</a:t>
            </a:r>
            <a:r>
              <a:rPr lang="en-US" sz="2800" dirty="0">
                <a:latin typeface="Arial"/>
                <a:cs typeface="Arial"/>
              </a:rPr>
              <a:t>, </a:t>
            </a:r>
            <a:r>
              <a:rPr lang="en-US" sz="2800" dirty="0" err="1">
                <a:latin typeface="Arial"/>
                <a:cs typeface="Arial"/>
              </a:rPr>
              <a:t>không</a:t>
            </a:r>
            <a:r>
              <a:rPr lang="en-US" sz="2800" dirty="0">
                <a:latin typeface="Arial"/>
                <a:cs typeface="Arial"/>
              </a:rPr>
              <a:t> </a:t>
            </a:r>
            <a:r>
              <a:rPr lang="en-US" sz="2800" dirty="0" err="1">
                <a:latin typeface="Arial"/>
                <a:cs typeface="Arial"/>
              </a:rPr>
              <a:t>mất</a:t>
            </a:r>
            <a:r>
              <a:rPr lang="en-US" sz="2800" dirty="0">
                <a:latin typeface="Arial"/>
                <a:cs typeface="Arial"/>
              </a:rPr>
              <a:t> </a:t>
            </a:r>
            <a:r>
              <a:rPr lang="en-US" sz="2800" dirty="0" err="1">
                <a:latin typeface="Arial"/>
                <a:cs typeface="Arial"/>
              </a:rPr>
              <a:t>mát</a:t>
            </a:r>
            <a:r>
              <a:rPr lang="en-US" sz="2800" dirty="0">
                <a:latin typeface="Arial"/>
                <a:cs typeface="Arial"/>
              </a:rPr>
              <a:t>, </a:t>
            </a:r>
            <a:r>
              <a:rPr lang="en-US" sz="2800" dirty="0" err="1">
                <a:latin typeface="Arial"/>
                <a:cs typeface="Arial"/>
              </a:rPr>
              <a:t>không</a:t>
            </a:r>
            <a:r>
              <a:rPr lang="en-US" sz="2800" dirty="0">
                <a:latin typeface="Arial"/>
                <a:cs typeface="Arial"/>
              </a:rPr>
              <a:t> </a:t>
            </a:r>
            <a:r>
              <a:rPr lang="en-US" sz="2800" dirty="0" err="1">
                <a:latin typeface="Arial"/>
                <a:cs typeface="Arial"/>
              </a:rPr>
              <a:t>trùng</a:t>
            </a:r>
            <a:r>
              <a:rPr lang="en-US" sz="2800" dirty="0">
                <a:latin typeface="Arial"/>
                <a:cs typeface="Arial"/>
              </a:rPr>
              <a:t> </a:t>
            </a:r>
            <a:r>
              <a:rPr lang="en-US" sz="2800" dirty="0" err="1">
                <a:latin typeface="Arial"/>
                <a:cs typeface="Arial"/>
              </a:rPr>
              <a:t>lặp</a:t>
            </a:r>
            <a:r>
              <a:rPr lang="en-US" sz="2800" dirty="0">
                <a:latin typeface="Arial"/>
                <a:cs typeface="Arial"/>
              </a:rPr>
              <a:t>, </a:t>
            </a:r>
            <a:r>
              <a:rPr lang="en-US" sz="2800" dirty="0" err="1">
                <a:latin typeface="Arial"/>
                <a:cs typeface="Arial"/>
              </a:rPr>
              <a:t>đúng</a:t>
            </a:r>
            <a:r>
              <a:rPr lang="en-US" sz="2800" dirty="0">
                <a:latin typeface="Arial"/>
                <a:cs typeface="Arial"/>
              </a:rPr>
              <a:t> </a:t>
            </a:r>
            <a:r>
              <a:rPr lang="en-US" sz="2800" dirty="0" err="1">
                <a:latin typeface="Arial"/>
                <a:cs typeface="Arial"/>
              </a:rPr>
              <a:t>thứ</a:t>
            </a:r>
            <a:r>
              <a:rPr lang="en-US" sz="2800" dirty="0">
                <a:latin typeface="Arial"/>
                <a:cs typeface="Arial"/>
              </a:rPr>
              <a:t> </a:t>
            </a:r>
            <a:r>
              <a:rPr lang="en-US" sz="2800" dirty="0" err="1">
                <a:latin typeface="Arial"/>
                <a:cs typeface="Arial"/>
              </a:rPr>
              <a:t>tự</a:t>
            </a:r>
            <a:r>
              <a:rPr lang="en-US" sz="2800" dirty="0">
                <a:latin typeface="Arial"/>
                <a:cs typeface="Arial"/>
              </a:rPr>
              <a:t>.</a:t>
            </a:r>
          </a:p>
          <a:p>
            <a:pPr marL="355600" marR="5080" indent="-342900">
              <a:lnSpc>
                <a:spcPct val="100000"/>
              </a:lnSpc>
              <a:spcBef>
                <a:spcPts val="100"/>
              </a:spcBef>
              <a:buClr>
                <a:srgbClr val="3333CC"/>
              </a:buClr>
              <a:buSzPct val="83333"/>
              <a:buFont typeface="Wingdings"/>
              <a:buChar char=""/>
              <a:tabLst>
                <a:tab pos="355600" algn="l"/>
              </a:tabLst>
            </a:pPr>
            <a:r>
              <a:rPr lang="en-US" sz="2800" dirty="0">
                <a:latin typeface="Arial"/>
                <a:cs typeface="Arial"/>
              </a:rPr>
              <a:t>TCP </a:t>
            </a:r>
            <a:r>
              <a:rPr lang="en-US" sz="2800" dirty="0" err="1">
                <a:latin typeface="Arial"/>
                <a:cs typeface="Arial"/>
              </a:rPr>
              <a:t>cung</a:t>
            </a:r>
            <a:r>
              <a:rPr lang="en-US" sz="2800" dirty="0">
                <a:latin typeface="Arial"/>
                <a:cs typeface="Arial"/>
              </a:rPr>
              <a:t> </a:t>
            </a:r>
            <a:r>
              <a:rPr lang="en-US" sz="2800" dirty="0" err="1">
                <a:latin typeface="Arial"/>
                <a:cs typeface="Arial"/>
              </a:rPr>
              <a:t>cấp</a:t>
            </a:r>
            <a:r>
              <a:rPr lang="en-US" sz="2800" dirty="0">
                <a:latin typeface="Arial"/>
                <a:cs typeface="Arial"/>
              </a:rPr>
              <a:t> </a:t>
            </a:r>
            <a:r>
              <a:rPr lang="en-US" sz="2800" dirty="0" err="1">
                <a:latin typeface="Arial"/>
                <a:cs typeface="Arial"/>
              </a:rPr>
              <a:t>truyền</a:t>
            </a:r>
            <a:r>
              <a:rPr lang="en-US" sz="2800" dirty="0">
                <a:latin typeface="Arial"/>
                <a:cs typeface="Arial"/>
              </a:rPr>
              <a:t> </a:t>
            </a:r>
            <a:r>
              <a:rPr lang="en-US" sz="2800" dirty="0" err="1">
                <a:latin typeface="Arial"/>
                <a:cs typeface="Arial"/>
              </a:rPr>
              <a:t>dữ</a:t>
            </a:r>
            <a:r>
              <a:rPr lang="en-US" sz="2800" dirty="0">
                <a:latin typeface="Arial"/>
                <a:cs typeface="Arial"/>
              </a:rPr>
              <a:t> </a:t>
            </a:r>
            <a:r>
              <a:rPr lang="en-US" sz="2800" dirty="0" err="1">
                <a:latin typeface="Arial"/>
                <a:cs typeface="Arial"/>
              </a:rPr>
              <a:t>liệu</a:t>
            </a:r>
            <a:r>
              <a:rPr lang="en-US" sz="2800" dirty="0">
                <a:latin typeface="Arial"/>
                <a:cs typeface="Arial"/>
              </a:rPr>
              <a:t> tin </a:t>
            </a:r>
            <a:r>
              <a:rPr lang="en-US" sz="2800" dirty="0" err="1">
                <a:latin typeface="Arial"/>
                <a:cs typeface="Arial"/>
              </a:rPr>
              <a:t>cậy</a:t>
            </a:r>
            <a:r>
              <a:rPr lang="en-US" sz="2800" dirty="0">
                <a:latin typeface="Arial"/>
                <a:cs typeface="Arial"/>
              </a:rPr>
              <a:t> </a:t>
            </a:r>
            <a:r>
              <a:rPr lang="en-US" sz="2800" dirty="0" err="1">
                <a:latin typeface="Arial"/>
                <a:cs typeface="Arial"/>
              </a:rPr>
              <a:t>bằng</a:t>
            </a:r>
            <a:r>
              <a:rPr lang="en-US" sz="2800" dirty="0">
                <a:latin typeface="Arial"/>
                <a:cs typeface="Arial"/>
              </a:rPr>
              <a:t> </a:t>
            </a:r>
            <a:r>
              <a:rPr lang="en-US" sz="2800" dirty="0" err="1">
                <a:latin typeface="Arial"/>
                <a:cs typeface="Arial"/>
              </a:rPr>
              <a:t>cách</a:t>
            </a:r>
            <a:r>
              <a:rPr lang="en-US" sz="2800" dirty="0">
                <a:latin typeface="Arial"/>
                <a:cs typeface="Arial"/>
              </a:rPr>
              <a:t> </a:t>
            </a:r>
            <a:r>
              <a:rPr lang="en-US" sz="2800" dirty="0" err="1">
                <a:latin typeface="Arial"/>
                <a:cs typeface="Arial"/>
              </a:rPr>
              <a:t>sử</a:t>
            </a:r>
            <a:r>
              <a:rPr lang="en-US" sz="2800" dirty="0">
                <a:latin typeface="Arial"/>
                <a:cs typeface="Arial"/>
              </a:rPr>
              <a:t> </a:t>
            </a:r>
            <a:r>
              <a:rPr lang="en-US" sz="2800" dirty="0" err="1">
                <a:latin typeface="Arial"/>
                <a:cs typeface="Arial"/>
              </a:rPr>
              <a:t>dụng</a:t>
            </a:r>
            <a:r>
              <a:rPr lang="en-US" sz="2800" dirty="0">
                <a:latin typeface="Arial"/>
                <a:cs typeface="Arial"/>
              </a:rPr>
              <a:t> </a:t>
            </a:r>
            <a:r>
              <a:rPr lang="en-US" sz="2800" dirty="0" err="1">
                <a:latin typeface="Arial"/>
                <a:cs typeface="Arial"/>
              </a:rPr>
              <a:t>điều</a:t>
            </a:r>
            <a:r>
              <a:rPr lang="en-US" sz="2800" dirty="0">
                <a:latin typeface="Arial"/>
                <a:cs typeface="Arial"/>
              </a:rPr>
              <a:t> </a:t>
            </a:r>
            <a:r>
              <a:rPr lang="en-US" sz="2800" dirty="0" err="1">
                <a:latin typeface="Arial"/>
                <a:cs typeface="Arial"/>
              </a:rPr>
              <a:t>khiển</a:t>
            </a:r>
            <a:r>
              <a:rPr lang="en-US" sz="2800" dirty="0">
                <a:latin typeface="Arial"/>
                <a:cs typeface="Arial"/>
              </a:rPr>
              <a:t> </a:t>
            </a:r>
            <a:r>
              <a:rPr lang="en-US" sz="2800" dirty="0" err="1">
                <a:latin typeface="Arial"/>
                <a:cs typeface="Arial"/>
              </a:rPr>
              <a:t>lỗi</a:t>
            </a:r>
            <a:r>
              <a:rPr lang="en-US" sz="2800" dirty="0">
                <a:latin typeface="Arial"/>
                <a:cs typeface="Arial"/>
              </a:rPr>
              <a:t>:</a:t>
            </a:r>
          </a:p>
          <a:p>
            <a:pPr marL="812800" marR="5080" lvl="1" indent="-342900">
              <a:spcBef>
                <a:spcPts val="100"/>
              </a:spcBef>
              <a:buClr>
                <a:srgbClr val="3333CC"/>
              </a:buClr>
              <a:buSzPct val="83333"/>
              <a:buFont typeface="Wingdings"/>
              <a:buChar char=""/>
              <a:tabLst>
                <a:tab pos="355600" algn="l"/>
              </a:tabLst>
            </a:pPr>
            <a:r>
              <a:rPr lang="en-US" sz="2800" dirty="0" err="1">
                <a:latin typeface="Arial"/>
                <a:cs typeface="Arial"/>
              </a:rPr>
              <a:t>Điều</a:t>
            </a:r>
            <a:r>
              <a:rPr lang="en-US" sz="2800" dirty="0">
                <a:latin typeface="Arial"/>
                <a:cs typeface="Arial"/>
              </a:rPr>
              <a:t> </a:t>
            </a:r>
            <a:r>
              <a:rPr lang="en-US" sz="2800" dirty="0" err="1">
                <a:latin typeface="Arial"/>
                <a:cs typeface="Arial"/>
              </a:rPr>
              <a:t>khiển</a:t>
            </a:r>
            <a:r>
              <a:rPr lang="en-US" sz="2800" dirty="0">
                <a:latin typeface="Arial"/>
                <a:cs typeface="Arial"/>
              </a:rPr>
              <a:t> </a:t>
            </a:r>
            <a:r>
              <a:rPr lang="en-US" sz="2800" dirty="0" err="1">
                <a:latin typeface="Arial"/>
                <a:cs typeface="Arial"/>
              </a:rPr>
              <a:t>lỗi</a:t>
            </a:r>
            <a:r>
              <a:rPr lang="en-US" sz="2800" dirty="0">
                <a:latin typeface="Arial"/>
                <a:cs typeface="Arial"/>
              </a:rPr>
              <a:t> </a:t>
            </a:r>
            <a:r>
              <a:rPr lang="en-US" sz="2800" dirty="0" err="1">
                <a:latin typeface="Arial"/>
                <a:cs typeface="Arial"/>
              </a:rPr>
              <a:t>bao</a:t>
            </a:r>
            <a:r>
              <a:rPr lang="en-US" sz="2800" dirty="0">
                <a:latin typeface="Arial"/>
                <a:cs typeface="Arial"/>
              </a:rPr>
              <a:t> </a:t>
            </a:r>
            <a:r>
              <a:rPr lang="en-US" sz="2800" dirty="0" err="1">
                <a:latin typeface="Arial"/>
                <a:cs typeface="Arial"/>
              </a:rPr>
              <a:t>gồm</a:t>
            </a:r>
            <a:r>
              <a:rPr lang="en-US" sz="2800" dirty="0">
                <a:latin typeface="Arial"/>
                <a:cs typeface="Arial"/>
              </a:rPr>
              <a:t> </a:t>
            </a:r>
            <a:r>
              <a:rPr lang="en-US" sz="2800" dirty="0" err="1">
                <a:latin typeface="Arial"/>
                <a:cs typeface="Arial"/>
              </a:rPr>
              <a:t>các</a:t>
            </a:r>
            <a:r>
              <a:rPr lang="en-US" sz="2800" dirty="0">
                <a:latin typeface="Arial"/>
                <a:cs typeface="Arial"/>
              </a:rPr>
              <a:t> </a:t>
            </a:r>
            <a:r>
              <a:rPr lang="en-US" sz="2800" dirty="0" err="1">
                <a:latin typeface="Arial"/>
                <a:cs typeface="Arial"/>
              </a:rPr>
              <a:t>cơ</a:t>
            </a:r>
            <a:r>
              <a:rPr lang="en-US" sz="2800" dirty="0">
                <a:latin typeface="Arial"/>
                <a:cs typeface="Arial"/>
              </a:rPr>
              <a:t> </a:t>
            </a:r>
            <a:r>
              <a:rPr lang="en-US" sz="2800" dirty="0" err="1">
                <a:latin typeface="Arial"/>
                <a:cs typeface="Arial"/>
              </a:rPr>
              <a:t>chế</a:t>
            </a:r>
            <a:r>
              <a:rPr lang="en-US" sz="2800" dirty="0">
                <a:latin typeface="Arial"/>
                <a:cs typeface="Arial"/>
              </a:rPr>
              <a:t> </a:t>
            </a:r>
            <a:r>
              <a:rPr lang="en-US" sz="2800" dirty="0" err="1">
                <a:latin typeface="Arial"/>
                <a:cs typeface="Arial"/>
              </a:rPr>
              <a:t>để</a:t>
            </a:r>
            <a:r>
              <a:rPr lang="en-US" sz="2800" dirty="0">
                <a:latin typeface="Arial"/>
                <a:cs typeface="Arial"/>
              </a:rPr>
              <a:t> </a:t>
            </a:r>
            <a:r>
              <a:rPr lang="en-US" sz="2800" dirty="0" err="1">
                <a:latin typeface="Arial"/>
                <a:cs typeface="Arial"/>
              </a:rPr>
              <a:t>phát</a:t>
            </a:r>
            <a:r>
              <a:rPr lang="en-US" sz="2800" dirty="0">
                <a:latin typeface="Arial"/>
                <a:cs typeface="Arial"/>
              </a:rPr>
              <a:t> </a:t>
            </a:r>
            <a:r>
              <a:rPr lang="en-US" sz="2800" dirty="0" err="1">
                <a:latin typeface="Arial"/>
                <a:cs typeface="Arial"/>
              </a:rPr>
              <a:t>hiện</a:t>
            </a:r>
            <a:r>
              <a:rPr lang="en-US" sz="2800" dirty="0">
                <a:latin typeface="Arial"/>
                <a:cs typeface="Arial"/>
              </a:rPr>
              <a:t> </a:t>
            </a:r>
            <a:r>
              <a:rPr lang="en-US" sz="2800" dirty="0" err="1">
                <a:latin typeface="Arial"/>
                <a:cs typeface="Arial"/>
              </a:rPr>
              <a:t>các</a:t>
            </a:r>
            <a:r>
              <a:rPr lang="en-US" sz="2800" dirty="0">
                <a:latin typeface="Arial"/>
                <a:cs typeface="Arial"/>
              </a:rPr>
              <a:t> </a:t>
            </a:r>
            <a:r>
              <a:rPr lang="en-US" sz="2800" dirty="0" err="1">
                <a:latin typeface="Arial"/>
                <a:cs typeface="Arial"/>
              </a:rPr>
              <a:t>phân</a:t>
            </a:r>
            <a:r>
              <a:rPr lang="en-US" sz="2800" dirty="0">
                <a:latin typeface="Arial"/>
                <a:cs typeface="Arial"/>
              </a:rPr>
              <a:t> </a:t>
            </a:r>
            <a:r>
              <a:rPr lang="en-US" sz="2800" dirty="0" err="1">
                <a:latin typeface="Arial"/>
                <a:cs typeface="Arial"/>
              </a:rPr>
              <a:t>đoạn</a:t>
            </a:r>
            <a:r>
              <a:rPr lang="en-US" sz="2800" dirty="0">
                <a:latin typeface="Arial"/>
                <a:cs typeface="Arial"/>
              </a:rPr>
              <a:t> </a:t>
            </a:r>
            <a:r>
              <a:rPr lang="en-US" sz="2800" dirty="0" err="1">
                <a:latin typeface="Arial"/>
                <a:cs typeface="Arial"/>
              </a:rPr>
              <a:t>bị</a:t>
            </a:r>
            <a:r>
              <a:rPr lang="en-US" sz="2800" dirty="0">
                <a:latin typeface="Arial"/>
                <a:cs typeface="Arial"/>
              </a:rPr>
              <a:t> </a:t>
            </a:r>
            <a:r>
              <a:rPr lang="en-US" sz="2800" dirty="0" err="1">
                <a:latin typeface="Arial"/>
                <a:cs typeface="Arial"/>
              </a:rPr>
              <a:t>hỏng</a:t>
            </a:r>
            <a:r>
              <a:rPr lang="en-US" sz="2800" dirty="0">
                <a:latin typeface="Arial"/>
                <a:cs typeface="Arial"/>
              </a:rPr>
              <a:t>, </a:t>
            </a:r>
            <a:r>
              <a:rPr lang="en-US" sz="2800" dirty="0" err="1">
                <a:latin typeface="Arial"/>
                <a:cs typeface="Arial"/>
              </a:rPr>
              <a:t>mất</a:t>
            </a:r>
            <a:r>
              <a:rPr lang="en-US" sz="2800" dirty="0">
                <a:latin typeface="Arial"/>
                <a:cs typeface="Arial"/>
              </a:rPr>
              <a:t>, </a:t>
            </a:r>
            <a:r>
              <a:rPr lang="en-US" sz="2800" dirty="0" err="1">
                <a:latin typeface="Arial"/>
                <a:cs typeface="Arial"/>
              </a:rPr>
              <a:t>trùng</a:t>
            </a:r>
            <a:r>
              <a:rPr lang="en-US" sz="2800" dirty="0">
                <a:latin typeface="Arial"/>
                <a:cs typeface="Arial"/>
              </a:rPr>
              <a:t> </a:t>
            </a:r>
            <a:r>
              <a:rPr lang="en-US" sz="2800" dirty="0" err="1">
                <a:latin typeface="Arial"/>
                <a:cs typeface="Arial"/>
              </a:rPr>
              <a:t>lặp</a:t>
            </a:r>
            <a:r>
              <a:rPr lang="en-US" sz="2800" dirty="0">
                <a:latin typeface="Arial"/>
                <a:cs typeface="Arial"/>
              </a:rPr>
              <a:t> </a:t>
            </a:r>
            <a:r>
              <a:rPr lang="en-US" sz="2800" dirty="0" err="1">
                <a:latin typeface="Arial"/>
                <a:cs typeface="Arial"/>
              </a:rPr>
              <a:t>và</a:t>
            </a:r>
            <a:r>
              <a:rPr lang="en-US" sz="2800" dirty="0">
                <a:latin typeface="Arial"/>
                <a:cs typeface="Arial"/>
              </a:rPr>
              <a:t> </a:t>
            </a:r>
            <a:r>
              <a:rPr lang="en-US" sz="2800" dirty="0" err="1">
                <a:latin typeface="Arial"/>
                <a:cs typeface="Arial"/>
              </a:rPr>
              <a:t>không</a:t>
            </a:r>
            <a:r>
              <a:rPr lang="en-US" sz="2800" dirty="0">
                <a:latin typeface="Arial"/>
                <a:cs typeface="Arial"/>
              </a:rPr>
              <a:t> </a:t>
            </a:r>
            <a:r>
              <a:rPr lang="en-US" sz="2800" dirty="0" err="1">
                <a:latin typeface="Arial"/>
                <a:cs typeface="Arial"/>
              </a:rPr>
              <a:t>đúng</a:t>
            </a:r>
            <a:r>
              <a:rPr lang="en-US" sz="2800" dirty="0">
                <a:latin typeface="Arial"/>
                <a:cs typeface="Arial"/>
              </a:rPr>
              <a:t> </a:t>
            </a:r>
            <a:r>
              <a:rPr lang="en-US" sz="2800" dirty="0" err="1">
                <a:latin typeface="Arial"/>
                <a:cs typeface="Arial"/>
              </a:rPr>
              <a:t>trình</a:t>
            </a:r>
            <a:r>
              <a:rPr lang="en-US" sz="2800" dirty="0">
                <a:latin typeface="Arial"/>
                <a:cs typeface="Arial"/>
              </a:rPr>
              <a:t> </a:t>
            </a:r>
            <a:r>
              <a:rPr lang="en-US" sz="2800" dirty="0" err="1">
                <a:latin typeface="Arial"/>
                <a:cs typeface="Arial"/>
              </a:rPr>
              <a:t>tự</a:t>
            </a:r>
            <a:r>
              <a:rPr lang="en-US" sz="2800" dirty="0">
                <a:latin typeface="Arial"/>
                <a:cs typeface="Arial"/>
              </a:rPr>
              <a:t>.</a:t>
            </a:r>
          </a:p>
          <a:p>
            <a:pPr marL="355600" marR="5080" indent="-342900">
              <a:lnSpc>
                <a:spcPct val="100000"/>
              </a:lnSpc>
              <a:spcBef>
                <a:spcPts val="100"/>
              </a:spcBef>
              <a:buClr>
                <a:srgbClr val="3333CC"/>
              </a:buClr>
              <a:buSzPct val="83333"/>
              <a:buFont typeface="Wingdings"/>
              <a:buChar char=""/>
              <a:tabLst>
                <a:tab pos="355600" algn="l"/>
              </a:tabLst>
            </a:pPr>
            <a:r>
              <a:rPr lang="en-US" sz="2800" dirty="0" err="1">
                <a:latin typeface="Arial"/>
                <a:cs typeface="Arial"/>
              </a:rPr>
              <a:t>Phát</a:t>
            </a:r>
            <a:r>
              <a:rPr lang="en-US" sz="2800" dirty="0">
                <a:latin typeface="Arial"/>
                <a:cs typeface="Arial"/>
              </a:rPr>
              <a:t> </a:t>
            </a:r>
            <a:r>
              <a:rPr lang="en-US" sz="2800" dirty="0" err="1">
                <a:latin typeface="Arial"/>
                <a:cs typeface="Arial"/>
              </a:rPr>
              <a:t>hiện</a:t>
            </a:r>
            <a:r>
              <a:rPr lang="en-US" sz="2800" dirty="0">
                <a:latin typeface="Arial"/>
                <a:cs typeface="Arial"/>
              </a:rPr>
              <a:t> </a:t>
            </a:r>
            <a:r>
              <a:rPr lang="en-US" sz="2800" dirty="0" err="1">
                <a:latin typeface="Arial"/>
                <a:cs typeface="Arial"/>
              </a:rPr>
              <a:t>và</a:t>
            </a:r>
            <a:r>
              <a:rPr lang="en-US" sz="2800" dirty="0">
                <a:latin typeface="Arial"/>
                <a:cs typeface="Arial"/>
              </a:rPr>
              <a:t> </a:t>
            </a:r>
            <a:r>
              <a:rPr lang="en-US" sz="2800" dirty="0" err="1">
                <a:latin typeface="Arial"/>
                <a:cs typeface="Arial"/>
              </a:rPr>
              <a:t>sửa</a:t>
            </a:r>
            <a:r>
              <a:rPr lang="en-US" sz="2800" dirty="0">
                <a:latin typeface="Arial"/>
                <a:cs typeface="Arial"/>
              </a:rPr>
              <a:t> </a:t>
            </a:r>
            <a:r>
              <a:rPr lang="en-US" sz="2800" dirty="0" err="1">
                <a:latin typeface="Arial"/>
                <a:cs typeface="Arial"/>
              </a:rPr>
              <a:t>lỗi</a:t>
            </a:r>
            <a:r>
              <a:rPr lang="en-US" sz="2800" dirty="0">
                <a:latin typeface="Arial"/>
                <a:cs typeface="Arial"/>
              </a:rPr>
              <a:t> </a:t>
            </a:r>
            <a:r>
              <a:rPr lang="en-US" sz="2800" dirty="0" err="1">
                <a:latin typeface="Arial"/>
                <a:cs typeface="Arial"/>
              </a:rPr>
              <a:t>trong</a:t>
            </a:r>
            <a:r>
              <a:rPr lang="en-US" sz="2800" dirty="0">
                <a:latin typeface="Arial"/>
                <a:cs typeface="Arial"/>
              </a:rPr>
              <a:t> TCP </a:t>
            </a:r>
            <a:r>
              <a:rPr lang="en-US" sz="2800" dirty="0" err="1">
                <a:latin typeface="Arial"/>
                <a:cs typeface="Arial"/>
              </a:rPr>
              <a:t>được</a:t>
            </a:r>
            <a:r>
              <a:rPr lang="en-US" sz="2800" dirty="0">
                <a:latin typeface="Arial"/>
                <a:cs typeface="Arial"/>
              </a:rPr>
              <a:t> </a:t>
            </a:r>
            <a:r>
              <a:rPr lang="en-US" sz="2800" dirty="0" err="1">
                <a:latin typeface="Arial"/>
                <a:cs typeface="Arial"/>
              </a:rPr>
              <a:t>thực</a:t>
            </a:r>
            <a:r>
              <a:rPr lang="en-US" sz="2800" dirty="0">
                <a:latin typeface="Arial"/>
                <a:cs typeface="Arial"/>
              </a:rPr>
              <a:t> </a:t>
            </a:r>
            <a:r>
              <a:rPr lang="en-US" sz="2800" dirty="0" err="1">
                <a:latin typeface="Arial"/>
                <a:cs typeface="Arial"/>
              </a:rPr>
              <a:t>hiện</a:t>
            </a:r>
            <a:r>
              <a:rPr lang="en-US" sz="2800" dirty="0">
                <a:latin typeface="Arial"/>
                <a:cs typeface="Arial"/>
              </a:rPr>
              <a:t> </a:t>
            </a:r>
            <a:r>
              <a:rPr lang="en-US" sz="2800" dirty="0" err="1">
                <a:latin typeface="Arial"/>
                <a:cs typeface="Arial"/>
              </a:rPr>
              <a:t>bằng</a:t>
            </a:r>
            <a:r>
              <a:rPr lang="en-US" sz="2800" dirty="0">
                <a:latin typeface="Arial"/>
                <a:cs typeface="Arial"/>
              </a:rPr>
              <a:t>: </a:t>
            </a:r>
            <a:endParaRPr sz="2800" dirty="0">
              <a:latin typeface="Arial"/>
              <a:cs typeface="Arial"/>
            </a:endParaRPr>
          </a:p>
          <a:p>
            <a:pPr marL="755650" lvl="1" indent="-285750">
              <a:lnSpc>
                <a:spcPct val="100000"/>
              </a:lnSpc>
              <a:spcBef>
                <a:spcPts val="490"/>
              </a:spcBef>
              <a:buClr>
                <a:srgbClr val="3333CC"/>
              </a:buClr>
              <a:buSzPct val="75000"/>
              <a:buFont typeface="Wingdings"/>
              <a:buChar char=""/>
              <a:tabLst>
                <a:tab pos="755650" algn="l"/>
              </a:tabLst>
            </a:pPr>
            <a:r>
              <a:rPr lang="en-US" sz="2400" dirty="0" err="1">
                <a:latin typeface="Arial"/>
                <a:cs typeface="Arial"/>
              </a:rPr>
              <a:t>Kiểm</a:t>
            </a:r>
            <a:r>
              <a:rPr lang="en-US" sz="2400" dirty="0">
                <a:latin typeface="Arial"/>
                <a:cs typeface="Arial"/>
              </a:rPr>
              <a:t> </a:t>
            </a:r>
            <a:r>
              <a:rPr lang="en-US" sz="2400" dirty="0" err="1">
                <a:latin typeface="Arial"/>
                <a:cs typeface="Arial"/>
              </a:rPr>
              <a:t>tra</a:t>
            </a:r>
            <a:r>
              <a:rPr lang="en-US" sz="2400" dirty="0">
                <a:latin typeface="Arial"/>
                <a:cs typeface="Arial"/>
              </a:rPr>
              <a:t> </a:t>
            </a:r>
            <a:r>
              <a:rPr lang="en-US" sz="2400" dirty="0" err="1">
                <a:latin typeface="Arial"/>
                <a:cs typeface="Arial"/>
              </a:rPr>
              <a:t>tổng</a:t>
            </a:r>
            <a:r>
              <a:rPr lang="en-US" sz="2400" dirty="0">
                <a:latin typeface="Arial"/>
                <a:cs typeface="Arial"/>
              </a:rPr>
              <a:t> checksum</a:t>
            </a:r>
          </a:p>
          <a:p>
            <a:pPr marL="755650" lvl="1" indent="-285750">
              <a:lnSpc>
                <a:spcPct val="100000"/>
              </a:lnSpc>
              <a:spcBef>
                <a:spcPts val="490"/>
              </a:spcBef>
              <a:buClr>
                <a:srgbClr val="3333CC"/>
              </a:buClr>
              <a:buSzPct val="75000"/>
              <a:buFont typeface="Wingdings"/>
              <a:buChar char=""/>
              <a:tabLst>
                <a:tab pos="755650" algn="l"/>
              </a:tabLst>
            </a:pPr>
            <a:r>
              <a:rPr lang="en-US" sz="2400" dirty="0" err="1">
                <a:latin typeface="Arial"/>
                <a:cs typeface="Arial"/>
              </a:rPr>
              <a:t>Số</a:t>
            </a:r>
            <a:r>
              <a:rPr lang="en-US" sz="2400" dirty="0">
                <a:latin typeface="Arial"/>
                <a:cs typeface="Arial"/>
              </a:rPr>
              <a:t> </a:t>
            </a:r>
            <a:r>
              <a:rPr lang="en-US" sz="2400" dirty="0" err="1">
                <a:latin typeface="Arial"/>
                <a:cs typeface="Arial"/>
              </a:rPr>
              <a:t>trình</a:t>
            </a:r>
            <a:r>
              <a:rPr lang="en-US" sz="2400" dirty="0">
                <a:latin typeface="Arial"/>
                <a:cs typeface="Arial"/>
              </a:rPr>
              <a:t> </a:t>
            </a:r>
            <a:r>
              <a:rPr lang="en-US" sz="2400" dirty="0" err="1">
                <a:latin typeface="Arial"/>
                <a:cs typeface="Arial"/>
              </a:rPr>
              <a:t>tự</a:t>
            </a:r>
            <a:r>
              <a:rPr lang="en-US" sz="2400" dirty="0">
                <a:latin typeface="Arial"/>
                <a:cs typeface="Arial"/>
              </a:rPr>
              <a:t> </a:t>
            </a:r>
            <a:r>
              <a:rPr lang="en-US" sz="2400" dirty="0" err="1">
                <a:latin typeface="Arial"/>
                <a:cs typeface="Arial"/>
              </a:rPr>
              <a:t>gói</a:t>
            </a:r>
            <a:r>
              <a:rPr lang="en-US" sz="2400" dirty="0">
                <a:latin typeface="Arial"/>
                <a:cs typeface="Arial"/>
              </a:rPr>
              <a:t> tin Seq. #</a:t>
            </a:r>
          </a:p>
          <a:p>
            <a:pPr marL="755650" lvl="1" indent="-285750">
              <a:lnSpc>
                <a:spcPct val="100000"/>
              </a:lnSpc>
              <a:spcBef>
                <a:spcPts val="490"/>
              </a:spcBef>
              <a:buClr>
                <a:srgbClr val="3333CC"/>
              </a:buClr>
              <a:buSzPct val="75000"/>
              <a:buFont typeface="Wingdings"/>
              <a:buChar char=""/>
              <a:tabLst>
                <a:tab pos="755650" algn="l"/>
              </a:tabLst>
            </a:pPr>
            <a:r>
              <a:rPr lang="en-US" sz="2400" dirty="0" err="1">
                <a:latin typeface="Arial"/>
                <a:cs typeface="Arial"/>
              </a:rPr>
              <a:t>Thông</a:t>
            </a:r>
            <a:r>
              <a:rPr lang="en-US" sz="2400" dirty="0">
                <a:latin typeface="Arial"/>
                <a:cs typeface="Arial"/>
              </a:rPr>
              <a:t> </a:t>
            </a:r>
            <a:r>
              <a:rPr lang="en-US" sz="2400" dirty="0" err="1">
                <a:latin typeface="Arial"/>
                <a:cs typeface="Arial"/>
              </a:rPr>
              <a:t>báo</a:t>
            </a:r>
            <a:r>
              <a:rPr lang="en-US" sz="2400" dirty="0">
                <a:latin typeface="Arial"/>
                <a:cs typeface="Arial"/>
              </a:rPr>
              <a:t> </a:t>
            </a:r>
            <a:r>
              <a:rPr lang="en-US" sz="2400" dirty="0" err="1">
                <a:latin typeface="Arial"/>
                <a:cs typeface="Arial"/>
              </a:rPr>
              <a:t>xác</a:t>
            </a:r>
            <a:r>
              <a:rPr lang="en-US" sz="2400" dirty="0">
                <a:latin typeface="Arial"/>
                <a:cs typeface="Arial"/>
              </a:rPr>
              <a:t> </a:t>
            </a:r>
            <a:r>
              <a:rPr lang="en-US" sz="2400" dirty="0" err="1">
                <a:latin typeface="Arial"/>
                <a:cs typeface="Arial"/>
              </a:rPr>
              <a:t>nhận</a:t>
            </a:r>
            <a:r>
              <a:rPr lang="en-US" sz="2400" dirty="0">
                <a:latin typeface="Arial"/>
                <a:cs typeface="Arial"/>
              </a:rPr>
              <a:t> ACK (</a:t>
            </a:r>
            <a:r>
              <a:rPr lang="en-GB" sz="2400" dirty="0">
                <a:latin typeface="Arial" panose="020B0604020202020204" pitchFamily="34" charset="0"/>
                <a:cs typeface="Arial" panose="020B0604020202020204" pitchFamily="34" charset="0"/>
              </a:rPr>
              <a:t>A</a:t>
            </a:r>
            <a:r>
              <a:rPr lang="vi-VN" sz="2400" dirty="0">
                <a:latin typeface="Arial" panose="020B0604020202020204" pitchFamily="34" charset="0"/>
                <a:cs typeface="Arial" panose="020B0604020202020204" pitchFamily="34" charset="0"/>
              </a:rPr>
              <a:t>cknowledgement</a:t>
            </a:r>
            <a:r>
              <a:rPr lang="en-US" sz="2400" dirty="0">
                <a:latin typeface="Arial" panose="020B0604020202020204" pitchFamily="34" charset="0"/>
                <a:cs typeface="Arial" panose="020B0604020202020204" pitchFamily="34" charset="0"/>
              </a:rPr>
              <a:t> number</a:t>
            </a:r>
            <a:r>
              <a:rPr lang="en-US" sz="2400" dirty="0"/>
              <a:t>)</a:t>
            </a:r>
          </a:p>
          <a:p>
            <a:pPr marL="755650" lvl="1" indent="-285750">
              <a:lnSpc>
                <a:spcPct val="100000"/>
              </a:lnSpc>
              <a:spcBef>
                <a:spcPts val="490"/>
              </a:spcBef>
              <a:buClr>
                <a:srgbClr val="3333CC"/>
              </a:buClr>
              <a:buSzPct val="75000"/>
              <a:buFont typeface="Wingdings"/>
              <a:buChar char=""/>
              <a:tabLst>
                <a:tab pos="755650" algn="l"/>
              </a:tabLst>
            </a:pPr>
            <a:r>
              <a:rPr lang="en-US" sz="2400" dirty="0" err="1"/>
              <a:t>Thời</a:t>
            </a:r>
            <a:r>
              <a:rPr lang="en-US" sz="2400" dirty="0"/>
              <a:t> </a:t>
            </a:r>
            <a:r>
              <a:rPr lang="en-US" sz="2400" dirty="0" err="1"/>
              <a:t>gian</a:t>
            </a:r>
            <a:r>
              <a:rPr lang="en-US" sz="2400" dirty="0"/>
              <a:t> </a:t>
            </a:r>
            <a:r>
              <a:rPr lang="en-US" sz="2400" dirty="0" err="1"/>
              <a:t>chờ</a:t>
            </a:r>
            <a:r>
              <a:rPr lang="en-US" sz="2400" dirty="0"/>
              <a:t> (time out)</a:t>
            </a:r>
          </a:p>
        </p:txBody>
      </p:sp>
      <p:sp>
        <p:nvSpPr>
          <p:cNvPr id="6" name="Slide Number Placeholder 5"/>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54</a:t>
            </a:fld>
            <a:endParaRPr spc="-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TCP</a:t>
            </a:r>
            <a:endParaRPr spc="-5" dirty="0"/>
          </a:p>
        </p:txBody>
      </p:sp>
      <p:sp>
        <p:nvSpPr>
          <p:cNvPr id="3" name="object 3"/>
          <p:cNvSpPr txBox="1"/>
          <p:nvPr/>
        </p:nvSpPr>
        <p:spPr>
          <a:xfrm>
            <a:off x="1193546" y="1780286"/>
            <a:ext cx="6959854" cy="3490058"/>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Cấu</a:t>
            </a:r>
            <a:r>
              <a:rPr lang="en-US" sz="3200" spc="-5" dirty="0">
                <a:latin typeface="Arial"/>
                <a:cs typeface="Arial"/>
              </a:rPr>
              <a:t> </a:t>
            </a:r>
            <a:r>
              <a:rPr lang="en-US" sz="3200" spc="-5" dirty="0" err="1">
                <a:latin typeface="Arial"/>
                <a:cs typeface="Arial"/>
              </a:rPr>
              <a:t>trúc</a:t>
            </a:r>
            <a:r>
              <a:rPr lang="en-US" sz="3200" spc="-5" dirty="0">
                <a:latin typeface="Arial"/>
                <a:cs typeface="Arial"/>
              </a:rPr>
              <a:t> </a:t>
            </a:r>
            <a:r>
              <a:rPr lang="en-US" sz="3200" spc="-5" dirty="0" err="1">
                <a:latin typeface="Arial"/>
                <a:cs typeface="Arial"/>
              </a:rPr>
              <a:t>của</a:t>
            </a:r>
            <a:r>
              <a:rPr lang="en-US" sz="3200" spc="-5" dirty="0">
                <a:latin typeface="Arial"/>
                <a:cs typeface="Arial"/>
              </a:rPr>
              <a:t> TCP segment</a:t>
            </a:r>
          </a:p>
          <a:p>
            <a:pPr marL="355600" indent="-342900">
              <a:spcBef>
                <a:spcPts val="675"/>
              </a:spcBef>
              <a:buClr>
                <a:srgbClr val="3333CC"/>
              </a:buClr>
              <a:buSzPct val="83333"/>
              <a:buFont typeface="Wingdings"/>
              <a:buChar char=""/>
              <a:tabLst>
                <a:tab pos="355600" algn="l"/>
              </a:tabLst>
            </a:pPr>
            <a:r>
              <a:rPr lang="en-US" sz="3200" spc="-5" dirty="0" err="1">
                <a:latin typeface="Arial"/>
                <a:cs typeface="Arial"/>
              </a:rPr>
              <a:t>Thiết</a:t>
            </a:r>
            <a:r>
              <a:rPr lang="en-US" sz="3200" spc="-5" dirty="0">
                <a:latin typeface="Arial"/>
                <a:cs typeface="Arial"/>
              </a:rPr>
              <a:t> </a:t>
            </a:r>
            <a:r>
              <a:rPr lang="en-US" sz="3200" spc="-5" dirty="0" err="1">
                <a:latin typeface="Arial"/>
                <a:cs typeface="Arial"/>
              </a:rPr>
              <a:t>lập</a:t>
            </a:r>
            <a:r>
              <a:rPr lang="en-US" sz="3200" spc="-5" dirty="0">
                <a:latin typeface="Arial"/>
                <a:cs typeface="Arial"/>
              </a:rPr>
              <a:t> </a:t>
            </a:r>
            <a:r>
              <a:rPr lang="en-US" sz="3200" spc="-5" dirty="0" err="1">
                <a:latin typeface="Arial"/>
                <a:cs typeface="Arial"/>
              </a:rPr>
              <a:t>và</a:t>
            </a:r>
            <a:r>
              <a:rPr lang="en-US" sz="3200" spc="-5" dirty="0">
                <a:latin typeface="Arial"/>
                <a:cs typeface="Arial"/>
              </a:rPr>
              <a:t> </a:t>
            </a:r>
            <a:r>
              <a:rPr lang="en-US" sz="3200" spc="-5" dirty="0" err="1">
                <a:latin typeface="Arial"/>
                <a:cs typeface="Arial"/>
              </a:rPr>
              <a:t>giải</a:t>
            </a:r>
            <a:r>
              <a:rPr lang="en-US" sz="3200" spc="-5" dirty="0">
                <a:latin typeface="Arial"/>
                <a:cs typeface="Arial"/>
              </a:rPr>
              <a:t> </a:t>
            </a:r>
            <a:r>
              <a:rPr lang="en-US" sz="3200" spc="-5" dirty="0" err="1">
                <a:latin typeface="Arial"/>
                <a:cs typeface="Arial"/>
              </a:rPr>
              <a:t>phóng</a:t>
            </a:r>
            <a:r>
              <a:rPr lang="en-US" sz="3200" spc="-5" dirty="0">
                <a:latin typeface="Arial"/>
                <a:cs typeface="Arial"/>
              </a:rPr>
              <a:t> </a:t>
            </a:r>
            <a:r>
              <a:rPr lang="en-US" sz="3200" spc="-5" dirty="0" err="1">
                <a:latin typeface="Arial"/>
                <a:cs typeface="Arial"/>
              </a:rPr>
              <a:t>kết</a:t>
            </a:r>
            <a:r>
              <a:rPr lang="en-US" sz="3200" spc="-5" dirty="0">
                <a:latin typeface="Arial"/>
                <a:cs typeface="Arial"/>
              </a:rPr>
              <a:t> </a:t>
            </a:r>
            <a:r>
              <a:rPr lang="en-US" sz="3200" spc="-5" dirty="0" err="1">
                <a:latin typeface="Arial"/>
                <a:cs typeface="Arial"/>
              </a:rPr>
              <a:t>nối</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Truyền</a:t>
            </a:r>
            <a:r>
              <a:rPr lang="en-US" sz="3200" spc="-5" dirty="0">
                <a:latin typeface="Arial"/>
                <a:cs typeface="Arial"/>
              </a:rPr>
              <a:t> </a:t>
            </a:r>
            <a:r>
              <a:rPr lang="en-US" sz="3200" spc="-5" dirty="0" err="1">
                <a:latin typeface="Arial"/>
                <a:cs typeface="Arial"/>
              </a:rPr>
              <a:t>dữ</a:t>
            </a:r>
            <a:r>
              <a:rPr lang="en-US" sz="3200" spc="-5" dirty="0">
                <a:latin typeface="Arial"/>
                <a:cs typeface="Arial"/>
              </a:rPr>
              <a:t> </a:t>
            </a:r>
            <a:r>
              <a:rPr lang="en-US" sz="3200" spc="-5" dirty="0" err="1">
                <a:latin typeface="Arial"/>
                <a:cs typeface="Arial"/>
              </a:rPr>
              <a:t>liệu</a:t>
            </a:r>
            <a:r>
              <a:rPr lang="en-US" sz="3200" spc="-5" dirty="0">
                <a:latin typeface="Arial"/>
                <a:cs typeface="Arial"/>
              </a:rPr>
              <a:t> tin </a:t>
            </a:r>
            <a:r>
              <a:rPr lang="en-US" sz="3200" spc="-5" dirty="0" err="1">
                <a:latin typeface="Arial"/>
                <a:cs typeface="Arial"/>
              </a:rPr>
              <a:t>cậy</a:t>
            </a:r>
            <a:r>
              <a:rPr lang="en-US" sz="3200" spc="-5" dirty="0">
                <a:latin typeface="Arial"/>
                <a:cs typeface="Arial"/>
              </a:rPr>
              <a:t> </a:t>
            </a:r>
            <a:r>
              <a:rPr lang="en-US" sz="3200" spc="-5" dirty="0" err="1">
                <a:latin typeface="Arial"/>
                <a:cs typeface="Arial"/>
              </a:rPr>
              <a:t>của</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solidFill>
                  <a:srgbClr val="FF0000"/>
                </a:solidFill>
                <a:latin typeface="Arial"/>
                <a:cs typeface="Arial"/>
              </a:rPr>
              <a:t>Điều</a:t>
            </a:r>
            <a:r>
              <a:rPr lang="en-US" sz="3200" spc="-5" dirty="0">
                <a:solidFill>
                  <a:srgbClr val="FF0000"/>
                </a:solidFill>
                <a:latin typeface="Arial"/>
                <a:cs typeface="Arial"/>
              </a:rPr>
              <a:t> </a:t>
            </a:r>
            <a:r>
              <a:rPr lang="en-US" sz="3200" spc="-5" dirty="0" err="1">
                <a:solidFill>
                  <a:srgbClr val="FF0000"/>
                </a:solidFill>
                <a:latin typeface="Arial"/>
                <a:cs typeface="Arial"/>
              </a:rPr>
              <a:t>khiển</a:t>
            </a:r>
            <a:r>
              <a:rPr lang="en-US" sz="3200" spc="-5" dirty="0">
                <a:solidFill>
                  <a:srgbClr val="FF0000"/>
                </a:solidFill>
                <a:latin typeface="Arial"/>
                <a:cs typeface="Arial"/>
              </a:rPr>
              <a:t> </a:t>
            </a:r>
            <a:r>
              <a:rPr lang="en-US" sz="3200" spc="-5" dirty="0" err="1">
                <a:solidFill>
                  <a:srgbClr val="FF0000"/>
                </a:solidFill>
                <a:latin typeface="Arial"/>
                <a:cs typeface="Arial"/>
              </a:rPr>
              <a:t>luồng</a:t>
            </a:r>
            <a:endParaRPr lang="en-US" sz="3200" spc="-5" dirty="0">
              <a:solidFill>
                <a:srgbClr val="FF0000"/>
              </a:solidFill>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tắc</a:t>
            </a:r>
            <a:r>
              <a:rPr lang="en-US" sz="3200" spc="-5" dirty="0">
                <a:latin typeface="Arial"/>
                <a:cs typeface="Arial"/>
              </a:rPr>
              <a:t> </a:t>
            </a:r>
            <a:r>
              <a:rPr lang="en-US" sz="3200" spc="-5" dirty="0" err="1">
                <a:latin typeface="Arial"/>
                <a:cs typeface="Arial"/>
              </a:rPr>
              <a:t>nghẽn</a:t>
            </a:r>
            <a:endParaRPr sz="32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55</a:t>
            </a:fld>
            <a:endParaRPr lang="en-US" spc="-5" dirty="0"/>
          </a:p>
        </p:txBody>
      </p:sp>
    </p:spTree>
    <p:extLst>
      <p:ext uri="{BB962C8B-B14F-4D97-AF65-F5344CB8AC3E}">
        <p14:creationId xmlns:p14="http://schemas.microsoft.com/office/powerpoint/2010/main" val="5954143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7316" y="682243"/>
            <a:ext cx="5918200" cy="635635"/>
          </a:xfrm>
          <a:prstGeom prst="rect">
            <a:avLst/>
          </a:prstGeom>
        </p:spPr>
        <p:txBody>
          <a:bodyPr vert="horz" wrap="square" lIns="0" tIns="12700" rIns="0" bIns="0" rtlCol="0">
            <a:spAutoFit/>
          </a:bodyPr>
          <a:lstStyle/>
          <a:p>
            <a:pPr marL="12700">
              <a:lnSpc>
                <a:spcPct val="100000"/>
              </a:lnSpc>
              <a:spcBef>
                <a:spcPts val="100"/>
              </a:spcBef>
            </a:pPr>
            <a:r>
              <a:rPr sz="4000" dirty="0"/>
              <a:t>Điều khiển luồng của TCP</a:t>
            </a:r>
            <a:endParaRPr sz="4000"/>
          </a:p>
        </p:txBody>
      </p:sp>
      <p:sp>
        <p:nvSpPr>
          <p:cNvPr id="3" name="object 3"/>
          <p:cNvSpPr/>
          <p:nvPr/>
        </p:nvSpPr>
        <p:spPr>
          <a:xfrm>
            <a:off x="5867400" y="1312925"/>
            <a:ext cx="2524760" cy="3855085"/>
          </a:xfrm>
          <a:custGeom>
            <a:avLst/>
            <a:gdLst/>
            <a:ahLst/>
            <a:cxnLst/>
            <a:rect l="l" t="t" r="r" b="b"/>
            <a:pathLst>
              <a:path w="2524759" h="3855085">
                <a:moveTo>
                  <a:pt x="0" y="0"/>
                </a:moveTo>
                <a:lnTo>
                  <a:pt x="0" y="3854958"/>
                </a:lnTo>
                <a:lnTo>
                  <a:pt x="2524505" y="3854958"/>
                </a:lnTo>
                <a:lnTo>
                  <a:pt x="2524505" y="0"/>
                </a:lnTo>
                <a:lnTo>
                  <a:pt x="0" y="0"/>
                </a:lnTo>
                <a:close/>
              </a:path>
            </a:pathLst>
          </a:custGeom>
          <a:solidFill>
            <a:srgbClr val="000099"/>
          </a:solidFill>
        </p:spPr>
        <p:txBody>
          <a:bodyPr wrap="square" lIns="0" tIns="0" rIns="0" bIns="0" rtlCol="0"/>
          <a:lstStyle/>
          <a:p>
            <a:endParaRPr/>
          </a:p>
        </p:txBody>
      </p:sp>
      <p:sp>
        <p:nvSpPr>
          <p:cNvPr id="4" name="object 4"/>
          <p:cNvSpPr/>
          <p:nvPr/>
        </p:nvSpPr>
        <p:spPr>
          <a:xfrm>
            <a:off x="5862828" y="1308353"/>
            <a:ext cx="2533650" cy="3864610"/>
          </a:xfrm>
          <a:custGeom>
            <a:avLst/>
            <a:gdLst/>
            <a:ahLst/>
            <a:cxnLst/>
            <a:rect l="l" t="t" r="r" b="b"/>
            <a:pathLst>
              <a:path w="2533650" h="3864610">
                <a:moveTo>
                  <a:pt x="2533650" y="3864102"/>
                </a:moveTo>
                <a:lnTo>
                  <a:pt x="2533650" y="0"/>
                </a:lnTo>
                <a:lnTo>
                  <a:pt x="0" y="0"/>
                </a:lnTo>
                <a:lnTo>
                  <a:pt x="0" y="3864102"/>
                </a:lnTo>
                <a:lnTo>
                  <a:pt x="4572" y="3864102"/>
                </a:lnTo>
                <a:lnTo>
                  <a:pt x="4572" y="9906"/>
                </a:lnTo>
                <a:lnTo>
                  <a:pt x="9906" y="4572"/>
                </a:lnTo>
                <a:lnTo>
                  <a:pt x="9906" y="9906"/>
                </a:lnTo>
                <a:lnTo>
                  <a:pt x="2524505" y="9906"/>
                </a:lnTo>
                <a:lnTo>
                  <a:pt x="2524505" y="4572"/>
                </a:lnTo>
                <a:lnTo>
                  <a:pt x="2529078" y="9906"/>
                </a:lnTo>
                <a:lnTo>
                  <a:pt x="2529078" y="3864102"/>
                </a:lnTo>
                <a:lnTo>
                  <a:pt x="2533650" y="3864102"/>
                </a:lnTo>
                <a:close/>
              </a:path>
              <a:path w="2533650" h="3864610">
                <a:moveTo>
                  <a:pt x="9906" y="9906"/>
                </a:moveTo>
                <a:lnTo>
                  <a:pt x="9906" y="4572"/>
                </a:lnTo>
                <a:lnTo>
                  <a:pt x="4572" y="9906"/>
                </a:lnTo>
                <a:lnTo>
                  <a:pt x="9906" y="9906"/>
                </a:lnTo>
                <a:close/>
              </a:path>
              <a:path w="2533650" h="3864610">
                <a:moveTo>
                  <a:pt x="9906" y="3854196"/>
                </a:moveTo>
                <a:lnTo>
                  <a:pt x="9906" y="9906"/>
                </a:lnTo>
                <a:lnTo>
                  <a:pt x="4572" y="9906"/>
                </a:lnTo>
                <a:lnTo>
                  <a:pt x="4572" y="3854196"/>
                </a:lnTo>
                <a:lnTo>
                  <a:pt x="9906" y="3854196"/>
                </a:lnTo>
                <a:close/>
              </a:path>
              <a:path w="2533650" h="3864610">
                <a:moveTo>
                  <a:pt x="2529078" y="3854196"/>
                </a:moveTo>
                <a:lnTo>
                  <a:pt x="4572" y="3854196"/>
                </a:lnTo>
                <a:lnTo>
                  <a:pt x="9906" y="3859530"/>
                </a:lnTo>
                <a:lnTo>
                  <a:pt x="9906" y="3864102"/>
                </a:lnTo>
                <a:lnTo>
                  <a:pt x="2524505" y="3864102"/>
                </a:lnTo>
                <a:lnTo>
                  <a:pt x="2524505" y="3859530"/>
                </a:lnTo>
                <a:lnTo>
                  <a:pt x="2529078" y="3854196"/>
                </a:lnTo>
                <a:close/>
              </a:path>
              <a:path w="2533650" h="3864610">
                <a:moveTo>
                  <a:pt x="9906" y="3864102"/>
                </a:moveTo>
                <a:lnTo>
                  <a:pt x="9906" y="3859530"/>
                </a:lnTo>
                <a:lnTo>
                  <a:pt x="4572" y="3854196"/>
                </a:lnTo>
                <a:lnTo>
                  <a:pt x="4572" y="3864102"/>
                </a:lnTo>
                <a:lnTo>
                  <a:pt x="9906" y="3864102"/>
                </a:lnTo>
                <a:close/>
              </a:path>
              <a:path w="2533650" h="3864610">
                <a:moveTo>
                  <a:pt x="2529078" y="9906"/>
                </a:moveTo>
                <a:lnTo>
                  <a:pt x="2524505" y="4572"/>
                </a:lnTo>
                <a:lnTo>
                  <a:pt x="2524505" y="9906"/>
                </a:lnTo>
                <a:lnTo>
                  <a:pt x="2529078" y="9906"/>
                </a:lnTo>
                <a:close/>
              </a:path>
              <a:path w="2533650" h="3864610">
                <a:moveTo>
                  <a:pt x="2529078" y="3854196"/>
                </a:moveTo>
                <a:lnTo>
                  <a:pt x="2529078" y="9906"/>
                </a:lnTo>
                <a:lnTo>
                  <a:pt x="2524505" y="9906"/>
                </a:lnTo>
                <a:lnTo>
                  <a:pt x="2524505" y="3854196"/>
                </a:lnTo>
                <a:lnTo>
                  <a:pt x="2529078" y="3854196"/>
                </a:lnTo>
                <a:close/>
              </a:path>
              <a:path w="2533650" h="3864610">
                <a:moveTo>
                  <a:pt x="2529078" y="3864102"/>
                </a:moveTo>
                <a:lnTo>
                  <a:pt x="2529078" y="3854196"/>
                </a:lnTo>
                <a:lnTo>
                  <a:pt x="2524505" y="3859530"/>
                </a:lnTo>
                <a:lnTo>
                  <a:pt x="2524505" y="3864102"/>
                </a:lnTo>
                <a:lnTo>
                  <a:pt x="2529078" y="3864102"/>
                </a:lnTo>
                <a:close/>
              </a:path>
            </a:pathLst>
          </a:custGeom>
          <a:solidFill>
            <a:srgbClr val="000000"/>
          </a:solidFill>
        </p:spPr>
        <p:txBody>
          <a:bodyPr wrap="square" lIns="0" tIns="0" rIns="0" bIns="0" rtlCol="0"/>
          <a:lstStyle/>
          <a:p>
            <a:endParaRPr/>
          </a:p>
        </p:txBody>
      </p:sp>
      <p:sp>
        <p:nvSpPr>
          <p:cNvPr id="5" name="object 5"/>
          <p:cNvSpPr/>
          <p:nvPr/>
        </p:nvSpPr>
        <p:spPr>
          <a:xfrm>
            <a:off x="8309609" y="1306830"/>
            <a:ext cx="580644" cy="4207002"/>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304276" y="1302258"/>
            <a:ext cx="591820" cy="4216400"/>
          </a:xfrm>
          <a:custGeom>
            <a:avLst/>
            <a:gdLst/>
            <a:ahLst/>
            <a:cxnLst/>
            <a:rect l="l" t="t" r="r" b="b"/>
            <a:pathLst>
              <a:path w="591820" h="4216400">
                <a:moveTo>
                  <a:pt x="28614" y="76546"/>
                </a:moveTo>
                <a:lnTo>
                  <a:pt x="19049" y="5334"/>
                </a:lnTo>
                <a:lnTo>
                  <a:pt x="0" y="4016502"/>
                </a:lnTo>
                <a:lnTo>
                  <a:pt x="761" y="4018026"/>
                </a:lnTo>
                <a:lnTo>
                  <a:pt x="2285" y="4018788"/>
                </a:lnTo>
                <a:lnTo>
                  <a:pt x="7619" y="4022334"/>
                </a:lnTo>
                <a:lnTo>
                  <a:pt x="7619" y="4011167"/>
                </a:lnTo>
                <a:lnTo>
                  <a:pt x="9916" y="4012695"/>
                </a:lnTo>
                <a:lnTo>
                  <a:pt x="28614" y="76546"/>
                </a:lnTo>
                <a:close/>
              </a:path>
              <a:path w="591820" h="4216400">
                <a:moveTo>
                  <a:pt x="9916" y="4012695"/>
                </a:moveTo>
                <a:lnTo>
                  <a:pt x="7619" y="4011167"/>
                </a:lnTo>
                <a:lnTo>
                  <a:pt x="9905" y="4014978"/>
                </a:lnTo>
                <a:lnTo>
                  <a:pt x="9916" y="4012695"/>
                </a:lnTo>
                <a:close/>
              </a:path>
              <a:path w="591820" h="4216400">
                <a:moveTo>
                  <a:pt x="301950" y="4206882"/>
                </a:moveTo>
                <a:lnTo>
                  <a:pt x="9916" y="4012695"/>
                </a:lnTo>
                <a:lnTo>
                  <a:pt x="9905" y="4014978"/>
                </a:lnTo>
                <a:lnTo>
                  <a:pt x="7619" y="4011167"/>
                </a:lnTo>
                <a:lnTo>
                  <a:pt x="7619" y="4022334"/>
                </a:lnTo>
                <a:lnTo>
                  <a:pt x="297941" y="4215384"/>
                </a:lnTo>
                <a:lnTo>
                  <a:pt x="298703" y="4216146"/>
                </a:lnTo>
                <a:lnTo>
                  <a:pt x="300227" y="4216146"/>
                </a:lnTo>
                <a:lnTo>
                  <a:pt x="300227" y="4207002"/>
                </a:lnTo>
                <a:lnTo>
                  <a:pt x="301950" y="4206882"/>
                </a:lnTo>
                <a:close/>
              </a:path>
              <a:path w="591820" h="4216400">
                <a:moveTo>
                  <a:pt x="591311" y="4192524"/>
                </a:moveTo>
                <a:lnTo>
                  <a:pt x="590549" y="4191000"/>
                </a:lnTo>
                <a:lnTo>
                  <a:pt x="28955" y="3810"/>
                </a:lnTo>
                <a:lnTo>
                  <a:pt x="28193" y="1524"/>
                </a:lnTo>
                <a:lnTo>
                  <a:pt x="26669" y="0"/>
                </a:lnTo>
                <a:lnTo>
                  <a:pt x="21335" y="0"/>
                </a:lnTo>
                <a:lnTo>
                  <a:pt x="19049" y="2286"/>
                </a:lnTo>
                <a:lnTo>
                  <a:pt x="19049" y="5334"/>
                </a:lnTo>
                <a:lnTo>
                  <a:pt x="28955" y="4572"/>
                </a:lnTo>
                <a:lnTo>
                  <a:pt x="28955" y="79092"/>
                </a:lnTo>
                <a:lnTo>
                  <a:pt x="580738" y="4187553"/>
                </a:lnTo>
                <a:lnTo>
                  <a:pt x="585977" y="4187190"/>
                </a:lnTo>
                <a:lnTo>
                  <a:pt x="585977" y="4196386"/>
                </a:lnTo>
                <a:lnTo>
                  <a:pt x="587501" y="4196334"/>
                </a:lnTo>
                <a:lnTo>
                  <a:pt x="589025" y="4195572"/>
                </a:lnTo>
                <a:lnTo>
                  <a:pt x="590549" y="4194048"/>
                </a:lnTo>
                <a:lnTo>
                  <a:pt x="591311" y="4192524"/>
                </a:lnTo>
                <a:close/>
              </a:path>
              <a:path w="591820" h="4216400">
                <a:moveTo>
                  <a:pt x="28955" y="4572"/>
                </a:moveTo>
                <a:lnTo>
                  <a:pt x="19049" y="5334"/>
                </a:lnTo>
                <a:lnTo>
                  <a:pt x="28614" y="76546"/>
                </a:lnTo>
                <a:lnTo>
                  <a:pt x="28955" y="4572"/>
                </a:lnTo>
                <a:close/>
              </a:path>
              <a:path w="591820" h="4216400">
                <a:moveTo>
                  <a:pt x="28955" y="79092"/>
                </a:moveTo>
                <a:lnTo>
                  <a:pt x="28955" y="4572"/>
                </a:lnTo>
                <a:lnTo>
                  <a:pt x="28614" y="76546"/>
                </a:lnTo>
                <a:lnTo>
                  <a:pt x="28955" y="79092"/>
                </a:lnTo>
                <a:close/>
              </a:path>
              <a:path w="591820" h="4216400">
                <a:moveTo>
                  <a:pt x="303275" y="4207764"/>
                </a:moveTo>
                <a:lnTo>
                  <a:pt x="301950" y="4206882"/>
                </a:lnTo>
                <a:lnTo>
                  <a:pt x="300227" y="4207002"/>
                </a:lnTo>
                <a:lnTo>
                  <a:pt x="303275" y="4207764"/>
                </a:lnTo>
                <a:close/>
              </a:path>
              <a:path w="591820" h="4216400">
                <a:moveTo>
                  <a:pt x="303275" y="4215987"/>
                </a:moveTo>
                <a:lnTo>
                  <a:pt x="303275" y="4207764"/>
                </a:lnTo>
                <a:lnTo>
                  <a:pt x="300227" y="4207002"/>
                </a:lnTo>
                <a:lnTo>
                  <a:pt x="300227" y="4216146"/>
                </a:lnTo>
                <a:lnTo>
                  <a:pt x="301950" y="4216079"/>
                </a:lnTo>
                <a:lnTo>
                  <a:pt x="303275" y="4215987"/>
                </a:lnTo>
                <a:close/>
              </a:path>
              <a:path w="591820" h="4216400">
                <a:moveTo>
                  <a:pt x="585977" y="4196386"/>
                </a:moveTo>
                <a:lnTo>
                  <a:pt x="585977" y="4187190"/>
                </a:lnTo>
                <a:lnTo>
                  <a:pt x="581405" y="4192524"/>
                </a:lnTo>
                <a:lnTo>
                  <a:pt x="580738" y="4187553"/>
                </a:lnTo>
                <a:lnTo>
                  <a:pt x="301950" y="4206882"/>
                </a:lnTo>
                <a:lnTo>
                  <a:pt x="303275" y="4207764"/>
                </a:lnTo>
                <a:lnTo>
                  <a:pt x="303275" y="4215987"/>
                </a:lnTo>
                <a:lnTo>
                  <a:pt x="585977" y="4196386"/>
                </a:lnTo>
                <a:close/>
              </a:path>
              <a:path w="591820" h="4216400">
                <a:moveTo>
                  <a:pt x="585977" y="4187190"/>
                </a:moveTo>
                <a:lnTo>
                  <a:pt x="580738" y="4187553"/>
                </a:lnTo>
                <a:lnTo>
                  <a:pt x="581405" y="4192524"/>
                </a:lnTo>
                <a:lnTo>
                  <a:pt x="585977" y="4187190"/>
                </a:lnTo>
                <a:close/>
              </a:path>
            </a:pathLst>
          </a:custGeom>
          <a:solidFill>
            <a:srgbClr val="DDDDDD"/>
          </a:solidFill>
        </p:spPr>
        <p:txBody>
          <a:bodyPr wrap="square" lIns="0" tIns="0" rIns="0" bIns="0" rtlCol="0"/>
          <a:lstStyle/>
          <a:p>
            <a:endParaRPr/>
          </a:p>
        </p:txBody>
      </p:sp>
      <p:sp>
        <p:nvSpPr>
          <p:cNvPr id="7" name="object 7"/>
          <p:cNvSpPr/>
          <p:nvPr/>
        </p:nvSpPr>
        <p:spPr>
          <a:xfrm>
            <a:off x="5782055" y="1415033"/>
            <a:ext cx="2533650" cy="3815079"/>
          </a:xfrm>
          <a:custGeom>
            <a:avLst/>
            <a:gdLst/>
            <a:ahLst/>
            <a:cxnLst/>
            <a:rect l="l" t="t" r="r" b="b"/>
            <a:pathLst>
              <a:path w="2533650" h="3815079">
                <a:moveTo>
                  <a:pt x="0" y="0"/>
                </a:moveTo>
                <a:lnTo>
                  <a:pt x="0" y="3814572"/>
                </a:lnTo>
                <a:lnTo>
                  <a:pt x="2533650" y="3814572"/>
                </a:lnTo>
                <a:lnTo>
                  <a:pt x="2533650" y="0"/>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5772150" y="1405127"/>
            <a:ext cx="2552700" cy="3834129"/>
          </a:xfrm>
          <a:custGeom>
            <a:avLst/>
            <a:gdLst/>
            <a:ahLst/>
            <a:cxnLst/>
            <a:rect l="l" t="t" r="r" b="b"/>
            <a:pathLst>
              <a:path w="2552700" h="3834129">
                <a:moveTo>
                  <a:pt x="2552700" y="3833622"/>
                </a:moveTo>
                <a:lnTo>
                  <a:pt x="2552700" y="0"/>
                </a:lnTo>
                <a:lnTo>
                  <a:pt x="0" y="0"/>
                </a:lnTo>
                <a:lnTo>
                  <a:pt x="0" y="3833622"/>
                </a:lnTo>
                <a:lnTo>
                  <a:pt x="9905" y="3833622"/>
                </a:lnTo>
                <a:lnTo>
                  <a:pt x="9905" y="19050"/>
                </a:lnTo>
                <a:lnTo>
                  <a:pt x="19050" y="9906"/>
                </a:lnTo>
                <a:lnTo>
                  <a:pt x="19050" y="19050"/>
                </a:lnTo>
                <a:lnTo>
                  <a:pt x="2533650" y="19050"/>
                </a:lnTo>
                <a:lnTo>
                  <a:pt x="2533650" y="9906"/>
                </a:lnTo>
                <a:lnTo>
                  <a:pt x="2543555" y="19050"/>
                </a:lnTo>
                <a:lnTo>
                  <a:pt x="2543555" y="3833622"/>
                </a:lnTo>
                <a:lnTo>
                  <a:pt x="2552700" y="3833622"/>
                </a:lnTo>
                <a:close/>
              </a:path>
              <a:path w="2552700" h="3834129">
                <a:moveTo>
                  <a:pt x="19050" y="19050"/>
                </a:moveTo>
                <a:lnTo>
                  <a:pt x="19050" y="9906"/>
                </a:lnTo>
                <a:lnTo>
                  <a:pt x="9905" y="19050"/>
                </a:lnTo>
                <a:lnTo>
                  <a:pt x="19050" y="19050"/>
                </a:lnTo>
                <a:close/>
              </a:path>
              <a:path w="2552700" h="3834129">
                <a:moveTo>
                  <a:pt x="19050" y="3814572"/>
                </a:moveTo>
                <a:lnTo>
                  <a:pt x="19050" y="19050"/>
                </a:lnTo>
                <a:lnTo>
                  <a:pt x="9905" y="19050"/>
                </a:lnTo>
                <a:lnTo>
                  <a:pt x="9905" y="3814572"/>
                </a:lnTo>
                <a:lnTo>
                  <a:pt x="19050" y="3814572"/>
                </a:lnTo>
                <a:close/>
              </a:path>
              <a:path w="2552700" h="3834129">
                <a:moveTo>
                  <a:pt x="2543555" y="3814572"/>
                </a:moveTo>
                <a:lnTo>
                  <a:pt x="9905" y="3814572"/>
                </a:lnTo>
                <a:lnTo>
                  <a:pt x="19050" y="3824478"/>
                </a:lnTo>
                <a:lnTo>
                  <a:pt x="19050" y="3833622"/>
                </a:lnTo>
                <a:lnTo>
                  <a:pt x="2533650" y="3833622"/>
                </a:lnTo>
                <a:lnTo>
                  <a:pt x="2533650" y="3824478"/>
                </a:lnTo>
                <a:lnTo>
                  <a:pt x="2543555" y="3814572"/>
                </a:lnTo>
                <a:close/>
              </a:path>
              <a:path w="2552700" h="3834129">
                <a:moveTo>
                  <a:pt x="19050" y="3833622"/>
                </a:moveTo>
                <a:lnTo>
                  <a:pt x="19050" y="3824478"/>
                </a:lnTo>
                <a:lnTo>
                  <a:pt x="9905" y="3814572"/>
                </a:lnTo>
                <a:lnTo>
                  <a:pt x="9905" y="3833622"/>
                </a:lnTo>
                <a:lnTo>
                  <a:pt x="19050" y="3833622"/>
                </a:lnTo>
                <a:close/>
              </a:path>
              <a:path w="2552700" h="3834129">
                <a:moveTo>
                  <a:pt x="2543555" y="19050"/>
                </a:moveTo>
                <a:lnTo>
                  <a:pt x="2533650" y="9906"/>
                </a:lnTo>
                <a:lnTo>
                  <a:pt x="2533650" y="19050"/>
                </a:lnTo>
                <a:lnTo>
                  <a:pt x="2543555" y="19050"/>
                </a:lnTo>
                <a:close/>
              </a:path>
              <a:path w="2552700" h="3834129">
                <a:moveTo>
                  <a:pt x="2543555" y="3814572"/>
                </a:moveTo>
                <a:lnTo>
                  <a:pt x="2543555" y="19050"/>
                </a:lnTo>
                <a:lnTo>
                  <a:pt x="2533650" y="19050"/>
                </a:lnTo>
                <a:lnTo>
                  <a:pt x="2533650" y="3814572"/>
                </a:lnTo>
                <a:lnTo>
                  <a:pt x="2543555" y="3814572"/>
                </a:lnTo>
                <a:close/>
              </a:path>
              <a:path w="2552700" h="3834129">
                <a:moveTo>
                  <a:pt x="2543555" y="3833622"/>
                </a:moveTo>
                <a:lnTo>
                  <a:pt x="2543555" y="3814572"/>
                </a:lnTo>
                <a:lnTo>
                  <a:pt x="2533650" y="3824478"/>
                </a:lnTo>
                <a:lnTo>
                  <a:pt x="2533650" y="3833622"/>
                </a:lnTo>
                <a:lnTo>
                  <a:pt x="2543555" y="3833622"/>
                </a:lnTo>
                <a:close/>
              </a:path>
            </a:pathLst>
          </a:custGeom>
          <a:solidFill>
            <a:srgbClr val="000000"/>
          </a:solidFill>
        </p:spPr>
        <p:txBody>
          <a:bodyPr wrap="square" lIns="0" tIns="0" rIns="0" bIns="0" rtlCol="0"/>
          <a:lstStyle/>
          <a:p>
            <a:endParaRPr/>
          </a:p>
        </p:txBody>
      </p:sp>
      <p:sp>
        <p:nvSpPr>
          <p:cNvPr id="9" name="object 9"/>
          <p:cNvSpPr/>
          <p:nvPr/>
        </p:nvSpPr>
        <p:spPr>
          <a:xfrm>
            <a:off x="6321552" y="1472183"/>
            <a:ext cx="1378585" cy="596900"/>
          </a:xfrm>
          <a:custGeom>
            <a:avLst/>
            <a:gdLst/>
            <a:ahLst/>
            <a:cxnLst/>
            <a:rect l="l" t="t" r="r" b="b"/>
            <a:pathLst>
              <a:path w="1378584" h="596900">
                <a:moveTo>
                  <a:pt x="1378458" y="297941"/>
                </a:moveTo>
                <a:lnTo>
                  <a:pt x="1366028" y="241314"/>
                </a:lnTo>
                <a:lnTo>
                  <a:pt x="1330278" y="188278"/>
                </a:lnTo>
                <a:lnTo>
                  <a:pt x="1273515" y="139832"/>
                </a:lnTo>
                <a:lnTo>
                  <a:pt x="1237975" y="117642"/>
                </a:lnTo>
                <a:lnTo>
                  <a:pt x="1198047" y="96973"/>
                </a:lnTo>
                <a:lnTo>
                  <a:pt x="1154020" y="77951"/>
                </a:lnTo>
                <a:lnTo>
                  <a:pt x="1106182" y="60699"/>
                </a:lnTo>
                <a:lnTo>
                  <a:pt x="1054822" y="45344"/>
                </a:lnTo>
                <a:lnTo>
                  <a:pt x="1000228" y="32008"/>
                </a:lnTo>
                <a:lnTo>
                  <a:pt x="942688" y="20817"/>
                </a:lnTo>
                <a:lnTo>
                  <a:pt x="882492" y="11897"/>
                </a:lnTo>
                <a:lnTo>
                  <a:pt x="819928" y="5370"/>
                </a:lnTo>
                <a:lnTo>
                  <a:pt x="755283" y="1363"/>
                </a:lnTo>
                <a:lnTo>
                  <a:pt x="688848" y="0"/>
                </a:lnTo>
                <a:lnTo>
                  <a:pt x="622538" y="1363"/>
                </a:lnTo>
                <a:lnTo>
                  <a:pt x="558006" y="5370"/>
                </a:lnTo>
                <a:lnTo>
                  <a:pt x="495539" y="11897"/>
                </a:lnTo>
                <a:lnTo>
                  <a:pt x="435428" y="20817"/>
                </a:lnTo>
                <a:lnTo>
                  <a:pt x="377961" y="32008"/>
                </a:lnTo>
                <a:lnTo>
                  <a:pt x="323429" y="45344"/>
                </a:lnTo>
                <a:lnTo>
                  <a:pt x="272120" y="60699"/>
                </a:lnTo>
                <a:lnTo>
                  <a:pt x="224324" y="77951"/>
                </a:lnTo>
                <a:lnTo>
                  <a:pt x="180331" y="96973"/>
                </a:lnTo>
                <a:lnTo>
                  <a:pt x="140429" y="117642"/>
                </a:lnTo>
                <a:lnTo>
                  <a:pt x="104909" y="139832"/>
                </a:lnTo>
                <a:lnTo>
                  <a:pt x="74059" y="163419"/>
                </a:lnTo>
                <a:lnTo>
                  <a:pt x="27529" y="214285"/>
                </a:lnTo>
                <a:lnTo>
                  <a:pt x="3155" y="269241"/>
                </a:lnTo>
                <a:lnTo>
                  <a:pt x="0" y="297941"/>
                </a:lnTo>
                <a:lnTo>
                  <a:pt x="3155" y="326769"/>
                </a:lnTo>
                <a:lnTo>
                  <a:pt x="27529" y="381935"/>
                </a:lnTo>
                <a:lnTo>
                  <a:pt x="74059" y="432958"/>
                </a:lnTo>
                <a:lnTo>
                  <a:pt x="104909" y="456607"/>
                </a:lnTo>
                <a:lnTo>
                  <a:pt x="140429" y="478848"/>
                </a:lnTo>
                <a:lnTo>
                  <a:pt x="180331" y="499559"/>
                </a:lnTo>
                <a:lnTo>
                  <a:pt x="224324" y="518615"/>
                </a:lnTo>
                <a:lnTo>
                  <a:pt x="272120" y="535892"/>
                </a:lnTo>
                <a:lnTo>
                  <a:pt x="323429" y="551268"/>
                </a:lnTo>
                <a:lnTo>
                  <a:pt x="377961" y="564618"/>
                </a:lnTo>
                <a:lnTo>
                  <a:pt x="435428" y="575818"/>
                </a:lnTo>
                <a:lnTo>
                  <a:pt x="495539" y="584744"/>
                </a:lnTo>
                <a:lnTo>
                  <a:pt x="558006" y="591274"/>
                </a:lnTo>
                <a:lnTo>
                  <a:pt x="622538" y="595282"/>
                </a:lnTo>
                <a:lnTo>
                  <a:pt x="688848" y="596645"/>
                </a:lnTo>
                <a:lnTo>
                  <a:pt x="755283" y="595282"/>
                </a:lnTo>
                <a:lnTo>
                  <a:pt x="819928" y="591274"/>
                </a:lnTo>
                <a:lnTo>
                  <a:pt x="882492" y="584744"/>
                </a:lnTo>
                <a:lnTo>
                  <a:pt x="942688" y="575818"/>
                </a:lnTo>
                <a:lnTo>
                  <a:pt x="1000228" y="564618"/>
                </a:lnTo>
                <a:lnTo>
                  <a:pt x="1054822" y="551268"/>
                </a:lnTo>
                <a:lnTo>
                  <a:pt x="1106182" y="535892"/>
                </a:lnTo>
                <a:lnTo>
                  <a:pt x="1154020" y="518615"/>
                </a:lnTo>
                <a:lnTo>
                  <a:pt x="1198047" y="499559"/>
                </a:lnTo>
                <a:lnTo>
                  <a:pt x="1237975" y="478848"/>
                </a:lnTo>
                <a:lnTo>
                  <a:pt x="1273515" y="456607"/>
                </a:lnTo>
                <a:lnTo>
                  <a:pt x="1304378" y="432958"/>
                </a:lnTo>
                <a:lnTo>
                  <a:pt x="1350924" y="381935"/>
                </a:lnTo>
                <a:lnTo>
                  <a:pt x="1375302" y="326769"/>
                </a:lnTo>
                <a:lnTo>
                  <a:pt x="1378458" y="297941"/>
                </a:lnTo>
                <a:close/>
              </a:path>
            </a:pathLst>
          </a:custGeom>
          <a:solidFill>
            <a:srgbClr val="CCFFFF"/>
          </a:solidFill>
        </p:spPr>
        <p:txBody>
          <a:bodyPr wrap="square" lIns="0" tIns="0" rIns="0" bIns="0" rtlCol="0"/>
          <a:lstStyle/>
          <a:p>
            <a:endParaRPr/>
          </a:p>
        </p:txBody>
      </p:sp>
      <p:sp>
        <p:nvSpPr>
          <p:cNvPr id="10" name="object 10"/>
          <p:cNvSpPr/>
          <p:nvPr/>
        </p:nvSpPr>
        <p:spPr>
          <a:xfrm>
            <a:off x="6316979" y="1466850"/>
            <a:ext cx="1388110" cy="607695"/>
          </a:xfrm>
          <a:custGeom>
            <a:avLst/>
            <a:gdLst/>
            <a:ahLst/>
            <a:cxnLst/>
            <a:rect l="l" t="t" r="r" b="b"/>
            <a:pathLst>
              <a:path w="1388109" h="607694">
                <a:moveTo>
                  <a:pt x="1387602" y="311657"/>
                </a:moveTo>
                <a:lnTo>
                  <a:pt x="1387602" y="295655"/>
                </a:lnTo>
                <a:lnTo>
                  <a:pt x="1386840" y="287273"/>
                </a:lnTo>
                <a:lnTo>
                  <a:pt x="1375816" y="249449"/>
                </a:lnTo>
                <a:lnTo>
                  <a:pt x="1357058" y="214878"/>
                </a:lnTo>
                <a:lnTo>
                  <a:pt x="1331358" y="183317"/>
                </a:lnTo>
                <a:lnTo>
                  <a:pt x="1299605" y="154699"/>
                </a:lnTo>
                <a:lnTo>
                  <a:pt x="1262662" y="128917"/>
                </a:lnTo>
                <a:lnTo>
                  <a:pt x="1221394" y="105860"/>
                </a:lnTo>
                <a:lnTo>
                  <a:pt x="1176665" y="85419"/>
                </a:lnTo>
                <a:lnTo>
                  <a:pt x="1129341" y="67483"/>
                </a:lnTo>
                <a:lnTo>
                  <a:pt x="1080285" y="51945"/>
                </a:lnTo>
                <a:lnTo>
                  <a:pt x="1030362" y="38693"/>
                </a:lnTo>
                <a:lnTo>
                  <a:pt x="980437" y="27618"/>
                </a:lnTo>
                <a:lnTo>
                  <a:pt x="931373" y="18612"/>
                </a:lnTo>
                <a:lnTo>
                  <a:pt x="884035" y="11564"/>
                </a:lnTo>
                <a:lnTo>
                  <a:pt x="839288" y="6364"/>
                </a:lnTo>
                <a:lnTo>
                  <a:pt x="797995" y="2904"/>
                </a:lnTo>
                <a:lnTo>
                  <a:pt x="729234" y="761"/>
                </a:lnTo>
                <a:lnTo>
                  <a:pt x="693420" y="0"/>
                </a:lnTo>
                <a:lnTo>
                  <a:pt x="658368" y="761"/>
                </a:lnTo>
                <a:lnTo>
                  <a:pt x="625645" y="1016"/>
                </a:lnTo>
                <a:lnTo>
                  <a:pt x="622545" y="1134"/>
                </a:lnTo>
                <a:lnTo>
                  <a:pt x="541435" y="6894"/>
                </a:lnTo>
                <a:lnTo>
                  <a:pt x="493788" y="12738"/>
                </a:lnTo>
                <a:lnTo>
                  <a:pt x="443482" y="20676"/>
                </a:lnTo>
                <a:lnTo>
                  <a:pt x="391523" y="30826"/>
                </a:lnTo>
                <a:lnTo>
                  <a:pt x="338916" y="43303"/>
                </a:lnTo>
                <a:lnTo>
                  <a:pt x="286669" y="58226"/>
                </a:lnTo>
                <a:lnTo>
                  <a:pt x="235785" y="75710"/>
                </a:lnTo>
                <a:lnTo>
                  <a:pt x="187272" y="95874"/>
                </a:lnTo>
                <a:lnTo>
                  <a:pt x="142134" y="118833"/>
                </a:lnTo>
                <a:lnTo>
                  <a:pt x="101378" y="144704"/>
                </a:lnTo>
                <a:lnTo>
                  <a:pt x="66010" y="173605"/>
                </a:lnTo>
                <a:lnTo>
                  <a:pt x="37034" y="205653"/>
                </a:lnTo>
                <a:lnTo>
                  <a:pt x="15457" y="240963"/>
                </a:lnTo>
                <a:lnTo>
                  <a:pt x="2286" y="279653"/>
                </a:lnTo>
                <a:lnTo>
                  <a:pt x="0" y="295655"/>
                </a:lnTo>
                <a:lnTo>
                  <a:pt x="0" y="301751"/>
                </a:lnTo>
                <a:lnTo>
                  <a:pt x="762" y="300227"/>
                </a:lnTo>
                <a:lnTo>
                  <a:pt x="3048" y="299465"/>
                </a:lnTo>
                <a:lnTo>
                  <a:pt x="4572" y="298703"/>
                </a:lnTo>
                <a:lnTo>
                  <a:pt x="6858" y="298703"/>
                </a:lnTo>
                <a:lnTo>
                  <a:pt x="8382" y="300227"/>
                </a:lnTo>
                <a:lnTo>
                  <a:pt x="8382" y="303656"/>
                </a:lnTo>
                <a:lnTo>
                  <a:pt x="9144" y="303275"/>
                </a:lnTo>
                <a:lnTo>
                  <a:pt x="9334" y="305180"/>
                </a:lnTo>
                <a:lnTo>
                  <a:pt x="9906" y="304037"/>
                </a:lnTo>
                <a:lnTo>
                  <a:pt x="9906" y="295655"/>
                </a:lnTo>
                <a:lnTo>
                  <a:pt x="10668" y="288797"/>
                </a:lnTo>
                <a:lnTo>
                  <a:pt x="24529" y="244368"/>
                </a:lnTo>
                <a:lnTo>
                  <a:pt x="45413" y="210705"/>
                </a:lnTo>
                <a:lnTo>
                  <a:pt x="73202" y="180080"/>
                </a:lnTo>
                <a:lnTo>
                  <a:pt x="107014" y="152385"/>
                </a:lnTo>
                <a:lnTo>
                  <a:pt x="145971" y="127512"/>
                </a:lnTo>
                <a:lnTo>
                  <a:pt x="189191" y="105354"/>
                </a:lnTo>
                <a:lnTo>
                  <a:pt x="235794" y="85803"/>
                </a:lnTo>
                <a:lnTo>
                  <a:pt x="284899" y="68749"/>
                </a:lnTo>
                <a:lnTo>
                  <a:pt x="335626" y="54087"/>
                </a:lnTo>
                <a:lnTo>
                  <a:pt x="387094" y="41708"/>
                </a:lnTo>
                <a:lnTo>
                  <a:pt x="438424" y="31503"/>
                </a:lnTo>
                <a:lnTo>
                  <a:pt x="488734" y="23365"/>
                </a:lnTo>
                <a:lnTo>
                  <a:pt x="537145" y="17187"/>
                </a:lnTo>
                <a:lnTo>
                  <a:pt x="582776" y="12859"/>
                </a:lnTo>
                <a:lnTo>
                  <a:pt x="624731" y="10276"/>
                </a:lnTo>
                <a:lnTo>
                  <a:pt x="662174" y="9327"/>
                </a:lnTo>
                <a:lnTo>
                  <a:pt x="693420" y="9892"/>
                </a:lnTo>
                <a:lnTo>
                  <a:pt x="729234" y="9905"/>
                </a:lnTo>
                <a:lnTo>
                  <a:pt x="764286" y="11429"/>
                </a:lnTo>
                <a:lnTo>
                  <a:pt x="795439" y="12367"/>
                </a:lnTo>
                <a:lnTo>
                  <a:pt x="832198" y="15035"/>
                </a:lnTo>
                <a:lnTo>
                  <a:pt x="873565" y="19530"/>
                </a:lnTo>
                <a:lnTo>
                  <a:pt x="918544" y="25952"/>
                </a:lnTo>
                <a:lnTo>
                  <a:pt x="966137" y="34397"/>
                </a:lnTo>
                <a:lnTo>
                  <a:pt x="1015346" y="44964"/>
                </a:lnTo>
                <a:lnTo>
                  <a:pt x="1065174" y="57749"/>
                </a:lnTo>
                <a:lnTo>
                  <a:pt x="1114625" y="72851"/>
                </a:lnTo>
                <a:lnTo>
                  <a:pt x="1162699" y="90368"/>
                </a:lnTo>
                <a:lnTo>
                  <a:pt x="1208401" y="110397"/>
                </a:lnTo>
                <a:lnTo>
                  <a:pt x="1250733" y="133036"/>
                </a:lnTo>
                <a:lnTo>
                  <a:pt x="1288697" y="158382"/>
                </a:lnTo>
                <a:lnTo>
                  <a:pt x="1321297" y="186533"/>
                </a:lnTo>
                <a:lnTo>
                  <a:pt x="1347534" y="217588"/>
                </a:lnTo>
                <a:lnTo>
                  <a:pt x="1366412" y="251644"/>
                </a:lnTo>
                <a:lnTo>
                  <a:pt x="1376934" y="288797"/>
                </a:lnTo>
                <a:lnTo>
                  <a:pt x="1377696" y="296417"/>
                </a:lnTo>
                <a:lnTo>
                  <a:pt x="1377696" y="351308"/>
                </a:lnTo>
                <a:lnTo>
                  <a:pt x="1386840" y="319277"/>
                </a:lnTo>
                <a:lnTo>
                  <a:pt x="1387602" y="311657"/>
                </a:lnTo>
                <a:close/>
              </a:path>
              <a:path w="1388109" h="607694">
                <a:moveTo>
                  <a:pt x="8382" y="300227"/>
                </a:moveTo>
                <a:lnTo>
                  <a:pt x="6858" y="298703"/>
                </a:lnTo>
                <a:lnTo>
                  <a:pt x="4572" y="298703"/>
                </a:lnTo>
                <a:lnTo>
                  <a:pt x="3048" y="299465"/>
                </a:lnTo>
                <a:lnTo>
                  <a:pt x="762" y="300227"/>
                </a:lnTo>
                <a:lnTo>
                  <a:pt x="0" y="301751"/>
                </a:lnTo>
                <a:lnTo>
                  <a:pt x="0" y="303275"/>
                </a:lnTo>
                <a:lnTo>
                  <a:pt x="8382" y="300227"/>
                </a:lnTo>
                <a:close/>
              </a:path>
              <a:path w="1388109" h="607694">
                <a:moveTo>
                  <a:pt x="8382" y="303656"/>
                </a:moveTo>
                <a:lnTo>
                  <a:pt x="8382" y="300227"/>
                </a:lnTo>
                <a:lnTo>
                  <a:pt x="0" y="303275"/>
                </a:lnTo>
                <a:lnTo>
                  <a:pt x="0" y="311657"/>
                </a:lnTo>
                <a:lnTo>
                  <a:pt x="762" y="319277"/>
                </a:lnTo>
                <a:lnTo>
                  <a:pt x="1524" y="323468"/>
                </a:lnTo>
                <a:lnTo>
                  <a:pt x="1524" y="307085"/>
                </a:lnTo>
                <a:lnTo>
                  <a:pt x="8382" y="303656"/>
                </a:lnTo>
                <a:close/>
              </a:path>
              <a:path w="1388109" h="607694">
                <a:moveTo>
                  <a:pt x="9334" y="305180"/>
                </a:moveTo>
                <a:lnTo>
                  <a:pt x="9144" y="303275"/>
                </a:lnTo>
                <a:lnTo>
                  <a:pt x="1524" y="307085"/>
                </a:lnTo>
                <a:lnTo>
                  <a:pt x="3048" y="308609"/>
                </a:lnTo>
                <a:lnTo>
                  <a:pt x="4572" y="308609"/>
                </a:lnTo>
                <a:lnTo>
                  <a:pt x="6858" y="307847"/>
                </a:lnTo>
                <a:lnTo>
                  <a:pt x="8382" y="307085"/>
                </a:lnTo>
                <a:lnTo>
                  <a:pt x="9334" y="305180"/>
                </a:lnTo>
                <a:close/>
              </a:path>
              <a:path w="1388109" h="607694">
                <a:moveTo>
                  <a:pt x="1377696" y="351308"/>
                </a:moveTo>
                <a:lnTo>
                  <a:pt x="1377696" y="310895"/>
                </a:lnTo>
                <a:lnTo>
                  <a:pt x="1376934" y="318515"/>
                </a:lnTo>
                <a:lnTo>
                  <a:pt x="1365708" y="357048"/>
                </a:lnTo>
                <a:lnTo>
                  <a:pt x="1345598" y="392243"/>
                </a:lnTo>
                <a:lnTo>
                  <a:pt x="1317670" y="424211"/>
                </a:lnTo>
                <a:lnTo>
                  <a:pt x="1282994" y="453063"/>
                </a:lnTo>
                <a:lnTo>
                  <a:pt x="1242637" y="478911"/>
                </a:lnTo>
                <a:lnTo>
                  <a:pt x="1197667" y="501864"/>
                </a:lnTo>
                <a:lnTo>
                  <a:pt x="1149152" y="522035"/>
                </a:lnTo>
                <a:lnTo>
                  <a:pt x="1098161" y="539534"/>
                </a:lnTo>
                <a:lnTo>
                  <a:pt x="1045760" y="554471"/>
                </a:lnTo>
                <a:lnTo>
                  <a:pt x="993020" y="566959"/>
                </a:lnTo>
                <a:lnTo>
                  <a:pt x="941007" y="577107"/>
                </a:lnTo>
                <a:lnTo>
                  <a:pt x="890789" y="585027"/>
                </a:lnTo>
                <a:lnTo>
                  <a:pt x="843435" y="590830"/>
                </a:lnTo>
                <a:lnTo>
                  <a:pt x="800012" y="594627"/>
                </a:lnTo>
                <a:lnTo>
                  <a:pt x="761589" y="596528"/>
                </a:lnTo>
                <a:lnTo>
                  <a:pt x="729234" y="596645"/>
                </a:lnTo>
                <a:lnTo>
                  <a:pt x="693420" y="597407"/>
                </a:lnTo>
                <a:lnTo>
                  <a:pt x="658368" y="596645"/>
                </a:lnTo>
                <a:lnTo>
                  <a:pt x="625645" y="596450"/>
                </a:lnTo>
                <a:lnTo>
                  <a:pt x="587220" y="594537"/>
                </a:lnTo>
                <a:lnTo>
                  <a:pt x="544093" y="590796"/>
                </a:lnTo>
                <a:lnTo>
                  <a:pt x="497267" y="585117"/>
                </a:lnTo>
                <a:lnTo>
                  <a:pt x="447743" y="577387"/>
                </a:lnTo>
                <a:lnTo>
                  <a:pt x="396523" y="567497"/>
                </a:lnTo>
                <a:lnTo>
                  <a:pt x="344609" y="555335"/>
                </a:lnTo>
                <a:lnTo>
                  <a:pt x="293003" y="540791"/>
                </a:lnTo>
                <a:lnTo>
                  <a:pt x="242705" y="523754"/>
                </a:lnTo>
                <a:lnTo>
                  <a:pt x="194719" y="504112"/>
                </a:lnTo>
                <a:lnTo>
                  <a:pt x="150046" y="481756"/>
                </a:lnTo>
                <a:lnTo>
                  <a:pt x="109686" y="456574"/>
                </a:lnTo>
                <a:lnTo>
                  <a:pt x="74644" y="428456"/>
                </a:lnTo>
                <a:lnTo>
                  <a:pt x="45919" y="397290"/>
                </a:lnTo>
                <a:lnTo>
                  <a:pt x="24513" y="362966"/>
                </a:lnTo>
                <a:lnTo>
                  <a:pt x="11430" y="325373"/>
                </a:lnTo>
                <a:lnTo>
                  <a:pt x="9334" y="305180"/>
                </a:lnTo>
                <a:lnTo>
                  <a:pt x="8382" y="307085"/>
                </a:lnTo>
                <a:lnTo>
                  <a:pt x="6858" y="307847"/>
                </a:lnTo>
                <a:lnTo>
                  <a:pt x="4572" y="308609"/>
                </a:lnTo>
                <a:lnTo>
                  <a:pt x="3048" y="308609"/>
                </a:lnTo>
                <a:lnTo>
                  <a:pt x="1524" y="307085"/>
                </a:lnTo>
                <a:lnTo>
                  <a:pt x="1524" y="323468"/>
                </a:lnTo>
                <a:lnTo>
                  <a:pt x="15234" y="365515"/>
                </a:lnTo>
                <a:lnTo>
                  <a:pt x="36101" y="400132"/>
                </a:lnTo>
                <a:lnTo>
                  <a:pt x="63997" y="431622"/>
                </a:lnTo>
                <a:lnTo>
                  <a:pt x="98030" y="460097"/>
                </a:lnTo>
                <a:lnTo>
                  <a:pt x="137309" y="485667"/>
                </a:lnTo>
                <a:lnTo>
                  <a:pt x="180942" y="508445"/>
                </a:lnTo>
                <a:lnTo>
                  <a:pt x="228039" y="528541"/>
                </a:lnTo>
                <a:lnTo>
                  <a:pt x="277707" y="546068"/>
                </a:lnTo>
                <a:lnTo>
                  <a:pt x="329057" y="561136"/>
                </a:lnTo>
                <a:lnTo>
                  <a:pt x="381196" y="573857"/>
                </a:lnTo>
                <a:lnTo>
                  <a:pt x="433234" y="584343"/>
                </a:lnTo>
                <a:lnTo>
                  <a:pt x="484279" y="592704"/>
                </a:lnTo>
                <a:lnTo>
                  <a:pt x="533440" y="599053"/>
                </a:lnTo>
                <a:lnTo>
                  <a:pt x="579826" y="603501"/>
                </a:lnTo>
                <a:lnTo>
                  <a:pt x="622545" y="606159"/>
                </a:lnTo>
                <a:lnTo>
                  <a:pt x="662174" y="607112"/>
                </a:lnTo>
                <a:lnTo>
                  <a:pt x="693420" y="606551"/>
                </a:lnTo>
                <a:lnTo>
                  <a:pt x="729234" y="606551"/>
                </a:lnTo>
                <a:lnTo>
                  <a:pt x="764286" y="605027"/>
                </a:lnTo>
                <a:lnTo>
                  <a:pt x="796901" y="603902"/>
                </a:lnTo>
                <a:lnTo>
                  <a:pt x="834913" y="601081"/>
                </a:lnTo>
                <a:lnTo>
                  <a:pt x="877345" y="596450"/>
                </a:lnTo>
                <a:lnTo>
                  <a:pt x="923221" y="589895"/>
                </a:lnTo>
                <a:lnTo>
                  <a:pt x="971563" y="581300"/>
                </a:lnTo>
                <a:lnTo>
                  <a:pt x="1021396" y="570551"/>
                </a:lnTo>
                <a:lnTo>
                  <a:pt x="1071742" y="557532"/>
                </a:lnTo>
                <a:lnTo>
                  <a:pt x="1121625" y="542129"/>
                </a:lnTo>
                <a:lnTo>
                  <a:pt x="1170069" y="524227"/>
                </a:lnTo>
                <a:lnTo>
                  <a:pt x="1216097" y="503710"/>
                </a:lnTo>
                <a:lnTo>
                  <a:pt x="1258732" y="480464"/>
                </a:lnTo>
                <a:lnTo>
                  <a:pt x="1296999" y="454375"/>
                </a:lnTo>
                <a:lnTo>
                  <a:pt x="1329919" y="425326"/>
                </a:lnTo>
                <a:lnTo>
                  <a:pt x="1356517" y="393204"/>
                </a:lnTo>
                <a:lnTo>
                  <a:pt x="1375816" y="357892"/>
                </a:lnTo>
                <a:lnTo>
                  <a:pt x="1377696" y="351308"/>
                </a:lnTo>
                <a:close/>
              </a:path>
            </a:pathLst>
          </a:custGeom>
          <a:solidFill>
            <a:srgbClr val="000000"/>
          </a:solidFill>
        </p:spPr>
        <p:txBody>
          <a:bodyPr wrap="square" lIns="0" tIns="0" rIns="0" bIns="0" rtlCol="0"/>
          <a:lstStyle/>
          <a:p>
            <a:endParaRPr/>
          </a:p>
        </p:txBody>
      </p:sp>
      <p:sp>
        <p:nvSpPr>
          <p:cNvPr id="11" name="object 11"/>
          <p:cNvSpPr txBox="1"/>
          <p:nvPr/>
        </p:nvSpPr>
        <p:spPr>
          <a:xfrm>
            <a:off x="6562604" y="1507489"/>
            <a:ext cx="895350" cy="513715"/>
          </a:xfrm>
          <a:prstGeom prst="rect">
            <a:avLst/>
          </a:prstGeom>
        </p:spPr>
        <p:txBody>
          <a:bodyPr vert="horz" wrap="square" lIns="0" tIns="12700" rIns="0" bIns="0" rtlCol="0">
            <a:spAutoFit/>
          </a:bodyPr>
          <a:lstStyle/>
          <a:p>
            <a:pPr marL="12700" marR="5080" indent="10160">
              <a:lnSpc>
                <a:spcPct val="100000"/>
              </a:lnSpc>
              <a:spcBef>
                <a:spcPts val="100"/>
              </a:spcBef>
            </a:pPr>
            <a:r>
              <a:rPr sz="1600" dirty="0">
                <a:latin typeface="Arial"/>
                <a:cs typeface="Arial"/>
              </a:rPr>
              <a:t>tiến trình  ứng dụng</a:t>
            </a:r>
            <a:endParaRPr sz="1600">
              <a:latin typeface="Arial"/>
              <a:cs typeface="Arial"/>
            </a:endParaRPr>
          </a:p>
        </p:txBody>
      </p:sp>
      <p:sp>
        <p:nvSpPr>
          <p:cNvPr id="12" name="object 12"/>
          <p:cNvSpPr/>
          <p:nvPr/>
        </p:nvSpPr>
        <p:spPr>
          <a:xfrm>
            <a:off x="6085332" y="2535935"/>
            <a:ext cx="1805177" cy="3077717"/>
          </a:xfrm>
          <a:prstGeom prst="rect">
            <a:avLst/>
          </a:prstGeom>
          <a:blipFill>
            <a:blip r:embed="rId3" cstate="print"/>
            <a:stretch>
              <a:fillRect/>
            </a:stretch>
          </a:blipFill>
        </p:spPr>
        <p:txBody>
          <a:bodyPr wrap="square" lIns="0" tIns="0" rIns="0" bIns="0" rtlCol="0"/>
          <a:lstStyle/>
          <a:p>
            <a:endParaRPr/>
          </a:p>
        </p:txBody>
      </p:sp>
      <p:sp>
        <p:nvSpPr>
          <p:cNvPr id="13" name="object 13"/>
          <p:cNvSpPr txBox="1"/>
          <p:nvPr/>
        </p:nvSpPr>
        <p:spPr>
          <a:xfrm>
            <a:off x="6260846" y="2607817"/>
            <a:ext cx="1433195" cy="513715"/>
          </a:xfrm>
          <a:prstGeom prst="rect">
            <a:avLst/>
          </a:prstGeom>
        </p:spPr>
        <p:txBody>
          <a:bodyPr vert="horz" wrap="square" lIns="0" tIns="12700" rIns="0" bIns="0" rtlCol="0">
            <a:spAutoFit/>
          </a:bodyPr>
          <a:lstStyle/>
          <a:p>
            <a:pPr marL="36195" marR="5080" indent="-24130">
              <a:lnSpc>
                <a:spcPct val="100000"/>
              </a:lnSpc>
              <a:spcBef>
                <a:spcPts val="100"/>
              </a:spcBef>
            </a:pPr>
            <a:r>
              <a:rPr sz="1600" dirty="0">
                <a:latin typeface="Tahoma"/>
                <a:cs typeface="Tahoma"/>
              </a:rPr>
              <a:t>vùng đệm nhận  của TCP socket</a:t>
            </a:r>
            <a:endParaRPr sz="1600">
              <a:latin typeface="Tahoma"/>
              <a:cs typeface="Tahoma"/>
            </a:endParaRPr>
          </a:p>
        </p:txBody>
      </p:sp>
      <p:sp>
        <p:nvSpPr>
          <p:cNvPr id="14" name="object 14"/>
          <p:cNvSpPr txBox="1"/>
          <p:nvPr/>
        </p:nvSpPr>
        <p:spPr>
          <a:xfrm>
            <a:off x="7240016" y="3619753"/>
            <a:ext cx="396240" cy="452120"/>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TCP</a:t>
            </a:r>
            <a:endParaRPr sz="1400">
              <a:latin typeface="Tahoma"/>
              <a:cs typeface="Tahoma"/>
            </a:endParaRPr>
          </a:p>
          <a:p>
            <a:pPr marL="12700">
              <a:lnSpc>
                <a:spcPct val="100000"/>
              </a:lnSpc>
            </a:pPr>
            <a:r>
              <a:rPr sz="1400" dirty="0">
                <a:latin typeface="Tahoma"/>
                <a:cs typeface="Tahoma"/>
              </a:rPr>
              <a:t>code</a:t>
            </a:r>
            <a:endParaRPr sz="1400">
              <a:latin typeface="Tahoma"/>
              <a:cs typeface="Tahoma"/>
            </a:endParaRPr>
          </a:p>
        </p:txBody>
      </p:sp>
      <p:sp>
        <p:nvSpPr>
          <p:cNvPr id="15" name="object 15"/>
          <p:cNvSpPr txBox="1"/>
          <p:nvPr/>
        </p:nvSpPr>
        <p:spPr>
          <a:xfrm>
            <a:off x="7247635" y="4605782"/>
            <a:ext cx="396240" cy="452120"/>
          </a:xfrm>
          <a:prstGeom prst="rect">
            <a:avLst/>
          </a:prstGeom>
        </p:spPr>
        <p:txBody>
          <a:bodyPr vert="horz" wrap="square" lIns="0" tIns="12065" rIns="0" bIns="0" rtlCol="0">
            <a:spAutoFit/>
          </a:bodyPr>
          <a:lstStyle/>
          <a:p>
            <a:pPr marL="12700">
              <a:lnSpc>
                <a:spcPct val="100000"/>
              </a:lnSpc>
              <a:spcBef>
                <a:spcPts val="95"/>
              </a:spcBef>
            </a:pPr>
            <a:r>
              <a:rPr sz="1400" dirty="0">
                <a:latin typeface="Tahoma"/>
                <a:cs typeface="Tahoma"/>
              </a:rPr>
              <a:t>IP</a:t>
            </a:r>
          </a:p>
          <a:p>
            <a:pPr marL="12700">
              <a:lnSpc>
                <a:spcPct val="100000"/>
              </a:lnSpc>
            </a:pPr>
            <a:r>
              <a:rPr sz="1400" dirty="0">
                <a:latin typeface="Tahoma"/>
                <a:cs typeface="Tahoma"/>
              </a:rPr>
              <a:t>code</a:t>
            </a:r>
          </a:p>
        </p:txBody>
      </p:sp>
      <p:sp>
        <p:nvSpPr>
          <p:cNvPr id="16" name="object 16"/>
          <p:cNvSpPr/>
          <p:nvPr/>
        </p:nvSpPr>
        <p:spPr>
          <a:xfrm>
            <a:off x="5775959" y="4299584"/>
            <a:ext cx="2546350" cy="0"/>
          </a:xfrm>
          <a:custGeom>
            <a:avLst/>
            <a:gdLst/>
            <a:ahLst/>
            <a:cxnLst/>
            <a:rect l="l" t="t" r="r" b="b"/>
            <a:pathLst>
              <a:path w="2546350">
                <a:moveTo>
                  <a:pt x="0" y="0"/>
                </a:moveTo>
                <a:lnTo>
                  <a:pt x="2545841" y="0"/>
                </a:lnTo>
              </a:path>
            </a:pathLst>
          </a:custGeom>
          <a:ln w="19050">
            <a:solidFill>
              <a:srgbClr val="000000"/>
            </a:solidFill>
          </a:ln>
        </p:spPr>
        <p:txBody>
          <a:bodyPr wrap="square" lIns="0" tIns="0" rIns="0" bIns="0" rtlCol="0"/>
          <a:lstStyle/>
          <a:p>
            <a:endParaRPr/>
          </a:p>
        </p:txBody>
      </p:sp>
      <p:sp>
        <p:nvSpPr>
          <p:cNvPr id="17" name="object 17"/>
          <p:cNvSpPr/>
          <p:nvPr/>
        </p:nvSpPr>
        <p:spPr>
          <a:xfrm>
            <a:off x="7298435" y="2447925"/>
            <a:ext cx="1036319" cy="0"/>
          </a:xfrm>
          <a:custGeom>
            <a:avLst/>
            <a:gdLst/>
            <a:ahLst/>
            <a:cxnLst/>
            <a:rect l="l" t="t" r="r" b="b"/>
            <a:pathLst>
              <a:path w="1036320">
                <a:moveTo>
                  <a:pt x="0" y="0"/>
                </a:moveTo>
                <a:lnTo>
                  <a:pt x="1036320" y="0"/>
                </a:lnTo>
              </a:path>
            </a:pathLst>
          </a:custGeom>
          <a:ln w="19050">
            <a:solidFill>
              <a:srgbClr val="000000"/>
            </a:solidFill>
          </a:ln>
        </p:spPr>
        <p:txBody>
          <a:bodyPr wrap="square" lIns="0" tIns="0" rIns="0" bIns="0" rtlCol="0"/>
          <a:lstStyle/>
          <a:p>
            <a:endParaRPr/>
          </a:p>
        </p:txBody>
      </p:sp>
      <p:sp>
        <p:nvSpPr>
          <p:cNvPr id="18" name="object 18"/>
          <p:cNvSpPr/>
          <p:nvPr/>
        </p:nvSpPr>
        <p:spPr>
          <a:xfrm>
            <a:off x="5788152" y="2447925"/>
            <a:ext cx="977265" cy="0"/>
          </a:xfrm>
          <a:custGeom>
            <a:avLst/>
            <a:gdLst/>
            <a:ahLst/>
            <a:cxnLst/>
            <a:rect l="l" t="t" r="r" b="b"/>
            <a:pathLst>
              <a:path w="977265">
                <a:moveTo>
                  <a:pt x="0" y="0"/>
                </a:moveTo>
                <a:lnTo>
                  <a:pt x="976883" y="0"/>
                </a:lnTo>
              </a:path>
            </a:pathLst>
          </a:custGeom>
          <a:ln w="19050">
            <a:solidFill>
              <a:srgbClr val="000000"/>
            </a:solidFill>
          </a:ln>
        </p:spPr>
        <p:txBody>
          <a:bodyPr wrap="square" lIns="0" tIns="0" rIns="0" bIns="0" rtlCol="0"/>
          <a:lstStyle/>
          <a:p>
            <a:endParaRPr/>
          </a:p>
        </p:txBody>
      </p:sp>
      <p:sp>
        <p:nvSpPr>
          <p:cNvPr id="19" name="object 19"/>
          <p:cNvSpPr/>
          <p:nvPr/>
        </p:nvSpPr>
        <p:spPr>
          <a:xfrm>
            <a:off x="6765035" y="2332482"/>
            <a:ext cx="533400" cy="207010"/>
          </a:xfrm>
          <a:custGeom>
            <a:avLst/>
            <a:gdLst/>
            <a:ahLst/>
            <a:cxnLst/>
            <a:rect l="l" t="t" r="r" b="b"/>
            <a:pathLst>
              <a:path w="533400" h="207010">
                <a:moveTo>
                  <a:pt x="0" y="0"/>
                </a:moveTo>
                <a:lnTo>
                  <a:pt x="0" y="206501"/>
                </a:lnTo>
                <a:lnTo>
                  <a:pt x="533400" y="206501"/>
                </a:lnTo>
                <a:lnTo>
                  <a:pt x="533400" y="0"/>
                </a:lnTo>
                <a:lnTo>
                  <a:pt x="0" y="0"/>
                </a:lnTo>
                <a:close/>
              </a:path>
            </a:pathLst>
          </a:custGeom>
          <a:solidFill>
            <a:srgbClr val="FFFF00"/>
          </a:solidFill>
        </p:spPr>
        <p:txBody>
          <a:bodyPr wrap="square" lIns="0" tIns="0" rIns="0" bIns="0" rtlCol="0"/>
          <a:lstStyle/>
          <a:p>
            <a:endParaRPr/>
          </a:p>
        </p:txBody>
      </p:sp>
      <p:sp>
        <p:nvSpPr>
          <p:cNvPr id="20" name="object 20"/>
          <p:cNvSpPr/>
          <p:nvPr/>
        </p:nvSpPr>
        <p:spPr>
          <a:xfrm>
            <a:off x="6759702" y="2327910"/>
            <a:ext cx="543560" cy="215900"/>
          </a:xfrm>
          <a:custGeom>
            <a:avLst/>
            <a:gdLst/>
            <a:ahLst/>
            <a:cxnLst/>
            <a:rect l="l" t="t" r="r" b="b"/>
            <a:pathLst>
              <a:path w="543559" h="215900">
                <a:moveTo>
                  <a:pt x="543305" y="215646"/>
                </a:moveTo>
                <a:lnTo>
                  <a:pt x="543305" y="0"/>
                </a:lnTo>
                <a:lnTo>
                  <a:pt x="0" y="0"/>
                </a:lnTo>
                <a:lnTo>
                  <a:pt x="0" y="215646"/>
                </a:lnTo>
                <a:lnTo>
                  <a:pt x="5333" y="215646"/>
                </a:lnTo>
                <a:lnTo>
                  <a:pt x="5333" y="9144"/>
                </a:lnTo>
                <a:lnTo>
                  <a:pt x="9905" y="4572"/>
                </a:lnTo>
                <a:lnTo>
                  <a:pt x="9905" y="9144"/>
                </a:lnTo>
                <a:lnTo>
                  <a:pt x="533400" y="9144"/>
                </a:lnTo>
                <a:lnTo>
                  <a:pt x="533400" y="4572"/>
                </a:lnTo>
                <a:lnTo>
                  <a:pt x="538733" y="9144"/>
                </a:lnTo>
                <a:lnTo>
                  <a:pt x="538733" y="215646"/>
                </a:lnTo>
                <a:lnTo>
                  <a:pt x="543305" y="215646"/>
                </a:lnTo>
                <a:close/>
              </a:path>
              <a:path w="543559" h="215900">
                <a:moveTo>
                  <a:pt x="9905" y="9144"/>
                </a:moveTo>
                <a:lnTo>
                  <a:pt x="9905" y="4572"/>
                </a:lnTo>
                <a:lnTo>
                  <a:pt x="5333" y="9144"/>
                </a:lnTo>
                <a:lnTo>
                  <a:pt x="9905" y="9144"/>
                </a:lnTo>
                <a:close/>
              </a:path>
              <a:path w="543559" h="215900">
                <a:moveTo>
                  <a:pt x="9905" y="205740"/>
                </a:moveTo>
                <a:lnTo>
                  <a:pt x="9905" y="9144"/>
                </a:lnTo>
                <a:lnTo>
                  <a:pt x="5333" y="9144"/>
                </a:lnTo>
                <a:lnTo>
                  <a:pt x="5333" y="205740"/>
                </a:lnTo>
                <a:lnTo>
                  <a:pt x="9905" y="205740"/>
                </a:lnTo>
                <a:close/>
              </a:path>
              <a:path w="543559" h="215900">
                <a:moveTo>
                  <a:pt x="538733" y="205740"/>
                </a:moveTo>
                <a:lnTo>
                  <a:pt x="5333" y="205740"/>
                </a:lnTo>
                <a:lnTo>
                  <a:pt x="9905" y="211074"/>
                </a:lnTo>
                <a:lnTo>
                  <a:pt x="9905" y="215646"/>
                </a:lnTo>
                <a:lnTo>
                  <a:pt x="533400" y="215646"/>
                </a:lnTo>
                <a:lnTo>
                  <a:pt x="533400" y="211074"/>
                </a:lnTo>
                <a:lnTo>
                  <a:pt x="538733" y="205740"/>
                </a:lnTo>
                <a:close/>
              </a:path>
              <a:path w="543559" h="215900">
                <a:moveTo>
                  <a:pt x="9905" y="215646"/>
                </a:moveTo>
                <a:lnTo>
                  <a:pt x="9905" y="211074"/>
                </a:lnTo>
                <a:lnTo>
                  <a:pt x="5333" y="205740"/>
                </a:lnTo>
                <a:lnTo>
                  <a:pt x="5333" y="215646"/>
                </a:lnTo>
                <a:lnTo>
                  <a:pt x="9905" y="215646"/>
                </a:lnTo>
                <a:close/>
              </a:path>
              <a:path w="543559" h="215900">
                <a:moveTo>
                  <a:pt x="538733" y="9144"/>
                </a:moveTo>
                <a:lnTo>
                  <a:pt x="533400" y="4572"/>
                </a:lnTo>
                <a:lnTo>
                  <a:pt x="533400" y="9144"/>
                </a:lnTo>
                <a:lnTo>
                  <a:pt x="538733" y="9144"/>
                </a:lnTo>
                <a:close/>
              </a:path>
              <a:path w="543559" h="215900">
                <a:moveTo>
                  <a:pt x="538733" y="205740"/>
                </a:moveTo>
                <a:lnTo>
                  <a:pt x="538733" y="9144"/>
                </a:lnTo>
                <a:lnTo>
                  <a:pt x="533400" y="9144"/>
                </a:lnTo>
                <a:lnTo>
                  <a:pt x="533400" y="205740"/>
                </a:lnTo>
                <a:lnTo>
                  <a:pt x="538733" y="205740"/>
                </a:lnTo>
                <a:close/>
              </a:path>
              <a:path w="543559" h="215900">
                <a:moveTo>
                  <a:pt x="538733" y="215646"/>
                </a:moveTo>
                <a:lnTo>
                  <a:pt x="538733" y="205740"/>
                </a:lnTo>
                <a:lnTo>
                  <a:pt x="533400" y="211074"/>
                </a:lnTo>
                <a:lnTo>
                  <a:pt x="533400" y="215646"/>
                </a:lnTo>
                <a:lnTo>
                  <a:pt x="538733" y="215646"/>
                </a:lnTo>
                <a:close/>
              </a:path>
            </a:pathLst>
          </a:custGeom>
          <a:solidFill>
            <a:srgbClr val="000000"/>
          </a:solidFill>
        </p:spPr>
        <p:txBody>
          <a:bodyPr wrap="square" lIns="0" tIns="0" rIns="0" bIns="0" rtlCol="0"/>
          <a:lstStyle/>
          <a:p>
            <a:endParaRPr/>
          </a:p>
        </p:txBody>
      </p:sp>
      <p:sp>
        <p:nvSpPr>
          <p:cNvPr id="21" name="object 21"/>
          <p:cNvSpPr/>
          <p:nvPr/>
        </p:nvSpPr>
        <p:spPr>
          <a:xfrm>
            <a:off x="6847331" y="2354579"/>
            <a:ext cx="326898" cy="166877"/>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6833616" y="1997964"/>
            <a:ext cx="432434" cy="617855"/>
          </a:xfrm>
          <a:custGeom>
            <a:avLst/>
            <a:gdLst/>
            <a:ahLst/>
            <a:cxnLst/>
            <a:rect l="l" t="t" r="r" b="b"/>
            <a:pathLst>
              <a:path w="432434" h="617855">
                <a:moveTo>
                  <a:pt x="10196" y="447194"/>
                </a:moveTo>
                <a:lnTo>
                  <a:pt x="10196" y="56179"/>
                </a:lnTo>
                <a:lnTo>
                  <a:pt x="10184" y="96893"/>
                </a:lnTo>
                <a:lnTo>
                  <a:pt x="8404" y="141065"/>
                </a:lnTo>
                <a:lnTo>
                  <a:pt x="2817" y="236231"/>
                </a:lnTo>
                <a:lnTo>
                  <a:pt x="652" y="285450"/>
                </a:lnTo>
                <a:lnTo>
                  <a:pt x="0" y="334575"/>
                </a:lnTo>
                <a:lnTo>
                  <a:pt x="1679" y="382717"/>
                </a:lnTo>
                <a:lnTo>
                  <a:pt x="6512" y="428990"/>
                </a:lnTo>
                <a:lnTo>
                  <a:pt x="10196" y="447194"/>
                </a:lnTo>
                <a:close/>
              </a:path>
              <a:path w="432434" h="617855">
                <a:moveTo>
                  <a:pt x="48506" y="89586"/>
                </a:moveTo>
                <a:lnTo>
                  <a:pt x="48502" y="48984"/>
                </a:lnTo>
                <a:lnTo>
                  <a:pt x="45720" y="14478"/>
                </a:lnTo>
                <a:lnTo>
                  <a:pt x="44196" y="6858"/>
                </a:lnTo>
                <a:lnTo>
                  <a:pt x="41910" y="0"/>
                </a:lnTo>
                <a:lnTo>
                  <a:pt x="5334" y="9144"/>
                </a:lnTo>
                <a:lnTo>
                  <a:pt x="6858" y="13716"/>
                </a:lnTo>
                <a:lnTo>
                  <a:pt x="7620" y="19812"/>
                </a:lnTo>
                <a:lnTo>
                  <a:pt x="10196" y="56179"/>
                </a:lnTo>
                <a:lnTo>
                  <a:pt x="10196" y="447194"/>
                </a:lnTo>
                <a:lnTo>
                  <a:pt x="15318" y="472504"/>
                </a:lnTo>
                <a:lnTo>
                  <a:pt x="28918" y="512372"/>
                </a:lnTo>
                <a:lnTo>
                  <a:pt x="38356" y="529728"/>
                </a:lnTo>
                <a:lnTo>
                  <a:pt x="38356" y="338457"/>
                </a:lnTo>
                <a:lnTo>
                  <a:pt x="38739" y="286907"/>
                </a:lnTo>
                <a:lnTo>
                  <a:pt x="40847" y="234943"/>
                </a:lnTo>
                <a:lnTo>
                  <a:pt x="46630" y="134980"/>
                </a:lnTo>
                <a:lnTo>
                  <a:pt x="48506" y="89586"/>
                </a:lnTo>
                <a:close/>
              </a:path>
              <a:path w="432434" h="617855">
                <a:moveTo>
                  <a:pt x="357418" y="497249"/>
                </a:moveTo>
                <a:lnTo>
                  <a:pt x="357418" y="244984"/>
                </a:lnTo>
                <a:lnTo>
                  <a:pt x="356594" y="286290"/>
                </a:lnTo>
                <a:lnTo>
                  <a:pt x="354352" y="328791"/>
                </a:lnTo>
                <a:lnTo>
                  <a:pt x="350168" y="371367"/>
                </a:lnTo>
                <a:lnTo>
                  <a:pt x="343517" y="412897"/>
                </a:lnTo>
                <a:lnTo>
                  <a:pt x="333877" y="452261"/>
                </a:lnTo>
                <a:lnTo>
                  <a:pt x="320723" y="488338"/>
                </a:lnTo>
                <a:lnTo>
                  <a:pt x="281780" y="546150"/>
                </a:lnTo>
                <a:lnTo>
                  <a:pt x="222497" y="577366"/>
                </a:lnTo>
                <a:lnTo>
                  <a:pt x="183918" y="580200"/>
                </a:lnTo>
                <a:lnTo>
                  <a:pt x="138684" y="573024"/>
                </a:lnTo>
                <a:lnTo>
                  <a:pt x="93811" y="544436"/>
                </a:lnTo>
                <a:lnTo>
                  <a:pt x="56552" y="477606"/>
                </a:lnTo>
                <a:lnTo>
                  <a:pt x="46361" y="435108"/>
                </a:lnTo>
                <a:lnTo>
                  <a:pt x="40596" y="388291"/>
                </a:lnTo>
                <a:lnTo>
                  <a:pt x="38356" y="338457"/>
                </a:lnTo>
                <a:lnTo>
                  <a:pt x="38356" y="529728"/>
                </a:lnTo>
                <a:lnTo>
                  <a:pt x="73778" y="577617"/>
                </a:lnTo>
                <a:lnTo>
                  <a:pt x="106680" y="601218"/>
                </a:lnTo>
                <a:lnTo>
                  <a:pt x="177300" y="617699"/>
                </a:lnTo>
                <a:lnTo>
                  <a:pt x="220248" y="616571"/>
                </a:lnTo>
                <a:lnTo>
                  <a:pt x="257286" y="607119"/>
                </a:lnTo>
                <a:lnTo>
                  <a:pt x="315335" y="566866"/>
                </a:lnTo>
                <a:lnTo>
                  <a:pt x="354852" y="504182"/>
                </a:lnTo>
                <a:lnTo>
                  <a:pt x="357418" y="497249"/>
                </a:lnTo>
                <a:close/>
              </a:path>
              <a:path w="432434" h="617855">
                <a:moveTo>
                  <a:pt x="432054" y="121158"/>
                </a:moveTo>
                <a:lnTo>
                  <a:pt x="381000" y="4572"/>
                </a:lnTo>
                <a:lnTo>
                  <a:pt x="317754" y="115062"/>
                </a:lnTo>
                <a:lnTo>
                  <a:pt x="356401" y="117123"/>
                </a:lnTo>
                <a:lnTo>
                  <a:pt x="357378" y="99060"/>
                </a:lnTo>
                <a:lnTo>
                  <a:pt x="394716" y="99822"/>
                </a:lnTo>
                <a:lnTo>
                  <a:pt x="394716" y="119166"/>
                </a:lnTo>
                <a:lnTo>
                  <a:pt x="432054" y="121158"/>
                </a:lnTo>
                <a:close/>
              </a:path>
              <a:path w="432434" h="617855">
                <a:moveTo>
                  <a:pt x="394207" y="119139"/>
                </a:moveTo>
                <a:lnTo>
                  <a:pt x="356401" y="117123"/>
                </a:lnTo>
                <a:lnTo>
                  <a:pt x="355854" y="127254"/>
                </a:lnTo>
                <a:lnTo>
                  <a:pt x="356616" y="139446"/>
                </a:lnTo>
                <a:lnTo>
                  <a:pt x="357418" y="497249"/>
                </a:lnTo>
                <a:lnTo>
                  <a:pt x="379246" y="426308"/>
                </a:lnTo>
                <a:lnTo>
                  <a:pt x="386836" y="383938"/>
                </a:lnTo>
                <a:lnTo>
                  <a:pt x="391923" y="340487"/>
                </a:lnTo>
                <a:lnTo>
                  <a:pt x="393954" y="311055"/>
                </a:lnTo>
                <a:lnTo>
                  <a:pt x="393954" y="128778"/>
                </a:lnTo>
                <a:lnTo>
                  <a:pt x="394207" y="119139"/>
                </a:lnTo>
                <a:close/>
              </a:path>
              <a:path w="432434" h="617855">
                <a:moveTo>
                  <a:pt x="394716" y="99822"/>
                </a:moveTo>
                <a:lnTo>
                  <a:pt x="357378" y="99060"/>
                </a:lnTo>
                <a:lnTo>
                  <a:pt x="356401" y="117123"/>
                </a:lnTo>
                <a:lnTo>
                  <a:pt x="394207" y="119139"/>
                </a:lnTo>
                <a:lnTo>
                  <a:pt x="394716" y="99822"/>
                </a:lnTo>
                <a:close/>
              </a:path>
              <a:path w="432434" h="617855">
                <a:moveTo>
                  <a:pt x="396424" y="212693"/>
                </a:moveTo>
                <a:lnTo>
                  <a:pt x="395756" y="173966"/>
                </a:lnTo>
                <a:lnTo>
                  <a:pt x="394716" y="138684"/>
                </a:lnTo>
                <a:lnTo>
                  <a:pt x="393954" y="128778"/>
                </a:lnTo>
                <a:lnTo>
                  <a:pt x="393954" y="311055"/>
                </a:lnTo>
                <a:lnTo>
                  <a:pt x="394933" y="296859"/>
                </a:lnTo>
                <a:lnTo>
                  <a:pt x="396291" y="253959"/>
                </a:lnTo>
                <a:lnTo>
                  <a:pt x="396424" y="212693"/>
                </a:lnTo>
                <a:close/>
              </a:path>
              <a:path w="432434" h="617855">
                <a:moveTo>
                  <a:pt x="394716" y="119166"/>
                </a:moveTo>
                <a:lnTo>
                  <a:pt x="394716" y="99822"/>
                </a:lnTo>
                <a:lnTo>
                  <a:pt x="394207" y="119139"/>
                </a:lnTo>
                <a:lnTo>
                  <a:pt x="394716" y="119166"/>
                </a:lnTo>
                <a:close/>
              </a:path>
            </a:pathLst>
          </a:custGeom>
          <a:solidFill>
            <a:srgbClr val="CC0000"/>
          </a:solidFill>
        </p:spPr>
        <p:txBody>
          <a:bodyPr wrap="square" lIns="0" tIns="0" rIns="0" bIns="0" rtlCol="0"/>
          <a:lstStyle/>
          <a:p>
            <a:endParaRPr/>
          </a:p>
        </p:txBody>
      </p:sp>
      <p:sp>
        <p:nvSpPr>
          <p:cNvPr id="23" name="object 23"/>
          <p:cNvSpPr/>
          <p:nvPr/>
        </p:nvSpPr>
        <p:spPr>
          <a:xfrm>
            <a:off x="5947409" y="5285232"/>
            <a:ext cx="279400" cy="209550"/>
          </a:xfrm>
          <a:custGeom>
            <a:avLst/>
            <a:gdLst/>
            <a:ahLst/>
            <a:cxnLst/>
            <a:rect l="l" t="t" r="r" b="b"/>
            <a:pathLst>
              <a:path w="279400" h="209550">
                <a:moveTo>
                  <a:pt x="0" y="209550"/>
                </a:moveTo>
                <a:lnTo>
                  <a:pt x="278891" y="209550"/>
                </a:lnTo>
                <a:lnTo>
                  <a:pt x="278891" y="0"/>
                </a:lnTo>
                <a:lnTo>
                  <a:pt x="0" y="0"/>
                </a:lnTo>
                <a:lnTo>
                  <a:pt x="0" y="209550"/>
                </a:lnTo>
                <a:close/>
              </a:path>
            </a:pathLst>
          </a:custGeom>
          <a:solidFill>
            <a:srgbClr val="00CC99"/>
          </a:solidFill>
        </p:spPr>
        <p:txBody>
          <a:bodyPr wrap="square" lIns="0" tIns="0" rIns="0" bIns="0" rtlCol="0"/>
          <a:lstStyle/>
          <a:p>
            <a:endParaRPr/>
          </a:p>
        </p:txBody>
      </p:sp>
      <p:sp>
        <p:nvSpPr>
          <p:cNvPr id="24" name="object 24"/>
          <p:cNvSpPr/>
          <p:nvPr/>
        </p:nvSpPr>
        <p:spPr>
          <a:xfrm>
            <a:off x="6064758" y="5289803"/>
            <a:ext cx="0" cy="207010"/>
          </a:xfrm>
          <a:custGeom>
            <a:avLst/>
            <a:gdLst/>
            <a:ahLst/>
            <a:cxnLst/>
            <a:rect l="l" t="t" r="r" b="b"/>
            <a:pathLst>
              <a:path h="207010">
                <a:moveTo>
                  <a:pt x="0" y="0"/>
                </a:moveTo>
                <a:lnTo>
                  <a:pt x="0" y="206501"/>
                </a:lnTo>
              </a:path>
            </a:pathLst>
          </a:custGeom>
          <a:ln w="28955">
            <a:solidFill>
              <a:srgbClr val="FFFFFF"/>
            </a:solidFill>
          </a:ln>
        </p:spPr>
        <p:txBody>
          <a:bodyPr wrap="square" lIns="0" tIns="0" rIns="0" bIns="0" rtlCol="0"/>
          <a:lstStyle/>
          <a:p>
            <a:endParaRPr/>
          </a:p>
        </p:txBody>
      </p:sp>
      <p:sp>
        <p:nvSpPr>
          <p:cNvPr id="25" name="object 25"/>
          <p:cNvSpPr/>
          <p:nvPr/>
        </p:nvSpPr>
        <p:spPr>
          <a:xfrm>
            <a:off x="6214490" y="5436108"/>
            <a:ext cx="0" cy="60325"/>
          </a:xfrm>
          <a:custGeom>
            <a:avLst/>
            <a:gdLst/>
            <a:ahLst/>
            <a:cxnLst/>
            <a:rect l="l" t="t" r="r" b="b"/>
            <a:pathLst>
              <a:path h="60325">
                <a:moveTo>
                  <a:pt x="0" y="0"/>
                </a:moveTo>
                <a:lnTo>
                  <a:pt x="0" y="60198"/>
                </a:lnTo>
              </a:path>
            </a:pathLst>
          </a:custGeom>
          <a:ln w="23622">
            <a:solidFill>
              <a:srgbClr val="FFFFFF"/>
            </a:solidFill>
          </a:ln>
        </p:spPr>
        <p:txBody>
          <a:bodyPr wrap="square" lIns="0" tIns="0" rIns="0" bIns="0" rtlCol="0"/>
          <a:lstStyle/>
          <a:p>
            <a:endParaRPr/>
          </a:p>
        </p:txBody>
      </p:sp>
      <p:sp>
        <p:nvSpPr>
          <p:cNvPr id="26" name="object 26"/>
          <p:cNvSpPr/>
          <p:nvPr/>
        </p:nvSpPr>
        <p:spPr>
          <a:xfrm>
            <a:off x="6066282" y="4350258"/>
            <a:ext cx="165735" cy="209550"/>
          </a:xfrm>
          <a:custGeom>
            <a:avLst/>
            <a:gdLst/>
            <a:ahLst/>
            <a:cxnLst/>
            <a:rect l="l" t="t" r="r" b="b"/>
            <a:pathLst>
              <a:path w="165735" h="209550">
                <a:moveTo>
                  <a:pt x="0" y="209550"/>
                </a:moveTo>
                <a:lnTo>
                  <a:pt x="165353" y="209550"/>
                </a:lnTo>
                <a:lnTo>
                  <a:pt x="165353" y="0"/>
                </a:lnTo>
                <a:lnTo>
                  <a:pt x="0" y="0"/>
                </a:lnTo>
                <a:lnTo>
                  <a:pt x="0" y="209550"/>
                </a:lnTo>
                <a:close/>
              </a:path>
            </a:pathLst>
          </a:custGeom>
          <a:solidFill>
            <a:srgbClr val="00CC99"/>
          </a:solidFill>
        </p:spPr>
        <p:txBody>
          <a:bodyPr wrap="square" lIns="0" tIns="0" rIns="0" bIns="0" rtlCol="0"/>
          <a:lstStyle/>
          <a:p>
            <a:endParaRPr/>
          </a:p>
        </p:txBody>
      </p:sp>
      <p:sp>
        <p:nvSpPr>
          <p:cNvPr id="27" name="object 27"/>
          <p:cNvSpPr/>
          <p:nvPr/>
        </p:nvSpPr>
        <p:spPr>
          <a:xfrm>
            <a:off x="6223253" y="3308603"/>
            <a:ext cx="721360" cy="209550"/>
          </a:xfrm>
          <a:custGeom>
            <a:avLst/>
            <a:gdLst/>
            <a:ahLst/>
            <a:cxnLst/>
            <a:rect l="l" t="t" r="r" b="b"/>
            <a:pathLst>
              <a:path w="721359" h="209550">
                <a:moveTo>
                  <a:pt x="0" y="0"/>
                </a:moveTo>
                <a:lnTo>
                  <a:pt x="0" y="209550"/>
                </a:lnTo>
                <a:lnTo>
                  <a:pt x="720851" y="209550"/>
                </a:lnTo>
                <a:lnTo>
                  <a:pt x="720851" y="0"/>
                </a:lnTo>
                <a:lnTo>
                  <a:pt x="0" y="0"/>
                </a:lnTo>
                <a:close/>
              </a:path>
            </a:pathLst>
          </a:custGeom>
          <a:solidFill>
            <a:srgbClr val="FFFF00"/>
          </a:solidFill>
        </p:spPr>
        <p:txBody>
          <a:bodyPr wrap="square" lIns="0" tIns="0" rIns="0" bIns="0" rtlCol="0"/>
          <a:lstStyle/>
          <a:p>
            <a:endParaRPr/>
          </a:p>
        </p:txBody>
      </p:sp>
      <p:sp>
        <p:nvSpPr>
          <p:cNvPr id="28" name="object 28"/>
          <p:cNvSpPr/>
          <p:nvPr/>
        </p:nvSpPr>
        <p:spPr>
          <a:xfrm>
            <a:off x="6231635" y="4350258"/>
            <a:ext cx="720090" cy="209550"/>
          </a:xfrm>
          <a:custGeom>
            <a:avLst/>
            <a:gdLst/>
            <a:ahLst/>
            <a:cxnLst/>
            <a:rect l="l" t="t" r="r" b="b"/>
            <a:pathLst>
              <a:path w="720090" h="209550">
                <a:moveTo>
                  <a:pt x="0" y="0"/>
                </a:moveTo>
                <a:lnTo>
                  <a:pt x="0" y="209550"/>
                </a:lnTo>
                <a:lnTo>
                  <a:pt x="720089" y="209550"/>
                </a:lnTo>
                <a:lnTo>
                  <a:pt x="720089" y="0"/>
                </a:lnTo>
                <a:lnTo>
                  <a:pt x="0" y="0"/>
                </a:lnTo>
                <a:close/>
              </a:path>
            </a:pathLst>
          </a:custGeom>
          <a:solidFill>
            <a:srgbClr val="FFFF00"/>
          </a:solidFill>
        </p:spPr>
        <p:txBody>
          <a:bodyPr wrap="square" lIns="0" tIns="0" rIns="0" bIns="0" rtlCol="0"/>
          <a:lstStyle/>
          <a:p>
            <a:endParaRPr/>
          </a:p>
        </p:txBody>
      </p:sp>
      <p:sp>
        <p:nvSpPr>
          <p:cNvPr id="29" name="object 29"/>
          <p:cNvSpPr/>
          <p:nvPr/>
        </p:nvSpPr>
        <p:spPr>
          <a:xfrm>
            <a:off x="6226302" y="5282184"/>
            <a:ext cx="734060" cy="212725"/>
          </a:xfrm>
          <a:custGeom>
            <a:avLst/>
            <a:gdLst/>
            <a:ahLst/>
            <a:cxnLst/>
            <a:rect l="l" t="t" r="r" b="b"/>
            <a:pathLst>
              <a:path w="734059" h="212725">
                <a:moveTo>
                  <a:pt x="0" y="0"/>
                </a:moveTo>
                <a:lnTo>
                  <a:pt x="0" y="212598"/>
                </a:lnTo>
                <a:lnTo>
                  <a:pt x="733805" y="212598"/>
                </a:lnTo>
                <a:lnTo>
                  <a:pt x="733805" y="0"/>
                </a:lnTo>
                <a:lnTo>
                  <a:pt x="0" y="0"/>
                </a:lnTo>
                <a:close/>
              </a:path>
            </a:pathLst>
          </a:custGeom>
          <a:solidFill>
            <a:srgbClr val="FFFF00"/>
          </a:solidFill>
        </p:spPr>
        <p:txBody>
          <a:bodyPr wrap="square" lIns="0" tIns="0" rIns="0" bIns="0" rtlCol="0"/>
          <a:lstStyle/>
          <a:p>
            <a:endParaRPr/>
          </a:p>
        </p:txBody>
      </p:sp>
      <p:sp>
        <p:nvSpPr>
          <p:cNvPr id="30" name="object 30"/>
          <p:cNvSpPr txBox="1"/>
          <p:nvPr/>
        </p:nvSpPr>
        <p:spPr>
          <a:xfrm>
            <a:off x="8584183" y="2146045"/>
            <a:ext cx="891540"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Tahoma"/>
                <a:cs typeface="Tahoma"/>
              </a:rPr>
              <a:t>ứng dụng</a:t>
            </a:r>
            <a:endParaRPr sz="1600">
              <a:latin typeface="Tahoma"/>
              <a:cs typeface="Tahoma"/>
            </a:endParaRPr>
          </a:p>
        </p:txBody>
      </p:sp>
      <p:sp>
        <p:nvSpPr>
          <p:cNvPr id="31" name="object 31"/>
          <p:cNvSpPr txBox="1"/>
          <p:nvPr/>
        </p:nvSpPr>
        <p:spPr>
          <a:xfrm>
            <a:off x="8553706" y="2512568"/>
            <a:ext cx="283210"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Tahoma"/>
                <a:cs typeface="Tahoma"/>
              </a:rPr>
              <a:t>OS</a:t>
            </a:r>
            <a:endParaRPr sz="1600">
              <a:latin typeface="Tahoma"/>
              <a:cs typeface="Tahoma"/>
            </a:endParaRPr>
          </a:p>
        </p:txBody>
      </p:sp>
      <p:sp>
        <p:nvSpPr>
          <p:cNvPr id="32" name="object 32"/>
          <p:cNvSpPr/>
          <p:nvPr/>
        </p:nvSpPr>
        <p:spPr>
          <a:xfrm>
            <a:off x="8576309" y="2452877"/>
            <a:ext cx="76200" cy="19050"/>
          </a:xfrm>
          <a:custGeom>
            <a:avLst/>
            <a:gdLst/>
            <a:ahLst/>
            <a:cxnLst/>
            <a:rect l="l" t="t" r="r" b="b"/>
            <a:pathLst>
              <a:path w="76200" h="19050">
                <a:moveTo>
                  <a:pt x="76200" y="19049"/>
                </a:moveTo>
                <a:lnTo>
                  <a:pt x="76200" y="0"/>
                </a:lnTo>
                <a:lnTo>
                  <a:pt x="0" y="0"/>
                </a:lnTo>
                <a:lnTo>
                  <a:pt x="0" y="19049"/>
                </a:lnTo>
                <a:lnTo>
                  <a:pt x="76200" y="19049"/>
                </a:lnTo>
                <a:close/>
              </a:path>
            </a:pathLst>
          </a:custGeom>
          <a:solidFill>
            <a:srgbClr val="000000"/>
          </a:solidFill>
        </p:spPr>
        <p:txBody>
          <a:bodyPr wrap="square" lIns="0" tIns="0" rIns="0" bIns="0" rtlCol="0"/>
          <a:lstStyle/>
          <a:p>
            <a:endParaRPr/>
          </a:p>
        </p:txBody>
      </p:sp>
      <p:sp>
        <p:nvSpPr>
          <p:cNvPr id="33" name="object 33"/>
          <p:cNvSpPr/>
          <p:nvPr/>
        </p:nvSpPr>
        <p:spPr>
          <a:xfrm>
            <a:off x="8709659" y="2452877"/>
            <a:ext cx="76200" cy="19050"/>
          </a:xfrm>
          <a:custGeom>
            <a:avLst/>
            <a:gdLst/>
            <a:ahLst/>
            <a:cxnLst/>
            <a:rect l="l" t="t" r="r" b="b"/>
            <a:pathLst>
              <a:path w="76200" h="19050">
                <a:moveTo>
                  <a:pt x="76200" y="19049"/>
                </a:moveTo>
                <a:lnTo>
                  <a:pt x="76200" y="0"/>
                </a:lnTo>
                <a:lnTo>
                  <a:pt x="0" y="0"/>
                </a:lnTo>
                <a:lnTo>
                  <a:pt x="0" y="19049"/>
                </a:lnTo>
                <a:lnTo>
                  <a:pt x="76200" y="19049"/>
                </a:lnTo>
                <a:close/>
              </a:path>
            </a:pathLst>
          </a:custGeom>
          <a:solidFill>
            <a:srgbClr val="000000"/>
          </a:solidFill>
        </p:spPr>
        <p:txBody>
          <a:bodyPr wrap="square" lIns="0" tIns="0" rIns="0" bIns="0" rtlCol="0"/>
          <a:lstStyle/>
          <a:p>
            <a:endParaRPr/>
          </a:p>
        </p:txBody>
      </p:sp>
      <p:sp>
        <p:nvSpPr>
          <p:cNvPr id="34" name="object 34"/>
          <p:cNvSpPr/>
          <p:nvPr/>
        </p:nvSpPr>
        <p:spPr>
          <a:xfrm>
            <a:off x="8843009" y="2452877"/>
            <a:ext cx="76200" cy="19050"/>
          </a:xfrm>
          <a:custGeom>
            <a:avLst/>
            <a:gdLst/>
            <a:ahLst/>
            <a:cxnLst/>
            <a:rect l="l" t="t" r="r" b="b"/>
            <a:pathLst>
              <a:path w="76200" h="19050">
                <a:moveTo>
                  <a:pt x="76200" y="19050"/>
                </a:moveTo>
                <a:lnTo>
                  <a:pt x="76200" y="0"/>
                </a:lnTo>
                <a:lnTo>
                  <a:pt x="0" y="0"/>
                </a:lnTo>
                <a:lnTo>
                  <a:pt x="0" y="19050"/>
                </a:lnTo>
                <a:lnTo>
                  <a:pt x="76200" y="19050"/>
                </a:lnTo>
                <a:close/>
              </a:path>
            </a:pathLst>
          </a:custGeom>
          <a:solidFill>
            <a:srgbClr val="000000"/>
          </a:solidFill>
        </p:spPr>
        <p:txBody>
          <a:bodyPr wrap="square" lIns="0" tIns="0" rIns="0" bIns="0" rtlCol="0"/>
          <a:lstStyle/>
          <a:p>
            <a:endParaRPr/>
          </a:p>
        </p:txBody>
      </p:sp>
      <p:sp>
        <p:nvSpPr>
          <p:cNvPr id="35" name="object 35"/>
          <p:cNvSpPr/>
          <p:nvPr/>
        </p:nvSpPr>
        <p:spPr>
          <a:xfrm>
            <a:off x="8976359" y="2452877"/>
            <a:ext cx="76200" cy="19050"/>
          </a:xfrm>
          <a:custGeom>
            <a:avLst/>
            <a:gdLst/>
            <a:ahLst/>
            <a:cxnLst/>
            <a:rect l="l" t="t" r="r" b="b"/>
            <a:pathLst>
              <a:path w="76200" h="19050">
                <a:moveTo>
                  <a:pt x="76200" y="19050"/>
                </a:moveTo>
                <a:lnTo>
                  <a:pt x="76200" y="0"/>
                </a:lnTo>
                <a:lnTo>
                  <a:pt x="0" y="0"/>
                </a:lnTo>
                <a:lnTo>
                  <a:pt x="0" y="19050"/>
                </a:lnTo>
                <a:lnTo>
                  <a:pt x="76200" y="19050"/>
                </a:lnTo>
                <a:close/>
              </a:path>
            </a:pathLst>
          </a:custGeom>
          <a:solidFill>
            <a:srgbClr val="000000"/>
          </a:solidFill>
        </p:spPr>
        <p:txBody>
          <a:bodyPr wrap="square" lIns="0" tIns="0" rIns="0" bIns="0" rtlCol="0"/>
          <a:lstStyle/>
          <a:p>
            <a:endParaRPr/>
          </a:p>
        </p:txBody>
      </p:sp>
      <p:sp>
        <p:nvSpPr>
          <p:cNvPr id="36" name="object 36"/>
          <p:cNvSpPr/>
          <p:nvPr/>
        </p:nvSpPr>
        <p:spPr>
          <a:xfrm>
            <a:off x="9109709" y="2452877"/>
            <a:ext cx="76200" cy="19050"/>
          </a:xfrm>
          <a:custGeom>
            <a:avLst/>
            <a:gdLst/>
            <a:ahLst/>
            <a:cxnLst/>
            <a:rect l="l" t="t" r="r" b="b"/>
            <a:pathLst>
              <a:path w="76200" h="19050">
                <a:moveTo>
                  <a:pt x="76200" y="19050"/>
                </a:moveTo>
                <a:lnTo>
                  <a:pt x="76200" y="0"/>
                </a:lnTo>
                <a:lnTo>
                  <a:pt x="0" y="0"/>
                </a:lnTo>
                <a:lnTo>
                  <a:pt x="0" y="19050"/>
                </a:lnTo>
                <a:lnTo>
                  <a:pt x="76200" y="19050"/>
                </a:lnTo>
                <a:close/>
              </a:path>
            </a:pathLst>
          </a:custGeom>
          <a:solidFill>
            <a:srgbClr val="000000"/>
          </a:solidFill>
        </p:spPr>
        <p:txBody>
          <a:bodyPr wrap="square" lIns="0" tIns="0" rIns="0" bIns="0" rtlCol="0"/>
          <a:lstStyle/>
          <a:p>
            <a:endParaRPr/>
          </a:p>
        </p:txBody>
      </p:sp>
      <p:sp>
        <p:nvSpPr>
          <p:cNvPr id="37" name="object 37"/>
          <p:cNvSpPr/>
          <p:nvPr/>
        </p:nvSpPr>
        <p:spPr>
          <a:xfrm>
            <a:off x="9243059" y="2452877"/>
            <a:ext cx="76200" cy="19050"/>
          </a:xfrm>
          <a:custGeom>
            <a:avLst/>
            <a:gdLst/>
            <a:ahLst/>
            <a:cxnLst/>
            <a:rect l="l" t="t" r="r" b="b"/>
            <a:pathLst>
              <a:path w="76200" h="19050">
                <a:moveTo>
                  <a:pt x="76200" y="19050"/>
                </a:moveTo>
                <a:lnTo>
                  <a:pt x="76200" y="0"/>
                </a:lnTo>
                <a:lnTo>
                  <a:pt x="0" y="0"/>
                </a:lnTo>
                <a:lnTo>
                  <a:pt x="0" y="19050"/>
                </a:lnTo>
                <a:lnTo>
                  <a:pt x="76200" y="19050"/>
                </a:lnTo>
                <a:close/>
              </a:path>
            </a:pathLst>
          </a:custGeom>
          <a:solidFill>
            <a:srgbClr val="000000"/>
          </a:solidFill>
        </p:spPr>
        <p:txBody>
          <a:bodyPr wrap="square" lIns="0" tIns="0" rIns="0" bIns="0" rtlCol="0"/>
          <a:lstStyle/>
          <a:p>
            <a:endParaRPr/>
          </a:p>
        </p:txBody>
      </p:sp>
      <p:sp>
        <p:nvSpPr>
          <p:cNvPr id="38" name="object 38"/>
          <p:cNvSpPr/>
          <p:nvPr/>
        </p:nvSpPr>
        <p:spPr>
          <a:xfrm>
            <a:off x="9376409" y="2452877"/>
            <a:ext cx="69850" cy="19050"/>
          </a:xfrm>
          <a:custGeom>
            <a:avLst/>
            <a:gdLst/>
            <a:ahLst/>
            <a:cxnLst/>
            <a:rect l="l" t="t" r="r" b="b"/>
            <a:pathLst>
              <a:path w="69850" h="19050">
                <a:moveTo>
                  <a:pt x="69342" y="19050"/>
                </a:moveTo>
                <a:lnTo>
                  <a:pt x="69342" y="0"/>
                </a:lnTo>
                <a:lnTo>
                  <a:pt x="0" y="0"/>
                </a:lnTo>
                <a:lnTo>
                  <a:pt x="0" y="19050"/>
                </a:lnTo>
                <a:lnTo>
                  <a:pt x="69342" y="19050"/>
                </a:lnTo>
                <a:close/>
              </a:path>
            </a:pathLst>
          </a:custGeom>
          <a:solidFill>
            <a:srgbClr val="000000"/>
          </a:solidFill>
        </p:spPr>
        <p:txBody>
          <a:bodyPr wrap="square" lIns="0" tIns="0" rIns="0" bIns="0" rtlCol="0"/>
          <a:lstStyle/>
          <a:p>
            <a:endParaRPr/>
          </a:p>
        </p:txBody>
      </p:sp>
      <p:sp>
        <p:nvSpPr>
          <p:cNvPr id="39" name="object 39"/>
          <p:cNvSpPr txBox="1"/>
          <p:nvPr/>
        </p:nvSpPr>
        <p:spPr>
          <a:xfrm>
            <a:off x="3598443" y="1803145"/>
            <a:ext cx="1986280" cy="751488"/>
          </a:xfrm>
          <a:prstGeom prst="rect">
            <a:avLst/>
          </a:prstGeom>
        </p:spPr>
        <p:txBody>
          <a:bodyPr vert="horz" wrap="square" lIns="0" tIns="12700" rIns="0" bIns="0" rtlCol="0">
            <a:spAutoFit/>
          </a:bodyPr>
          <a:lstStyle/>
          <a:p>
            <a:pPr marR="5080">
              <a:lnSpc>
                <a:spcPct val="100000"/>
              </a:lnSpc>
              <a:spcBef>
                <a:spcPts val="100"/>
              </a:spcBef>
            </a:pPr>
            <a:r>
              <a:rPr sz="1600" dirty="0">
                <a:latin typeface="Tahoma"/>
                <a:cs typeface="Tahoma"/>
              </a:rPr>
              <a:t>ứng dụng có thể  </a:t>
            </a:r>
            <a:r>
              <a:rPr sz="1600" dirty="0" err="1">
                <a:latin typeface="Tahoma"/>
                <a:cs typeface="Tahoma"/>
              </a:rPr>
              <a:t>lấy</a:t>
            </a:r>
            <a:r>
              <a:rPr sz="1600" dirty="0">
                <a:latin typeface="Tahoma"/>
                <a:cs typeface="Tahoma"/>
              </a:rPr>
              <a:t>  </a:t>
            </a:r>
            <a:r>
              <a:rPr sz="1600" dirty="0" err="1">
                <a:latin typeface="Tahoma"/>
                <a:cs typeface="Tahoma"/>
              </a:rPr>
              <a:t>dữ</a:t>
            </a:r>
            <a:r>
              <a:rPr lang="en-US" sz="1600" dirty="0">
                <a:latin typeface="Tahoma"/>
                <a:cs typeface="Tahoma"/>
              </a:rPr>
              <a:t> </a:t>
            </a:r>
            <a:r>
              <a:rPr sz="1600" dirty="0" err="1">
                <a:latin typeface="Tahoma"/>
                <a:cs typeface="Tahoma"/>
              </a:rPr>
              <a:t>liệu</a:t>
            </a:r>
            <a:r>
              <a:rPr sz="1600" dirty="0">
                <a:latin typeface="Tahoma"/>
                <a:cs typeface="Tahoma"/>
              </a:rPr>
              <a:t> </a:t>
            </a:r>
            <a:r>
              <a:rPr sz="1600" dirty="0" err="1">
                <a:latin typeface="Tahoma"/>
                <a:cs typeface="Tahoma"/>
              </a:rPr>
              <a:t>khỏi</a:t>
            </a:r>
            <a:r>
              <a:rPr lang="en-US" sz="1600" dirty="0">
                <a:latin typeface="Tahoma"/>
                <a:cs typeface="Tahoma"/>
              </a:rPr>
              <a:t> </a:t>
            </a:r>
            <a:r>
              <a:rPr sz="1600" dirty="0">
                <a:latin typeface="Tahoma"/>
                <a:cs typeface="Tahoma"/>
              </a:rPr>
              <a:t>TCP socket buffers ….</a:t>
            </a:r>
          </a:p>
        </p:txBody>
      </p:sp>
      <p:sp>
        <p:nvSpPr>
          <p:cNvPr id="40" name="object 40"/>
          <p:cNvSpPr/>
          <p:nvPr/>
        </p:nvSpPr>
        <p:spPr>
          <a:xfrm>
            <a:off x="5682234" y="2188082"/>
            <a:ext cx="1041400" cy="0"/>
          </a:xfrm>
          <a:custGeom>
            <a:avLst/>
            <a:gdLst/>
            <a:ahLst/>
            <a:cxnLst/>
            <a:rect l="l" t="t" r="r" b="b"/>
            <a:pathLst>
              <a:path w="1041400">
                <a:moveTo>
                  <a:pt x="0" y="0"/>
                </a:moveTo>
                <a:lnTo>
                  <a:pt x="1040891" y="0"/>
                </a:lnTo>
              </a:path>
            </a:pathLst>
          </a:custGeom>
          <a:ln w="19050">
            <a:solidFill>
              <a:srgbClr val="CC0000"/>
            </a:solidFill>
          </a:ln>
        </p:spPr>
        <p:txBody>
          <a:bodyPr wrap="square" lIns="0" tIns="0" rIns="0" bIns="0" rtlCol="0"/>
          <a:lstStyle/>
          <a:p>
            <a:endParaRPr/>
          </a:p>
        </p:txBody>
      </p:sp>
      <p:sp>
        <p:nvSpPr>
          <p:cNvPr id="41" name="object 41"/>
          <p:cNvSpPr txBox="1"/>
          <p:nvPr/>
        </p:nvSpPr>
        <p:spPr>
          <a:xfrm>
            <a:off x="2865754" y="3015512"/>
            <a:ext cx="2530347" cy="764312"/>
          </a:xfrm>
          <a:prstGeom prst="rect">
            <a:avLst/>
          </a:prstGeom>
        </p:spPr>
        <p:txBody>
          <a:bodyPr vert="horz" wrap="square" lIns="0" tIns="12700" rIns="0" bIns="0" rtlCol="0">
            <a:spAutoFit/>
          </a:bodyPr>
          <a:lstStyle/>
          <a:p>
            <a:pPr marL="12700" marR="5080" indent="84455" algn="r">
              <a:lnSpc>
                <a:spcPct val="100000"/>
              </a:lnSpc>
              <a:spcBef>
                <a:spcPts val="100"/>
              </a:spcBef>
              <a:tabLst>
                <a:tab pos="60325" algn="l"/>
              </a:tabLst>
            </a:pPr>
            <a:r>
              <a:rPr sz="1600" dirty="0">
                <a:latin typeface="Tahoma"/>
                <a:cs typeface="Tahoma"/>
              </a:rPr>
              <a:t>… chậm </a:t>
            </a:r>
            <a:r>
              <a:rPr sz="1600" dirty="0" err="1">
                <a:latin typeface="Tahoma"/>
                <a:cs typeface="Tahoma"/>
              </a:rPr>
              <a:t>hơn</a:t>
            </a:r>
            <a:r>
              <a:rPr sz="1600" dirty="0">
                <a:latin typeface="Tahoma"/>
                <a:cs typeface="Tahoma"/>
              </a:rPr>
              <a:t> TCP </a:t>
            </a:r>
            <a:r>
              <a:rPr lang="en-US" sz="1600" dirty="0" err="1">
                <a:latin typeface="Tahoma"/>
                <a:cs typeface="Tahoma"/>
              </a:rPr>
              <a:t>bên</a:t>
            </a:r>
            <a:r>
              <a:rPr lang="en-US" sz="1600" dirty="0">
                <a:latin typeface="Tahoma"/>
                <a:cs typeface="Tahoma"/>
              </a:rPr>
              <a:t> </a:t>
            </a:r>
            <a:r>
              <a:rPr lang="en-US" sz="1600" dirty="0" err="1">
                <a:latin typeface="Tahoma"/>
                <a:cs typeface="Tahoma"/>
              </a:rPr>
              <a:t>nhận</a:t>
            </a:r>
            <a:r>
              <a:rPr lang="en-US" sz="1600" dirty="0">
                <a:latin typeface="Tahoma"/>
                <a:cs typeface="Tahoma"/>
              </a:rPr>
              <a:t> </a:t>
            </a:r>
            <a:r>
              <a:rPr lang="en-US" sz="1600" dirty="0" err="1">
                <a:latin typeface="Tahoma"/>
                <a:cs typeface="Tahoma"/>
              </a:rPr>
              <a:t>đang</a:t>
            </a:r>
            <a:r>
              <a:rPr lang="en-US" sz="1600" dirty="0">
                <a:latin typeface="Tahoma"/>
                <a:cs typeface="Tahoma"/>
              </a:rPr>
              <a:t> </a:t>
            </a:r>
            <a:r>
              <a:rPr sz="1600" dirty="0" err="1">
                <a:latin typeface="Tahoma"/>
                <a:cs typeface="Tahoma"/>
              </a:rPr>
              <a:t>chuyển</a:t>
            </a:r>
            <a:r>
              <a:rPr sz="1600" dirty="0">
                <a:latin typeface="Tahoma"/>
                <a:cs typeface="Tahoma"/>
              </a:rPr>
              <a:t> </a:t>
            </a:r>
            <a:endParaRPr lang="en-US" sz="1600" dirty="0">
              <a:latin typeface="Tahoma"/>
              <a:cs typeface="Tahoma"/>
            </a:endParaRPr>
          </a:p>
          <a:p>
            <a:pPr marL="12700" marR="5080" indent="84455" algn="r">
              <a:lnSpc>
                <a:spcPct val="100000"/>
              </a:lnSpc>
              <a:spcBef>
                <a:spcPts val="100"/>
              </a:spcBef>
              <a:tabLst>
                <a:tab pos="60325" algn="l"/>
              </a:tabLst>
            </a:pPr>
            <a:r>
              <a:rPr sz="1600" dirty="0">
                <a:latin typeface="Tahoma"/>
                <a:cs typeface="Tahoma"/>
              </a:rPr>
              <a:t>(sender đang gửi)</a:t>
            </a:r>
          </a:p>
        </p:txBody>
      </p:sp>
      <p:sp>
        <p:nvSpPr>
          <p:cNvPr id="42" name="object 42"/>
          <p:cNvSpPr/>
          <p:nvPr/>
        </p:nvSpPr>
        <p:spPr>
          <a:xfrm>
            <a:off x="5602985" y="3392804"/>
            <a:ext cx="544195" cy="0"/>
          </a:xfrm>
          <a:custGeom>
            <a:avLst/>
            <a:gdLst/>
            <a:ahLst/>
            <a:cxnLst/>
            <a:rect l="l" t="t" r="r" b="b"/>
            <a:pathLst>
              <a:path w="544195">
                <a:moveTo>
                  <a:pt x="0" y="0"/>
                </a:moveTo>
                <a:lnTo>
                  <a:pt x="544067" y="0"/>
                </a:lnTo>
              </a:path>
            </a:pathLst>
          </a:custGeom>
          <a:ln w="19050">
            <a:solidFill>
              <a:srgbClr val="CC0000"/>
            </a:solidFill>
          </a:ln>
        </p:spPr>
        <p:txBody>
          <a:bodyPr wrap="square" lIns="0" tIns="0" rIns="0" bIns="0" rtlCol="0"/>
          <a:lstStyle/>
          <a:p>
            <a:endParaRPr/>
          </a:p>
        </p:txBody>
      </p:sp>
      <p:sp>
        <p:nvSpPr>
          <p:cNvPr id="43" name="object 43"/>
          <p:cNvSpPr/>
          <p:nvPr/>
        </p:nvSpPr>
        <p:spPr>
          <a:xfrm>
            <a:off x="6840855" y="5647182"/>
            <a:ext cx="0" cy="114300"/>
          </a:xfrm>
          <a:custGeom>
            <a:avLst/>
            <a:gdLst/>
            <a:ahLst/>
            <a:cxnLst/>
            <a:rect l="l" t="t" r="r" b="b"/>
            <a:pathLst>
              <a:path h="114300">
                <a:moveTo>
                  <a:pt x="0" y="0"/>
                </a:moveTo>
                <a:lnTo>
                  <a:pt x="0" y="114300"/>
                </a:lnTo>
              </a:path>
            </a:pathLst>
          </a:custGeom>
          <a:ln w="28194">
            <a:solidFill>
              <a:srgbClr val="CC0000"/>
            </a:solidFill>
          </a:ln>
        </p:spPr>
        <p:txBody>
          <a:bodyPr wrap="square" lIns="0" tIns="0" rIns="0" bIns="0" rtlCol="0"/>
          <a:lstStyle/>
          <a:p>
            <a:endParaRPr/>
          </a:p>
        </p:txBody>
      </p:sp>
      <p:sp>
        <p:nvSpPr>
          <p:cNvPr id="44" name="object 44"/>
          <p:cNvSpPr/>
          <p:nvPr/>
        </p:nvSpPr>
        <p:spPr>
          <a:xfrm>
            <a:off x="6840855" y="5846826"/>
            <a:ext cx="0" cy="114300"/>
          </a:xfrm>
          <a:custGeom>
            <a:avLst/>
            <a:gdLst/>
            <a:ahLst/>
            <a:cxnLst/>
            <a:rect l="l" t="t" r="r" b="b"/>
            <a:pathLst>
              <a:path h="114300">
                <a:moveTo>
                  <a:pt x="0" y="0"/>
                </a:moveTo>
                <a:lnTo>
                  <a:pt x="0" y="114300"/>
                </a:lnTo>
              </a:path>
            </a:pathLst>
          </a:custGeom>
          <a:ln w="28194">
            <a:solidFill>
              <a:srgbClr val="CC0000"/>
            </a:solidFill>
          </a:ln>
        </p:spPr>
        <p:txBody>
          <a:bodyPr wrap="square" lIns="0" tIns="0" rIns="0" bIns="0" rtlCol="0"/>
          <a:lstStyle/>
          <a:p>
            <a:endParaRPr/>
          </a:p>
        </p:txBody>
      </p:sp>
      <p:sp>
        <p:nvSpPr>
          <p:cNvPr id="45" name="object 45"/>
          <p:cNvSpPr txBox="1"/>
          <p:nvPr/>
        </p:nvSpPr>
        <p:spPr>
          <a:xfrm>
            <a:off x="5305297" y="5617861"/>
            <a:ext cx="3629025" cy="838835"/>
          </a:xfrm>
          <a:prstGeom prst="rect">
            <a:avLst/>
          </a:prstGeom>
        </p:spPr>
        <p:txBody>
          <a:bodyPr vert="horz" wrap="square" lIns="0" tIns="133985" rIns="0" bIns="0" rtlCol="0">
            <a:spAutoFit/>
          </a:bodyPr>
          <a:lstStyle/>
          <a:p>
            <a:pPr marL="619760">
              <a:lnSpc>
                <a:spcPct val="100000"/>
              </a:lnSpc>
              <a:spcBef>
                <a:spcPts val="1055"/>
              </a:spcBef>
            </a:pPr>
            <a:r>
              <a:rPr sz="1400" dirty="0">
                <a:latin typeface="Tahoma"/>
                <a:cs typeface="Tahoma"/>
              </a:rPr>
              <a:t>từ nút gửi</a:t>
            </a:r>
            <a:endParaRPr sz="1400">
              <a:latin typeface="Tahoma"/>
              <a:cs typeface="Tahoma"/>
            </a:endParaRPr>
          </a:p>
          <a:p>
            <a:pPr marL="12700">
              <a:lnSpc>
                <a:spcPct val="100000"/>
              </a:lnSpc>
              <a:spcBef>
                <a:spcPts val="1370"/>
              </a:spcBef>
            </a:pPr>
            <a:r>
              <a:rPr sz="2000" dirty="0">
                <a:latin typeface="Tahoma"/>
                <a:cs typeface="Tahoma"/>
              </a:rPr>
              <a:t>ngăn xếp giao thức tại nút nhận</a:t>
            </a:r>
            <a:endParaRPr sz="2000">
              <a:latin typeface="Tahoma"/>
              <a:cs typeface="Tahoma"/>
            </a:endParaRPr>
          </a:p>
        </p:txBody>
      </p:sp>
      <p:sp>
        <p:nvSpPr>
          <p:cNvPr id="46" name="object 46"/>
          <p:cNvSpPr/>
          <p:nvPr/>
        </p:nvSpPr>
        <p:spPr>
          <a:xfrm>
            <a:off x="6217158" y="5229605"/>
            <a:ext cx="0" cy="207010"/>
          </a:xfrm>
          <a:custGeom>
            <a:avLst/>
            <a:gdLst/>
            <a:ahLst/>
            <a:cxnLst/>
            <a:rect l="l" t="t" r="r" b="b"/>
            <a:pathLst>
              <a:path h="207010">
                <a:moveTo>
                  <a:pt x="0" y="0"/>
                </a:moveTo>
                <a:lnTo>
                  <a:pt x="0" y="206501"/>
                </a:lnTo>
              </a:path>
            </a:pathLst>
          </a:custGeom>
          <a:ln w="28955">
            <a:solidFill>
              <a:srgbClr val="FFFFFF"/>
            </a:solidFill>
          </a:ln>
        </p:spPr>
        <p:txBody>
          <a:bodyPr wrap="square" lIns="0" tIns="0" rIns="0" bIns="0" rtlCol="0"/>
          <a:lstStyle/>
          <a:p>
            <a:endParaRPr/>
          </a:p>
        </p:txBody>
      </p:sp>
      <p:sp>
        <p:nvSpPr>
          <p:cNvPr id="47" name="object 47"/>
          <p:cNvSpPr/>
          <p:nvPr/>
        </p:nvSpPr>
        <p:spPr>
          <a:xfrm>
            <a:off x="806958" y="4840985"/>
            <a:ext cx="3672204" cy="1581150"/>
          </a:xfrm>
          <a:custGeom>
            <a:avLst/>
            <a:gdLst/>
            <a:ahLst/>
            <a:cxnLst/>
            <a:rect l="l" t="t" r="r" b="b"/>
            <a:pathLst>
              <a:path w="3672204" h="1581150">
                <a:moveTo>
                  <a:pt x="3672078" y="1581150"/>
                </a:moveTo>
                <a:lnTo>
                  <a:pt x="3672078" y="0"/>
                </a:lnTo>
                <a:lnTo>
                  <a:pt x="0" y="0"/>
                </a:lnTo>
                <a:lnTo>
                  <a:pt x="0" y="1581150"/>
                </a:lnTo>
                <a:lnTo>
                  <a:pt x="14478" y="1581150"/>
                </a:lnTo>
                <a:lnTo>
                  <a:pt x="14478" y="28193"/>
                </a:lnTo>
                <a:lnTo>
                  <a:pt x="28193" y="13715"/>
                </a:lnTo>
                <a:lnTo>
                  <a:pt x="28193" y="28193"/>
                </a:lnTo>
                <a:lnTo>
                  <a:pt x="3643121" y="28193"/>
                </a:lnTo>
                <a:lnTo>
                  <a:pt x="3643121" y="13715"/>
                </a:lnTo>
                <a:lnTo>
                  <a:pt x="3657600" y="28193"/>
                </a:lnTo>
                <a:lnTo>
                  <a:pt x="3657600" y="1581150"/>
                </a:lnTo>
                <a:lnTo>
                  <a:pt x="3672078" y="1581150"/>
                </a:lnTo>
                <a:close/>
              </a:path>
              <a:path w="3672204" h="1581150">
                <a:moveTo>
                  <a:pt x="28193" y="28193"/>
                </a:moveTo>
                <a:lnTo>
                  <a:pt x="28193" y="13715"/>
                </a:lnTo>
                <a:lnTo>
                  <a:pt x="14478" y="28193"/>
                </a:lnTo>
                <a:lnTo>
                  <a:pt x="28193" y="28193"/>
                </a:lnTo>
                <a:close/>
              </a:path>
              <a:path w="3672204" h="1581150">
                <a:moveTo>
                  <a:pt x="28193" y="1552193"/>
                </a:moveTo>
                <a:lnTo>
                  <a:pt x="28193" y="28193"/>
                </a:lnTo>
                <a:lnTo>
                  <a:pt x="14478" y="28193"/>
                </a:lnTo>
                <a:lnTo>
                  <a:pt x="14478" y="1552193"/>
                </a:lnTo>
                <a:lnTo>
                  <a:pt x="28193" y="1552193"/>
                </a:lnTo>
                <a:close/>
              </a:path>
              <a:path w="3672204" h="1581150">
                <a:moveTo>
                  <a:pt x="3657600" y="1552193"/>
                </a:moveTo>
                <a:lnTo>
                  <a:pt x="14478" y="1552193"/>
                </a:lnTo>
                <a:lnTo>
                  <a:pt x="28193" y="1566672"/>
                </a:lnTo>
                <a:lnTo>
                  <a:pt x="28193" y="1581150"/>
                </a:lnTo>
                <a:lnTo>
                  <a:pt x="3643122" y="1581150"/>
                </a:lnTo>
                <a:lnTo>
                  <a:pt x="3643122" y="1566672"/>
                </a:lnTo>
                <a:lnTo>
                  <a:pt x="3657600" y="1552193"/>
                </a:lnTo>
                <a:close/>
              </a:path>
              <a:path w="3672204" h="1581150">
                <a:moveTo>
                  <a:pt x="28193" y="1581150"/>
                </a:moveTo>
                <a:lnTo>
                  <a:pt x="28193" y="1566672"/>
                </a:lnTo>
                <a:lnTo>
                  <a:pt x="14478" y="1552193"/>
                </a:lnTo>
                <a:lnTo>
                  <a:pt x="14478" y="1581150"/>
                </a:lnTo>
                <a:lnTo>
                  <a:pt x="28193" y="1581150"/>
                </a:lnTo>
                <a:close/>
              </a:path>
              <a:path w="3672204" h="1581150">
                <a:moveTo>
                  <a:pt x="3657600" y="28193"/>
                </a:moveTo>
                <a:lnTo>
                  <a:pt x="3643121" y="13715"/>
                </a:lnTo>
                <a:lnTo>
                  <a:pt x="3643121" y="28193"/>
                </a:lnTo>
                <a:lnTo>
                  <a:pt x="3657600" y="28193"/>
                </a:lnTo>
                <a:close/>
              </a:path>
              <a:path w="3672204" h="1581150">
                <a:moveTo>
                  <a:pt x="3657600" y="1552193"/>
                </a:moveTo>
                <a:lnTo>
                  <a:pt x="3657600" y="28193"/>
                </a:lnTo>
                <a:lnTo>
                  <a:pt x="3643121" y="28193"/>
                </a:lnTo>
                <a:lnTo>
                  <a:pt x="3643122" y="1552193"/>
                </a:lnTo>
                <a:lnTo>
                  <a:pt x="3657600" y="1552193"/>
                </a:lnTo>
                <a:close/>
              </a:path>
              <a:path w="3672204" h="1581150">
                <a:moveTo>
                  <a:pt x="3657600" y="1581150"/>
                </a:moveTo>
                <a:lnTo>
                  <a:pt x="3657600" y="1552193"/>
                </a:lnTo>
                <a:lnTo>
                  <a:pt x="3643122" y="1566672"/>
                </a:lnTo>
                <a:lnTo>
                  <a:pt x="3643122" y="1581150"/>
                </a:lnTo>
                <a:lnTo>
                  <a:pt x="3657600" y="1581150"/>
                </a:lnTo>
                <a:close/>
              </a:path>
            </a:pathLst>
          </a:custGeom>
          <a:solidFill>
            <a:srgbClr val="CC0000"/>
          </a:solidFill>
        </p:spPr>
        <p:txBody>
          <a:bodyPr wrap="square" lIns="0" tIns="0" rIns="0" bIns="0" rtlCol="0"/>
          <a:lstStyle/>
          <a:p>
            <a:endParaRPr/>
          </a:p>
        </p:txBody>
      </p:sp>
      <p:sp>
        <p:nvSpPr>
          <p:cNvPr id="48" name="object 48"/>
          <p:cNvSpPr txBox="1"/>
          <p:nvPr/>
        </p:nvSpPr>
        <p:spPr>
          <a:xfrm>
            <a:off x="953199" y="5051023"/>
            <a:ext cx="3302635" cy="1125949"/>
          </a:xfrm>
          <a:prstGeom prst="rect">
            <a:avLst/>
          </a:prstGeom>
        </p:spPr>
        <p:txBody>
          <a:bodyPr vert="horz" wrap="square" lIns="0" tIns="12700" rIns="0" bIns="0" rtlCol="0">
            <a:spAutoFit/>
          </a:bodyPr>
          <a:lstStyle/>
          <a:p>
            <a:pPr marL="12700" marR="5080">
              <a:spcBef>
                <a:spcPts val="100"/>
              </a:spcBef>
            </a:pPr>
            <a:r>
              <a:rPr lang="en-GB" dirty="0" err="1">
                <a:latin typeface="Arial"/>
                <a:cs typeface="Arial"/>
              </a:rPr>
              <a:t>nút</a:t>
            </a:r>
            <a:r>
              <a:rPr lang="en-GB" dirty="0">
                <a:latin typeface="Arial"/>
                <a:cs typeface="Arial"/>
              </a:rPr>
              <a:t> </a:t>
            </a:r>
            <a:r>
              <a:rPr lang="en-GB" dirty="0" err="1">
                <a:latin typeface="Arial"/>
                <a:cs typeface="Arial"/>
              </a:rPr>
              <a:t>nhận</a:t>
            </a:r>
            <a:r>
              <a:rPr lang="en-GB" dirty="0">
                <a:latin typeface="Arial"/>
                <a:cs typeface="Arial"/>
              </a:rPr>
              <a:t> </a:t>
            </a:r>
            <a:r>
              <a:rPr lang="en-GB" dirty="0" err="1">
                <a:latin typeface="Arial"/>
                <a:cs typeface="Arial"/>
              </a:rPr>
              <a:t>điều</a:t>
            </a:r>
            <a:r>
              <a:rPr lang="en-GB" dirty="0">
                <a:latin typeface="Arial"/>
                <a:cs typeface="Arial"/>
              </a:rPr>
              <a:t> </a:t>
            </a:r>
            <a:r>
              <a:rPr lang="en-GB" dirty="0" err="1">
                <a:latin typeface="Arial"/>
                <a:cs typeface="Arial"/>
              </a:rPr>
              <a:t>khiển</a:t>
            </a:r>
            <a:r>
              <a:rPr lang="en-GB" dirty="0">
                <a:latin typeface="Arial"/>
                <a:cs typeface="Arial"/>
              </a:rPr>
              <a:t> </a:t>
            </a:r>
            <a:r>
              <a:rPr lang="en-GB" dirty="0" err="1">
                <a:latin typeface="Arial"/>
                <a:cs typeface="Arial"/>
              </a:rPr>
              <a:t>nút</a:t>
            </a:r>
            <a:r>
              <a:rPr lang="en-GB" dirty="0">
                <a:latin typeface="Arial"/>
                <a:cs typeface="Arial"/>
              </a:rPr>
              <a:t> </a:t>
            </a:r>
            <a:r>
              <a:rPr lang="en-GB" dirty="0" err="1">
                <a:latin typeface="Arial"/>
                <a:cs typeface="Arial"/>
              </a:rPr>
              <a:t>gửi</a:t>
            </a:r>
            <a:r>
              <a:rPr lang="en-GB" dirty="0">
                <a:latin typeface="Arial"/>
                <a:cs typeface="Arial"/>
              </a:rPr>
              <a:t>, </a:t>
            </a:r>
            <a:r>
              <a:rPr lang="en-US" dirty="0" err="1">
                <a:latin typeface="Arial"/>
                <a:cs typeface="Arial"/>
              </a:rPr>
              <a:t>để</a:t>
            </a:r>
            <a:r>
              <a:rPr lang="en-US" dirty="0">
                <a:latin typeface="Arial"/>
                <a:cs typeface="Arial"/>
              </a:rPr>
              <a:t> </a:t>
            </a:r>
            <a:r>
              <a:rPr sz="1800" dirty="0" err="1">
                <a:latin typeface="Arial"/>
                <a:cs typeface="Arial"/>
              </a:rPr>
              <a:t>nút</a:t>
            </a:r>
            <a:r>
              <a:rPr sz="1800" dirty="0">
                <a:latin typeface="Arial"/>
                <a:cs typeface="Arial"/>
              </a:rPr>
              <a:t> gửi không làm tràn vùng  đệm của nút </a:t>
            </a:r>
            <a:r>
              <a:rPr sz="1800" dirty="0" err="1">
                <a:latin typeface="Arial"/>
                <a:cs typeface="Arial"/>
              </a:rPr>
              <a:t>nhận</a:t>
            </a:r>
            <a:r>
              <a:rPr sz="1800" dirty="0">
                <a:latin typeface="Arial"/>
                <a:cs typeface="Arial"/>
              </a:rPr>
              <a:t> </a:t>
            </a:r>
            <a:r>
              <a:rPr lang="en-US" sz="1800" dirty="0" err="1">
                <a:latin typeface="Arial"/>
                <a:cs typeface="Arial"/>
              </a:rPr>
              <a:t>bởi</a:t>
            </a:r>
            <a:r>
              <a:rPr lang="en-US" sz="1800" dirty="0">
                <a:latin typeface="Arial"/>
                <a:cs typeface="Arial"/>
              </a:rPr>
              <a:t> </a:t>
            </a:r>
            <a:r>
              <a:rPr sz="1800" dirty="0" err="1">
                <a:latin typeface="Arial"/>
                <a:cs typeface="Arial"/>
              </a:rPr>
              <a:t>truyền</a:t>
            </a:r>
            <a:r>
              <a:rPr sz="1800" dirty="0">
                <a:latin typeface="Arial"/>
                <a:cs typeface="Arial"/>
              </a:rPr>
              <a:t> quá </a:t>
            </a:r>
            <a:r>
              <a:rPr sz="1800" dirty="0" err="1">
                <a:latin typeface="Arial"/>
                <a:cs typeface="Arial"/>
              </a:rPr>
              <a:t>nhiều</a:t>
            </a:r>
            <a:r>
              <a:rPr sz="1800" dirty="0">
                <a:latin typeface="Arial"/>
                <a:cs typeface="Arial"/>
              </a:rPr>
              <a:t> </a:t>
            </a:r>
            <a:r>
              <a:rPr lang="en-US" sz="1800" dirty="0" err="1">
                <a:latin typeface="Arial"/>
                <a:cs typeface="Arial"/>
              </a:rPr>
              <a:t>và</a:t>
            </a:r>
            <a:r>
              <a:rPr sz="1800" dirty="0">
                <a:latin typeface="Arial"/>
                <a:cs typeface="Arial"/>
              </a:rPr>
              <a:t> quá nhanh</a:t>
            </a:r>
          </a:p>
        </p:txBody>
      </p:sp>
      <p:sp>
        <p:nvSpPr>
          <p:cNvPr id="49" name="object 49"/>
          <p:cNvSpPr/>
          <p:nvPr/>
        </p:nvSpPr>
        <p:spPr>
          <a:xfrm>
            <a:off x="1285494" y="4743450"/>
            <a:ext cx="1934210" cy="353060"/>
          </a:xfrm>
          <a:custGeom>
            <a:avLst/>
            <a:gdLst/>
            <a:ahLst/>
            <a:cxnLst/>
            <a:rect l="l" t="t" r="r" b="b"/>
            <a:pathLst>
              <a:path w="1934210" h="353060">
                <a:moveTo>
                  <a:pt x="0" y="0"/>
                </a:moveTo>
                <a:lnTo>
                  <a:pt x="0" y="352805"/>
                </a:lnTo>
                <a:lnTo>
                  <a:pt x="1933956" y="352805"/>
                </a:lnTo>
                <a:lnTo>
                  <a:pt x="1933956" y="0"/>
                </a:lnTo>
                <a:lnTo>
                  <a:pt x="0" y="0"/>
                </a:lnTo>
                <a:close/>
              </a:path>
            </a:pathLst>
          </a:custGeom>
          <a:solidFill>
            <a:srgbClr val="FFFFFF"/>
          </a:solidFill>
        </p:spPr>
        <p:txBody>
          <a:bodyPr wrap="square" lIns="0" tIns="0" rIns="0" bIns="0" rtlCol="0"/>
          <a:lstStyle/>
          <a:p>
            <a:endParaRPr/>
          </a:p>
        </p:txBody>
      </p:sp>
      <p:sp>
        <p:nvSpPr>
          <p:cNvPr id="50" name="object 50"/>
          <p:cNvSpPr txBox="1"/>
          <p:nvPr/>
        </p:nvSpPr>
        <p:spPr>
          <a:xfrm>
            <a:off x="1157789" y="4593110"/>
            <a:ext cx="3098165" cy="361766"/>
          </a:xfrm>
          <a:prstGeom prst="rect">
            <a:avLst/>
          </a:prstGeom>
        </p:spPr>
        <p:txBody>
          <a:bodyPr vert="horz" wrap="square" lIns="0" tIns="12700" rIns="0" bIns="0" rtlCol="0">
            <a:spAutoFit/>
          </a:bodyPr>
          <a:lstStyle/>
          <a:p>
            <a:pPr marL="133350">
              <a:lnSpc>
                <a:spcPts val="2850"/>
              </a:lnSpc>
              <a:spcBef>
                <a:spcPts val="100"/>
              </a:spcBef>
            </a:pPr>
            <a:r>
              <a:rPr sz="2000" i="1" dirty="0">
                <a:solidFill>
                  <a:srgbClr val="CC0000"/>
                </a:solidFill>
                <a:latin typeface="Arial"/>
                <a:cs typeface="Arial"/>
              </a:rPr>
              <a:t>điều </a:t>
            </a:r>
            <a:r>
              <a:rPr sz="2000" i="1" dirty="0" err="1">
                <a:solidFill>
                  <a:srgbClr val="CC0000"/>
                </a:solidFill>
                <a:latin typeface="Arial"/>
                <a:cs typeface="Arial"/>
              </a:rPr>
              <a:t>khiển</a:t>
            </a:r>
            <a:r>
              <a:rPr sz="2000" i="1" dirty="0">
                <a:solidFill>
                  <a:srgbClr val="CC0000"/>
                </a:solidFill>
                <a:latin typeface="Arial"/>
                <a:cs typeface="Arial"/>
              </a:rPr>
              <a:t> </a:t>
            </a:r>
            <a:r>
              <a:rPr sz="2000" i="1" dirty="0" err="1">
                <a:solidFill>
                  <a:srgbClr val="CC0000"/>
                </a:solidFill>
                <a:latin typeface="Arial"/>
                <a:cs typeface="Arial"/>
              </a:rPr>
              <a:t>luồng</a:t>
            </a:r>
            <a:endParaRPr sz="2000" dirty="0">
              <a:latin typeface="Arial"/>
              <a:cs typeface="Arial"/>
            </a:endParaRPr>
          </a:p>
        </p:txBody>
      </p:sp>
      <p:sp>
        <p:nvSpPr>
          <p:cNvPr id="51" name="object 51"/>
          <p:cNvSpPr/>
          <p:nvPr/>
        </p:nvSpPr>
        <p:spPr>
          <a:xfrm>
            <a:off x="5929884" y="5424678"/>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2" name="object 52"/>
          <p:cNvSpPr/>
          <p:nvPr/>
        </p:nvSpPr>
        <p:spPr>
          <a:xfrm>
            <a:off x="5929884" y="5558028"/>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3" name="object 53"/>
          <p:cNvSpPr/>
          <p:nvPr/>
        </p:nvSpPr>
        <p:spPr>
          <a:xfrm>
            <a:off x="5929884" y="5691378"/>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4" name="object 54"/>
          <p:cNvSpPr/>
          <p:nvPr/>
        </p:nvSpPr>
        <p:spPr>
          <a:xfrm>
            <a:off x="5929884" y="5824728"/>
            <a:ext cx="19050" cy="64135"/>
          </a:xfrm>
          <a:custGeom>
            <a:avLst/>
            <a:gdLst/>
            <a:ahLst/>
            <a:cxnLst/>
            <a:rect l="l" t="t" r="r" b="b"/>
            <a:pathLst>
              <a:path w="19050" h="64135">
                <a:moveTo>
                  <a:pt x="19050" y="64008"/>
                </a:moveTo>
                <a:lnTo>
                  <a:pt x="19050" y="0"/>
                </a:lnTo>
                <a:lnTo>
                  <a:pt x="0" y="0"/>
                </a:lnTo>
                <a:lnTo>
                  <a:pt x="0" y="64008"/>
                </a:lnTo>
                <a:lnTo>
                  <a:pt x="19050" y="64008"/>
                </a:lnTo>
                <a:close/>
              </a:path>
            </a:pathLst>
          </a:custGeom>
          <a:solidFill>
            <a:srgbClr val="000000"/>
          </a:solidFill>
        </p:spPr>
        <p:txBody>
          <a:bodyPr wrap="square" lIns="0" tIns="0" rIns="0" bIns="0" rtlCol="0"/>
          <a:lstStyle/>
          <a:p>
            <a:endParaRPr/>
          </a:p>
        </p:txBody>
      </p:sp>
      <p:sp>
        <p:nvSpPr>
          <p:cNvPr id="55" name="object 55"/>
          <p:cNvSpPr/>
          <p:nvPr/>
        </p:nvSpPr>
        <p:spPr>
          <a:xfrm>
            <a:off x="8295131" y="5225034"/>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6" name="object 56"/>
          <p:cNvSpPr/>
          <p:nvPr/>
        </p:nvSpPr>
        <p:spPr>
          <a:xfrm>
            <a:off x="8295131" y="5358384"/>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7" name="object 57"/>
          <p:cNvSpPr/>
          <p:nvPr/>
        </p:nvSpPr>
        <p:spPr>
          <a:xfrm>
            <a:off x="8295131" y="5491734"/>
            <a:ext cx="19050" cy="76200"/>
          </a:xfrm>
          <a:custGeom>
            <a:avLst/>
            <a:gdLst/>
            <a:ahLst/>
            <a:cxnLst/>
            <a:rect l="l" t="t" r="r" b="b"/>
            <a:pathLst>
              <a:path w="19050" h="76200">
                <a:moveTo>
                  <a:pt x="19050" y="76200"/>
                </a:moveTo>
                <a:lnTo>
                  <a:pt x="19050" y="0"/>
                </a:lnTo>
                <a:lnTo>
                  <a:pt x="0" y="0"/>
                </a:lnTo>
                <a:lnTo>
                  <a:pt x="0" y="76200"/>
                </a:lnTo>
                <a:lnTo>
                  <a:pt x="19050" y="76200"/>
                </a:lnTo>
                <a:close/>
              </a:path>
            </a:pathLst>
          </a:custGeom>
          <a:solidFill>
            <a:srgbClr val="000000"/>
          </a:solidFill>
        </p:spPr>
        <p:txBody>
          <a:bodyPr wrap="square" lIns="0" tIns="0" rIns="0" bIns="0" rtlCol="0"/>
          <a:lstStyle/>
          <a:p>
            <a:endParaRPr/>
          </a:p>
        </p:txBody>
      </p:sp>
      <p:sp>
        <p:nvSpPr>
          <p:cNvPr id="58" name="object 58"/>
          <p:cNvSpPr/>
          <p:nvPr/>
        </p:nvSpPr>
        <p:spPr>
          <a:xfrm>
            <a:off x="8295131" y="5625084"/>
            <a:ext cx="19050" cy="63500"/>
          </a:xfrm>
          <a:custGeom>
            <a:avLst/>
            <a:gdLst/>
            <a:ahLst/>
            <a:cxnLst/>
            <a:rect l="l" t="t" r="r" b="b"/>
            <a:pathLst>
              <a:path w="19050" h="63500">
                <a:moveTo>
                  <a:pt x="19050" y="63246"/>
                </a:moveTo>
                <a:lnTo>
                  <a:pt x="19050" y="0"/>
                </a:lnTo>
                <a:lnTo>
                  <a:pt x="0" y="0"/>
                </a:lnTo>
                <a:lnTo>
                  <a:pt x="0" y="63246"/>
                </a:lnTo>
                <a:lnTo>
                  <a:pt x="19050" y="63246"/>
                </a:lnTo>
                <a:close/>
              </a:path>
            </a:pathLst>
          </a:custGeom>
          <a:solidFill>
            <a:srgbClr val="000000"/>
          </a:solidFill>
        </p:spPr>
        <p:txBody>
          <a:bodyPr wrap="square" lIns="0" tIns="0" rIns="0" bIns="0" rtlCol="0"/>
          <a:lstStyle/>
          <a:p>
            <a:endParaRPr/>
          </a:p>
        </p:txBody>
      </p:sp>
      <p:sp>
        <p:nvSpPr>
          <p:cNvPr id="59" name="object 59"/>
          <p:cNvSpPr/>
          <p:nvPr/>
        </p:nvSpPr>
        <p:spPr>
          <a:xfrm>
            <a:off x="8542781" y="4834128"/>
            <a:ext cx="717041" cy="841247"/>
          </a:xfrm>
          <a:prstGeom prst="rect">
            <a:avLst/>
          </a:prstGeom>
          <a:blipFill>
            <a:blip r:embed="rId5" cstate="print"/>
            <a:stretch>
              <a:fillRect/>
            </a:stretch>
          </a:blipFill>
        </p:spPr>
        <p:txBody>
          <a:bodyPr wrap="square" lIns="0" tIns="0" rIns="0" bIns="0" rtlCol="0"/>
          <a:lstStyle/>
          <a:p>
            <a:endParaRPr/>
          </a:p>
        </p:txBody>
      </p:sp>
      <p:sp>
        <p:nvSpPr>
          <p:cNvPr id="60" name="object 60"/>
          <p:cNvSpPr/>
          <p:nvPr/>
        </p:nvSpPr>
        <p:spPr>
          <a:xfrm>
            <a:off x="8618981" y="4905755"/>
            <a:ext cx="422910" cy="414528"/>
          </a:xfrm>
          <a:prstGeom prst="rect">
            <a:avLst/>
          </a:prstGeom>
          <a:blipFill>
            <a:blip r:embed="rId6" cstate="print"/>
            <a:stretch>
              <a:fillRect/>
            </a:stretch>
          </a:blipFill>
        </p:spPr>
        <p:txBody>
          <a:bodyPr wrap="square" lIns="0" tIns="0" rIns="0" bIns="0" rtlCol="0"/>
          <a:lstStyle/>
          <a:p>
            <a:endParaRPr/>
          </a:p>
        </p:txBody>
      </p:sp>
      <p:sp>
        <p:nvSpPr>
          <p:cNvPr id="62" name="Slide Number Placeholder 61"/>
          <p:cNvSpPr>
            <a:spLocks noGrp="1"/>
          </p:cNvSpPr>
          <p:nvPr>
            <p:ph type="sldNum" sz="quarter" idx="7"/>
          </p:nvPr>
        </p:nvSpPr>
        <p:spPr/>
        <p:txBody>
          <a:bodyPr/>
          <a:lstStyle/>
          <a:p>
            <a:pPr marL="12700">
              <a:lnSpc>
                <a:spcPts val="1645"/>
              </a:lnSpc>
            </a:pPr>
            <a:fld id="{81D60167-4931-47E6-BA6A-407CBD079E47}" type="slidenum">
              <a:rPr lang="en-US" spc="-5" smtClean="0"/>
              <a:t>56</a:t>
            </a:fld>
            <a:endParaRPr lang="en-US" spc="-5" dirty="0"/>
          </a:p>
        </p:txBody>
      </p:sp>
    </p:spTree>
    <p:extLst>
      <p:ext uri="{BB962C8B-B14F-4D97-AF65-F5344CB8AC3E}">
        <p14:creationId xmlns:p14="http://schemas.microsoft.com/office/powerpoint/2010/main" val="1670392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7316" y="784351"/>
            <a:ext cx="5918200" cy="635635"/>
          </a:xfrm>
          <a:prstGeom prst="rect">
            <a:avLst/>
          </a:prstGeom>
        </p:spPr>
        <p:txBody>
          <a:bodyPr vert="horz" wrap="square" lIns="0" tIns="12700" rIns="0" bIns="0" rtlCol="0">
            <a:spAutoFit/>
          </a:bodyPr>
          <a:lstStyle/>
          <a:p>
            <a:pPr marL="12700">
              <a:lnSpc>
                <a:spcPct val="100000"/>
              </a:lnSpc>
              <a:spcBef>
                <a:spcPts val="100"/>
              </a:spcBef>
            </a:pPr>
            <a:r>
              <a:rPr sz="4000" dirty="0"/>
              <a:t>Điều khiển luồng của TCP</a:t>
            </a:r>
            <a:endParaRPr sz="4000"/>
          </a:p>
        </p:txBody>
      </p:sp>
      <p:sp>
        <p:nvSpPr>
          <p:cNvPr id="3" name="object 3"/>
          <p:cNvSpPr/>
          <p:nvPr/>
        </p:nvSpPr>
        <p:spPr>
          <a:xfrm>
            <a:off x="7960868" y="2815478"/>
            <a:ext cx="459105" cy="178435"/>
          </a:xfrm>
          <a:custGeom>
            <a:avLst/>
            <a:gdLst/>
            <a:ahLst/>
            <a:cxnLst/>
            <a:rect l="l" t="t" r="r" b="b"/>
            <a:pathLst>
              <a:path w="459104" h="178435">
                <a:moveTo>
                  <a:pt x="0" y="178307"/>
                </a:moveTo>
                <a:lnTo>
                  <a:pt x="458724" y="178307"/>
                </a:lnTo>
                <a:lnTo>
                  <a:pt x="458724" y="0"/>
                </a:lnTo>
                <a:lnTo>
                  <a:pt x="0" y="0"/>
                </a:lnTo>
                <a:lnTo>
                  <a:pt x="0" y="178307"/>
                </a:lnTo>
                <a:close/>
              </a:path>
            </a:pathLst>
          </a:custGeom>
          <a:solidFill>
            <a:srgbClr val="FFFF00"/>
          </a:solidFill>
        </p:spPr>
        <p:txBody>
          <a:bodyPr wrap="square" lIns="0" tIns="0" rIns="0" bIns="0" rtlCol="0"/>
          <a:lstStyle/>
          <a:p>
            <a:endParaRPr/>
          </a:p>
        </p:txBody>
      </p:sp>
      <p:sp>
        <p:nvSpPr>
          <p:cNvPr id="4" name="object 4"/>
          <p:cNvSpPr/>
          <p:nvPr/>
        </p:nvSpPr>
        <p:spPr>
          <a:xfrm>
            <a:off x="7956296" y="2810906"/>
            <a:ext cx="468630" cy="215900"/>
          </a:xfrm>
          <a:custGeom>
            <a:avLst/>
            <a:gdLst/>
            <a:ahLst/>
            <a:cxnLst/>
            <a:rect l="l" t="t" r="r" b="b"/>
            <a:pathLst>
              <a:path w="468629" h="215900">
                <a:moveTo>
                  <a:pt x="468629" y="215645"/>
                </a:moveTo>
                <a:lnTo>
                  <a:pt x="468629" y="0"/>
                </a:lnTo>
                <a:lnTo>
                  <a:pt x="0" y="0"/>
                </a:lnTo>
                <a:lnTo>
                  <a:pt x="0" y="215645"/>
                </a:lnTo>
                <a:lnTo>
                  <a:pt x="4572" y="215645"/>
                </a:lnTo>
                <a:lnTo>
                  <a:pt x="4572" y="9143"/>
                </a:lnTo>
                <a:lnTo>
                  <a:pt x="9144" y="4571"/>
                </a:lnTo>
                <a:lnTo>
                  <a:pt x="9144" y="9143"/>
                </a:lnTo>
                <a:lnTo>
                  <a:pt x="458724" y="9143"/>
                </a:lnTo>
                <a:lnTo>
                  <a:pt x="458724" y="4571"/>
                </a:lnTo>
                <a:lnTo>
                  <a:pt x="463296" y="9143"/>
                </a:lnTo>
                <a:lnTo>
                  <a:pt x="463296" y="215645"/>
                </a:lnTo>
                <a:lnTo>
                  <a:pt x="468629" y="215645"/>
                </a:lnTo>
                <a:close/>
              </a:path>
              <a:path w="468629" h="215900">
                <a:moveTo>
                  <a:pt x="9144" y="9143"/>
                </a:moveTo>
                <a:lnTo>
                  <a:pt x="9144" y="4571"/>
                </a:lnTo>
                <a:lnTo>
                  <a:pt x="4572" y="9143"/>
                </a:lnTo>
                <a:lnTo>
                  <a:pt x="9144" y="9143"/>
                </a:lnTo>
                <a:close/>
              </a:path>
              <a:path w="468629" h="215900">
                <a:moveTo>
                  <a:pt x="9144" y="206501"/>
                </a:moveTo>
                <a:lnTo>
                  <a:pt x="9144" y="9143"/>
                </a:lnTo>
                <a:lnTo>
                  <a:pt x="4572" y="9143"/>
                </a:lnTo>
                <a:lnTo>
                  <a:pt x="4572" y="206501"/>
                </a:lnTo>
                <a:lnTo>
                  <a:pt x="9144" y="206501"/>
                </a:lnTo>
                <a:close/>
              </a:path>
              <a:path w="468629" h="215900">
                <a:moveTo>
                  <a:pt x="463296" y="206501"/>
                </a:moveTo>
                <a:lnTo>
                  <a:pt x="4572" y="206501"/>
                </a:lnTo>
                <a:lnTo>
                  <a:pt x="9144" y="211074"/>
                </a:lnTo>
                <a:lnTo>
                  <a:pt x="9144" y="215645"/>
                </a:lnTo>
                <a:lnTo>
                  <a:pt x="458724" y="215645"/>
                </a:lnTo>
                <a:lnTo>
                  <a:pt x="458724" y="211074"/>
                </a:lnTo>
                <a:lnTo>
                  <a:pt x="463296" y="206501"/>
                </a:lnTo>
                <a:close/>
              </a:path>
              <a:path w="468629" h="215900">
                <a:moveTo>
                  <a:pt x="9144" y="215645"/>
                </a:moveTo>
                <a:lnTo>
                  <a:pt x="9144" y="211074"/>
                </a:lnTo>
                <a:lnTo>
                  <a:pt x="4572" y="206501"/>
                </a:lnTo>
                <a:lnTo>
                  <a:pt x="4572" y="215645"/>
                </a:lnTo>
                <a:lnTo>
                  <a:pt x="9144" y="215645"/>
                </a:lnTo>
                <a:close/>
              </a:path>
              <a:path w="468629" h="215900">
                <a:moveTo>
                  <a:pt x="463296" y="9143"/>
                </a:moveTo>
                <a:lnTo>
                  <a:pt x="458724" y="4571"/>
                </a:lnTo>
                <a:lnTo>
                  <a:pt x="458724" y="9143"/>
                </a:lnTo>
                <a:lnTo>
                  <a:pt x="463296" y="9143"/>
                </a:lnTo>
                <a:close/>
              </a:path>
              <a:path w="468629" h="215900">
                <a:moveTo>
                  <a:pt x="463296" y="206501"/>
                </a:moveTo>
                <a:lnTo>
                  <a:pt x="463296" y="9143"/>
                </a:lnTo>
                <a:lnTo>
                  <a:pt x="458724" y="9143"/>
                </a:lnTo>
                <a:lnTo>
                  <a:pt x="458724" y="206501"/>
                </a:lnTo>
                <a:lnTo>
                  <a:pt x="463296" y="206501"/>
                </a:lnTo>
                <a:close/>
              </a:path>
              <a:path w="468629" h="215900">
                <a:moveTo>
                  <a:pt x="463296" y="215645"/>
                </a:moveTo>
                <a:lnTo>
                  <a:pt x="463296" y="206501"/>
                </a:lnTo>
                <a:lnTo>
                  <a:pt x="458724" y="211074"/>
                </a:lnTo>
                <a:lnTo>
                  <a:pt x="458724" y="215645"/>
                </a:lnTo>
                <a:lnTo>
                  <a:pt x="463296" y="215645"/>
                </a:lnTo>
                <a:close/>
              </a:path>
            </a:pathLst>
          </a:custGeom>
          <a:solidFill>
            <a:srgbClr val="000000"/>
          </a:solidFill>
        </p:spPr>
        <p:txBody>
          <a:bodyPr wrap="square" lIns="0" tIns="0" rIns="0" bIns="0" rtlCol="0"/>
          <a:lstStyle/>
          <a:p>
            <a:endParaRPr/>
          </a:p>
        </p:txBody>
      </p:sp>
      <p:sp>
        <p:nvSpPr>
          <p:cNvPr id="5" name="object 5"/>
          <p:cNvSpPr/>
          <p:nvPr/>
        </p:nvSpPr>
        <p:spPr>
          <a:xfrm>
            <a:off x="8028687" y="2837577"/>
            <a:ext cx="282701" cy="166877"/>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996939" y="2993786"/>
            <a:ext cx="2555240" cy="1422400"/>
          </a:xfrm>
          <a:custGeom>
            <a:avLst/>
            <a:gdLst/>
            <a:ahLst/>
            <a:cxnLst/>
            <a:rect l="l" t="t" r="r" b="b"/>
            <a:pathLst>
              <a:path w="2555240" h="1422400">
                <a:moveTo>
                  <a:pt x="0" y="0"/>
                </a:moveTo>
                <a:lnTo>
                  <a:pt x="0" y="1421891"/>
                </a:lnTo>
                <a:lnTo>
                  <a:pt x="2554985" y="1421891"/>
                </a:lnTo>
                <a:lnTo>
                  <a:pt x="2554985" y="0"/>
                </a:lnTo>
                <a:lnTo>
                  <a:pt x="0" y="0"/>
                </a:lnTo>
                <a:close/>
              </a:path>
            </a:pathLst>
          </a:custGeom>
          <a:solidFill>
            <a:srgbClr val="FFFF00"/>
          </a:solidFill>
        </p:spPr>
        <p:txBody>
          <a:bodyPr wrap="square" lIns="0" tIns="0" rIns="0" bIns="0" rtlCol="0"/>
          <a:lstStyle/>
          <a:p>
            <a:endParaRPr/>
          </a:p>
        </p:txBody>
      </p:sp>
      <p:sp>
        <p:nvSpPr>
          <p:cNvPr id="7" name="object 7"/>
          <p:cNvSpPr/>
          <p:nvPr/>
        </p:nvSpPr>
        <p:spPr>
          <a:xfrm>
            <a:off x="6992366" y="2988452"/>
            <a:ext cx="2564130" cy="1431925"/>
          </a:xfrm>
          <a:custGeom>
            <a:avLst/>
            <a:gdLst/>
            <a:ahLst/>
            <a:cxnLst/>
            <a:rect l="l" t="t" r="r" b="b"/>
            <a:pathLst>
              <a:path w="2564129" h="1431925">
                <a:moveTo>
                  <a:pt x="2564129" y="1431798"/>
                </a:moveTo>
                <a:lnTo>
                  <a:pt x="2564129" y="0"/>
                </a:lnTo>
                <a:lnTo>
                  <a:pt x="0" y="0"/>
                </a:lnTo>
                <a:lnTo>
                  <a:pt x="0" y="1431798"/>
                </a:lnTo>
                <a:lnTo>
                  <a:pt x="4572" y="1431798"/>
                </a:lnTo>
                <a:lnTo>
                  <a:pt x="4572" y="9906"/>
                </a:lnTo>
                <a:lnTo>
                  <a:pt x="9144" y="5334"/>
                </a:lnTo>
                <a:lnTo>
                  <a:pt x="9144" y="9906"/>
                </a:lnTo>
                <a:lnTo>
                  <a:pt x="2554986" y="9906"/>
                </a:lnTo>
                <a:lnTo>
                  <a:pt x="2554986" y="5334"/>
                </a:lnTo>
                <a:lnTo>
                  <a:pt x="2559558" y="9906"/>
                </a:lnTo>
                <a:lnTo>
                  <a:pt x="2559558" y="1431798"/>
                </a:lnTo>
                <a:lnTo>
                  <a:pt x="2564129" y="1431798"/>
                </a:lnTo>
                <a:close/>
              </a:path>
              <a:path w="2564129" h="1431925">
                <a:moveTo>
                  <a:pt x="9144" y="9906"/>
                </a:moveTo>
                <a:lnTo>
                  <a:pt x="9144" y="5334"/>
                </a:lnTo>
                <a:lnTo>
                  <a:pt x="4572" y="9906"/>
                </a:lnTo>
                <a:lnTo>
                  <a:pt x="9144" y="9906"/>
                </a:lnTo>
                <a:close/>
              </a:path>
              <a:path w="2564129" h="1431925">
                <a:moveTo>
                  <a:pt x="9144" y="1422653"/>
                </a:moveTo>
                <a:lnTo>
                  <a:pt x="9144" y="9906"/>
                </a:lnTo>
                <a:lnTo>
                  <a:pt x="4572" y="9906"/>
                </a:lnTo>
                <a:lnTo>
                  <a:pt x="4572" y="1422653"/>
                </a:lnTo>
                <a:lnTo>
                  <a:pt x="9144" y="1422653"/>
                </a:lnTo>
                <a:close/>
              </a:path>
              <a:path w="2564129" h="1431925">
                <a:moveTo>
                  <a:pt x="2559558" y="1422653"/>
                </a:moveTo>
                <a:lnTo>
                  <a:pt x="4572" y="1422653"/>
                </a:lnTo>
                <a:lnTo>
                  <a:pt x="9144" y="1427226"/>
                </a:lnTo>
                <a:lnTo>
                  <a:pt x="9144" y="1431798"/>
                </a:lnTo>
                <a:lnTo>
                  <a:pt x="2554986" y="1431798"/>
                </a:lnTo>
                <a:lnTo>
                  <a:pt x="2554986" y="1427226"/>
                </a:lnTo>
                <a:lnTo>
                  <a:pt x="2559558" y="1422653"/>
                </a:lnTo>
                <a:close/>
              </a:path>
              <a:path w="2564129" h="1431925">
                <a:moveTo>
                  <a:pt x="9144" y="1431798"/>
                </a:moveTo>
                <a:lnTo>
                  <a:pt x="9144" y="1427226"/>
                </a:lnTo>
                <a:lnTo>
                  <a:pt x="4572" y="1422653"/>
                </a:lnTo>
                <a:lnTo>
                  <a:pt x="4572" y="1431798"/>
                </a:lnTo>
                <a:lnTo>
                  <a:pt x="9144" y="1431798"/>
                </a:lnTo>
                <a:close/>
              </a:path>
              <a:path w="2564129" h="1431925">
                <a:moveTo>
                  <a:pt x="2559558" y="9906"/>
                </a:moveTo>
                <a:lnTo>
                  <a:pt x="2554986" y="5334"/>
                </a:lnTo>
                <a:lnTo>
                  <a:pt x="2554986" y="9906"/>
                </a:lnTo>
                <a:lnTo>
                  <a:pt x="2559558" y="9906"/>
                </a:lnTo>
                <a:close/>
              </a:path>
              <a:path w="2564129" h="1431925">
                <a:moveTo>
                  <a:pt x="2559558" y="1422653"/>
                </a:moveTo>
                <a:lnTo>
                  <a:pt x="2559558" y="9906"/>
                </a:lnTo>
                <a:lnTo>
                  <a:pt x="2554986" y="9906"/>
                </a:lnTo>
                <a:lnTo>
                  <a:pt x="2554986" y="1422653"/>
                </a:lnTo>
                <a:lnTo>
                  <a:pt x="2559558" y="1422653"/>
                </a:lnTo>
                <a:close/>
              </a:path>
              <a:path w="2564129" h="1431925">
                <a:moveTo>
                  <a:pt x="2559558" y="1431798"/>
                </a:moveTo>
                <a:lnTo>
                  <a:pt x="2559558" y="1422653"/>
                </a:lnTo>
                <a:lnTo>
                  <a:pt x="2554986" y="1427226"/>
                </a:lnTo>
                <a:lnTo>
                  <a:pt x="2554986" y="1431798"/>
                </a:lnTo>
                <a:lnTo>
                  <a:pt x="2559558" y="1431798"/>
                </a:lnTo>
                <a:close/>
              </a:path>
            </a:pathLst>
          </a:custGeom>
          <a:solidFill>
            <a:srgbClr val="000000"/>
          </a:solidFill>
        </p:spPr>
        <p:txBody>
          <a:bodyPr wrap="square" lIns="0" tIns="0" rIns="0" bIns="0" rtlCol="0"/>
          <a:lstStyle/>
          <a:p>
            <a:endParaRPr/>
          </a:p>
        </p:txBody>
      </p:sp>
      <p:sp>
        <p:nvSpPr>
          <p:cNvPr id="8" name="object 8"/>
          <p:cNvSpPr/>
          <p:nvPr/>
        </p:nvSpPr>
        <p:spPr>
          <a:xfrm>
            <a:off x="6977889" y="3534806"/>
            <a:ext cx="2574290" cy="0"/>
          </a:xfrm>
          <a:custGeom>
            <a:avLst/>
            <a:gdLst/>
            <a:ahLst/>
            <a:cxnLst/>
            <a:rect l="l" t="t" r="r" b="b"/>
            <a:pathLst>
              <a:path w="2574290">
                <a:moveTo>
                  <a:pt x="0" y="0"/>
                </a:moveTo>
                <a:lnTo>
                  <a:pt x="2574035" y="0"/>
                </a:lnTo>
              </a:path>
            </a:pathLst>
          </a:custGeom>
          <a:ln w="9143">
            <a:solidFill>
              <a:srgbClr val="000000"/>
            </a:solidFill>
          </a:ln>
        </p:spPr>
        <p:txBody>
          <a:bodyPr wrap="square" lIns="0" tIns="0" rIns="0" bIns="0" rtlCol="0"/>
          <a:lstStyle/>
          <a:p>
            <a:endParaRPr/>
          </a:p>
        </p:txBody>
      </p:sp>
      <p:sp>
        <p:nvSpPr>
          <p:cNvPr id="9" name="object 9"/>
          <p:cNvSpPr/>
          <p:nvPr/>
        </p:nvSpPr>
        <p:spPr>
          <a:xfrm>
            <a:off x="8067549" y="2631836"/>
            <a:ext cx="214629" cy="457200"/>
          </a:xfrm>
          <a:custGeom>
            <a:avLst/>
            <a:gdLst/>
            <a:ahLst/>
            <a:cxnLst/>
            <a:rect l="l" t="t" r="r" b="b"/>
            <a:pathLst>
              <a:path w="214629" h="457200">
                <a:moveTo>
                  <a:pt x="214122" y="98298"/>
                </a:moveTo>
                <a:lnTo>
                  <a:pt x="107442" y="0"/>
                </a:lnTo>
                <a:lnTo>
                  <a:pt x="0" y="98298"/>
                </a:lnTo>
                <a:lnTo>
                  <a:pt x="53340" y="98298"/>
                </a:lnTo>
                <a:lnTo>
                  <a:pt x="53340" y="457200"/>
                </a:lnTo>
                <a:lnTo>
                  <a:pt x="160782" y="457200"/>
                </a:lnTo>
                <a:lnTo>
                  <a:pt x="160782" y="98298"/>
                </a:lnTo>
                <a:lnTo>
                  <a:pt x="214122" y="98298"/>
                </a:lnTo>
                <a:close/>
              </a:path>
            </a:pathLst>
          </a:custGeom>
          <a:solidFill>
            <a:srgbClr val="CC0000"/>
          </a:solidFill>
        </p:spPr>
        <p:txBody>
          <a:bodyPr wrap="square" lIns="0" tIns="0" rIns="0" bIns="0" rtlCol="0"/>
          <a:lstStyle/>
          <a:p>
            <a:endParaRPr/>
          </a:p>
        </p:txBody>
      </p:sp>
      <p:sp>
        <p:nvSpPr>
          <p:cNvPr id="10" name="object 10"/>
          <p:cNvSpPr/>
          <p:nvPr/>
        </p:nvSpPr>
        <p:spPr>
          <a:xfrm>
            <a:off x="7007607" y="3523377"/>
            <a:ext cx="2523744" cy="881634"/>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8070596" y="4330335"/>
            <a:ext cx="214629" cy="457200"/>
          </a:xfrm>
          <a:custGeom>
            <a:avLst/>
            <a:gdLst/>
            <a:ahLst/>
            <a:cxnLst/>
            <a:rect l="l" t="t" r="r" b="b"/>
            <a:pathLst>
              <a:path w="214629" h="457200">
                <a:moveTo>
                  <a:pt x="214122" y="98298"/>
                </a:moveTo>
                <a:lnTo>
                  <a:pt x="106680" y="0"/>
                </a:lnTo>
                <a:lnTo>
                  <a:pt x="0" y="98298"/>
                </a:lnTo>
                <a:lnTo>
                  <a:pt x="53340" y="98298"/>
                </a:lnTo>
                <a:lnTo>
                  <a:pt x="53340" y="457200"/>
                </a:lnTo>
                <a:lnTo>
                  <a:pt x="160782" y="457200"/>
                </a:lnTo>
                <a:lnTo>
                  <a:pt x="160782" y="98298"/>
                </a:lnTo>
                <a:lnTo>
                  <a:pt x="214122" y="98298"/>
                </a:lnTo>
                <a:close/>
              </a:path>
            </a:pathLst>
          </a:custGeom>
          <a:solidFill>
            <a:srgbClr val="CC0000"/>
          </a:solidFill>
        </p:spPr>
        <p:txBody>
          <a:bodyPr wrap="square" lIns="0" tIns="0" rIns="0" bIns="0" rtlCol="0"/>
          <a:lstStyle/>
          <a:p>
            <a:endParaRPr/>
          </a:p>
        </p:txBody>
      </p:sp>
      <p:sp>
        <p:nvSpPr>
          <p:cNvPr id="12" name="object 12"/>
          <p:cNvSpPr txBox="1"/>
          <p:nvPr/>
        </p:nvSpPr>
        <p:spPr>
          <a:xfrm>
            <a:off x="7007607" y="3098434"/>
            <a:ext cx="2544445" cy="330200"/>
          </a:xfrm>
          <a:prstGeom prst="rect">
            <a:avLst/>
          </a:prstGeom>
        </p:spPr>
        <p:txBody>
          <a:bodyPr vert="horz" wrap="square" lIns="0" tIns="12065" rIns="0" bIns="0" rtlCol="0">
            <a:spAutoFit/>
          </a:bodyPr>
          <a:lstStyle/>
          <a:p>
            <a:pPr marL="32384">
              <a:lnSpc>
                <a:spcPct val="100000"/>
              </a:lnSpc>
              <a:spcBef>
                <a:spcPts val="95"/>
              </a:spcBef>
            </a:pPr>
            <a:r>
              <a:rPr sz="2000" dirty="0">
                <a:latin typeface="Tahoma"/>
                <a:cs typeface="Tahoma"/>
              </a:rPr>
              <a:t>dữ liệu lưu vùng đệm</a:t>
            </a:r>
            <a:endParaRPr sz="2000">
              <a:latin typeface="Tahoma"/>
              <a:cs typeface="Tahoma"/>
            </a:endParaRPr>
          </a:p>
        </p:txBody>
      </p:sp>
      <p:sp>
        <p:nvSpPr>
          <p:cNvPr id="13" name="object 13"/>
          <p:cNvSpPr/>
          <p:nvPr/>
        </p:nvSpPr>
        <p:spPr>
          <a:xfrm>
            <a:off x="6991605" y="3530997"/>
            <a:ext cx="2565400" cy="0"/>
          </a:xfrm>
          <a:custGeom>
            <a:avLst/>
            <a:gdLst/>
            <a:ahLst/>
            <a:cxnLst/>
            <a:rect l="l" t="t" r="r" b="b"/>
            <a:pathLst>
              <a:path w="2565400">
                <a:moveTo>
                  <a:pt x="0" y="0"/>
                </a:moveTo>
                <a:lnTo>
                  <a:pt x="2564892" y="0"/>
                </a:lnTo>
              </a:path>
            </a:pathLst>
          </a:custGeom>
          <a:ln w="39624">
            <a:solidFill>
              <a:srgbClr val="000000"/>
            </a:solidFill>
          </a:ln>
        </p:spPr>
        <p:txBody>
          <a:bodyPr wrap="square" lIns="0" tIns="0" rIns="0" bIns="0" rtlCol="0"/>
          <a:lstStyle/>
          <a:p>
            <a:endParaRPr/>
          </a:p>
        </p:txBody>
      </p:sp>
      <p:sp>
        <p:nvSpPr>
          <p:cNvPr id="14" name="object 14"/>
          <p:cNvSpPr txBox="1"/>
          <p:nvPr/>
        </p:nvSpPr>
        <p:spPr>
          <a:xfrm>
            <a:off x="7000749" y="3816239"/>
            <a:ext cx="2551430" cy="635000"/>
          </a:xfrm>
          <a:prstGeom prst="rect">
            <a:avLst/>
          </a:prstGeom>
        </p:spPr>
        <p:txBody>
          <a:bodyPr vert="horz" wrap="square" lIns="0" tIns="12065" rIns="0" bIns="0" rtlCol="0">
            <a:spAutoFit/>
          </a:bodyPr>
          <a:lstStyle/>
          <a:p>
            <a:pPr marL="922019" marR="103505" indent="-922655">
              <a:lnSpc>
                <a:spcPct val="100000"/>
              </a:lnSpc>
              <a:spcBef>
                <a:spcPts val="95"/>
              </a:spcBef>
            </a:pPr>
            <a:r>
              <a:rPr sz="2000" dirty="0">
                <a:latin typeface="Tahoma"/>
                <a:cs typeface="Tahoma"/>
              </a:rPr>
              <a:t>không gian vùng đệm  trống</a:t>
            </a:r>
            <a:endParaRPr sz="2000">
              <a:latin typeface="Tahoma"/>
              <a:cs typeface="Tahoma"/>
            </a:endParaRPr>
          </a:p>
        </p:txBody>
      </p:sp>
      <p:sp>
        <p:nvSpPr>
          <p:cNvPr id="15" name="object 15"/>
          <p:cNvSpPr txBox="1"/>
          <p:nvPr/>
        </p:nvSpPr>
        <p:spPr>
          <a:xfrm>
            <a:off x="6169661" y="3784235"/>
            <a:ext cx="514350"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Courier New"/>
                <a:cs typeface="Courier New"/>
              </a:rPr>
              <a:t>rwnd</a:t>
            </a:r>
            <a:endParaRPr sz="1600">
              <a:latin typeface="Courier New"/>
              <a:cs typeface="Courier New"/>
            </a:endParaRPr>
          </a:p>
        </p:txBody>
      </p:sp>
      <p:sp>
        <p:nvSpPr>
          <p:cNvPr id="16" name="object 16"/>
          <p:cNvSpPr/>
          <p:nvPr/>
        </p:nvSpPr>
        <p:spPr>
          <a:xfrm>
            <a:off x="6563361" y="3509660"/>
            <a:ext cx="76200" cy="322580"/>
          </a:xfrm>
          <a:custGeom>
            <a:avLst/>
            <a:gdLst/>
            <a:ahLst/>
            <a:cxnLst/>
            <a:rect l="l" t="t" r="r" b="b"/>
            <a:pathLst>
              <a:path w="76200" h="322579">
                <a:moveTo>
                  <a:pt x="76200" y="76200"/>
                </a:moveTo>
                <a:lnTo>
                  <a:pt x="38100" y="0"/>
                </a:lnTo>
                <a:lnTo>
                  <a:pt x="0" y="76200"/>
                </a:lnTo>
                <a:lnTo>
                  <a:pt x="33528" y="76200"/>
                </a:lnTo>
                <a:lnTo>
                  <a:pt x="33528" y="63245"/>
                </a:lnTo>
                <a:lnTo>
                  <a:pt x="43434" y="63245"/>
                </a:lnTo>
                <a:lnTo>
                  <a:pt x="43434" y="76200"/>
                </a:lnTo>
                <a:lnTo>
                  <a:pt x="76200" y="76200"/>
                </a:lnTo>
                <a:close/>
              </a:path>
              <a:path w="76200" h="322579">
                <a:moveTo>
                  <a:pt x="43434" y="76200"/>
                </a:moveTo>
                <a:lnTo>
                  <a:pt x="43434" y="63245"/>
                </a:lnTo>
                <a:lnTo>
                  <a:pt x="33528" y="63245"/>
                </a:lnTo>
                <a:lnTo>
                  <a:pt x="33528" y="76200"/>
                </a:lnTo>
                <a:lnTo>
                  <a:pt x="43434" y="76200"/>
                </a:lnTo>
                <a:close/>
              </a:path>
              <a:path w="76200" h="322579">
                <a:moveTo>
                  <a:pt x="43434" y="322325"/>
                </a:moveTo>
                <a:lnTo>
                  <a:pt x="43434" y="76200"/>
                </a:lnTo>
                <a:lnTo>
                  <a:pt x="33528" y="76200"/>
                </a:lnTo>
                <a:lnTo>
                  <a:pt x="33528" y="322325"/>
                </a:lnTo>
                <a:lnTo>
                  <a:pt x="43434" y="322325"/>
                </a:lnTo>
                <a:close/>
              </a:path>
            </a:pathLst>
          </a:custGeom>
          <a:solidFill>
            <a:srgbClr val="000000"/>
          </a:solidFill>
        </p:spPr>
        <p:txBody>
          <a:bodyPr wrap="square" lIns="0" tIns="0" rIns="0" bIns="0" rtlCol="0"/>
          <a:lstStyle/>
          <a:p>
            <a:endParaRPr/>
          </a:p>
        </p:txBody>
      </p:sp>
      <p:sp>
        <p:nvSpPr>
          <p:cNvPr id="17" name="object 17"/>
          <p:cNvSpPr/>
          <p:nvPr/>
        </p:nvSpPr>
        <p:spPr>
          <a:xfrm>
            <a:off x="6563361" y="4034679"/>
            <a:ext cx="76200" cy="322580"/>
          </a:xfrm>
          <a:custGeom>
            <a:avLst/>
            <a:gdLst/>
            <a:ahLst/>
            <a:cxnLst/>
            <a:rect l="l" t="t" r="r" b="b"/>
            <a:pathLst>
              <a:path w="76200" h="322579">
                <a:moveTo>
                  <a:pt x="76200" y="246125"/>
                </a:moveTo>
                <a:lnTo>
                  <a:pt x="0" y="246125"/>
                </a:lnTo>
                <a:lnTo>
                  <a:pt x="33528" y="313182"/>
                </a:lnTo>
                <a:lnTo>
                  <a:pt x="33528" y="259079"/>
                </a:lnTo>
                <a:lnTo>
                  <a:pt x="43434" y="259079"/>
                </a:lnTo>
                <a:lnTo>
                  <a:pt x="43434" y="311657"/>
                </a:lnTo>
                <a:lnTo>
                  <a:pt x="76200" y="246125"/>
                </a:lnTo>
                <a:close/>
              </a:path>
              <a:path w="76200" h="322579">
                <a:moveTo>
                  <a:pt x="43434" y="246125"/>
                </a:moveTo>
                <a:lnTo>
                  <a:pt x="43434" y="0"/>
                </a:lnTo>
                <a:lnTo>
                  <a:pt x="33528" y="0"/>
                </a:lnTo>
                <a:lnTo>
                  <a:pt x="33528" y="246125"/>
                </a:lnTo>
                <a:lnTo>
                  <a:pt x="43434" y="246125"/>
                </a:lnTo>
                <a:close/>
              </a:path>
              <a:path w="76200" h="322579">
                <a:moveTo>
                  <a:pt x="43434" y="311657"/>
                </a:moveTo>
                <a:lnTo>
                  <a:pt x="43434" y="259079"/>
                </a:lnTo>
                <a:lnTo>
                  <a:pt x="33528" y="259079"/>
                </a:lnTo>
                <a:lnTo>
                  <a:pt x="33528" y="313182"/>
                </a:lnTo>
                <a:lnTo>
                  <a:pt x="38100" y="322325"/>
                </a:lnTo>
                <a:lnTo>
                  <a:pt x="43434" y="311657"/>
                </a:lnTo>
                <a:close/>
              </a:path>
            </a:pathLst>
          </a:custGeom>
          <a:solidFill>
            <a:srgbClr val="000000"/>
          </a:solidFill>
        </p:spPr>
        <p:txBody>
          <a:bodyPr wrap="square" lIns="0" tIns="0" rIns="0" bIns="0" rtlCol="0"/>
          <a:lstStyle/>
          <a:p>
            <a:endParaRPr/>
          </a:p>
        </p:txBody>
      </p:sp>
      <p:sp>
        <p:nvSpPr>
          <p:cNvPr id="18" name="object 18"/>
          <p:cNvSpPr/>
          <p:nvPr/>
        </p:nvSpPr>
        <p:spPr>
          <a:xfrm>
            <a:off x="6447537" y="4366529"/>
            <a:ext cx="476250" cy="0"/>
          </a:xfrm>
          <a:custGeom>
            <a:avLst/>
            <a:gdLst/>
            <a:ahLst/>
            <a:cxnLst/>
            <a:rect l="l" t="t" r="r" b="b"/>
            <a:pathLst>
              <a:path w="476250">
                <a:moveTo>
                  <a:pt x="0" y="0"/>
                </a:moveTo>
                <a:lnTo>
                  <a:pt x="476250" y="0"/>
                </a:lnTo>
              </a:path>
            </a:pathLst>
          </a:custGeom>
          <a:ln w="19050">
            <a:solidFill>
              <a:srgbClr val="000000"/>
            </a:solidFill>
          </a:ln>
        </p:spPr>
        <p:txBody>
          <a:bodyPr wrap="square" lIns="0" tIns="0" rIns="0" bIns="0" rtlCol="0"/>
          <a:lstStyle/>
          <a:p>
            <a:endParaRPr/>
          </a:p>
        </p:txBody>
      </p:sp>
      <p:sp>
        <p:nvSpPr>
          <p:cNvPr id="19" name="object 19"/>
          <p:cNvSpPr/>
          <p:nvPr/>
        </p:nvSpPr>
        <p:spPr>
          <a:xfrm>
            <a:off x="6497066" y="3498611"/>
            <a:ext cx="196850" cy="0"/>
          </a:xfrm>
          <a:custGeom>
            <a:avLst/>
            <a:gdLst/>
            <a:ahLst/>
            <a:cxnLst/>
            <a:rect l="l" t="t" r="r" b="b"/>
            <a:pathLst>
              <a:path w="196850">
                <a:moveTo>
                  <a:pt x="0" y="0"/>
                </a:moveTo>
                <a:lnTo>
                  <a:pt x="196596" y="0"/>
                </a:lnTo>
              </a:path>
            </a:pathLst>
          </a:custGeom>
          <a:ln w="19050">
            <a:solidFill>
              <a:srgbClr val="000000"/>
            </a:solidFill>
          </a:ln>
        </p:spPr>
        <p:txBody>
          <a:bodyPr wrap="square" lIns="0" tIns="0" rIns="0" bIns="0" rtlCol="0"/>
          <a:lstStyle/>
          <a:p>
            <a:endParaRPr/>
          </a:p>
        </p:txBody>
      </p:sp>
      <p:sp>
        <p:nvSpPr>
          <p:cNvPr id="20" name="object 20"/>
          <p:cNvSpPr/>
          <p:nvPr/>
        </p:nvSpPr>
        <p:spPr>
          <a:xfrm>
            <a:off x="6470396" y="2972831"/>
            <a:ext cx="476250" cy="0"/>
          </a:xfrm>
          <a:custGeom>
            <a:avLst/>
            <a:gdLst/>
            <a:ahLst/>
            <a:cxnLst/>
            <a:rect l="l" t="t" r="r" b="b"/>
            <a:pathLst>
              <a:path w="476250">
                <a:moveTo>
                  <a:pt x="0" y="0"/>
                </a:moveTo>
                <a:lnTo>
                  <a:pt x="476250" y="0"/>
                </a:lnTo>
              </a:path>
            </a:pathLst>
          </a:custGeom>
          <a:ln w="19050">
            <a:solidFill>
              <a:srgbClr val="000000"/>
            </a:solidFill>
          </a:ln>
        </p:spPr>
        <p:txBody>
          <a:bodyPr wrap="square" lIns="0" tIns="0" rIns="0" bIns="0" rtlCol="0"/>
          <a:lstStyle/>
          <a:p>
            <a:endParaRPr/>
          </a:p>
        </p:txBody>
      </p:sp>
      <p:sp>
        <p:nvSpPr>
          <p:cNvPr id="21" name="object 21"/>
          <p:cNvSpPr/>
          <p:nvPr/>
        </p:nvSpPr>
        <p:spPr>
          <a:xfrm>
            <a:off x="6820916" y="2977784"/>
            <a:ext cx="76200" cy="177546"/>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6819393" y="3401456"/>
            <a:ext cx="76200" cy="954405"/>
          </a:xfrm>
          <a:custGeom>
            <a:avLst/>
            <a:gdLst/>
            <a:ahLst/>
            <a:cxnLst/>
            <a:rect l="l" t="t" r="r" b="b"/>
            <a:pathLst>
              <a:path w="76200" h="954404">
                <a:moveTo>
                  <a:pt x="76200" y="877824"/>
                </a:moveTo>
                <a:lnTo>
                  <a:pt x="0" y="877824"/>
                </a:lnTo>
                <a:lnTo>
                  <a:pt x="33527" y="944879"/>
                </a:lnTo>
                <a:lnTo>
                  <a:pt x="33527" y="890777"/>
                </a:lnTo>
                <a:lnTo>
                  <a:pt x="42671" y="890777"/>
                </a:lnTo>
                <a:lnTo>
                  <a:pt x="42671" y="944880"/>
                </a:lnTo>
                <a:lnTo>
                  <a:pt x="76200" y="877824"/>
                </a:lnTo>
                <a:close/>
              </a:path>
              <a:path w="76200" h="954404">
                <a:moveTo>
                  <a:pt x="42671" y="877824"/>
                </a:moveTo>
                <a:lnTo>
                  <a:pt x="42671" y="0"/>
                </a:lnTo>
                <a:lnTo>
                  <a:pt x="33527" y="0"/>
                </a:lnTo>
                <a:lnTo>
                  <a:pt x="33527" y="877824"/>
                </a:lnTo>
                <a:lnTo>
                  <a:pt x="42671" y="877824"/>
                </a:lnTo>
                <a:close/>
              </a:path>
              <a:path w="76200" h="954404">
                <a:moveTo>
                  <a:pt x="42671" y="944880"/>
                </a:moveTo>
                <a:lnTo>
                  <a:pt x="42671" y="890777"/>
                </a:lnTo>
                <a:lnTo>
                  <a:pt x="33527" y="890777"/>
                </a:lnTo>
                <a:lnTo>
                  <a:pt x="33527" y="944879"/>
                </a:lnTo>
                <a:lnTo>
                  <a:pt x="38100" y="954024"/>
                </a:lnTo>
                <a:lnTo>
                  <a:pt x="42671" y="944880"/>
                </a:lnTo>
                <a:close/>
              </a:path>
            </a:pathLst>
          </a:custGeom>
          <a:solidFill>
            <a:srgbClr val="000000"/>
          </a:solidFill>
        </p:spPr>
        <p:txBody>
          <a:bodyPr wrap="square" lIns="0" tIns="0" rIns="0" bIns="0" rtlCol="0"/>
          <a:lstStyle/>
          <a:p>
            <a:endParaRPr/>
          </a:p>
        </p:txBody>
      </p:sp>
      <p:sp>
        <p:nvSpPr>
          <p:cNvPr id="23" name="object 23"/>
          <p:cNvSpPr txBox="1"/>
          <p:nvPr/>
        </p:nvSpPr>
        <p:spPr>
          <a:xfrm>
            <a:off x="5783326" y="3146440"/>
            <a:ext cx="1125220"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Courier New"/>
                <a:cs typeface="Courier New"/>
              </a:rPr>
              <a:t>RcvBuffer</a:t>
            </a:r>
            <a:endParaRPr sz="1600">
              <a:latin typeface="Courier New"/>
              <a:cs typeface="Courier New"/>
            </a:endParaRPr>
          </a:p>
        </p:txBody>
      </p:sp>
      <p:sp>
        <p:nvSpPr>
          <p:cNvPr id="24" name="object 24"/>
          <p:cNvSpPr txBox="1"/>
          <p:nvPr/>
        </p:nvSpPr>
        <p:spPr>
          <a:xfrm>
            <a:off x="7216649" y="4786124"/>
            <a:ext cx="2559177" cy="273152"/>
          </a:xfrm>
          <a:prstGeom prst="rect">
            <a:avLst/>
          </a:prstGeom>
        </p:spPr>
        <p:txBody>
          <a:bodyPr vert="horz" wrap="square" lIns="0" tIns="11430" rIns="0" bIns="0" rtlCol="0">
            <a:spAutoFit/>
          </a:bodyPr>
          <a:lstStyle/>
          <a:p>
            <a:pPr marL="12700">
              <a:lnSpc>
                <a:spcPct val="100000"/>
              </a:lnSpc>
              <a:spcBef>
                <a:spcPts val="90"/>
              </a:spcBef>
            </a:pPr>
            <a:r>
              <a:rPr sz="1700" i="1" dirty="0">
                <a:latin typeface="Tahoma"/>
                <a:cs typeface="Tahoma"/>
              </a:rPr>
              <a:t>TCP segment payloads</a:t>
            </a:r>
            <a:endParaRPr sz="1700" dirty="0">
              <a:latin typeface="Tahoma"/>
              <a:cs typeface="Tahoma"/>
            </a:endParaRPr>
          </a:p>
        </p:txBody>
      </p:sp>
      <p:sp>
        <p:nvSpPr>
          <p:cNvPr id="25" name="object 25"/>
          <p:cNvSpPr txBox="1"/>
          <p:nvPr/>
        </p:nvSpPr>
        <p:spPr>
          <a:xfrm>
            <a:off x="7244858" y="2286000"/>
            <a:ext cx="2813542" cy="273152"/>
          </a:xfrm>
          <a:prstGeom prst="rect">
            <a:avLst/>
          </a:prstGeom>
        </p:spPr>
        <p:txBody>
          <a:bodyPr vert="horz" wrap="square" lIns="0" tIns="11430" rIns="0" bIns="0" rtlCol="0">
            <a:spAutoFit/>
          </a:bodyPr>
          <a:lstStyle/>
          <a:p>
            <a:pPr marL="12700">
              <a:lnSpc>
                <a:spcPct val="100000"/>
              </a:lnSpc>
              <a:spcBef>
                <a:spcPts val="90"/>
              </a:spcBef>
            </a:pPr>
            <a:r>
              <a:rPr sz="1700" i="1" dirty="0">
                <a:latin typeface="Tahoma"/>
                <a:cs typeface="Tahoma"/>
              </a:rPr>
              <a:t>tới tiến trình ứng dụng</a:t>
            </a:r>
            <a:endParaRPr sz="1700" dirty="0">
              <a:latin typeface="Tahoma"/>
              <a:cs typeface="Tahoma"/>
            </a:endParaRPr>
          </a:p>
        </p:txBody>
      </p:sp>
      <p:sp>
        <p:nvSpPr>
          <p:cNvPr id="26" name="object 26"/>
          <p:cNvSpPr txBox="1"/>
          <p:nvPr/>
        </p:nvSpPr>
        <p:spPr>
          <a:xfrm>
            <a:off x="1029716" y="2032507"/>
            <a:ext cx="4115561" cy="5308505"/>
          </a:xfrm>
          <a:prstGeom prst="rect">
            <a:avLst/>
          </a:prstGeom>
        </p:spPr>
        <p:txBody>
          <a:bodyPr vert="horz" wrap="square" lIns="0" tIns="12065" rIns="0" bIns="0" rtlCol="0">
            <a:spAutoFit/>
          </a:bodyPr>
          <a:lstStyle/>
          <a:p>
            <a:pPr marL="355600" marR="75565" indent="-342900">
              <a:lnSpc>
                <a:spcPct val="100000"/>
              </a:lnSpc>
              <a:spcBef>
                <a:spcPts val="95"/>
              </a:spcBef>
              <a:buClr>
                <a:srgbClr val="3333CC"/>
              </a:buClr>
              <a:buSzPct val="85000"/>
              <a:buFont typeface="Wingdings"/>
              <a:buChar char=""/>
              <a:tabLst>
                <a:tab pos="354965" algn="l"/>
                <a:tab pos="355600" algn="l"/>
              </a:tabLst>
            </a:pPr>
            <a:r>
              <a:rPr sz="2000" dirty="0">
                <a:latin typeface="Arial"/>
                <a:cs typeface="Arial"/>
              </a:rPr>
              <a:t>Nút nhận thông báo không  gian vùng đệm còn trống </a:t>
            </a:r>
            <a:r>
              <a:rPr sz="2000" dirty="0" err="1">
                <a:latin typeface="Arial"/>
                <a:cs typeface="Arial"/>
              </a:rPr>
              <a:t>bằng</a:t>
            </a:r>
            <a:r>
              <a:rPr sz="2000" dirty="0">
                <a:latin typeface="Arial"/>
                <a:cs typeface="Arial"/>
              </a:rPr>
              <a:t> </a:t>
            </a:r>
            <a:r>
              <a:rPr sz="2000" dirty="0" err="1">
                <a:latin typeface="Arial"/>
                <a:cs typeface="Arial"/>
              </a:rPr>
              <a:t>cách</a:t>
            </a:r>
            <a:r>
              <a:rPr sz="2000" dirty="0">
                <a:latin typeface="Arial"/>
                <a:cs typeface="Arial"/>
              </a:rPr>
              <a:t> đưa giá </a:t>
            </a:r>
            <a:r>
              <a:rPr sz="2000" dirty="0" err="1">
                <a:latin typeface="Arial"/>
                <a:cs typeface="Arial"/>
              </a:rPr>
              <a:t>trị</a:t>
            </a:r>
            <a:r>
              <a:rPr sz="2000" dirty="0">
                <a:latin typeface="Arial"/>
                <a:cs typeface="Arial"/>
              </a:rPr>
              <a:t> </a:t>
            </a:r>
            <a:r>
              <a:rPr sz="2000" b="1" dirty="0" err="1">
                <a:latin typeface="Courier New"/>
                <a:cs typeface="Courier New"/>
              </a:rPr>
              <a:t>rwnd</a:t>
            </a:r>
            <a:r>
              <a:rPr lang="en-GB" sz="2000" b="1" dirty="0">
                <a:latin typeface="Courier New"/>
                <a:cs typeface="Courier New"/>
              </a:rPr>
              <a:t>(receive window)</a:t>
            </a:r>
            <a:r>
              <a:rPr sz="2000" dirty="0" err="1">
                <a:latin typeface="Arial"/>
                <a:cs typeface="Arial"/>
              </a:rPr>
              <a:t>trong</a:t>
            </a:r>
            <a:r>
              <a:rPr sz="2000" dirty="0">
                <a:latin typeface="Arial"/>
                <a:cs typeface="Arial"/>
              </a:rPr>
              <a:t> TCP header của segment gửi  từ nút nhận tới nút gửi</a:t>
            </a:r>
          </a:p>
          <a:p>
            <a:pPr marL="755650" marR="5080" lvl="1" indent="-285750" algn="just">
              <a:lnSpc>
                <a:spcPct val="102899"/>
              </a:lnSpc>
              <a:spcBef>
                <a:spcPts val="254"/>
              </a:spcBef>
              <a:buClr>
                <a:srgbClr val="3333CC"/>
              </a:buClr>
              <a:buSzPct val="75000"/>
              <a:buFont typeface="Wingdings"/>
              <a:buChar char=""/>
              <a:tabLst>
                <a:tab pos="755650" algn="l"/>
              </a:tabLst>
            </a:pPr>
            <a:r>
              <a:rPr lang="en-US" sz="1800" b="1" dirty="0" err="1">
                <a:latin typeface="Courier New"/>
                <a:cs typeface="Courier New"/>
              </a:rPr>
              <a:t>Kích</a:t>
            </a:r>
            <a:r>
              <a:rPr lang="en-US" sz="1800" b="1" dirty="0">
                <a:latin typeface="Courier New"/>
                <a:cs typeface="Courier New"/>
              </a:rPr>
              <a:t> </a:t>
            </a:r>
            <a:r>
              <a:rPr lang="en-US" sz="1800" b="1" dirty="0" err="1">
                <a:latin typeface="Courier New"/>
                <a:cs typeface="Courier New"/>
              </a:rPr>
              <a:t>thước</a:t>
            </a:r>
            <a:r>
              <a:rPr lang="en-US" sz="1800" b="1" dirty="0">
                <a:latin typeface="Courier New"/>
                <a:cs typeface="Courier New"/>
              </a:rPr>
              <a:t> </a:t>
            </a:r>
            <a:r>
              <a:rPr lang="en-US" sz="1800" b="1" dirty="0" err="1">
                <a:latin typeface="Courier New"/>
                <a:cs typeface="Courier New"/>
              </a:rPr>
              <a:t>của</a:t>
            </a:r>
            <a:r>
              <a:rPr lang="en-US" sz="1800" b="1" dirty="0">
                <a:latin typeface="Courier New"/>
                <a:cs typeface="Courier New"/>
              </a:rPr>
              <a:t> </a:t>
            </a:r>
            <a:r>
              <a:rPr sz="1800" b="1" dirty="0" err="1">
                <a:latin typeface="Courier New"/>
                <a:cs typeface="Courier New"/>
              </a:rPr>
              <a:t>RcvBuffer</a:t>
            </a:r>
            <a:r>
              <a:rPr sz="1800" b="1" dirty="0">
                <a:latin typeface="Courier New"/>
                <a:cs typeface="Courier New"/>
              </a:rPr>
              <a:t> </a:t>
            </a:r>
            <a:r>
              <a:rPr lang="en-US" dirty="0" err="1">
                <a:latin typeface="Arial"/>
                <a:cs typeface="Arial"/>
              </a:rPr>
              <a:t>được</a:t>
            </a:r>
            <a:r>
              <a:rPr lang="en-US" dirty="0">
                <a:latin typeface="Arial"/>
                <a:cs typeface="Arial"/>
              </a:rPr>
              <a:t> </a:t>
            </a:r>
            <a:r>
              <a:rPr lang="en-US" dirty="0" err="1">
                <a:latin typeface="Arial"/>
                <a:cs typeface="Arial"/>
              </a:rPr>
              <a:t>đặt</a:t>
            </a:r>
            <a:r>
              <a:rPr lang="en-US" dirty="0">
                <a:latin typeface="Arial"/>
                <a:cs typeface="Arial"/>
              </a:rPr>
              <a:t> </a:t>
            </a:r>
            <a:r>
              <a:rPr lang="en-US" dirty="0" err="1">
                <a:latin typeface="Arial"/>
                <a:cs typeface="Arial"/>
              </a:rPr>
              <a:t>thông</a:t>
            </a:r>
            <a:r>
              <a:rPr lang="en-US" dirty="0">
                <a:latin typeface="Arial"/>
                <a:cs typeface="Arial"/>
              </a:rPr>
              <a:t> </a:t>
            </a:r>
            <a:r>
              <a:rPr sz="1800" dirty="0">
                <a:latin typeface="Arial"/>
                <a:cs typeface="Arial"/>
              </a:rPr>
              <a:t>qua </a:t>
            </a:r>
            <a:r>
              <a:rPr sz="1800" dirty="0" err="1">
                <a:latin typeface="Arial"/>
                <a:cs typeface="Arial"/>
              </a:rPr>
              <a:t>tùy</a:t>
            </a:r>
            <a:r>
              <a:rPr sz="1800" dirty="0">
                <a:latin typeface="Arial"/>
                <a:cs typeface="Arial"/>
              </a:rPr>
              <a:t> </a:t>
            </a:r>
            <a:r>
              <a:rPr sz="1800" dirty="0" err="1">
                <a:latin typeface="Arial"/>
                <a:cs typeface="Arial"/>
              </a:rPr>
              <a:t>chọn</a:t>
            </a:r>
            <a:r>
              <a:rPr sz="1800" dirty="0">
                <a:latin typeface="Arial"/>
                <a:cs typeface="Arial"/>
              </a:rPr>
              <a:t> </a:t>
            </a:r>
            <a:r>
              <a:rPr lang="en-US" sz="1800" dirty="0" err="1">
                <a:latin typeface="Arial"/>
                <a:cs typeface="Arial"/>
              </a:rPr>
              <a:t>của</a:t>
            </a:r>
            <a:r>
              <a:rPr lang="en-US" sz="1800" dirty="0">
                <a:latin typeface="Arial"/>
                <a:cs typeface="Arial"/>
              </a:rPr>
              <a:t> </a:t>
            </a:r>
            <a:r>
              <a:rPr sz="1800" dirty="0">
                <a:latin typeface="Arial"/>
                <a:cs typeface="Arial"/>
              </a:rPr>
              <a:t>socket (thường mặc định  4096 byte)</a:t>
            </a:r>
          </a:p>
          <a:p>
            <a:pPr marL="755650" marR="307340" lvl="1" indent="-285750">
              <a:lnSpc>
                <a:spcPts val="2030"/>
              </a:lnSpc>
              <a:spcBef>
                <a:spcPts val="605"/>
              </a:spcBef>
              <a:buClr>
                <a:srgbClr val="3333CC"/>
              </a:buClr>
              <a:buSzPct val="75000"/>
              <a:buFont typeface="Wingdings"/>
              <a:buChar char=""/>
              <a:tabLst>
                <a:tab pos="755650" algn="l"/>
              </a:tabLst>
            </a:pPr>
            <a:r>
              <a:rPr sz="1800" dirty="0">
                <a:latin typeface="Arial"/>
                <a:cs typeface="Arial"/>
              </a:rPr>
              <a:t>nhiều hệ điều hành tự động điều  chỉnh </a:t>
            </a:r>
            <a:r>
              <a:rPr sz="1800" b="1" dirty="0">
                <a:latin typeface="Courier New"/>
                <a:cs typeface="Courier New"/>
              </a:rPr>
              <a:t>RcvBuffer</a:t>
            </a:r>
            <a:endParaRPr sz="1800" dirty="0">
              <a:latin typeface="Courier New"/>
              <a:cs typeface="Courier New"/>
            </a:endParaRPr>
          </a:p>
          <a:p>
            <a:pPr marL="355600" marR="186690" indent="-342900">
              <a:lnSpc>
                <a:spcPct val="100000"/>
              </a:lnSpc>
              <a:spcBef>
                <a:spcPts val="555"/>
              </a:spcBef>
              <a:buClr>
                <a:srgbClr val="3333CC"/>
              </a:buClr>
              <a:buSzPct val="85000"/>
              <a:buFont typeface="Wingdings"/>
              <a:buChar char=""/>
              <a:tabLst>
                <a:tab pos="354965" algn="l"/>
                <a:tab pos="355600" algn="l"/>
              </a:tabLst>
            </a:pPr>
            <a:r>
              <a:rPr sz="2000" dirty="0">
                <a:latin typeface="Arial"/>
                <a:cs typeface="Arial"/>
              </a:rPr>
              <a:t>Nút gửi giới hạn dữ liệu chưa  được ack bằng giá trị </a:t>
            </a:r>
            <a:r>
              <a:rPr sz="2000" b="1" dirty="0">
                <a:latin typeface="Courier New"/>
                <a:cs typeface="Courier New"/>
              </a:rPr>
              <a:t>rwnd  </a:t>
            </a:r>
            <a:r>
              <a:rPr sz="2000" dirty="0">
                <a:latin typeface="Arial"/>
                <a:cs typeface="Arial"/>
              </a:rPr>
              <a:t>của nút nhận</a:t>
            </a:r>
          </a:p>
          <a:p>
            <a:pPr marL="355600" marR="654050" indent="-342900">
              <a:lnSpc>
                <a:spcPct val="100000"/>
              </a:lnSpc>
              <a:spcBef>
                <a:spcPts val="480"/>
              </a:spcBef>
              <a:buClr>
                <a:srgbClr val="3333CC"/>
              </a:buClr>
              <a:buSzPct val="85000"/>
              <a:buFont typeface="Wingdings"/>
              <a:buChar char=""/>
              <a:tabLst>
                <a:tab pos="354965" algn="l"/>
                <a:tab pos="355600" algn="l"/>
              </a:tabLst>
            </a:pPr>
            <a:r>
              <a:rPr sz="2000" dirty="0">
                <a:latin typeface="Arial"/>
                <a:cs typeface="Arial"/>
              </a:rPr>
              <a:t>Đảm bảo vùng đệm nhận  không bị tràn</a:t>
            </a:r>
          </a:p>
        </p:txBody>
      </p:sp>
      <p:sp>
        <p:nvSpPr>
          <p:cNvPr id="27" name="object 27"/>
          <p:cNvSpPr txBox="1"/>
          <p:nvPr/>
        </p:nvSpPr>
        <p:spPr>
          <a:xfrm>
            <a:off x="6558281" y="5436299"/>
            <a:ext cx="3500119" cy="337272"/>
          </a:xfrm>
          <a:prstGeom prst="rect">
            <a:avLst/>
          </a:prstGeom>
        </p:spPr>
        <p:txBody>
          <a:bodyPr vert="horz" wrap="square" lIns="0" tIns="13970" rIns="0" bIns="0" rtlCol="0">
            <a:spAutoFit/>
          </a:bodyPr>
          <a:lstStyle/>
          <a:p>
            <a:pPr marL="12700">
              <a:lnSpc>
                <a:spcPct val="100000"/>
              </a:lnSpc>
              <a:spcBef>
                <a:spcPts val="110"/>
              </a:spcBef>
            </a:pPr>
            <a:r>
              <a:rPr lang="en-US" sz="2100" i="1" dirty="0" err="1">
                <a:latin typeface="Tahoma"/>
                <a:cs typeface="Tahoma"/>
              </a:rPr>
              <a:t>Bộ</a:t>
            </a:r>
            <a:r>
              <a:rPr lang="en-US" sz="2100" i="1" dirty="0">
                <a:latin typeface="Tahoma"/>
                <a:cs typeface="Tahoma"/>
              </a:rPr>
              <a:t> </a:t>
            </a:r>
            <a:r>
              <a:rPr sz="2100" i="1" dirty="0" err="1">
                <a:latin typeface="Tahoma"/>
                <a:cs typeface="Tahoma"/>
              </a:rPr>
              <a:t>đệm</a:t>
            </a:r>
            <a:r>
              <a:rPr sz="2100" i="1" dirty="0">
                <a:latin typeface="Tahoma"/>
                <a:cs typeface="Tahoma"/>
              </a:rPr>
              <a:t> phía nút nhận</a:t>
            </a:r>
            <a:endParaRPr sz="2100" dirty="0">
              <a:latin typeface="Tahoma"/>
              <a:cs typeface="Tahoma"/>
            </a:endParaRPr>
          </a:p>
        </p:txBody>
      </p:sp>
      <p:sp>
        <p:nvSpPr>
          <p:cNvPr id="29" name="Slide Number Placeholder 28"/>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57</a:t>
            </a:fld>
            <a:endParaRPr spc="-5" dirty="0"/>
          </a:p>
        </p:txBody>
      </p:sp>
    </p:spTree>
    <p:extLst>
      <p:ext uri="{BB962C8B-B14F-4D97-AF65-F5344CB8AC3E}">
        <p14:creationId xmlns:p14="http://schemas.microsoft.com/office/powerpoint/2010/main" val="15323167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139" y="970279"/>
            <a:ext cx="5247005" cy="574040"/>
          </a:xfrm>
          <a:prstGeom prst="rect">
            <a:avLst/>
          </a:prstGeom>
        </p:spPr>
        <p:txBody>
          <a:bodyPr vert="horz" wrap="square" lIns="0" tIns="12700" rIns="0" bIns="0" rtlCol="0">
            <a:spAutoFit/>
          </a:bodyPr>
          <a:lstStyle/>
          <a:p>
            <a:pPr marL="12700">
              <a:lnSpc>
                <a:spcPct val="100000"/>
              </a:lnSpc>
              <a:spcBef>
                <a:spcPts val="100"/>
              </a:spcBef>
            </a:pPr>
            <a:r>
              <a:rPr lang="en-US" spc="-5" dirty="0" err="1"/>
              <a:t>Giao</a:t>
            </a:r>
            <a:r>
              <a:rPr lang="en-US" spc="-5" dirty="0"/>
              <a:t> </a:t>
            </a:r>
            <a:r>
              <a:rPr lang="en-US" spc="-5" dirty="0" err="1"/>
              <a:t>thức</a:t>
            </a:r>
            <a:r>
              <a:rPr lang="en-US" spc="-5" dirty="0"/>
              <a:t> TCP</a:t>
            </a:r>
            <a:endParaRPr spc="-5" dirty="0"/>
          </a:p>
        </p:txBody>
      </p:sp>
      <p:sp>
        <p:nvSpPr>
          <p:cNvPr id="3" name="object 3"/>
          <p:cNvSpPr txBox="1"/>
          <p:nvPr/>
        </p:nvSpPr>
        <p:spPr>
          <a:xfrm>
            <a:off x="1193546" y="1780286"/>
            <a:ext cx="6807454" cy="3490058"/>
          </a:xfrm>
          <a:prstGeom prst="rect">
            <a:avLst/>
          </a:prstGeom>
        </p:spPr>
        <p:txBody>
          <a:bodyPr vert="horz" wrap="square" lIns="0" tIns="85725" rIns="0" bIns="0" rtlCol="0">
            <a:spAutoFit/>
          </a:bodyPr>
          <a:lstStyle/>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Tổng</a:t>
            </a:r>
            <a:r>
              <a:rPr lang="en-US" sz="3200" spc="-5" dirty="0">
                <a:latin typeface="Arial"/>
                <a:cs typeface="Arial"/>
              </a:rPr>
              <a:t> </a:t>
            </a:r>
            <a:r>
              <a:rPr lang="en-US" sz="3200" spc="-5" dirty="0" err="1">
                <a:latin typeface="Arial"/>
                <a:cs typeface="Arial"/>
              </a:rPr>
              <a:t>quan</a:t>
            </a:r>
            <a:r>
              <a:rPr lang="en-US" sz="3200" spc="-5" dirty="0">
                <a:latin typeface="Arial"/>
                <a:cs typeface="Arial"/>
              </a:rPr>
              <a:t> </a:t>
            </a:r>
            <a:r>
              <a:rPr lang="en-US" sz="3200" spc="-5" dirty="0" err="1">
                <a:latin typeface="Arial"/>
                <a:cs typeface="Arial"/>
              </a:rPr>
              <a:t>về</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Cấu</a:t>
            </a:r>
            <a:r>
              <a:rPr lang="en-US" sz="3200" spc="-5" dirty="0">
                <a:latin typeface="Arial"/>
                <a:cs typeface="Arial"/>
              </a:rPr>
              <a:t> </a:t>
            </a:r>
            <a:r>
              <a:rPr lang="en-US" sz="3200" spc="-5" dirty="0" err="1">
                <a:latin typeface="Arial"/>
                <a:cs typeface="Arial"/>
              </a:rPr>
              <a:t>trúc</a:t>
            </a:r>
            <a:r>
              <a:rPr lang="en-US" sz="3200" spc="-5" dirty="0">
                <a:latin typeface="Arial"/>
                <a:cs typeface="Arial"/>
              </a:rPr>
              <a:t> </a:t>
            </a:r>
            <a:r>
              <a:rPr lang="en-US" sz="3200" spc="-5" dirty="0" err="1">
                <a:latin typeface="Arial"/>
                <a:cs typeface="Arial"/>
              </a:rPr>
              <a:t>của</a:t>
            </a:r>
            <a:r>
              <a:rPr lang="en-US" sz="3200" spc="-5" dirty="0">
                <a:latin typeface="Arial"/>
                <a:cs typeface="Arial"/>
              </a:rPr>
              <a:t> TCP segment</a:t>
            </a:r>
          </a:p>
          <a:p>
            <a:pPr marL="355600" indent="-342900">
              <a:spcBef>
                <a:spcPts val="675"/>
              </a:spcBef>
              <a:buClr>
                <a:srgbClr val="3333CC"/>
              </a:buClr>
              <a:buSzPct val="83333"/>
              <a:buFont typeface="Wingdings"/>
              <a:buChar char=""/>
              <a:tabLst>
                <a:tab pos="355600" algn="l"/>
              </a:tabLst>
            </a:pPr>
            <a:r>
              <a:rPr lang="en-US" sz="3200" spc="-5" dirty="0" err="1">
                <a:latin typeface="Arial"/>
                <a:cs typeface="Arial"/>
              </a:rPr>
              <a:t>Thiết</a:t>
            </a:r>
            <a:r>
              <a:rPr lang="en-US" sz="3200" spc="-5" dirty="0">
                <a:latin typeface="Arial"/>
                <a:cs typeface="Arial"/>
              </a:rPr>
              <a:t> </a:t>
            </a:r>
            <a:r>
              <a:rPr lang="en-US" sz="3200" spc="-5" dirty="0" err="1">
                <a:latin typeface="Arial"/>
                <a:cs typeface="Arial"/>
              </a:rPr>
              <a:t>lập</a:t>
            </a:r>
            <a:r>
              <a:rPr lang="en-US" sz="3200" spc="-5" dirty="0">
                <a:latin typeface="Arial"/>
                <a:cs typeface="Arial"/>
              </a:rPr>
              <a:t> </a:t>
            </a:r>
            <a:r>
              <a:rPr lang="en-US" sz="3200" spc="-5" dirty="0" err="1">
                <a:latin typeface="Arial"/>
                <a:cs typeface="Arial"/>
              </a:rPr>
              <a:t>và</a:t>
            </a:r>
            <a:r>
              <a:rPr lang="en-US" sz="3200" spc="-5" dirty="0">
                <a:latin typeface="Arial"/>
                <a:cs typeface="Arial"/>
              </a:rPr>
              <a:t> </a:t>
            </a:r>
            <a:r>
              <a:rPr lang="en-US" sz="3200" spc="-5" dirty="0" err="1">
                <a:latin typeface="Arial"/>
                <a:cs typeface="Arial"/>
              </a:rPr>
              <a:t>giải</a:t>
            </a:r>
            <a:r>
              <a:rPr lang="en-US" sz="3200" spc="-5" dirty="0">
                <a:latin typeface="Arial"/>
                <a:cs typeface="Arial"/>
              </a:rPr>
              <a:t> </a:t>
            </a:r>
            <a:r>
              <a:rPr lang="en-US" sz="3200" spc="-5" dirty="0" err="1">
                <a:latin typeface="Arial"/>
                <a:cs typeface="Arial"/>
              </a:rPr>
              <a:t>phóng</a:t>
            </a:r>
            <a:r>
              <a:rPr lang="en-US" sz="3200" spc="-5" dirty="0">
                <a:latin typeface="Arial"/>
                <a:cs typeface="Arial"/>
              </a:rPr>
              <a:t> </a:t>
            </a:r>
            <a:r>
              <a:rPr lang="en-US" sz="3200" spc="-5" dirty="0" err="1">
                <a:latin typeface="Arial"/>
                <a:cs typeface="Arial"/>
              </a:rPr>
              <a:t>kết</a:t>
            </a:r>
            <a:r>
              <a:rPr lang="en-US" sz="3200" spc="-5" dirty="0">
                <a:latin typeface="Arial"/>
                <a:cs typeface="Arial"/>
              </a:rPr>
              <a:t> </a:t>
            </a:r>
            <a:r>
              <a:rPr lang="en-US" sz="3200" spc="-5" dirty="0" err="1">
                <a:latin typeface="Arial"/>
                <a:cs typeface="Arial"/>
              </a:rPr>
              <a:t>nối</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Truyền</a:t>
            </a:r>
            <a:r>
              <a:rPr lang="en-US" sz="3200" spc="-5" dirty="0">
                <a:latin typeface="Arial"/>
                <a:cs typeface="Arial"/>
              </a:rPr>
              <a:t> </a:t>
            </a:r>
            <a:r>
              <a:rPr lang="en-US" sz="3200" spc="-5" dirty="0" err="1">
                <a:latin typeface="Arial"/>
                <a:cs typeface="Arial"/>
              </a:rPr>
              <a:t>dữ</a:t>
            </a:r>
            <a:r>
              <a:rPr lang="en-US" sz="3200" spc="-5" dirty="0">
                <a:latin typeface="Arial"/>
                <a:cs typeface="Arial"/>
              </a:rPr>
              <a:t> </a:t>
            </a:r>
            <a:r>
              <a:rPr lang="en-US" sz="3200" spc="-5" dirty="0" err="1">
                <a:latin typeface="Arial"/>
                <a:cs typeface="Arial"/>
              </a:rPr>
              <a:t>liệu</a:t>
            </a:r>
            <a:r>
              <a:rPr lang="en-US" sz="3200" spc="-5" dirty="0">
                <a:latin typeface="Arial"/>
                <a:cs typeface="Arial"/>
              </a:rPr>
              <a:t> tin </a:t>
            </a:r>
            <a:r>
              <a:rPr lang="en-US" sz="3200" spc="-5" dirty="0" err="1">
                <a:latin typeface="Arial"/>
                <a:cs typeface="Arial"/>
              </a:rPr>
              <a:t>cậy</a:t>
            </a:r>
            <a:r>
              <a:rPr lang="en-US" sz="3200" spc="-5" dirty="0">
                <a:latin typeface="Arial"/>
                <a:cs typeface="Arial"/>
              </a:rPr>
              <a:t> </a:t>
            </a:r>
            <a:r>
              <a:rPr lang="en-US" sz="3200" spc="-5" dirty="0" err="1">
                <a:latin typeface="Arial"/>
                <a:cs typeface="Arial"/>
              </a:rPr>
              <a:t>của</a:t>
            </a:r>
            <a:r>
              <a:rPr lang="en-US" sz="3200" spc="-5" dirty="0">
                <a:latin typeface="Arial"/>
                <a:cs typeface="Arial"/>
              </a:rPr>
              <a:t> TCP</a:t>
            </a:r>
          </a:p>
          <a:p>
            <a:pPr marL="355600" indent="-342900">
              <a:lnSpc>
                <a:spcPct val="100000"/>
              </a:lnSpc>
              <a:spcBef>
                <a:spcPts val="675"/>
              </a:spcBef>
              <a:buClr>
                <a:srgbClr val="3333CC"/>
              </a:buClr>
              <a:buSzPct val="83333"/>
              <a:buFont typeface="Wingdings"/>
              <a:buChar char=""/>
              <a:tabLst>
                <a:tab pos="355600" algn="l"/>
              </a:tabLst>
            </a:pPr>
            <a:r>
              <a:rPr lang="en-US" sz="3200" spc="-5" dirty="0" err="1">
                <a:latin typeface="Arial"/>
                <a:cs typeface="Arial"/>
              </a:rPr>
              <a:t>Điều</a:t>
            </a:r>
            <a:r>
              <a:rPr lang="en-US" sz="3200" spc="-5" dirty="0">
                <a:latin typeface="Arial"/>
                <a:cs typeface="Arial"/>
              </a:rPr>
              <a:t> </a:t>
            </a:r>
            <a:r>
              <a:rPr lang="en-US" sz="3200" spc="-5" dirty="0" err="1">
                <a:latin typeface="Arial"/>
                <a:cs typeface="Arial"/>
              </a:rPr>
              <a:t>khiển</a:t>
            </a:r>
            <a:r>
              <a:rPr lang="en-US" sz="3200" spc="-5" dirty="0">
                <a:latin typeface="Arial"/>
                <a:cs typeface="Arial"/>
              </a:rPr>
              <a:t> </a:t>
            </a:r>
            <a:r>
              <a:rPr lang="en-US" sz="3200" spc="-5" dirty="0" err="1">
                <a:latin typeface="Arial"/>
                <a:cs typeface="Arial"/>
              </a:rPr>
              <a:t>luồng</a:t>
            </a:r>
            <a:endParaRPr lang="en-US" sz="3200" spc="-5" dirty="0">
              <a:latin typeface="Arial"/>
              <a:cs typeface="Arial"/>
            </a:endParaRPr>
          </a:p>
          <a:p>
            <a:pPr marL="355600" indent="-342900">
              <a:lnSpc>
                <a:spcPct val="100000"/>
              </a:lnSpc>
              <a:spcBef>
                <a:spcPts val="675"/>
              </a:spcBef>
              <a:buClr>
                <a:srgbClr val="3333CC"/>
              </a:buClr>
              <a:buSzPct val="83333"/>
              <a:buFont typeface="Wingdings"/>
              <a:buChar char=""/>
              <a:tabLst>
                <a:tab pos="355600" algn="l"/>
              </a:tabLst>
            </a:pPr>
            <a:r>
              <a:rPr lang="en-US" sz="3200" spc="-5" dirty="0" err="1">
                <a:solidFill>
                  <a:srgbClr val="FF0000"/>
                </a:solidFill>
                <a:latin typeface="Arial"/>
                <a:cs typeface="Arial"/>
              </a:rPr>
              <a:t>Điều</a:t>
            </a:r>
            <a:r>
              <a:rPr lang="en-US" sz="3200" spc="-5" dirty="0">
                <a:solidFill>
                  <a:srgbClr val="FF0000"/>
                </a:solidFill>
                <a:latin typeface="Arial"/>
                <a:cs typeface="Arial"/>
              </a:rPr>
              <a:t> </a:t>
            </a:r>
            <a:r>
              <a:rPr lang="en-US" sz="3200" spc="-5" dirty="0" err="1">
                <a:solidFill>
                  <a:srgbClr val="FF0000"/>
                </a:solidFill>
                <a:latin typeface="Arial"/>
                <a:cs typeface="Arial"/>
              </a:rPr>
              <a:t>khiển</a:t>
            </a:r>
            <a:r>
              <a:rPr lang="en-US" sz="3200" spc="-5" dirty="0">
                <a:solidFill>
                  <a:srgbClr val="FF0000"/>
                </a:solidFill>
                <a:latin typeface="Arial"/>
                <a:cs typeface="Arial"/>
              </a:rPr>
              <a:t> </a:t>
            </a:r>
            <a:r>
              <a:rPr lang="en-US" sz="3200" spc="-5" dirty="0" err="1">
                <a:solidFill>
                  <a:srgbClr val="FF0000"/>
                </a:solidFill>
                <a:latin typeface="Arial"/>
                <a:cs typeface="Arial"/>
              </a:rPr>
              <a:t>tắc</a:t>
            </a:r>
            <a:r>
              <a:rPr lang="en-US" sz="3200" spc="-5" dirty="0">
                <a:solidFill>
                  <a:srgbClr val="FF0000"/>
                </a:solidFill>
                <a:latin typeface="Arial"/>
                <a:cs typeface="Arial"/>
              </a:rPr>
              <a:t> </a:t>
            </a:r>
            <a:r>
              <a:rPr lang="en-US" sz="3200" spc="-5" dirty="0" err="1">
                <a:solidFill>
                  <a:srgbClr val="FF0000"/>
                </a:solidFill>
                <a:latin typeface="Arial"/>
                <a:cs typeface="Arial"/>
              </a:rPr>
              <a:t>nghẽn</a:t>
            </a:r>
            <a:endParaRPr sz="3200" dirty="0">
              <a:solidFill>
                <a:srgbClr val="FF0000"/>
              </a:solidFill>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58</a:t>
            </a:fld>
            <a:endParaRPr lang="en-US" spc="-5" dirty="0"/>
          </a:p>
        </p:txBody>
      </p:sp>
    </p:spTree>
    <p:extLst>
      <p:ext uri="{BB962C8B-B14F-4D97-AF65-F5344CB8AC3E}">
        <p14:creationId xmlns:p14="http://schemas.microsoft.com/office/powerpoint/2010/main" val="40237761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err="1"/>
              <a:t>Đ</a:t>
            </a:r>
            <a:r>
              <a:rPr dirty="0" err="1"/>
              <a:t>iều</a:t>
            </a:r>
            <a:r>
              <a:rPr dirty="0"/>
              <a:t> khiển tắc nghẽn</a:t>
            </a:r>
          </a:p>
        </p:txBody>
      </p:sp>
      <p:sp>
        <p:nvSpPr>
          <p:cNvPr id="3" name="object 3"/>
          <p:cNvSpPr txBox="1"/>
          <p:nvPr/>
        </p:nvSpPr>
        <p:spPr>
          <a:xfrm>
            <a:off x="1069339" y="1993685"/>
            <a:ext cx="8760461" cy="4409540"/>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en-US" sz="2400" i="1" dirty="0" err="1">
                <a:solidFill>
                  <a:srgbClr val="CC0000"/>
                </a:solidFill>
                <a:latin typeface="Arial"/>
                <a:cs typeface="Arial"/>
              </a:rPr>
              <a:t>Khi</a:t>
            </a:r>
            <a:r>
              <a:rPr lang="en-US" sz="2400" i="1" dirty="0">
                <a:solidFill>
                  <a:srgbClr val="CC0000"/>
                </a:solidFill>
                <a:latin typeface="Arial"/>
                <a:cs typeface="Arial"/>
              </a:rPr>
              <a:t> </a:t>
            </a:r>
            <a:r>
              <a:rPr lang="en-US" sz="2400" i="1" dirty="0" err="1">
                <a:solidFill>
                  <a:srgbClr val="CC0000"/>
                </a:solidFill>
                <a:latin typeface="Arial"/>
                <a:cs typeface="Arial"/>
              </a:rPr>
              <a:t>nào</a:t>
            </a:r>
            <a:r>
              <a:rPr lang="en-US" sz="2400" i="1" dirty="0">
                <a:solidFill>
                  <a:srgbClr val="CC0000"/>
                </a:solidFill>
                <a:latin typeface="Arial"/>
                <a:cs typeface="Arial"/>
              </a:rPr>
              <a:t> </a:t>
            </a:r>
            <a:r>
              <a:rPr lang="en-US" sz="2400" i="1" dirty="0" err="1">
                <a:solidFill>
                  <a:srgbClr val="CC0000"/>
                </a:solidFill>
                <a:latin typeface="Arial"/>
                <a:cs typeface="Arial"/>
              </a:rPr>
              <a:t>tắc</a:t>
            </a:r>
            <a:r>
              <a:rPr lang="en-US" sz="2400" i="1" dirty="0">
                <a:solidFill>
                  <a:srgbClr val="CC0000"/>
                </a:solidFill>
                <a:latin typeface="Arial"/>
                <a:cs typeface="Arial"/>
              </a:rPr>
              <a:t> </a:t>
            </a:r>
            <a:r>
              <a:rPr lang="en-US" sz="2400" i="1" dirty="0" err="1">
                <a:solidFill>
                  <a:srgbClr val="CC0000"/>
                </a:solidFill>
                <a:latin typeface="Arial"/>
                <a:cs typeface="Arial"/>
              </a:rPr>
              <a:t>nghẽn</a:t>
            </a:r>
            <a:r>
              <a:rPr lang="en-US" sz="2400" dirty="0">
                <a:solidFill>
                  <a:srgbClr val="CC0000"/>
                </a:solidFill>
                <a:latin typeface="Arial"/>
                <a:cs typeface="Arial"/>
              </a:rPr>
              <a:t> </a:t>
            </a:r>
            <a:r>
              <a:rPr lang="en-US" sz="2400" dirty="0" err="1">
                <a:solidFill>
                  <a:srgbClr val="CC0000"/>
                </a:solidFill>
                <a:latin typeface="Arial"/>
                <a:cs typeface="Arial"/>
              </a:rPr>
              <a:t>xảy</a:t>
            </a:r>
            <a:r>
              <a:rPr lang="en-US" sz="2400" dirty="0">
                <a:solidFill>
                  <a:srgbClr val="CC0000"/>
                </a:solidFill>
                <a:latin typeface="Arial"/>
                <a:cs typeface="Arial"/>
              </a:rPr>
              <a:t> </a:t>
            </a:r>
            <a:r>
              <a:rPr lang="en-US" sz="2400" dirty="0" err="1">
                <a:solidFill>
                  <a:srgbClr val="CC0000"/>
                </a:solidFill>
                <a:latin typeface="Arial"/>
                <a:cs typeface="Arial"/>
              </a:rPr>
              <a:t>ra</a:t>
            </a:r>
            <a:r>
              <a:rPr lang="en-US" sz="2400" dirty="0">
                <a:solidFill>
                  <a:srgbClr val="CC0000"/>
                </a:solidFill>
                <a:latin typeface="Arial"/>
                <a:cs typeface="Arial"/>
              </a:rPr>
              <a:t>?</a:t>
            </a:r>
            <a:endParaRPr lang="en-US" sz="2400" dirty="0">
              <a:latin typeface="Arial"/>
              <a:cs typeface="Arial"/>
            </a:endParaRPr>
          </a:p>
          <a:p>
            <a:pPr marL="755650" marR="5080" lvl="1" indent="-285750">
              <a:spcBef>
                <a:spcPts val="585"/>
              </a:spcBef>
              <a:buClr>
                <a:srgbClr val="3333CC"/>
              </a:buClr>
              <a:buSzPct val="75000"/>
              <a:buFont typeface="Wingdings"/>
              <a:buChar char=""/>
              <a:tabLst>
                <a:tab pos="755650" algn="l"/>
              </a:tabLst>
            </a:pPr>
            <a:r>
              <a:rPr lang="en-US" sz="2400" dirty="0" err="1">
                <a:latin typeface="Arial"/>
                <a:cs typeface="Arial"/>
              </a:rPr>
              <a:t>Truyền</a:t>
            </a:r>
            <a:r>
              <a:rPr lang="en-US" sz="2400" dirty="0">
                <a:latin typeface="Arial"/>
                <a:cs typeface="Arial"/>
              </a:rPr>
              <a:t> </a:t>
            </a:r>
            <a:r>
              <a:rPr lang="en-US" sz="2400" dirty="0" err="1">
                <a:latin typeface="Arial"/>
                <a:cs typeface="Arial"/>
              </a:rPr>
              <a:t>quá</a:t>
            </a:r>
            <a:r>
              <a:rPr lang="en-US" sz="2400" dirty="0">
                <a:latin typeface="Arial"/>
                <a:cs typeface="Arial"/>
              </a:rPr>
              <a:t> </a:t>
            </a:r>
            <a:r>
              <a:rPr lang="en-US" sz="2400" dirty="0" err="1">
                <a:latin typeface="Arial"/>
                <a:cs typeface="Arial"/>
              </a:rPr>
              <a:t>nhiều</a:t>
            </a:r>
            <a:r>
              <a:rPr lang="en-US" sz="2400" dirty="0">
                <a:latin typeface="Arial"/>
                <a:cs typeface="Arial"/>
              </a:rPr>
              <a:t> </a:t>
            </a:r>
            <a:r>
              <a:rPr lang="en-US" sz="2400" dirty="0" err="1">
                <a:latin typeface="Arial"/>
                <a:cs typeface="Arial"/>
              </a:rPr>
              <a:t>làm</a:t>
            </a:r>
            <a:r>
              <a:rPr lang="en-US" sz="2400" dirty="0">
                <a:latin typeface="Arial"/>
                <a:cs typeface="Arial"/>
              </a:rPr>
              <a:t> </a:t>
            </a:r>
            <a:r>
              <a:rPr lang="en-US" sz="2400" dirty="0" err="1">
                <a:latin typeface="Arial"/>
                <a:cs typeface="Arial"/>
              </a:rPr>
              <a:t>cho</a:t>
            </a:r>
            <a:r>
              <a:rPr lang="en-US" sz="2400" dirty="0">
                <a:latin typeface="Arial"/>
                <a:cs typeface="Arial"/>
              </a:rPr>
              <a:t> </a:t>
            </a:r>
            <a:r>
              <a:rPr lang="en-US" sz="2400" dirty="0" err="1">
                <a:latin typeface="Arial"/>
                <a:cs typeface="Arial"/>
              </a:rPr>
              <a:t>mạng</a:t>
            </a:r>
            <a:r>
              <a:rPr lang="en-US" sz="2400" dirty="0">
                <a:latin typeface="Arial"/>
                <a:cs typeface="Arial"/>
              </a:rPr>
              <a:t> </a:t>
            </a:r>
            <a:r>
              <a:rPr lang="en-US" sz="2400" dirty="0" err="1">
                <a:latin typeface="Arial"/>
                <a:cs typeface="Arial"/>
              </a:rPr>
              <a:t>quá</a:t>
            </a:r>
            <a:r>
              <a:rPr lang="en-US" sz="2400" dirty="0">
                <a:latin typeface="Arial"/>
                <a:cs typeface="Arial"/>
              </a:rPr>
              <a:t> </a:t>
            </a:r>
            <a:r>
              <a:rPr lang="en-US" sz="2400" dirty="0" err="1">
                <a:latin typeface="Arial"/>
                <a:cs typeface="Arial"/>
              </a:rPr>
              <a:t>tải</a:t>
            </a:r>
            <a:r>
              <a:rPr lang="en-US" sz="2400" dirty="0">
                <a:latin typeface="Arial"/>
                <a:cs typeface="Arial"/>
              </a:rPr>
              <a:t> </a:t>
            </a:r>
          </a:p>
          <a:p>
            <a:pPr marL="355600" indent="-342900">
              <a:lnSpc>
                <a:spcPct val="100000"/>
              </a:lnSpc>
              <a:spcBef>
                <a:spcPts val="575"/>
              </a:spcBef>
              <a:buClr>
                <a:srgbClr val="3333CC"/>
              </a:buClr>
              <a:buSzPct val="83333"/>
              <a:buFont typeface="Wingdings"/>
              <a:buChar char=""/>
              <a:tabLst>
                <a:tab pos="355600" algn="l"/>
              </a:tabLst>
            </a:pPr>
            <a:r>
              <a:rPr lang="en-US" sz="2400" dirty="0" err="1">
                <a:latin typeface="Arial"/>
                <a:cs typeface="Arial"/>
              </a:rPr>
              <a:t>Hậu</a:t>
            </a:r>
            <a:r>
              <a:rPr lang="en-US" sz="2400" dirty="0">
                <a:latin typeface="Arial"/>
                <a:cs typeface="Arial"/>
              </a:rPr>
              <a:t> </a:t>
            </a:r>
            <a:r>
              <a:rPr lang="en-US" sz="2400" dirty="0" err="1">
                <a:latin typeface="Arial"/>
                <a:cs typeface="Arial"/>
              </a:rPr>
              <a:t>quả</a:t>
            </a:r>
            <a:r>
              <a:rPr lang="en-US" sz="2400" dirty="0">
                <a:latin typeface="Arial"/>
                <a:cs typeface="Arial"/>
              </a:rPr>
              <a:t> </a:t>
            </a:r>
            <a:r>
              <a:rPr lang="en-US" sz="2400" dirty="0" err="1">
                <a:latin typeface="Arial"/>
                <a:cs typeface="Arial"/>
              </a:rPr>
              <a:t>của</a:t>
            </a:r>
            <a:r>
              <a:rPr lang="en-US" sz="2400" dirty="0">
                <a:latin typeface="Arial"/>
                <a:cs typeface="Arial"/>
              </a:rPr>
              <a:t> </a:t>
            </a:r>
            <a:r>
              <a:rPr lang="en-US" sz="2400" dirty="0" err="1">
                <a:latin typeface="Arial"/>
                <a:cs typeface="Arial"/>
              </a:rPr>
              <a:t>việc</a:t>
            </a:r>
            <a:r>
              <a:rPr lang="en-US" sz="2400" dirty="0">
                <a:latin typeface="Arial"/>
                <a:cs typeface="Arial"/>
              </a:rPr>
              <a:t> </a:t>
            </a:r>
            <a:r>
              <a:rPr lang="en-US" sz="2400" dirty="0" err="1">
                <a:latin typeface="Arial"/>
                <a:cs typeface="Arial"/>
              </a:rPr>
              <a:t>nghẽn</a:t>
            </a:r>
            <a:r>
              <a:rPr lang="en-US" sz="2400" dirty="0">
                <a:latin typeface="Arial"/>
                <a:cs typeface="Arial"/>
              </a:rPr>
              <a:t> </a:t>
            </a:r>
            <a:r>
              <a:rPr lang="en-US" sz="2400" dirty="0" err="1">
                <a:latin typeface="Arial"/>
                <a:cs typeface="Arial"/>
              </a:rPr>
              <a:t>mạng</a:t>
            </a:r>
            <a:r>
              <a:rPr sz="2400" dirty="0">
                <a:latin typeface="Arial"/>
                <a:cs typeface="Arial"/>
              </a:rPr>
              <a:t>:</a:t>
            </a:r>
          </a:p>
          <a:p>
            <a:pPr marL="755650" lvl="1" indent="-285750">
              <a:lnSpc>
                <a:spcPct val="100000"/>
              </a:lnSpc>
              <a:spcBef>
                <a:spcPts val="580"/>
              </a:spcBef>
              <a:buClr>
                <a:srgbClr val="3333CC"/>
              </a:buClr>
              <a:buSzPct val="75000"/>
              <a:buFont typeface="Wingdings"/>
              <a:buChar char=""/>
              <a:tabLst>
                <a:tab pos="755650" algn="l"/>
              </a:tabLst>
            </a:pPr>
            <a:r>
              <a:rPr sz="2400" dirty="0">
                <a:latin typeface="Arial"/>
                <a:cs typeface="Arial"/>
              </a:rPr>
              <a:t>mất gói tin (tràn vùng đệm tại router)</a:t>
            </a:r>
          </a:p>
          <a:p>
            <a:pPr marL="755650" lvl="1" indent="-285750">
              <a:lnSpc>
                <a:spcPct val="100000"/>
              </a:lnSpc>
              <a:spcBef>
                <a:spcPts val="575"/>
              </a:spcBef>
              <a:buClr>
                <a:srgbClr val="3333CC"/>
              </a:buClr>
              <a:buSzPct val="75000"/>
              <a:buFont typeface="Wingdings"/>
              <a:buChar char=""/>
              <a:tabLst>
                <a:tab pos="755650" algn="l"/>
              </a:tabLst>
            </a:pPr>
            <a:r>
              <a:rPr sz="2400" dirty="0">
                <a:latin typeface="Arial"/>
                <a:cs typeface="Arial"/>
              </a:rPr>
              <a:t>độ trễ lớn (đợi trong vùng đệm của router)</a:t>
            </a:r>
            <a:endParaRPr lang="en-US" sz="24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2400" dirty="0" err="1">
                <a:latin typeface="Arial"/>
                <a:cs typeface="Arial"/>
              </a:rPr>
              <a:t>Bổ</a:t>
            </a:r>
            <a:r>
              <a:rPr lang="en-US" sz="2400" dirty="0">
                <a:latin typeface="Arial"/>
                <a:cs typeface="Arial"/>
              </a:rPr>
              <a:t> sung </a:t>
            </a:r>
            <a:r>
              <a:rPr lang="en-US" sz="2400" dirty="0" err="1">
                <a:latin typeface="Arial"/>
                <a:cs typeface="Arial"/>
              </a:rPr>
              <a:t>thêm</a:t>
            </a:r>
            <a:r>
              <a:rPr lang="en-US" sz="2400" dirty="0">
                <a:latin typeface="Arial"/>
                <a:cs typeface="Arial"/>
              </a:rPr>
              <a:t> </a:t>
            </a:r>
            <a:r>
              <a:rPr lang="en-US" sz="2400" dirty="0" err="1">
                <a:latin typeface="Arial"/>
                <a:cs typeface="Arial"/>
              </a:rPr>
              <a:t>thông</a:t>
            </a:r>
            <a:r>
              <a:rPr lang="en-US" sz="2400" dirty="0">
                <a:latin typeface="Arial"/>
                <a:cs typeface="Arial"/>
              </a:rPr>
              <a:t> tin </a:t>
            </a:r>
            <a:r>
              <a:rPr lang="en-US" sz="2400" dirty="0" err="1">
                <a:latin typeface="Arial"/>
                <a:cs typeface="Arial"/>
              </a:rPr>
              <a:t>cho</a:t>
            </a:r>
            <a:r>
              <a:rPr lang="en-US" sz="2400" dirty="0">
                <a:latin typeface="Arial"/>
                <a:cs typeface="Arial"/>
              </a:rPr>
              <a:t> </a:t>
            </a:r>
            <a:r>
              <a:rPr lang="en-US" sz="2400" dirty="0" err="1">
                <a:latin typeface="Arial"/>
                <a:cs typeface="Arial"/>
              </a:rPr>
              <a:t>điều</a:t>
            </a:r>
            <a:r>
              <a:rPr lang="en-US" sz="2400" dirty="0">
                <a:latin typeface="Arial"/>
                <a:cs typeface="Arial"/>
              </a:rPr>
              <a:t> </a:t>
            </a:r>
            <a:r>
              <a:rPr lang="en-US" sz="2400" dirty="0" err="1">
                <a:latin typeface="Arial"/>
                <a:cs typeface="Arial"/>
              </a:rPr>
              <a:t>khiển</a:t>
            </a:r>
            <a:r>
              <a:rPr lang="en-US" sz="2400" dirty="0">
                <a:latin typeface="Arial"/>
                <a:cs typeface="Arial"/>
              </a:rPr>
              <a:t> </a:t>
            </a:r>
            <a:r>
              <a:rPr lang="en-US" sz="2400" dirty="0" err="1">
                <a:latin typeface="Arial"/>
                <a:cs typeface="Arial"/>
              </a:rPr>
              <a:t>tắc</a:t>
            </a:r>
            <a:r>
              <a:rPr lang="en-US" sz="2400" dirty="0">
                <a:latin typeface="Arial"/>
                <a:cs typeface="Arial"/>
              </a:rPr>
              <a:t> </a:t>
            </a:r>
            <a:r>
              <a:rPr lang="en-US" sz="2400" dirty="0" err="1">
                <a:latin typeface="Arial"/>
                <a:cs typeface="Arial"/>
              </a:rPr>
              <a:t>nghẽn</a:t>
            </a:r>
            <a:endParaRPr lang="en-US" sz="2400" dirty="0">
              <a:latin typeface="Arial"/>
              <a:cs typeface="Arial"/>
            </a:endParaRPr>
          </a:p>
          <a:p>
            <a:pPr marL="755650" lvl="1" indent="-285750">
              <a:lnSpc>
                <a:spcPct val="100000"/>
              </a:lnSpc>
              <a:spcBef>
                <a:spcPts val="580"/>
              </a:spcBef>
              <a:buClr>
                <a:srgbClr val="3333CC"/>
              </a:buClr>
              <a:buSzPct val="75000"/>
              <a:buFont typeface="Wingdings"/>
              <a:buChar char=""/>
              <a:tabLst>
                <a:tab pos="755650" algn="l"/>
              </a:tabLst>
            </a:pPr>
            <a:r>
              <a:rPr lang="en-US" sz="2400" dirty="0">
                <a:latin typeface="Arial"/>
                <a:cs typeface="Arial"/>
              </a:rPr>
              <a:t>Congestion window (</a:t>
            </a:r>
            <a:r>
              <a:rPr lang="en-US" sz="2400" dirty="0" err="1">
                <a:latin typeface="Arial"/>
                <a:cs typeface="Arial"/>
              </a:rPr>
              <a:t>cwnd</a:t>
            </a:r>
            <a:r>
              <a:rPr lang="en-US" sz="2400" dirty="0">
                <a:latin typeface="Arial"/>
                <a:cs typeface="Arial"/>
              </a:rPr>
              <a:t>): </a:t>
            </a:r>
            <a:r>
              <a:rPr lang="en-US" sz="2400" dirty="0" err="1">
                <a:latin typeface="Arial"/>
                <a:cs typeface="Arial"/>
              </a:rPr>
              <a:t>số</a:t>
            </a:r>
            <a:r>
              <a:rPr lang="en-US" sz="2400" dirty="0">
                <a:latin typeface="Arial"/>
                <a:cs typeface="Arial"/>
              </a:rPr>
              <a:t> </a:t>
            </a:r>
            <a:r>
              <a:rPr lang="en-US" sz="2400" dirty="0" err="1">
                <a:latin typeface="Arial"/>
                <a:cs typeface="Arial"/>
              </a:rPr>
              <a:t>lượng</a:t>
            </a:r>
            <a:r>
              <a:rPr lang="en-US" sz="2400" dirty="0">
                <a:latin typeface="Arial"/>
                <a:cs typeface="Arial"/>
              </a:rPr>
              <a:t> </a:t>
            </a:r>
            <a:r>
              <a:rPr lang="en-US" sz="2400" dirty="0" err="1">
                <a:latin typeface="Arial"/>
                <a:cs typeface="Arial"/>
              </a:rPr>
              <a:t>dữ</a:t>
            </a:r>
            <a:r>
              <a:rPr lang="en-US" sz="2400" dirty="0">
                <a:latin typeface="Arial"/>
                <a:cs typeface="Arial"/>
              </a:rPr>
              <a:t> </a:t>
            </a:r>
            <a:r>
              <a:rPr lang="en-US" sz="2400" dirty="0" err="1">
                <a:latin typeface="Arial"/>
                <a:cs typeface="Arial"/>
              </a:rPr>
              <a:t>liệu</a:t>
            </a:r>
            <a:r>
              <a:rPr lang="en-US" sz="2400" dirty="0">
                <a:latin typeface="Arial"/>
                <a:cs typeface="Arial"/>
              </a:rPr>
              <a:t> </a:t>
            </a:r>
            <a:r>
              <a:rPr lang="en-US" sz="2400" dirty="0" err="1">
                <a:latin typeface="Arial"/>
                <a:cs typeface="Arial"/>
              </a:rPr>
              <a:t>tối</a:t>
            </a:r>
            <a:r>
              <a:rPr lang="en-US" sz="2400" dirty="0">
                <a:latin typeface="Arial"/>
                <a:cs typeface="Arial"/>
              </a:rPr>
              <a:t> </a:t>
            </a:r>
            <a:r>
              <a:rPr lang="en-US" sz="2400" dirty="0" err="1">
                <a:latin typeface="Arial"/>
                <a:cs typeface="Arial"/>
              </a:rPr>
              <a:t>đa</a:t>
            </a:r>
            <a:r>
              <a:rPr lang="en-US" sz="2400" dirty="0">
                <a:latin typeface="Arial"/>
                <a:cs typeface="Arial"/>
              </a:rPr>
              <a:t> </a:t>
            </a:r>
            <a:r>
              <a:rPr lang="en-US" sz="2400" dirty="0" err="1">
                <a:latin typeface="Arial"/>
                <a:cs typeface="Arial"/>
              </a:rPr>
              <a:t>mà</a:t>
            </a:r>
            <a:r>
              <a:rPr lang="en-US" sz="2400" dirty="0">
                <a:latin typeface="Arial"/>
                <a:cs typeface="Arial"/>
              </a:rPr>
              <a:t> </a:t>
            </a:r>
            <a:r>
              <a:rPr lang="en-US" sz="2400" dirty="0" err="1">
                <a:latin typeface="Arial"/>
                <a:cs typeface="Arial"/>
              </a:rPr>
              <a:t>bên</a:t>
            </a:r>
            <a:r>
              <a:rPr lang="en-US" sz="2400" dirty="0">
                <a:latin typeface="Arial"/>
                <a:cs typeface="Arial"/>
              </a:rPr>
              <a:t> </a:t>
            </a:r>
            <a:r>
              <a:rPr lang="en-US" sz="2400" dirty="0" err="1">
                <a:latin typeface="Arial"/>
                <a:cs typeface="Arial"/>
              </a:rPr>
              <a:t>gửi</a:t>
            </a:r>
            <a:r>
              <a:rPr lang="en-US" sz="2400" dirty="0">
                <a:latin typeface="Arial"/>
                <a:cs typeface="Arial"/>
              </a:rPr>
              <a:t> </a:t>
            </a:r>
            <a:r>
              <a:rPr lang="en-US" sz="2400" dirty="0" err="1">
                <a:latin typeface="Arial"/>
                <a:cs typeface="Arial"/>
              </a:rPr>
              <a:t>có</a:t>
            </a:r>
            <a:r>
              <a:rPr lang="en-US" sz="2400" dirty="0">
                <a:latin typeface="Arial"/>
                <a:cs typeface="Arial"/>
              </a:rPr>
              <a:t> </a:t>
            </a:r>
            <a:r>
              <a:rPr lang="en-US" sz="2400" dirty="0" err="1">
                <a:latin typeface="Arial"/>
                <a:cs typeface="Arial"/>
              </a:rPr>
              <a:t>thể</a:t>
            </a:r>
            <a:r>
              <a:rPr lang="en-US" sz="2400" dirty="0">
                <a:latin typeface="Arial"/>
                <a:cs typeface="Arial"/>
              </a:rPr>
              <a:t> </a:t>
            </a:r>
            <a:r>
              <a:rPr lang="en-US" sz="2400" dirty="0" err="1">
                <a:latin typeface="Arial"/>
                <a:cs typeface="Arial"/>
              </a:rPr>
              <a:t>gửi</a:t>
            </a:r>
            <a:r>
              <a:rPr lang="en-US" sz="2400" dirty="0">
                <a:latin typeface="Arial"/>
                <a:cs typeface="Arial"/>
              </a:rPr>
              <a:t> qua </a:t>
            </a:r>
            <a:r>
              <a:rPr lang="en-US" sz="2400" dirty="0" err="1">
                <a:latin typeface="Arial"/>
                <a:cs typeface="Arial"/>
              </a:rPr>
              <a:t>kết</a:t>
            </a:r>
            <a:r>
              <a:rPr lang="en-US" sz="2400" dirty="0">
                <a:latin typeface="Arial"/>
                <a:cs typeface="Arial"/>
              </a:rPr>
              <a:t> </a:t>
            </a:r>
            <a:r>
              <a:rPr lang="en-US" sz="2400" dirty="0" err="1">
                <a:latin typeface="Arial"/>
                <a:cs typeface="Arial"/>
              </a:rPr>
              <a:t>nối</a:t>
            </a:r>
            <a:endParaRPr lang="en-US" sz="2400" dirty="0">
              <a:latin typeface="Arial"/>
              <a:cs typeface="Arial"/>
            </a:endParaRPr>
          </a:p>
          <a:p>
            <a:pPr marL="755650" lvl="1" indent="-285750">
              <a:lnSpc>
                <a:spcPct val="100000"/>
              </a:lnSpc>
              <a:spcBef>
                <a:spcPts val="575"/>
              </a:spcBef>
              <a:buClr>
                <a:srgbClr val="3333CC"/>
              </a:buClr>
              <a:buSzPct val="75000"/>
              <a:buFont typeface="Wingdings"/>
              <a:buChar char=""/>
              <a:tabLst>
                <a:tab pos="755650" algn="l"/>
              </a:tabLst>
            </a:pPr>
            <a:r>
              <a:rPr lang="en-US" sz="2400" dirty="0">
                <a:latin typeface="Arial"/>
                <a:cs typeface="Arial"/>
              </a:rPr>
              <a:t>Threshold (</a:t>
            </a:r>
            <a:r>
              <a:rPr lang="en-US" sz="2400" dirty="0" err="1">
                <a:latin typeface="Arial"/>
                <a:cs typeface="Arial"/>
              </a:rPr>
              <a:t>ngưỡng</a:t>
            </a:r>
            <a:r>
              <a:rPr lang="en-US" sz="2400" dirty="0">
                <a:latin typeface="Arial"/>
                <a:cs typeface="Arial"/>
              </a:rPr>
              <a:t>) </a:t>
            </a:r>
          </a:p>
          <a:p>
            <a:pPr marL="298450" indent="-285750">
              <a:spcBef>
                <a:spcPts val="575"/>
              </a:spcBef>
              <a:buClr>
                <a:srgbClr val="3333CC"/>
              </a:buClr>
              <a:buSzPct val="75000"/>
              <a:buFont typeface="Wingdings"/>
              <a:buChar char=""/>
              <a:tabLst>
                <a:tab pos="755650" algn="l"/>
              </a:tabLst>
            </a:pPr>
            <a:endParaRPr sz="24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59</a:t>
            </a:fld>
            <a:endParaRPr lang="en-US" spc="-5" dirty="0"/>
          </a:p>
        </p:txBody>
      </p:sp>
    </p:spTree>
    <p:extLst>
      <p:ext uri="{BB962C8B-B14F-4D97-AF65-F5344CB8AC3E}">
        <p14:creationId xmlns:p14="http://schemas.microsoft.com/office/powerpoint/2010/main" val="5969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err="1"/>
              <a:t>Nguyên</a:t>
            </a:r>
            <a:r>
              <a:rPr lang="en-US" dirty="0"/>
              <a:t> </a:t>
            </a:r>
            <a:r>
              <a:rPr lang="en-US" dirty="0" err="1"/>
              <a:t>tắc</a:t>
            </a:r>
            <a:r>
              <a:rPr lang="en-US" dirty="0"/>
              <a:t> </a:t>
            </a:r>
            <a:r>
              <a:rPr lang="en-US" dirty="0" err="1"/>
              <a:t>đ</a:t>
            </a:r>
            <a:r>
              <a:rPr dirty="0" err="1"/>
              <a:t>iều</a:t>
            </a:r>
            <a:r>
              <a:rPr dirty="0"/>
              <a:t> khiển tắc nghẽn</a:t>
            </a:r>
          </a:p>
        </p:txBody>
      </p:sp>
      <p:sp>
        <p:nvSpPr>
          <p:cNvPr id="3" name="object 3"/>
          <p:cNvSpPr txBox="1"/>
          <p:nvPr/>
        </p:nvSpPr>
        <p:spPr>
          <a:xfrm>
            <a:off x="1069339" y="1993685"/>
            <a:ext cx="4721861" cy="4701928"/>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en-US" sz="2400" dirty="0" err="1">
                <a:latin typeface="Arial"/>
                <a:cs typeface="Arial"/>
              </a:rPr>
              <a:t>Tăng</a:t>
            </a:r>
            <a:r>
              <a:rPr lang="en-US" sz="2400" dirty="0">
                <a:latin typeface="Arial"/>
                <a:cs typeface="Arial"/>
              </a:rPr>
              <a:t> </a:t>
            </a:r>
            <a:r>
              <a:rPr lang="en-US" sz="2400" dirty="0" err="1">
                <a:latin typeface="Arial"/>
                <a:cs typeface="Arial"/>
              </a:rPr>
              <a:t>dần</a:t>
            </a:r>
            <a:r>
              <a:rPr lang="en-US" sz="2400" dirty="0">
                <a:latin typeface="Arial"/>
                <a:cs typeface="Arial"/>
              </a:rPr>
              <a:t> </a:t>
            </a:r>
            <a:r>
              <a:rPr lang="en-US" sz="2400" dirty="0" err="1">
                <a:latin typeface="Arial"/>
                <a:cs typeface="Arial"/>
              </a:rPr>
              <a:t>tốc</a:t>
            </a:r>
            <a:r>
              <a:rPr lang="en-US" sz="2400" dirty="0">
                <a:latin typeface="Arial"/>
                <a:cs typeface="Arial"/>
              </a:rPr>
              <a:t> </a:t>
            </a:r>
            <a:r>
              <a:rPr lang="en-US" sz="2400" dirty="0" err="1">
                <a:latin typeface="Arial"/>
                <a:cs typeface="Arial"/>
              </a:rPr>
              <a:t>độ</a:t>
            </a:r>
            <a:r>
              <a:rPr lang="en-US" sz="2400" dirty="0">
                <a:latin typeface="Arial"/>
                <a:cs typeface="Arial"/>
              </a:rPr>
              <a:t> (slow-start)</a:t>
            </a:r>
          </a:p>
          <a:p>
            <a:pPr marL="755650" marR="5080" lvl="1" indent="-285750">
              <a:spcBef>
                <a:spcPts val="585"/>
              </a:spcBef>
              <a:buClr>
                <a:srgbClr val="3333CC"/>
              </a:buClr>
              <a:buSzPct val="75000"/>
              <a:buFont typeface="Wingdings"/>
              <a:buChar char=""/>
              <a:tabLst>
                <a:tab pos="755650" algn="l"/>
              </a:tabLst>
            </a:pPr>
            <a:r>
              <a:rPr lang="en-US" sz="2400" dirty="0" err="1">
                <a:latin typeface="Arial"/>
                <a:cs typeface="Arial"/>
              </a:rPr>
              <a:t>Tăng</a:t>
            </a:r>
            <a:r>
              <a:rPr lang="en-US" sz="2400" dirty="0">
                <a:latin typeface="Arial"/>
                <a:cs typeface="Arial"/>
              </a:rPr>
              <a:t> </a:t>
            </a:r>
            <a:r>
              <a:rPr lang="en-US" sz="2400" dirty="0" err="1">
                <a:latin typeface="Arial"/>
                <a:cs typeface="Arial"/>
              </a:rPr>
              <a:t>tốc</a:t>
            </a:r>
            <a:r>
              <a:rPr lang="en-US" sz="2400" dirty="0">
                <a:latin typeface="Arial"/>
                <a:cs typeface="Arial"/>
              </a:rPr>
              <a:t> </a:t>
            </a:r>
            <a:r>
              <a:rPr lang="en-US" sz="2400" dirty="0" err="1">
                <a:latin typeface="Arial"/>
                <a:cs typeface="Arial"/>
              </a:rPr>
              <a:t>độ</a:t>
            </a:r>
            <a:r>
              <a:rPr lang="en-US" sz="2400" dirty="0">
                <a:latin typeface="Arial"/>
                <a:cs typeface="Arial"/>
              </a:rPr>
              <a:t> </a:t>
            </a:r>
            <a:r>
              <a:rPr lang="en-US" sz="2400" dirty="0" err="1">
                <a:latin typeface="Arial"/>
                <a:cs typeface="Arial"/>
              </a:rPr>
              <a:t>theo</a:t>
            </a:r>
            <a:r>
              <a:rPr lang="en-US" sz="2400" dirty="0">
                <a:latin typeface="Arial"/>
                <a:cs typeface="Arial"/>
              </a:rPr>
              <a:t> </a:t>
            </a:r>
            <a:r>
              <a:rPr lang="en-US" sz="2400" dirty="0" err="1">
                <a:latin typeface="Arial"/>
                <a:cs typeface="Arial"/>
              </a:rPr>
              <a:t>hàm</a:t>
            </a:r>
            <a:r>
              <a:rPr lang="en-US" sz="2400" dirty="0">
                <a:latin typeface="Arial"/>
                <a:cs typeface="Arial"/>
              </a:rPr>
              <a:t> </a:t>
            </a:r>
            <a:r>
              <a:rPr lang="en-US" sz="2400" dirty="0" err="1">
                <a:latin typeface="Arial"/>
                <a:cs typeface="Arial"/>
              </a:rPr>
              <a:t>số</a:t>
            </a:r>
            <a:r>
              <a:rPr lang="en-US" sz="2400" dirty="0">
                <a:latin typeface="Arial"/>
                <a:cs typeface="Arial"/>
              </a:rPr>
              <a:t> </a:t>
            </a:r>
            <a:r>
              <a:rPr lang="en-US" sz="2400" dirty="0" err="1">
                <a:latin typeface="Arial"/>
                <a:cs typeface="Arial"/>
              </a:rPr>
              <a:t>mũ</a:t>
            </a:r>
            <a:endParaRPr lang="en-US" sz="2400" dirty="0">
              <a:latin typeface="Arial"/>
              <a:cs typeface="Arial"/>
            </a:endParaRPr>
          </a:p>
          <a:p>
            <a:pPr marL="755650" marR="5080" lvl="1" indent="-285750">
              <a:spcBef>
                <a:spcPts val="585"/>
              </a:spcBef>
              <a:buClr>
                <a:srgbClr val="3333CC"/>
              </a:buClr>
              <a:buSzPct val="75000"/>
              <a:buFont typeface="Wingdings"/>
              <a:buChar char=""/>
              <a:tabLst>
                <a:tab pos="755650" algn="l"/>
              </a:tabLst>
            </a:pPr>
            <a:r>
              <a:rPr lang="en-US" sz="2400" dirty="0" err="1">
                <a:latin typeface="Arial"/>
                <a:cs typeface="Arial"/>
              </a:rPr>
              <a:t>Tiếp</a:t>
            </a:r>
            <a:r>
              <a:rPr lang="en-US" sz="2400" dirty="0">
                <a:latin typeface="Arial"/>
                <a:cs typeface="Arial"/>
              </a:rPr>
              <a:t> </a:t>
            </a:r>
            <a:r>
              <a:rPr lang="en-US" sz="2400" dirty="0" err="1">
                <a:latin typeface="Arial"/>
                <a:cs typeface="Arial"/>
              </a:rPr>
              <a:t>tục</a:t>
            </a:r>
            <a:r>
              <a:rPr lang="en-US" sz="2400" dirty="0">
                <a:latin typeface="Arial"/>
                <a:cs typeface="Arial"/>
              </a:rPr>
              <a:t> </a:t>
            </a:r>
            <a:r>
              <a:rPr lang="en-US" sz="2400" dirty="0" err="1">
                <a:latin typeface="Arial"/>
                <a:cs typeface="Arial"/>
              </a:rPr>
              <a:t>tăng</a:t>
            </a:r>
            <a:r>
              <a:rPr lang="en-US" sz="2400" dirty="0">
                <a:latin typeface="Arial"/>
                <a:cs typeface="Arial"/>
              </a:rPr>
              <a:t> </a:t>
            </a:r>
            <a:r>
              <a:rPr lang="en-US" sz="2400" dirty="0" err="1">
                <a:latin typeface="Arial"/>
                <a:cs typeface="Arial"/>
              </a:rPr>
              <a:t>đến</a:t>
            </a:r>
            <a:r>
              <a:rPr lang="en-US" sz="2400" dirty="0">
                <a:latin typeface="Arial"/>
                <a:cs typeface="Arial"/>
              </a:rPr>
              <a:t> </a:t>
            </a:r>
            <a:r>
              <a:rPr lang="en-US" sz="2400" dirty="0" err="1">
                <a:latin typeface="Arial"/>
                <a:cs typeface="Arial"/>
              </a:rPr>
              <a:t>một</a:t>
            </a:r>
            <a:r>
              <a:rPr lang="en-US" sz="2400" dirty="0">
                <a:latin typeface="Arial"/>
                <a:cs typeface="Arial"/>
              </a:rPr>
              <a:t> </a:t>
            </a:r>
            <a:r>
              <a:rPr lang="en-US" sz="2400" dirty="0" err="1">
                <a:latin typeface="Arial"/>
                <a:cs typeface="Arial"/>
              </a:rPr>
              <a:t>ngưỡng</a:t>
            </a:r>
            <a:r>
              <a:rPr lang="en-US" sz="2400" dirty="0">
                <a:latin typeface="Arial"/>
                <a:cs typeface="Arial"/>
              </a:rPr>
              <a:t> </a:t>
            </a:r>
            <a:r>
              <a:rPr lang="en-US" sz="2400" dirty="0" err="1">
                <a:latin typeface="Arial"/>
                <a:cs typeface="Arial"/>
              </a:rPr>
              <a:t>nào</a:t>
            </a:r>
            <a:r>
              <a:rPr lang="en-US" sz="2400" dirty="0">
                <a:latin typeface="Arial"/>
                <a:cs typeface="Arial"/>
              </a:rPr>
              <a:t> </a:t>
            </a:r>
            <a:r>
              <a:rPr lang="en-US" sz="2400" dirty="0" err="1">
                <a:latin typeface="Arial"/>
                <a:cs typeface="Arial"/>
              </a:rPr>
              <a:t>đó</a:t>
            </a:r>
            <a:endParaRPr sz="24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2400" dirty="0" err="1">
                <a:latin typeface="Arial"/>
                <a:cs typeface="Arial"/>
              </a:rPr>
              <a:t>Tránh</a:t>
            </a:r>
            <a:r>
              <a:rPr lang="en-US" sz="2400" dirty="0">
                <a:latin typeface="Arial"/>
                <a:cs typeface="Arial"/>
              </a:rPr>
              <a:t> </a:t>
            </a:r>
            <a:r>
              <a:rPr lang="en-US" sz="2400" dirty="0" err="1">
                <a:latin typeface="Arial"/>
                <a:cs typeface="Arial"/>
              </a:rPr>
              <a:t>tắc</a:t>
            </a:r>
            <a:r>
              <a:rPr lang="en-US" sz="2400" dirty="0">
                <a:latin typeface="Arial"/>
                <a:cs typeface="Arial"/>
              </a:rPr>
              <a:t> </a:t>
            </a:r>
            <a:r>
              <a:rPr lang="en-US" sz="2400" dirty="0" err="1">
                <a:latin typeface="Arial"/>
                <a:cs typeface="Arial"/>
              </a:rPr>
              <a:t>nghẽn</a:t>
            </a:r>
            <a:endParaRPr lang="en-US" sz="2400" dirty="0">
              <a:latin typeface="Arial"/>
              <a:cs typeface="Arial"/>
            </a:endParaRPr>
          </a:p>
          <a:p>
            <a:pPr marL="755650" lvl="1" indent="-285750">
              <a:lnSpc>
                <a:spcPct val="100000"/>
              </a:lnSpc>
              <a:spcBef>
                <a:spcPts val="580"/>
              </a:spcBef>
              <a:buClr>
                <a:srgbClr val="3333CC"/>
              </a:buClr>
              <a:buSzPct val="75000"/>
              <a:buFont typeface="Wingdings"/>
              <a:buChar char=""/>
              <a:tabLst>
                <a:tab pos="755650" algn="l"/>
              </a:tabLst>
            </a:pPr>
            <a:r>
              <a:rPr lang="en-US" sz="2400" dirty="0" err="1">
                <a:latin typeface="Arial"/>
                <a:cs typeface="Arial"/>
              </a:rPr>
              <a:t>Tăng</a:t>
            </a:r>
            <a:r>
              <a:rPr lang="en-US" sz="2400" dirty="0">
                <a:latin typeface="Arial"/>
                <a:cs typeface="Arial"/>
              </a:rPr>
              <a:t> </a:t>
            </a:r>
            <a:r>
              <a:rPr lang="en-US" sz="2400" dirty="0" err="1">
                <a:latin typeface="Arial"/>
                <a:cs typeface="Arial"/>
              </a:rPr>
              <a:t>dần</a:t>
            </a:r>
            <a:r>
              <a:rPr lang="en-US" sz="2400" dirty="0">
                <a:latin typeface="Arial"/>
                <a:cs typeface="Arial"/>
              </a:rPr>
              <a:t> </a:t>
            </a:r>
            <a:r>
              <a:rPr lang="en-US" sz="2400" dirty="0" err="1">
                <a:latin typeface="Arial"/>
                <a:cs typeface="Arial"/>
              </a:rPr>
              <a:t>tốc</a:t>
            </a:r>
            <a:r>
              <a:rPr lang="en-US" sz="2400" dirty="0">
                <a:latin typeface="Arial"/>
                <a:cs typeface="Arial"/>
              </a:rPr>
              <a:t> </a:t>
            </a:r>
            <a:r>
              <a:rPr lang="en-US" sz="2400" dirty="0" err="1">
                <a:latin typeface="Arial"/>
                <a:cs typeface="Arial"/>
              </a:rPr>
              <a:t>độ</a:t>
            </a:r>
            <a:r>
              <a:rPr lang="en-US" sz="2400" dirty="0">
                <a:latin typeface="Arial"/>
                <a:cs typeface="Arial"/>
              </a:rPr>
              <a:t> </a:t>
            </a:r>
            <a:r>
              <a:rPr lang="en-US" sz="2400" dirty="0" err="1">
                <a:latin typeface="Arial"/>
                <a:cs typeface="Arial"/>
              </a:rPr>
              <a:t>theo</a:t>
            </a:r>
            <a:r>
              <a:rPr lang="en-US" sz="2400" dirty="0">
                <a:latin typeface="Arial"/>
                <a:cs typeface="Arial"/>
              </a:rPr>
              <a:t> </a:t>
            </a:r>
            <a:r>
              <a:rPr lang="en-US" sz="2400" dirty="0" err="1">
                <a:latin typeface="Arial"/>
                <a:cs typeface="Arial"/>
              </a:rPr>
              <a:t>hàm</a:t>
            </a:r>
            <a:r>
              <a:rPr lang="en-US" sz="2400" dirty="0">
                <a:latin typeface="Arial"/>
                <a:cs typeface="Arial"/>
              </a:rPr>
              <a:t> </a:t>
            </a:r>
            <a:r>
              <a:rPr lang="en-US" sz="2400" dirty="0" err="1">
                <a:latin typeface="Arial"/>
                <a:cs typeface="Arial"/>
              </a:rPr>
              <a:t>tuyến</a:t>
            </a:r>
            <a:r>
              <a:rPr lang="en-US" sz="2400" dirty="0">
                <a:latin typeface="Arial"/>
                <a:cs typeface="Arial"/>
              </a:rPr>
              <a:t> </a:t>
            </a:r>
            <a:r>
              <a:rPr lang="en-US" sz="2400" dirty="0" err="1">
                <a:latin typeface="Arial"/>
                <a:cs typeface="Arial"/>
              </a:rPr>
              <a:t>tính</a:t>
            </a:r>
            <a:r>
              <a:rPr lang="en-US" sz="2400" dirty="0">
                <a:latin typeface="Arial"/>
                <a:cs typeface="Arial"/>
              </a:rPr>
              <a:t> </a:t>
            </a:r>
            <a:r>
              <a:rPr lang="en-US" sz="2400" dirty="0" err="1">
                <a:latin typeface="Arial"/>
                <a:cs typeface="Arial"/>
              </a:rPr>
              <a:t>cho</a:t>
            </a:r>
            <a:r>
              <a:rPr lang="en-US" sz="2400" dirty="0">
                <a:latin typeface="Arial"/>
                <a:cs typeface="Arial"/>
              </a:rPr>
              <a:t> </a:t>
            </a:r>
            <a:r>
              <a:rPr lang="en-US" sz="2400" dirty="0" err="1">
                <a:latin typeface="Arial"/>
                <a:cs typeface="Arial"/>
              </a:rPr>
              <a:t>đến</a:t>
            </a:r>
            <a:r>
              <a:rPr lang="en-US" sz="2400" dirty="0">
                <a:latin typeface="Arial"/>
                <a:cs typeface="Arial"/>
              </a:rPr>
              <a:t> </a:t>
            </a:r>
            <a:r>
              <a:rPr lang="en-US" sz="2400" dirty="0" err="1">
                <a:latin typeface="Arial"/>
                <a:cs typeface="Arial"/>
              </a:rPr>
              <a:t>khi</a:t>
            </a:r>
            <a:r>
              <a:rPr lang="en-US" sz="2400" dirty="0">
                <a:latin typeface="Arial"/>
                <a:cs typeface="Arial"/>
              </a:rPr>
              <a:t> </a:t>
            </a:r>
            <a:r>
              <a:rPr lang="en-US" sz="2400" dirty="0" err="1">
                <a:latin typeface="Arial"/>
                <a:cs typeface="Arial"/>
              </a:rPr>
              <a:t>phát</a:t>
            </a:r>
            <a:r>
              <a:rPr lang="en-US" sz="2400" dirty="0">
                <a:latin typeface="Arial"/>
                <a:cs typeface="Arial"/>
              </a:rPr>
              <a:t> </a:t>
            </a:r>
            <a:r>
              <a:rPr lang="en-US" sz="2400" dirty="0" err="1">
                <a:latin typeface="Arial"/>
                <a:cs typeface="Arial"/>
              </a:rPr>
              <a:t>hiện</a:t>
            </a:r>
            <a:r>
              <a:rPr lang="en-US" sz="2400" dirty="0">
                <a:latin typeface="Arial"/>
                <a:cs typeface="Arial"/>
              </a:rPr>
              <a:t> </a:t>
            </a:r>
            <a:r>
              <a:rPr lang="en-US" sz="2400" dirty="0" err="1">
                <a:latin typeface="Arial"/>
                <a:cs typeface="Arial"/>
              </a:rPr>
              <a:t>tắc</a:t>
            </a:r>
            <a:r>
              <a:rPr lang="en-US" sz="2400" dirty="0">
                <a:latin typeface="Arial"/>
                <a:cs typeface="Arial"/>
              </a:rPr>
              <a:t> </a:t>
            </a:r>
            <a:r>
              <a:rPr lang="en-US" sz="2400" dirty="0" err="1">
                <a:latin typeface="Arial"/>
                <a:cs typeface="Arial"/>
              </a:rPr>
              <a:t>nghẽn</a:t>
            </a:r>
            <a:endParaRPr lang="en-US" sz="2400" dirty="0">
              <a:latin typeface="Arial"/>
              <a:cs typeface="Arial"/>
            </a:endParaRPr>
          </a:p>
          <a:p>
            <a:pPr marL="355600" indent="-342900">
              <a:lnSpc>
                <a:spcPct val="100000"/>
              </a:lnSpc>
              <a:spcBef>
                <a:spcPts val="575"/>
              </a:spcBef>
              <a:buClr>
                <a:srgbClr val="3333CC"/>
              </a:buClr>
              <a:buSzPct val="83333"/>
              <a:buFont typeface="Wingdings"/>
              <a:buChar char=""/>
              <a:tabLst>
                <a:tab pos="355600" algn="l"/>
              </a:tabLst>
            </a:pPr>
            <a:r>
              <a:rPr lang="en-US" sz="2400" dirty="0" err="1">
                <a:latin typeface="Arial"/>
                <a:cs typeface="Arial"/>
              </a:rPr>
              <a:t>Phát</a:t>
            </a:r>
            <a:r>
              <a:rPr lang="en-US" sz="2400" dirty="0">
                <a:latin typeface="Arial"/>
                <a:cs typeface="Arial"/>
              </a:rPr>
              <a:t> </a:t>
            </a:r>
            <a:r>
              <a:rPr lang="en-US" sz="2400" dirty="0" err="1">
                <a:latin typeface="Arial"/>
                <a:cs typeface="Arial"/>
              </a:rPr>
              <a:t>hiện</a:t>
            </a:r>
            <a:r>
              <a:rPr lang="en-US" sz="2400" dirty="0">
                <a:latin typeface="Arial"/>
                <a:cs typeface="Arial"/>
              </a:rPr>
              <a:t> </a:t>
            </a:r>
            <a:r>
              <a:rPr lang="en-US" sz="2400" dirty="0" err="1">
                <a:latin typeface="Arial"/>
                <a:cs typeface="Arial"/>
              </a:rPr>
              <a:t>tắc</a:t>
            </a:r>
            <a:r>
              <a:rPr lang="en-US" sz="2400" dirty="0">
                <a:latin typeface="Arial"/>
                <a:cs typeface="Arial"/>
              </a:rPr>
              <a:t> </a:t>
            </a:r>
            <a:r>
              <a:rPr lang="en-US" sz="2400" dirty="0" err="1">
                <a:latin typeface="Arial"/>
                <a:cs typeface="Arial"/>
              </a:rPr>
              <a:t>nghẽn</a:t>
            </a:r>
            <a:endParaRPr lang="en-US" sz="2400" dirty="0">
              <a:latin typeface="Arial"/>
              <a:cs typeface="Arial"/>
            </a:endParaRPr>
          </a:p>
          <a:p>
            <a:pPr marL="755650" lvl="1" indent="-285750">
              <a:lnSpc>
                <a:spcPct val="100000"/>
              </a:lnSpc>
              <a:spcBef>
                <a:spcPts val="580"/>
              </a:spcBef>
              <a:buClr>
                <a:srgbClr val="3333CC"/>
              </a:buClr>
              <a:buSzPct val="75000"/>
              <a:buFont typeface="Wingdings"/>
              <a:buChar char=""/>
              <a:tabLst>
                <a:tab pos="755650" algn="l"/>
              </a:tabLst>
            </a:pPr>
            <a:r>
              <a:rPr lang="en-US" sz="2400" dirty="0" err="1">
                <a:latin typeface="Arial"/>
                <a:cs typeface="Arial"/>
              </a:rPr>
              <a:t>Nếu</a:t>
            </a:r>
            <a:r>
              <a:rPr lang="en-US" sz="2400" dirty="0">
                <a:latin typeface="Arial"/>
                <a:cs typeface="Arial"/>
              </a:rPr>
              <a:t> </a:t>
            </a:r>
            <a:r>
              <a:rPr lang="en-US" sz="2400" dirty="0" err="1">
                <a:latin typeface="Arial"/>
                <a:cs typeface="Arial"/>
              </a:rPr>
              <a:t>gói</a:t>
            </a:r>
            <a:r>
              <a:rPr lang="en-US" sz="2400" dirty="0">
                <a:latin typeface="Arial"/>
                <a:cs typeface="Arial"/>
              </a:rPr>
              <a:t> tin </a:t>
            </a:r>
            <a:r>
              <a:rPr lang="en-US" sz="2400" dirty="0" err="1">
                <a:latin typeface="Arial"/>
                <a:cs typeface="Arial"/>
              </a:rPr>
              <a:t>bị</a:t>
            </a:r>
            <a:r>
              <a:rPr lang="en-US" sz="2400" dirty="0">
                <a:latin typeface="Arial"/>
                <a:cs typeface="Arial"/>
              </a:rPr>
              <a:t> </a:t>
            </a:r>
            <a:r>
              <a:rPr lang="en-US" sz="2400" dirty="0" err="1">
                <a:latin typeface="Arial"/>
                <a:cs typeface="Arial"/>
              </a:rPr>
              <a:t>mất</a:t>
            </a:r>
            <a:endParaRPr lang="en-US" sz="2400" dirty="0">
              <a:latin typeface="Arial"/>
              <a:cs typeface="Arial"/>
            </a:endParaRPr>
          </a:p>
          <a:p>
            <a:pPr marL="298450" indent="-285750">
              <a:spcBef>
                <a:spcPts val="580"/>
              </a:spcBef>
              <a:buClr>
                <a:srgbClr val="3333CC"/>
              </a:buClr>
              <a:buSzPct val="75000"/>
              <a:buFont typeface="Wingdings"/>
              <a:buChar char=""/>
              <a:tabLst>
                <a:tab pos="755650" algn="l"/>
              </a:tabLst>
            </a:pPr>
            <a:endParaRPr lang="en-US" sz="2400" dirty="0">
              <a:latin typeface="Arial"/>
              <a:cs typeface="Arial"/>
            </a:endParaRPr>
          </a:p>
        </p:txBody>
      </p:sp>
      <p:pic>
        <p:nvPicPr>
          <p:cNvPr id="5" name="Picture 4"/>
          <p:cNvPicPr>
            <a:picLocks noChangeAspect="1"/>
          </p:cNvPicPr>
          <p:nvPr/>
        </p:nvPicPr>
        <p:blipFill>
          <a:blip r:embed="rId3"/>
          <a:stretch>
            <a:fillRect/>
          </a:stretch>
        </p:blipFill>
        <p:spPr>
          <a:xfrm>
            <a:off x="6019800" y="2819400"/>
            <a:ext cx="3813150" cy="3438525"/>
          </a:xfrm>
          <a:prstGeom prst="rect">
            <a:avLst/>
          </a:prstGeom>
        </p:spPr>
      </p:pic>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60</a:t>
            </a:fld>
            <a:endParaRPr lang="en-US" spc="-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a:t>TCP slow-start</a:t>
            </a:r>
            <a:endParaRPr dirty="0"/>
          </a:p>
        </p:txBody>
      </p:sp>
      <p:sp>
        <p:nvSpPr>
          <p:cNvPr id="3" name="object 3"/>
          <p:cNvSpPr txBox="1"/>
          <p:nvPr/>
        </p:nvSpPr>
        <p:spPr>
          <a:xfrm>
            <a:off x="1069339" y="1993685"/>
            <a:ext cx="8760461" cy="3424655"/>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Ý tưởng cơ bản</a:t>
            </a:r>
          </a:p>
          <a:p>
            <a:pPr marL="812800" marR="5080" lvl="1" indent="-342900">
              <a:spcBef>
                <a:spcPts val="585"/>
              </a:spcBef>
              <a:buClr>
                <a:srgbClr val="3333CC"/>
              </a:buClr>
              <a:buSzPct val="83333"/>
              <a:buFont typeface="Courier New" panose="02070309020205020404" pitchFamily="49" charset="0"/>
              <a:buChar char="o"/>
              <a:tabLst>
                <a:tab pos="355600" algn="l"/>
              </a:tabLst>
            </a:pPr>
            <a:r>
              <a:rPr lang="en-US" sz="2600" dirty="0">
                <a:latin typeface="Arial"/>
                <a:cs typeface="Arial"/>
              </a:rPr>
              <a:t>đ</a:t>
            </a:r>
            <a:r>
              <a:rPr lang="vi-VN" sz="2600" dirty="0">
                <a:latin typeface="Arial"/>
                <a:cs typeface="Arial"/>
              </a:rPr>
              <a:t>ặt cwnd bằng 1 MSS (Maximum segment size)</a:t>
            </a:r>
          </a:p>
          <a:p>
            <a:pPr marL="812800" marR="5080" lvl="1" indent="-3429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Tăng cwnd lên gấp </a:t>
            </a:r>
            <a:r>
              <a:rPr lang="en-US" sz="2600" dirty="0">
                <a:latin typeface="Arial"/>
                <a:cs typeface="Arial"/>
              </a:rPr>
              <a:t>đ</a:t>
            </a:r>
            <a:r>
              <a:rPr lang="vi-VN" sz="2600" dirty="0">
                <a:latin typeface="Arial"/>
                <a:cs typeface="Arial"/>
              </a:rPr>
              <a:t>ôi</a:t>
            </a:r>
          </a:p>
          <a:p>
            <a:pPr marL="1270000" marR="5080" lvl="2" indent="-342900">
              <a:spcBef>
                <a:spcPts val="585"/>
              </a:spcBef>
              <a:buClr>
                <a:srgbClr val="3333CC"/>
              </a:buClr>
              <a:buSzPct val="83333"/>
              <a:buFont typeface="Wingdings" panose="05000000000000000000" pitchFamily="2" charset="2"/>
              <a:buChar char="ü"/>
              <a:tabLst>
                <a:tab pos="355600" algn="l"/>
              </a:tabLst>
            </a:pPr>
            <a:r>
              <a:rPr lang="vi-VN" sz="2600" dirty="0">
                <a:latin typeface="Arial"/>
                <a:cs typeface="Arial"/>
              </a:rPr>
              <a:t>Khi nhận </a:t>
            </a:r>
            <a:r>
              <a:rPr lang="en-US" sz="2600" dirty="0">
                <a:latin typeface="Arial"/>
                <a:cs typeface="Arial"/>
              </a:rPr>
              <a:t>đ</a:t>
            </a:r>
            <a:r>
              <a:rPr lang="vi-VN" sz="2600" dirty="0">
                <a:latin typeface="Arial"/>
                <a:cs typeface="Arial"/>
              </a:rPr>
              <a:t>ược ACK</a:t>
            </a:r>
          </a:p>
          <a:p>
            <a:pPr marL="812800" marR="5080" lvl="1" indent="-3429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Bắt </a:t>
            </a:r>
            <a:r>
              <a:rPr lang="en-US" sz="2600" dirty="0">
                <a:latin typeface="Arial"/>
                <a:cs typeface="Arial"/>
              </a:rPr>
              <a:t>đ</a:t>
            </a:r>
            <a:r>
              <a:rPr lang="vi-VN" sz="2600" dirty="0">
                <a:latin typeface="Arial"/>
                <a:cs typeface="Arial"/>
              </a:rPr>
              <a:t>ầu chậm, nhưng tăng theo hàm mũ</a:t>
            </a:r>
          </a:p>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Tăng cho </a:t>
            </a:r>
            <a:r>
              <a:rPr lang="en-US" sz="2800" dirty="0">
                <a:latin typeface="Arial"/>
                <a:cs typeface="Arial"/>
              </a:rPr>
              <a:t>đ</a:t>
            </a:r>
            <a:r>
              <a:rPr lang="vi-VN" sz="2800" dirty="0">
                <a:latin typeface="Arial"/>
                <a:cs typeface="Arial"/>
              </a:rPr>
              <a:t>ến một ngưỡng: thresh</a:t>
            </a:r>
            <a:r>
              <a:rPr lang="en-US" sz="2800" dirty="0">
                <a:latin typeface="Arial"/>
                <a:cs typeface="Arial"/>
              </a:rPr>
              <a:t>old</a:t>
            </a:r>
            <a:endParaRPr lang="vi-VN" sz="2800" dirty="0">
              <a:latin typeface="Arial"/>
              <a:cs typeface="Arial"/>
            </a:endParaRPr>
          </a:p>
          <a:p>
            <a:pPr marL="812800" marR="5080" lvl="1" indent="-3429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Sau </a:t>
            </a:r>
            <a:r>
              <a:rPr lang="en-US" sz="2600" dirty="0">
                <a:latin typeface="Arial"/>
                <a:cs typeface="Arial"/>
              </a:rPr>
              <a:t>đ</a:t>
            </a:r>
            <a:r>
              <a:rPr lang="vi-VN" sz="2600" dirty="0">
                <a:latin typeface="Arial"/>
                <a:cs typeface="Arial"/>
              </a:rPr>
              <a:t>ó, TCP chuyển sang trạng thái tránh tắc</a:t>
            </a:r>
            <a:r>
              <a:rPr lang="en-US" sz="2600" dirty="0">
                <a:latin typeface="Arial"/>
                <a:cs typeface="Arial"/>
              </a:rPr>
              <a:t> </a:t>
            </a:r>
            <a:r>
              <a:rPr lang="vi-VN" sz="2600" dirty="0">
                <a:latin typeface="Arial"/>
                <a:cs typeface="Arial"/>
              </a:rPr>
              <a:t>nghẽn</a:t>
            </a:r>
          </a:p>
        </p:txBody>
      </p:sp>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61</a:t>
            </a:fld>
            <a:endParaRPr lang="en-US" spc="-5" dirty="0"/>
          </a:p>
        </p:txBody>
      </p:sp>
    </p:spTree>
    <p:extLst>
      <p:ext uri="{BB962C8B-B14F-4D97-AF65-F5344CB8AC3E}">
        <p14:creationId xmlns:p14="http://schemas.microsoft.com/office/powerpoint/2010/main" val="2179531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541" y="550418"/>
            <a:ext cx="8497316" cy="553998"/>
          </a:xfrm>
        </p:spPr>
        <p:txBody>
          <a:bodyPr/>
          <a:lstStyle/>
          <a:p>
            <a:r>
              <a:rPr lang="en-US" dirty="0"/>
              <a:t>TCP slow-start: minh </a:t>
            </a:r>
            <a:r>
              <a:rPr lang="en-US" dirty="0" err="1"/>
              <a:t>họa</a:t>
            </a:r>
            <a:r>
              <a:rPr lang="en-US" dirty="0"/>
              <a:t> </a:t>
            </a:r>
          </a:p>
        </p:txBody>
      </p:sp>
      <p:pic>
        <p:nvPicPr>
          <p:cNvPr id="4" name="Picture 3"/>
          <p:cNvPicPr>
            <a:picLocks noChangeAspect="1"/>
          </p:cNvPicPr>
          <p:nvPr/>
        </p:nvPicPr>
        <p:blipFill>
          <a:blip r:embed="rId3"/>
          <a:stretch>
            <a:fillRect/>
          </a:stretch>
        </p:blipFill>
        <p:spPr>
          <a:xfrm>
            <a:off x="1371600" y="1371600"/>
            <a:ext cx="6762750" cy="5562600"/>
          </a:xfrm>
          <a:prstGeom prst="rect">
            <a:avLst/>
          </a:prstGeom>
        </p:spPr>
      </p:pic>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62</a:t>
            </a:fld>
            <a:endParaRPr lang="en-US" spc="-5" dirty="0"/>
          </a:p>
        </p:txBody>
      </p:sp>
    </p:spTree>
    <p:extLst>
      <p:ext uri="{BB962C8B-B14F-4D97-AF65-F5344CB8AC3E}">
        <p14:creationId xmlns:p14="http://schemas.microsoft.com/office/powerpoint/2010/main" val="2417389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a:t>TCP </a:t>
            </a:r>
            <a:r>
              <a:rPr lang="en-US" dirty="0" err="1"/>
              <a:t>tránh</a:t>
            </a:r>
            <a:r>
              <a:rPr lang="en-US" dirty="0"/>
              <a:t> </a:t>
            </a:r>
            <a:r>
              <a:rPr lang="en-US" dirty="0" err="1"/>
              <a:t>tắc</a:t>
            </a:r>
            <a:r>
              <a:rPr lang="en-US" dirty="0"/>
              <a:t> </a:t>
            </a:r>
            <a:r>
              <a:rPr lang="en-US" dirty="0" err="1"/>
              <a:t>nghẽn</a:t>
            </a:r>
            <a:endParaRPr dirty="0"/>
          </a:p>
        </p:txBody>
      </p:sp>
      <p:sp>
        <p:nvSpPr>
          <p:cNvPr id="3" name="object 3"/>
          <p:cNvSpPr txBox="1"/>
          <p:nvPr/>
        </p:nvSpPr>
        <p:spPr>
          <a:xfrm>
            <a:off x="1069339" y="1993685"/>
            <a:ext cx="4340861" cy="4886594"/>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Ý tưởng cơ bản</a:t>
            </a:r>
          </a:p>
          <a:p>
            <a:pPr marL="812800" marR="5080" lvl="1" indent="-3429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Giảm tốc </a:t>
            </a:r>
            <a:r>
              <a:rPr lang="en-US" sz="2600" dirty="0">
                <a:latin typeface="Arial"/>
                <a:cs typeface="Arial"/>
              </a:rPr>
              <a:t>đ</a:t>
            </a:r>
            <a:r>
              <a:rPr lang="vi-VN" sz="2600" dirty="0">
                <a:latin typeface="Arial"/>
                <a:cs typeface="Arial"/>
              </a:rPr>
              <a:t>ộ gửi</a:t>
            </a:r>
          </a:p>
          <a:p>
            <a:pPr marL="812800" marR="5080" lvl="1" indent="-342900">
              <a:spcBef>
                <a:spcPts val="585"/>
              </a:spcBef>
              <a:buClr>
                <a:srgbClr val="3333CC"/>
              </a:buClr>
              <a:buSzPct val="83333"/>
              <a:buFont typeface="Courier New" panose="02070309020205020404" pitchFamily="49" charset="0"/>
              <a:buChar char="o"/>
              <a:tabLst>
                <a:tab pos="355600" algn="l"/>
              </a:tabLst>
            </a:pPr>
            <a:r>
              <a:rPr lang="en-US" sz="2600" dirty="0">
                <a:latin typeface="Arial"/>
                <a:cs typeface="Arial"/>
              </a:rPr>
              <a:t>đ</a:t>
            </a:r>
            <a:r>
              <a:rPr lang="vi-VN" sz="2600" dirty="0">
                <a:latin typeface="Arial"/>
                <a:cs typeface="Arial"/>
              </a:rPr>
              <a:t>ặt cwnd </a:t>
            </a:r>
            <a:r>
              <a:rPr lang="en-US" sz="2600" dirty="0" err="1">
                <a:latin typeface="Arial"/>
                <a:cs typeface="Arial"/>
              </a:rPr>
              <a:t>theo</a:t>
            </a:r>
            <a:r>
              <a:rPr lang="en-US" sz="2600" dirty="0">
                <a:latin typeface="Arial"/>
                <a:cs typeface="Arial"/>
              </a:rPr>
              <a:t> </a:t>
            </a:r>
            <a:r>
              <a:rPr lang="en-US" sz="2600" dirty="0" err="1">
                <a:latin typeface="Arial"/>
                <a:cs typeface="Arial"/>
              </a:rPr>
              <a:t>cấp</a:t>
            </a:r>
            <a:r>
              <a:rPr lang="en-US" sz="2600" dirty="0">
                <a:latin typeface="Arial"/>
                <a:cs typeface="Arial"/>
              </a:rPr>
              <a:t> </a:t>
            </a:r>
            <a:r>
              <a:rPr lang="en-US" sz="2600" dirty="0" err="1">
                <a:latin typeface="Arial"/>
                <a:cs typeface="Arial"/>
              </a:rPr>
              <a:t>số</a:t>
            </a:r>
            <a:r>
              <a:rPr lang="en-US" sz="2600" dirty="0">
                <a:latin typeface="Arial"/>
                <a:cs typeface="Arial"/>
              </a:rPr>
              <a:t> </a:t>
            </a:r>
            <a:r>
              <a:rPr lang="en-US" sz="2600" dirty="0" err="1">
                <a:latin typeface="Arial"/>
                <a:cs typeface="Arial"/>
              </a:rPr>
              <a:t>cộng</a:t>
            </a:r>
            <a:r>
              <a:rPr lang="en-US" sz="2600" dirty="0">
                <a:latin typeface="Arial"/>
                <a:cs typeface="Arial"/>
              </a:rPr>
              <a:t> </a:t>
            </a:r>
            <a:r>
              <a:rPr lang="en-US" sz="2600" dirty="0" err="1">
                <a:latin typeface="Arial"/>
                <a:cs typeface="Arial"/>
              </a:rPr>
              <a:t>sau</a:t>
            </a:r>
            <a:r>
              <a:rPr lang="en-US" sz="2600" dirty="0">
                <a:latin typeface="Arial"/>
                <a:cs typeface="Arial"/>
              </a:rPr>
              <a:t> </a:t>
            </a:r>
            <a:r>
              <a:rPr lang="en-US" sz="2600" dirty="0" err="1">
                <a:latin typeface="Arial"/>
                <a:cs typeface="Arial"/>
              </a:rPr>
              <a:t>khi</a:t>
            </a:r>
            <a:r>
              <a:rPr lang="en-US" sz="2600" dirty="0">
                <a:latin typeface="Arial"/>
                <a:cs typeface="Arial"/>
              </a:rPr>
              <a:t> </a:t>
            </a:r>
            <a:r>
              <a:rPr lang="en-US" sz="2600" dirty="0" err="1">
                <a:latin typeface="Arial"/>
                <a:cs typeface="Arial"/>
              </a:rPr>
              <a:t>nó</a:t>
            </a:r>
            <a:r>
              <a:rPr lang="en-US" sz="2600" dirty="0">
                <a:latin typeface="Arial"/>
                <a:cs typeface="Arial"/>
              </a:rPr>
              <a:t> </a:t>
            </a:r>
            <a:r>
              <a:rPr lang="en-US" sz="2600" dirty="0" err="1">
                <a:latin typeface="Arial"/>
                <a:cs typeface="Arial"/>
              </a:rPr>
              <a:t>đạt</a:t>
            </a:r>
            <a:r>
              <a:rPr lang="en-US" sz="2600" dirty="0">
                <a:latin typeface="Arial"/>
                <a:cs typeface="Arial"/>
              </a:rPr>
              <a:t> </a:t>
            </a:r>
            <a:r>
              <a:rPr lang="en-US" sz="2600" dirty="0" err="1">
                <a:latin typeface="Arial"/>
                <a:cs typeface="Arial"/>
              </a:rPr>
              <a:t>tới</a:t>
            </a:r>
            <a:r>
              <a:rPr lang="en-US" sz="2600" dirty="0">
                <a:latin typeface="Arial"/>
                <a:cs typeface="Arial"/>
              </a:rPr>
              <a:t> threshold</a:t>
            </a:r>
            <a:endParaRPr lang="vi-VN" sz="2600" dirty="0">
              <a:latin typeface="Arial"/>
              <a:cs typeface="Arial"/>
            </a:endParaRPr>
          </a:p>
          <a:p>
            <a:pPr marL="812800" marR="5080" lvl="1" indent="-342900">
              <a:spcBef>
                <a:spcPts val="585"/>
              </a:spcBef>
              <a:buClr>
                <a:srgbClr val="3333CC"/>
              </a:buClr>
              <a:buSzPct val="83333"/>
              <a:buFont typeface="Courier New" panose="02070309020205020404" pitchFamily="49" charset="0"/>
              <a:buChar char="o"/>
              <a:tabLst>
                <a:tab pos="355600" algn="l"/>
              </a:tabLst>
            </a:pPr>
            <a:r>
              <a:rPr lang="en-US" sz="2600" dirty="0" err="1">
                <a:latin typeface="Arial"/>
                <a:cs typeface="Arial"/>
              </a:rPr>
              <a:t>Khi</a:t>
            </a:r>
            <a:r>
              <a:rPr lang="en-US" sz="2600" dirty="0">
                <a:latin typeface="Arial"/>
                <a:cs typeface="Arial"/>
              </a:rPr>
              <a:t> </a:t>
            </a:r>
            <a:r>
              <a:rPr lang="en-US" sz="2600" dirty="0" err="1">
                <a:latin typeface="Arial"/>
                <a:cs typeface="Arial"/>
              </a:rPr>
              <a:t>bên</a:t>
            </a:r>
            <a:r>
              <a:rPr lang="en-US" sz="2600" dirty="0">
                <a:latin typeface="Arial"/>
                <a:cs typeface="Arial"/>
              </a:rPr>
              <a:t> </a:t>
            </a:r>
            <a:r>
              <a:rPr lang="en-US" sz="2600" dirty="0" err="1">
                <a:latin typeface="Arial"/>
                <a:cs typeface="Arial"/>
              </a:rPr>
              <a:t>gửi</a:t>
            </a:r>
            <a:r>
              <a:rPr lang="en-US" sz="2600" dirty="0">
                <a:latin typeface="Arial"/>
                <a:cs typeface="Arial"/>
              </a:rPr>
              <a:t> </a:t>
            </a:r>
            <a:r>
              <a:rPr lang="en-US" sz="2600" dirty="0" err="1">
                <a:latin typeface="Arial"/>
                <a:cs typeface="Arial"/>
              </a:rPr>
              <a:t>nhận</a:t>
            </a:r>
            <a:r>
              <a:rPr lang="en-US" sz="2600" dirty="0">
                <a:latin typeface="Arial"/>
                <a:cs typeface="Arial"/>
              </a:rPr>
              <a:t> </a:t>
            </a:r>
            <a:r>
              <a:rPr lang="en-US" sz="2600" dirty="0" err="1">
                <a:latin typeface="Arial"/>
                <a:cs typeface="Arial"/>
              </a:rPr>
              <a:t>được</a:t>
            </a:r>
            <a:r>
              <a:rPr lang="en-US" sz="2600" dirty="0">
                <a:latin typeface="Arial"/>
                <a:cs typeface="Arial"/>
              </a:rPr>
              <a:t> ACK</a:t>
            </a:r>
            <a:endParaRPr lang="vi-VN" sz="2600" dirty="0">
              <a:latin typeface="Arial"/>
              <a:cs typeface="Arial"/>
            </a:endParaRPr>
          </a:p>
          <a:p>
            <a:pPr marL="1270000" marR="5080" lvl="2" indent="-342900">
              <a:spcBef>
                <a:spcPts val="585"/>
              </a:spcBef>
              <a:buClr>
                <a:srgbClr val="3333CC"/>
              </a:buClr>
              <a:buSzPct val="83333"/>
              <a:buFont typeface="Wingdings" panose="05000000000000000000" pitchFamily="2" charset="2"/>
              <a:buChar char="ü"/>
              <a:tabLst>
                <a:tab pos="355600" algn="l"/>
              </a:tabLst>
            </a:pPr>
            <a:r>
              <a:rPr lang="en-US" sz="2600" dirty="0" err="1">
                <a:latin typeface="Arial"/>
                <a:cs typeface="Arial"/>
              </a:rPr>
              <a:t>Tăng</a:t>
            </a:r>
            <a:r>
              <a:rPr lang="en-US" sz="2600" dirty="0">
                <a:latin typeface="Arial"/>
                <a:cs typeface="Arial"/>
              </a:rPr>
              <a:t> </a:t>
            </a:r>
            <a:r>
              <a:rPr lang="en-US" sz="2600" dirty="0" err="1">
                <a:latin typeface="Arial"/>
                <a:cs typeface="Arial"/>
              </a:rPr>
              <a:t>cwnd</a:t>
            </a:r>
            <a:r>
              <a:rPr lang="en-US" sz="2600" dirty="0">
                <a:latin typeface="Arial"/>
                <a:cs typeface="Arial"/>
              </a:rPr>
              <a:t> </a:t>
            </a:r>
            <a:r>
              <a:rPr lang="en-US" sz="2600" dirty="0" err="1">
                <a:latin typeface="Arial"/>
                <a:cs typeface="Arial"/>
              </a:rPr>
              <a:t>thêm</a:t>
            </a:r>
            <a:r>
              <a:rPr lang="en-US" sz="2600" dirty="0">
                <a:latin typeface="Arial"/>
                <a:cs typeface="Arial"/>
              </a:rPr>
              <a:t> 1 MSS </a:t>
            </a:r>
            <a:r>
              <a:rPr lang="vi-VN" sz="2600" dirty="0">
                <a:latin typeface="Arial"/>
                <a:cs typeface="Arial"/>
              </a:rPr>
              <a:t>(Maximum segment size)</a:t>
            </a:r>
          </a:p>
          <a:p>
            <a:pPr marL="1270000" marR="5080" lvl="2" indent="-342900">
              <a:spcBef>
                <a:spcPts val="585"/>
              </a:spcBef>
              <a:buClr>
                <a:srgbClr val="3333CC"/>
              </a:buClr>
              <a:buSzPct val="83333"/>
              <a:buFont typeface="Wingdings" panose="05000000000000000000" pitchFamily="2" charset="2"/>
              <a:buChar char="ü"/>
              <a:tabLst>
                <a:tab pos="355600" algn="l"/>
              </a:tabLst>
            </a:pPr>
            <a:endParaRPr lang="vi-VN" sz="2600" dirty="0">
              <a:latin typeface="Arial"/>
              <a:cs typeface="Arial"/>
            </a:endParaRPr>
          </a:p>
        </p:txBody>
      </p:sp>
      <p:pic>
        <p:nvPicPr>
          <p:cNvPr id="5" name="Picture 4"/>
          <p:cNvPicPr>
            <a:picLocks noChangeAspect="1"/>
          </p:cNvPicPr>
          <p:nvPr/>
        </p:nvPicPr>
        <p:blipFill>
          <a:blip r:embed="rId3"/>
          <a:stretch>
            <a:fillRect/>
          </a:stretch>
        </p:blipFill>
        <p:spPr>
          <a:xfrm>
            <a:off x="5402580" y="1752599"/>
            <a:ext cx="4131309" cy="4643303"/>
          </a:xfrm>
          <a:prstGeom prst="rect">
            <a:avLst/>
          </a:prstGeom>
        </p:spPr>
      </p:pic>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63</a:t>
            </a:fld>
            <a:endParaRPr lang="en-US" spc="-5" dirty="0"/>
          </a:p>
        </p:txBody>
      </p:sp>
    </p:spTree>
    <p:extLst>
      <p:ext uri="{BB962C8B-B14F-4D97-AF65-F5344CB8AC3E}">
        <p14:creationId xmlns:p14="http://schemas.microsoft.com/office/powerpoint/2010/main" val="40645940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a:t>TCP </a:t>
            </a:r>
            <a:r>
              <a:rPr lang="en-US" dirty="0" err="1"/>
              <a:t>phát</a:t>
            </a:r>
            <a:r>
              <a:rPr lang="en-US" dirty="0"/>
              <a:t> </a:t>
            </a:r>
            <a:r>
              <a:rPr lang="en-US" dirty="0" err="1"/>
              <a:t>hiện</a:t>
            </a:r>
            <a:r>
              <a:rPr lang="en-US" dirty="0"/>
              <a:t> </a:t>
            </a:r>
            <a:r>
              <a:rPr lang="en-US" dirty="0" err="1"/>
              <a:t>tắc</a:t>
            </a:r>
            <a:r>
              <a:rPr lang="en-US" dirty="0"/>
              <a:t> </a:t>
            </a:r>
            <a:r>
              <a:rPr lang="en-US" dirty="0" err="1"/>
              <a:t>nghẽn</a:t>
            </a:r>
            <a:endParaRPr dirty="0"/>
          </a:p>
        </p:txBody>
      </p:sp>
      <p:sp>
        <p:nvSpPr>
          <p:cNvPr id="3" name="object 3"/>
          <p:cNvSpPr txBox="1"/>
          <p:nvPr/>
        </p:nvSpPr>
        <p:spPr>
          <a:xfrm>
            <a:off x="1069339" y="1993685"/>
            <a:ext cx="9827261" cy="3455433"/>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Phát hiện tắc nghẽn?</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Nếu như phải truyền lại</a:t>
            </a:r>
          </a:p>
          <a:p>
            <a:pPr marL="1270000" marR="5080" lvl="2" indent="-342900">
              <a:spcBef>
                <a:spcPts val="585"/>
              </a:spcBef>
              <a:buClr>
                <a:srgbClr val="3333CC"/>
              </a:buClr>
              <a:buSzPct val="83333"/>
              <a:buFont typeface="Wingdings" panose="05000000000000000000" pitchFamily="2" charset="2"/>
              <a:buChar char="Ø"/>
              <a:tabLst>
                <a:tab pos="355600" algn="l"/>
              </a:tabLst>
            </a:pPr>
            <a:r>
              <a:rPr lang="vi-VN" sz="2200" dirty="0">
                <a:latin typeface="Arial"/>
                <a:cs typeface="Arial"/>
              </a:rPr>
              <a:t>Có thể suy ra là mạng “tắc nghẽn”</a:t>
            </a:r>
          </a:p>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Khi nào thì phải truyền lại?</a:t>
            </a:r>
          </a:p>
          <a:p>
            <a:pPr marL="812800" marR="5080" lvl="1" indent="-342900">
              <a:spcBef>
                <a:spcPts val="585"/>
              </a:spcBef>
              <a:buClr>
                <a:srgbClr val="3333CC"/>
              </a:buClr>
              <a:buSzPct val="83333"/>
              <a:buFont typeface="Wingdings"/>
              <a:buChar char=""/>
              <a:tabLst>
                <a:tab pos="355600" algn="l"/>
              </a:tabLst>
            </a:pPr>
            <a:r>
              <a:rPr lang="vi-VN" sz="2800" dirty="0">
                <a:latin typeface="Arial"/>
                <a:cs typeface="Arial"/>
              </a:rPr>
              <a:t>Timeout!</a:t>
            </a:r>
          </a:p>
          <a:p>
            <a:pPr marL="812800" marR="5080" lvl="1" indent="-342900">
              <a:spcBef>
                <a:spcPts val="585"/>
              </a:spcBef>
              <a:buClr>
                <a:srgbClr val="3333CC"/>
              </a:buClr>
              <a:buSzPct val="83333"/>
              <a:buFont typeface="Wingdings"/>
              <a:buChar char=""/>
              <a:tabLst>
                <a:tab pos="355600" algn="l"/>
              </a:tabLst>
            </a:pPr>
            <a:r>
              <a:rPr lang="vi-VN" sz="2800" dirty="0">
                <a:latin typeface="Arial"/>
                <a:cs typeface="Arial"/>
              </a:rPr>
              <a:t>Cùng một số hiệu gói tin trong ACK</a:t>
            </a:r>
            <a:endParaRPr lang="en-US" sz="2800" dirty="0">
              <a:latin typeface="Arial"/>
              <a:cs typeface="Arial"/>
            </a:endParaRPr>
          </a:p>
          <a:p>
            <a:pPr marL="812800" marR="5080" lvl="1" indent="-342900">
              <a:spcBef>
                <a:spcPts val="585"/>
              </a:spcBef>
              <a:buClr>
                <a:srgbClr val="3333CC"/>
              </a:buClr>
              <a:buSzPct val="83333"/>
              <a:buFont typeface="Wingdings"/>
              <a:buChar char=""/>
              <a:tabLst>
                <a:tab pos="355600" algn="l"/>
              </a:tabLst>
            </a:pPr>
            <a:endParaRPr lang="vi-VN" sz="2800" dirty="0">
              <a:latin typeface="Arial"/>
              <a:cs typeface="Arial"/>
            </a:endParaRPr>
          </a:p>
        </p:txBody>
      </p:sp>
      <p:sp>
        <p:nvSpPr>
          <p:cNvPr id="6" name="Slide Number Placeholder 5"/>
          <p:cNvSpPr>
            <a:spLocks noGrp="1"/>
          </p:cNvSpPr>
          <p:nvPr>
            <p:ph type="sldNum" sz="quarter" idx="7"/>
          </p:nvPr>
        </p:nvSpPr>
        <p:spPr/>
        <p:txBody>
          <a:bodyPr/>
          <a:lstStyle/>
          <a:p>
            <a:pPr marL="12700">
              <a:lnSpc>
                <a:spcPts val="1645"/>
              </a:lnSpc>
            </a:pPr>
            <a:fld id="{81D60167-4931-47E6-BA6A-407CBD079E47}" type="slidenum">
              <a:rPr lang="en-US" spc="-5" smtClean="0"/>
              <a:t>64</a:t>
            </a:fld>
            <a:endParaRPr lang="en-US" spc="-5" dirty="0"/>
          </a:p>
        </p:txBody>
      </p:sp>
    </p:spTree>
    <p:extLst>
      <p:ext uri="{BB962C8B-B14F-4D97-AF65-F5344CB8AC3E}">
        <p14:creationId xmlns:p14="http://schemas.microsoft.com/office/powerpoint/2010/main" val="1155947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867" y="1025144"/>
            <a:ext cx="7545705" cy="574040"/>
          </a:xfrm>
          <a:prstGeom prst="rect">
            <a:avLst/>
          </a:prstGeom>
        </p:spPr>
        <p:txBody>
          <a:bodyPr vert="horz" wrap="square" lIns="0" tIns="12700" rIns="0" bIns="0" rtlCol="0">
            <a:spAutoFit/>
          </a:bodyPr>
          <a:lstStyle/>
          <a:p>
            <a:pPr marL="12700">
              <a:lnSpc>
                <a:spcPct val="100000"/>
              </a:lnSpc>
              <a:spcBef>
                <a:spcPts val="100"/>
              </a:spcBef>
            </a:pPr>
            <a:r>
              <a:rPr lang="en-US" dirty="0"/>
              <a:t>TCP </a:t>
            </a:r>
            <a:r>
              <a:rPr lang="en-US" dirty="0" err="1"/>
              <a:t>phát</a:t>
            </a:r>
            <a:r>
              <a:rPr lang="en-US" dirty="0"/>
              <a:t> </a:t>
            </a:r>
            <a:r>
              <a:rPr lang="en-US" dirty="0" err="1"/>
              <a:t>hiện</a:t>
            </a:r>
            <a:r>
              <a:rPr lang="en-US" dirty="0"/>
              <a:t> </a:t>
            </a:r>
            <a:r>
              <a:rPr lang="en-US" dirty="0" err="1"/>
              <a:t>tắc</a:t>
            </a:r>
            <a:r>
              <a:rPr lang="en-US" dirty="0"/>
              <a:t> </a:t>
            </a:r>
            <a:r>
              <a:rPr lang="en-US" dirty="0" err="1"/>
              <a:t>nghẽn</a:t>
            </a:r>
            <a:r>
              <a:rPr lang="en-US" dirty="0"/>
              <a:t> (</a:t>
            </a:r>
            <a:r>
              <a:rPr lang="en-US" dirty="0" err="1"/>
              <a:t>tiếp</a:t>
            </a:r>
            <a:r>
              <a:rPr lang="en-US" dirty="0"/>
              <a:t>)</a:t>
            </a:r>
            <a:endParaRPr dirty="0"/>
          </a:p>
        </p:txBody>
      </p:sp>
      <p:sp>
        <p:nvSpPr>
          <p:cNvPr id="3" name="object 3"/>
          <p:cNvSpPr txBox="1"/>
          <p:nvPr/>
        </p:nvSpPr>
        <p:spPr>
          <a:xfrm>
            <a:off x="1069339" y="1993685"/>
            <a:ext cx="8989061" cy="4701928"/>
          </a:xfrm>
          <a:prstGeom prst="rect">
            <a:avLst/>
          </a:prstGeom>
        </p:spPr>
        <p:txBody>
          <a:bodyPr vert="horz" wrap="square" lIns="0" tIns="99695" rIns="0" bIns="0" rtlCol="0">
            <a:spAutoFit/>
          </a:bodyPr>
          <a:lstStyle/>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Khi có timeout của bên gửi</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TCP </a:t>
            </a:r>
            <a:r>
              <a:rPr lang="en-US" sz="2600" dirty="0">
                <a:latin typeface="Arial"/>
                <a:cs typeface="Arial"/>
              </a:rPr>
              <a:t>đ</a:t>
            </a:r>
            <a:r>
              <a:rPr lang="vi-VN" sz="2600" dirty="0">
                <a:latin typeface="Arial"/>
                <a:cs typeface="Arial"/>
              </a:rPr>
              <a:t>ặt ngưỡng xuống còn một nửa giá trị hiện tại của</a:t>
            </a:r>
            <a:r>
              <a:rPr lang="en-US" sz="2600" dirty="0">
                <a:latin typeface="Arial"/>
                <a:cs typeface="Arial"/>
              </a:rPr>
              <a:t> </a:t>
            </a:r>
            <a:r>
              <a:rPr lang="vi-VN" sz="2600" dirty="0">
                <a:latin typeface="Arial"/>
                <a:cs typeface="Arial"/>
              </a:rPr>
              <a:t>cwnd</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TCP </a:t>
            </a:r>
            <a:r>
              <a:rPr lang="en-US" sz="2600" dirty="0">
                <a:latin typeface="Arial"/>
                <a:cs typeface="Arial"/>
              </a:rPr>
              <a:t>đ</a:t>
            </a:r>
            <a:r>
              <a:rPr lang="vi-VN" sz="2600" dirty="0">
                <a:latin typeface="Arial"/>
                <a:cs typeface="Arial"/>
              </a:rPr>
              <a:t>ặt cwnd về 1 MSS</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TCP chuyển về slow</a:t>
            </a:r>
            <a:r>
              <a:rPr lang="en-US" sz="2600" dirty="0">
                <a:latin typeface="Arial"/>
                <a:cs typeface="Arial"/>
              </a:rPr>
              <a:t>-</a:t>
            </a:r>
            <a:r>
              <a:rPr lang="vi-VN" sz="2600" dirty="0">
                <a:latin typeface="Arial"/>
                <a:cs typeface="Arial"/>
              </a:rPr>
              <a:t>start</a:t>
            </a:r>
          </a:p>
          <a:p>
            <a:pPr marL="355600" marR="5080" indent="-342900">
              <a:spcBef>
                <a:spcPts val="585"/>
              </a:spcBef>
              <a:buClr>
                <a:srgbClr val="3333CC"/>
              </a:buClr>
              <a:buSzPct val="83333"/>
              <a:buFont typeface="Wingdings"/>
              <a:buChar char=""/>
              <a:tabLst>
                <a:tab pos="355600" algn="l"/>
              </a:tabLst>
            </a:pPr>
            <a:r>
              <a:rPr lang="vi-VN" sz="2800" dirty="0">
                <a:latin typeface="Arial"/>
                <a:cs typeface="Arial"/>
              </a:rPr>
              <a:t>Nếu nhận </a:t>
            </a:r>
            <a:r>
              <a:rPr lang="en-US" sz="2800" dirty="0">
                <a:latin typeface="Arial"/>
                <a:cs typeface="Arial"/>
              </a:rPr>
              <a:t>đ</a:t>
            </a:r>
            <a:r>
              <a:rPr lang="vi-VN" sz="2800" dirty="0">
                <a:latin typeface="Arial"/>
                <a:cs typeface="Arial"/>
              </a:rPr>
              <a:t>ược 3 ACK giống nhau</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TCP </a:t>
            </a:r>
            <a:r>
              <a:rPr lang="en-US" sz="2600" dirty="0">
                <a:latin typeface="Arial"/>
                <a:cs typeface="Arial"/>
              </a:rPr>
              <a:t>đ</a:t>
            </a:r>
            <a:r>
              <a:rPr lang="vi-VN" sz="2600" dirty="0">
                <a:latin typeface="Arial"/>
                <a:cs typeface="Arial"/>
              </a:rPr>
              <a:t>ặt ngưỡng xuống còn một nửa giá trị hiện tại của</a:t>
            </a:r>
            <a:r>
              <a:rPr lang="en-US" sz="2600" dirty="0">
                <a:latin typeface="Arial"/>
                <a:cs typeface="Arial"/>
              </a:rPr>
              <a:t> </a:t>
            </a:r>
            <a:r>
              <a:rPr lang="vi-VN" sz="2600" dirty="0">
                <a:latin typeface="Arial"/>
                <a:cs typeface="Arial"/>
              </a:rPr>
              <a:t>cwnd</a:t>
            </a: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dirty="0">
                <a:latin typeface="Arial"/>
                <a:cs typeface="Arial"/>
              </a:rPr>
              <a:t>TCP </a:t>
            </a:r>
            <a:r>
              <a:rPr lang="en-US" sz="2600" dirty="0">
                <a:latin typeface="Arial"/>
                <a:cs typeface="Arial"/>
              </a:rPr>
              <a:t>đ</a:t>
            </a:r>
            <a:r>
              <a:rPr lang="vi-VN" sz="2600" dirty="0">
                <a:latin typeface="Arial"/>
                <a:cs typeface="Arial"/>
              </a:rPr>
              <a:t>ặt cwnd về giá trị </a:t>
            </a:r>
            <a:r>
              <a:rPr lang="en-US" sz="2600" dirty="0" err="1">
                <a:latin typeface="Arial"/>
                <a:cs typeface="Arial"/>
              </a:rPr>
              <a:t>của</a:t>
            </a:r>
            <a:r>
              <a:rPr lang="en-US" sz="2600" dirty="0">
                <a:latin typeface="Arial"/>
                <a:cs typeface="Arial"/>
              </a:rPr>
              <a:t> </a:t>
            </a:r>
            <a:r>
              <a:rPr lang="en-US" sz="2600" dirty="0" err="1">
                <a:latin typeface="Arial"/>
                <a:cs typeface="Arial"/>
              </a:rPr>
              <a:t>ngưỡng</a:t>
            </a:r>
            <a:r>
              <a:rPr lang="en-US" sz="2600" dirty="0">
                <a:latin typeface="Arial"/>
                <a:cs typeface="Arial"/>
              </a:rPr>
              <a:t> </a:t>
            </a:r>
            <a:r>
              <a:rPr lang="vi-VN" sz="2600" dirty="0">
                <a:latin typeface="Arial"/>
                <a:cs typeface="Arial"/>
              </a:rPr>
              <a:t>hiện tại </a:t>
            </a:r>
            <a:endParaRPr lang="en-US" sz="2600">
              <a:latin typeface="Arial"/>
              <a:cs typeface="Arial"/>
            </a:endParaRPr>
          </a:p>
          <a:p>
            <a:pPr marL="927100" marR="5080" lvl="1" indent="-457200">
              <a:spcBef>
                <a:spcPts val="585"/>
              </a:spcBef>
              <a:buClr>
                <a:srgbClr val="3333CC"/>
              </a:buClr>
              <a:buSzPct val="83333"/>
              <a:buFont typeface="Courier New" panose="02070309020205020404" pitchFamily="49" charset="0"/>
              <a:buChar char="o"/>
              <a:tabLst>
                <a:tab pos="355600" algn="l"/>
              </a:tabLst>
            </a:pPr>
            <a:r>
              <a:rPr lang="vi-VN" sz="2600">
                <a:latin typeface="Arial"/>
                <a:cs typeface="Arial"/>
              </a:rPr>
              <a:t>TCP </a:t>
            </a:r>
            <a:r>
              <a:rPr lang="vi-VN" sz="2600" dirty="0">
                <a:latin typeface="Arial"/>
                <a:cs typeface="Arial"/>
              </a:rPr>
              <a:t>chuyển trạng thái “</a:t>
            </a:r>
            <a:r>
              <a:rPr lang="en-US" sz="2600" dirty="0" err="1">
                <a:latin typeface="Arial"/>
                <a:cs typeface="Arial"/>
              </a:rPr>
              <a:t>tránh</a:t>
            </a:r>
            <a:r>
              <a:rPr lang="en-US" sz="2600" dirty="0">
                <a:latin typeface="Arial"/>
                <a:cs typeface="Arial"/>
              </a:rPr>
              <a:t> </a:t>
            </a:r>
            <a:r>
              <a:rPr lang="en-US" sz="2600" dirty="0" err="1">
                <a:latin typeface="Arial"/>
                <a:cs typeface="Arial"/>
              </a:rPr>
              <a:t>tắc</a:t>
            </a:r>
            <a:r>
              <a:rPr lang="en-US" sz="2600" dirty="0">
                <a:latin typeface="Arial"/>
                <a:cs typeface="Arial"/>
              </a:rPr>
              <a:t> </a:t>
            </a:r>
            <a:r>
              <a:rPr lang="en-US" sz="2600" dirty="0" err="1">
                <a:latin typeface="Arial"/>
                <a:cs typeface="Arial"/>
              </a:rPr>
              <a:t>nghẽn</a:t>
            </a:r>
            <a:r>
              <a:rPr lang="en-US" sz="2600" dirty="0">
                <a:latin typeface="Arial"/>
                <a:cs typeface="Arial"/>
              </a:rPr>
              <a:t>”</a:t>
            </a:r>
            <a:endParaRPr lang="vi-VN" sz="26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65</a:t>
            </a:fld>
            <a:endParaRPr lang="en-US" spc="-5" dirty="0"/>
          </a:p>
        </p:txBody>
      </p:sp>
    </p:spTree>
    <p:extLst>
      <p:ext uri="{BB962C8B-B14F-4D97-AF65-F5344CB8AC3E}">
        <p14:creationId xmlns:p14="http://schemas.microsoft.com/office/powerpoint/2010/main" val="2009631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2189" y="921512"/>
            <a:ext cx="5618480" cy="513080"/>
          </a:xfrm>
          <a:prstGeom prst="rect">
            <a:avLst/>
          </a:prstGeom>
        </p:spPr>
        <p:txBody>
          <a:bodyPr vert="horz" wrap="square" lIns="0" tIns="12065" rIns="0" bIns="0" rtlCol="0">
            <a:spAutoFit/>
          </a:bodyPr>
          <a:lstStyle/>
          <a:p>
            <a:pPr marL="12700">
              <a:lnSpc>
                <a:spcPct val="100000"/>
              </a:lnSpc>
              <a:spcBef>
                <a:spcPts val="95"/>
              </a:spcBef>
            </a:pPr>
            <a:r>
              <a:rPr lang="en-US" sz="3200" spc="-5" dirty="0" err="1"/>
              <a:t>Kiểm</a:t>
            </a:r>
            <a:r>
              <a:rPr lang="en-US" sz="3200" spc="-5" dirty="0"/>
              <a:t> </a:t>
            </a:r>
            <a:r>
              <a:rPr lang="en-US" sz="3200" spc="-5" dirty="0" err="1"/>
              <a:t>soát</a:t>
            </a:r>
            <a:r>
              <a:rPr lang="en-US" sz="3200" spc="-5" dirty="0"/>
              <a:t> </a:t>
            </a:r>
            <a:r>
              <a:rPr lang="en-US" sz="3200" spc="-5" dirty="0" err="1"/>
              <a:t>tắc</a:t>
            </a:r>
            <a:r>
              <a:rPr lang="en-US" sz="3200" spc="-5" dirty="0"/>
              <a:t> </a:t>
            </a:r>
            <a:r>
              <a:rPr lang="en-US" sz="3200" spc="-5" dirty="0" err="1"/>
              <a:t>nghẽn</a:t>
            </a:r>
            <a:r>
              <a:rPr lang="en-US" sz="3200" spc="-5" dirty="0"/>
              <a:t>: minh </a:t>
            </a:r>
            <a:r>
              <a:rPr lang="en-US" sz="3200" spc="-5" dirty="0" err="1"/>
              <a:t>họa</a:t>
            </a:r>
            <a:endParaRPr sz="3200" dirty="0"/>
          </a:p>
        </p:txBody>
      </p:sp>
      <p:sp>
        <p:nvSpPr>
          <p:cNvPr id="9" name="object 9"/>
          <p:cNvSpPr txBox="1"/>
          <p:nvPr/>
        </p:nvSpPr>
        <p:spPr>
          <a:xfrm>
            <a:off x="9040621" y="6903266"/>
            <a:ext cx="494030" cy="224154"/>
          </a:xfrm>
          <a:prstGeom prst="rect">
            <a:avLst/>
          </a:prstGeom>
        </p:spPr>
        <p:txBody>
          <a:bodyPr vert="horz" wrap="square" lIns="0" tIns="0" rIns="0" bIns="0" rtlCol="0">
            <a:spAutoFit/>
          </a:bodyPr>
          <a:lstStyle/>
          <a:p>
            <a:pPr marL="12700">
              <a:lnSpc>
                <a:spcPts val="1645"/>
              </a:lnSpc>
            </a:pPr>
            <a:r>
              <a:rPr sz="1400" spc="-5" dirty="0">
                <a:latin typeface="Arial"/>
                <a:cs typeface="Arial"/>
              </a:rPr>
              <a:t>1-</a:t>
            </a:r>
            <a:fld id="{81D60167-4931-47E6-BA6A-407CBD079E47}" type="slidenum">
              <a:rPr sz="1400" spc="-5" dirty="0">
                <a:latin typeface="Arial"/>
                <a:cs typeface="Arial"/>
              </a:rPr>
              <a:t>66</a:t>
            </a:fld>
            <a:endParaRPr sz="1400">
              <a:latin typeface="Arial"/>
              <a:cs typeface="Arial"/>
            </a:endParaRPr>
          </a:p>
        </p:txBody>
      </p:sp>
      <p:pic>
        <p:nvPicPr>
          <p:cNvPr id="15" name="Picture 14"/>
          <p:cNvPicPr>
            <a:picLocks noChangeAspect="1"/>
          </p:cNvPicPr>
          <p:nvPr/>
        </p:nvPicPr>
        <p:blipFill>
          <a:blip r:embed="rId2"/>
          <a:stretch>
            <a:fillRect/>
          </a:stretch>
        </p:blipFill>
        <p:spPr>
          <a:xfrm>
            <a:off x="609600" y="1904999"/>
            <a:ext cx="8925051" cy="5248275"/>
          </a:xfrm>
          <a:prstGeom prst="rect">
            <a:avLst/>
          </a:prstGeom>
        </p:spPr>
      </p:pic>
      <p:sp>
        <p:nvSpPr>
          <p:cNvPr id="16" name="Slide Number Placeholder 15"/>
          <p:cNvSpPr>
            <a:spLocks noGrp="1"/>
          </p:cNvSpPr>
          <p:nvPr>
            <p:ph type="sldNum" sz="quarter" idx="7"/>
          </p:nvPr>
        </p:nvSpPr>
        <p:spPr>
          <a:xfrm>
            <a:off x="9138919" y="6903266"/>
            <a:ext cx="394970" cy="205184"/>
          </a:xfrm>
        </p:spPr>
        <p:txBody>
          <a:bodyPr/>
          <a:lstStyle/>
          <a:p>
            <a:pPr marL="12700">
              <a:lnSpc>
                <a:spcPts val="1645"/>
              </a:lnSpc>
            </a:pPr>
            <a:fld id="{81D60167-4931-47E6-BA6A-407CBD079E47}" type="slidenum">
              <a:rPr spc="-5" smtClean="0"/>
              <a:t>66</a:t>
            </a:fld>
            <a:endParaRPr spc="-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9180576" y="7135765"/>
            <a:ext cx="494030" cy="205184"/>
          </a:xfrm>
          <a:prstGeom prst="rect">
            <a:avLst/>
          </a:prstGeom>
        </p:spPr>
        <p:txBody>
          <a:bodyPr vert="horz" wrap="square" lIns="0" tIns="0" rIns="0" bIns="0" rtlCol="0">
            <a:spAutoFit/>
          </a:bodyPr>
          <a:lstStyle/>
          <a:p>
            <a:pPr marL="12700">
              <a:lnSpc>
                <a:spcPts val="1645"/>
              </a:lnSpc>
            </a:pPr>
            <a:fld id="{81D60167-4931-47E6-BA6A-407CBD079E47}" type="slidenum">
              <a:rPr sz="1400" smtClean="0">
                <a:latin typeface="Arial"/>
                <a:cs typeface="Arial"/>
              </a:rPr>
              <a:t>67</a:t>
            </a:fld>
            <a:endParaRPr sz="1400" dirty="0">
              <a:latin typeface="Arial"/>
              <a:cs typeface="Arial"/>
            </a:endParaRPr>
          </a:p>
        </p:txBody>
      </p:sp>
      <p:sp>
        <p:nvSpPr>
          <p:cNvPr id="2" name="object 2"/>
          <p:cNvSpPr txBox="1">
            <a:spLocks noGrp="1"/>
          </p:cNvSpPr>
          <p:nvPr>
            <p:ph type="title"/>
          </p:nvPr>
        </p:nvSpPr>
        <p:spPr>
          <a:xfrm>
            <a:off x="909319" y="804925"/>
            <a:ext cx="4331970" cy="635635"/>
          </a:xfrm>
          <a:prstGeom prst="rect">
            <a:avLst/>
          </a:prstGeom>
        </p:spPr>
        <p:txBody>
          <a:bodyPr vert="horz" wrap="square" lIns="0" tIns="12700" rIns="0" bIns="0" rtlCol="0">
            <a:spAutoFit/>
          </a:bodyPr>
          <a:lstStyle/>
          <a:p>
            <a:pPr marL="12700">
              <a:lnSpc>
                <a:spcPct val="100000"/>
              </a:lnSpc>
              <a:spcBef>
                <a:spcPts val="100"/>
              </a:spcBef>
            </a:pPr>
            <a:r>
              <a:rPr sz="4000" dirty="0"/>
              <a:t>Chương 3: Tóm tắt</a:t>
            </a:r>
            <a:endParaRPr sz="4000"/>
          </a:p>
        </p:txBody>
      </p:sp>
      <p:sp>
        <p:nvSpPr>
          <p:cNvPr id="3" name="object 3"/>
          <p:cNvSpPr txBox="1">
            <a:spLocks noGrp="1"/>
          </p:cNvSpPr>
          <p:nvPr>
            <p:ph sz="half" idx="2"/>
          </p:nvPr>
        </p:nvSpPr>
        <p:spPr>
          <a:xfrm>
            <a:off x="1169161" y="1842008"/>
            <a:ext cx="4863085" cy="4924425"/>
          </a:xfrm>
          <a:prstGeom prst="rect">
            <a:avLst/>
          </a:prstGeom>
        </p:spPr>
        <p:txBody>
          <a:bodyPr vert="horz" wrap="square" lIns="0" tIns="12700" rIns="0" bIns="0" rtlCol="0">
            <a:spAutoFit/>
          </a:bodyPr>
          <a:lstStyle/>
          <a:p>
            <a:pPr marL="355600" indent="-342900">
              <a:lnSpc>
                <a:spcPct val="100000"/>
              </a:lnSpc>
              <a:spcBef>
                <a:spcPts val="580"/>
              </a:spcBef>
              <a:buClr>
                <a:srgbClr val="3333CC"/>
              </a:buClr>
              <a:buSzPct val="83333"/>
              <a:buFont typeface="Wingdings"/>
              <a:buChar char=""/>
              <a:tabLst>
                <a:tab pos="355600" algn="l"/>
              </a:tabLst>
            </a:pPr>
            <a:r>
              <a:rPr lang="en-US" dirty="0" err="1"/>
              <a:t>Có</a:t>
            </a:r>
            <a:r>
              <a:rPr lang="en-US" dirty="0"/>
              <a:t> </a:t>
            </a:r>
            <a:r>
              <a:rPr lang="en-US" dirty="0" err="1"/>
              <a:t>hai</a:t>
            </a:r>
            <a:r>
              <a:rPr lang="en-US" dirty="0"/>
              <a:t> </a:t>
            </a:r>
            <a:r>
              <a:rPr lang="en-US" dirty="0" err="1"/>
              <a:t>dạng</a:t>
            </a:r>
            <a:r>
              <a:rPr lang="en-US" dirty="0"/>
              <a:t> </a:t>
            </a:r>
            <a:r>
              <a:rPr lang="en-US" dirty="0" err="1"/>
              <a:t>giao</a:t>
            </a:r>
            <a:r>
              <a:rPr lang="en-US" dirty="0"/>
              <a:t> </a:t>
            </a:r>
            <a:r>
              <a:rPr lang="en-US" dirty="0" err="1"/>
              <a:t>thức</a:t>
            </a:r>
            <a:r>
              <a:rPr lang="en-US" dirty="0"/>
              <a:t> </a:t>
            </a:r>
            <a:r>
              <a:rPr lang="en-US" dirty="0" err="1"/>
              <a:t>giao</a:t>
            </a:r>
            <a:r>
              <a:rPr lang="en-US" dirty="0"/>
              <a:t> </a:t>
            </a:r>
            <a:r>
              <a:rPr lang="en-US" dirty="0" err="1"/>
              <a:t>vận</a:t>
            </a:r>
            <a:r>
              <a:rPr lang="en-US" dirty="0"/>
              <a:t> </a:t>
            </a:r>
            <a:r>
              <a:rPr lang="en-US" dirty="0" err="1"/>
              <a:t>trong</a:t>
            </a:r>
            <a:r>
              <a:rPr lang="en-US" dirty="0"/>
              <a:t> Internet</a:t>
            </a:r>
          </a:p>
          <a:p>
            <a:pPr marL="755650" lvl="1" indent="-285750">
              <a:lnSpc>
                <a:spcPct val="100000"/>
              </a:lnSpc>
              <a:spcBef>
                <a:spcPts val="489"/>
              </a:spcBef>
              <a:buClr>
                <a:srgbClr val="3333CC"/>
              </a:buClr>
              <a:buSzPct val="75000"/>
              <a:buFont typeface="Wingdings"/>
              <a:buChar char=""/>
              <a:tabLst>
                <a:tab pos="755650" algn="l"/>
              </a:tabLst>
            </a:pPr>
            <a:r>
              <a:rPr lang="en-US" sz="2000" dirty="0">
                <a:latin typeface="Arial"/>
                <a:cs typeface="Arial"/>
              </a:rPr>
              <a:t>UDP: </a:t>
            </a:r>
            <a:r>
              <a:rPr lang="en-US" sz="2000" dirty="0" err="1">
                <a:latin typeface="Arial"/>
                <a:cs typeface="Arial"/>
              </a:rPr>
              <a:t>truyền</a:t>
            </a:r>
            <a:r>
              <a:rPr lang="en-US" sz="2000" dirty="0">
                <a:latin typeface="Arial"/>
                <a:cs typeface="Arial"/>
              </a:rPr>
              <a:t> </a:t>
            </a: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a:t>
            </a:r>
            <a:r>
              <a:rPr lang="en-US" sz="2000" dirty="0" err="1">
                <a:latin typeface="Arial"/>
                <a:cs typeface="Arial"/>
              </a:rPr>
              <a:t>không</a:t>
            </a:r>
            <a:r>
              <a:rPr lang="en-US" sz="2000" dirty="0">
                <a:latin typeface="Arial"/>
                <a:cs typeface="Arial"/>
              </a:rPr>
              <a:t> tin </a:t>
            </a:r>
            <a:r>
              <a:rPr lang="en-US" sz="2000" dirty="0" err="1">
                <a:latin typeface="Arial"/>
                <a:cs typeface="Arial"/>
              </a:rPr>
              <a:t>cậy</a:t>
            </a:r>
            <a:endParaRPr lang="en-US" sz="2000" dirty="0">
              <a:latin typeface="Arial"/>
              <a:cs typeface="Arial"/>
            </a:endParaRPr>
          </a:p>
          <a:p>
            <a:pPr marL="755650" lvl="1" indent="-285750">
              <a:lnSpc>
                <a:spcPct val="100000"/>
              </a:lnSpc>
              <a:spcBef>
                <a:spcPts val="480"/>
              </a:spcBef>
              <a:buClr>
                <a:srgbClr val="3333CC"/>
              </a:buClr>
              <a:buSzPct val="75000"/>
              <a:buFont typeface="Wingdings"/>
              <a:buChar char=""/>
              <a:tabLst>
                <a:tab pos="755650" algn="l"/>
              </a:tabLst>
            </a:pPr>
            <a:r>
              <a:rPr lang="en-US" sz="2000" dirty="0">
                <a:latin typeface="Arial"/>
                <a:cs typeface="Arial"/>
              </a:rPr>
              <a:t>TCP: </a:t>
            </a:r>
            <a:r>
              <a:rPr lang="en-US" sz="2000" dirty="0" err="1">
                <a:latin typeface="Arial"/>
                <a:cs typeface="Arial"/>
              </a:rPr>
              <a:t>truyền</a:t>
            </a:r>
            <a:r>
              <a:rPr lang="en-US" sz="2000" dirty="0">
                <a:latin typeface="Arial"/>
                <a:cs typeface="Arial"/>
              </a:rPr>
              <a:t> </a:t>
            </a:r>
            <a:r>
              <a:rPr lang="en-US" sz="2000" dirty="0" err="1">
                <a:latin typeface="Arial"/>
                <a:cs typeface="Arial"/>
              </a:rPr>
              <a:t>dữ</a:t>
            </a:r>
            <a:r>
              <a:rPr lang="en-US" sz="2000" dirty="0">
                <a:latin typeface="Arial"/>
                <a:cs typeface="Arial"/>
              </a:rPr>
              <a:t> </a:t>
            </a:r>
            <a:r>
              <a:rPr lang="en-US" sz="2000" dirty="0" err="1">
                <a:latin typeface="Arial"/>
                <a:cs typeface="Arial"/>
              </a:rPr>
              <a:t>liệu</a:t>
            </a:r>
            <a:r>
              <a:rPr lang="en-US" sz="2000" dirty="0">
                <a:latin typeface="Arial"/>
                <a:cs typeface="Arial"/>
              </a:rPr>
              <a:t> tin </a:t>
            </a:r>
            <a:r>
              <a:rPr lang="en-US" sz="2000" dirty="0" err="1">
                <a:latin typeface="Arial"/>
                <a:cs typeface="Arial"/>
              </a:rPr>
              <a:t>cậy</a:t>
            </a:r>
            <a:endParaRPr lang="en-US" dirty="0"/>
          </a:p>
          <a:p>
            <a:pPr marL="355600" marR="5080" indent="-342900" algn="just">
              <a:lnSpc>
                <a:spcPct val="100000"/>
              </a:lnSpc>
              <a:spcBef>
                <a:spcPts val="100"/>
              </a:spcBef>
              <a:buClr>
                <a:srgbClr val="3333CC"/>
              </a:buClr>
              <a:buSzPct val="83333"/>
              <a:buFont typeface="Wingdings"/>
              <a:buChar char=""/>
              <a:tabLst>
                <a:tab pos="355600" algn="l"/>
              </a:tabLst>
            </a:pPr>
            <a:r>
              <a:rPr dirty="0" err="1"/>
              <a:t>Các</a:t>
            </a:r>
            <a:r>
              <a:rPr dirty="0"/>
              <a:t> </a:t>
            </a:r>
            <a:r>
              <a:rPr lang="en-US" dirty="0" err="1"/>
              <a:t>cơ</a:t>
            </a:r>
            <a:r>
              <a:rPr lang="en-US" dirty="0"/>
              <a:t> </a:t>
            </a:r>
            <a:r>
              <a:rPr lang="en-US" dirty="0" err="1"/>
              <a:t>chế</a:t>
            </a:r>
            <a:r>
              <a:rPr lang="en-US" dirty="0"/>
              <a:t> </a:t>
            </a:r>
            <a:r>
              <a:rPr dirty="0" err="1"/>
              <a:t>bên</a:t>
            </a:r>
            <a:r>
              <a:rPr dirty="0"/>
              <a:t> </a:t>
            </a:r>
            <a:r>
              <a:rPr dirty="0" err="1"/>
              <a:t>trong</a:t>
            </a:r>
            <a:r>
              <a:rPr dirty="0"/>
              <a:t> </a:t>
            </a:r>
            <a:r>
              <a:rPr dirty="0" err="1"/>
              <a:t>các</a:t>
            </a:r>
            <a:r>
              <a:rPr dirty="0"/>
              <a:t> dịch vụ của tầng giao  vận:</a:t>
            </a:r>
          </a:p>
          <a:p>
            <a:pPr marL="755650" marR="1146175" lvl="1" indent="-285750">
              <a:lnSpc>
                <a:spcPct val="100000"/>
              </a:lnSpc>
              <a:spcBef>
                <a:spcPts val="575"/>
              </a:spcBef>
              <a:buClr>
                <a:srgbClr val="3333CC"/>
              </a:buClr>
              <a:buSzPct val="75000"/>
              <a:buFont typeface="Wingdings"/>
              <a:buChar char=""/>
              <a:tabLst>
                <a:tab pos="755650" algn="l"/>
              </a:tabLst>
            </a:pPr>
            <a:r>
              <a:rPr lang="en-US" sz="2400" dirty="0" err="1">
                <a:latin typeface="Arial"/>
                <a:cs typeface="Arial"/>
              </a:rPr>
              <a:t>Dồn</a:t>
            </a:r>
            <a:r>
              <a:rPr lang="en-US" sz="2400" dirty="0">
                <a:latin typeface="Arial"/>
                <a:cs typeface="Arial"/>
              </a:rPr>
              <a:t> </a:t>
            </a:r>
            <a:r>
              <a:rPr lang="en-US" sz="2400" dirty="0" err="1">
                <a:latin typeface="Arial"/>
                <a:cs typeface="Arial"/>
              </a:rPr>
              <a:t>kênh</a:t>
            </a:r>
            <a:r>
              <a:rPr lang="en-US" sz="2400" dirty="0">
                <a:latin typeface="Arial"/>
                <a:cs typeface="Arial"/>
              </a:rPr>
              <a:t>, </a:t>
            </a:r>
            <a:r>
              <a:rPr lang="en-US" sz="2400" dirty="0" err="1">
                <a:latin typeface="Arial"/>
                <a:cs typeface="Arial"/>
              </a:rPr>
              <a:t>phân</a:t>
            </a:r>
            <a:r>
              <a:rPr lang="en-US" sz="2400" dirty="0">
                <a:latin typeface="Arial"/>
                <a:cs typeface="Arial"/>
              </a:rPr>
              <a:t> </a:t>
            </a:r>
            <a:r>
              <a:rPr lang="en-US" sz="2400" dirty="0" err="1">
                <a:latin typeface="Arial"/>
                <a:cs typeface="Arial"/>
              </a:rPr>
              <a:t>kênh</a:t>
            </a:r>
            <a:endParaRPr sz="2400" dirty="0">
              <a:latin typeface="Arial"/>
              <a:cs typeface="Arial"/>
            </a:endParaRPr>
          </a:p>
          <a:p>
            <a:pPr marL="755650" lvl="1" indent="-285750">
              <a:lnSpc>
                <a:spcPct val="100000"/>
              </a:lnSpc>
              <a:spcBef>
                <a:spcPts val="575"/>
              </a:spcBef>
              <a:buClr>
                <a:srgbClr val="3333CC"/>
              </a:buClr>
              <a:buSzPct val="75000"/>
              <a:buFont typeface="Wingdings"/>
              <a:buChar char=""/>
              <a:tabLst>
                <a:tab pos="755650" algn="l"/>
              </a:tabLst>
            </a:pPr>
            <a:r>
              <a:rPr lang="en-US" sz="2400" dirty="0" err="1">
                <a:latin typeface="Arial"/>
                <a:cs typeface="Arial"/>
              </a:rPr>
              <a:t>T</a:t>
            </a:r>
            <a:r>
              <a:rPr sz="2400" dirty="0" err="1">
                <a:latin typeface="Arial"/>
                <a:cs typeface="Arial"/>
              </a:rPr>
              <a:t>ruyền</a:t>
            </a:r>
            <a:r>
              <a:rPr sz="2400" dirty="0">
                <a:latin typeface="Arial"/>
                <a:cs typeface="Arial"/>
              </a:rPr>
              <a:t> dữ liệu tin cậy</a:t>
            </a:r>
          </a:p>
          <a:p>
            <a:pPr marL="1270000" lvl="2" indent="-342900">
              <a:spcBef>
                <a:spcPts val="575"/>
              </a:spcBef>
              <a:buClr>
                <a:srgbClr val="3333CC"/>
              </a:buClr>
              <a:buSzPct val="75000"/>
              <a:buFont typeface="Wingdings" panose="05000000000000000000" pitchFamily="2" charset="2"/>
              <a:buChar char="Ø"/>
              <a:tabLst>
                <a:tab pos="755650" algn="l"/>
              </a:tabLst>
            </a:pPr>
            <a:r>
              <a:rPr lang="en-US" sz="2400" dirty="0" err="1">
                <a:latin typeface="Arial"/>
                <a:cs typeface="Arial"/>
              </a:rPr>
              <a:t>Báo</a:t>
            </a:r>
            <a:r>
              <a:rPr lang="en-US" sz="2400" dirty="0">
                <a:latin typeface="Arial"/>
                <a:cs typeface="Arial"/>
              </a:rPr>
              <a:t> </a:t>
            </a:r>
            <a:r>
              <a:rPr lang="en-US" sz="2400" dirty="0" err="1">
                <a:latin typeface="Arial"/>
                <a:cs typeface="Arial"/>
              </a:rPr>
              <a:t>nhận</a:t>
            </a:r>
            <a:endParaRPr lang="en-US" sz="2400" dirty="0">
              <a:latin typeface="Arial"/>
              <a:cs typeface="Arial"/>
            </a:endParaRPr>
          </a:p>
          <a:p>
            <a:pPr marL="1270000" lvl="2" indent="-342900">
              <a:spcBef>
                <a:spcPts val="575"/>
              </a:spcBef>
              <a:buClr>
                <a:srgbClr val="3333CC"/>
              </a:buClr>
              <a:buSzPct val="75000"/>
              <a:buFont typeface="Wingdings" panose="05000000000000000000" pitchFamily="2" charset="2"/>
              <a:buChar char="Ø"/>
              <a:tabLst>
                <a:tab pos="755650" algn="l"/>
              </a:tabLst>
            </a:pPr>
            <a:r>
              <a:rPr lang="en-US" sz="2400" dirty="0" err="1">
                <a:latin typeface="Arial"/>
                <a:cs typeface="Arial"/>
              </a:rPr>
              <a:t>Truyền</a:t>
            </a:r>
            <a:r>
              <a:rPr lang="en-US" sz="2400" dirty="0">
                <a:latin typeface="Arial"/>
                <a:cs typeface="Arial"/>
              </a:rPr>
              <a:t> </a:t>
            </a:r>
            <a:r>
              <a:rPr lang="en-US" sz="2400" dirty="0" err="1">
                <a:latin typeface="Arial"/>
                <a:cs typeface="Arial"/>
              </a:rPr>
              <a:t>lại</a:t>
            </a:r>
            <a:endParaRPr lang="en-US" sz="2400" dirty="0">
              <a:latin typeface="Arial"/>
              <a:cs typeface="Arial"/>
            </a:endParaRPr>
          </a:p>
          <a:p>
            <a:pPr marL="1270000" lvl="2" indent="-342900">
              <a:spcBef>
                <a:spcPts val="575"/>
              </a:spcBef>
              <a:buClr>
                <a:srgbClr val="3333CC"/>
              </a:buClr>
              <a:buSzPct val="75000"/>
              <a:buFont typeface="Wingdings" panose="05000000000000000000" pitchFamily="2" charset="2"/>
              <a:buChar char="Ø"/>
              <a:tabLst>
                <a:tab pos="755650" algn="l"/>
              </a:tabLst>
            </a:pPr>
            <a:r>
              <a:rPr sz="2400" dirty="0" err="1">
                <a:latin typeface="Arial"/>
                <a:cs typeface="Arial"/>
              </a:rPr>
              <a:t>điều</a:t>
            </a:r>
            <a:r>
              <a:rPr sz="2400" dirty="0">
                <a:latin typeface="Arial"/>
                <a:cs typeface="Arial"/>
              </a:rPr>
              <a:t> khiển luồng</a:t>
            </a:r>
          </a:p>
          <a:p>
            <a:pPr marL="1270000" lvl="2" indent="-342900">
              <a:spcBef>
                <a:spcPts val="575"/>
              </a:spcBef>
              <a:buClr>
                <a:srgbClr val="3333CC"/>
              </a:buClr>
              <a:buSzPct val="75000"/>
              <a:buFont typeface="Wingdings" panose="05000000000000000000" pitchFamily="2" charset="2"/>
              <a:buChar char="Ø"/>
              <a:tabLst>
                <a:tab pos="755650" algn="l"/>
              </a:tabLst>
            </a:pPr>
            <a:r>
              <a:rPr sz="2400" dirty="0">
                <a:latin typeface="Arial"/>
                <a:cs typeface="Arial"/>
              </a:rPr>
              <a:t>điều khiển </a:t>
            </a:r>
            <a:r>
              <a:rPr sz="2400" dirty="0" err="1">
                <a:latin typeface="Arial"/>
                <a:cs typeface="Arial"/>
              </a:rPr>
              <a:t>tắc</a:t>
            </a:r>
            <a:r>
              <a:rPr sz="2400" dirty="0">
                <a:latin typeface="Arial"/>
                <a:cs typeface="Arial"/>
              </a:rPr>
              <a:t> </a:t>
            </a:r>
            <a:r>
              <a:rPr sz="2400" dirty="0" err="1">
                <a:latin typeface="Arial"/>
                <a:cs typeface="Arial"/>
              </a:rPr>
              <a:t>nghẽn</a:t>
            </a:r>
            <a:endParaRPr sz="2400" dirty="0">
              <a:latin typeface="Arial"/>
              <a:cs typeface="Arial"/>
            </a:endParaRPr>
          </a:p>
        </p:txBody>
      </p:sp>
      <p:sp>
        <p:nvSpPr>
          <p:cNvPr id="4" name="object 4"/>
          <p:cNvSpPr txBox="1"/>
          <p:nvPr/>
        </p:nvSpPr>
        <p:spPr>
          <a:xfrm>
            <a:off x="6532496" y="1842008"/>
            <a:ext cx="3148330" cy="2805430"/>
          </a:xfrm>
          <a:prstGeom prst="rect">
            <a:avLst/>
          </a:prstGeom>
        </p:spPr>
        <p:txBody>
          <a:bodyPr vert="horz" wrap="square" lIns="0" tIns="85725" rIns="0" bIns="0" rtlCol="0">
            <a:spAutoFit/>
          </a:bodyPr>
          <a:lstStyle/>
          <a:p>
            <a:pPr marL="12700">
              <a:lnSpc>
                <a:spcPct val="100000"/>
              </a:lnSpc>
              <a:spcBef>
                <a:spcPts val="675"/>
              </a:spcBef>
            </a:pPr>
            <a:r>
              <a:rPr sz="2400" u="heavy" dirty="0">
                <a:solidFill>
                  <a:srgbClr val="CC0000"/>
                </a:solidFill>
                <a:uFill>
                  <a:solidFill>
                    <a:srgbClr val="CC0000"/>
                  </a:solidFill>
                </a:uFill>
                <a:latin typeface="Arial"/>
                <a:cs typeface="Arial"/>
              </a:rPr>
              <a:t>Tiếp:</a:t>
            </a:r>
            <a:endParaRPr sz="2400" dirty="0">
              <a:latin typeface="Arial"/>
              <a:cs typeface="Arial"/>
            </a:endParaRPr>
          </a:p>
          <a:p>
            <a:pPr marL="355600" marR="5080" indent="-342900">
              <a:lnSpc>
                <a:spcPct val="100000"/>
              </a:lnSpc>
              <a:spcBef>
                <a:spcPts val="575"/>
              </a:spcBef>
              <a:buClr>
                <a:srgbClr val="3333CC"/>
              </a:buClr>
              <a:buSzPct val="83333"/>
              <a:buFont typeface="Wingdings"/>
              <a:buChar char=""/>
              <a:tabLst>
                <a:tab pos="355600" algn="l"/>
              </a:tabLst>
            </a:pPr>
            <a:r>
              <a:rPr sz="2400" dirty="0">
                <a:latin typeface="Arial"/>
                <a:cs typeface="Arial"/>
              </a:rPr>
              <a:t>chuyển từ phần biên  mạng (network  edge) (tầng giao  vận, tầng ứng dụng)</a:t>
            </a:r>
          </a:p>
          <a:p>
            <a:pPr marL="355600" marR="293370" indent="-342900">
              <a:lnSpc>
                <a:spcPct val="100000"/>
              </a:lnSpc>
              <a:spcBef>
                <a:spcPts val="575"/>
              </a:spcBef>
              <a:buClr>
                <a:srgbClr val="3333CC"/>
              </a:buClr>
              <a:buSzPct val="83333"/>
              <a:buFont typeface="Wingdings"/>
              <a:buChar char=""/>
              <a:tabLst>
                <a:tab pos="355600" algn="l"/>
              </a:tabLst>
            </a:pPr>
            <a:r>
              <a:rPr sz="2400" dirty="0">
                <a:latin typeface="Arial"/>
                <a:cs typeface="Arial"/>
              </a:rPr>
              <a:t>vào phần lõi mạng  (network core)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9339" y="925322"/>
            <a:ext cx="3581400" cy="635635"/>
          </a:xfrm>
          <a:prstGeom prst="rect">
            <a:avLst/>
          </a:prstGeom>
        </p:spPr>
        <p:txBody>
          <a:bodyPr vert="horz" wrap="square" lIns="0" tIns="12700" rIns="0" bIns="0" rtlCol="0">
            <a:spAutoFit/>
          </a:bodyPr>
          <a:lstStyle/>
          <a:p>
            <a:pPr marL="12700">
              <a:lnSpc>
                <a:spcPct val="100000"/>
              </a:lnSpc>
              <a:spcBef>
                <a:spcPts val="100"/>
              </a:spcBef>
            </a:pPr>
            <a:r>
              <a:rPr sz="4000" b="1" spc="-5" dirty="0">
                <a:latin typeface="Arial"/>
                <a:cs typeface="Arial"/>
              </a:rPr>
              <a:t>Mạng máy</a:t>
            </a:r>
            <a:r>
              <a:rPr sz="4000" b="1" spc="-80" dirty="0">
                <a:latin typeface="Arial"/>
                <a:cs typeface="Arial"/>
              </a:rPr>
              <a:t> </a:t>
            </a:r>
            <a:r>
              <a:rPr sz="4000" b="1" spc="-5" dirty="0">
                <a:latin typeface="Arial"/>
                <a:cs typeface="Arial"/>
              </a:rPr>
              <a:t>tính</a:t>
            </a:r>
            <a:endParaRPr sz="4000">
              <a:latin typeface="Arial"/>
              <a:cs typeface="Arial"/>
            </a:endParaRPr>
          </a:p>
        </p:txBody>
      </p:sp>
      <p:sp>
        <p:nvSpPr>
          <p:cNvPr id="3" name="object 3"/>
          <p:cNvSpPr txBox="1"/>
          <p:nvPr/>
        </p:nvSpPr>
        <p:spPr>
          <a:xfrm>
            <a:off x="1069339" y="2080513"/>
            <a:ext cx="8464550" cy="1306195"/>
          </a:xfrm>
          <a:prstGeom prst="rect">
            <a:avLst/>
          </a:prstGeom>
        </p:spPr>
        <p:txBody>
          <a:bodyPr vert="horz" wrap="square" lIns="0" tIns="12700" rIns="0" bIns="0" rtlCol="0">
            <a:spAutoFit/>
          </a:bodyPr>
          <a:lstStyle/>
          <a:p>
            <a:pPr marL="355600" marR="5080" indent="-342900" algn="just">
              <a:lnSpc>
                <a:spcPct val="100000"/>
              </a:lnSpc>
              <a:spcBef>
                <a:spcPts val="100"/>
              </a:spcBef>
              <a:buClr>
                <a:srgbClr val="3333CC"/>
              </a:buClr>
              <a:buSzPct val="83928"/>
              <a:buFont typeface="Wingdings"/>
              <a:buChar char=""/>
              <a:tabLst>
                <a:tab pos="355600" algn="l"/>
              </a:tabLst>
            </a:pPr>
            <a:r>
              <a:rPr sz="2800" dirty="0">
                <a:latin typeface="Arial"/>
                <a:cs typeface="Arial"/>
              </a:rPr>
              <a:t>Hình ảnh và nội dung trong bài giảng này có  tham khảo từ sách và bài giảng của TS. </a:t>
            </a:r>
            <a:r>
              <a:rPr sz="2800" spc="-80" dirty="0">
                <a:latin typeface="Arial"/>
                <a:cs typeface="Arial"/>
              </a:rPr>
              <a:t>J.F.  </a:t>
            </a:r>
            <a:r>
              <a:rPr sz="2800" dirty="0">
                <a:latin typeface="Arial"/>
                <a:cs typeface="Arial"/>
              </a:rPr>
              <a:t>Kurose and GS. </a:t>
            </a:r>
            <a:r>
              <a:rPr sz="2800" spc="-40" dirty="0">
                <a:latin typeface="Arial"/>
                <a:cs typeface="Arial"/>
              </a:rPr>
              <a:t>K.W.</a:t>
            </a:r>
            <a:r>
              <a:rPr sz="2800" spc="-45" dirty="0">
                <a:latin typeface="Arial"/>
                <a:cs typeface="Arial"/>
              </a:rPr>
              <a:t> </a:t>
            </a:r>
            <a:r>
              <a:rPr sz="2800" spc="-5" dirty="0">
                <a:latin typeface="Arial"/>
                <a:cs typeface="Arial"/>
              </a:rPr>
              <a:t>Ross</a:t>
            </a:r>
            <a:endParaRPr sz="2800" dirty="0">
              <a:latin typeface="Arial"/>
              <a:cs typeface="Arial"/>
            </a:endParaRPr>
          </a:p>
        </p:txBody>
      </p:sp>
      <p:sp>
        <p:nvSpPr>
          <p:cNvPr id="5" name="Slide Number Placeholder 4"/>
          <p:cNvSpPr>
            <a:spLocks noGrp="1"/>
          </p:cNvSpPr>
          <p:nvPr>
            <p:ph type="sldNum" sz="quarter" idx="7"/>
          </p:nvPr>
        </p:nvSpPr>
        <p:spPr/>
        <p:txBody>
          <a:bodyPr/>
          <a:lstStyle/>
          <a:p>
            <a:pPr marL="12700">
              <a:lnSpc>
                <a:spcPts val="1645"/>
              </a:lnSpc>
            </a:pPr>
            <a:fld id="{81D60167-4931-47E6-BA6A-407CBD079E47}" type="slidenum">
              <a:rPr lang="en-US" spc="-5" smtClean="0"/>
              <a:t>68</a:t>
            </a:fld>
            <a:endParaRPr lang="en-US" spc="-5" dirty="0"/>
          </a:p>
        </p:txBody>
      </p:sp>
    </p:spTree>
    <p:extLst>
      <p:ext uri="{BB962C8B-B14F-4D97-AF65-F5344CB8AC3E}">
        <p14:creationId xmlns:p14="http://schemas.microsoft.com/office/powerpoint/2010/main" val="1883518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26290</TotalTime>
  <Words>7774</Words>
  <Application>Microsoft Office PowerPoint</Application>
  <PresentationFormat>Custom</PresentationFormat>
  <Paragraphs>983</Paragraphs>
  <Slides>68</Slides>
  <Notes>46</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6" baseType="lpstr">
      <vt:lpstr>Arial</vt:lpstr>
      <vt:lpstr>Calibri</vt:lpstr>
      <vt:lpstr>Courier New</vt:lpstr>
      <vt:lpstr>Tahoma</vt:lpstr>
      <vt:lpstr>Times New Roman</vt:lpstr>
      <vt:lpstr>Wingdings</vt:lpstr>
      <vt:lpstr>Office Theme</vt:lpstr>
      <vt:lpstr>Bitmap Image</vt:lpstr>
      <vt:lpstr>Mạng máy tính</vt:lpstr>
      <vt:lpstr>Chương 3: Tầng giao vận</vt:lpstr>
      <vt:lpstr>Tổng quan về tầng giao vận</vt:lpstr>
      <vt:lpstr>Dịch vụ và giao thức tầng giao vận</vt:lpstr>
      <vt:lpstr>Dịch vụ và giao thức tầng giao vận</vt:lpstr>
      <vt:lpstr>Quan hệ giữa tầng giao vận và tầng mạng</vt:lpstr>
      <vt:lpstr>Tầng giao vận của Internet</vt:lpstr>
      <vt:lpstr>Tầng giao vận của Internet</vt:lpstr>
      <vt:lpstr>Chương 3: Tầng giao vận</vt:lpstr>
      <vt:lpstr>Dồn kênh và phân kênh</vt:lpstr>
      <vt:lpstr>Dồn kênh và phân kênh</vt:lpstr>
      <vt:lpstr>Dồn kênh và phân kênh hoạt động như thế nào?</vt:lpstr>
      <vt:lpstr>Minh họa về dồn kênh và phân kênh</vt:lpstr>
      <vt:lpstr>Chương 3: Tầng giao vận</vt:lpstr>
      <vt:lpstr>Giao thức UDP</vt:lpstr>
      <vt:lpstr>UDP checksum</vt:lpstr>
      <vt:lpstr>Ví dụ: Internet Checksum </vt:lpstr>
      <vt:lpstr>Ví dụ: Internet Checksum </vt:lpstr>
      <vt:lpstr>Ví dụ: Internet Checksum </vt:lpstr>
      <vt:lpstr>Bài tập áp dụng</vt:lpstr>
      <vt:lpstr>Cấu trúc UDP segment</vt:lpstr>
      <vt:lpstr>Các vấn đề của UDP</vt:lpstr>
      <vt:lpstr>Chương 3: Tầng giao vận</vt:lpstr>
      <vt:lpstr>Sơ đồ cấu trúc của quá trình truyền dữ liệu tin cậy: </vt:lpstr>
      <vt:lpstr>Xây dựng giao thức truyền dữ liệu tin cậy</vt:lpstr>
      <vt:lpstr>Kênh có lỗi bit, không bị mất tin</vt:lpstr>
      <vt:lpstr>Hoạt động</vt:lpstr>
      <vt:lpstr>Lỗi ACK/NAK</vt:lpstr>
      <vt:lpstr>Giải pháp không dùng NAK</vt:lpstr>
      <vt:lpstr>Kênh có lỗi và mất gói tin</vt:lpstr>
      <vt:lpstr>Minh họa</vt:lpstr>
      <vt:lpstr>Minh họa</vt:lpstr>
      <vt:lpstr>Truyền theo kiểu pipeline</vt:lpstr>
      <vt:lpstr>Hiệu năng của kiểu xử lý stop-and-wait</vt:lpstr>
      <vt:lpstr>Hiệu năng của kiểu xử lý stop-and-wait</vt:lpstr>
      <vt:lpstr>Hiệu năng của Pipeline: Tăng mức độ sử dụng</vt:lpstr>
      <vt:lpstr>Go-Back-N: Bên gửi</vt:lpstr>
      <vt:lpstr>Go-Back-N: Bên nhận</vt:lpstr>
      <vt:lpstr>GBN: Ví dụ</vt:lpstr>
      <vt:lpstr>Selective repeat</vt:lpstr>
      <vt:lpstr>Selective repeat</vt:lpstr>
      <vt:lpstr>Selective repeat: Ví dụ</vt:lpstr>
      <vt:lpstr>Selective repeat: Ví dụ</vt:lpstr>
      <vt:lpstr>Chương 3: Tầng giao vận</vt:lpstr>
      <vt:lpstr>Giao thức TCP</vt:lpstr>
      <vt:lpstr>Tổng quan về TCP RFCs: 793,1122,1323, 2018, 2581</vt:lpstr>
      <vt:lpstr>Cấu trúc của TCP segment</vt:lpstr>
      <vt:lpstr>Sequence number, acknowledgement number</vt:lpstr>
      <vt:lpstr>Sequence number, acknowledgement number</vt:lpstr>
      <vt:lpstr>Giao thức TCP</vt:lpstr>
      <vt:lpstr>Thiết lập kết nối TCP: Giao thức bắt tay ba bước</vt:lpstr>
      <vt:lpstr>Ví dụ về đóng kêt nối TCP</vt:lpstr>
      <vt:lpstr>Giao thức TCP</vt:lpstr>
      <vt:lpstr>Truyền dữ liệu tin cậy của TCP</vt:lpstr>
      <vt:lpstr>Giao thức TCP</vt:lpstr>
      <vt:lpstr>Điều khiển luồng của TCP</vt:lpstr>
      <vt:lpstr>Điều khiển luồng của TCP</vt:lpstr>
      <vt:lpstr>Giao thức TCP</vt:lpstr>
      <vt:lpstr>Điều khiển tắc nghẽn</vt:lpstr>
      <vt:lpstr>Nguyên tắc điều khiển tắc nghẽn</vt:lpstr>
      <vt:lpstr>TCP slow-start</vt:lpstr>
      <vt:lpstr>TCP slow-start: minh họa </vt:lpstr>
      <vt:lpstr>TCP tránh tắc nghẽn</vt:lpstr>
      <vt:lpstr>TCP phát hiện tắc nghẽn</vt:lpstr>
      <vt:lpstr>TCP phát hiện tắc nghẽn (tiếp)</vt:lpstr>
      <vt:lpstr>Kiểm soát tắc nghẽn: minh họa</vt:lpstr>
      <vt:lpstr>Chương 3: Tóm tắt</vt:lpstr>
      <vt:lpstr>Mạng máy tính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ComputerNetwork_VN_C3_TangGiaoVan_V1.01.ppt [Compatibility Mode]</dc:title>
  <dc:creator>minhpt</dc:creator>
  <cp:lastModifiedBy>Admin</cp:lastModifiedBy>
  <cp:revision>332</cp:revision>
  <cp:lastPrinted>2022-01-25T17:00:01Z</cp:lastPrinted>
  <dcterms:created xsi:type="dcterms:W3CDTF">2019-04-22T07:44:51Z</dcterms:created>
  <dcterms:modified xsi:type="dcterms:W3CDTF">2026-03-02T07:57:28Z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2018-07-21T00:00:00Z</vt:filetime>
  </property>
  <property fmtid="{D5CDD505-2E9C-101B-9397-08002B2CF9AE}" pid="3" name="Creator">
    <vt:lpwstr>PScript5.dll Version 5.2.2</vt:lpwstr>
  </property>
  <property fmtid="{D5CDD505-2E9C-101B-9397-08002B2CF9AE}" pid="4" name="LastSaved">
    <vt:filetime>2019-04-22T00:00:00Z</vt:filetime>
  </property>
</Properties>
</file>